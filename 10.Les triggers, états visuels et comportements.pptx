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6" r:id="rId2"/>
    <p:sldId id="256" r:id="rId3"/>
    <p:sldId id="257" r:id="rId4"/>
    <p:sldId id="263" r:id="rId5"/>
    <p:sldId id="268" r:id="rId6"/>
    <p:sldId id="277" r:id="rId7"/>
    <p:sldId id="269" r:id="rId8"/>
    <p:sldId id="258" r:id="rId9"/>
    <p:sldId id="278" r:id="rId10"/>
    <p:sldId id="264" r:id="rId11"/>
    <p:sldId id="259" r:id="rId12"/>
    <p:sldId id="261" r:id="rId13"/>
    <p:sldId id="270" r:id="rId14"/>
    <p:sldId id="271" r:id="rId15"/>
    <p:sldId id="272" r:id="rId16"/>
    <p:sldId id="273" r:id="rId17"/>
    <p:sldId id="282" r:id="rId18"/>
    <p:sldId id="283" r:id="rId19"/>
    <p:sldId id="284" r:id="rId20"/>
    <p:sldId id="274" r:id="rId21"/>
    <p:sldId id="275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4ADEA8-8AC5-4B3F-A6C2-A121CAEEB141}">
          <p14:sldIdLst>
            <p14:sldId id="276"/>
            <p14:sldId id="256"/>
          </p14:sldIdLst>
        </p14:section>
        <p14:section name="Trigger de propriété" id="{DCA11B37-2750-467C-8676-EF40C6102E57}">
          <p14:sldIdLst>
            <p14:sldId id="257"/>
            <p14:sldId id="263"/>
            <p14:sldId id="268"/>
            <p14:sldId id="277"/>
            <p14:sldId id="269"/>
          </p14:sldIdLst>
        </p14:section>
        <p14:section name="Trigger d'événements" id="{FA4B2967-0FE7-4405-B4CC-4F9D3B718582}">
          <p14:sldIdLst>
            <p14:sldId id="258"/>
            <p14:sldId id="278"/>
            <p14:sldId id="264"/>
          </p14:sldIdLst>
        </p14:section>
        <p14:section name="Trigger des données" id="{A009A6D4-5516-47EB-BA51-2BF2605FEF54}">
          <p14:sldIdLst>
            <p14:sldId id="259"/>
          </p14:sldIdLst>
        </p14:section>
        <p14:section name="Les MultiData Triggers" id="{2A4F6335-BBB1-4C90-89F8-C34BEBDEC863}">
          <p14:sldIdLst>
            <p14:sldId id="261"/>
          </p14:sldIdLst>
        </p14:section>
        <p14:section name="Les états visuels" id="{04373BC0-2529-4ED3-B34C-CE33D8981CAF}">
          <p14:sldIdLst>
            <p14:sldId id="270"/>
            <p14:sldId id="271"/>
            <p14:sldId id="272"/>
            <p14:sldId id="273"/>
          </p14:sldIdLst>
        </p14:section>
        <p14:section name="Le design responsive" id="{40CC2EA8-B7AA-404D-917D-78BA9D7B6135}">
          <p14:sldIdLst>
            <p14:sldId id="282"/>
            <p14:sldId id="283"/>
            <p14:sldId id="284"/>
          </p14:sldIdLst>
        </p14:section>
        <p14:section name="Les comportements (Behaviors)" id="{7D478CDB-DC99-4F52-8DFC-10194B41EA9C}">
          <p14:sldIdLst>
            <p14:sldId id="274"/>
            <p14:sldId id="275"/>
          </p14:sldIdLst>
        </p14:section>
        <p14:section name="Comapraison" id="{90EAEF36-3722-47BC-8CEC-34F8C379CB5D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94" autoAdjust="0"/>
  </p:normalViewPr>
  <p:slideViewPr>
    <p:cSldViewPr snapToGrid="0">
      <p:cViewPr varScale="1">
        <p:scale>
          <a:sx n="101" d="100"/>
          <a:sy n="101" d="100"/>
        </p:scale>
        <p:origin x="8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FB8FC-FA17-490F-8401-1B0068C1EBDB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7E28D-E627-41EF-A885-ADD3D0BC3D8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02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555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1907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XAML</a:t>
            </a:r>
          </a:p>
          <a:p>
            <a:endParaRPr lang="fr-FR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Text="Hello, styled world!"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="28"&gt;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Entry.Triggers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EventTrigger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Event="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local:FocusedEventTriggerAction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EventTrigger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Entry.Triggers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&lt;/Entry&gt;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C#: </a:t>
            </a: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FocusedEventTriggerAction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TriggerAction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&lt;Entry&gt;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void Invoke(Entry sender)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Application.Current.MainPage.DisplayAlert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("Event trigger test",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sender.Text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"OK");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97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4400" b="1" dirty="0" smtClean="0"/>
              <a:t>Code:</a:t>
            </a:r>
          </a:p>
          <a:p>
            <a:endParaRPr lang="fr-FR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ContentPage.Resources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&lt;Style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TargetType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&lt;Setter Property="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VisualStateManager.VisualStateGroups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VisualStateGroupList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VisualStateGroup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Name="Normal"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Name="Selected"&gt;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&lt;Setter Property="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BackgroundColor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Value="Yellow"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&lt;!--&lt;Setter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TargetName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valueLabel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Property="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Label.TextColor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Value="Red" /&gt;--&gt;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VisualStateGroup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VisualStateGroupList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&lt;/Setter&gt;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&lt;/Style&gt;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ContentPage.Resources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="Start"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="0,20,0,0"&gt;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SelectionMode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="Single"&gt;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Type="{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x:Type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x:String}"&gt;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&gt;Premier élément&lt;/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&gt;Deuxième élément&lt;/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&gt;Troisième élément&lt;/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&lt;Label x:Name="valueLabel" Text="{Binding .}"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839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829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Code</a:t>
            </a:r>
            <a:r>
              <a:rPr lang="fr-FR" baseline="0" dirty="0" smtClean="0"/>
              <a:t> XAML:</a:t>
            </a:r>
          </a:p>
          <a:p>
            <a:endParaRPr lang="fr-FR" baseline="0" dirty="0" smtClean="0"/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x:Name="stackLayout" Spacing="10"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="10, 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VisualStateManager.VisualStateGroups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VisualStateGroup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ValidityStates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&lt;Setter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helpLabel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Property="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Label.TextColor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Value="Transparent"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&lt;Setter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="entry"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Property="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Value="Lime"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&lt;Setter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="entry"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Property="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Value="Pink"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&lt;Setter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submitButton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Property="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Button.IsEnabled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Value="False"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VisualStateGroup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VisualStateManager.VisualStateGroups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Text="Entrer un email valide:"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x:Name="entry"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="contoso@xyz.com"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TextChanged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OnTextChanged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x:Name="helpLabel"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IsVisible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="False"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Text="Mail is not valid"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x:Name="submitButton"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Text="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Submit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 20"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dirty="0" smtClean="0"/>
              <a:t>Code C# :</a:t>
            </a:r>
          </a:p>
          <a:p>
            <a:endParaRPr lang="fr-FR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partial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InitializeComponent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OnTextChanged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sender,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TextChangedEventArgs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Regex.IsMatch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e.NewTextValue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@"^([\w\.\-]+)@([\w\-]+)((\.(\w){2,3})+)$");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string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? 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: 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VisualStateManager.GoToState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551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Code</a:t>
            </a:r>
            <a:r>
              <a:rPr lang="fr-FR" baseline="0" dirty="0" smtClean="0"/>
              <a:t> XAML:</a:t>
            </a:r>
          </a:p>
          <a:p>
            <a:endParaRPr lang="fr-FR" baseline="0" dirty="0" smtClean="0"/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x:Name="stackLayout" Spacing="10"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="10, 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VisualStateManager.VisualStateGroups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VisualStateGroup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ValidityStates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&lt;Setter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helpLabel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Property="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Label.TextColor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Value="Transparent"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&lt;Setter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="entry"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Property="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Value="Lime"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&lt;Setter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="entry"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Property="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Value="Pink"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&lt;Setter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submitButton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Property="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Button.IsEnabled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Value="False"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VisualState.Setters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VisualStateGroup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VisualStateManager.VisualStateGroups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Text="Entrer un email valide:"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x:Name="entry"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="contoso@xyz.com"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TextChanged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OnTextChanged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x:Name="helpLabel"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IsVisible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="False"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Text="Mail is not valid"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x:Name="submitButton"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Text="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Submit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 20"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dirty="0" smtClean="0"/>
              <a:t>Code C# :</a:t>
            </a:r>
          </a:p>
          <a:p>
            <a:endParaRPr lang="fr-FR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partial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InitializeComponent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OnTextChanged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sender,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TextChangedEventArgs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Regex.IsMatch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e.NewTextValue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@"^([\w\.\-]+)@([\w\-]+)((\.(\w){2,3})+)$");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string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? 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: 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if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isValid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false)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helpLabel.IsVisible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else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helpLabel.IsVisible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false;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VisualStateManager.GoToState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visualState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0329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Code XAML: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x:Name="stackLayout" Spacing="10"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="10, 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Text="Entrer une valeur:"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x:Name="entry"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="..."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local:CustomBehavior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&lt;/Entry&gt;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x:Name="entry2"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="..."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local:CustomBehavior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&lt;/Entry&gt;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 C#: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Behavior&lt;View&gt;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OnAttachedTo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(View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OnDetachingFrom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(View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// Behavior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implementation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Bindable_Focused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sender,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FocusEventArgs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View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(View)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if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null)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Colors.Red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Bindable_UnFocused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sender,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FocusEventArgs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View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(View)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if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null)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Colors.White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497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366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152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Code XAML: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x:Name="stackLayout" Spacing="10"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="10, 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Text="Entrer une valeur:"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x:Name="entry"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="..."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local:CustomBehavior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&lt;/Entry&gt;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x:Name="entry2"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="..."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local:CustomBehavior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&lt;/Entry&gt;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 C#: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Behavior&lt;View&gt;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OnAttachedTo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(View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OnDetachingFrom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(View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// Behavior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implementation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Bindable_Focused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sender,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FocusEventArgs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View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(View)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if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null)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Colors.Red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Bindable_UnFocused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sender,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FocusEventArgs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View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(View)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if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null)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Colors.White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563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Code XAML: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x:Name="stackLayout" Spacing="10"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="10, 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Text="Entrer une valeur:"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x:Name="entry"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="..."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local:CustomBehavior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&lt;/Entry&gt;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&lt;Entry x:Name="entry2"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="..."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="18"&gt;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local:CustomBehavior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Entry.Behaviors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&lt;/Entry&gt;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 C#: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Behavior&lt;View&gt;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OnAttachedTo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(View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OnDetachingFrom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(View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bindable.Unfocused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Bindable_UnFocused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// Behavior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implementation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Bindable_Focused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sender,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FocusEventArgs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View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(View)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if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null)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Colors.Red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Bindable_UnFocused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sender,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FocusEventArgs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View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(View)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if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null)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view.BackgroundColor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Colors.White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476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698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03478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7E28D-E627-41EF-A885-ADD3D0BC3D8D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559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6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5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7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95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2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9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89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26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65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39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146050" y="6198255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2023-2024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694" y="6087940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1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Les triggers, visuels et </a:t>
            </a:r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les comportements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05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ChangeArrowheads="1"/>
          </p:cNvSpPr>
          <p:nvPr/>
        </p:nvSpPr>
        <p:spPr bwMode="auto">
          <a:xfrm>
            <a:off x="437642" y="624015"/>
            <a:ext cx="8587486" cy="2603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41313" indent="-12065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 Symbol" panose="020B0502040204020203" pitchFamily="34" charset="0"/>
              </a:rPr>
              <a:t>Objectifs </a:t>
            </a:r>
            <a:r>
              <a:rPr lang="fr-FR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363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r>
              <a:rPr lang="fr-FR" altLang="en-US" sz="2000" dirty="0">
                <a:latin typeface="Segoe UI Symbol" panose="020B0502040204020203" pitchFamily="34" charset="0"/>
              </a:rPr>
              <a:t>Découvrir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>
                <a:latin typeface="Segoe UI Symbol" panose="020B0502040204020203" pitchFamily="34" charset="0"/>
              </a:rPr>
              <a:t>les types des triggers</a:t>
            </a:r>
          </a:p>
          <a:p>
            <a:pPr lvl="1" eaLnBrk="1" hangingPunct="1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2000" dirty="0">
                <a:latin typeface="Segoe UI Symbol" panose="020B0502040204020203" pitchFamily="34" charset="0"/>
              </a:rPr>
              <a:t>Les triggers des propriétés</a:t>
            </a:r>
          </a:p>
          <a:p>
            <a:pPr lvl="1" eaLnBrk="1" hangingPunct="1">
              <a:spcBef>
                <a:spcPts val="13"/>
              </a:spcBef>
              <a:buClr>
                <a:srgbClr val="006498"/>
              </a:buClr>
              <a:buFont typeface="Wingdings" panose="05000000000000000000" pitchFamily="2" charset="2"/>
              <a:buChar char=""/>
            </a:pPr>
            <a:endParaRPr lang="fr-F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1538"/>
              </a:lnSpc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2000" dirty="0">
                <a:latin typeface="Segoe UI Symbol" panose="020B0502040204020203" pitchFamily="34" charset="0"/>
              </a:rPr>
              <a:t>Les triggers des événement </a:t>
            </a:r>
          </a:p>
          <a:p>
            <a:pPr lvl="1" eaLnBrk="1" hangingPunct="1">
              <a:spcBef>
                <a:spcPts val="975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2000" dirty="0">
                <a:latin typeface="Segoe UI Symbol" panose="020B0502040204020203" pitchFamily="34" charset="0"/>
              </a:rPr>
              <a:t>Les triggers des données</a:t>
            </a:r>
          </a:p>
          <a:p>
            <a:pPr lvl="1" eaLnBrk="1" hangingPunct="1">
              <a:spcBef>
                <a:spcPts val="975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2000" dirty="0">
                <a:latin typeface="Segoe UI Symbol" panose="020B0502040204020203" pitchFamily="34" charset="0"/>
              </a:rPr>
              <a:t>Les multi triggers</a:t>
            </a:r>
          </a:p>
        </p:txBody>
      </p:sp>
    </p:spTree>
    <p:extLst>
      <p:ext uri="{BB962C8B-B14F-4D97-AF65-F5344CB8AC3E}">
        <p14:creationId xmlns:p14="http://schemas.microsoft.com/office/powerpoint/2010/main" val="109716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36093" y="690499"/>
            <a:ext cx="11148187" cy="1790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>
                <a:latin typeface="Segoe UI Symbol" panose="020B0502040204020203" pitchFamily="34" charset="0"/>
              </a:rPr>
              <a:t>Les triggers des propriétés</a:t>
            </a:r>
            <a:r>
              <a:rPr lang="en-US" alt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CA" altLang="en-US" sz="1600" dirty="0">
                <a:latin typeface="Segoe UI Symbol" panose="020B0502040204020203" pitchFamily="34" charset="0"/>
              </a:rPr>
              <a:t> </a:t>
            </a:r>
            <a:r>
              <a:rPr lang="fr-CA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Il surveille une propriété spécifique sur le contrôle propriétaire et lorsque cette propriété a une valeur qui correspond à la valeur spécifiée, les propriétés peuvent </a:t>
            </a:r>
            <a:r>
              <a:rPr lang="fr-CA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changer, la manière la plus appropriée d’application des triggers est leurs définition dans un style 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9268" y="2697174"/>
            <a:ext cx="930233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Spacing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="Hello, styled world!"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="28" 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Entry.Style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Entry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="Blue"&gt;&lt;/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Style.Triggers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Trigger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IsFocused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="True"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="Entry"&gt;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="Black"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Trigger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&lt;/</a:t>
            </a:r>
            <a:r>
              <a:rPr lang="fr-FR" sz="14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Style.Triggers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Entry.Style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71951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36092" y="690499"/>
            <a:ext cx="11902245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>
                <a:latin typeface="Segoe UI Symbol" panose="020B0502040204020203" pitchFamily="34" charset="0"/>
              </a:rPr>
              <a:t>Les triggers des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propriétés</a:t>
            </a:r>
            <a:endParaRPr lang="en-US" altLang="en-US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fr-CA" altLang="en-US" sz="1600" dirty="0">
                <a:latin typeface="Segoe UI Symbol" panose="020B0502040204020203" pitchFamily="34" charset="0"/>
              </a:rPr>
              <a:t> </a:t>
            </a:r>
            <a:r>
              <a:rPr lang="fr-CA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Une fois la condition n’est pas vraie, la vue retourne vers l’état initial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endParaRPr lang="fr-CA" sz="1600" dirty="0">
              <a:latin typeface="Segoe UI Symbol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déclaration du déclencheur spécifie les éléments suivants :</a:t>
            </a:r>
          </a:p>
          <a:p>
            <a:pPr lvl="1"/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/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TargetType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type de contrôle auquel le déclencheur s’applique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2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/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Property: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ropriété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sur le contrôle surveillé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2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/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Value: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valeur, lorsqu’elle se produit pour la propriété surveillée, qui provoque l’activation du déclencheur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2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/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Setter: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ollection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d’éléments Setter appliqués lorsque la condition de déclencheur est remplie.</a:t>
            </a:r>
          </a:p>
        </p:txBody>
      </p:sp>
    </p:spTree>
    <p:extLst>
      <p:ext uri="{BB962C8B-B14F-4D97-AF65-F5344CB8AC3E}">
        <p14:creationId xmlns:p14="http://schemas.microsoft.com/office/powerpoint/2010/main" val="2963728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36093" y="690499"/>
            <a:ext cx="11148187" cy="5103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>
                <a:latin typeface="Segoe UI Symbol" panose="020B0502040204020203" pitchFamily="34" charset="0"/>
              </a:rPr>
              <a:t>Les triggers des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propriétés-Les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EnterActions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/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ExitActions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Une autre approche pour implémenter des modifications lorsqu’un déclencheur se produit consiste à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spécifier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EnterActions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et 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ExitActions</a:t>
            </a: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La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collection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EnterActions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est de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type </a:t>
            </a:r>
            <a:r>
              <a:rPr lang="fr-FR" alt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IList</a:t>
            </a:r>
            <a:r>
              <a:rPr lang="fr-FR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fr-FR" alt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TriggerAction</a:t>
            </a:r>
            <a:r>
              <a:rPr lang="fr-FR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elle définit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une collection qui sera appelée lorsque la condition du déclencheur est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remplie</a:t>
            </a: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La collection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ExitActions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est de type </a:t>
            </a:r>
            <a:r>
              <a:rPr lang="fr-FR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IList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fr-FR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TriggerAction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&gt;, elle définit une collection qui sera appelée lorsque la condition du déclencheur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n’est plus remplie</a:t>
            </a: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Un type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TriggerAction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est toute classe qui hérite de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TriggerAction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&lt;T&gt;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où T représente le contrôle depuis lequel le déclencheur est lancé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209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291724"/>
            <a:ext cx="11148187" cy="9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>
                <a:latin typeface="Segoe UI Symbol" panose="020B0502040204020203" pitchFamily="34" charset="0"/>
              </a:rPr>
              <a:t>Les triggers des propriétés-Les </a:t>
            </a:r>
            <a:r>
              <a:rPr lang="fr-FR" altLang="en-US" sz="2200" u="sng" dirty="0" err="1">
                <a:latin typeface="Segoe UI Symbol" panose="020B0502040204020203" pitchFamily="34" charset="0"/>
              </a:rPr>
              <a:t>EnterActions</a:t>
            </a:r>
            <a:r>
              <a:rPr lang="fr-FR" altLang="en-US" sz="2200" u="sng" dirty="0">
                <a:latin typeface="Segoe UI Symbol" panose="020B0502040204020203" pitchFamily="34" charset="0"/>
              </a:rPr>
              <a:t>/</a:t>
            </a:r>
            <a:r>
              <a:rPr lang="fr-FR" altLang="en-US" sz="2200" u="sng" dirty="0" err="1">
                <a:latin typeface="Segoe UI Symbol" panose="020B0502040204020203" pitchFamily="34" charset="0"/>
              </a:rPr>
              <a:t>ExitActions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Ce ci est un exemple d’implémentation des actions qui change la couleur de fond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0187" y="5866955"/>
            <a:ext cx="1640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en XAML</a:t>
            </a:r>
            <a:endParaRPr lang="fr-FR" sz="1400" b="1" dirty="0"/>
          </a:p>
        </p:txBody>
      </p:sp>
      <p:sp>
        <p:nvSpPr>
          <p:cNvPr id="7" name="Rectangle 6"/>
          <p:cNvSpPr/>
          <p:nvPr/>
        </p:nvSpPr>
        <p:spPr>
          <a:xfrm>
            <a:off x="8050635" y="5866954"/>
            <a:ext cx="10951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C#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267624" y="1311861"/>
            <a:ext cx="617741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="20"&gt;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Placeholder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="Nom" 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Entry.Triggers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Trigger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IsFocused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="True"&gt;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Trigger.EnterActions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ChangeBackgroundColorAction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LightGreen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Trigger.EnterActions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Trigger.ExitActions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ChangeBackgroundColorAction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="White" /&gt;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Trigger.ExitActions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Trigger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Entry.Triggers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Placeholder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Prénom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 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Entry.Triggers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Trigger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IsFocused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="True"&gt;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Trigger.EnterActions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ChangeBackgroundColorAction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LightGreen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Trigger.EnterActions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Trigger.ExitActions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ChangeBackgroundColorAction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Color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="White" /&gt;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Trigger.ExitActions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Trigger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Entry.Triggers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Appliquer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6445038" y="1445253"/>
            <a:ext cx="540153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class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ChangeBackgroundColorAction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TriggerAction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&lt;Entry&gt;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Color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get; set; }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protected override void Invoke(Entry sender)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sender.BackgroundColor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Color;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5517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9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>
                <a:latin typeface="Segoe UI Symbol" panose="020B0502040204020203" pitchFamily="34" charset="0"/>
              </a:rPr>
              <a:t>Les triggers des propriétés-Les </a:t>
            </a:r>
            <a:r>
              <a:rPr lang="fr-FR" altLang="en-US" sz="2200" u="sng" dirty="0" err="1">
                <a:latin typeface="Segoe UI Symbol" panose="020B0502040204020203" pitchFamily="34" charset="0"/>
              </a:rPr>
              <a:t>EnterActions</a:t>
            </a:r>
            <a:r>
              <a:rPr lang="fr-FR" altLang="en-US" sz="2200" u="sng" dirty="0">
                <a:latin typeface="Segoe UI Symbol" panose="020B0502040204020203" pitchFamily="34" charset="0"/>
              </a:rPr>
              <a:t>/</a:t>
            </a:r>
            <a:r>
              <a:rPr lang="fr-FR" altLang="en-US" sz="2200" u="sng" dirty="0" err="1">
                <a:latin typeface="Segoe UI Symbol" panose="020B0502040204020203" pitchFamily="34" charset="0"/>
              </a:rPr>
              <a:t>ExitActions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Ce ci est un exemple d’implémentation des actions qui applique une rotation 45 degrés sur une image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87216" y="5665917"/>
            <a:ext cx="1640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en XAML</a:t>
            </a:r>
            <a:endParaRPr lang="fr-FR" sz="1400" b="1" dirty="0"/>
          </a:p>
        </p:txBody>
      </p:sp>
      <p:sp>
        <p:nvSpPr>
          <p:cNvPr id="7" name="Rectangle 6"/>
          <p:cNvSpPr/>
          <p:nvPr/>
        </p:nvSpPr>
        <p:spPr>
          <a:xfrm>
            <a:off x="8050636" y="5665917"/>
            <a:ext cx="10951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C#</a:t>
            </a:r>
            <a:endParaRPr lang="fr-FR" sz="1400" b="1" dirty="0"/>
          </a:p>
        </p:txBody>
      </p:sp>
      <p:sp>
        <p:nvSpPr>
          <p:cNvPr id="9" name="Rectangle 8"/>
          <p:cNvSpPr/>
          <p:nvPr/>
        </p:nvSpPr>
        <p:spPr>
          <a:xfrm>
            <a:off x="267624" y="1583399"/>
            <a:ext cx="6096000" cy="25160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Source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="dotnet_bot.png"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="image"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IsVisible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="False"&gt;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Image.Triggers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Trigger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="Image"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IsVisible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="True"&gt;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Trigger.EnterActions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RotateImageTriggerAction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EnterRotation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="45" 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Trigger.EnterActions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Trigger.ExitActions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RotateImageTriggerAction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EnterRotation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="0" 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Trigger.ExitActions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Trigger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Image.Triggers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="Show/Hide Image"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Clicked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050" dirty="0"/>
          </a:p>
        </p:txBody>
      </p:sp>
      <p:sp>
        <p:nvSpPr>
          <p:cNvPr id="10" name="Rectangle 9"/>
          <p:cNvSpPr/>
          <p:nvPr/>
        </p:nvSpPr>
        <p:spPr>
          <a:xfrm>
            <a:off x="6482366" y="166544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class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RotateImageTriggerAction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TriggerAction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&lt;Image&gt;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double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EnterRotation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get; set; }</a:t>
            </a:r>
          </a:p>
          <a:p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protected override void Invoke(Image sender)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sender.Rotation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EnterRotation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6482366" y="3930785"/>
            <a:ext cx="51758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private void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(object sender,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image.IsVisible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!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image.IsVisible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7839727" y="4704484"/>
            <a:ext cx="24611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gestionnaire du bouton </a:t>
            </a:r>
            <a:endParaRPr lang="fr-FR" sz="1400" b="1" dirty="0"/>
          </a:p>
        </p:txBody>
      </p:sp>
      <p:sp>
        <p:nvSpPr>
          <p:cNvPr id="13" name="Rectangle 12"/>
          <p:cNvSpPr/>
          <p:nvPr/>
        </p:nvSpPr>
        <p:spPr>
          <a:xfrm>
            <a:off x="7839726" y="3404379"/>
            <a:ext cx="16033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Trigger action</a:t>
            </a:r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67318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78257" y="586105"/>
            <a:ext cx="11589625" cy="73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>
                <a:latin typeface="Segoe UI Symbol" panose="020B0502040204020203" pitchFamily="34" charset="0"/>
              </a:rPr>
              <a:t>Les triggers des événements</a:t>
            </a:r>
            <a:r>
              <a:rPr lang="en-US" alt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CA" altLang="en-US" sz="1600" dirty="0">
                <a:latin typeface="Segoe UI Symbol" panose="020B0502040204020203" pitchFamily="34" charset="0"/>
              </a:rPr>
              <a:t> </a:t>
            </a:r>
            <a:r>
              <a:rPr lang="fr-FR" dirty="0"/>
              <a:t>Les triggers d'événement (Event Triggers) sont utilisés pour exécuter des actions en réponse à des événements. 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34850" y="1502870"/>
            <a:ext cx="1171977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Différences Clés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Déclencheur </a:t>
            </a: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fr-F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66700" marR="0" lvl="1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Trigger de Propriété :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Se déclenche lorsqu'une propriété d'un contrôle change (par exemple, </a:t>
            </a:r>
            <a:r>
              <a:rPr kumimoji="0" lang="fr-FR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IsEnabled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fr-FR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IsVisible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etc.).</a:t>
            </a:r>
          </a:p>
          <a:p>
            <a:pPr marL="266700" marR="0" lvl="1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66700" marR="0" lvl="1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Trigger d'Événement :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Se déclenche en réponse à un événement spécifique (par exemple, </a:t>
            </a:r>
            <a:r>
              <a:rPr kumimoji="0" lang="fr-FR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Clicked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fr-FR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Tapped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fr-FR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MouseEnter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8257" y="3564973"/>
            <a:ext cx="1120969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2.Utilisation </a:t>
            </a:r>
            <a:r>
              <a:rPr lang="fr-F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Principale </a:t>
            </a:r>
            <a:r>
              <a:rPr lang="fr-FR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F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Trigger de Propriété :</a:t>
            </a:r>
            <a:r>
              <a:rPr lang="fr-FR" sz="1600" dirty="0">
                <a:latin typeface="Segoe UI" panose="020B0502040204020203" pitchFamily="34" charset="0"/>
                <a:cs typeface="Segoe UI" panose="020B0502040204020203" pitchFamily="34" charset="0"/>
              </a:rPr>
              <a:t> Principalement utilisé pour modifier les propriétés de style ou les comportements en fonction de l'état des propriétés d'un contrôle</a:t>
            </a:r>
            <a:r>
              <a:rPr lang="fr-FR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Trigger d'Événement :</a:t>
            </a:r>
            <a:r>
              <a:rPr lang="fr-FR" sz="1600" dirty="0">
                <a:latin typeface="Segoe UI" panose="020B0502040204020203" pitchFamily="34" charset="0"/>
                <a:cs typeface="Segoe UI" panose="020B0502040204020203" pitchFamily="34" charset="0"/>
              </a:rPr>
              <a:t> Utilisé pour exécuter des actions ou des animations en réponse à des événements d'interaction utilisateur.</a:t>
            </a:r>
          </a:p>
        </p:txBody>
      </p:sp>
    </p:spTree>
    <p:extLst>
      <p:ext uri="{BB962C8B-B14F-4D97-AF65-F5344CB8AC3E}">
        <p14:creationId xmlns:p14="http://schemas.microsoft.com/office/powerpoint/2010/main" val="328338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78257" y="586105"/>
            <a:ext cx="11589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>
                <a:latin typeface="Segoe UI Symbol" panose="020B0502040204020203" pitchFamily="34" charset="0"/>
              </a:rPr>
              <a:t>Les triggers des événements</a:t>
            </a:r>
            <a:r>
              <a:rPr lang="en-US" alt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78257" y="1182813"/>
            <a:ext cx="1163177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3.Définition en XAML </a:t>
            </a: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Trigger de Propriété :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Utilise l'élément </a:t>
            </a: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&lt;Trigger&gt; 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et des éléments </a:t>
            </a: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&lt;Setter&gt;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pour définir les modifications de propriété.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fr-F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Trigger d'Événement :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Utilise l'élément </a:t>
            </a: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kumimoji="0" lang="fr-FR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EventTrigger</a:t>
            </a:r>
            <a:r>
              <a:rPr kumimoji="0" lang="fr-FR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76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78257" y="586105"/>
            <a:ext cx="10749407" cy="73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>
                <a:latin typeface="Segoe UI Symbol" panose="020B0502040204020203" pitchFamily="34" charset="0"/>
              </a:rPr>
              <a:t>Les triggers des événements</a:t>
            </a:r>
            <a:r>
              <a:rPr lang="en-US" alt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08510" y="177917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public class </a:t>
            </a:r>
            <a:r>
              <a:rPr lang="fr-FR" dirty="0" err="1"/>
              <a:t>FocusedEventTriggerAction</a:t>
            </a:r>
            <a:r>
              <a:rPr lang="fr-FR" dirty="0"/>
              <a:t> : </a:t>
            </a:r>
            <a:r>
              <a:rPr lang="fr-FR" dirty="0" err="1"/>
              <a:t>TriggerAction</a:t>
            </a:r>
            <a:r>
              <a:rPr lang="fr-FR" dirty="0"/>
              <a:t>&lt;Entry&gt;</a:t>
            </a:r>
          </a:p>
          <a:p>
            <a:r>
              <a:rPr lang="fr-FR" dirty="0"/>
              <a:t>    {</a:t>
            </a:r>
          </a:p>
          <a:p>
            <a:r>
              <a:rPr lang="en-US" dirty="0"/>
              <a:t>        protected override void Invoke(Entry sender)</a:t>
            </a:r>
          </a:p>
          <a:p>
            <a:r>
              <a:rPr lang="fr-FR" dirty="0"/>
              <a:t>        {</a:t>
            </a:r>
          </a:p>
          <a:p>
            <a:r>
              <a:rPr lang="fr-FR" dirty="0"/>
              <a:t>            </a:t>
            </a:r>
            <a:r>
              <a:rPr lang="fr-FR" dirty="0" err="1" smtClean="0"/>
              <a:t>Application.Current.MainPage</a:t>
            </a:r>
            <a:endParaRPr lang="fr-FR" dirty="0" smtClean="0"/>
          </a:p>
          <a:p>
            <a:r>
              <a:rPr lang="fr-FR" dirty="0"/>
              <a:t> </a:t>
            </a:r>
            <a:r>
              <a:rPr lang="fr-FR" dirty="0" smtClean="0"/>
              <a:t>           .</a:t>
            </a:r>
            <a:r>
              <a:rPr lang="fr-FR" dirty="0" err="1"/>
              <a:t>DisplayAlert</a:t>
            </a:r>
            <a:r>
              <a:rPr lang="fr-FR" dirty="0"/>
              <a:t>("Event trigger test", </a:t>
            </a:r>
            <a:r>
              <a:rPr lang="fr-FR" dirty="0" err="1"/>
              <a:t>sender.Text</a:t>
            </a:r>
            <a:r>
              <a:rPr lang="fr-FR" dirty="0"/>
              <a:t>, "OK");</a:t>
            </a:r>
          </a:p>
          <a:p>
            <a:r>
              <a:rPr lang="fr-FR" dirty="0"/>
              <a:t>        }</a:t>
            </a:r>
          </a:p>
          <a:p>
            <a:r>
              <a:rPr lang="fr-FR" dirty="0"/>
              <a:t>    }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347" y="1852814"/>
            <a:ext cx="6096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Spacing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="Hello, styled world!"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="28"&gt;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Entry.Triggers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EventTrigger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Event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="Unfocused"&gt;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FocusedEventTriggerAction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/&gt;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EventTrigger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Entry.Triggers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/&gt;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1983" y="4733107"/>
            <a:ext cx="1640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en XAML</a:t>
            </a:r>
            <a:endParaRPr lang="fr-FR" sz="1400" b="1" dirty="0"/>
          </a:p>
        </p:txBody>
      </p:sp>
      <p:sp>
        <p:nvSpPr>
          <p:cNvPr id="11" name="Rectangle 10"/>
          <p:cNvSpPr/>
          <p:nvPr/>
        </p:nvSpPr>
        <p:spPr>
          <a:xfrm>
            <a:off x="7995403" y="4733107"/>
            <a:ext cx="10951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C#</a:t>
            </a:r>
            <a:endParaRPr lang="fr-FR" sz="1400" b="1" dirty="0"/>
          </a:p>
        </p:txBody>
      </p:sp>
      <p:sp>
        <p:nvSpPr>
          <p:cNvPr id="12" name="Rectangle 11"/>
          <p:cNvSpPr/>
          <p:nvPr/>
        </p:nvSpPr>
        <p:spPr>
          <a:xfrm>
            <a:off x="112510" y="107268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52400"/>
            <a:r>
              <a:rPr lang="fr-CA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exemple d’implémentation de </a:t>
            </a:r>
            <a:r>
              <a:rPr lang="fr-CA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EventTrigger</a:t>
            </a:r>
            <a:endParaRPr lang="fr-CA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51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36474" y="631444"/>
            <a:ext cx="11376406" cy="137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>
                <a:latin typeface="Segoe UI Symbol" panose="020B0502040204020203" pitchFamily="34" charset="0"/>
              </a:rPr>
              <a:t>Les triggers des données</a:t>
            </a:r>
            <a:r>
              <a:rPr lang="en-US" alt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CA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 Le trigger des données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représente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 déclencheur qui applique des valeurs de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propriété d’un contrôle sur la base des changements des valeurs de propriétés des autres contrôles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9480" y="2117280"/>
            <a:ext cx="979143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CheckBox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="cbSample"/&gt;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="0,20,0,0"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="48"&gt;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Label.Style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="Label"&gt;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="No"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="Red"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Style.Triggers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DataTrigger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Source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={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x</a:t>
            </a:r>
            <a:r>
              <a:rPr lang="fr-FR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Reference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cbSample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},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      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Path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</a:t>
            </a:r>
            <a:r>
              <a:rPr lang="en-US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IsChecked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="True"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="Label"&gt;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="Yes!"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="Green"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DataTrigger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Style.Triggers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Label.Style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sp>
        <p:nvSpPr>
          <p:cNvPr id="5" name="Ellipse 4"/>
          <p:cNvSpPr/>
          <p:nvPr/>
        </p:nvSpPr>
        <p:spPr>
          <a:xfrm>
            <a:off x="1323472" y="2184164"/>
            <a:ext cx="309004" cy="2711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1298246" y="2565003"/>
            <a:ext cx="309004" cy="2711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015299" y="2319747"/>
            <a:ext cx="7369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A" altLang="en-US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source</a:t>
            </a:r>
            <a:endParaRPr lang="fr-FR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754246" y="2676104"/>
            <a:ext cx="11384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A" altLang="en-US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destination</a:t>
            </a:r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71629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373634" y="179952"/>
            <a:ext cx="11818366" cy="1579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err="1">
                <a:latin typeface="Segoe UI Symbol" panose="020B0502040204020203" pitchFamily="34" charset="0"/>
              </a:rPr>
              <a:t>MultiDataTriggers</a:t>
            </a:r>
            <a:r>
              <a:rPr lang="en-US" alt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CA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 Tout comme un </a:t>
            </a:r>
            <a:r>
              <a:rPr lang="fr-CA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DataTrigger</a:t>
            </a:r>
            <a:r>
              <a:rPr lang="fr-CA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ordinaire, le </a:t>
            </a:r>
            <a:r>
              <a:rPr lang="fr-CA" alt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MultiDataTrigger</a:t>
            </a:r>
            <a:r>
              <a:rPr lang="fr-CA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utilise des liaisons pour surveiller une propriété</a:t>
            </a:r>
            <a:r>
              <a:rPr lang="fr-CA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fr-CA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CA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CA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Sauf </a:t>
            </a:r>
            <a:r>
              <a:rPr lang="fr-CA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que ce dernier se base sur plusieurs conditions et non pas une pour ce </a:t>
            </a:r>
            <a:r>
              <a:rPr lang="fr-CA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déclencher</a:t>
            </a:r>
            <a:r>
              <a:rPr lang="fr-CA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8503" y="1980024"/>
            <a:ext cx="8177047" cy="4139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CheckBox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="cbSampleYes"/&gt;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Yes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CheckBox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="cbSampleSure" /&gt;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I'm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 sure"/&gt;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="0,20,0,0"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="28"&gt;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Entry.Style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="Entry"&gt;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="Unverified" 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TextColor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 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Style.Triggers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MultiTrigger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="Entry"&gt;</a:t>
            </a:r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05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MultiTrigger.Conditions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05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05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            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05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BindingCondition</a:t>
            </a:r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Binding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05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Source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={</a:t>
            </a:r>
            <a:r>
              <a:rPr lang="fr-FR" sz="105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x</a:t>
            </a:r>
            <a:r>
              <a:rPr lang="fr-FR" sz="105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05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Reference</a:t>
            </a:r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05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cbSampleYes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},</a:t>
            </a:r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endParaRPr lang="fr-FR" sz="105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	</a:t>
            </a:r>
            <a:r>
              <a:rPr lang="fr-FR" sz="105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					Path</a:t>
            </a:r>
            <a:r>
              <a:rPr lang="fr-FR" sz="105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</a:t>
            </a:r>
            <a:r>
              <a:rPr lang="fr-FR" sz="1050" b="1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IsChecked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Value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="True" /&gt;</a:t>
            </a:r>
            <a:endParaRPr lang="fr-FR" sz="105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05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            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05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BindingCondition</a:t>
            </a:r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Binding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05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Source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={</a:t>
            </a:r>
            <a:r>
              <a:rPr lang="fr-FR" sz="105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x</a:t>
            </a:r>
            <a:r>
              <a:rPr lang="fr-FR" sz="105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05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Reference</a:t>
            </a:r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05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cbSampleSure</a:t>
            </a:r>
            <a:r>
              <a:rPr lang="fr-FR" sz="105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},</a:t>
            </a:r>
          </a:p>
          <a:p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	</a:t>
            </a:r>
            <a:r>
              <a:rPr lang="fr-FR" sz="105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					</a:t>
            </a:r>
            <a:r>
              <a:rPr lang="fr-FR" sz="105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Path</a:t>
            </a:r>
            <a:r>
              <a:rPr lang="fr-FR" sz="105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</a:t>
            </a:r>
            <a:r>
              <a:rPr lang="fr-FR" sz="1050" b="1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IsChecked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Value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="True" /&gt;</a:t>
            </a:r>
            <a:endParaRPr lang="fr-FR" sz="105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05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        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sz="105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MultiTrigger.Conditions</a:t>
            </a:r>
            <a:r>
              <a:rPr lang="fr-FR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05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="Verified" 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TextColor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="Green" 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MultiTrigger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Style.Triggers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Entry.Style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37955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états visuels 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4032" y="1082135"/>
            <a:ext cx="10951779" cy="4575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états visuels changent les apparences d’un contrôle donné conformément à l’un de ces états: </a:t>
            </a:r>
          </a:p>
          <a:p>
            <a:pPr lvl="1"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Normal</a:t>
            </a:r>
          </a:p>
          <a:p>
            <a:pPr lvl="1"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Désactivé</a:t>
            </a:r>
          </a:p>
          <a:p>
            <a:pPr lvl="1"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Focused</a:t>
            </a:r>
          </a:p>
          <a:p>
            <a:pPr lvl="1"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Selected </a:t>
            </a:r>
          </a:p>
          <a:p>
            <a:pPr lvl="1"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PointerOver</a:t>
            </a:r>
          </a:p>
          <a:p>
            <a:pPr marL="0" lvl="1"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Un gestionnaire d’états visuels permet de gérer ces états et </a:t>
            </a:r>
            <a:r>
              <a:rPr lang="fr-FR" dirty="0" smtClean="0"/>
              <a:t>offre </a:t>
            </a:r>
            <a:r>
              <a:rPr lang="fr-FR" dirty="0"/>
              <a:t>un moyen structuré d’apporter des  </a:t>
            </a:r>
            <a:r>
              <a:rPr lang="fr-FR" dirty="0" smtClean="0"/>
              <a:t>   modifications </a:t>
            </a:r>
            <a:r>
              <a:rPr lang="fr-FR" dirty="0"/>
              <a:t>visuelles à l’interface utilisateur </a:t>
            </a:r>
            <a:r>
              <a:rPr lang="fr-FR" dirty="0" smtClean="0"/>
              <a:t>avec du  XAML seulement </a:t>
            </a:r>
          </a:p>
          <a:p>
            <a:pPr marL="0" lvl="1"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Ils peuvent être comparés à </a:t>
            </a:r>
            <a:r>
              <a:rPr lang="fr-FR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des triggers de propriétés à plusieurs états </a:t>
            </a:r>
          </a:p>
        </p:txBody>
      </p:sp>
    </p:spTree>
    <p:extLst>
      <p:ext uri="{BB962C8B-B14F-4D97-AF65-F5344CB8AC3E}">
        <p14:creationId xmlns:p14="http://schemas.microsoft.com/office/powerpoint/2010/main" val="264803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843167" y="1822494"/>
            <a:ext cx="5902610" cy="1040524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états visuels 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94851" y="752570"/>
            <a:ext cx="970945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="18"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="200"&gt;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VisualStateManager.VisualStateGroups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VisualStateGroupList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="Normal"&gt;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="Lime"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="Focused"&gt;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            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="Red"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Disabled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="Blue"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TextColor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="White"/&gt;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VisualStateGroupList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VisualStateManager.VisualStateGroups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  <p:sp>
        <p:nvSpPr>
          <p:cNvPr id="5" name="Ellipse 4"/>
          <p:cNvSpPr/>
          <p:nvPr/>
        </p:nvSpPr>
        <p:spPr>
          <a:xfrm>
            <a:off x="3518863" y="1141423"/>
            <a:ext cx="283780" cy="2459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4862600" y="2160874"/>
            <a:ext cx="283780" cy="2459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4806193" y="1637829"/>
            <a:ext cx="283780" cy="2459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4865197" y="2980112"/>
            <a:ext cx="5902610" cy="1040524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901704" y="4131072"/>
            <a:ext cx="5902610" cy="1040524"/>
          </a:xfrm>
          <a:prstGeom prst="rect">
            <a:avLst/>
          </a:prstGeom>
          <a:solidFill>
            <a:srgbClr val="00B05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55247" y="3315708"/>
            <a:ext cx="1797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états visuels</a:t>
            </a:r>
            <a:endParaRPr lang="fr-FR" dirty="0"/>
          </a:p>
        </p:txBody>
      </p:sp>
      <p:cxnSp>
        <p:nvCxnSpPr>
          <p:cNvPr id="13" name="Connecteur droit avec flèche 12"/>
          <p:cNvCxnSpPr>
            <a:stCxn id="11" idx="3"/>
            <a:endCxn id="8" idx="1"/>
          </p:cNvCxnSpPr>
          <p:nvPr/>
        </p:nvCxnSpPr>
        <p:spPr>
          <a:xfrm flipV="1">
            <a:off x="2352534" y="2342756"/>
            <a:ext cx="2490633" cy="11576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11" idx="3"/>
            <a:endCxn id="9" idx="1"/>
          </p:cNvCxnSpPr>
          <p:nvPr/>
        </p:nvCxnSpPr>
        <p:spPr>
          <a:xfrm>
            <a:off x="2352534" y="3500374"/>
            <a:ext cx="25126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1" idx="3"/>
            <a:endCxn id="10" idx="1"/>
          </p:cNvCxnSpPr>
          <p:nvPr/>
        </p:nvCxnSpPr>
        <p:spPr>
          <a:xfrm>
            <a:off x="2352534" y="3500374"/>
            <a:ext cx="2549170" cy="11509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38102" y="1496186"/>
            <a:ext cx="2137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groupes visuels</a:t>
            </a:r>
            <a:endParaRPr lang="fr-FR" dirty="0"/>
          </a:p>
        </p:txBody>
      </p:sp>
      <p:cxnSp>
        <p:nvCxnSpPr>
          <p:cNvPr id="21" name="Connecteur droit avec flèche 20"/>
          <p:cNvCxnSpPr>
            <a:stCxn id="20" idx="3"/>
            <a:endCxn id="7" idx="2"/>
          </p:cNvCxnSpPr>
          <p:nvPr/>
        </p:nvCxnSpPr>
        <p:spPr>
          <a:xfrm>
            <a:off x="2675418" y="1680852"/>
            <a:ext cx="2130775" cy="799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8102" y="1078303"/>
            <a:ext cx="1792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gestionnaire </a:t>
            </a:r>
            <a:endParaRPr lang="fr-FR" dirty="0"/>
          </a:p>
        </p:txBody>
      </p:sp>
      <p:cxnSp>
        <p:nvCxnSpPr>
          <p:cNvPr id="26" name="Connecteur droit avec flèche 25"/>
          <p:cNvCxnSpPr>
            <a:stCxn id="25" idx="3"/>
            <a:endCxn id="5" idx="2"/>
          </p:cNvCxnSpPr>
          <p:nvPr/>
        </p:nvCxnSpPr>
        <p:spPr>
          <a:xfrm>
            <a:off x="2330772" y="1262969"/>
            <a:ext cx="1188091" cy="14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Ellipse 30"/>
          <p:cNvSpPr/>
          <p:nvPr/>
        </p:nvSpPr>
        <p:spPr>
          <a:xfrm>
            <a:off x="4901704" y="3377402"/>
            <a:ext cx="283780" cy="2459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2" name="Ellipse 31"/>
          <p:cNvSpPr/>
          <p:nvPr/>
        </p:nvSpPr>
        <p:spPr>
          <a:xfrm>
            <a:off x="4901704" y="4535021"/>
            <a:ext cx="283780" cy="2459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785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états visuels-Personnalisés 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8102" y="1078303"/>
            <a:ext cx="11408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Outre que les états visuels de base, il est possible d’ajouter des états visuels personnalisés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avec les noms de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votre choix, il faut ensuite les définir dans la méthode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VisualStateManager.GoToState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7901" y="2038207"/>
            <a:ext cx="8215470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GoToState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string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? 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Valid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Invalid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1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if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fr-FR" sz="11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helpLabel.IsVisible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</a:t>
            </a:r>
            <a:r>
              <a:rPr lang="fr-FR" sz="11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}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else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fr-FR" sz="11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helpLabel.IsVisible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VisualStateManager.GoToState</a:t>
            </a:r>
            <a:r>
              <a:rPr lang="fr-FR" sz="1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</a:t>
            </a:r>
            <a:r>
              <a:rPr lang="fr-FR" sz="12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stackLayout</a:t>
            </a:r>
            <a:r>
              <a:rPr lang="fr-FR" sz="1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, </a:t>
            </a:r>
            <a:r>
              <a:rPr lang="fr-FR" sz="12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visualState</a:t>
            </a:r>
            <a:r>
              <a:rPr lang="fr-FR" sz="1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);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fr-FR" sz="1100" dirty="0"/>
          </a:p>
        </p:txBody>
      </p:sp>
      <p:cxnSp>
        <p:nvCxnSpPr>
          <p:cNvPr id="22" name="Connecteur droit avec flèche 21"/>
          <p:cNvCxnSpPr/>
          <p:nvPr/>
        </p:nvCxnSpPr>
        <p:spPr>
          <a:xfrm>
            <a:off x="2993571" y="4248654"/>
            <a:ext cx="1" cy="3740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Ellipse 23"/>
          <p:cNvSpPr/>
          <p:nvPr/>
        </p:nvSpPr>
        <p:spPr>
          <a:xfrm>
            <a:off x="9141416" y="1812890"/>
            <a:ext cx="283780" cy="2459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27" name="Ellipse 26"/>
          <p:cNvSpPr/>
          <p:nvPr/>
        </p:nvSpPr>
        <p:spPr>
          <a:xfrm>
            <a:off x="9353354" y="4002711"/>
            <a:ext cx="283780" cy="2459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7293482" y="2037549"/>
            <a:ext cx="476432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Valid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helpLabel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      Property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Label.TextColor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      Value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="Transparent"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Property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Entry.BackgroundColor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       Value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="Lime"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fr-FR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Invalid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Property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Entry.BackgroundColor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       Value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="Pink"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 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submitButton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        Property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Button.IsEnabled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        Value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="False"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  <p:cxnSp>
        <p:nvCxnSpPr>
          <p:cNvPr id="28" name="Connecteur droit avec flèche 27"/>
          <p:cNvCxnSpPr/>
          <p:nvPr/>
        </p:nvCxnSpPr>
        <p:spPr>
          <a:xfrm flipV="1">
            <a:off x="3728357" y="2156254"/>
            <a:ext cx="3747481" cy="298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4893129" y="2525486"/>
            <a:ext cx="2771069" cy="18117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Ellipse 35"/>
          <p:cNvSpPr/>
          <p:nvPr/>
        </p:nvSpPr>
        <p:spPr>
          <a:xfrm>
            <a:off x="1869278" y="1812890"/>
            <a:ext cx="283780" cy="2459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7" name="Ellipse 36"/>
          <p:cNvSpPr/>
          <p:nvPr/>
        </p:nvSpPr>
        <p:spPr>
          <a:xfrm>
            <a:off x="3110653" y="4312716"/>
            <a:ext cx="283780" cy="2459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4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600977" y="4824501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private void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OnTextChanged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(object sender,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TextChangedEventArgs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bool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Regex.IsMatch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e.NewTextValue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endParaRPr lang="en-US" sz="11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@"^([\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w\.\-]+)@([\w\-]+)((\.(\w){2,3})+)$");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GoToState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100" dirty="0"/>
          </a:p>
        </p:txBody>
      </p:sp>
      <p:sp>
        <p:nvSpPr>
          <p:cNvPr id="10" name="Rectangle 9"/>
          <p:cNvSpPr/>
          <p:nvPr/>
        </p:nvSpPr>
        <p:spPr>
          <a:xfrm>
            <a:off x="1985994" y="5826498"/>
            <a:ext cx="27069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gestionnaire d’événements</a:t>
            </a:r>
            <a:endParaRPr lang="en-US" sz="1400" b="1" dirty="0"/>
          </a:p>
        </p:txBody>
      </p:sp>
      <p:cxnSp>
        <p:nvCxnSpPr>
          <p:cNvPr id="20" name="Connecteur droit avec flèche 21"/>
          <p:cNvCxnSpPr/>
          <p:nvPr/>
        </p:nvCxnSpPr>
        <p:spPr>
          <a:xfrm>
            <a:off x="434301" y="2156254"/>
            <a:ext cx="11131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397329" y="5660571"/>
            <a:ext cx="54533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97329" y="2156254"/>
            <a:ext cx="36972" cy="35043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41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états visuels-Personnalisés 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8102" y="1078303"/>
            <a:ext cx="10172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faut lier l’opération de validation à un évènement particulier comme le changement de texte  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7463" y="1540120"/>
            <a:ext cx="6931557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Placeholder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="contoso@xyz.com"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="18"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TextChanged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OnTextChanged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="helpLabel"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IsVisible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="False"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="Mail is not valid"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="submitButton"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Submit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="18"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="0, 20"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 /&gt;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841717" y="1604091"/>
            <a:ext cx="619485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pattern = </a:t>
            </a:r>
            <a:r>
              <a:rPr lang="sv-SE" sz="1200" dirty="0">
                <a:solidFill>
                  <a:srgbClr val="800000"/>
                </a:solidFill>
                <a:latin typeface="Cascadia Mono" panose="020B0609020000020004" pitchFamily="49" charset="0"/>
              </a:rPr>
              <a:t>@"^([\w\.\-]+)@([\w\-]+)((\.(\w){2,3})+)$"</a:t>
            </a:r>
            <a:r>
              <a:rPr lang="sv-S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private</a:t>
            </a:r>
            <a:r>
              <a:rPr lang="en-US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OnTextChanged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</a:t>
            </a:r>
            <a:r>
              <a:rPr lang="en-US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				</a:t>
            </a:r>
            <a:r>
              <a:rPr lang="en-US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TextChangedEventArgs</a:t>
            </a:r>
            <a:r>
              <a:rPr lang="en-US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e)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</a:t>
            </a:r>
            <a:r>
              <a:rPr lang="fr-FR" sz="12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Regex.IsMatch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e.NewTextValue,pattern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);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GoToState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GoToState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string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?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Valid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Invalid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if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helpLabel.IsVisible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</a:t>
            </a:r>
            <a:r>
              <a:rPr lang="fr-FR" sz="12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else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helpLabel.IsVisible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VisualStateManager.GoToState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visualState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200" dirty="0"/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5233086" y="2026508"/>
            <a:ext cx="2329249" cy="3583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36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 smtClean="0">
                <a:latin typeface="Segoe UI Symbol" panose="020B0502040204020203" pitchFamily="34" charset="0"/>
              </a:rPr>
              <a:t>Le responsive design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03392" y="1208720"/>
            <a:ext cx="1030905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Dans le développement d'interfaces responsive avec MAUI, il existe plusieurs types de triggers utiles,</a:t>
            </a:r>
            <a:r>
              <a:rPr kumimoji="0" lang="fr-FR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dont certains sont </a:t>
            </a:r>
            <a:r>
              <a:rPr kumimoji="0" lang="fr-FR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similaires au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OrientationStateTrigger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utilisé dans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Xamarin.Forms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pour détecter les changements </a:t>
            </a:r>
            <a:r>
              <a:rPr kumimoji="0" lang="fr-FR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d'orientation de l'appareil. </a:t>
            </a: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82761" y="2332940"/>
            <a:ext cx="955031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DeviceStateTrigger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Permet de réagir aux changements d'état du périphérique, comme l'orientation, la taille de l'écran, etc.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Orientation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StateTrigger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Déclenche des actions en fonction de rotation de l’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appreil</a:t>
            </a:r>
            <a:r>
              <a:rPr kumimoji="0" lang="fr-FR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dans le sens Portrait ou </a:t>
            </a:r>
            <a:r>
              <a:rPr kumimoji="0" lang="fr-FR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Lanscape</a:t>
            </a:r>
            <a:r>
              <a:rPr kumimoji="0" lang="fr-FR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kumimoji="0" lang="fr-FR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aysage)</a:t>
            </a: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79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 smtClean="0">
                <a:latin typeface="Segoe UI Symbol" panose="020B0502040204020203" pitchFamily="34" charset="0"/>
              </a:rPr>
              <a:t>Le responsive design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66497" y="1092089"/>
            <a:ext cx="114558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DeviceStateTrigger</a:t>
            </a:r>
            <a:r>
              <a:rPr kumimoji="0" lang="fr-FR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Permet de réagir aux changements d'état du périphérique, comme l'orientation, la taille de l'écran, etc.</a:t>
            </a:r>
            <a:endParaRPr kumimoji="0" lang="fr-F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3869" y="1600885"/>
            <a:ext cx="6096000" cy="46935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="Label"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Key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="test"&gt;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VisualStateManager.VisualStateGroups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VisualStateGroupList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="Windows"&gt;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VisualState.StateTriggers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DeviceStateTrigger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Device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="Windows" /&gt;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VisualState.StateTriggers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="#FFFFFF" /&gt;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="Android"&gt;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VisualState.StateTriggers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DeviceStateTrigger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Device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="Android" /&gt;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VisualState.StateTriggers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="#00FF00" /&gt;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VisualStateGroupList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en-US" sz="1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="Label de test Responsive"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Style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StaticResource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test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}"/&gt;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7299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 smtClean="0">
                <a:latin typeface="Segoe UI Symbol" panose="020B0502040204020203" pitchFamily="34" charset="0"/>
              </a:rPr>
              <a:t>Le responsive design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25779" y="1221875"/>
            <a:ext cx="95503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Orientation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StateTrigger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Déclenche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des actions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16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rotation de </a:t>
            </a:r>
            <a:r>
              <a:rPr kumimoji="0" lang="en-US" altLang="en-US" sz="16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l’appareil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3868" y="1683540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="Label"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Key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="test"&gt;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VisualStateManager.VisualStateGroups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VisualStateGroupList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="Portrait"&gt;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VisualState.StateTriggers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OrientationStateTrigger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Orientation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="Portrait" /&gt;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VisualState.StateTriggers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="#FFFFFF" /&gt;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="Landscape"&gt;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VisualState.StateTriggers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OrientationStateTrigger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Orientation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="Landscape" /&gt;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VisualState.StateTriggers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="#00FF00" /&gt;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VisualState.Setters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VisualStateGroupList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en-US" sz="9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="Label de test Responsive"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Style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9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StaticResource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 test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}"/&gt;</a:t>
            </a:r>
          </a:p>
        </p:txBody>
      </p:sp>
    </p:spTree>
    <p:extLst>
      <p:ext uri="{BB962C8B-B14F-4D97-AF65-F5344CB8AC3E}">
        <p14:creationId xmlns:p14="http://schemas.microsoft.com/office/powerpoint/2010/main" val="295152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 smtClean="0">
                <a:latin typeface="Segoe UI Symbol" panose="020B0502040204020203" pitchFamily="34" charset="0"/>
              </a:rPr>
              <a:t>Les comportements MAUI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8102" y="1078303"/>
            <a:ext cx="1031417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Un comportement MAUI est tout type qui dérive de la classe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Behavior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&lt;T&gt;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qui étend les actions </a:t>
            </a:r>
          </a:p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le comportement XAML</a:t>
            </a:r>
          </a:p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04070" y="1931405"/>
            <a:ext cx="853645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CustomBehavior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Behavior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View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protected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OnAttachedTo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(View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bindable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=&gt;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bindable.Focused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Bindable_Focused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protected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OnDetachingFrom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(View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bindable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=&gt;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bindable.Focused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-=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Bindable_Focused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// 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Behavior </a:t>
            </a:r>
            <a:r>
              <a:rPr lang="fr-FR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implementation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void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Bindable_Focused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FocusEventArgs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View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(View)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sender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if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!= 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fr-FR" sz="1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view.BackgroundColor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Colors.Red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  else</a:t>
            </a:r>
            <a:endParaRPr lang="fr-FR" sz="1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fr-FR" sz="1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view.BackgroundColor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Colors.White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4717932" y="5747834"/>
            <a:ext cx="19545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Exemple de Behavior</a:t>
            </a:r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61516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 smtClean="0">
                <a:latin typeface="Segoe UI Symbol" panose="020B0502040204020203" pitchFamily="34" charset="0"/>
              </a:rPr>
              <a:t>Les comportements MAUI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8102" y="1078303"/>
            <a:ext cx="6872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consommation d’un comportement se fait de cette manière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4751" y="1604091"/>
            <a:ext cx="698012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="stackLayout"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Spacing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Padding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="10, 10"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="Entrer une valeur:"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="18"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="300" 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Placeholder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="..."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="18"&gt;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Entry.Behaviors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local</a:t>
            </a:r>
            <a:r>
              <a:rPr lang="fr-FR" sz="1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CustomBehavior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/&gt;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Entry.Behaviors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="entry2"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Placeholder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="..."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="18"&gt;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Entry.Behaviors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local</a:t>
            </a:r>
            <a:r>
              <a:rPr lang="fr-FR" sz="1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CustomBehavior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/&gt;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Entry.Behaviors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764" y="1323926"/>
            <a:ext cx="2988344" cy="158412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764" y="4833783"/>
            <a:ext cx="2988342" cy="158412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763" y="3042764"/>
            <a:ext cx="2988343" cy="156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2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1317" y="331045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 smtClean="0">
                <a:latin typeface="Segoe UI Symbol" panose="020B0502040204020203" pitchFamily="34" charset="0"/>
              </a:rPr>
              <a:t>La comparaison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4596" y="931005"/>
            <a:ext cx="114252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Triggers</a:t>
            </a:r>
            <a:r>
              <a:rPr lang="fr-FR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sz="16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VisualStates</a:t>
            </a:r>
            <a:r>
              <a:rPr lang="fr-FR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les </a:t>
            </a:r>
            <a:r>
              <a:rPr lang="fr-FR" sz="16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Bahaviours</a:t>
            </a:r>
            <a:r>
              <a:rPr lang="fr-FR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chacun </a:t>
            </a:r>
            <a:r>
              <a:rPr lang="fr-FR" sz="1600" dirty="0">
                <a:latin typeface="Segoe UI" panose="020B0502040204020203" pitchFamily="34" charset="0"/>
                <a:cs typeface="Segoe UI" panose="020B0502040204020203" pitchFamily="34" charset="0"/>
              </a:rPr>
              <a:t>a ses propres avantages et inconvénients, et il est crucial </a:t>
            </a:r>
            <a:endParaRPr lang="fr-FR" sz="16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de </a:t>
            </a:r>
            <a:r>
              <a:rPr lang="fr-FR" sz="1600" dirty="0">
                <a:latin typeface="Segoe UI" panose="020B0502040204020203" pitchFamily="34" charset="0"/>
                <a:cs typeface="Segoe UI" panose="020B0502040204020203" pitchFamily="34" charset="0"/>
              </a:rPr>
              <a:t>savoir quand les utiliser et quand </a:t>
            </a:r>
            <a:r>
              <a:rPr lang="fr-FR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ils </a:t>
            </a:r>
            <a:r>
              <a:rPr lang="fr-FR" sz="1600" dirty="0">
                <a:latin typeface="Segoe UI" panose="020B0502040204020203" pitchFamily="34" charset="0"/>
                <a:cs typeface="Segoe UI" panose="020B0502040204020203" pitchFamily="34" charset="0"/>
              </a:rPr>
              <a:t>montrent leurs limites pour pouvoir les remplacer par une </a:t>
            </a:r>
            <a:r>
              <a:rPr lang="fr-FR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alternative </a:t>
            </a:r>
          </a:p>
          <a:p>
            <a:r>
              <a:rPr lang="fr-FR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plus </a:t>
            </a:r>
            <a:r>
              <a:rPr lang="fr-FR" sz="1600" dirty="0">
                <a:latin typeface="Segoe UI" panose="020B0502040204020203" pitchFamily="34" charset="0"/>
                <a:cs typeface="Segoe UI" panose="020B0502040204020203" pitchFamily="34" charset="0"/>
              </a:rPr>
              <a:t>appropriée.</a:t>
            </a:r>
            <a:endParaRPr lang="fr-FR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5494" y="1854335"/>
            <a:ext cx="951443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Utilisation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Triggers de propriété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pour réagir aux changements de propriétés spécifiques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Triggers d'événements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pour réagir à des événements spécifiques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Triggers de données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pour réagir aux modifications des données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liées.</a:t>
            </a:r>
          </a:p>
          <a:p>
            <a:pPr marL="0" lvl="1"/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Limites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lvl="1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Complexité croissante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Lorsqu'il y a plusieurs conditions ou scénarios complexes, les triggers peuvent devenir difficiles à gérer et à comprendre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Clr>
                <a:schemeClr val="accent5"/>
              </a:buClr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Performance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Les triggers fréquents peuvent impacter la performance s'ils exécutent des actions lourdes.</a:t>
            </a:r>
          </a:p>
        </p:txBody>
      </p:sp>
    </p:spTree>
    <p:extLst>
      <p:ext uri="{BB962C8B-B14F-4D97-AF65-F5344CB8AC3E}">
        <p14:creationId xmlns:p14="http://schemas.microsoft.com/office/powerpoint/2010/main" val="232589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7624" y="583293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 smtClean="0">
                <a:latin typeface="Segoe UI Symbol" panose="020B0502040204020203" pitchFamily="34" charset="0"/>
              </a:rPr>
              <a:t>La comparaison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399" y="1114063"/>
            <a:ext cx="111673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Remplacement par Visual States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Lorsque vous avez besoin de gérer des ensembles de propriétés visuelles en fonction de différents états, comme "Normal", "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Focused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", "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Disabled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". Visual States permettent une gestion plus claire et organisée des changements visuels complexes.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399" y="2883297"/>
            <a:ext cx="109146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Remplacement par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Behaviors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Lorsque les actions déclenchées par les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conditions doivent être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réutilisables.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comportements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ehaviors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permettent d'encapsuler des comportements plus complexes et de les appliquer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d’une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manière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357939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849" y="406719"/>
            <a:ext cx="11148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2200" u="sng" dirty="0" smtClean="0">
                <a:latin typeface="Segoe UI Symbol" panose="020B0502040204020203" pitchFamily="34" charset="0"/>
              </a:rPr>
              <a:t>La comparaison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7679" y="950802"/>
            <a:ext cx="1043792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Exemples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concrets</a:t>
            </a:r>
          </a:p>
          <a:p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+mj-lt"/>
              <a:buAutoNum type="arabicPeriod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Triggers à Visual States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Si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vous avez un bouton qui change de couleur en fonction de l'état activé/désactivé, utiliser des triggers pour chaque propriété de couleur peut devenir fastidieux. Il est préférable d'utiliser les Visual States pour définir les états "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Enabled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" et "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Disabled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" avec les propriétés visuelles correspondantes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+mj-lt"/>
              <a:buAutoNum type="arabicPeriod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Visual States à Triggers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Si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vous avez une liste d'éléments et que vous voulez appliquer un style spécifique à un élément lorsque sa valeur dépasse un certain seuil, un trigger </a:t>
            </a:r>
            <a:r>
              <a:rPr lang="fr-FR">
                <a:latin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fr-FR" smtClean="0">
                <a:latin typeface="Segoe UI" panose="020B0502040204020203" pitchFamily="34" charset="0"/>
                <a:cs typeface="Segoe UI" panose="020B0502040204020203" pitchFamily="34" charset="0"/>
              </a:rPr>
              <a:t>données est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plus approprié qu'un état visuel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+mj-lt"/>
              <a:buAutoNum type="arabicPeriod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Behaviors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à Triggers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Si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vous avez un champ de texte qui doit afficher une bordure rouge lorsqu'il est vide, un trigger de propriété est plus simple et direct qu'un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+mj-lt"/>
              <a:buAutoNum type="arabicPeriod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Triggers à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Behaviors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Si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vous avez besoin de valider un formulaire avec des règles complexes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comme l’emploi d’expression régulières et d’afficher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des messages d'erreur, encapsuler cette logique dans un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rendra le code plus maintenable et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12927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4435</Words>
  <Application>Microsoft Office PowerPoint</Application>
  <PresentationFormat>Widescreen</PresentationFormat>
  <Paragraphs>887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Cascadia Mono</vt:lpstr>
      <vt:lpstr>Comic Sans MS</vt:lpstr>
      <vt:lpstr>Segoe UI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 </dc:title>
  <dc:creator>Windows User</dc:creator>
  <cp:lastModifiedBy>DELL</cp:lastModifiedBy>
  <cp:revision>62</cp:revision>
  <dcterms:created xsi:type="dcterms:W3CDTF">2022-10-07T06:51:45Z</dcterms:created>
  <dcterms:modified xsi:type="dcterms:W3CDTF">2025-07-15T11:46:18Z</dcterms:modified>
</cp:coreProperties>
</file>