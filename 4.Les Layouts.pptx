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3"/>
  </p:notesMasterIdLst>
  <p:sldIdLst>
    <p:sldId id="333" r:id="rId2"/>
    <p:sldId id="256" r:id="rId3"/>
    <p:sldId id="283" r:id="rId4"/>
    <p:sldId id="285" r:id="rId5"/>
    <p:sldId id="286" r:id="rId6"/>
    <p:sldId id="287" r:id="rId7"/>
    <p:sldId id="288" r:id="rId8"/>
    <p:sldId id="289" r:id="rId9"/>
    <p:sldId id="290" r:id="rId10"/>
    <p:sldId id="291" r:id="rId11"/>
    <p:sldId id="293" r:id="rId12"/>
    <p:sldId id="294" r:id="rId13"/>
    <p:sldId id="295" r:id="rId14"/>
    <p:sldId id="296" r:id="rId15"/>
    <p:sldId id="297" r:id="rId16"/>
    <p:sldId id="300" r:id="rId17"/>
    <p:sldId id="298" r:id="rId18"/>
    <p:sldId id="302" r:id="rId19"/>
    <p:sldId id="301" r:id="rId20"/>
    <p:sldId id="343" r:id="rId21"/>
    <p:sldId id="344" r:id="rId22"/>
    <p:sldId id="345" r:id="rId23"/>
    <p:sldId id="346" r:id="rId24"/>
    <p:sldId id="347" r:id="rId25"/>
    <p:sldId id="348" r:id="rId26"/>
    <p:sldId id="349" r:id="rId27"/>
    <p:sldId id="303" r:id="rId28"/>
    <p:sldId id="305" r:id="rId29"/>
    <p:sldId id="307" r:id="rId30"/>
    <p:sldId id="306" r:id="rId31"/>
    <p:sldId id="308" r:id="rId32"/>
    <p:sldId id="309" r:id="rId33"/>
    <p:sldId id="310" r:id="rId34"/>
    <p:sldId id="311" r:id="rId35"/>
    <p:sldId id="312" r:id="rId36"/>
    <p:sldId id="313" r:id="rId37"/>
    <p:sldId id="314" r:id="rId38"/>
    <p:sldId id="315" r:id="rId39"/>
    <p:sldId id="316" r:id="rId40"/>
    <p:sldId id="317" r:id="rId41"/>
    <p:sldId id="318" r:id="rId42"/>
    <p:sldId id="319" r:id="rId43"/>
    <p:sldId id="320" r:id="rId44"/>
    <p:sldId id="321" r:id="rId45"/>
    <p:sldId id="322" r:id="rId46"/>
    <p:sldId id="323" r:id="rId47"/>
    <p:sldId id="350" r:id="rId48"/>
    <p:sldId id="351" r:id="rId49"/>
    <p:sldId id="352" r:id="rId50"/>
    <p:sldId id="353" r:id="rId51"/>
    <p:sldId id="324" r:id="rId52"/>
    <p:sldId id="325" r:id="rId53"/>
    <p:sldId id="326" r:id="rId54"/>
    <p:sldId id="327" r:id="rId55"/>
    <p:sldId id="328" r:id="rId56"/>
    <p:sldId id="329" r:id="rId57"/>
    <p:sldId id="330" r:id="rId58"/>
    <p:sldId id="341" r:id="rId59"/>
    <p:sldId id="331" r:id="rId60"/>
    <p:sldId id="332" r:id="rId61"/>
    <p:sldId id="342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F1A7C9F-8EE2-4598-879B-70356A472589}">
          <p14:sldIdLst>
            <p14:sldId id="333"/>
            <p14:sldId id="256"/>
            <p14:sldId id="283"/>
          </p14:sldIdLst>
        </p14:section>
        <p14:section name="StackLayout" id="{EDC4ABBD-2285-43A6-B393-03C1BD8B478C}">
          <p14:sldIdLst>
            <p14:sldId id="285"/>
            <p14:sldId id="286"/>
            <p14:sldId id="287"/>
            <p14:sldId id="288"/>
            <p14:sldId id="289"/>
            <p14:sldId id="290"/>
            <p14:sldId id="291"/>
            <p14:sldId id="293"/>
            <p14:sldId id="294"/>
            <p14:sldId id="295"/>
            <p14:sldId id="296"/>
            <p14:sldId id="297"/>
          </p14:sldIdLst>
        </p14:section>
        <p14:section name="AbsoluteLayout" id="{25AD0300-9188-43C0-A74C-CC49E45AD79B}">
          <p14:sldIdLst>
            <p14:sldId id="300"/>
            <p14:sldId id="298"/>
            <p14:sldId id="302"/>
            <p14:sldId id="301"/>
            <p14:sldId id="343"/>
            <p14:sldId id="344"/>
            <p14:sldId id="345"/>
            <p14:sldId id="346"/>
            <p14:sldId id="347"/>
            <p14:sldId id="348"/>
            <p14:sldId id="349"/>
          </p14:sldIdLst>
        </p14:section>
        <p14:section name="FlexLayout" id="{FDAF6607-0C4C-44F9-AF46-22AA23CD3D29}">
          <p14:sldIdLst>
            <p14:sldId id="303"/>
            <p14:sldId id="305"/>
            <p14:sldId id="307"/>
            <p14:sldId id="306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</p14:sldIdLst>
        </p14:section>
        <p14:section name="BindableLayout" id="{91B726A9-56D8-4ACF-BEBE-8DB8BBD03864}">
          <p14:sldIdLst>
            <p14:sldId id="322"/>
            <p14:sldId id="323"/>
            <p14:sldId id="350"/>
            <p14:sldId id="351"/>
            <p14:sldId id="352"/>
            <p14:sldId id="353"/>
          </p14:sldIdLst>
        </p14:section>
        <p14:section name="Grid" id="{7073DD6C-C8A9-4167-8C2E-FC8167CDB71E}">
          <p14:sldIdLst>
            <p14:sldId id="324"/>
            <p14:sldId id="325"/>
            <p14:sldId id="326"/>
            <p14:sldId id="327"/>
            <p14:sldId id="328"/>
            <p14:sldId id="329"/>
            <p14:sldId id="330"/>
            <p14:sldId id="341"/>
          </p14:sldIdLst>
        </p14:section>
        <p14:section name="Les conteneurs personnalisés" id="{A2C7B08F-131E-4371-A7EA-5C36064388A4}">
          <p14:sldIdLst>
            <p14:sldId id="331"/>
            <p14:sldId id="332"/>
          </p14:sldIdLst>
        </p14:section>
        <p14:section name="Projet" id="{A2418F9C-12A7-48E5-BBA2-589BCB3F23C5}">
          <p14:sldIdLst>
            <p14:sldId id="34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034" autoAdjust="0"/>
  </p:normalViewPr>
  <p:slideViewPr>
    <p:cSldViewPr snapToGrid="0">
      <p:cViewPr varScale="1">
        <p:scale>
          <a:sx n="105" d="100"/>
          <a:sy n="105" d="100"/>
        </p:scale>
        <p:origin x="704" y="5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82A7F4-A365-4B92-BEB0-C0D7CF65282E}" type="datetimeFigureOut">
              <a:rPr lang="fr-FR" smtClean="0"/>
              <a:t>20/07/2025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5E1AE6-1BFD-4589-9604-3D9D158FB78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3256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49793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8201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28710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3022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39484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22908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32513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11567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90138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27702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 err="1" smtClean="0"/>
              <a:t>VerticalStackLayout</a:t>
            </a:r>
            <a:r>
              <a:rPr lang="fr-FR" b="1" baseline="0" dirty="0" smtClean="0"/>
              <a:t>: </a:t>
            </a:r>
          </a:p>
          <a:p>
            <a:endParaRPr lang="fr-FR" baseline="0" dirty="0" smtClean="0"/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ScrollView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VerticalStackLayout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&lt;Label Background="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LightBlue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Text="Some text"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="30" Margin="5"/&gt;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&lt;Label Background="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LightBlue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Text="Some text"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="30" Margin="5"/&gt;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&lt;Label Background="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LightBlue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Text="Some text"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="30" Margin="5"/&gt;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&lt;Label Background="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LightBlue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Text="Some text"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="30" Margin="5"/&gt;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&lt;Label Background="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LightBlue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Text="Some text"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="30" Margin="5"/&gt;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&lt;Label Background="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LightBlue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Text="Some text"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="30" Margin="5"/&gt;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&lt;Label Background="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LightBlue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Text="Some text"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="30" Margin="5"/&gt;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&lt;Label Background="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LightBlue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Text="Some text"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="30" Margin="5"/&gt;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&lt;Label Background="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LightBlue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Text="Some text"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="30" Margin="5"/&gt;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&lt;Label Background="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LightBlue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Text="Some text"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="30" Margin="5"/&gt;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&lt;Label Background="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LightBlue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Text="Some text"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="30" Margin="5"/&gt;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&lt;Label Background="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LightBlue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Text="Some text"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="30" Margin="5"/&gt;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&lt;Label Background="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LightBlue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Text="Some text"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="30" Margin="5"/&gt;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&lt;Label Background="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LightBlue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Text="Some text"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="30" Margin="5"/&gt;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&lt;Label Background="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LightBlue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Text="Some text"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="30" Margin="5"/&gt;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&lt;Label Background="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LightBlue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Text="Some text"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="30" Margin="5"/&gt;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VerticalStackLayout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ScrollView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endParaRPr lang="fr-FR" baseline="0" dirty="0" smtClean="0"/>
          </a:p>
          <a:p>
            <a:endParaRPr lang="fr-FR" baseline="0" dirty="0" smtClean="0"/>
          </a:p>
          <a:p>
            <a:r>
              <a:rPr lang="fr-FR" b="1" baseline="0" dirty="0" err="1" smtClean="0"/>
              <a:t>HorizontalStackLayout</a:t>
            </a:r>
            <a:r>
              <a:rPr lang="fr-FR" b="1" baseline="0" dirty="0" smtClean="0"/>
              <a:t>:</a:t>
            </a:r>
          </a:p>
          <a:p>
            <a:endParaRPr lang="fr-FR" baseline="0" dirty="0" smtClean="0"/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ScrollView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Orientation="Horizontal"&gt;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HorizontalStackLayout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&lt;Label Background="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LightBlue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Margin="5" 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="20" Text="Some text" /&gt;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&lt;Label Background="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LightBlue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Margin="5"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="20" Text="Some text" /&gt;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&lt;Label Background="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LightBlue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Margin="5" 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="20" Text="Some text" /&gt;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&lt;Label Background="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LightBlue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Margin="5" 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="20" Text="Some text" /&gt;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&lt;Label Background="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LightBlue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Margin="5" 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="20" Text="Some text" /&gt;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&lt;Label Background="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LightBlue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Margin="5"  Text="Some text" /&gt;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&lt;Label Background="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LightBlue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Margin="5" 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="20" Text="Some text" /&gt;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&lt;Label Background="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LightBlue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Margin="5" 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="20" Text="Some text" /&gt;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&lt;Label Background="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LightBlue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Margin="5" 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="20" Text="Some text" /&gt;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&lt;Label Background="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LightBlue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Margin="5" 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="20" Text="Some text" /&gt;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&lt;Label Background="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LightBlue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Margin="5" 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="20" Text="Some text" /&gt;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&lt;Label Background="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LightBlue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Margin="5" 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="20" Text="Some text"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HorizontalStackLayout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ScrollView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11318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74819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71740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88157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59586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3576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44140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52807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46969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49054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07840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94073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38870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33847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470395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70857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589310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012262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305997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628834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362669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115782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37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709331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38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050309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39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410625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40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332598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41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852692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42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165107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43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451677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44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192782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45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805773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46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83843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47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461876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48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019306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49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83262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50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202497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51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812421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52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102153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Exemple complet:</a:t>
            </a:r>
            <a:r>
              <a:rPr lang="fr-FR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&lt;Grid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Margin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="50" 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VerticalOptions="Center"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HorizontalOptions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="Center"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RowDefinitions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="*,*,*"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ColumnDefinitions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="*,*,*"&gt;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&lt;Frame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Margin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="10"&gt;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&lt;Label  Text="00"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="30"/&gt;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&lt;/Frame&gt;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&lt;Frame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Grid.Column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Margin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="10"&gt;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&lt;Label  Text="01"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="30"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&lt;/Frame&gt;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&lt;Frame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Grid.Column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Margin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="10"&gt;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&lt;Label  Text="02"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="30"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&lt;/Frame&gt;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&lt;Frame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="1" Margin="10"&gt;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&lt;Label  Text="10"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="30"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&lt;/Frame&gt;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&lt;Frame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Margin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="10"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Grid.Column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="1"&gt;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&lt;Label  Text="11"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="30" /&gt;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&lt;/Frame&gt;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&lt;Frame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Margin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="10"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Grid.Column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&lt;Label  Text="12"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="30"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&lt;/Frame&gt;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&lt;Frame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Margin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="10"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&lt;Label  Text="20"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="30"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&lt;/Frame&gt;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&lt;Frame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Margin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="10"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Grid.Column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="1"&gt;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&lt;Label  Text="21"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="30"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&lt;/Frame&gt;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&lt;Frame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Margin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="10"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Grid.Column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&lt;Label  Text="22"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="30"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&lt;/Frame&gt;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&lt;/Grid&gt;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53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728399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Exemple complet:</a:t>
            </a:r>
            <a:r>
              <a:rPr lang="fr-FR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&lt;Grid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WidthRequest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="300"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HeightRequest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="300" 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VerticalOptions="Center"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HorizontalOptions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="Center"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RowDefinitions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="*,*,*,*"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ColumnDefinitions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="*,*,*,*"&gt;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&lt;Label Background="orange" Margin="10"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Grid.ColumnSpan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="2"/&gt;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&lt;Label Background="red" Margin="10"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Grid.Column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="2"/&gt;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&lt;Label Background="red" Margin="10"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Grid.Column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="3"/&gt;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&lt;Label Background="red" Margin="10"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="1" /&gt;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&lt;Label Background="red" Margin="10"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Grid.Column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="1"/&gt;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&lt;Label Background="red" Margin="10"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Grid.Column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="2"/&gt;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&lt;Label Background="red" Margin="10"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Grid.Column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="3"/&gt;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&lt;Label Background="red" Margin="10"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Grid.Column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="1"/&gt;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&lt;Label Background="red" Margin="10"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Grid.Column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="2"/&gt;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&lt;Label Background="green" Margin="10"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Grid.RowSpan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="2"/&gt;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&lt;Label Background="red" Margin="10"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Grid.Column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="3"/&gt;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&lt;Label Background="red" Margin="10"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Grid.Column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="1"/&gt;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&lt;Label Background="red" Margin="10"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Grid.Column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="2"/&gt;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&lt;Label Background="red" Margin="10"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Grid.Column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="3"/&gt;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&lt;/Grid&gt;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54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606372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Exemple complet:</a:t>
            </a:r>
            <a:r>
              <a:rPr lang="fr-FR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&lt;Grid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WidthRequest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="300"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HeightRequest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="300" 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VerticalOptions="Center"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HorizontalOptions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="Center"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RowDefinitions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="*,*,*,*"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ColumnDefinitions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="*,*,*,*"&gt;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&lt;Label Background="orange" Margin="10"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Grid.ColumnSpan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="2"/&gt;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&lt;Label Background="red" Margin="10"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Grid.Column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="2"/&gt;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&lt;Label Background="red" Margin="10"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Grid.Column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="3"/&gt;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&lt;Label Background="red" Margin="10"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="1" /&gt;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&lt;Label Background="red" Margin="10"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Grid.Column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="1"/&gt;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&lt;Label Background="red" Margin="10"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Grid.Column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="2"/&gt;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&lt;Label Background="red" Margin="10"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Grid.Column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="3"/&gt;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&lt;Label Background="red" Margin="10"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Grid.Column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="1"/&gt;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&lt;Label Background="red" Margin="10"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Grid.Column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="2"/&gt;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&lt;Label Background="green" Margin="10"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Grid.RowSpan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="2"/&gt;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&lt;Label Background="red" Margin="10"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Grid.Column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="3"/&gt;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&lt;Label Background="red" Margin="10"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Grid.Column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="1"/&gt;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&lt;Label Background="red" Margin="10"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Grid.Column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="2"/&gt;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&lt;Label Background="red" Margin="10"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Grid.Column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="3"/&gt;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&lt;/Grid&gt;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55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557904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Exemple complet:</a:t>
            </a:r>
            <a:r>
              <a:rPr lang="fr-FR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&lt;Grid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WidthRequest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="300"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HeightRequest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="300" 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VerticalOptions="Center"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HorizontalOptions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="Center"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RowDefinitions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="*,2*,*,*"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ColumnDefinitions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="*,*,*,*"&gt;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&lt;Label Background="orange" Margin="10"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Grid.ColumnSpan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="2"/&gt;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&lt;Label Background="red" Margin="10"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Grid.Column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="2"/&gt;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&lt;Label Background="red" Margin="10"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Grid.Column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="3"/&gt;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&lt;Label Background="red" Margin="10"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="1" /&gt;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&lt;Label Background="red" Margin="10"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Grid.Column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="1"/&gt;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&lt;Label Background="red" Margin="10"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Grid.Column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="2"/&gt;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&lt;Label Background="red" Margin="10"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Grid.Column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="3"/&gt;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&lt;Label Background="red" Margin="10"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Grid.Column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="1"/&gt;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&lt;Label Background="red" Margin="10"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Grid.Column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="2"/&gt;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&lt;Label Background="green" Margin="10"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Grid.RowSpan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="2"/&gt;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&lt;Label Background="red" Margin="10"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Grid.Column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="3"/&gt;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&lt;Label Background="red" Margin="10"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Grid.Column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="1"/&gt;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&lt;Label Background="red" Margin="10"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Grid.Column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="2"/&gt;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&lt;Label Background="red" Margin="10"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Grid.Column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="3"/&gt;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&lt;/Grid&gt;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56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293707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Exemple complet:</a:t>
            </a:r>
            <a:r>
              <a:rPr lang="fr-FR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57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35938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Exemple complet:</a:t>
            </a:r>
            <a:r>
              <a:rPr lang="fr-FR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58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086747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Exemple</a:t>
            </a:r>
            <a:r>
              <a:rPr lang="fr-FR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d’implémentation d’un Layout personnalisé: 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public class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CascadeLayout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: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StackLayout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protected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override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ILayoutManager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CreateLayoutManager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return new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CascadeLayoutManager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}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Implémentation du Manager: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Microsoft.Maui.Layouts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namespace MauiApp1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[Serializable]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internal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class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CascadeLayoutManager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: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ILayoutManager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private readonly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CascadeLayout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_cascade;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public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CascadeLayoutManager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CascadeLayout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cascade)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_cascade = cascade;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}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public Size Measure(double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widthConstraint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double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heightConstraint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var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_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cascade.Padding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var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spacing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_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cascade.Spacing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widthConstraint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-=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padding.HorizontalThickness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heightConstraint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-=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padding.VerticalThickness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double x =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padding.Left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double y =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padding.Top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double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totalWidth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double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totalHeight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foreach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(var child in _cascade)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var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current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child.Measure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widthConstraint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heightConstraint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totalWidth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Math.Max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totalWidth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x +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current.Width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totalHeight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Math.Max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totalHeight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y +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current.Height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x +=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spacing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y +=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spacing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widthConstraint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-=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spacing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heightConstraint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-=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spacing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}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return new Size(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totalWidth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padding.HorizontalThickness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totalHeight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padding.VerticalThickness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}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public Size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ArrangeChildren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bounds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var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_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cascade.Padding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var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spacing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_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cascade.Spacing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double x =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padding.Left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double y =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padding.Top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double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totalWidth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double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totalHeight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foreach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(var child in _cascade)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var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width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child.DesiredSize.Width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var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height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child.DesiredSize.Height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child.Arrange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(new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(x, y, width, height));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totalWidth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Math.Max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totalWidth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x +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width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totalHeight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Math.Max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totalHeight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y +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height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x +=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spacing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y +=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spacing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}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return new Size(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totalWidth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padding.HorizontalThickness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totalHeight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padding.VerticalThickness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}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}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Consommation</a:t>
            </a:r>
            <a:r>
              <a:rPr lang="fr-FR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du contrôle:</a:t>
            </a:r>
            <a:endParaRPr lang="fr-FR" sz="1200" b="1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&lt;ContentPage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xmlns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="http://schemas.microsoft.com/dotnet/2021/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maui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xmlns:x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="http://schemas.microsoft.com/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winfx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/2009/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xaml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xmlns:local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="clr-namespace:MauiApp1"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x:Class="MauiApp1.MainPage"&gt;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local:CascadeLayout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Margin="10" Spacing="50"&gt;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Button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Text="Button1"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Button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Text="Button1"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Button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Text="Button1"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Button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Text="Button1"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Button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Text="Button1"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local:CascadeLayout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&lt;/ContentPage&gt;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b="1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b="1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5E1AE6-1BFD-4589-9604-3D9D158FB781}" type="slidenum">
              <a:rPr lang="fr-FR" smtClean="0"/>
              <a:t>59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3765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B556CC-B3DB-497B-BE73-7E6BCECFF139}" type="datetimeFigureOut">
              <a:rPr lang="fr-FR" smtClean="0"/>
              <a:t>20/07/2025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4E7397-CDEE-49F8-B284-540E381A05A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6941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B556CC-B3DB-497B-BE73-7E6BCECFF139}" type="datetimeFigureOut">
              <a:rPr lang="fr-FR" smtClean="0"/>
              <a:t>20/07/2025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4E7397-CDEE-49F8-B284-540E381A05A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4265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B556CC-B3DB-497B-BE73-7E6BCECFF139}" type="datetimeFigureOut">
              <a:rPr lang="fr-FR" smtClean="0"/>
              <a:t>20/07/2025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4E7397-CDEE-49F8-B284-540E381A05A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5479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B556CC-B3DB-497B-BE73-7E6BCECFF139}" type="datetimeFigureOut">
              <a:rPr lang="fr-FR" smtClean="0"/>
              <a:t>20/07/2025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4E7397-CDEE-49F8-B284-540E381A05A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3637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B556CC-B3DB-497B-BE73-7E6BCECFF139}" type="datetimeFigureOut">
              <a:rPr lang="fr-FR" smtClean="0"/>
              <a:t>20/07/2025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4E7397-CDEE-49F8-B284-540E381A05A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6066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B556CC-B3DB-497B-BE73-7E6BCECFF139}" type="datetimeFigureOut">
              <a:rPr lang="fr-FR" smtClean="0"/>
              <a:t>20/07/2025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4E7397-CDEE-49F8-B284-540E381A05A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0408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B556CC-B3DB-497B-BE73-7E6BCECFF139}" type="datetimeFigureOut">
              <a:rPr lang="fr-FR" smtClean="0"/>
              <a:t>20/07/2025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4E7397-CDEE-49F8-B284-540E381A05A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7311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B556CC-B3DB-497B-BE73-7E6BCECFF139}" type="datetimeFigureOut">
              <a:rPr lang="fr-FR" smtClean="0"/>
              <a:t>20/07/2025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4E7397-CDEE-49F8-B284-540E381A05A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7616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B556CC-B3DB-497B-BE73-7E6BCECFF139}" type="datetimeFigureOut">
              <a:rPr lang="fr-FR" smtClean="0"/>
              <a:t>20/07/2025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4E7397-CDEE-49F8-B284-540E381A05A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0837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B556CC-B3DB-497B-BE73-7E6BCECFF139}" type="datetimeFigureOut">
              <a:rPr lang="fr-FR" smtClean="0"/>
              <a:t>20/07/2025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4E7397-CDEE-49F8-B284-540E381A05A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8558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B556CC-B3DB-497B-BE73-7E6BCECFF139}" type="datetimeFigureOut">
              <a:rPr lang="fr-FR" smtClean="0"/>
              <a:t>20/07/2025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4E7397-CDEE-49F8-B284-540E381A05A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573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fr-FR" dirty="0"/>
          </a:p>
        </p:txBody>
      </p:sp>
      <p:sp>
        <p:nvSpPr>
          <p:cNvPr id="9" name="Rectangle 8"/>
          <p:cNvSpPr/>
          <p:nvPr userDrawn="1"/>
        </p:nvSpPr>
        <p:spPr>
          <a:xfrm>
            <a:off x="146050" y="6334780"/>
            <a:ext cx="1204595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 smtClean="0"/>
              <a:t>Multi Application User Interface:  </a:t>
            </a:r>
          </a:p>
          <a:p>
            <a:r>
              <a:rPr lang="fr-FR" sz="1400" dirty="0" smtClean="0"/>
              <a:t>Ce support de cours est la propriété intellectuelle de Béchir Béjaoui, il n’est utilisé qu’avec l’accord du propriétaire © 2025-2026 </a:t>
            </a:r>
            <a:endParaRPr lang="fr-FR" sz="1400" dirty="0"/>
          </a:p>
        </p:txBody>
      </p:sp>
      <p:pic>
        <p:nvPicPr>
          <p:cNvPr id="11" name="Picture 10" descr="dotnetMAUI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6694" y="6224465"/>
            <a:ext cx="494184" cy="494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9019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ejaouibechir/MAUI/blob/main/Layouts.md" TargetMode="Externa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ejaouibechir/MAUI/blob/main/CustomLayout.md" TargetMode="Externa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ejaouibechir/MauiLayoutDemo.git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56353" y="2274326"/>
            <a:ext cx="965329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2100" dirty="0">
                <a:solidFill>
                  <a:srgbClr val="1C3158"/>
                </a:solidFill>
                <a:latin typeface="Comic Sans MS" pitchFamily="66" charset="0"/>
              </a:rPr>
              <a:t>MAUI</a:t>
            </a:r>
          </a:p>
        </p:txBody>
      </p:sp>
      <p:cxnSp>
        <p:nvCxnSpPr>
          <p:cNvPr id="4" name="Connecteur droit 3"/>
          <p:cNvCxnSpPr>
            <a:cxnSpLocks/>
          </p:cNvCxnSpPr>
          <p:nvPr/>
        </p:nvCxnSpPr>
        <p:spPr>
          <a:xfrm flipH="1">
            <a:off x="5663952" y="2738280"/>
            <a:ext cx="3882150" cy="13038"/>
          </a:xfrm>
          <a:prstGeom prst="line">
            <a:avLst/>
          </a:prstGeom>
          <a:ln w="22225">
            <a:solidFill>
              <a:srgbClr val="1C31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 descr="C:\Users\bepro-17\AppData\Roaming\Skype\live#3ambenalaya.bepro\media_messaging\media_cache_v3\^2DF5C670F0A42E46084157BFD3139AC68F80CB1B7C725AE391^pimgpsh_fullsize_dist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9795" y="4900959"/>
            <a:ext cx="1164186" cy="1159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5071100" y="5523434"/>
            <a:ext cx="322265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350" b="1" i="1" dirty="0">
                <a:solidFill>
                  <a:srgbClr val="1C3158"/>
                </a:solidFill>
              </a:rPr>
              <a:t>Béchir BEJAOUI</a:t>
            </a:r>
          </a:p>
          <a:p>
            <a:pPr algn="ctr"/>
            <a:r>
              <a:rPr lang="fr-FR" sz="1350" dirty="0">
                <a:solidFill>
                  <a:srgbClr val="1C3158"/>
                </a:solidFill>
              </a:rPr>
              <a:t>Formateur et consultant indépendant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90314" y="2799774"/>
            <a:ext cx="30111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fr-FR" dirty="0" smtClean="0">
                <a:solidFill>
                  <a:srgbClr val="1C3158"/>
                </a:solidFill>
                <a:latin typeface="Comic Sans MS" pitchFamily="66" charset="0"/>
              </a:rPr>
              <a:t>Les </a:t>
            </a:r>
            <a:r>
              <a:rPr lang="fr-FR" smtClean="0">
                <a:solidFill>
                  <a:srgbClr val="1C3158"/>
                </a:solidFill>
                <a:latin typeface="Comic Sans MS" pitchFamily="66" charset="0"/>
              </a:rPr>
              <a:t>Layout</a:t>
            </a:r>
            <a:endParaRPr lang="fr-FR" dirty="0">
              <a:solidFill>
                <a:srgbClr val="1C3158"/>
              </a:solidFill>
              <a:latin typeface="Comic Sans MS" pitchFamily="66" charset="0"/>
            </a:endParaRPr>
          </a:p>
        </p:txBody>
      </p:sp>
      <p:pic>
        <p:nvPicPr>
          <p:cNvPr id="1026" name="Picture 2" descr="dotnetMAU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1395" y="836712"/>
            <a:ext cx="3109706" cy="3109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2494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88"/>
          <p:cNvSpPr txBox="1"/>
          <p:nvPr/>
        </p:nvSpPr>
        <p:spPr>
          <a:xfrm>
            <a:off x="185293" y="525590"/>
            <a:ext cx="4871339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2000" spc="-5" dirty="0" smtClean="0">
                <a:latin typeface="Segoe UI"/>
                <a:cs typeface="Segoe UI"/>
              </a:rPr>
              <a:t>Structure du projet MAUI</a:t>
            </a:r>
            <a:endParaRPr sz="2550" dirty="0">
              <a:latin typeface="Segoe UI"/>
              <a:cs typeface="Segoe UI"/>
            </a:endParaRPr>
          </a:p>
        </p:txBody>
      </p:sp>
      <p:sp>
        <p:nvSpPr>
          <p:cNvPr id="3" name="object 2"/>
          <p:cNvSpPr txBox="1">
            <a:spLocks noChangeArrowheads="1"/>
          </p:cNvSpPr>
          <p:nvPr/>
        </p:nvSpPr>
        <p:spPr bwMode="auto">
          <a:xfrm>
            <a:off x="185293" y="1090359"/>
            <a:ext cx="8830691" cy="30726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341313" indent="-120650"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en-US" sz="2400" u="sng" dirty="0" smtClean="0">
                <a:latin typeface="Segoe UI Symbol" panose="020B0502040204020203" pitchFamily="34" charset="0"/>
              </a:rPr>
              <a:t>Objectif </a:t>
            </a:r>
            <a:r>
              <a:rPr lang="fr-FR" altLang="en-US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fr-FR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ts val="1363"/>
              </a:spcBef>
              <a:buClr>
                <a:srgbClr val="006498"/>
              </a:buClr>
              <a:buSzPct val="85000"/>
              <a:buFont typeface="Segoe UI Symbol" panose="020B0502040204020203" pitchFamily="34" charset="0"/>
              <a:buChar char="•"/>
            </a:pPr>
            <a:r>
              <a:rPr lang="fr-FR" altLang="en-US" sz="2000" dirty="0" smtClean="0">
                <a:latin typeface="Segoe UI Symbol" panose="020B0502040204020203" pitchFamily="34" charset="0"/>
              </a:rPr>
              <a:t>  </a:t>
            </a:r>
            <a:r>
              <a:rPr lang="fr-FR" altLang="en-US" sz="2400" dirty="0" smtClean="0">
                <a:latin typeface="Segoe UI Symbol" panose="020B0502040204020203" pitchFamily="34" charset="0"/>
              </a:rPr>
              <a:t>Découvrir</a:t>
            </a:r>
            <a:r>
              <a:rPr lang="fr-FR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smtClean="0">
                <a:latin typeface="Segoe UI Symbol" panose="020B0502040204020203" pitchFamily="34" charset="0"/>
              </a:rPr>
              <a:t>les différents </a:t>
            </a:r>
            <a:r>
              <a:rPr lang="fr-FR" altLang="en-US" sz="2400" dirty="0" err="1" smtClean="0">
                <a:latin typeface="Segoe UI Symbol" panose="020B0502040204020203" pitchFamily="34" charset="0"/>
              </a:rPr>
              <a:t>Layouts</a:t>
            </a:r>
            <a:r>
              <a:rPr lang="fr-FR" altLang="en-US" sz="2400" dirty="0" smtClean="0">
                <a:latin typeface="Segoe UI Symbol" panose="020B0502040204020203" pitchFamily="34" charset="0"/>
              </a:rPr>
              <a:t> utilisés  </a:t>
            </a:r>
          </a:p>
          <a:p>
            <a:pPr lvl="1" eaLnBrk="1" hangingPunct="1">
              <a:spcBef>
                <a:spcPts val="1038"/>
              </a:spcBef>
              <a:buClr>
                <a:srgbClr val="006498"/>
              </a:buClr>
              <a:buSzPct val="79000"/>
              <a:buFont typeface="Wingdings" panose="05000000000000000000" pitchFamily="2" charset="2"/>
              <a:buChar char=""/>
            </a:pPr>
            <a:r>
              <a:rPr lang="fr-FR" altLang="en-US" sz="1500" dirty="0" smtClean="0">
                <a:latin typeface="Segoe UI Symbol" panose="020B0502040204020203" pitchFamily="34" charset="0"/>
              </a:rPr>
              <a:t>Le Stack Layout</a:t>
            </a:r>
          </a:p>
          <a:p>
            <a:pPr lvl="1" eaLnBrk="1" hangingPunct="1">
              <a:spcBef>
                <a:spcPts val="1038"/>
              </a:spcBef>
              <a:buClr>
                <a:srgbClr val="006498"/>
              </a:buClr>
              <a:buSzPct val="79000"/>
              <a:buFont typeface="Wingdings" panose="05000000000000000000" pitchFamily="2" charset="2"/>
              <a:buChar char=""/>
            </a:pPr>
            <a:r>
              <a:rPr lang="fr-FR" altLang="en-US" sz="1500" dirty="0" smtClean="0">
                <a:latin typeface="Segoe UI Symbol" panose="020B0502040204020203" pitchFamily="34" charset="0"/>
              </a:rPr>
              <a:t>Le Absolute Layout</a:t>
            </a:r>
          </a:p>
          <a:p>
            <a:pPr lvl="1" eaLnBrk="1" hangingPunct="1">
              <a:spcBef>
                <a:spcPts val="1038"/>
              </a:spcBef>
              <a:buClr>
                <a:srgbClr val="006498"/>
              </a:buClr>
              <a:buSzPct val="79000"/>
              <a:buFont typeface="Wingdings" panose="05000000000000000000" pitchFamily="2" charset="2"/>
              <a:buChar char=""/>
            </a:pPr>
            <a:r>
              <a:rPr lang="fr-FR" altLang="en-US" sz="1500" dirty="0" smtClean="0">
                <a:latin typeface="Segoe UI Symbol" panose="020B0502040204020203" pitchFamily="34" charset="0"/>
              </a:rPr>
              <a:t>Le Flex Layout</a:t>
            </a:r>
          </a:p>
          <a:p>
            <a:pPr lvl="1" eaLnBrk="1" hangingPunct="1">
              <a:spcBef>
                <a:spcPts val="1038"/>
              </a:spcBef>
              <a:buClr>
                <a:srgbClr val="006498"/>
              </a:buClr>
              <a:buSzPct val="79000"/>
              <a:buFont typeface="Wingdings" panose="05000000000000000000" pitchFamily="2" charset="2"/>
              <a:buChar char=""/>
            </a:pPr>
            <a:r>
              <a:rPr lang="fr-FR" altLang="en-US" sz="1500" dirty="0" smtClean="0">
                <a:latin typeface="Segoe UI Symbol" panose="020B0502040204020203" pitchFamily="34" charset="0"/>
              </a:rPr>
              <a:t>Le Bindable Layout</a:t>
            </a:r>
          </a:p>
          <a:p>
            <a:pPr lvl="1" eaLnBrk="1" hangingPunct="1">
              <a:spcBef>
                <a:spcPts val="1038"/>
              </a:spcBef>
              <a:buClr>
                <a:srgbClr val="006498"/>
              </a:buClr>
              <a:buSzPct val="79000"/>
              <a:buFont typeface="Wingdings" panose="05000000000000000000" pitchFamily="2" charset="2"/>
              <a:buChar char=""/>
            </a:pPr>
            <a:r>
              <a:rPr lang="fr-FR" altLang="en-US" sz="1500" dirty="0" smtClean="0">
                <a:latin typeface="Segoe UI Symbol" panose="020B0502040204020203" pitchFamily="34" charset="0"/>
              </a:rPr>
              <a:t>Le Grid</a:t>
            </a:r>
          </a:p>
          <a:p>
            <a:pPr lvl="1" eaLnBrk="1" hangingPunct="1">
              <a:spcBef>
                <a:spcPts val="1038"/>
              </a:spcBef>
              <a:buClr>
                <a:srgbClr val="006498"/>
              </a:buClr>
              <a:buSzPct val="79000"/>
              <a:buFont typeface="Wingdings" panose="05000000000000000000" pitchFamily="2" charset="2"/>
              <a:buChar char=""/>
            </a:pPr>
            <a:r>
              <a:rPr lang="fr-FR" altLang="en-US" sz="1500" dirty="0" smtClean="0">
                <a:latin typeface="Segoe UI Symbol" panose="020B0502040204020203" pitchFamily="34" charset="0"/>
              </a:rPr>
              <a:t>Les Layout Personnalisés</a:t>
            </a:r>
          </a:p>
        </p:txBody>
      </p:sp>
    </p:spTree>
    <p:extLst>
      <p:ext uri="{BB962C8B-B14F-4D97-AF65-F5344CB8AC3E}">
        <p14:creationId xmlns:p14="http://schemas.microsoft.com/office/powerpoint/2010/main" val="3548874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7" y="617099"/>
            <a:ext cx="10869739" cy="1374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Layout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ou</a:t>
            </a:r>
            <a:r>
              <a:rPr lang="en-US" altLang="en-US" sz="2200" u="sng" dirty="0" smtClean="0">
                <a:latin typeface="Segoe UI Symbol" panose="020B0502040204020203" pitchFamily="34" charset="0"/>
              </a:rPr>
              <a:t> les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contrôles</a:t>
            </a:r>
            <a:r>
              <a:rPr lang="en-US" altLang="en-US" sz="2200" u="sng" dirty="0" smtClean="0">
                <a:latin typeface="Segoe UI Symbol" panose="020B0502040204020203" pitchFamily="34" charset="0"/>
              </a:rPr>
              <a:t> de disposition</a:t>
            </a:r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Les classes de disposition de l’interface utilisateur d’application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multiplateforme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permettent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d’organiser et de positionner les diffèrent contrôle qui composent l’interface</a:t>
            </a:r>
            <a:endParaRPr lang="fr-FR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7" y="-3164750"/>
            <a:ext cx="5" cy="13187500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7720" y="2438400"/>
            <a:ext cx="8144248" cy="307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182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7" y="617099"/>
            <a:ext cx="11730860" cy="1374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Stack Layout</a:t>
            </a:r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Un </a:t>
            </a:r>
            <a:r>
              <a:rPr lang="fr-FR" b="1" dirty="0" err="1">
                <a:latin typeface="Segoe UI" panose="020B0502040204020203" pitchFamily="34" charset="0"/>
                <a:cs typeface="Segoe UI" panose="020B0502040204020203" pitchFamily="34" charset="0"/>
              </a:rPr>
              <a:t>StackLayout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organise les éléments dans une pile unidimensionnelle, horizontalement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ou  verticalement à l’aide la  propriété orientation qui a la valeur verticale par défaut   </a:t>
            </a:r>
            <a:endParaRPr lang="fr-FR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7" y="-3164750"/>
            <a:ext cx="5" cy="13187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11572" y="2080573"/>
            <a:ext cx="821605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20,35,20,25" 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Padding</a:t>
            </a:r>
            <a:r>
              <a:rPr 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="10"</a:t>
            </a:r>
            <a:r>
              <a:rPr lang="en-US" dirty="0" smtClean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Spacing</a:t>
            </a:r>
            <a:r>
              <a:rPr 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="10"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US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fr-FR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fr-FR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="1"</a:t>
            </a:r>
            <a:r>
              <a:rPr lang="fr-FR" dirty="0" smtClean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="25" /&gt;</a:t>
            </a:r>
            <a:endParaRPr lang="fr-FR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fr-FR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fr-FR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="2"</a:t>
            </a:r>
            <a:r>
              <a:rPr lang="fr-FR" dirty="0" smtClean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="25" /&gt;</a:t>
            </a:r>
            <a:endParaRPr lang="fr-FR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fr-FR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fr-FR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="3"</a:t>
            </a:r>
            <a:r>
              <a:rPr lang="fr-FR" dirty="0" smtClean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="25"/&gt;</a:t>
            </a:r>
            <a:endParaRPr lang="fr-FR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dirty="0"/>
          </a:p>
        </p:txBody>
      </p:sp>
      <p:sp>
        <p:nvSpPr>
          <p:cNvPr id="7" name="Rectangle 6"/>
          <p:cNvSpPr/>
          <p:nvPr/>
        </p:nvSpPr>
        <p:spPr>
          <a:xfrm>
            <a:off x="311572" y="3646640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fr-FR" dirty="0">
                <a:solidFill>
                  <a:srgbClr val="FF0000"/>
                </a:solidFill>
                <a:latin typeface="Cascadia Mono" panose="020B0609020000020004" pitchFamily="49" charset="0"/>
              </a:rPr>
              <a:t> Orientation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="Horizontal"</a:t>
            </a:r>
            <a:endParaRPr lang="fr-FR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ascadia Mono" panose="020B0609020000020004" pitchFamily="49" charset="0"/>
              </a:rPr>
              <a:t>       </a:t>
            </a:r>
            <a:r>
              <a:rPr lang="fr-FR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dirty="0" err="1">
                <a:solidFill>
                  <a:srgbClr val="FF0000"/>
                </a:solidFill>
                <a:latin typeface="Cascadia Mono" panose="020B0609020000020004" pitchFamily="49" charset="0"/>
              </a:rPr>
              <a:t>Margin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="20,35,20,25"</a:t>
            </a:r>
            <a:r>
              <a:rPr lang="fr-FR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dirty="0" err="1">
                <a:solidFill>
                  <a:srgbClr val="FF0000"/>
                </a:solidFill>
                <a:latin typeface="Cascadia Mono" panose="020B0609020000020004" pitchFamily="49" charset="0"/>
              </a:rPr>
              <a:t>Spacing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="10"&gt;</a:t>
            </a:r>
            <a:endParaRPr lang="fr-FR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="1"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="25" /&gt;</a:t>
            </a:r>
            <a:endParaRPr lang="en-US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="2"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="25" /&gt;</a:t>
            </a:r>
            <a:endParaRPr lang="en-US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="3"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="25"/&gt;</a:t>
            </a:r>
            <a:endParaRPr lang="en-US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dirty="0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908" y="3742360"/>
            <a:ext cx="2009331" cy="1875804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909" y="1843147"/>
            <a:ext cx="2009331" cy="180349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20396" y="5618164"/>
            <a:ext cx="1057969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Les propriété 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Spacing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and 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Padding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permettent de créer plus d’espace entre les éléments et autour </a:t>
            </a:r>
          </a:p>
          <a:p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  des éléments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92653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7" y="617099"/>
            <a:ext cx="11730860" cy="1579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Stack Layout</a:t>
            </a:r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1625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Les deux propriétés 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HorizontalOptions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et 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VerticalOptions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permettent de positionner le </a:t>
            </a:r>
            <a:r>
              <a:rPr lang="fr-FR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SackLaout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par apport </a:t>
            </a:r>
          </a:p>
          <a:p>
            <a:pPr>
              <a:lnSpc>
                <a:spcPct val="150000"/>
              </a:lnSpc>
              <a:spcBef>
                <a:spcPts val="1625"/>
              </a:spcBef>
              <a:buClr>
                <a:srgbClr val="006498"/>
              </a:buClr>
              <a:buSzPct val="61000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à la page parente  </a:t>
            </a:r>
            <a:endParaRPr lang="fr-FR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7" y="-3164750"/>
            <a:ext cx="5" cy="131875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28320" y="2518678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fr-FR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="Bisque"</a:t>
            </a:r>
            <a:endParaRPr lang="fr-FR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ascadia Mono" panose="020B0609020000020004" pitchFamily="49" charset="0"/>
              </a:rPr>
              <a:t>       </a:t>
            </a:r>
            <a:r>
              <a:rPr lang="fr-FR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HorizontalOptions</a:t>
            </a:r>
            <a:r>
              <a:rPr lang="fr-FR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="Center"</a:t>
            </a:r>
            <a:endParaRPr lang="fr-FR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fr-FR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      </a:t>
            </a:r>
            <a:r>
              <a:rPr lang="fr-F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VerticalOptions</a:t>
            </a:r>
            <a:r>
              <a:rPr lang="fr-FR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="Center"</a:t>
            </a:r>
            <a:endParaRPr lang="fr-FR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ascadia Mono" panose="020B0609020000020004" pitchFamily="49" charset="0"/>
              </a:rPr>
              <a:t>       </a:t>
            </a:r>
            <a:r>
              <a:rPr lang="fr-FR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dirty="0" err="1">
                <a:solidFill>
                  <a:srgbClr val="FF0000"/>
                </a:solidFill>
                <a:latin typeface="Cascadia Mono" panose="020B0609020000020004" pitchFamily="49" charset="0"/>
              </a:rPr>
              <a:t>Margin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="20,35,20,25"</a:t>
            </a:r>
            <a:r>
              <a:rPr lang="fr-FR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dirty="0" err="1">
                <a:solidFill>
                  <a:srgbClr val="FF0000"/>
                </a:solidFill>
                <a:latin typeface="Cascadia Mono" panose="020B0609020000020004" pitchFamily="49" charset="0"/>
              </a:rPr>
              <a:t>Spacing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="10" &gt;</a:t>
            </a:r>
            <a:endParaRPr lang="fr-FR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="1"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="25" /&gt;</a:t>
            </a:r>
            <a:endParaRPr lang="en-US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="2"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="25" /&gt;</a:t>
            </a:r>
            <a:endParaRPr lang="en-US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="3"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="25"/&gt;</a:t>
            </a:r>
            <a:endParaRPr lang="en-US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0180" y="1733972"/>
            <a:ext cx="1934329" cy="435836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22501" y="5148661"/>
            <a:ext cx="6941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La valeur par défaut est 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Start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el aligne le 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StackLayout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à gauche</a:t>
            </a:r>
          </a:p>
        </p:txBody>
      </p:sp>
    </p:spTree>
    <p:extLst>
      <p:ext uri="{BB962C8B-B14F-4D97-AF65-F5344CB8AC3E}">
        <p14:creationId xmlns:p14="http://schemas.microsoft.com/office/powerpoint/2010/main" val="2827127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7" y="617099"/>
            <a:ext cx="11730860" cy="3939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Stack Layout</a:t>
            </a:r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Les propriétés 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LayoutOptions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contrôlent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deux comportements distincts :</a:t>
            </a: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Alignement :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définit comment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la vue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est alignée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dans la vue parente </a:t>
            </a: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Start: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Pour l'alignement vertical, la vue est déplacée vers le haut. Pour l'alignement horizontal, </a:t>
            </a:r>
            <a:r>
              <a:rPr lang="fr-FR" u="sng" dirty="0">
                <a:latin typeface="Segoe UI" panose="020B0502040204020203" pitchFamily="34" charset="0"/>
                <a:cs typeface="Segoe UI" panose="020B0502040204020203" pitchFamily="34" charset="0"/>
              </a:rPr>
              <a:t>il s'agit généralement du côté gauche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Center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La vue est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centrée</a:t>
            </a: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End: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Généralement, la vue est alignée en bas ou à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droite</a:t>
            </a: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Fill: 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La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vue s'étendra sur toute la taille de la vue parent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7" y="-3164750"/>
            <a:ext cx="5" cy="1318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145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7" y="617099"/>
            <a:ext cx="11730860" cy="2831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Stack Layout</a:t>
            </a:r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Extension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: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L’occupation d’espace par l’élément s'il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est disponible ?</a:t>
            </a: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Suffixe </a:t>
            </a:r>
            <a:r>
              <a:rPr lang="fr-FR" b="1" dirty="0" err="1">
                <a:latin typeface="Segoe UI" panose="020B0502040204020203" pitchFamily="34" charset="0"/>
                <a:cs typeface="Segoe UI" panose="020B0502040204020203" pitchFamily="34" charset="0"/>
              </a:rPr>
              <a:t>Expand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Si la vue parent est plus grande que la taille combinée de tous ses enfants, c'est-à-dire qu'un espace supplémentaire est disponible, alors l'espace est proportionné parmi les vues enfants avec ce suffixe. Ces enfants « occuperont » leur espace, mais ne le « rempliront » pas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nécessairement.</a:t>
            </a: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Pas 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de suffixe :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Les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enfants sans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suffixe 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Expand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n'obtiendront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pas d'espace supplémentaire, même si plus d'espace est disponible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7" y="-3164750"/>
            <a:ext cx="5" cy="1318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657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7" y="617099"/>
            <a:ext cx="11730860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Stack Layout</a:t>
            </a:r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Dans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cet exemple,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tous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les boutons s'étendent sur toute la largeur de la mise en page, puisque nous ne modifions que le fichier 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VerticalOptions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7" y="-3164750"/>
            <a:ext cx="5" cy="131875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67360" y="1970038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fr-FR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fr-FR" dirty="0" err="1">
                <a:solidFill>
                  <a:srgbClr val="0000FF"/>
                </a:solidFill>
                <a:latin typeface="Cascadia Mono" panose="020B0609020000020004" pitchFamily="49" charset="0"/>
              </a:rPr>
              <a:t>LightGray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endParaRPr lang="fr-FR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ascadia Mono" panose="020B0609020000020004" pitchFamily="49" charset="0"/>
              </a:rPr>
              <a:t>       </a:t>
            </a:r>
            <a:r>
              <a:rPr lang="fr-FR" dirty="0">
                <a:solidFill>
                  <a:srgbClr val="FF0000"/>
                </a:solidFill>
                <a:latin typeface="Cascadia Mono" panose="020B0609020000020004" pitchFamily="49" charset="0"/>
              </a:rPr>
              <a:t> VerticalOptions</a:t>
            </a:r>
            <a:r>
              <a:rPr lang="fr-FR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</a:t>
            </a:r>
            <a:r>
              <a:rPr lang="fr-FR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Start"</a:t>
            </a:r>
            <a:endParaRPr lang="fr-FR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ascadia Mono" panose="020B0609020000020004" pitchFamily="49" charset="0"/>
              </a:rPr>
              <a:t>       </a:t>
            </a:r>
            <a:r>
              <a:rPr lang="fr-FR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dirty="0" err="1">
                <a:solidFill>
                  <a:srgbClr val="FF0000"/>
                </a:solidFill>
                <a:latin typeface="Cascadia Mono" panose="020B0609020000020004" pitchFamily="49" charset="0"/>
              </a:rPr>
              <a:t>Margin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="20,35,20,25"</a:t>
            </a:r>
            <a:r>
              <a:rPr lang="fr-FR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dirty="0" err="1">
                <a:solidFill>
                  <a:srgbClr val="FF0000"/>
                </a:solidFill>
                <a:latin typeface="Cascadia Mono" panose="020B0609020000020004" pitchFamily="49" charset="0"/>
              </a:rPr>
              <a:t>Spacing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="10" &gt;</a:t>
            </a:r>
            <a:endParaRPr lang="fr-FR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dirty="0">
                <a:solidFill>
                  <a:srgbClr val="A31515"/>
                </a:solidFill>
                <a:latin typeface="Cascadia Mono" panose="020B0609020000020004" pitchFamily="49" charset="0"/>
              </a:rPr>
              <a:t>Button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="Start"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="5"/&gt;</a:t>
            </a:r>
            <a:endParaRPr lang="en-US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dirty="0" err="1">
                <a:solidFill>
                  <a:srgbClr val="A31515"/>
                </a:solidFill>
                <a:latin typeface="Cascadia Mono" panose="020B0609020000020004" pitchFamily="49" charset="0"/>
              </a:rPr>
              <a:t>Button</a:t>
            </a:r>
            <a:r>
              <a:rPr lang="fr-FR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="Center"</a:t>
            </a:r>
            <a:r>
              <a:rPr lang="fr-FR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dirty="0" err="1">
                <a:solidFill>
                  <a:srgbClr val="FF0000"/>
                </a:solidFill>
                <a:latin typeface="Cascadia Mono" panose="020B0609020000020004" pitchFamily="49" charset="0"/>
              </a:rPr>
              <a:t>Margin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="5"/&gt;</a:t>
            </a:r>
            <a:endParaRPr lang="fr-FR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dirty="0">
                <a:solidFill>
                  <a:srgbClr val="A31515"/>
                </a:solidFill>
                <a:latin typeface="Cascadia Mono" panose="020B0609020000020004" pitchFamily="49" charset="0"/>
              </a:rPr>
              <a:t>Button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="End"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="5"/&gt;</a:t>
            </a:r>
            <a:endParaRPr lang="en-US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dirty="0">
                <a:solidFill>
                  <a:srgbClr val="A31515"/>
                </a:solidFill>
                <a:latin typeface="Cascadia Mono" panose="020B0609020000020004" pitchFamily="49" charset="0"/>
              </a:rPr>
              <a:t>Button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="Fill"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="5"/&gt;</a:t>
            </a:r>
            <a:endParaRPr lang="en-US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0632" y="1509651"/>
            <a:ext cx="2097771" cy="4737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345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7" y="617099"/>
            <a:ext cx="11730860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Stack Layout</a:t>
            </a:r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Dans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cet exemple,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tous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les boutons s'étendent sur toute la largeur de la mise en page, puisque nous ne modifions que le fichier 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VerticalOptions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7" y="-3164750"/>
            <a:ext cx="5" cy="131875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67360" y="1970038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fr-FR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fr-FR" dirty="0" err="1">
                <a:solidFill>
                  <a:srgbClr val="0000FF"/>
                </a:solidFill>
                <a:latin typeface="Cascadia Mono" panose="020B0609020000020004" pitchFamily="49" charset="0"/>
              </a:rPr>
              <a:t>LightGray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endParaRPr lang="fr-FR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ascadia Mono" panose="020B0609020000020004" pitchFamily="49" charset="0"/>
              </a:rPr>
              <a:t>       </a:t>
            </a:r>
            <a:r>
              <a:rPr lang="fr-FR" dirty="0">
                <a:solidFill>
                  <a:srgbClr val="FF0000"/>
                </a:solidFill>
                <a:latin typeface="Cascadia Mono" panose="020B0609020000020004" pitchFamily="49" charset="0"/>
              </a:rPr>
              <a:t> VerticalOptions</a:t>
            </a:r>
            <a:r>
              <a:rPr lang="fr-FR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="End"</a:t>
            </a:r>
            <a:endParaRPr lang="fr-FR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ascadia Mono" panose="020B0609020000020004" pitchFamily="49" charset="0"/>
              </a:rPr>
              <a:t>       </a:t>
            </a:r>
            <a:r>
              <a:rPr lang="fr-FR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dirty="0" err="1">
                <a:solidFill>
                  <a:srgbClr val="FF0000"/>
                </a:solidFill>
                <a:latin typeface="Cascadia Mono" panose="020B0609020000020004" pitchFamily="49" charset="0"/>
              </a:rPr>
              <a:t>Margin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="20,35,20,25"</a:t>
            </a:r>
            <a:r>
              <a:rPr lang="fr-FR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dirty="0" err="1">
                <a:solidFill>
                  <a:srgbClr val="FF0000"/>
                </a:solidFill>
                <a:latin typeface="Cascadia Mono" panose="020B0609020000020004" pitchFamily="49" charset="0"/>
              </a:rPr>
              <a:t>Spacing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="10" &gt;</a:t>
            </a:r>
            <a:endParaRPr lang="fr-FR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dirty="0">
                <a:solidFill>
                  <a:srgbClr val="A31515"/>
                </a:solidFill>
                <a:latin typeface="Cascadia Mono" panose="020B0609020000020004" pitchFamily="49" charset="0"/>
              </a:rPr>
              <a:t>Button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Cascadia Mono" panose="020B0609020000020004" pitchFamily="49" charset="0"/>
              </a:rPr>
              <a:t>Text</a:t>
            </a:r>
            <a:r>
              <a:rPr lang="en-US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="Start"</a:t>
            </a:r>
            <a:r>
              <a:rPr lang="en-US" dirty="0" smtClean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Margin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="5"/&gt;</a:t>
            </a:r>
            <a:endParaRPr lang="en-US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dirty="0" err="1">
                <a:solidFill>
                  <a:srgbClr val="A31515"/>
                </a:solidFill>
                <a:latin typeface="Cascadia Mono" panose="020B0609020000020004" pitchFamily="49" charset="0"/>
              </a:rPr>
              <a:t>Button</a:t>
            </a:r>
            <a:r>
              <a:rPr lang="fr-FR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="Center"</a:t>
            </a:r>
            <a:r>
              <a:rPr lang="fr-FR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dirty="0" err="1">
                <a:solidFill>
                  <a:srgbClr val="FF0000"/>
                </a:solidFill>
                <a:latin typeface="Cascadia Mono" panose="020B0609020000020004" pitchFamily="49" charset="0"/>
              </a:rPr>
              <a:t>Margin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="5"/&gt;</a:t>
            </a:r>
            <a:endParaRPr lang="fr-FR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dirty="0">
                <a:solidFill>
                  <a:srgbClr val="A31515"/>
                </a:solidFill>
                <a:latin typeface="Cascadia Mono" panose="020B0609020000020004" pitchFamily="49" charset="0"/>
              </a:rPr>
              <a:t>Button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="End"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="5"/&gt;</a:t>
            </a:r>
            <a:endParaRPr lang="en-US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dirty="0">
                <a:solidFill>
                  <a:srgbClr val="A31515"/>
                </a:solidFill>
                <a:latin typeface="Cascadia Mono" panose="020B0609020000020004" pitchFamily="49" charset="0"/>
              </a:rPr>
              <a:t>Button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="Fill"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="5"/&gt;</a:t>
            </a:r>
            <a:endParaRPr lang="en-US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9374" y="1484251"/>
            <a:ext cx="2154332" cy="480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029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7" y="617099"/>
            <a:ext cx="11730860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Stack Layout</a:t>
            </a:r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Dans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cet exemple,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tous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les boutons s'étendent sur toute la largeur de la mise en page, puisque nous ne modifions que le fichier 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VerticalOptions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7" y="-3164750"/>
            <a:ext cx="5" cy="13187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1942944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fr-FR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fr-FR" dirty="0" err="1">
                <a:solidFill>
                  <a:srgbClr val="0000FF"/>
                </a:solidFill>
                <a:latin typeface="Cascadia Mono" panose="020B0609020000020004" pitchFamily="49" charset="0"/>
              </a:rPr>
              <a:t>LightGray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endParaRPr lang="fr-FR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ascadia Mono" panose="020B0609020000020004" pitchFamily="49" charset="0"/>
              </a:rPr>
              <a:t>       </a:t>
            </a:r>
            <a:r>
              <a:rPr lang="fr-FR" dirty="0">
                <a:solidFill>
                  <a:srgbClr val="FF0000"/>
                </a:solidFill>
                <a:latin typeface="Cascadia Mono" panose="020B0609020000020004" pitchFamily="49" charset="0"/>
              </a:rPr>
              <a:t> VerticalOptions</a:t>
            </a:r>
            <a:r>
              <a:rPr lang="fr-FR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="Fill"</a:t>
            </a:r>
            <a:endParaRPr lang="fr-FR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ascadia Mono" panose="020B0609020000020004" pitchFamily="49" charset="0"/>
              </a:rPr>
              <a:t>       </a:t>
            </a:r>
            <a:r>
              <a:rPr lang="fr-FR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dirty="0" err="1">
                <a:solidFill>
                  <a:srgbClr val="FF0000"/>
                </a:solidFill>
                <a:latin typeface="Cascadia Mono" panose="020B0609020000020004" pitchFamily="49" charset="0"/>
              </a:rPr>
              <a:t>Margin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="20,35,20,25"</a:t>
            </a:r>
            <a:r>
              <a:rPr lang="fr-FR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dirty="0" err="1">
                <a:solidFill>
                  <a:srgbClr val="FF0000"/>
                </a:solidFill>
                <a:latin typeface="Cascadia Mono" panose="020B0609020000020004" pitchFamily="49" charset="0"/>
              </a:rPr>
              <a:t>Spacing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="10" &gt;</a:t>
            </a:r>
            <a:endParaRPr lang="fr-FR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dirty="0">
                <a:solidFill>
                  <a:srgbClr val="A31515"/>
                </a:solidFill>
                <a:latin typeface="Cascadia Mono" panose="020B0609020000020004" pitchFamily="49" charset="0"/>
              </a:rPr>
              <a:t>Button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="Start"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="5"/&gt;</a:t>
            </a:r>
            <a:endParaRPr lang="en-US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dirty="0" err="1">
                <a:solidFill>
                  <a:srgbClr val="A31515"/>
                </a:solidFill>
                <a:latin typeface="Cascadia Mono" panose="020B0609020000020004" pitchFamily="49" charset="0"/>
              </a:rPr>
              <a:t>Button</a:t>
            </a:r>
            <a:r>
              <a:rPr lang="fr-FR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="Center"</a:t>
            </a:r>
            <a:r>
              <a:rPr lang="fr-FR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dirty="0" err="1">
                <a:solidFill>
                  <a:srgbClr val="FF0000"/>
                </a:solidFill>
                <a:latin typeface="Cascadia Mono" panose="020B0609020000020004" pitchFamily="49" charset="0"/>
              </a:rPr>
              <a:t>Margin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="5"/&gt;</a:t>
            </a:r>
            <a:endParaRPr lang="fr-FR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dirty="0">
                <a:solidFill>
                  <a:srgbClr val="A31515"/>
                </a:solidFill>
                <a:latin typeface="Cascadia Mono" panose="020B0609020000020004" pitchFamily="49" charset="0"/>
              </a:rPr>
              <a:t>Button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="End"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="5"/&gt;</a:t>
            </a:r>
            <a:endParaRPr lang="en-US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dirty="0">
                <a:solidFill>
                  <a:srgbClr val="A31515"/>
                </a:solidFill>
                <a:latin typeface="Cascadia Mono" panose="020B0609020000020004" pitchFamily="49" charset="0"/>
              </a:rPr>
              <a:t>Button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="Fill"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="5"/&gt;</a:t>
            </a:r>
            <a:endParaRPr lang="en-US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0183" y="1320800"/>
            <a:ext cx="2339421" cy="527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079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7" y="617099"/>
            <a:ext cx="11730860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Stack Layout</a:t>
            </a:r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Dans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cet exemple,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tous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les boutons s'étendent sur toute la largeur de la mise en page, puisque nous ne modifions que le fichier 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VerticalOptions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7" y="-3164750"/>
            <a:ext cx="5" cy="13187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5092" y="1720840"/>
            <a:ext cx="686138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fr-FR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HorizontalOptions</a:t>
            </a:r>
            <a:r>
              <a:rPr lang="fr-FR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="Fill"</a:t>
            </a:r>
            <a:r>
              <a:rPr lang="fr-FR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 </a:t>
            </a:r>
          </a:p>
          <a:p>
            <a:r>
              <a:rPr lang="fr-FR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VerticalOptions</a:t>
            </a:r>
            <a:r>
              <a:rPr lang="fr-FR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="Start"</a:t>
            </a:r>
            <a:endParaRPr lang="fr-FR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dirty="0" err="1">
                <a:solidFill>
                  <a:srgbClr val="FF0000"/>
                </a:solidFill>
                <a:latin typeface="Cascadia Mono" panose="020B0609020000020004" pitchFamily="49" charset="0"/>
              </a:rPr>
              <a:t>BackgroundColor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fr-FR" dirty="0" err="1">
                <a:solidFill>
                  <a:srgbClr val="0000FF"/>
                </a:solidFill>
                <a:latin typeface="Cascadia Mono" panose="020B0609020000020004" pitchFamily="49" charset="0"/>
              </a:rPr>
              <a:t>LightGray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fr-FR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</a:p>
          <a:p>
            <a:r>
              <a:rPr lang="fr-FR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dirty="0" err="1">
                <a:solidFill>
                  <a:srgbClr val="FF0000"/>
                </a:solidFill>
                <a:latin typeface="Cascadia Mono" panose="020B0609020000020004" pitchFamily="49" charset="0"/>
              </a:rPr>
              <a:t>Padding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="1"</a:t>
            </a:r>
            <a:r>
              <a:rPr lang="fr-FR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dirty="0" err="1">
                <a:solidFill>
                  <a:srgbClr val="FF0000"/>
                </a:solidFill>
                <a:latin typeface="Cascadia Mono" panose="020B0609020000020004" pitchFamily="49" charset="0"/>
              </a:rPr>
              <a:t>Margin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="30"&gt;</a:t>
            </a:r>
            <a:endParaRPr lang="fr-FR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fr-FR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="Vert: Fill, </a:t>
            </a:r>
            <a:r>
              <a:rPr lang="fr-FR" dirty="0" err="1">
                <a:solidFill>
                  <a:srgbClr val="0000FF"/>
                </a:solidFill>
                <a:latin typeface="Cascadia Mono" panose="020B0609020000020004" pitchFamily="49" charset="0"/>
              </a:rPr>
              <a:t>Horz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: Start"</a:t>
            </a:r>
            <a:r>
              <a:rPr lang="fr-FR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</a:p>
          <a:p>
            <a:r>
              <a:rPr lang="fr-FR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</a:t>
            </a:r>
            <a:r>
              <a:rPr lang="fr-FR" dirty="0">
                <a:solidFill>
                  <a:srgbClr val="FF0000"/>
                </a:solidFill>
                <a:latin typeface="Cascadia Mono" panose="020B0609020000020004" pitchFamily="49" charset="0"/>
              </a:rPr>
              <a:t> VerticalOptions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fr-FR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StartAndExpand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fr-FR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</a:p>
          <a:p>
            <a:r>
              <a:rPr lang="fr-FR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</a:t>
            </a:r>
            <a:r>
              <a:rPr lang="fr-FR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dirty="0" err="1">
                <a:solidFill>
                  <a:srgbClr val="FF0000"/>
                </a:solidFill>
                <a:latin typeface="Cascadia Mono" panose="020B0609020000020004" pitchFamily="49" charset="0"/>
              </a:rPr>
              <a:t>HorizontalOptions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fr-FR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StartAndExpand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fr-FR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</a:p>
          <a:p>
            <a:r>
              <a:rPr lang="fr-FR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</a:t>
            </a:r>
            <a:r>
              <a:rPr lang="fr-FR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dirty="0" err="1">
                <a:solidFill>
                  <a:srgbClr val="FF0000"/>
                </a:solidFill>
                <a:latin typeface="Cascadia Mono" panose="020B0609020000020004" pitchFamily="49" charset="0"/>
              </a:rPr>
              <a:t>BackgroundColor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="White"/&gt;</a:t>
            </a:r>
            <a:endParaRPr lang="fr-FR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3532" y="1402080"/>
            <a:ext cx="2187048" cy="50077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044853" y="2194560"/>
            <a:ext cx="1124374" cy="121920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1417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7" y="617099"/>
            <a:ext cx="11730860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Stack Layout</a:t>
            </a:r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Dans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cet exemple,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tous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les boutons s'étendent sur toute la largeur de la mise en page, puisque nous ne modifions que le fichier 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VerticalOptions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7" y="-3164750"/>
            <a:ext cx="5" cy="13187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3813" y="1794131"/>
            <a:ext cx="7457440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LightBlue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VerticalOptions</a:t>
            </a:r>
            <a:r>
              <a:rPr lang="fr-FR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</a:t>
            </a:r>
            <a:r>
              <a:rPr lang="fr-FR" sz="16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CenterAndExpand</a:t>
            </a:r>
            <a:r>
              <a:rPr lang="fr-FR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"</a:t>
            </a:r>
            <a:endParaRPr lang="fr-FR" sz="1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="Some text"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="30"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="5"/&gt;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LightBlue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endParaRPr lang="en-US" sz="1400" dirty="0" smtClean="0">
              <a:solidFill>
                <a:srgbClr val="FF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	 </a:t>
            </a:r>
            <a:r>
              <a:rPr lang="en-US" sz="1400" dirty="0" smtClean="0">
                <a:solidFill>
                  <a:srgbClr val="FF0000"/>
                </a:solidFill>
                <a:latin typeface="Cascadia Mono" panose="020B0609020000020004" pitchFamily="49" charset="0"/>
              </a:rPr>
              <a:t>     Text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="Some text"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="30"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="5</a:t>
            </a:r>
            <a:r>
              <a:rPr lang="en-US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"/&gt;</a:t>
            </a:r>
          </a:p>
          <a:p>
            <a:pPr lvl="2"/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LightBlue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</a:p>
          <a:p>
            <a:pPr lvl="2"/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	      Text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="Some text"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="30"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="5"/&gt;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2"/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LightBlue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</a:p>
          <a:p>
            <a:pPr lvl="2"/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	      Text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="Some text"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="30"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="5"/&gt;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2"/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LightBlue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</a:p>
          <a:p>
            <a:pPr lvl="2"/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	      Text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="Some text"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="30"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="5"/&gt;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2"/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LightBlue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</a:p>
          <a:p>
            <a:pPr lvl="2"/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	      Text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="Some text"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="30"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="5"/&gt;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0297" y="1448691"/>
            <a:ext cx="2132510" cy="4791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300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7" y="617099"/>
            <a:ext cx="11730860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Stack Layout</a:t>
            </a:r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Dans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cet exemple,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tous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les boutons s'étendent sur toute la largeur de la mise en page, puisque nous ne modifions que le fichier 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VerticalOptions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7" y="-3164750"/>
            <a:ext cx="5" cy="13187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3813" y="1794131"/>
            <a:ext cx="7457440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LightBlue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VerticalOptions</a:t>
            </a:r>
            <a:r>
              <a:rPr lang="fr-FR" sz="16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</a:t>
            </a:r>
            <a:r>
              <a:rPr lang="fr-FR" sz="1600" b="1" dirty="0" err="1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StartAndExpand</a:t>
            </a:r>
            <a:r>
              <a:rPr lang="fr-FR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"</a:t>
            </a:r>
            <a:endParaRPr lang="fr-FR" sz="1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="Some text"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="30"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="5"/&gt;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LightBlue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endParaRPr lang="en-US" sz="1400" dirty="0" smtClean="0">
              <a:solidFill>
                <a:srgbClr val="FF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	 </a:t>
            </a:r>
            <a:r>
              <a:rPr lang="en-US" sz="1400" dirty="0" smtClean="0">
                <a:solidFill>
                  <a:srgbClr val="FF0000"/>
                </a:solidFill>
                <a:latin typeface="Cascadia Mono" panose="020B0609020000020004" pitchFamily="49" charset="0"/>
              </a:rPr>
              <a:t>     Text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="Some text"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="30"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="5</a:t>
            </a:r>
            <a:r>
              <a:rPr lang="en-US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"/&gt;</a:t>
            </a:r>
          </a:p>
          <a:p>
            <a:pPr lvl="2"/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LightBlue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</a:p>
          <a:p>
            <a:pPr lvl="2"/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	      Text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="Some text"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="30"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="5"/&gt;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2"/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LightBlue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</a:p>
          <a:p>
            <a:pPr lvl="2"/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	      Text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="Some text"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="30"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="5"/&gt;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2"/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LightBlue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</a:p>
          <a:p>
            <a:pPr lvl="2"/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	      Text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="Some text"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="30"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="5"/&gt;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2"/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LightBlue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</a:p>
          <a:p>
            <a:pPr lvl="2"/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	      Text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="Some text"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="30"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="5"/&gt;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155" y="1347894"/>
            <a:ext cx="2222747" cy="5039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069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7" y="617099"/>
            <a:ext cx="11730860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Stack Layout</a:t>
            </a:r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150" indent="-285750">
              <a:buFont typeface="Wingdings" panose="05000000000000000000" pitchFamily="2" charset="2"/>
              <a:buChar char="§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Dans le cas où le nombre des éléments dépassent l’espace total du contrôle parent il est possible de mettre le </a:t>
            </a:r>
          </a:p>
          <a:p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Stack Layout dans un 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ScrollView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il est possible de contrôler le sens de déroulement via la propriété 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Orientation</a:t>
            </a:r>
          </a:p>
          <a:p>
            <a:endParaRPr lang="fr-FR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La valeur de la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propriété 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Orientation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par défaut est 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Vertical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, elle peut avoir aussi 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Horizontal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 et 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Both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7" y="-3164750"/>
            <a:ext cx="5" cy="131875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983205" y="2603525"/>
            <a:ext cx="701641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ScrollView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LightBlue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="Some text"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="30"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smtClean="0">
                <a:solidFill>
                  <a:srgbClr val="FF0000"/>
                </a:solidFill>
                <a:latin typeface="Cascadia Mono" panose="020B0609020000020004" pitchFamily="49" charset="0"/>
              </a:rPr>
              <a:t>		Margin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="5"/&gt;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LightBlue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="Some text"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="30"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smtClean="0">
                <a:solidFill>
                  <a:srgbClr val="FF0000"/>
                </a:solidFill>
                <a:latin typeface="Cascadia Mono" panose="020B0609020000020004" pitchFamily="49" charset="0"/>
              </a:rPr>
              <a:t>		Margin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="5"/&gt;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LightBlue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="Some text"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="30"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smtClean="0">
                <a:solidFill>
                  <a:srgbClr val="FF0000"/>
                </a:solidFill>
                <a:latin typeface="Cascadia Mono" panose="020B0609020000020004" pitchFamily="49" charset="0"/>
              </a:rPr>
              <a:t>		Margin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="5</a:t>
            </a:r>
            <a:r>
              <a:rPr lang="en-US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"/&gt;</a:t>
            </a:r>
          </a:p>
          <a:p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LightBlue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="Some text"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="30"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		Margin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="5"/&gt;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LightBlue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="Some text"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="30"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		Margin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="5"/&gt;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LightBlue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="Some text"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="30"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		Margin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="5"/&gt;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	  &lt;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LightBlue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="Some text"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="30"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		Margin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="5</a:t>
            </a:r>
            <a:r>
              <a:rPr lang="en-US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"/&gt;</a:t>
            </a:r>
            <a:endParaRPr lang="en-US" sz="12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ScrollView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215367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7" y="617099"/>
            <a:ext cx="11730860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Stack Layout</a:t>
            </a:r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Il est possible de remplacer le Stack Layout par 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VerticalStackLayout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et 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HorizontalStackLayout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pour gagner en termes de performance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7" y="-3164750"/>
            <a:ext cx="5" cy="13187500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2941" y="2063649"/>
            <a:ext cx="1601648" cy="36209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731012" y="5779254"/>
            <a:ext cx="184550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VerticalStackLayout</a:t>
            </a:r>
            <a:endParaRPr lang="fr-FR" sz="1400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7203" y="2063649"/>
            <a:ext cx="1659721" cy="371560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469755" y="5902364"/>
            <a:ext cx="182620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HorizontalStackLayout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1286650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7" y="617099"/>
            <a:ext cx="11730860" cy="3662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Absolute Layout</a:t>
            </a:r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La propriété  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AbsoluteLayout.LayoutBounds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permet de définir la position et les dimensions du contrôle fils </a:t>
            </a:r>
            <a:endParaRPr lang="fr-FR" dirty="0"/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dirty="0" smtClean="0"/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dirty="0"/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dirty="0" smtClean="0"/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dirty="0"/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dirty="0" smtClean="0"/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dirty="0"/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dirty="0" smtClean="0"/>
              <a:t>Les valeurs sont définie d’une manière absolue dans ce cas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7" y="-3164750"/>
            <a:ext cx="5" cy="13187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14960" y="1676738"/>
            <a:ext cx="635508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AbsoluteLayout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   &lt;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="Ce ci est un contenu"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 smtClean="0">
                <a:solidFill>
                  <a:srgbClr val="FF0000"/>
                </a:solidFill>
                <a:latin typeface="Cascadia Mono" panose="020B0609020000020004" pitchFamily="49" charset="0"/>
              </a:rPr>
              <a:t>           </a:t>
            </a:r>
            <a:r>
              <a:rPr lang="fr-FR" sz="1400" dirty="0" err="1" smtClean="0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="30"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 smtClean="0">
                <a:solidFill>
                  <a:srgbClr val="FF0000"/>
                </a:solidFill>
                <a:latin typeface="Cascadia Mono" panose="020B0609020000020004" pitchFamily="49" charset="0"/>
              </a:rPr>
              <a:t>           </a:t>
            </a:r>
            <a:r>
              <a:rPr lang="fr-FR" sz="1400" dirty="0" err="1" smtClean="0">
                <a:solidFill>
                  <a:srgbClr val="FF0000"/>
                </a:solidFill>
                <a:latin typeface="Cascadia Mono" panose="020B0609020000020004" pitchFamily="49" charset="0"/>
              </a:rPr>
              <a:t>AbsoluteLayout.LayoutBounds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="20,20,350,100"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</a:t>
            </a:r>
            <a:r>
              <a:rPr lang="fr-FR" sz="1400" dirty="0" err="1" smtClean="0">
                <a:solidFill>
                  <a:srgbClr val="FF0000"/>
                </a:solidFill>
                <a:latin typeface="Cascadia Mono" panose="020B0609020000020004" pitchFamily="49" charset="0"/>
              </a:rPr>
              <a:t>BackgroundColor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="Bisque"/&gt;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AbsoluteLayout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0715" y="1777999"/>
            <a:ext cx="1899109" cy="4298235"/>
          </a:xfrm>
          <a:prstGeom prst="rect">
            <a:avLst/>
          </a:prstGeom>
        </p:spPr>
      </p:pic>
      <p:cxnSp>
        <p:nvCxnSpPr>
          <p:cNvPr id="7" name="Connecteur droit avec flèche 6"/>
          <p:cNvCxnSpPr>
            <a:stCxn id="9" idx="0"/>
          </p:cNvCxnSpPr>
          <p:nvPr/>
        </p:nvCxnSpPr>
        <p:spPr>
          <a:xfrm flipV="1">
            <a:off x="2648266" y="2570480"/>
            <a:ext cx="2053786" cy="907534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713939" y="3478014"/>
            <a:ext cx="186865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 smtClean="0"/>
              <a:t>Position par apport au top</a:t>
            </a:r>
            <a:endParaRPr lang="fr-FR" sz="1200" b="1" dirty="0"/>
          </a:p>
        </p:txBody>
      </p:sp>
      <p:sp>
        <p:nvSpPr>
          <p:cNvPr id="13" name="Rectangle 12"/>
          <p:cNvSpPr/>
          <p:nvPr/>
        </p:nvSpPr>
        <p:spPr>
          <a:xfrm>
            <a:off x="3024579" y="3755013"/>
            <a:ext cx="202138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 smtClean="0"/>
              <a:t>Position par apport à gauche</a:t>
            </a:r>
            <a:endParaRPr lang="fr-FR" sz="1200" b="1" dirty="0"/>
          </a:p>
        </p:txBody>
      </p:sp>
      <p:cxnSp>
        <p:nvCxnSpPr>
          <p:cNvPr id="14" name="Connecteur droit avec flèche 13"/>
          <p:cNvCxnSpPr>
            <a:stCxn id="13" idx="0"/>
          </p:cNvCxnSpPr>
          <p:nvPr/>
        </p:nvCxnSpPr>
        <p:spPr>
          <a:xfrm flipV="1">
            <a:off x="4035273" y="2570480"/>
            <a:ext cx="975979" cy="1184533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011252" y="3031143"/>
            <a:ext cx="66531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 smtClean="0"/>
              <a:t>Largeur</a:t>
            </a:r>
            <a:endParaRPr lang="fr-FR" sz="1200" b="1" dirty="0"/>
          </a:p>
        </p:txBody>
      </p:sp>
      <p:sp>
        <p:nvSpPr>
          <p:cNvPr id="18" name="Rectangle 17"/>
          <p:cNvSpPr/>
          <p:nvPr/>
        </p:nvSpPr>
        <p:spPr>
          <a:xfrm>
            <a:off x="6250071" y="2896106"/>
            <a:ext cx="7069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 smtClean="0"/>
              <a:t>Hauteur</a:t>
            </a:r>
            <a:endParaRPr lang="fr-FR" sz="1200" b="1" dirty="0"/>
          </a:p>
        </p:txBody>
      </p:sp>
      <p:cxnSp>
        <p:nvCxnSpPr>
          <p:cNvPr id="19" name="Connecteur droit avec flèche 18"/>
          <p:cNvCxnSpPr>
            <a:stCxn id="17" idx="0"/>
          </p:cNvCxnSpPr>
          <p:nvPr/>
        </p:nvCxnSpPr>
        <p:spPr>
          <a:xfrm flipV="1">
            <a:off x="5343907" y="2538716"/>
            <a:ext cx="86780" cy="492427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/>
          <p:cNvCxnSpPr>
            <a:stCxn id="18" idx="0"/>
          </p:cNvCxnSpPr>
          <p:nvPr/>
        </p:nvCxnSpPr>
        <p:spPr>
          <a:xfrm flipH="1" flipV="1">
            <a:off x="5850122" y="2538716"/>
            <a:ext cx="753443" cy="357390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3103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7" y="617099"/>
            <a:ext cx="11730860" cy="3247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Absolute Layout</a:t>
            </a:r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dirty="0" smtClean="0"/>
              <a:t>Un </a:t>
            </a:r>
            <a:r>
              <a:rPr lang="fr-FR" b="1" dirty="0" err="1" smtClean="0"/>
              <a:t>Absolute</a:t>
            </a:r>
            <a:r>
              <a:rPr lang="fr-FR" b="1" dirty="0" smtClean="0"/>
              <a:t> </a:t>
            </a:r>
            <a:r>
              <a:rPr lang="fr-FR" b="1" dirty="0" err="1" smtClean="0"/>
              <a:t>Layout</a:t>
            </a:r>
            <a:r>
              <a:rPr lang="fr-FR" dirty="0" smtClean="0"/>
              <a:t> est utilisé pour positionner et dimensionner des éléments à l’aide de valeurs explicites libres</a:t>
            </a:r>
          </a:p>
          <a:p>
            <a:pPr>
              <a:lnSpc>
                <a:spcPct val="150000"/>
              </a:lnSpc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   et absolue par apport au conteneur</a:t>
            </a: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Les positions des enfants est faite sur la base du 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Top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et 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Gauche</a:t>
            </a: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Le dimensionnement peut être relatif et proportionnel à la fois au contrôle parent</a:t>
            </a: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Les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propriétés 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HorizontalOption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et 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VerticalOption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n’ont aucun effet sur les enfants d’un 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Absolute Layout</a:t>
            </a: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Les deux propriétés les plus importantes sont 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AbsoluteLayout.LayoutBounds</a:t>
            </a:r>
            <a:r>
              <a:rPr lang="fr-FR" dirty="0" smtClean="0"/>
              <a:t> et 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AbsoluteLayout.LayoutFlags</a:t>
            </a:r>
            <a:endParaRPr lang="fr-FR" b="1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Éviter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d’utiliser la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propriété 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AbsoluteLayout.AutoSize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pour des raisons de performance</a:t>
            </a:r>
            <a:endParaRPr lang="fr-FR" b="1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7" y="-3164750"/>
            <a:ext cx="5" cy="1318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33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7" y="617099"/>
            <a:ext cx="11730860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Absolute Layout</a:t>
            </a:r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La propriété  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AbsoluteLayout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LayoutFlags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permet de définir la position et les dimensions du contrôle fils </a:t>
            </a:r>
          </a:p>
          <a:p>
            <a:pPr>
              <a:lnSpc>
                <a:spcPct val="150000"/>
              </a:lnSpc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   relativement au parent 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Top (X)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Left (Y)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Width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et 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Height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7" y="-3164750"/>
            <a:ext cx="5" cy="1318750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9584" y="1989924"/>
            <a:ext cx="5534025" cy="391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176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7" y="617099"/>
            <a:ext cx="11730860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Absolute Layout</a:t>
            </a:r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La propriété  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AbsoluteLayout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LayoutFlags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permet de définir la position et les dimensions du contrôle fils </a:t>
            </a:r>
          </a:p>
          <a:p>
            <a:pPr>
              <a:lnSpc>
                <a:spcPct val="150000"/>
              </a:lnSpc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   relativement dimension au parent 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7" y="-3164750"/>
            <a:ext cx="5" cy="13187500"/>
          </a:xfrm>
          <a:prstGeom prst="rect">
            <a:avLst/>
          </a:prstGeom>
        </p:spPr>
      </p:pic>
      <p:cxnSp>
        <p:nvCxnSpPr>
          <p:cNvPr id="7" name="Connecteur droit avec flèche 6"/>
          <p:cNvCxnSpPr>
            <a:stCxn id="9" idx="0"/>
          </p:cNvCxnSpPr>
          <p:nvPr/>
        </p:nvCxnSpPr>
        <p:spPr>
          <a:xfrm flipV="1">
            <a:off x="3709986" y="4217229"/>
            <a:ext cx="2053786" cy="907534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775659" y="5124763"/>
            <a:ext cx="186865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 smtClean="0"/>
              <a:t>Position par apport au top</a:t>
            </a:r>
            <a:endParaRPr lang="fr-FR" sz="1200" b="1" dirty="0"/>
          </a:p>
        </p:txBody>
      </p:sp>
      <p:sp>
        <p:nvSpPr>
          <p:cNvPr id="13" name="Rectangle 12"/>
          <p:cNvSpPr/>
          <p:nvPr/>
        </p:nvSpPr>
        <p:spPr>
          <a:xfrm>
            <a:off x="4086299" y="5401762"/>
            <a:ext cx="202138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 smtClean="0"/>
              <a:t>Position par apport à gauche</a:t>
            </a:r>
            <a:endParaRPr lang="fr-FR" sz="1200" b="1" dirty="0"/>
          </a:p>
        </p:txBody>
      </p:sp>
      <p:cxnSp>
        <p:nvCxnSpPr>
          <p:cNvPr id="14" name="Connecteur droit avec flèche 13"/>
          <p:cNvCxnSpPr>
            <a:stCxn id="13" idx="0"/>
          </p:cNvCxnSpPr>
          <p:nvPr/>
        </p:nvCxnSpPr>
        <p:spPr>
          <a:xfrm flipV="1">
            <a:off x="5096993" y="4217229"/>
            <a:ext cx="975979" cy="1184533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072972" y="4677892"/>
            <a:ext cx="66531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 smtClean="0"/>
              <a:t>Largeur</a:t>
            </a:r>
            <a:endParaRPr lang="fr-FR" sz="1200" b="1" dirty="0"/>
          </a:p>
        </p:txBody>
      </p:sp>
      <p:sp>
        <p:nvSpPr>
          <p:cNvPr id="18" name="Rectangle 17"/>
          <p:cNvSpPr/>
          <p:nvPr/>
        </p:nvSpPr>
        <p:spPr>
          <a:xfrm>
            <a:off x="7311791" y="4542855"/>
            <a:ext cx="7069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 smtClean="0"/>
              <a:t>Hauteur</a:t>
            </a:r>
            <a:endParaRPr lang="fr-FR" sz="1200" b="1" dirty="0"/>
          </a:p>
        </p:txBody>
      </p:sp>
      <p:cxnSp>
        <p:nvCxnSpPr>
          <p:cNvPr id="19" name="Connecteur droit avec flèche 18"/>
          <p:cNvCxnSpPr>
            <a:stCxn id="17" idx="0"/>
          </p:cNvCxnSpPr>
          <p:nvPr/>
        </p:nvCxnSpPr>
        <p:spPr>
          <a:xfrm flipV="1">
            <a:off x="6405627" y="4185465"/>
            <a:ext cx="86780" cy="492427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/>
          <p:cNvCxnSpPr>
            <a:stCxn id="18" idx="0"/>
          </p:cNvCxnSpPr>
          <p:nvPr/>
        </p:nvCxnSpPr>
        <p:spPr>
          <a:xfrm flipH="1" flipV="1">
            <a:off x="6911842" y="4185465"/>
            <a:ext cx="753443" cy="357390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006074" y="2063649"/>
            <a:ext cx="6096000" cy="310854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AbsoluteLayout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="Fixe"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="30"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AbsoluteLayout.LayoutBounds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="20,20,350,100"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BackgroundColor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="Bisque"/&gt;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="Relatif"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="30"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AbsoluteLayout.LayoutBounds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=".2,.8,.5,.5"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AbsoluteLayout.LayoutFlags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="All"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BackgroundColor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="Bisque"/&gt;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AbsoluteLayout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3266428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7" y="617099"/>
            <a:ext cx="1173086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</a:t>
            </a:r>
            <a:r>
              <a:rPr lang="fr-FR" altLang="en-US" sz="2200" u="sng" dirty="0" err="1" smtClean="0">
                <a:latin typeface="Segoe UI Symbol" panose="020B0502040204020203" pitchFamily="34" charset="0"/>
              </a:rPr>
              <a:t>Absolute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 </a:t>
            </a:r>
            <a:r>
              <a:rPr lang="fr-FR" altLang="en-US" sz="2200" u="sng" dirty="0" err="1" smtClean="0">
                <a:latin typeface="Segoe UI Symbol" panose="020B0502040204020203" pitchFamily="34" charset="0"/>
              </a:rPr>
              <a:t>Layout</a:t>
            </a:r>
            <a:endParaRPr lang="fr-FR" altLang="en-US" sz="2200" u="sng" dirty="0" smtClean="0">
              <a:latin typeface="Segoe UI Symbol" panose="020B0502040204020203" pitchFamily="34" charset="0"/>
            </a:endParaRPr>
          </a:p>
          <a:p>
            <a:pPr eaLnBrk="1" hangingPunct="1"/>
            <a:endParaRPr lang="fr-FR" altLang="en-US" sz="2200" u="sng" dirty="0">
              <a:latin typeface="Segoe UI Symbol" panose="020B0502040204020203" pitchFamily="34" charset="0"/>
              <a:cs typeface="Times New Roman" panose="02020603050405020304" pitchFamily="18" charset="0"/>
            </a:endParaRPr>
          </a:p>
          <a:p>
            <a:pPr eaLnBrk="1" hangingPunct="1"/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Connecteur droit avec flèche 6"/>
          <p:cNvCxnSpPr>
            <a:stCxn id="9" idx="0"/>
          </p:cNvCxnSpPr>
          <p:nvPr/>
        </p:nvCxnSpPr>
        <p:spPr>
          <a:xfrm flipV="1">
            <a:off x="3709986" y="4217229"/>
            <a:ext cx="1874996" cy="907534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775659" y="5124763"/>
            <a:ext cx="186865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 smtClean="0"/>
              <a:t>Position par apport au top</a:t>
            </a:r>
            <a:endParaRPr lang="fr-FR" sz="1200" b="1" dirty="0"/>
          </a:p>
        </p:txBody>
      </p:sp>
      <p:sp>
        <p:nvSpPr>
          <p:cNvPr id="13" name="Rectangle 12"/>
          <p:cNvSpPr/>
          <p:nvPr/>
        </p:nvSpPr>
        <p:spPr>
          <a:xfrm>
            <a:off x="4086299" y="5401762"/>
            <a:ext cx="202138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 smtClean="0"/>
              <a:t>Position par apport à gauche</a:t>
            </a:r>
            <a:endParaRPr lang="fr-FR" sz="1200" b="1" dirty="0"/>
          </a:p>
        </p:txBody>
      </p:sp>
      <p:cxnSp>
        <p:nvCxnSpPr>
          <p:cNvPr id="14" name="Connecteur droit avec flèche 13"/>
          <p:cNvCxnSpPr>
            <a:stCxn id="13" idx="0"/>
          </p:cNvCxnSpPr>
          <p:nvPr/>
        </p:nvCxnSpPr>
        <p:spPr>
          <a:xfrm flipV="1">
            <a:off x="5096993" y="4217229"/>
            <a:ext cx="887938" cy="1184533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072972" y="4677892"/>
            <a:ext cx="66531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 smtClean="0"/>
              <a:t>Largeur</a:t>
            </a:r>
            <a:endParaRPr lang="fr-FR" sz="1200" b="1" dirty="0"/>
          </a:p>
        </p:txBody>
      </p:sp>
      <p:sp>
        <p:nvSpPr>
          <p:cNvPr id="18" name="Rectangle 17"/>
          <p:cNvSpPr/>
          <p:nvPr/>
        </p:nvSpPr>
        <p:spPr>
          <a:xfrm>
            <a:off x="7311791" y="4542855"/>
            <a:ext cx="7069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 smtClean="0"/>
              <a:t>Hauteur</a:t>
            </a:r>
            <a:endParaRPr lang="fr-FR" sz="1200" b="1" dirty="0"/>
          </a:p>
        </p:txBody>
      </p:sp>
      <p:cxnSp>
        <p:nvCxnSpPr>
          <p:cNvPr id="19" name="Connecteur droit avec flèche 18"/>
          <p:cNvCxnSpPr>
            <a:stCxn id="17" idx="0"/>
          </p:cNvCxnSpPr>
          <p:nvPr/>
        </p:nvCxnSpPr>
        <p:spPr>
          <a:xfrm flipV="1">
            <a:off x="6405627" y="4185465"/>
            <a:ext cx="86780" cy="492427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/>
          <p:cNvCxnSpPr>
            <a:stCxn id="18" idx="0"/>
          </p:cNvCxnSpPr>
          <p:nvPr/>
        </p:nvCxnSpPr>
        <p:spPr>
          <a:xfrm flipH="1" flipV="1">
            <a:off x="6911842" y="4185465"/>
            <a:ext cx="753443" cy="357390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478395" y="1057519"/>
            <a:ext cx="683339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Position et taille absolues (pixels).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Ne s'adapte pas si la taille du parent change.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507210" y="2272188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dirty="0" err="1">
                <a:solidFill>
                  <a:srgbClr val="A31515"/>
                </a:solidFill>
                <a:latin typeface="Cascadia Mono" panose="020B0609020000020004" pitchFamily="49" charset="0"/>
              </a:rPr>
              <a:t>AbsoluteLayout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ascadia Mono" panose="020B0609020000020004" pitchFamily="49" charset="0"/>
              </a:rPr>
              <a:t>BackgroundColor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dirty="0" err="1">
                <a:solidFill>
                  <a:srgbClr val="0000FF"/>
                </a:solidFill>
                <a:latin typeface="Cascadia Mono" panose="020B0609020000020004" pitchFamily="49" charset="0"/>
              </a:rPr>
              <a:t>LightGray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"&gt;</a:t>
            </a:r>
          </a:p>
          <a:p>
            <a:endParaRPr lang="en-US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="None"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="20"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ascadia Mono" panose="020B0609020000020004" pitchFamily="49" charset="0"/>
              </a:rPr>
              <a:t>BackgroundColor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="Orange"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ascadia Mono" panose="020B0609020000020004" pitchFamily="49" charset="0"/>
              </a:rPr>
              <a:t>AbsoluteLayout.LayoutBounds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="30,30,150,50"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ascadia Mono" panose="020B0609020000020004" pitchFamily="49" charset="0"/>
              </a:rPr>
              <a:t>AbsoluteLayout.LayoutFlags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="None"/&gt;</a:t>
            </a:r>
          </a:p>
          <a:p>
            <a:endParaRPr lang="en-US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dirty="0" err="1">
                <a:solidFill>
                  <a:srgbClr val="A31515"/>
                </a:solidFill>
                <a:latin typeface="Cascadia Mono" panose="020B0609020000020004" pitchFamily="49" charset="0"/>
              </a:rPr>
              <a:t>AbsoluteLayout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548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721895" y="1985441"/>
            <a:ext cx="6096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dirty="0" err="1">
                <a:solidFill>
                  <a:srgbClr val="A31515"/>
                </a:solidFill>
                <a:latin typeface="Cascadia Mono" panose="020B0609020000020004" pitchFamily="49" charset="0"/>
              </a:rPr>
              <a:t>AbsoluteLayout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ascadia Mono" panose="020B0609020000020004" pitchFamily="49" charset="0"/>
              </a:rPr>
              <a:t>BackgroundColor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dirty="0" err="1">
                <a:solidFill>
                  <a:srgbClr val="0000FF"/>
                </a:solidFill>
                <a:latin typeface="Cascadia Mono" panose="020B0609020000020004" pitchFamily="49" charset="0"/>
              </a:rPr>
              <a:t>LightGray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"&gt;</a:t>
            </a:r>
          </a:p>
          <a:p>
            <a:endParaRPr lang="en-US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dirty="0" err="1">
                <a:solidFill>
                  <a:srgbClr val="0000FF"/>
                </a:solidFill>
                <a:latin typeface="Cascadia Mono" panose="020B0609020000020004" pitchFamily="49" charset="0"/>
              </a:rPr>
              <a:t>PosProp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="20"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ascadia Mono" panose="020B0609020000020004" pitchFamily="49" charset="0"/>
              </a:rPr>
              <a:t>BackgroundColor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dirty="0" err="1">
                <a:solidFill>
                  <a:srgbClr val="0000FF"/>
                </a:solidFill>
                <a:latin typeface="Cascadia Mono" panose="020B0609020000020004" pitchFamily="49" charset="0"/>
              </a:rPr>
              <a:t>LightBlue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ascadia Mono" panose="020B0609020000020004" pitchFamily="49" charset="0"/>
              </a:rPr>
              <a:t>AbsoluteLayout.LayoutBounds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="0.5,0.1,150,50"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ascadia Mono" panose="020B0609020000020004" pitchFamily="49" charset="0"/>
              </a:rPr>
              <a:t>AbsoluteLayout.LayoutFlags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dirty="0" err="1">
                <a:solidFill>
                  <a:srgbClr val="0000FF"/>
                </a:solidFill>
                <a:latin typeface="Cascadia Mono" panose="020B0609020000020004" pitchFamily="49" charset="0"/>
              </a:rPr>
              <a:t>PositionProportional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"/&gt;</a:t>
            </a:r>
          </a:p>
          <a:p>
            <a:endParaRPr lang="en-US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dirty="0" err="1">
                <a:solidFill>
                  <a:srgbClr val="A31515"/>
                </a:solidFill>
                <a:latin typeface="Cascadia Mono" panose="020B0609020000020004" pitchFamily="49" charset="0"/>
              </a:rPr>
              <a:t>AbsoluteLayout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US" dirty="0"/>
          </a:p>
        </p:txBody>
      </p:sp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7" y="617099"/>
            <a:ext cx="1173086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</a:t>
            </a:r>
            <a:r>
              <a:rPr lang="fr-FR" altLang="en-US" sz="2200" u="sng" dirty="0" err="1" smtClean="0">
                <a:latin typeface="Segoe UI Symbol" panose="020B0502040204020203" pitchFamily="34" charset="0"/>
              </a:rPr>
              <a:t>Absolute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 </a:t>
            </a:r>
            <a:r>
              <a:rPr lang="fr-FR" altLang="en-US" sz="2200" u="sng" dirty="0" err="1" smtClean="0">
                <a:latin typeface="Segoe UI Symbol" panose="020B0502040204020203" pitchFamily="34" charset="0"/>
              </a:rPr>
              <a:t>Layout</a:t>
            </a:r>
            <a:endParaRPr lang="fr-FR" altLang="en-US" sz="2200" u="sng" dirty="0" smtClean="0">
              <a:latin typeface="Segoe UI Symbol" panose="020B0502040204020203" pitchFamily="34" charset="0"/>
            </a:endParaRPr>
          </a:p>
          <a:p>
            <a:pPr eaLnBrk="1" hangingPunct="1"/>
            <a:endParaRPr lang="fr-FR" altLang="en-US" sz="2200" u="sng" dirty="0">
              <a:latin typeface="Segoe UI Symbol" panose="020B0502040204020203" pitchFamily="34" charset="0"/>
              <a:cs typeface="Times New Roman" panose="02020603050405020304" pitchFamily="18" charset="0"/>
            </a:endParaRPr>
          </a:p>
          <a:p>
            <a:pPr eaLnBrk="1" hangingPunct="1"/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Connecteur droit avec flèche 6"/>
          <p:cNvCxnSpPr>
            <a:stCxn id="9" idx="0"/>
          </p:cNvCxnSpPr>
          <p:nvPr/>
        </p:nvCxnSpPr>
        <p:spPr>
          <a:xfrm flipV="1">
            <a:off x="3006948" y="4217229"/>
            <a:ext cx="2578034" cy="1184532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072621" y="5401761"/>
            <a:ext cx="186865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 smtClean="0"/>
              <a:t>Position par apport au top</a:t>
            </a:r>
            <a:endParaRPr lang="fr-FR" sz="1200" b="1" dirty="0"/>
          </a:p>
        </p:txBody>
      </p:sp>
      <p:sp>
        <p:nvSpPr>
          <p:cNvPr id="13" name="Rectangle 12"/>
          <p:cNvSpPr/>
          <p:nvPr/>
        </p:nvSpPr>
        <p:spPr>
          <a:xfrm>
            <a:off x="4086299" y="5401762"/>
            <a:ext cx="202138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 smtClean="0"/>
              <a:t>Position par apport à gauche</a:t>
            </a:r>
            <a:endParaRPr lang="fr-FR" sz="1200" b="1" dirty="0"/>
          </a:p>
        </p:txBody>
      </p:sp>
      <p:cxnSp>
        <p:nvCxnSpPr>
          <p:cNvPr id="14" name="Connecteur droit avec flèche 13"/>
          <p:cNvCxnSpPr>
            <a:stCxn id="13" idx="0"/>
          </p:cNvCxnSpPr>
          <p:nvPr/>
        </p:nvCxnSpPr>
        <p:spPr>
          <a:xfrm flipV="1">
            <a:off x="5096993" y="4217229"/>
            <a:ext cx="1421828" cy="1184533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072972" y="4677892"/>
            <a:ext cx="66531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 smtClean="0"/>
              <a:t>Largeur</a:t>
            </a:r>
            <a:endParaRPr lang="fr-FR" sz="1200" b="1" dirty="0"/>
          </a:p>
        </p:txBody>
      </p:sp>
      <p:sp>
        <p:nvSpPr>
          <p:cNvPr id="18" name="Rectangle 17"/>
          <p:cNvSpPr/>
          <p:nvPr/>
        </p:nvSpPr>
        <p:spPr>
          <a:xfrm>
            <a:off x="8395960" y="4556099"/>
            <a:ext cx="7069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 smtClean="0"/>
              <a:t>Hauteur</a:t>
            </a:r>
            <a:endParaRPr lang="fr-FR" sz="1200" b="1" dirty="0"/>
          </a:p>
        </p:txBody>
      </p:sp>
      <p:cxnSp>
        <p:nvCxnSpPr>
          <p:cNvPr id="19" name="Connecteur droit avec flèche 18"/>
          <p:cNvCxnSpPr>
            <a:stCxn id="17" idx="0"/>
          </p:cNvCxnSpPr>
          <p:nvPr/>
        </p:nvCxnSpPr>
        <p:spPr>
          <a:xfrm flipV="1">
            <a:off x="6405627" y="4217229"/>
            <a:ext cx="578297" cy="460663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/>
          <p:cNvCxnSpPr>
            <a:stCxn id="18" idx="1"/>
          </p:cNvCxnSpPr>
          <p:nvPr/>
        </p:nvCxnSpPr>
        <p:spPr>
          <a:xfrm flipH="1" flipV="1">
            <a:off x="7484758" y="4217229"/>
            <a:ext cx="911202" cy="477370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496561" y="1130186"/>
            <a:ext cx="318112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X et Y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proportionnels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(0 à 1).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Taille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fixe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pixels.</a:t>
            </a:r>
          </a:p>
        </p:txBody>
      </p:sp>
    </p:spTree>
    <p:extLst>
      <p:ext uri="{BB962C8B-B14F-4D97-AF65-F5344CB8AC3E}">
        <p14:creationId xmlns:p14="http://schemas.microsoft.com/office/powerpoint/2010/main" val="3070605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131582" y="1332989"/>
            <a:ext cx="9307502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AbsoluteLayout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BackgroundColor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LightGray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"&gt;</a:t>
            </a:r>
          </a:p>
          <a:p>
            <a:endParaRPr lang="en-US" sz="1400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PosProp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="20"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BackgroundColor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LightBlue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AbsoluteLayout.LayoutBounds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="0.5,0.1,150,50"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AbsoluteLayout.LayoutFlags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PositionProportional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"/&gt;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AbsoluteLayout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BackgroundColor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LightGray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"&gt;</a:t>
            </a:r>
          </a:p>
          <a:p>
            <a:endParaRPr lang="en-US" sz="1400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SizeProp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="20"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BackgroundColor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LightGreen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AbsoluteLayout.LayoutBounds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="30,30,0.5,0.2"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AbsoluteLayout.LayoutFlags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SizeProportional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"/&gt;</a:t>
            </a:r>
          </a:p>
          <a:p>
            <a:endParaRPr lang="en-US" sz="1400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AbsoluteLayout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US" sz="1400" dirty="0"/>
          </a:p>
        </p:txBody>
      </p:sp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7" y="617099"/>
            <a:ext cx="1173086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</a:t>
            </a:r>
            <a:r>
              <a:rPr lang="fr-FR" altLang="en-US" sz="2200" u="sng" dirty="0" err="1" smtClean="0">
                <a:latin typeface="Segoe UI Symbol" panose="020B0502040204020203" pitchFamily="34" charset="0"/>
              </a:rPr>
              <a:t>Absolute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 </a:t>
            </a:r>
            <a:r>
              <a:rPr lang="fr-FR" altLang="en-US" sz="2200" u="sng" dirty="0" err="1" smtClean="0">
                <a:latin typeface="Segoe UI Symbol" panose="020B0502040204020203" pitchFamily="34" charset="0"/>
              </a:rPr>
              <a:t>Layout</a:t>
            </a:r>
            <a:endParaRPr lang="fr-FR" altLang="en-US" sz="2200" u="sng" dirty="0" smtClean="0">
              <a:latin typeface="Segoe UI Symbol" panose="020B0502040204020203" pitchFamily="34" charset="0"/>
            </a:endParaRPr>
          </a:p>
          <a:p>
            <a:pPr eaLnBrk="1" hangingPunct="1"/>
            <a:endParaRPr lang="fr-FR" altLang="en-US" sz="2200" u="sng" dirty="0">
              <a:latin typeface="Segoe UI Symbol" panose="020B0502040204020203" pitchFamily="34" charset="0"/>
              <a:cs typeface="Times New Roman" panose="02020603050405020304" pitchFamily="18" charset="0"/>
            </a:endParaRPr>
          </a:p>
          <a:p>
            <a:pPr eaLnBrk="1" hangingPunct="1"/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Connecteur droit avec flèche 6"/>
          <p:cNvCxnSpPr>
            <a:stCxn id="9" idx="0"/>
          </p:cNvCxnSpPr>
          <p:nvPr/>
        </p:nvCxnSpPr>
        <p:spPr>
          <a:xfrm flipV="1">
            <a:off x="3006948" y="4123883"/>
            <a:ext cx="3041453" cy="1277878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072621" y="5401761"/>
            <a:ext cx="186865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 smtClean="0"/>
              <a:t>Position par apport au top</a:t>
            </a:r>
            <a:endParaRPr lang="fr-FR" sz="1200" b="1" dirty="0"/>
          </a:p>
        </p:txBody>
      </p:sp>
      <p:sp>
        <p:nvSpPr>
          <p:cNvPr id="13" name="Rectangle 12"/>
          <p:cNvSpPr/>
          <p:nvPr/>
        </p:nvSpPr>
        <p:spPr>
          <a:xfrm>
            <a:off x="4086299" y="5401762"/>
            <a:ext cx="202138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 smtClean="0"/>
              <a:t>Position par apport à gauche</a:t>
            </a:r>
            <a:endParaRPr lang="fr-FR" sz="1200" b="1" dirty="0"/>
          </a:p>
        </p:txBody>
      </p:sp>
      <p:cxnSp>
        <p:nvCxnSpPr>
          <p:cNvPr id="14" name="Connecteur droit avec flèche 13"/>
          <p:cNvCxnSpPr>
            <a:stCxn id="13" idx="0"/>
          </p:cNvCxnSpPr>
          <p:nvPr/>
        </p:nvCxnSpPr>
        <p:spPr>
          <a:xfrm flipV="1">
            <a:off x="5096993" y="4123882"/>
            <a:ext cx="1303613" cy="1277880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072972" y="4677892"/>
            <a:ext cx="66531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 smtClean="0"/>
              <a:t>Largeur</a:t>
            </a:r>
            <a:endParaRPr lang="fr-FR" sz="1200" b="1" dirty="0"/>
          </a:p>
        </p:txBody>
      </p:sp>
      <p:sp>
        <p:nvSpPr>
          <p:cNvPr id="18" name="Rectangle 17"/>
          <p:cNvSpPr/>
          <p:nvPr/>
        </p:nvSpPr>
        <p:spPr>
          <a:xfrm>
            <a:off x="8395960" y="4556099"/>
            <a:ext cx="7069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 smtClean="0"/>
              <a:t>Hauteur</a:t>
            </a:r>
            <a:endParaRPr lang="fr-FR" sz="1200" b="1" dirty="0"/>
          </a:p>
        </p:txBody>
      </p:sp>
      <p:cxnSp>
        <p:nvCxnSpPr>
          <p:cNvPr id="19" name="Connecteur droit avec flèche 18"/>
          <p:cNvCxnSpPr>
            <a:stCxn id="17" idx="0"/>
          </p:cNvCxnSpPr>
          <p:nvPr/>
        </p:nvCxnSpPr>
        <p:spPr>
          <a:xfrm flipV="1">
            <a:off x="6405627" y="4123881"/>
            <a:ext cx="372143" cy="554011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/>
          <p:cNvCxnSpPr>
            <a:stCxn id="18" idx="1"/>
          </p:cNvCxnSpPr>
          <p:nvPr/>
        </p:nvCxnSpPr>
        <p:spPr>
          <a:xfrm flipH="1" flipV="1">
            <a:off x="7339423" y="4123881"/>
            <a:ext cx="1056537" cy="570718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422821" y="1015129"/>
            <a:ext cx="675383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Taille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proportionnelle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au parent (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largeur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et hauteur entre 0 et 1).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Position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absolue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8453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42256" y="249047"/>
            <a:ext cx="1173086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</a:t>
            </a:r>
            <a:r>
              <a:rPr lang="fr-FR" altLang="en-US" sz="2200" u="sng" dirty="0" err="1" smtClean="0">
                <a:latin typeface="Segoe UI Symbol" panose="020B0502040204020203" pitchFamily="34" charset="0"/>
              </a:rPr>
              <a:t>Absolute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 </a:t>
            </a:r>
            <a:r>
              <a:rPr lang="fr-FR" altLang="en-US" sz="2200" u="sng" dirty="0" err="1" smtClean="0">
                <a:latin typeface="Segoe UI Symbol" panose="020B0502040204020203" pitchFamily="34" charset="0"/>
              </a:rPr>
              <a:t>Layout</a:t>
            </a:r>
            <a:endParaRPr lang="fr-FR" altLang="en-US" sz="2200" u="sng" dirty="0" smtClean="0">
              <a:latin typeface="Segoe UI Symbol" panose="020B0502040204020203" pitchFamily="34" charset="0"/>
            </a:endParaRPr>
          </a:p>
          <a:p>
            <a:pPr eaLnBrk="1" hangingPunct="1"/>
            <a:endParaRPr lang="fr-FR" altLang="en-US" sz="2200" u="sng" dirty="0">
              <a:latin typeface="Segoe UI Symbol" panose="020B0502040204020203" pitchFamily="34" charset="0"/>
              <a:cs typeface="Times New Roman" panose="02020603050405020304" pitchFamily="18" charset="0"/>
            </a:endParaRPr>
          </a:p>
          <a:p>
            <a:pPr eaLnBrk="1" hangingPunct="1"/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Connecteur droit avec flèche 6"/>
          <p:cNvCxnSpPr>
            <a:stCxn id="9" idx="0"/>
          </p:cNvCxnSpPr>
          <p:nvPr/>
        </p:nvCxnSpPr>
        <p:spPr>
          <a:xfrm flipV="1">
            <a:off x="3006948" y="4123883"/>
            <a:ext cx="3041453" cy="1277878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072621" y="5401761"/>
            <a:ext cx="186865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 smtClean="0"/>
              <a:t>Position par apport au top</a:t>
            </a:r>
            <a:endParaRPr lang="fr-FR" sz="1200" b="1" dirty="0"/>
          </a:p>
        </p:txBody>
      </p:sp>
      <p:sp>
        <p:nvSpPr>
          <p:cNvPr id="13" name="Rectangle 12"/>
          <p:cNvSpPr/>
          <p:nvPr/>
        </p:nvSpPr>
        <p:spPr>
          <a:xfrm>
            <a:off x="4086299" y="5401762"/>
            <a:ext cx="202138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 smtClean="0"/>
              <a:t>Position par apport à gauche</a:t>
            </a:r>
            <a:endParaRPr lang="fr-FR" sz="1200" b="1" dirty="0"/>
          </a:p>
        </p:txBody>
      </p:sp>
      <p:cxnSp>
        <p:nvCxnSpPr>
          <p:cNvPr id="14" name="Connecteur droit avec flèche 13"/>
          <p:cNvCxnSpPr>
            <a:stCxn id="13" idx="0"/>
          </p:cNvCxnSpPr>
          <p:nvPr/>
        </p:nvCxnSpPr>
        <p:spPr>
          <a:xfrm flipV="1">
            <a:off x="5096993" y="4123882"/>
            <a:ext cx="1303613" cy="1277880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072972" y="4677892"/>
            <a:ext cx="66531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 smtClean="0"/>
              <a:t>Largeur</a:t>
            </a:r>
            <a:endParaRPr lang="fr-FR" sz="1200" b="1" dirty="0"/>
          </a:p>
        </p:txBody>
      </p:sp>
      <p:sp>
        <p:nvSpPr>
          <p:cNvPr id="18" name="Rectangle 17"/>
          <p:cNvSpPr/>
          <p:nvPr/>
        </p:nvSpPr>
        <p:spPr>
          <a:xfrm>
            <a:off x="8395960" y="4556099"/>
            <a:ext cx="7069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 smtClean="0"/>
              <a:t>Hauteur</a:t>
            </a:r>
            <a:endParaRPr lang="fr-FR" sz="1200" b="1" dirty="0"/>
          </a:p>
        </p:txBody>
      </p:sp>
      <p:cxnSp>
        <p:nvCxnSpPr>
          <p:cNvPr id="19" name="Connecteur droit avec flèche 18"/>
          <p:cNvCxnSpPr>
            <a:stCxn id="17" idx="0"/>
          </p:cNvCxnSpPr>
          <p:nvPr/>
        </p:nvCxnSpPr>
        <p:spPr>
          <a:xfrm flipV="1">
            <a:off x="6405627" y="4123881"/>
            <a:ext cx="372143" cy="554011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/>
          <p:cNvCxnSpPr>
            <a:stCxn id="18" idx="1"/>
          </p:cNvCxnSpPr>
          <p:nvPr/>
        </p:nvCxnSpPr>
        <p:spPr>
          <a:xfrm flipH="1" flipV="1">
            <a:off x="7339423" y="4123881"/>
            <a:ext cx="1056537" cy="570718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51226" y="670363"/>
            <a:ext cx="274850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Largeur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proportionnelle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Hauteur fixe (pixels).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Position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absolue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1915598" y="2091500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dirty="0" err="1">
                <a:solidFill>
                  <a:srgbClr val="A31515"/>
                </a:solidFill>
                <a:latin typeface="Cascadia Mono" panose="020B0609020000020004" pitchFamily="49" charset="0"/>
              </a:rPr>
              <a:t>AbsoluteLayout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ascadia Mono" panose="020B0609020000020004" pitchFamily="49" charset="0"/>
              </a:rPr>
              <a:t>BackgroundColor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dirty="0" err="1">
                <a:solidFill>
                  <a:srgbClr val="0000FF"/>
                </a:solidFill>
                <a:latin typeface="Cascadia Mono" panose="020B0609020000020004" pitchFamily="49" charset="0"/>
              </a:rPr>
              <a:t>LightGray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"&gt;</a:t>
            </a:r>
          </a:p>
          <a:p>
            <a:endParaRPr lang="en-US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dirty="0" err="1">
                <a:solidFill>
                  <a:srgbClr val="0000FF"/>
                </a:solidFill>
                <a:latin typeface="Cascadia Mono" panose="020B0609020000020004" pitchFamily="49" charset="0"/>
              </a:rPr>
              <a:t>WidthProp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="20"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ascadia Mono" panose="020B0609020000020004" pitchFamily="49" charset="0"/>
              </a:rPr>
              <a:t>BackgroundColor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="Pink"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ascadia Mono" panose="020B0609020000020004" pitchFamily="49" charset="0"/>
              </a:rPr>
              <a:t>AbsoluteLayout.LayoutBounds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="30,30,0.5,50"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ascadia Mono" panose="020B0609020000020004" pitchFamily="49" charset="0"/>
              </a:rPr>
              <a:t>AbsoluteLayout.LayoutFlags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dirty="0" err="1">
                <a:solidFill>
                  <a:srgbClr val="0000FF"/>
                </a:solidFill>
                <a:latin typeface="Cascadia Mono" panose="020B0609020000020004" pitchFamily="49" charset="0"/>
              </a:rPr>
              <a:t>WidthProportional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"/&gt;</a:t>
            </a:r>
          </a:p>
          <a:p>
            <a:endParaRPr lang="en-US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dirty="0" err="1">
                <a:solidFill>
                  <a:srgbClr val="A31515"/>
                </a:solidFill>
                <a:latin typeface="Cascadia Mono" panose="020B0609020000020004" pitchFamily="49" charset="0"/>
              </a:rPr>
              <a:t>AbsoluteLayout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11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654219" y="1736380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dirty="0" err="1">
                <a:solidFill>
                  <a:srgbClr val="A31515"/>
                </a:solidFill>
                <a:latin typeface="Cascadia Mono" panose="020B0609020000020004" pitchFamily="49" charset="0"/>
              </a:rPr>
              <a:t>AbsoluteLayout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ascadia Mono" panose="020B0609020000020004" pitchFamily="49" charset="0"/>
              </a:rPr>
              <a:t>BackgroundColor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dirty="0" err="1">
                <a:solidFill>
                  <a:srgbClr val="0000FF"/>
                </a:solidFill>
                <a:latin typeface="Cascadia Mono" panose="020B0609020000020004" pitchFamily="49" charset="0"/>
              </a:rPr>
              <a:t>LightGray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"&gt;</a:t>
            </a:r>
          </a:p>
          <a:p>
            <a:endParaRPr lang="en-US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dirty="0" err="1">
                <a:solidFill>
                  <a:srgbClr val="0000FF"/>
                </a:solidFill>
                <a:latin typeface="Cascadia Mono" panose="020B0609020000020004" pitchFamily="49" charset="0"/>
              </a:rPr>
              <a:t>HeightProp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="20"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ascadia Mono" panose="020B0609020000020004" pitchFamily="49" charset="0"/>
              </a:rPr>
              <a:t>BackgroundColor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="Yellow"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ascadia Mono" panose="020B0609020000020004" pitchFamily="49" charset="0"/>
              </a:rPr>
              <a:t>AbsoluteLayout.LayoutBounds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="30,30,150,0.2"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ascadia Mono" panose="020B0609020000020004" pitchFamily="49" charset="0"/>
              </a:rPr>
              <a:t>AbsoluteLayout.LayoutFlags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dirty="0" err="1">
                <a:solidFill>
                  <a:srgbClr val="0000FF"/>
                </a:solidFill>
                <a:latin typeface="Cascadia Mono" panose="020B0609020000020004" pitchFamily="49" charset="0"/>
              </a:rPr>
              <a:t>HeightProportional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"/&gt;</a:t>
            </a:r>
          </a:p>
          <a:p>
            <a:endParaRPr lang="en-US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dirty="0" err="1">
                <a:solidFill>
                  <a:srgbClr val="A31515"/>
                </a:solidFill>
                <a:latin typeface="Cascadia Mono" panose="020B0609020000020004" pitchFamily="49" charset="0"/>
              </a:rPr>
              <a:t>AbsoluteLayout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US" dirty="0"/>
          </a:p>
        </p:txBody>
      </p:sp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42256" y="249047"/>
            <a:ext cx="1173086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</a:t>
            </a:r>
            <a:r>
              <a:rPr lang="fr-FR" altLang="en-US" sz="2200" u="sng" dirty="0" err="1" smtClean="0">
                <a:latin typeface="Segoe UI Symbol" panose="020B0502040204020203" pitchFamily="34" charset="0"/>
              </a:rPr>
              <a:t>Absolute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 </a:t>
            </a:r>
            <a:r>
              <a:rPr lang="fr-FR" altLang="en-US" sz="2200" u="sng" dirty="0" err="1" smtClean="0">
                <a:latin typeface="Segoe UI Symbol" panose="020B0502040204020203" pitchFamily="34" charset="0"/>
              </a:rPr>
              <a:t>Layout</a:t>
            </a:r>
            <a:endParaRPr lang="fr-FR" altLang="en-US" sz="2200" u="sng" dirty="0" smtClean="0">
              <a:latin typeface="Segoe UI Symbol" panose="020B0502040204020203" pitchFamily="34" charset="0"/>
            </a:endParaRPr>
          </a:p>
          <a:p>
            <a:pPr eaLnBrk="1" hangingPunct="1"/>
            <a:endParaRPr lang="fr-FR" altLang="en-US" sz="2200" u="sng" dirty="0">
              <a:latin typeface="Segoe UI Symbol" panose="020B0502040204020203" pitchFamily="34" charset="0"/>
              <a:cs typeface="Times New Roman" panose="02020603050405020304" pitchFamily="18" charset="0"/>
            </a:endParaRPr>
          </a:p>
          <a:p>
            <a:pPr eaLnBrk="1" hangingPunct="1"/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Connecteur droit avec flèche 6"/>
          <p:cNvCxnSpPr>
            <a:stCxn id="9" idx="0"/>
          </p:cNvCxnSpPr>
          <p:nvPr/>
        </p:nvCxnSpPr>
        <p:spPr>
          <a:xfrm flipV="1">
            <a:off x="2599229" y="3736323"/>
            <a:ext cx="3104001" cy="1554878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664902" y="5291201"/>
            <a:ext cx="186865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 smtClean="0"/>
              <a:t>Position par apport au top</a:t>
            </a:r>
            <a:endParaRPr lang="fr-FR" sz="1200" b="1" dirty="0"/>
          </a:p>
        </p:txBody>
      </p:sp>
      <p:sp>
        <p:nvSpPr>
          <p:cNvPr id="13" name="Rectangle 12"/>
          <p:cNvSpPr/>
          <p:nvPr/>
        </p:nvSpPr>
        <p:spPr>
          <a:xfrm>
            <a:off x="3741128" y="5014202"/>
            <a:ext cx="202138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 smtClean="0"/>
              <a:t>Position par apport à gauche</a:t>
            </a:r>
            <a:endParaRPr lang="fr-FR" sz="1200" b="1" dirty="0"/>
          </a:p>
        </p:txBody>
      </p:sp>
      <p:cxnSp>
        <p:nvCxnSpPr>
          <p:cNvPr id="14" name="Connecteur droit avec flèche 13"/>
          <p:cNvCxnSpPr>
            <a:stCxn id="13" idx="0"/>
          </p:cNvCxnSpPr>
          <p:nvPr/>
        </p:nvCxnSpPr>
        <p:spPr>
          <a:xfrm flipV="1">
            <a:off x="4751822" y="3720642"/>
            <a:ext cx="1367919" cy="1293560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179819" y="4861050"/>
            <a:ext cx="66531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 smtClean="0"/>
              <a:t>Largeur</a:t>
            </a:r>
            <a:endParaRPr lang="fr-FR" sz="1200" b="1" dirty="0"/>
          </a:p>
        </p:txBody>
      </p:sp>
      <p:sp>
        <p:nvSpPr>
          <p:cNvPr id="18" name="Rectangle 17"/>
          <p:cNvSpPr/>
          <p:nvPr/>
        </p:nvSpPr>
        <p:spPr>
          <a:xfrm>
            <a:off x="8050789" y="4168539"/>
            <a:ext cx="7069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 smtClean="0"/>
              <a:t>Hauteur</a:t>
            </a:r>
            <a:endParaRPr lang="fr-FR" sz="1200" b="1" dirty="0"/>
          </a:p>
        </p:txBody>
      </p:sp>
      <p:cxnSp>
        <p:nvCxnSpPr>
          <p:cNvPr id="19" name="Connecteur droit avec flèche 18"/>
          <p:cNvCxnSpPr/>
          <p:nvPr/>
        </p:nvCxnSpPr>
        <p:spPr>
          <a:xfrm flipV="1">
            <a:off x="6467412" y="3719642"/>
            <a:ext cx="213305" cy="1126757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/>
          <p:cNvCxnSpPr>
            <a:stCxn id="18" idx="1"/>
          </p:cNvCxnSpPr>
          <p:nvPr/>
        </p:nvCxnSpPr>
        <p:spPr>
          <a:xfrm flipH="1" flipV="1">
            <a:off x="7241695" y="3736321"/>
            <a:ext cx="809094" cy="570718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81505" y="640460"/>
            <a:ext cx="279621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Hauteur proportionnelle.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Largeur fixe (pixels).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Position absolue.</a:t>
            </a:r>
          </a:p>
        </p:txBody>
      </p:sp>
    </p:spTree>
    <p:extLst>
      <p:ext uri="{BB962C8B-B14F-4D97-AF65-F5344CB8AC3E}">
        <p14:creationId xmlns:p14="http://schemas.microsoft.com/office/powerpoint/2010/main" val="1597514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806596" y="1721729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dirty="0" err="1">
                <a:solidFill>
                  <a:srgbClr val="A31515"/>
                </a:solidFill>
                <a:latin typeface="Cascadia Mono" panose="020B0609020000020004" pitchFamily="49" charset="0"/>
              </a:rPr>
              <a:t>AbsoluteLayout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ascadia Mono" panose="020B0609020000020004" pitchFamily="49" charset="0"/>
              </a:rPr>
              <a:t>BackgroundColor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dirty="0" err="1">
                <a:solidFill>
                  <a:srgbClr val="0000FF"/>
                </a:solidFill>
                <a:latin typeface="Cascadia Mono" panose="020B0609020000020004" pitchFamily="49" charset="0"/>
              </a:rPr>
              <a:t>LightGray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"&gt;</a:t>
            </a:r>
          </a:p>
          <a:p>
            <a:endParaRPr lang="en-US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dirty="0" err="1">
                <a:solidFill>
                  <a:srgbClr val="0000FF"/>
                </a:solidFill>
                <a:latin typeface="Cascadia Mono" panose="020B0609020000020004" pitchFamily="49" charset="0"/>
              </a:rPr>
              <a:t>XProp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="20"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ascadia Mono" panose="020B0609020000020004" pitchFamily="49" charset="0"/>
              </a:rPr>
              <a:t>BackgroundColor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="Violet"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ascadia Mono" panose="020B0609020000020004" pitchFamily="49" charset="0"/>
              </a:rPr>
              <a:t>AbsoluteLayout.LayoutBounds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="0.7,30,150,50"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ascadia Mono" panose="020B0609020000020004" pitchFamily="49" charset="0"/>
              </a:rPr>
              <a:t>AbsoluteLayout.LayoutFlags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dirty="0" err="1">
                <a:solidFill>
                  <a:srgbClr val="0000FF"/>
                </a:solidFill>
                <a:latin typeface="Cascadia Mono" panose="020B0609020000020004" pitchFamily="49" charset="0"/>
              </a:rPr>
              <a:t>XProportional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"/&gt;</a:t>
            </a:r>
          </a:p>
          <a:p>
            <a:endParaRPr lang="en-US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dirty="0" err="1">
                <a:solidFill>
                  <a:srgbClr val="A31515"/>
                </a:solidFill>
                <a:latin typeface="Cascadia Mono" panose="020B0609020000020004" pitchFamily="49" charset="0"/>
              </a:rPr>
              <a:t>AbsoluteLayout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US" dirty="0"/>
          </a:p>
        </p:txBody>
      </p:sp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42256" y="249047"/>
            <a:ext cx="1173086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</a:t>
            </a:r>
            <a:r>
              <a:rPr lang="fr-FR" altLang="en-US" sz="2200" u="sng" dirty="0" err="1" smtClean="0">
                <a:latin typeface="Segoe UI Symbol" panose="020B0502040204020203" pitchFamily="34" charset="0"/>
              </a:rPr>
              <a:t>Absolute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 </a:t>
            </a:r>
            <a:r>
              <a:rPr lang="fr-FR" altLang="en-US" sz="2200" u="sng" dirty="0" err="1" smtClean="0">
                <a:latin typeface="Segoe UI Symbol" panose="020B0502040204020203" pitchFamily="34" charset="0"/>
              </a:rPr>
              <a:t>Layout</a:t>
            </a:r>
            <a:endParaRPr lang="fr-FR" altLang="en-US" sz="2200" u="sng" dirty="0" smtClean="0">
              <a:latin typeface="Segoe UI Symbol" panose="020B0502040204020203" pitchFamily="34" charset="0"/>
            </a:endParaRPr>
          </a:p>
          <a:p>
            <a:pPr eaLnBrk="1" hangingPunct="1"/>
            <a:endParaRPr lang="fr-FR" altLang="en-US" sz="2200" u="sng" dirty="0">
              <a:latin typeface="Segoe UI Symbol" panose="020B0502040204020203" pitchFamily="34" charset="0"/>
              <a:cs typeface="Times New Roman" panose="02020603050405020304" pitchFamily="18" charset="0"/>
            </a:endParaRPr>
          </a:p>
          <a:p>
            <a:pPr eaLnBrk="1" hangingPunct="1"/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Connecteur droit avec flèche 6"/>
          <p:cNvCxnSpPr>
            <a:stCxn id="9" idx="0"/>
          </p:cNvCxnSpPr>
          <p:nvPr/>
        </p:nvCxnSpPr>
        <p:spPr>
          <a:xfrm flipV="1">
            <a:off x="2599229" y="3663656"/>
            <a:ext cx="3304839" cy="1627545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664902" y="5291201"/>
            <a:ext cx="186865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 smtClean="0"/>
              <a:t>Position par apport au top</a:t>
            </a:r>
            <a:endParaRPr lang="fr-FR" sz="1200" b="1" dirty="0"/>
          </a:p>
        </p:txBody>
      </p:sp>
      <p:sp>
        <p:nvSpPr>
          <p:cNvPr id="13" name="Rectangle 12"/>
          <p:cNvSpPr/>
          <p:nvPr/>
        </p:nvSpPr>
        <p:spPr>
          <a:xfrm>
            <a:off x="3741128" y="5014202"/>
            <a:ext cx="202138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 smtClean="0"/>
              <a:t>Position par apport à gauche</a:t>
            </a:r>
            <a:endParaRPr lang="fr-FR" sz="1200" b="1" dirty="0"/>
          </a:p>
        </p:txBody>
      </p:sp>
      <p:cxnSp>
        <p:nvCxnSpPr>
          <p:cNvPr id="14" name="Connecteur droit avec flèche 13"/>
          <p:cNvCxnSpPr>
            <a:stCxn id="13" idx="0"/>
          </p:cNvCxnSpPr>
          <p:nvPr/>
        </p:nvCxnSpPr>
        <p:spPr>
          <a:xfrm flipV="1">
            <a:off x="4751822" y="3719642"/>
            <a:ext cx="1642922" cy="1294560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179819" y="4861050"/>
            <a:ext cx="66531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 smtClean="0"/>
              <a:t>Largeur</a:t>
            </a:r>
            <a:endParaRPr lang="fr-FR" sz="1200" b="1" dirty="0"/>
          </a:p>
        </p:txBody>
      </p:sp>
      <p:sp>
        <p:nvSpPr>
          <p:cNvPr id="18" name="Rectangle 17"/>
          <p:cNvSpPr/>
          <p:nvPr/>
        </p:nvSpPr>
        <p:spPr>
          <a:xfrm>
            <a:off x="8050789" y="4168539"/>
            <a:ext cx="7069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 smtClean="0"/>
              <a:t>Hauteur</a:t>
            </a:r>
            <a:endParaRPr lang="fr-FR" sz="1200" b="1" dirty="0"/>
          </a:p>
        </p:txBody>
      </p:sp>
      <p:cxnSp>
        <p:nvCxnSpPr>
          <p:cNvPr id="19" name="Connecteur droit avec flèche 18"/>
          <p:cNvCxnSpPr/>
          <p:nvPr/>
        </p:nvCxnSpPr>
        <p:spPr>
          <a:xfrm flipV="1">
            <a:off x="6467412" y="3719642"/>
            <a:ext cx="447350" cy="1126758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/>
          <p:cNvCxnSpPr>
            <a:stCxn id="18" idx="1"/>
          </p:cNvCxnSpPr>
          <p:nvPr/>
        </p:nvCxnSpPr>
        <p:spPr>
          <a:xfrm flipH="1" flipV="1">
            <a:off x="7405438" y="3719642"/>
            <a:ext cx="645351" cy="587397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71412" y="670738"/>
            <a:ext cx="263129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X proportionnel (0 à 1).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Y fixe (pixels).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Taille fixe.</a:t>
            </a:r>
          </a:p>
        </p:txBody>
      </p:sp>
    </p:spTree>
    <p:extLst>
      <p:ext uri="{BB962C8B-B14F-4D97-AF65-F5344CB8AC3E}">
        <p14:creationId xmlns:p14="http://schemas.microsoft.com/office/powerpoint/2010/main" val="502320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42256" y="249047"/>
            <a:ext cx="1173086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</a:t>
            </a:r>
            <a:r>
              <a:rPr lang="fr-FR" altLang="en-US" sz="2200" u="sng" dirty="0" err="1" smtClean="0">
                <a:latin typeface="Segoe UI Symbol" panose="020B0502040204020203" pitchFamily="34" charset="0"/>
              </a:rPr>
              <a:t>Absolute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 </a:t>
            </a:r>
            <a:r>
              <a:rPr lang="fr-FR" altLang="en-US" sz="2200" u="sng" dirty="0" err="1" smtClean="0">
                <a:latin typeface="Segoe UI Symbol" panose="020B0502040204020203" pitchFamily="34" charset="0"/>
              </a:rPr>
              <a:t>Layout</a:t>
            </a:r>
            <a:endParaRPr lang="fr-FR" altLang="en-US" sz="2200" u="sng" dirty="0" smtClean="0">
              <a:latin typeface="Segoe UI Symbol" panose="020B0502040204020203" pitchFamily="34" charset="0"/>
            </a:endParaRPr>
          </a:p>
          <a:p>
            <a:pPr eaLnBrk="1" hangingPunct="1"/>
            <a:endParaRPr lang="fr-FR" altLang="en-US" sz="2200" u="sng" dirty="0">
              <a:latin typeface="Segoe UI Symbol" panose="020B0502040204020203" pitchFamily="34" charset="0"/>
              <a:cs typeface="Times New Roman" panose="02020603050405020304" pitchFamily="18" charset="0"/>
            </a:endParaRPr>
          </a:p>
          <a:p>
            <a:pPr eaLnBrk="1" hangingPunct="1"/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Connecteur droit avec flèche 6"/>
          <p:cNvCxnSpPr>
            <a:stCxn id="9" idx="0"/>
          </p:cNvCxnSpPr>
          <p:nvPr/>
        </p:nvCxnSpPr>
        <p:spPr>
          <a:xfrm flipV="1">
            <a:off x="2599229" y="3663656"/>
            <a:ext cx="3304839" cy="1627545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664902" y="5291201"/>
            <a:ext cx="186865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 smtClean="0"/>
              <a:t>Position par apport au top</a:t>
            </a:r>
            <a:endParaRPr lang="fr-FR" sz="1200" b="1" dirty="0"/>
          </a:p>
        </p:txBody>
      </p:sp>
      <p:sp>
        <p:nvSpPr>
          <p:cNvPr id="13" name="Rectangle 12"/>
          <p:cNvSpPr/>
          <p:nvPr/>
        </p:nvSpPr>
        <p:spPr>
          <a:xfrm>
            <a:off x="3741128" y="5014202"/>
            <a:ext cx="202138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 smtClean="0"/>
              <a:t>Position par apport à gauche</a:t>
            </a:r>
            <a:endParaRPr lang="fr-FR" sz="1200" b="1" dirty="0"/>
          </a:p>
        </p:txBody>
      </p:sp>
      <p:cxnSp>
        <p:nvCxnSpPr>
          <p:cNvPr id="14" name="Connecteur droit avec flèche 13"/>
          <p:cNvCxnSpPr>
            <a:stCxn id="13" idx="0"/>
          </p:cNvCxnSpPr>
          <p:nvPr/>
        </p:nvCxnSpPr>
        <p:spPr>
          <a:xfrm flipV="1">
            <a:off x="4751822" y="3719642"/>
            <a:ext cx="1642922" cy="1294560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179819" y="4861050"/>
            <a:ext cx="66531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 smtClean="0"/>
              <a:t>Largeur</a:t>
            </a:r>
            <a:endParaRPr lang="fr-FR" sz="1200" b="1" dirty="0"/>
          </a:p>
        </p:txBody>
      </p:sp>
      <p:sp>
        <p:nvSpPr>
          <p:cNvPr id="18" name="Rectangle 17"/>
          <p:cNvSpPr/>
          <p:nvPr/>
        </p:nvSpPr>
        <p:spPr>
          <a:xfrm>
            <a:off x="8050789" y="4168539"/>
            <a:ext cx="7069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 smtClean="0"/>
              <a:t>Hauteur</a:t>
            </a:r>
            <a:endParaRPr lang="fr-FR" sz="1200" b="1" dirty="0"/>
          </a:p>
        </p:txBody>
      </p:sp>
      <p:cxnSp>
        <p:nvCxnSpPr>
          <p:cNvPr id="19" name="Connecteur droit avec flèche 18"/>
          <p:cNvCxnSpPr/>
          <p:nvPr/>
        </p:nvCxnSpPr>
        <p:spPr>
          <a:xfrm flipV="1">
            <a:off x="6467412" y="3719642"/>
            <a:ext cx="447350" cy="1126758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/>
          <p:cNvCxnSpPr>
            <a:stCxn id="18" idx="1"/>
          </p:cNvCxnSpPr>
          <p:nvPr/>
        </p:nvCxnSpPr>
        <p:spPr>
          <a:xfrm flipH="1" flipV="1">
            <a:off x="7405438" y="3719642"/>
            <a:ext cx="645351" cy="587397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71412" y="670738"/>
            <a:ext cx="262328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proportionnel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(0 à 1).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X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fixe (pixels).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Taille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fixe.</a:t>
            </a:r>
          </a:p>
        </p:txBody>
      </p:sp>
      <p:sp>
        <p:nvSpPr>
          <p:cNvPr id="3" name="Rectangle 2"/>
          <p:cNvSpPr/>
          <p:nvPr/>
        </p:nvSpPr>
        <p:spPr>
          <a:xfrm>
            <a:off x="1954789" y="1430080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dirty="0" err="1">
                <a:solidFill>
                  <a:srgbClr val="A31515"/>
                </a:solidFill>
                <a:latin typeface="Cascadia Mono" panose="020B0609020000020004" pitchFamily="49" charset="0"/>
              </a:rPr>
              <a:t>AbsoluteLayout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ascadia Mono" panose="020B0609020000020004" pitchFamily="49" charset="0"/>
              </a:rPr>
              <a:t>BackgroundColor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dirty="0" err="1">
                <a:solidFill>
                  <a:srgbClr val="0000FF"/>
                </a:solidFill>
                <a:latin typeface="Cascadia Mono" panose="020B0609020000020004" pitchFamily="49" charset="0"/>
              </a:rPr>
              <a:t>LightGray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"&gt;</a:t>
            </a:r>
          </a:p>
          <a:p>
            <a:endParaRPr lang="en-US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dirty="0" err="1">
                <a:solidFill>
                  <a:srgbClr val="0000FF"/>
                </a:solidFill>
                <a:latin typeface="Cascadia Mono" panose="020B0609020000020004" pitchFamily="49" charset="0"/>
              </a:rPr>
              <a:t>YProp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="20"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ascadia Mono" panose="020B0609020000020004" pitchFamily="49" charset="0"/>
              </a:rPr>
              <a:t>BackgroundColor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="Salmon"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ascadia Mono" panose="020B0609020000020004" pitchFamily="49" charset="0"/>
              </a:rPr>
              <a:t>AbsoluteLayout.LayoutBounds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="30,0.7,150,50"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ascadia Mono" panose="020B0609020000020004" pitchFamily="49" charset="0"/>
              </a:rPr>
              <a:t>AbsoluteLayout.LayoutFlags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dirty="0" err="1">
                <a:solidFill>
                  <a:srgbClr val="0000FF"/>
                </a:solidFill>
                <a:latin typeface="Cascadia Mono" panose="020B0609020000020004" pitchFamily="49" charset="0"/>
              </a:rPr>
              <a:t>YProportional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"/&gt;</a:t>
            </a:r>
          </a:p>
          <a:p>
            <a:endParaRPr lang="en-US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dirty="0" err="1">
                <a:solidFill>
                  <a:srgbClr val="A31515"/>
                </a:solidFill>
                <a:latin typeface="Cascadia Mono" panose="020B0609020000020004" pitchFamily="49" charset="0"/>
              </a:rPr>
              <a:t>AbsoluteLayout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7613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7" y="617099"/>
            <a:ext cx="11730860" cy="2000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Flex Layout</a:t>
            </a:r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Un </a:t>
            </a:r>
            <a:r>
              <a:rPr lang="fr-FR" b="1" dirty="0" err="1">
                <a:latin typeface="Segoe UI" panose="020B0502040204020203" pitchFamily="34" charset="0"/>
                <a:cs typeface="Segoe UI" panose="020B0502040204020203" pitchFamily="34" charset="0"/>
              </a:rPr>
              <a:t>FlexLayout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 est similaire à un 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Stack Layout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dont il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affiche les éléments enfants horizontalement ou verticalement dans une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pile, toute fois il ajoute d’autres capacités pour ajuster la disposition des contrôles enfants pour plus d’optimisation</a:t>
            </a: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Les propriétés les plus importantes du 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Flex 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Layout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sont:</a:t>
            </a: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7" y="-3164750"/>
            <a:ext cx="5" cy="13187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30168" y="2888055"/>
            <a:ext cx="10078258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Direction: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La propriété qui organise les éléments enfants dans des lignes ou colonnes</a:t>
            </a: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AlignItems: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La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propriété qui permet d’aligner les éléments</a:t>
            </a: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b="1" dirty="0" err="1">
                <a:latin typeface="Segoe UI" panose="020B0502040204020203" pitchFamily="34" charset="0"/>
                <a:cs typeface="Segoe UI" panose="020B0502040204020203" pitchFamily="34" charset="0"/>
              </a:rPr>
              <a:t>JustifyContent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La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propriété qui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alloue tout l’espace vertical restant de manière égale entre tous les éléments, au-dessus du premier élément et au-dessous du dernier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élément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FlexLayout.Grow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La propriété qui permet d’ajuster les espaces d’occupation d’un élément par apport au reste des éléments  </a:t>
            </a: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4870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7" y="617099"/>
            <a:ext cx="11730860" cy="7540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Flex Layout</a:t>
            </a:r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Voici un premier exemple de définition de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Flex Layout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7" y="-3164750"/>
            <a:ext cx="5" cy="1318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47304" y="1538430"/>
            <a:ext cx="6096000" cy="110799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FlexLayout</a:t>
            </a:r>
            <a:r>
              <a:rPr lang="fr-FR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Direction</a:t>
            </a:r>
            <a:r>
              <a:rPr lang="fr-FR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="Column"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Button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="5"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="Button 1"/&gt;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Button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="5"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="Button 2" /&gt;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FlexLayout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600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5468" y="668832"/>
            <a:ext cx="2533780" cy="5639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010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7" y="617099"/>
            <a:ext cx="11730860" cy="7540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Flex Layout</a:t>
            </a:r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Voici un premier exemple de définition de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Flex Layout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7" y="-3164750"/>
            <a:ext cx="5" cy="1318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47304" y="1538430"/>
            <a:ext cx="6096000" cy="110799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FlexLayout</a:t>
            </a:r>
            <a:r>
              <a:rPr lang="fr-FR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Direction</a:t>
            </a:r>
            <a:r>
              <a:rPr lang="fr-FR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</a:t>
            </a:r>
            <a:r>
              <a:rPr lang="fr-FR" b="1" dirty="0" err="1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ColumnReverse</a:t>
            </a:r>
            <a:r>
              <a:rPr lang="fr-FR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"</a:t>
            </a:r>
            <a:r>
              <a:rPr lang="fr-FR" sz="16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Button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="5"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="Button 1"/&gt;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Button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="5"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="Button 2" /&gt;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FlexLayout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600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6553" y="667594"/>
            <a:ext cx="2514729" cy="567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594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7" y="617099"/>
            <a:ext cx="11730860" cy="7540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Flex Layout</a:t>
            </a:r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Voici un premier exemple de définition de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Flex Layout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7" y="-3164750"/>
            <a:ext cx="5" cy="13187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89808" y="1472093"/>
            <a:ext cx="6096000" cy="206210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FlexLayout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Direction</a:t>
            </a:r>
            <a:r>
              <a:rPr lang="fr-FR" sz="16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</a:t>
            </a:r>
            <a:r>
              <a:rPr lang="fr-FR" sz="1600" b="1" dirty="0" err="1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Row</a:t>
            </a:r>
            <a:r>
              <a:rPr lang="fr-FR" sz="14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"</a:t>
            </a:r>
            <a:r>
              <a:rPr lang="fr-FR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Margin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="2"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="Ce ci est un texte"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="20"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BackgroundColor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="Bisque"/&gt;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Margin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="2"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="Ce ci est un texte"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="20"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BackgroundColor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="Bisque"/&gt;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FlexLayout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9563" y="552841"/>
            <a:ext cx="2527430" cy="564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186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7" y="617099"/>
            <a:ext cx="11730860" cy="7540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Flex Layout</a:t>
            </a:r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Voici un premier exemple de définition de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Flex Layout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7" y="-3164750"/>
            <a:ext cx="5" cy="1318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7932" y="1613554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FlexLayout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AlignItems</a:t>
            </a:r>
            <a:r>
              <a:rPr lang="fr-FR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="Center"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Button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="5"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="Button 1"/&gt;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Button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="5"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="Button 2" /&gt;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FlexLayout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5201" y="716744"/>
            <a:ext cx="2514729" cy="5626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514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7" y="617099"/>
            <a:ext cx="11730860" cy="7540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Flex Layout</a:t>
            </a:r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Voici un premier exemple de définition de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Flex Layout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7" y="-3164750"/>
            <a:ext cx="5" cy="1318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7932" y="1613554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FlexLayout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AlignItems</a:t>
            </a:r>
            <a:r>
              <a:rPr lang="fr-FR" sz="14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="Start"</a:t>
            </a:r>
            <a:r>
              <a:rPr lang="fr-FR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Button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="5"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="Button 1"/&gt;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Button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="5"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="Button 2" /&gt;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FlexLayout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0875" y="674357"/>
            <a:ext cx="2508379" cy="5651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28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7" y="617099"/>
            <a:ext cx="11730860" cy="7540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Flex Layout</a:t>
            </a:r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Voici un premier exemple de définition de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Flex Layout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7" y="-3164750"/>
            <a:ext cx="5" cy="1318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7932" y="1613554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FlexLayout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AlignItems</a:t>
            </a:r>
            <a:r>
              <a:rPr lang="fr-FR" sz="14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="End"</a:t>
            </a:r>
            <a:r>
              <a:rPr lang="fr-FR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Button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="5"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="Button 1"/&gt;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Button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="5"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="Button 2" /&gt;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FlexLayout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5930" y="617099"/>
            <a:ext cx="2502029" cy="5658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679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7" y="617099"/>
            <a:ext cx="11730860" cy="2831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Flex Layout</a:t>
            </a:r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Voici un premier exemple de définition de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Flex Layout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La valeur 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Stretch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de la propriété 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AlignItems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est la valeur par défaut</a:t>
            </a: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7" y="-3164750"/>
            <a:ext cx="5" cy="1318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7932" y="1613554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FlexLayout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AlignItems</a:t>
            </a:r>
            <a:r>
              <a:rPr lang="fr-FR" sz="14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="Stretch"</a:t>
            </a:r>
            <a:r>
              <a:rPr lang="fr-FR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Button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="5"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="Button 1"/&gt;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Button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="5"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="Button 2" /&gt;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FlexLayout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9580" y="729914"/>
            <a:ext cx="2514729" cy="5651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071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7" y="617099"/>
            <a:ext cx="11730860" cy="2416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Flex Layout</a:t>
            </a:r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Voici un premier exemple de définition de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Flex Layout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7" y="-3164750"/>
            <a:ext cx="5" cy="13187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84811" y="1484991"/>
            <a:ext cx="6096000" cy="98488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FlexLayout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JustifyContent</a:t>
            </a:r>
            <a:r>
              <a:rPr lang="fr-FR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="Center"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Button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="5"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="Button 1"/&gt;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Button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="5"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="Button 2" /&gt;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FlexLayout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9634" y="584054"/>
            <a:ext cx="2508379" cy="5689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751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7" y="617099"/>
            <a:ext cx="11730860" cy="2416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Flex Layout</a:t>
            </a:r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Voici un premier exemple de définition de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Flex Layout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7" y="-3164750"/>
            <a:ext cx="5" cy="13187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84811" y="1484991"/>
            <a:ext cx="6096000" cy="98488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FlexLayout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JustifyContent</a:t>
            </a:r>
            <a:r>
              <a:rPr lang="fr-FR" sz="16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="Start"</a:t>
            </a:r>
            <a:r>
              <a:rPr lang="fr-FR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Button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="5"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="Button 1"/&gt;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Button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="5"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="Button 2" /&gt;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FlexLayout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1980" y="672006"/>
            <a:ext cx="2540131" cy="563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259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7" y="617099"/>
            <a:ext cx="11730860" cy="2416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Flex Layout</a:t>
            </a:r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Voici un premier exemple de définition de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Flex Layout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7" y="-3164750"/>
            <a:ext cx="5" cy="13187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84811" y="1484991"/>
            <a:ext cx="6096000" cy="98488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FlexLayout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JustifyContent</a:t>
            </a:r>
            <a:r>
              <a:rPr lang="fr-FR" sz="16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="End"</a:t>
            </a:r>
            <a:r>
              <a:rPr lang="fr-FR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Button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="5"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="Button 1"/&gt;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Button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="5"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="Button 2" /&gt;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FlexLayout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3283" y="617099"/>
            <a:ext cx="2521080" cy="566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848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7" y="617099"/>
            <a:ext cx="11730860" cy="2416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Flex Layout</a:t>
            </a:r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Voici un premier exemple de définition de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Flex Layout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7" y="-3164750"/>
            <a:ext cx="5" cy="13187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84811" y="1484991"/>
            <a:ext cx="6096000" cy="98488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FlexLayout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JustifyContent</a:t>
            </a:r>
            <a:r>
              <a:rPr lang="fr-FR" sz="16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="End"</a:t>
            </a:r>
            <a:r>
              <a:rPr lang="fr-FR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Button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="5"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="Button 1"/&gt;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Button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="5"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="Button 2" /&gt;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FlexLayout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3283" y="617099"/>
            <a:ext cx="2521080" cy="566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821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7" y="617099"/>
            <a:ext cx="11730860" cy="2416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Flex Layout</a:t>
            </a:r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Voici un premier exemple de définition de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Flex Layout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7" y="-3164750"/>
            <a:ext cx="5" cy="131875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37309" y="1568119"/>
            <a:ext cx="6096000" cy="110799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FlexLayout</a:t>
            </a:r>
            <a:r>
              <a:rPr lang="fr-FR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JustifyContent</a:t>
            </a:r>
            <a:r>
              <a:rPr lang="fr-FR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</a:t>
            </a:r>
            <a:r>
              <a:rPr lang="fr-FR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SpaceBetween</a:t>
            </a:r>
            <a:r>
              <a:rPr lang="fr-FR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"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Button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="5"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="Button 1"/&gt;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Button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="5"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="Button 2" /&gt;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FlexLayout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600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5781" y="686232"/>
            <a:ext cx="2521080" cy="5651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057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7" y="617099"/>
            <a:ext cx="11730860" cy="2416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Flex Layout</a:t>
            </a:r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Voici un premier exemple de définition de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Flex Layout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7" y="-3164750"/>
            <a:ext cx="5" cy="131875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37309" y="1568119"/>
            <a:ext cx="6096000" cy="110799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FlexLayout</a:t>
            </a:r>
            <a:r>
              <a:rPr lang="fr-FR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JustifyContent</a:t>
            </a:r>
            <a:r>
              <a:rPr lang="fr-FR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</a:t>
            </a:r>
            <a:r>
              <a:rPr lang="fr-FR" b="1" dirty="0" err="1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SpaceAround</a:t>
            </a:r>
            <a:r>
              <a:rPr lang="fr-FR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"</a:t>
            </a:r>
            <a:r>
              <a:rPr lang="fr-FR" sz="16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Button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="5"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="Button 1"/&gt;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Button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="5"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="Button 2" /&gt;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FlexLayout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600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606" y="781648"/>
            <a:ext cx="2527430" cy="5639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095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30567" y="433368"/>
            <a:ext cx="11730860" cy="2416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Flex Layout</a:t>
            </a:r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7" y="-3164750"/>
            <a:ext cx="5" cy="13187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1565" y="4227437"/>
            <a:ext cx="720040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FlexLayout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Button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="5"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FlexLayout.Grow</a:t>
            </a:r>
            <a:r>
              <a:rPr lang="en-US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="1"</a:t>
            </a:r>
            <a:r>
              <a:rPr 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  <a:r>
              <a:rPr lang="en-US" sz="1600" dirty="0" smtClean="0">
                <a:solidFill>
                  <a:srgbClr val="FF0000"/>
                </a:solidFill>
                <a:latin typeface="Cascadia Mono" panose="020B0609020000020004" pitchFamily="49" charset="0"/>
              </a:rPr>
              <a:t>				Text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="Button 1"/&gt;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Button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="5"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="Button 2" /&gt;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FlexLayout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600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3237" y="675594"/>
            <a:ext cx="2514729" cy="5613689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92907" y="1059337"/>
            <a:ext cx="7806415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Le </a:t>
            </a:r>
            <a:r>
              <a:rPr kumimoji="0" lang="fr-FR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premier bouton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utilise </a:t>
            </a:r>
            <a:r>
              <a:rPr kumimoji="0" lang="fr-FR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FlexLayout.Grow</a:t>
            </a:r>
            <a:r>
              <a:rPr kumimoji="0" lang="fr-FR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="1"</a:t>
            </a:r>
            <a:br>
              <a:rPr kumimoji="0" lang="fr-FR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Il </a:t>
            </a:r>
            <a:r>
              <a:rPr kumimoji="0" lang="fr-FR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s’étend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et occupe tout l’espace disponible restant dans le </a:t>
            </a:r>
            <a:r>
              <a:rPr kumimoji="0" lang="fr-FR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FlexLayout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fr-FR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Le </a:t>
            </a:r>
            <a:r>
              <a:rPr kumimoji="0" lang="fr-FR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deuxième bouton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garde sa taille minimale par défaut.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lang="fr-FR" altLang="en-US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Très utile pour créer des boutons ou éléments qui s’adaptent automatiquement à la largeur ou la hauteur disponible.</a:t>
            </a:r>
          </a:p>
        </p:txBody>
      </p:sp>
    </p:spTree>
    <p:extLst>
      <p:ext uri="{BB962C8B-B14F-4D97-AF65-F5344CB8AC3E}">
        <p14:creationId xmlns:p14="http://schemas.microsoft.com/office/powerpoint/2010/main" val="3574363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7" y="617099"/>
            <a:ext cx="11730860" cy="2000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Flex Layout</a:t>
            </a:r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10730" y="4045768"/>
            <a:ext cx="720040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FlexLayout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Button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="5"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FlexLayout.Basis</a:t>
            </a:r>
            <a:r>
              <a:rPr lang="en-US" sz="16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="150"</a:t>
            </a:r>
            <a:r>
              <a:rPr lang="en-US" sz="1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  <a:r>
              <a:rPr lang="en-US" sz="1600" dirty="0" smtClean="0">
                <a:solidFill>
                  <a:srgbClr val="FF0000"/>
                </a:solidFill>
                <a:latin typeface="Cascadia Mono" panose="020B0609020000020004" pitchFamily="49" charset="0"/>
              </a:rPr>
              <a:t>				Text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="Button 1"/&gt;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Button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="5"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="Button 2" /&gt;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FlexLayout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600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6292" y="606280"/>
            <a:ext cx="2546481" cy="5645440"/>
          </a:xfrm>
          <a:prstGeom prst="rect">
            <a:avLst/>
          </a:prstGeom>
        </p:spPr>
      </p:pic>
      <p:cxnSp>
        <p:nvCxnSpPr>
          <p:cNvPr id="8" name="Connecteur droit avec flèche 7"/>
          <p:cNvCxnSpPr/>
          <p:nvPr/>
        </p:nvCxnSpPr>
        <p:spPr>
          <a:xfrm>
            <a:off x="8383979" y="2747120"/>
            <a:ext cx="825335" cy="0"/>
          </a:xfrm>
          <a:prstGeom prst="straightConnector1">
            <a:avLst/>
          </a:prstGeom>
          <a:ln w="412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502334" y="2377788"/>
            <a:ext cx="5886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150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409955" y="1076324"/>
            <a:ext cx="7593759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Le </a:t>
            </a:r>
            <a:r>
              <a:rPr kumimoji="0" lang="fr-FR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premier bouton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utilise </a:t>
            </a:r>
            <a:r>
              <a:rPr kumimoji="0" lang="fr-FR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FlexLayout.Basis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="150".</a:t>
            </a:r>
            <a:b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Sa </a:t>
            </a:r>
            <a:r>
              <a:rPr kumimoji="0" lang="fr-FR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taille de base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est fixée à </a:t>
            </a:r>
            <a:r>
              <a:rPr kumimoji="0" lang="fr-FR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150 unités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(pixels).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fr-FR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Le </a:t>
            </a:r>
            <a:r>
              <a:rPr kumimoji="0" lang="fr-FR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deuxième bouton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garde sa taille minimale par défaut.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fr-FR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Basis permet de contrôler la taille initiale d’un élément avant la répartition éventuelle de l’espace restant.</a:t>
            </a:r>
          </a:p>
        </p:txBody>
      </p:sp>
    </p:spTree>
    <p:extLst>
      <p:ext uri="{BB962C8B-B14F-4D97-AF65-F5344CB8AC3E}">
        <p14:creationId xmlns:p14="http://schemas.microsoft.com/office/powerpoint/2010/main" val="3834968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7" y="617099"/>
            <a:ext cx="11730860" cy="2000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Flex Layout</a:t>
            </a:r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27957" y="4247601"/>
            <a:ext cx="7133969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FlexLayout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Button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="5"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smtClean="0">
                <a:solidFill>
                  <a:srgbClr val="FF0000"/>
                </a:solidFill>
                <a:latin typeface="Cascadia Mono" panose="020B0609020000020004" pitchFamily="49" charset="0"/>
              </a:rPr>
              <a:t>	</a:t>
            </a:r>
            <a:r>
              <a:rPr lang="en-US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FlexLayout.AlignSelf</a:t>
            </a:r>
            <a:r>
              <a:rPr 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="Center"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Text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="Button 1"/&gt;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Button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="5"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="Button 2" /&gt;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FlexLayout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600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1542" y="617099"/>
            <a:ext cx="2527430" cy="5658141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66224" y="1186486"/>
            <a:ext cx="6724917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Le </a:t>
            </a:r>
            <a:r>
              <a:rPr kumimoji="0" lang="fr-FR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premier bouton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utilise </a:t>
            </a:r>
            <a:r>
              <a:rPr kumimoji="0" lang="fr-FR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FlexLayout.AlignSelf</a:t>
            </a:r>
            <a:r>
              <a:rPr kumimoji="0" lang="fr-FR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="Center".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Il </a:t>
            </a:r>
            <a:r>
              <a:rPr kumimoji="0" lang="fr-FR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s’aligne verticalement au centre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de la ligne ou colonne, indépendamment des autres éléments.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fr-FR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Le </a:t>
            </a:r>
            <a:r>
              <a:rPr kumimoji="0" lang="fr-FR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deuxième bouton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garde l’alignement par défaut hérité du parent.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lang="fr-FR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fr-FR" dirty="0"/>
              <a:t>Utile pour personnaliser l’alignement d’un élément spécifique, même si le reste du </a:t>
            </a:r>
            <a:r>
              <a:rPr lang="fr-FR" dirty="0" err="1"/>
              <a:t>layout</a:t>
            </a:r>
            <a:r>
              <a:rPr lang="fr-FR" dirty="0"/>
              <a:t> suit une règle globale.</a:t>
            </a:r>
            <a:endParaRPr lang="en-US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fr-FR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4962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51167" y="617099"/>
            <a:ext cx="11730860" cy="2000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Flex Layout</a:t>
            </a:r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fr-FR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b="1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76891" y="2879397"/>
            <a:ext cx="713396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FlexLayout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Button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="5"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FlexLayout.Order</a:t>
            </a:r>
            <a:r>
              <a:rPr lang="en-US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="1"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				</a:t>
            </a:r>
            <a:r>
              <a:rPr lang="en-US" sz="1600" dirty="0" smtClean="0">
                <a:solidFill>
                  <a:srgbClr val="FF0000"/>
                </a:solidFill>
                <a:latin typeface="Cascadia Mono" panose="020B0609020000020004" pitchFamily="49" charset="0"/>
              </a:rPr>
              <a:t>Text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="Button 1"/&gt;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Button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="5"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="Button 2" /&gt;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FlexLayout</a:t>
            </a:r>
            <a:r>
              <a:rPr lang="fr-FR" sz="16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653" y="489876"/>
            <a:ext cx="2508379" cy="5664491"/>
          </a:xfrm>
          <a:prstGeom prst="rect">
            <a:avLst/>
          </a:prstGeo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76891" y="1140319"/>
            <a:ext cx="759939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La propriété </a:t>
            </a:r>
            <a:r>
              <a:rPr kumimoji="0" lang="fr-FR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FlexLayout.Order</a:t>
            </a:r>
            <a:r>
              <a:rPr kumimoji="0" lang="fr-FR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="1" 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modifie </a:t>
            </a:r>
            <a:r>
              <a:rPr kumimoji="0" lang="fr-FR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l’ordre d’affichage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du premier bouton.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Ici, </a:t>
            </a:r>
            <a:r>
              <a:rPr kumimoji="0" lang="fr-FR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Button</a:t>
            </a:r>
            <a:r>
              <a:rPr kumimoji="0" lang="fr-FR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1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sera affiché </a:t>
            </a:r>
            <a:r>
              <a:rPr kumimoji="0" lang="fr-FR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après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fr-FR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Button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2, même s’il est déclaré en premier dans le code.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Similaire à l’effet de </a:t>
            </a:r>
            <a:r>
              <a:rPr kumimoji="0" lang="fr-FR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RowReverse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(inverser l’ordre des éléments).</a:t>
            </a:r>
          </a:p>
        </p:txBody>
      </p:sp>
    </p:spTree>
    <p:extLst>
      <p:ext uri="{BB962C8B-B14F-4D97-AF65-F5344CB8AC3E}">
        <p14:creationId xmlns:p14="http://schemas.microsoft.com/office/powerpoint/2010/main" val="1944611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92731" y="670537"/>
            <a:ext cx="11730860" cy="4078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Bindable Layout</a:t>
            </a:r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Un Bindable Layout  à la particularité de générer les éléments fils sur la base d’une collection d’objets via une liaison un 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Binding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, ce Layout admet une propriété 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ItemsSource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qui permet de l’alimenter avec les données</a:t>
            </a: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La propriété 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DataTemplate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quant à elle, elle permet de définir l’aspect visuel des données   </a:t>
            </a: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Au cas des éléments distincts, il est possible d’utiliser un 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ItemTemplateSelector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pour définir le 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DataTemplate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correspondant </a:t>
            </a: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381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b="1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7044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92731" y="670537"/>
            <a:ext cx="1173086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Bindable Layout</a:t>
            </a:r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38712" y="2023632"/>
            <a:ext cx="9532672" cy="3570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6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fr-FR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x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Name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="PersonList"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BindableLayout.ItemsSource</a:t>
            </a:r>
            <a:r>
              <a:rPr lang="fr-FR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="{</a:t>
            </a:r>
            <a:r>
              <a:rPr lang="fr-FR" b="1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Binding</a:t>
            </a:r>
            <a:r>
              <a:rPr lang="fr-F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Users</a:t>
            </a:r>
            <a:r>
              <a:rPr lang="fr-FR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}"</a:t>
            </a:r>
            <a:r>
              <a:rPr lang="fr-FR" sz="16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HorizontalOptions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fr-FR" sz="1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FillAndExpand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"&gt;</a:t>
            </a:r>
            <a:endParaRPr lang="fr-F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&lt;</a:t>
            </a:r>
            <a:r>
              <a:rPr lang="fr-FR" sz="1600" b="1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BindableLayout.ItemTemplate</a:t>
            </a:r>
            <a:r>
              <a:rPr lang="fr-FR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&gt;</a:t>
            </a:r>
            <a:endParaRPr lang="fr-FR" sz="1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fr-FR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           </a:t>
            </a:r>
            <a:r>
              <a:rPr lang="fr-FR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&lt;</a:t>
            </a:r>
            <a:r>
              <a:rPr lang="fr-FR" sz="1600" b="1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DataTemplate</a:t>
            </a:r>
            <a:r>
              <a:rPr lang="fr-FR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&gt;</a:t>
            </a:r>
            <a:endParaRPr lang="fr-FR" sz="1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fr-FR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               </a:t>
            </a:r>
            <a:r>
              <a:rPr lang="fr-FR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&lt;</a:t>
            </a:r>
            <a:r>
              <a:rPr lang="fr-FR" sz="1600" b="1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StackLayout</a:t>
            </a:r>
            <a:r>
              <a:rPr lang="fr-FR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  <a:r>
              <a:rPr lang="fr-FR" sz="1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Spacing</a:t>
            </a:r>
            <a:r>
              <a:rPr lang="fr-FR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="10" &gt;</a:t>
            </a:r>
            <a:endParaRPr lang="fr-FR" sz="1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fr-FR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                   </a:t>
            </a:r>
            <a:r>
              <a:rPr lang="fr-FR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&lt;</a:t>
            </a:r>
            <a:r>
              <a:rPr lang="fr-FR" sz="1600" b="1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Label</a:t>
            </a:r>
            <a:r>
              <a:rPr lang="fr-FR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  <a:r>
              <a:rPr lang="fr-FR" sz="1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Margin</a:t>
            </a:r>
            <a:r>
              <a:rPr lang="fr-FR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="20,0"</a:t>
            </a:r>
            <a:r>
              <a:rPr lang="fr-FR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Text</a:t>
            </a:r>
            <a:r>
              <a:rPr lang="fr-FR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="{</a:t>
            </a:r>
            <a:r>
              <a:rPr lang="fr-FR" sz="1600" b="1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Binding</a:t>
            </a:r>
            <a:r>
              <a:rPr lang="fr-FR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  <a:r>
              <a:rPr lang="fr-FR" sz="1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Id</a:t>
            </a:r>
            <a:r>
              <a:rPr lang="fr-FR" sz="16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}"/&gt;</a:t>
            </a:r>
            <a:endParaRPr lang="fr-FR" sz="1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en-US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                   </a:t>
            </a:r>
            <a:r>
              <a:rPr lang="en-US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&lt;</a:t>
            </a:r>
            <a:r>
              <a:rPr lang="en-US" sz="1600" b="1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Label</a:t>
            </a:r>
            <a:r>
              <a:rPr 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Margin</a:t>
            </a:r>
            <a:r>
              <a:rPr lang="en-US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="20,0"</a:t>
            </a:r>
            <a:r>
              <a:rPr 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Text</a:t>
            </a:r>
            <a:r>
              <a:rPr lang="en-US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="{</a:t>
            </a:r>
            <a:r>
              <a:rPr lang="en-US" sz="1600" b="1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Binding</a:t>
            </a:r>
            <a:r>
              <a:rPr 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  <a:r>
              <a:rPr lang="en-US" sz="1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Name</a:t>
            </a:r>
            <a:r>
              <a:rPr lang="en-US" sz="16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}"/&gt;</a:t>
            </a:r>
          </a:p>
          <a:p>
            <a:r>
              <a:rPr lang="en-US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  <a:r>
              <a:rPr lang="en-US" sz="16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                  </a:t>
            </a:r>
            <a:r>
              <a:rPr lang="en-US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&lt;</a:t>
            </a:r>
            <a:r>
              <a:rPr lang="en-US" sz="1600" b="1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Label</a:t>
            </a:r>
            <a:r>
              <a:rPr 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Margin</a:t>
            </a:r>
            <a:r>
              <a:rPr lang="en-US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="20,0"</a:t>
            </a:r>
            <a:r>
              <a:rPr 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Text</a:t>
            </a:r>
            <a:r>
              <a:rPr lang="en-US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="{</a:t>
            </a:r>
            <a:r>
              <a:rPr lang="en-US" sz="1600" b="1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Binding</a:t>
            </a:r>
            <a:r>
              <a:rPr 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  <a:r>
              <a:rPr lang="en-US" sz="1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Email</a:t>
            </a:r>
            <a:r>
              <a:rPr lang="en-US" sz="16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}"/&gt;</a:t>
            </a:r>
            <a:endParaRPr lang="en-US" sz="1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en-US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                   </a:t>
            </a:r>
            <a:r>
              <a:rPr lang="en-US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&lt;</a:t>
            </a:r>
            <a:r>
              <a:rPr lang="en-US" sz="1600" b="1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BoxView</a:t>
            </a:r>
            <a:r>
              <a:rPr 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HeightRequest</a:t>
            </a:r>
            <a:r>
              <a:rPr lang="en-US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="1"</a:t>
            </a:r>
            <a:r>
              <a:rPr 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BackgroundColor</a:t>
            </a:r>
            <a:r>
              <a:rPr lang="en-US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="Black"/&gt;</a:t>
            </a:r>
            <a:endParaRPr lang="en-US" sz="1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fr-FR" sz="16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           &lt;/</a:t>
            </a:r>
            <a:r>
              <a:rPr lang="fr-FR" sz="1600" b="1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StackLayout</a:t>
            </a:r>
            <a:r>
              <a:rPr lang="fr-FR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&gt;</a:t>
            </a:r>
            <a:endParaRPr lang="fr-FR" sz="1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fr-FR" sz="16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         &lt;/</a:t>
            </a:r>
            <a:r>
              <a:rPr lang="fr-FR" sz="1600" b="1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DataTemplate</a:t>
            </a:r>
            <a:r>
              <a:rPr lang="fr-FR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&gt;</a:t>
            </a:r>
            <a:endParaRPr lang="fr-FR" sz="1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fr-FR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       </a:t>
            </a:r>
            <a:r>
              <a:rPr lang="fr-FR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&lt;/</a:t>
            </a:r>
            <a:r>
              <a:rPr lang="fr-FR" sz="1600" b="1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BindableLayout.ItemTemplate</a:t>
            </a:r>
            <a:r>
              <a:rPr lang="fr-FR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&gt;</a:t>
            </a:r>
            <a:endParaRPr lang="fr-FR" sz="1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6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600" dirty="0"/>
          </a:p>
        </p:txBody>
      </p:sp>
      <p:sp>
        <p:nvSpPr>
          <p:cNvPr id="5" name="Rectangle 4"/>
          <p:cNvSpPr/>
          <p:nvPr/>
        </p:nvSpPr>
        <p:spPr>
          <a:xfrm>
            <a:off x="379653" y="1231426"/>
            <a:ext cx="59381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>
                <a:solidFill>
                  <a:srgbClr val="161616"/>
                </a:solidFill>
                <a:latin typeface="Segoe UI" panose="020B0502040204020203" pitchFamily="34" charset="0"/>
              </a:rPr>
              <a:t> </a:t>
            </a:r>
            <a:r>
              <a:rPr lang="fr-FR" dirty="0" smtClean="0">
                <a:solidFill>
                  <a:srgbClr val="161616"/>
                </a:solidFill>
                <a:latin typeface="Segoe UI" panose="020B0502040204020203" pitchFamily="34" charset="0"/>
              </a:rPr>
              <a:t>Ce ci est un  exemple d’utilisation de Bindable Layout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21675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92731" y="670537"/>
            <a:ext cx="1173086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Bindable Layout</a:t>
            </a:r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545007" y="1200700"/>
            <a:ext cx="10168618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La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classe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User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définit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le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modèle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(Id, Name, Email).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La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classe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UsersViewModel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expose la collection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Users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à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afficher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Le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BindableLayout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affiche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dynamiquement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tous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les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utilisateurs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avec un template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personnalisé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Chaque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item a un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séparateur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BoxView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pour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une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meilleure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lisibilité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45991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92731" y="670537"/>
            <a:ext cx="1173086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Bindable Layout</a:t>
            </a:r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6789" y="1843328"/>
            <a:ext cx="6096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public class User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{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public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Id { get; set; }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public string Name { get; set; }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public string Email { get; set; }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}</a:t>
            </a:r>
            <a:endParaRPr lang="en-US" sz="1400" dirty="0"/>
          </a:p>
        </p:txBody>
      </p:sp>
      <p:sp>
        <p:nvSpPr>
          <p:cNvPr id="7" name="Rectangle 6"/>
          <p:cNvSpPr/>
          <p:nvPr/>
        </p:nvSpPr>
        <p:spPr>
          <a:xfrm>
            <a:off x="416210" y="1241543"/>
            <a:ext cx="55098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La </a:t>
            </a:r>
            <a:r>
              <a:rPr lang="en-US" alt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classe</a:t>
            </a:r>
            <a:r>
              <a:rPr lang="en-US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User</a:t>
            </a:r>
            <a:r>
              <a:rPr lang="en-US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définit</a:t>
            </a:r>
            <a:r>
              <a:rPr lang="en-US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 le </a:t>
            </a:r>
            <a:r>
              <a:rPr lang="en-US" alt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modèle</a:t>
            </a:r>
            <a:r>
              <a:rPr lang="en-US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 (Id, Name, Email).</a:t>
            </a:r>
          </a:p>
        </p:txBody>
      </p:sp>
    </p:spTree>
    <p:extLst>
      <p:ext uri="{BB962C8B-B14F-4D97-AF65-F5344CB8AC3E}">
        <p14:creationId xmlns:p14="http://schemas.microsoft.com/office/powerpoint/2010/main" val="1869454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92731" y="670537"/>
            <a:ext cx="1173086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Bindable Layout</a:t>
            </a:r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59136" y="1258868"/>
            <a:ext cx="887553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La </a:t>
            </a:r>
            <a:r>
              <a:rPr lang="en-US" alt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classe</a:t>
            </a:r>
            <a:r>
              <a:rPr lang="en-US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UsersViewModel</a:t>
            </a:r>
            <a:r>
              <a:rPr lang="en-US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 expose la collection </a:t>
            </a:r>
            <a:r>
              <a:rPr lang="en-US" alt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Users</a:t>
            </a:r>
            <a:r>
              <a:rPr lang="en-US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 à </a:t>
            </a:r>
            <a:r>
              <a:rPr lang="en-US" alt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afficher</a:t>
            </a:r>
            <a:r>
              <a:rPr lang="en-US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5028" y="1795558"/>
            <a:ext cx="971121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public class </a:t>
            </a:r>
            <a:r>
              <a:rPr lang="en-US" dirty="0" err="1"/>
              <a:t>UsersViewModel</a:t>
            </a:r>
            <a:endParaRPr lang="en-US" dirty="0"/>
          </a:p>
          <a:p>
            <a:r>
              <a:rPr lang="en-US" dirty="0"/>
              <a:t>    {</a:t>
            </a:r>
          </a:p>
          <a:p>
            <a:r>
              <a:rPr lang="en-US" dirty="0"/>
              <a:t>        public </a:t>
            </a:r>
            <a:r>
              <a:rPr lang="en-US" dirty="0" err="1"/>
              <a:t>ObservableCollection</a:t>
            </a:r>
            <a:r>
              <a:rPr lang="en-US" dirty="0"/>
              <a:t>&lt;User&gt; Users { get; set; }</a:t>
            </a:r>
          </a:p>
          <a:p>
            <a:endParaRPr lang="en-US" dirty="0"/>
          </a:p>
          <a:p>
            <a:r>
              <a:rPr lang="en-US" dirty="0"/>
              <a:t>        public </a:t>
            </a:r>
            <a:r>
              <a:rPr lang="en-US" dirty="0" err="1"/>
              <a:t>UsersViewModel</a:t>
            </a:r>
            <a:r>
              <a:rPr lang="en-US" dirty="0"/>
              <a:t>()</a:t>
            </a:r>
          </a:p>
          <a:p>
            <a:r>
              <a:rPr lang="en-US" dirty="0"/>
              <a:t>        {</a:t>
            </a:r>
          </a:p>
          <a:p>
            <a:r>
              <a:rPr lang="en-US" dirty="0"/>
              <a:t>            Users = new </a:t>
            </a:r>
            <a:r>
              <a:rPr lang="en-US" dirty="0" err="1"/>
              <a:t>ObservableCollection</a:t>
            </a:r>
            <a:r>
              <a:rPr lang="en-US" dirty="0"/>
              <a:t>&lt;User&gt;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new User { Id = 1, Name = "Alice", Email = "alice@example.com" },</a:t>
            </a:r>
          </a:p>
          <a:p>
            <a:r>
              <a:rPr lang="en-US" dirty="0"/>
              <a:t>                new User { Id = 2, Name = "Bob", Email = "bob@example.com" },</a:t>
            </a:r>
          </a:p>
          <a:p>
            <a:r>
              <a:rPr lang="en-US" dirty="0"/>
              <a:t>                new User { Id = 3, Name = "Charlie", Email = "charlie@example.com" }</a:t>
            </a:r>
          </a:p>
          <a:p>
            <a:r>
              <a:rPr lang="en-US" dirty="0"/>
              <a:t>            };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4089589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92731" y="670537"/>
            <a:ext cx="1173086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Bindable Layout</a:t>
            </a:r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71247" y="1174818"/>
            <a:ext cx="887553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La page </a:t>
            </a:r>
            <a:r>
              <a:rPr lang="fr-FR" altLang="en-US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MainPage</a:t>
            </a:r>
            <a:r>
              <a:rPr lang="fr-FR" alt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doit définir le </a:t>
            </a:r>
            <a:r>
              <a:rPr lang="fr-FR" altLang="en-US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BinidingContext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 à </a:t>
            </a:r>
            <a:r>
              <a:rPr lang="fr-FR" altLang="en-US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UsersViewModel</a:t>
            </a:r>
            <a:endParaRPr lang="fr-FR" alt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4749" y="1709878"/>
            <a:ext cx="8923979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ContentPage.BindingContext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vm</a:t>
            </a:r>
            <a:r>
              <a:rPr lang="en-US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en-US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UsersViewModel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 /&gt;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ContentPage.BindingContext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endParaRPr lang="en-US" sz="1200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ScrollView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x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Name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="PersonList"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BindableLayout.ItemsSource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="{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Binding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Users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}"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HorizontalOptions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FillAndExpand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Padding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="10"&gt;</a:t>
            </a:r>
          </a:p>
          <a:p>
            <a:endParaRPr lang="en-US" sz="1200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BindableLayout.ItemTemplate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DataTemplate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Spacing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="5"&gt;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="20,0"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="{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Binding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Id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}"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FontAttributes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="Bold"/&gt;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="20,0"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="{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Binding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Name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}" /&gt;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="20,0"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="{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Binding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Email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}" /&gt;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BoxView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HeightRequest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="1"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BackgroundColor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="Black"/&gt;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DataTemplate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BindableLayout.ItemTemplate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endParaRPr lang="en-US" sz="1200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ScrollView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226222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92731" y="670537"/>
            <a:ext cx="1173086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 Grid</a:t>
            </a:r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79653" y="1231426"/>
            <a:ext cx="11797781" cy="46628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dirty="0">
                <a:solidFill>
                  <a:srgbClr val="16161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Un Grid est utilisé pour afficher des éléments dans des lignes et des colonnes, qui peuvent avoir </a:t>
            </a:r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     des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tailles proportionnelles ou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absolues</a:t>
            </a:r>
          </a:p>
          <a:p>
            <a:pPr>
              <a:lnSpc>
                <a:spcPct val="150000"/>
              </a:lnSpc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Le nombre des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lignes et les colonnes d’une grille sont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définis à l’aide des propriétés </a:t>
            </a:r>
          </a:p>
          <a:p>
            <a:pPr>
              <a:lnSpc>
                <a:spcPct val="150000"/>
              </a:lnSpc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   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RowDefinitions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et </a:t>
            </a:r>
            <a:r>
              <a:rPr lang="fr-FR" b="1" dirty="0" err="1">
                <a:latin typeface="Segoe UI" panose="020B0502040204020203" pitchFamily="34" charset="0"/>
                <a:cs typeface="Segoe UI" panose="020B0502040204020203" pitchFamily="34" charset="0"/>
              </a:rPr>
              <a:t>ColumnDefinitions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Les propriétés attachées 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Grid.Row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et 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Grid.Colum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permettent de définir la position d’un élément fils dans la</a:t>
            </a:r>
          </a:p>
          <a:p>
            <a:pPr>
              <a:lnSpc>
                <a:spcPct val="150000"/>
              </a:lnSpc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  grille</a:t>
            </a:r>
          </a:p>
          <a:p>
            <a:pPr>
              <a:lnSpc>
                <a:spcPct val="150000"/>
              </a:lnSpc>
            </a:pPr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Les propriétés attachées 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Grid.RowSpan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et 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Grid.ColumSpan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permettent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d’étaler un élément fils respectivement</a:t>
            </a:r>
          </a:p>
          <a:p>
            <a:pPr>
              <a:lnSpc>
                <a:spcPct val="150000"/>
              </a:lnSpc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  sur plusieurs lignes ou plusieurs colonnes  </a:t>
            </a: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5705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92731" y="670537"/>
            <a:ext cx="1173086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 Grid</a:t>
            </a:r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79653" y="1231426"/>
            <a:ext cx="991195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dirty="0">
                <a:solidFill>
                  <a:srgbClr val="16161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Chaque élément il remplis une cellule entière de la grille par défaut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Il est possible de définir les dimensions des cellules verticalement et horizontalement d’une manière proportionnelle </a:t>
            </a: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376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92731" y="670537"/>
            <a:ext cx="1173086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 Grid</a:t>
            </a:r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79653" y="1231426"/>
            <a:ext cx="9911950" cy="456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dirty="0">
                <a:solidFill>
                  <a:srgbClr val="16161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fr-FR" dirty="0" smtClean="0">
                <a:solidFill>
                  <a:srgbClr val="16161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Voici un exemple de définition de Grid</a:t>
            </a: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7822" y="1938482"/>
            <a:ext cx="6805347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Grid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Margin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="50"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VerticalOptions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="Center"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HorizontalOptions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="Center"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RowDefinitions</a:t>
            </a:r>
            <a:r>
              <a:rPr lang="fr-FR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="*,*,*"</a:t>
            </a:r>
            <a:r>
              <a:rPr lang="fr-FR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  <a:r>
              <a:rPr lang="fr-FR" sz="1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ColumnDefinitions</a:t>
            </a:r>
            <a:r>
              <a:rPr lang="fr-FR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="*,*,*"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Frame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Margin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="10"&gt;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="00"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="30"/&gt;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Frame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Frame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Grid.Column</a:t>
            </a:r>
            <a:r>
              <a:rPr lang="fr-FR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="1"</a:t>
            </a:r>
            <a:r>
              <a:rPr lang="fr-FR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Margin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="10"&gt;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="01"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="30" /&gt;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Frame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Frame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Grid.Column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="2"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Margin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="10"&gt;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="02"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="30" /&gt;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Frame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Frame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Grid.Row</a:t>
            </a:r>
            <a:r>
              <a:rPr lang="en-US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="1"</a:t>
            </a:r>
            <a:r>
              <a:rPr lang="en-US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Margin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="10"&gt;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="10"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="30" </a:t>
            </a:r>
            <a:r>
              <a:rPr lang="en-US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/&gt;</a:t>
            </a:r>
          </a:p>
          <a:p>
            <a:r>
              <a:rPr lang="en-US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…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3060" y="718576"/>
            <a:ext cx="2521080" cy="566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148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92731" y="670537"/>
            <a:ext cx="1173086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 Grid</a:t>
            </a:r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79653" y="1231426"/>
            <a:ext cx="9911950" cy="456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dirty="0">
                <a:solidFill>
                  <a:srgbClr val="16161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fr-FR" dirty="0" smtClean="0">
                <a:solidFill>
                  <a:srgbClr val="16161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Voici un exemple d’utilisation de </a:t>
            </a:r>
            <a:r>
              <a:rPr lang="fr-FR" b="1" dirty="0" err="1" smtClean="0">
                <a:solidFill>
                  <a:srgbClr val="16161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ColumnSpan</a:t>
            </a:r>
            <a:r>
              <a:rPr lang="fr-FR" dirty="0" smtClean="0">
                <a:solidFill>
                  <a:srgbClr val="16161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et </a:t>
            </a:r>
            <a:r>
              <a:rPr lang="fr-FR" b="1" dirty="0" err="1" smtClean="0">
                <a:solidFill>
                  <a:srgbClr val="16161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RowSpan</a:t>
            </a:r>
            <a:endParaRPr lang="fr-FR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32574" y="1830196"/>
            <a:ext cx="6096000" cy="378565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Grid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WidthRequest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="300"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HeightRequest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="300"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</a:p>
          <a:p>
            <a:r>
              <a:rPr lang="fr-FR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</a:t>
            </a:r>
            <a:r>
              <a:rPr lang="fr-FR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VerticalOptions</a:t>
            </a:r>
            <a:r>
              <a:rPr lang="fr-FR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="Center"</a:t>
            </a:r>
            <a:r>
              <a:rPr lang="fr-FR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HorizontalOptions</a:t>
            </a:r>
            <a:r>
              <a:rPr lang="fr-FR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="Center"</a:t>
            </a:r>
            <a:endParaRPr lang="fr-FR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</a:t>
            </a:r>
            <a:r>
              <a:rPr lang="fr-FR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RowDefinitions</a:t>
            </a:r>
            <a:r>
              <a:rPr lang="fr-FR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="*,*,*,*"</a:t>
            </a:r>
            <a:r>
              <a:rPr lang="fr-FR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ColumnDefinitions</a:t>
            </a:r>
            <a:r>
              <a:rPr lang="fr-FR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="*,*,*,*"&gt;</a:t>
            </a:r>
            <a:endParaRPr lang="fr-FR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fr-FR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="orange"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="10"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Grid.ColumnSpan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="2"/&gt;</a:t>
            </a:r>
            <a:endParaRPr lang="en-US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="red"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="10"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Grid.Column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="2"/&gt;</a:t>
            </a:r>
            <a:endParaRPr lang="en-US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="red"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="10"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Grid.Column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="3"/&gt;</a:t>
            </a:r>
            <a:endParaRPr lang="en-US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fr-FR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="red"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="10"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Grid.Row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="1" /&gt;</a:t>
            </a:r>
            <a:endParaRPr lang="en-US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="red"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="10"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Grid.Row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="1"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Grid.Column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="1"/&gt;</a:t>
            </a:r>
            <a:endParaRPr lang="en-US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="red"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="10"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Grid.Row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="1"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Grid.Column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="2"/&gt;</a:t>
            </a:r>
            <a:endParaRPr lang="en-US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="red"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="10"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Grid.Row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="1"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Grid.Column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="3"/&gt;</a:t>
            </a:r>
            <a:endParaRPr lang="en-US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fr-FR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="red"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="10"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Grid.Row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="2"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Grid.Column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="1"/&gt;</a:t>
            </a:r>
            <a:endParaRPr lang="en-US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="red"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="10"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Grid.Row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="2"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Grid.Column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="2"/&gt;</a:t>
            </a:r>
            <a:endParaRPr lang="en-US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="green"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="10"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Grid.Row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="2"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Grid.RowSpan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="2"/&gt;</a:t>
            </a:r>
            <a:endParaRPr lang="en-US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="red"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="10"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Grid.Row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="2"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Grid.Column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="3"/&gt;</a:t>
            </a:r>
            <a:endParaRPr lang="en-US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fr-FR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="red"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="10"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Grid.Row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="3"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Grid.Column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="1"/&gt;</a:t>
            </a:r>
            <a:endParaRPr lang="en-US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="red"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="10"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Grid.Row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="3"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Grid.Column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="2"/&gt;</a:t>
            </a:r>
            <a:endParaRPr lang="en-US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="red"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="10"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Grid.Row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="3"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Grid.Column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="3"/&gt;</a:t>
            </a:r>
            <a:endParaRPr lang="en-US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fr-FR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Grid</a:t>
            </a:r>
            <a:r>
              <a:rPr lang="fr-FR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0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346" y="1009091"/>
            <a:ext cx="2431129" cy="543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944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92731" y="670537"/>
            <a:ext cx="1173086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 Grid</a:t>
            </a:r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79653" y="1231426"/>
            <a:ext cx="9911950" cy="456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dirty="0">
                <a:solidFill>
                  <a:srgbClr val="16161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fr-FR" dirty="0" smtClean="0">
                <a:solidFill>
                  <a:srgbClr val="16161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Voici un exemple d’utilisation de </a:t>
            </a:r>
            <a:r>
              <a:rPr lang="fr-FR" b="1" dirty="0" err="1" smtClean="0">
                <a:solidFill>
                  <a:srgbClr val="16161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ColumnSpan</a:t>
            </a:r>
            <a:r>
              <a:rPr lang="fr-FR" dirty="0" smtClean="0">
                <a:solidFill>
                  <a:srgbClr val="16161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et </a:t>
            </a:r>
            <a:r>
              <a:rPr lang="fr-FR" b="1" dirty="0" err="1" smtClean="0">
                <a:solidFill>
                  <a:srgbClr val="16161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RowSpan</a:t>
            </a:r>
            <a:endParaRPr lang="fr-FR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32574" y="1830196"/>
            <a:ext cx="6096000" cy="378565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Grid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WidthRequest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="300"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HeightRequest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="300"</a:t>
            </a:r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</a:p>
          <a:p>
            <a:r>
              <a:rPr lang="fr-FR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</a:t>
            </a:r>
            <a:r>
              <a:rPr lang="fr-FR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VerticalOptions</a:t>
            </a:r>
            <a:r>
              <a:rPr lang="fr-FR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="Center"</a:t>
            </a:r>
            <a:r>
              <a:rPr lang="fr-FR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HorizontalOptions</a:t>
            </a:r>
            <a:r>
              <a:rPr lang="fr-FR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="Center"</a:t>
            </a:r>
            <a:endParaRPr lang="fr-FR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</a:t>
            </a:r>
            <a:r>
              <a:rPr lang="fr-FR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RowDefinitions</a:t>
            </a:r>
            <a:r>
              <a:rPr lang="fr-FR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="*,*,*,*"</a:t>
            </a:r>
            <a:r>
              <a:rPr lang="fr-FR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ColumnDefinitions</a:t>
            </a:r>
            <a:r>
              <a:rPr lang="fr-FR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="*,*,*,*"&gt;</a:t>
            </a:r>
            <a:endParaRPr lang="fr-FR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fr-FR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="orange"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="10"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Grid.ColumnSpan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="2"/&gt;</a:t>
            </a:r>
            <a:endParaRPr lang="en-US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="red"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="10"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Grid.Column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="2"/&gt;</a:t>
            </a:r>
            <a:endParaRPr lang="en-US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="red"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="10"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Grid.Column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="3"/&gt;</a:t>
            </a:r>
            <a:endParaRPr lang="en-US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fr-FR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="red"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="10"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Grid.Row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="1" /&gt;</a:t>
            </a:r>
            <a:endParaRPr lang="en-US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="red"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="10"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Grid.Row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="1"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Grid.Column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="1"/&gt;</a:t>
            </a:r>
            <a:endParaRPr lang="en-US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="red"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="10"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Grid.Row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="1"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Grid.Column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="2"/&gt;</a:t>
            </a:r>
            <a:endParaRPr lang="en-US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="red"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="10"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Grid.Row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="1"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Grid.Column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="3"/&gt;</a:t>
            </a:r>
            <a:endParaRPr lang="en-US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fr-FR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="red"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="10"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Grid.Row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="2"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Grid.Column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="1"/&gt;</a:t>
            </a:r>
            <a:endParaRPr lang="en-US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="red"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="10"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Grid.Row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="2"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Grid.Column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="2"/&gt;</a:t>
            </a:r>
            <a:endParaRPr lang="en-US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="green"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="10"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Grid.Row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="2"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Grid.RowSpan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="2"/&gt;</a:t>
            </a:r>
            <a:endParaRPr lang="en-US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="red"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="10"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Grid.Row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="2"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Grid.Column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="3"/&gt;</a:t>
            </a:r>
            <a:endParaRPr lang="en-US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fr-FR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="red"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="10"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Grid.Row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="3"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Grid.Column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="1"/&gt;</a:t>
            </a:r>
            <a:endParaRPr lang="en-US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="red"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="10"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Grid.Row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="3"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Grid.Column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="2"/&gt;</a:t>
            </a:r>
            <a:endParaRPr lang="en-US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="red"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="10"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Grid.Row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="3"</a:t>
            </a:r>
            <a:r>
              <a:rPr lang="en-US" sz="10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Grid.Column</a:t>
            </a:r>
            <a:r>
              <a:rPr lang="en-US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="3"/&gt;</a:t>
            </a:r>
            <a:endParaRPr lang="en-US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fr-FR" sz="1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0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000" dirty="0">
                <a:solidFill>
                  <a:srgbClr val="A31515"/>
                </a:solidFill>
                <a:latin typeface="Cascadia Mono" panose="020B0609020000020004" pitchFamily="49" charset="0"/>
              </a:rPr>
              <a:t>Grid</a:t>
            </a:r>
            <a:r>
              <a:rPr lang="fr-FR" sz="10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0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346" y="1009091"/>
            <a:ext cx="2431129" cy="543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07538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92731" y="670537"/>
            <a:ext cx="1173086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 Grid</a:t>
            </a:r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79653" y="1231426"/>
            <a:ext cx="9911950" cy="456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dirty="0">
                <a:solidFill>
                  <a:srgbClr val="16161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fr-FR" dirty="0" smtClean="0">
                <a:solidFill>
                  <a:srgbClr val="16161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Remarquer le dimensionnement de la deuxième ligne</a:t>
            </a:r>
            <a:endParaRPr lang="fr-FR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2573" y="1836604"/>
            <a:ext cx="6464215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Grid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WidthRequest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="300"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HeightRequest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="300"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VerticalOptions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="Center"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HorizontalOptions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="Center"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RowDefinitions</a:t>
            </a:r>
            <a:r>
              <a:rPr lang="fr-FR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="*,2*,*,*"</a:t>
            </a:r>
            <a:r>
              <a:rPr lang="fr-FR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ColumnDefinitions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="*,*,*,*"&gt;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="red"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="10"/&gt;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="red"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="10"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Grid.Column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="1" /&gt;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="red"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="10"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Grid.Column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="2"/&gt;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="red"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="10"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Grid.Column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="3"/&gt;</a:t>
            </a:r>
            <a:endParaRPr lang="fr-FR" sz="1200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9692" y="611147"/>
            <a:ext cx="2533780" cy="5651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80011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92731" y="670537"/>
            <a:ext cx="1173086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 Grid</a:t>
            </a:r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79653" y="1231426"/>
            <a:ext cx="772992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dirty="0">
                <a:solidFill>
                  <a:srgbClr val="16161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fr-FR" dirty="0" smtClean="0">
                <a:solidFill>
                  <a:srgbClr val="16161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Utiliser le dimensionnement auto au cas où la dimension de l’élément</a:t>
            </a:r>
          </a:p>
          <a:p>
            <a:pPr>
              <a:lnSpc>
                <a:spcPct val="150000"/>
              </a:lnSpc>
            </a:pPr>
            <a:r>
              <a:rPr lang="fr-FR" dirty="0">
                <a:solidFill>
                  <a:srgbClr val="16161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dirty="0" smtClean="0">
                <a:solidFill>
                  <a:srgbClr val="16161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en question est </a:t>
            </a:r>
            <a:r>
              <a:rPr lang="fr-FR" dirty="0" err="1" smtClean="0">
                <a:solidFill>
                  <a:srgbClr val="16161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recommendée</a:t>
            </a:r>
            <a:r>
              <a:rPr lang="fr-FR" dirty="0" smtClean="0">
                <a:solidFill>
                  <a:srgbClr val="16161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</a:t>
            </a:r>
            <a:endParaRPr lang="fr-FR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38711" y="2154756"/>
            <a:ext cx="7519764" cy="23237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100" dirty="0">
                <a:solidFill>
                  <a:srgbClr val="A31515"/>
                </a:solidFill>
                <a:latin typeface="Cascadia Mono" panose="020B0609020000020004" pitchFamily="49" charset="0"/>
              </a:rPr>
              <a:t>Grid</a:t>
            </a:r>
            <a:r>
              <a:rPr lang="en-US" sz="11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WidthRequest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="300"</a:t>
            </a:r>
            <a:r>
              <a:rPr lang="en-US" sz="11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HeightRequest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="300"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</a:p>
          <a:p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</a:t>
            </a:r>
            <a:r>
              <a:rPr lang="fr-FR" sz="1100" dirty="0">
                <a:solidFill>
                  <a:srgbClr val="FF0000"/>
                </a:solidFill>
                <a:latin typeface="Cascadia Mono" panose="020B0609020000020004" pitchFamily="49" charset="0"/>
              </a:rPr>
              <a:t> VerticalOptions</a:t>
            </a:r>
            <a:r>
              <a:rPr lang="fr-FR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="Center"</a:t>
            </a:r>
            <a:r>
              <a:rPr lang="fr-FR" sz="11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1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HorizontalOptions</a:t>
            </a:r>
            <a:r>
              <a:rPr lang="fr-FR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="Center"</a:t>
            </a:r>
            <a:endParaRPr lang="fr-FR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</a:t>
            </a:r>
            <a:r>
              <a:rPr lang="fr-FR" sz="11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RowDefinitions</a:t>
            </a:r>
            <a:r>
              <a:rPr lang="fr-FR" sz="1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="*,auto,*,*"</a:t>
            </a:r>
            <a:r>
              <a:rPr lang="fr-FR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  <a:r>
              <a:rPr lang="fr-FR" sz="11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ColumnDefinitions</a:t>
            </a:r>
            <a:r>
              <a:rPr lang="fr-FR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="*,*,*,*"&gt;</a:t>
            </a:r>
            <a:endParaRPr lang="fr-FR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fr-FR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1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100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="red"</a:t>
            </a:r>
            <a:r>
              <a:rPr lang="en-US" sz="11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="10"/&gt;</a:t>
            </a:r>
            <a:endParaRPr lang="en-US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1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100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="red"</a:t>
            </a:r>
            <a:r>
              <a:rPr lang="en-US" sz="11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="10"</a:t>
            </a:r>
            <a:r>
              <a:rPr lang="en-US" sz="11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Grid.Column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="1" /&gt;</a:t>
            </a:r>
            <a:endParaRPr lang="en-US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1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100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="red"</a:t>
            </a:r>
            <a:r>
              <a:rPr lang="en-US" sz="11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="10"</a:t>
            </a:r>
            <a:r>
              <a:rPr lang="en-US" sz="11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Grid.Column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="2"/&gt;</a:t>
            </a:r>
            <a:endParaRPr lang="en-US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1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100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="red"</a:t>
            </a:r>
            <a:r>
              <a:rPr lang="en-US" sz="11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="10"</a:t>
            </a:r>
            <a:r>
              <a:rPr lang="en-US" sz="11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Grid.Column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="3"/&gt;</a:t>
            </a:r>
            <a:endParaRPr lang="en-US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fr-FR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&lt;</a:t>
            </a:r>
            <a:r>
              <a:rPr lang="en-US" sz="1200" b="1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Label</a:t>
            </a:r>
            <a:r>
              <a:rPr lang="en-US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  <a:r>
              <a:rPr lang="en-US" sz="1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HeightRequest</a:t>
            </a:r>
            <a:r>
              <a:rPr lang="en-US" sz="1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="150"</a:t>
            </a:r>
            <a:r>
              <a:rPr lang="en-US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Background</a:t>
            </a:r>
            <a:r>
              <a:rPr lang="en-US" sz="1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="red"</a:t>
            </a:r>
            <a:r>
              <a:rPr lang="en-US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Margin</a:t>
            </a:r>
            <a:r>
              <a:rPr lang="en-US" sz="1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="10"</a:t>
            </a:r>
            <a:r>
              <a:rPr lang="en-US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  <a:r>
              <a:rPr lang="en-US" sz="1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Grid.Row</a:t>
            </a:r>
            <a:r>
              <a:rPr lang="en-US" sz="1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="1" /&gt;</a:t>
            </a:r>
            <a:endParaRPr lang="en-US" sz="12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1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100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="red"</a:t>
            </a:r>
            <a:r>
              <a:rPr lang="en-US" sz="11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="10"</a:t>
            </a:r>
            <a:r>
              <a:rPr lang="en-US" sz="11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Grid.Row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="1"</a:t>
            </a:r>
            <a:r>
              <a:rPr lang="en-US" sz="11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Grid.Column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="1"/&gt;</a:t>
            </a:r>
            <a:endParaRPr lang="en-US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1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100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="red"</a:t>
            </a:r>
            <a:r>
              <a:rPr lang="en-US" sz="11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="10"</a:t>
            </a:r>
            <a:r>
              <a:rPr lang="en-US" sz="11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Grid.Row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="1"</a:t>
            </a:r>
            <a:r>
              <a:rPr lang="en-US" sz="11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Grid.Column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="2"/&gt;</a:t>
            </a:r>
            <a:endParaRPr lang="en-US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1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100" dirty="0">
                <a:solidFill>
                  <a:srgbClr val="FF0000"/>
                </a:solidFill>
                <a:latin typeface="Cascadia Mono" panose="020B0609020000020004" pitchFamily="49" charset="0"/>
              </a:rPr>
              <a:t> Background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="red"</a:t>
            </a:r>
            <a:r>
              <a:rPr lang="en-US" sz="11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="10"</a:t>
            </a:r>
            <a:r>
              <a:rPr lang="en-US" sz="11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Grid.Row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="1"</a:t>
            </a:r>
            <a:r>
              <a:rPr lang="en-US" sz="11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Grid.Column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="3"/&gt;</a:t>
            </a:r>
            <a:endParaRPr lang="fr-FR" sz="1100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5585" y="1319437"/>
            <a:ext cx="2296566" cy="520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99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hlinkClick r:id="rId3"/>
          </p:cNvPr>
          <p:cNvSpPr/>
          <p:nvPr/>
        </p:nvSpPr>
        <p:spPr>
          <a:xfrm>
            <a:off x="3759226" y="2862518"/>
            <a:ext cx="456305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Exercice 1 Exploration des </a:t>
            </a:r>
            <a:r>
              <a:rPr lang="fr-FR" b="1" dirty="0" err="1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Layouts</a:t>
            </a:r>
            <a:endParaRPr lang="fr-FR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8320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/>
          <p:cNvSpPr txBox="1">
            <a:spLocks noChangeArrowheads="1"/>
          </p:cNvSpPr>
          <p:nvPr/>
        </p:nvSpPr>
        <p:spPr bwMode="auto">
          <a:xfrm>
            <a:off x="292731" y="670537"/>
            <a:ext cx="1173086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 smtClean="0">
                <a:latin typeface="Segoe UI Symbol" panose="020B0502040204020203" pitchFamily="34" charset="0"/>
              </a:rPr>
              <a:t>Les Layout </a:t>
            </a:r>
            <a:r>
              <a:rPr lang="fr-FR" altLang="en-US" sz="2200" u="sng" dirty="0" smtClean="0">
                <a:latin typeface="Segoe UI Symbol" panose="020B0502040204020203" pitchFamily="34" charset="0"/>
              </a:rPr>
              <a:t>personnalisés</a:t>
            </a:r>
            <a:endParaRPr lang="fr-FR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79652" y="1231426"/>
            <a:ext cx="11170017" cy="3831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dirty="0">
                <a:solidFill>
                  <a:srgbClr val="16161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fr-FR" dirty="0" smtClean="0">
                <a:solidFill>
                  <a:srgbClr val="16161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Tous les contrôle </a:t>
            </a:r>
            <a:r>
              <a:rPr lang="fr-FR" b="1" dirty="0" smtClean="0">
                <a:solidFill>
                  <a:srgbClr val="16161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Layout</a:t>
            </a:r>
            <a:r>
              <a:rPr lang="fr-FR" dirty="0" smtClean="0">
                <a:solidFill>
                  <a:srgbClr val="16161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héritent de Layout de 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Microsoft.Maui.Layouts</a:t>
            </a:r>
            <a:endParaRPr lang="fr-FR" b="1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sz="2000" b="1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sz="2000" b="1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sz="2000" b="1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000" dirty="0" smtClean="0">
                <a:latin typeface="Segoe UI" panose="020B0502040204020203" pitchFamily="34" charset="0"/>
                <a:cs typeface="Segoe UI" panose="020B0502040204020203" pitchFamily="34" charset="0"/>
              </a:rPr>
              <a:t>Il faut implémenter un type 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ILayoutManager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qui gère les éléments fils à l’intérieur</a:t>
            </a:r>
            <a:endParaRPr lang="fr-FR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73722" y="1973866"/>
            <a:ext cx="979042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fr-FR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dirty="0" err="1" smtClean="0">
                <a:solidFill>
                  <a:srgbClr val="2B91AF"/>
                </a:solidFill>
                <a:latin typeface="Cascadia Mono" panose="020B0609020000020004" pitchFamily="49" charset="0"/>
              </a:rPr>
              <a:t>CustomLayout</a:t>
            </a:r>
            <a:r>
              <a:rPr lang="fr-FR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dirty="0">
                <a:solidFill>
                  <a:srgbClr val="000000"/>
                </a:solidFill>
                <a:latin typeface="Cascadia Mono" panose="020B0609020000020004" pitchFamily="49" charset="0"/>
              </a:rPr>
              <a:t>: Layout</a:t>
            </a:r>
          </a:p>
          <a:p>
            <a:r>
              <a:rPr lang="fr-FR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fr-FR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protected</a:t>
            </a:r>
            <a:r>
              <a:rPr lang="fr-FR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dirty="0" err="1">
                <a:solidFill>
                  <a:srgbClr val="0000FF"/>
                </a:solidFill>
                <a:latin typeface="Cascadia Mono" panose="020B0609020000020004" pitchFamily="49" charset="0"/>
              </a:rPr>
              <a:t>override</a:t>
            </a:r>
            <a:r>
              <a:rPr lang="fr-FR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ILayoutManager</a:t>
            </a:r>
            <a:r>
              <a:rPr lang="fr-FR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CreateLayoutManager</a:t>
            </a:r>
            <a:r>
              <a:rPr lang="fr-FR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fr-FR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fr-FR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throw</a:t>
            </a:r>
            <a:r>
              <a:rPr lang="fr-FR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NotImplementedException</a:t>
            </a:r>
            <a:r>
              <a:rPr lang="fr-FR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fr-FR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fr-FR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08434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>
            <a:hlinkClick r:id="rId2"/>
          </p:cNvPr>
          <p:cNvSpPr txBox="1">
            <a:spLocks noChangeArrowheads="1"/>
          </p:cNvSpPr>
          <p:nvPr/>
        </p:nvSpPr>
        <p:spPr bwMode="auto">
          <a:xfrm>
            <a:off x="933748" y="2991713"/>
            <a:ext cx="10311452" cy="20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</a:pPr>
            <a:r>
              <a:rPr lang="fr-FR" altLang="en-US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Exercice 2 Implémentation du </a:t>
            </a:r>
            <a:r>
              <a:rPr lang="fr-FR" altLang="en-US" b="1" dirty="0" err="1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DashbordLayout</a:t>
            </a:r>
            <a:endParaRPr lang="en-US" altLang="en-US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5598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>
            <a:hlinkClick r:id="rId2"/>
          </p:cNvPr>
          <p:cNvSpPr txBox="1">
            <a:spLocks noChangeArrowheads="1"/>
          </p:cNvSpPr>
          <p:nvPr/>
        </p:nvSpPr>
        <p:spPr bwMode="auto">
          <a:xfrm>
            <a:off x="933748" y="2991713"/>
            <a:ext cx="10311452" cy="2371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</a:pPr>
            <a:r>
              <a:rPr lang="fr-FR" altLang="en-US" sz="32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 de démonstration </a:t>
            </a:r>
            <a:endParaRPr lang="en-US" altLang="en-US" sz="3200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object 18"/>
          <p:cNvSpPr txBox="1">
            <a:spLocks noChangeArrowheads="1"/>
          </p:cNvSpPr>
          <p:nvPr/>
        </p:nvSpPr>
        <p:spPr bwMode="auto">
          <a:xfrm>
            <a:off x="933748" y="3371029"/>
            <a:ext cx="10311452" cy="196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</a:pPr>
            <a:r>
              <a:rPr lang="fr-FR" altLang="en-US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Projet: </a:t>
            </a:r>
            <a:r>
              <a:rPr lang="fr-FR" altLang="en-US" b="1" dirty="0" err="1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DemoLayouts</a:t>
            </a:r>
            <a:endParaRPr lang="en-US" altLang="en-US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2813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9058</TotalTime>
  <Words>6297</Words>
  <Application>Microsoft Office PowerPoint</Application>
  <PresentationFormat>Widescreen</PresentationFormat>
  <Paragraphs>1022</Paragraphs>
  <Slides>61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71" baseType="lpstr">
      <vt:lpstr>Arial</vt:lpstr>
      <vt:lpstr>Calibri</vt:lpstr>
      <vt:lpstr>Calibri Light</vt:lpstr>
      <vt:lpstr>Cascadia Mono</vt:lpstr>
      <vt:lpstr>Comic Sans MS</vt:lpstr>
      <vt:lpstr>Segoe UI</vt:lpstr>
      <vt:lpstr>Segoe UI 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C# les fondmentaux </dc:title>
  <dc:creator>Windows User</dc:creator>
  <cp:lastModifiedBy>DELL</cp:lastModifiedBy>
  <cp:revision>173</cp:revision>
  <dcterms:created xsi:type="dcterms:W3CDTF">2022-10-07T06:35:33Z</dcterms:created>
  <dcterms:modified xsi:type="dcterms:W3CDTF">2025-07-20T15:48:47Z</dcterms:modified>
</cp:coreProperties>
</file>