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4" r:id="rId2"/>
    <p:sldId id="256" r:id="rId3"/>
    <p:sldId id="273" r:id="rId4"/>
    <p:sldId id="257" r:id="rId5"/>
    <p:sldId id="258" r:id="rId6"/>
    <p:sldId id="259" r:id="rId7"/>
    <p:sldId id="276" r:id="rId8"/>
    <p:sldId id="260" r:id="rId9"/>
    <p:sldId id="263" r:id="rId10"/>
    <p:sldId id="261" r:id="rId11"/>
    <p:sldId id="262" r:id="rId12"/>
    <p:sldId id="264" r:id="rId13"/>
    <p:sldId id="265" r:id="rId14"/>
    <p:sldId id="267" r:id="rId15"/>
    <p:sldId id="266" r:id="rId16"/>
    <p:sldId id="268" r:id="rId17"/>
    <p:sldId id="269" r:id="rId18"/>
    <p:sldId id="270" r:id="rId19"/>
    <p:sldId id="271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73" autoAdjust="0"/>
  </p:normalViewPr>
  <p:slideViewPr>
    <p:cSldViewPr snapToGrid="0">
      <p:cViewPr varScale="1">
        <p:scale>
          <a:sx n="104" d="100"/>
          <a:sy n="104" d="100"/>
        </p:scale>
        <p:origin x="756" y="6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0E58A-0F4A-494B-9E26-0710D88F578B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3CDD9-6ADE-4041-B3EF-74A6442A8F0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73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Ajout</a:t>
            </a:r>
            <a:r>
              <a:rPr lang="fr-FR" b="1" baseline="0" dirty="0" smtClean="0"/>
              <a:t> dynamique de dictionnaire:</a:t>
            </a:r>
          </a:p>
          <a:p>
            <a:endParaRPr lang="fr-FR" b="1" baseline="0" dirty="0" smtClean="0"/>
          </a:p>
          <a:p>
            <a:r>
              <a:rPr lang="en-US" b="0" dirty="0" smtClean="0"/>
              <a:t>//  </a:t>
            </a:r>
            <a:r>
              <a:rPr lang="en-US" b="0" dirty="0" err="1" smtClean="0"/>
              <a:t>Créer</a:t>
            </a:r>
            <a:r>
              <a:rPr lang="en-US" b="0" dirty="0" smtClean="0"/>
              <a:t> un </a:t>
            </a:r>
            <a:r>
              <a:rPr lang="en-US" b="0" dirty="0" err="1" smtClean="0"/>
              <a:t>dictionnaire</a:t>
            </a:r>
            <a:endParaRPr lang="en-US" b="0" dirty="0" smtClean="0"/>
          </a:p>
          <a:p>
            <a:r>
              <a:rPr lang="en-US" b="0" dirty="0" smtClean="0"/>
              <a:t>        </a:t>
            </a:r>
            <a:r>
              <a:rPr lang="en-US" b="0" dirty="0" err="1" smtClean="0"/>
              <a:t>var</a:t>
            </a:r>
            <a:r>
              <a:rPr lang="en-US" b="0" dirty="0" smtClean="0"/>
              <a:t> </a:t>
            </a:r>
            <a:r>
              <a:rPr lang="en-US" b="0" dirty="0" err="1" smtClean="0"/>
              <a:t>newDictionary</a:t>
            </a:r>
            <a:r>
              <a:rPr lang="en-US" b="0" dirty="0" smtClean="0"/>
              <a:t> = new </a:t>
            </a:r>
            <a:r>
              <a:rPr lang="en-US" b="0" dirty="0" err="1" smtClean="0"/>
              <a:t>ResourceDictionary</a:t>
            </a:r>
            <a:r>
              <a:rPr lang="en-US" b="0" dirty="0" smtClean="0"/>
              <a:t>();</a:t>
            </a:r>
          </a:p>
          <a:p>
            <a:endParaRPr lang="en-US" b="0" dirty="0" smtClean="0"/>
          </a:p>
          <a:p>
            <a:r>
              <a:rPr lang="en-US" b="0" dirty="0" smtClean="0"/>
              <a:t>        // </a:t>
            </a:r>
            <a:r>
              <a:rPr lang="en-US" b="0" dirty="0" err="1" smtClean="0"/>
              <a:t>Créer</a:t>
            </a:r>
            <a:r>
              <a:rPr lang="en-US" b="0" dirty="0" smtClean="0"/>
              <a:t> un style</a:t>
            </a:r>
          </a:p>
          <a:p>
            <a:r>
              <a:rPr lang="en-US" b="0" dirty="0" smtClean="0"/>
              <a:t>        </a:t>
            </a:r>
            <a:r>
              <a:rPr lang="en-US" b="0" dirty="0" err="1" smtClean="0"/>
              <a:t>var</a:t>
            </a:r>
            <a:r>
              <a:rPr lang="en-US" b="0" dirty="0" smtClean="0"/>
              <a:t> </a:t>
            </a:r>
            <a:r>
              <a:rPr lang="en-US" b="0" dirty="0" err="1" smtClean="0"/>
              <a:t>labelStyle</a:t>
            </a:r>
            <a:r>
              <a:rPr lang="en-US" b="0" dirty="0" smtClean="0"/>
              <a:t> = new Style(</a:t>
            </a:r>
            <a:r>
              <a:rPr lang="en-US" b="0" dirty="0" err="1" smtClean="0"/>
              <a:t>typeof</a:t>
            </a:r>
            <a:r>
              <a:rPr lang="en-US" b="0" dirty="0" smtClean="0"/>
              <a:t>(Label))</a:t>
            </a:r>
          </a:p>
          <a:p>
            <a:r>
              <a:rPr lang="en-US" b="0" dirty="0" smtClean="0"/>
              <a:t>        {</a:t>
            </a:r>
          </a:p>
          <a:p>
            <a:r>
              <a:rPr lang="en-US" b="0" dirty="0" smtClean="0"/>
              <a:t>            Setters =</a:t>
            </a:r>
          </a:p>
          <a:p>
            <a:r>
              <a:rPr lang="en-US" b="0" dirty="0" smtClean="0"/>
              <a:t>            {</a:t>
            </a:r>
          </a:p>
          <a:p>
            <a:r>
              <a:rPr lang="en-US" b="0" dirty="0" smtClean="0"/>
              <a:t>                new Setter { Property = </a:t>
            </a:r>
            <a:r>
              <a:rPr lang="en-US" b="0" dirty="0" err="1" smtClean="0"/>
              <a:t>Label.TextColorProperty</a:t>
            </a:r>
            <a:r>
              <a:rPr lang="en-US" b="0" dirty="0" smtClean="0"/>
              <a:t>, Value = </a:t>
            </a:r>
            <a:r>
              <a:rPr lang="en-US" b="0" dirty="0" err="1" smtClean="0"/>
              <a:t>Colors.DarkGreen</a:t>
            </a:r>
            <a:r>
              <a:rPr lang="en-US" b="0" dirty="0" smtClean="0"/>
              <a:t> },</a:t>
            </a:r>
          </a:p>
          <a:p>
            <a:r>
              <a:rPr lang="en-US" b="0" dirty="0" smtClean="0"/>
              <a:t>                new Setter { Property = </a:t>
            </a:r>
            <a:r>
              <a:rPr lang="en-US" b="0" dirty="0" err="1" smtClean="0"/>
              <a:t>Label.FontSizeProperty</a:t>
            </a:r>
            <a:r>
              <a:rPr lang="en-US" b="0" dirty="0" smtClean="0"/>
              <a:t>, Value = 20 },</a:t>
            </a:r>
          </a:p>
          <a:p>
            <a:r>
              <a:rPr lang="en-US" b="0" dirty="0" smtClean="0"/>
              <a:t>                new Setter { Property = </a:t>
            </a:r>
            <a:r>
              <a:rPr lang="en-US" b="0" dirty="0" err="1" smtClean="0"/>
              <a:t>Label.FontAttributesProperty</a:t>
            </a:r>
            <a:r>
              <a:rPr lang="en-US" b="0" dirty="0" smtClean="0"/>
              <a:t>, Value = </a:t>
            </a:r>
            <a:r>
              <a:rPr lang="en-US" b="0" dirty="0" err="1" smtClean="0"/>
              <a:t>FontAttributes.Bold</a:t>
            </a:r>
            <a:r>
              <a:rPr lang="en-US" b="0" dirty="0" smtClean="0"/>
              <a:t> }</a:t>
            </a:r>
          </a:p>
          <a:p>
            <a:r>
              <a:rPr lang="en-US" b="0" dirty="0" smtClean="0"/>
              <a:t>            }</a:t>
            </a:r>
          </a:p>
          <a:p>
            <a:r>
              <a:rPr lang="en-US" b="0" dirty="0" smtClean="0"/>
              <a:t>        };</a:t>
            </a:r>
          </a:p>
          <a:p>
            <a:endParaRPr lang="en-US" b="0" dirty="0" smtClean="0"/>
          </a:p>
          <a:p>
            <a:r>
              <a:rPr lang="en-US" b="0" dirty="0" smtClean="0"/>
              <a:t>        // </a:t>
            </a:r>
            <a:r>
              <a:rPr lang="en-US" b="0" dirty="0" err="1" smtClean="0"/>
              <a:t>Ajouter</a:t>
            </a:r>
            <a:r>
              <a:rPr lang="en-US" b="0" dirty="0" smtClean="0"/>
              <a:t> le style au </a:t>
            </a:r>
            <a:r>
              <a:rPr lang="en-US" b="0" dirty="0" err="1" smtClean="0"/>
              <a:t>dictionnaire</a:t>
            </a:r>
            <a:endParaRPr lang="en-US" b="0" dirty="0" smtClean="0"/>
          </a:p>
          <a:p>
            <a:r>
              <a:rPr lang="en-US" b="0" dirty="0" smtClean="0"/>
              <a:t>        </a:t>
            </a:r>
            <a:r>
              <a:rPr lang="en-US" b="0" dirty="0" err="1" smtClean="0"/>
              <a:t>newDictionary.Add</a:t>
            </a:r>
            <a:r>
              <a:rPr lang="en-US" b="0" dirty="0" smtClean="0"/>
              <a:t>("</a:t>
            </a:r>
            <a:r>
              <a:rPr lang="en-US" b="0" dirty="0" err="1" smtClean="0"/>
              <a:t>MyLabelStyle</a:t>
            </a:r>
            <a:r>
              <a:rPr lang="en-US" b="0" dirty="0" smtClean="0"/>
              <a:t>", </a:t>
            </a:r>
            <a:r>
              <a:rPr lang="en-US" b="0" dirty="0" err="1" smtClean="0"/>
              <a:t>labelStyle</a:t>
            </a:r>
            <a:r>
              <a:rPr lang="en-US" b="0" dirty="0" smtClean="0"/>
              <a:t>);</a:t>
            </a:r>
          </a:p>
          <a:p>
            <a:endParaRPr lang="en-US" b="0" dirty="0" smtClean="0"/>
          </a:p>
          <a:p>
            <a:r>
              <a:rPr lang="en-US" b="0" dirty="0" smtClean="0"/>
              <a:t>        // </a:t>
            </a:r>
            <a:r>
              <a:rPr lang="en-US" b="0" dirty="0" err="1" smtClean="0"/>
              <a:t>Fusionner</a:t>
            </a:r>
            <a:r>
              <a:rPr lang="en-US" b="0" dirty="0" smtClean="0"/>
              <a:t> le </a:t>
            </a:r>
            <a:r>
              <a:rPr lang="en-US" b="0" dirty="0" err="1" smtClean="0"/>
              <a:t>dictionnaire</a:t>
            </a:r>
            <a:endParaRPr lang="en-US" b="0" dirty="0" smtClean="0"/>
          </a:p>
          <a:p>
            <a:r>
              <a:rPr lang="en-US" b="0" dirty="0" smtClean="0"/>
              <a:t>        </a:t>
            </a:r>
            <a:r>
              <a:rPr lang="en-US" b="0" dirty="0" err="1" smtClean="0"/>
              <a:t>Application.Current.Resources.MergedDictionaries.Add</a:t>
            </a:r>
            <a:r>
              <a:rPr lang="en-US" b="0" dirty="0" smtClean="0"/>
              <a:t>(</a:t>
            </a:r>
            <a:r>
              <a:rPr lang="en-US" b="0" dirty="0" err="1" smtClean="0"/>
              <a:t>newDictionary</a:t>
            </a:r>
            <a:r>
              <a:rPr lang="en-US" b="0" dirty="0" smtClean="0"/>
              <a:t>);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93CDD9-6ADE-4041-B3EF-74A6442A8F0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376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400" b="1" dirty="0" smtClean="0"/>
              <a:t>Exemple</a:t>
            </a:r>
            <a:r>
              <a:rPr lang="fr-FR" sz="2400" b="1" baseline="0" dirty="0" smtClean="0"/>
              <a:t> de code complet :</a:t>
            </a:r>
          </a:p>
          <a:p>
            <a:endParaRPr lang="fr-FR" baseline="0" dirty="0" smtClean="0"/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="black" 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="20"&gt;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Image.Source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FontImageSource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FontFamily</a:t>
            </a:r>
            <a:r>
              <a:rPr lang="fr-FR" sz="20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</a:t>
            </a:r>
            <a:r>
              <a:rPr lang="fr-FR" sz="2000" b="1" dirty="0" err="1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fontello</a:t>
            </a:r>
            <a:r>
              <a:rPr lang="fr-FR" sz="20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Glyph</a:t>
            </a:r>
            <a:r>
              <a:rPr lang="fr-FR" sz="1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="&amp;#xF0E0;"</a:t>
            </a:r>
            <a:endParaRPr lang="fr-FR" sz="1800" b="1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Size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="50"&gt;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FontImageSource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Image.Source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="20"&gt;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Image.Source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FontImageSource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FontFamily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fontello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Glyph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="&amp;#xE800;"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Size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="50"&gt;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FontImageSource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Image.Source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="20"&gt;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Image.Source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FontImageSource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FontFamily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fontello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Glyph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="&amp;#xE801;"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Size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="50"&gt;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FontImageSource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Image.Source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="20"&gt;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Image.Source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FontImageSource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FontFamily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fontello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Glyph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="&amp;#xE802;"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Size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="50"&gt;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FontImageSource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Image.Source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93CDD9-6ADE-4041-B3EF-74A6442A8F0E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141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93CDD9-6ADE-4041-B3EF-74A6442A8F0E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94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6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59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50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70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95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82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19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89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26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652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39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>
            <a:off x="146050" y="6198255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 smtClean="0"/>
              <a:t>Multi Application User Interface: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2025-2026 </a:t>
            </a:r>
            <a:endParaRPr lang="fr-FR" sz="1400" dirty="0"/>
          </a:p>
        </p:txBody>
      </p:sp>
      <p:pic>
        <p:nvPicPr>
          <p:cNvPr id="12" name="Picture 11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694" y="6087940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18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ExternalResourcesDemo.git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ont.google.com/" TargetMode="External"/><Relationship Id="rId2" Type="http://schemas.openxmlformats.org/officeDocument/2006/relationships/hyperlink" Target="https://www.fontsquirrel.com/fonts/list/popula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Localisation.md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0314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Les ressources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99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 txBox="1"/>
          <p:nvPr/>
        </p:nvSpPr>
        <p:spPr>
          <a:xfrm>
            <a:off x="422402" y="676339"/>
            <a:ext cx="6011863" cy="208775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8210" algn="l"/>
              </a:tabLst>
              <a:defRPr/>
            </a:pPr>
            <a:r>
              <a:rPr lang="en-US" sz="2400" u="heavy" spc="-5" dirty="0" err="1" smtClean="0">
                <a:latin typeface="Segoe UI Symbol"/>
                <a:cs typeface="Segoe UI Symbol"/>
              </a:rPr>
              <a:t>Objectifs</a:t>
            </a:r>
            <a:r>
              <a:rPr sz="2400" u="heavy" dirty="0" smtClean="0">
                <a:latin typeface="Segoe UI Symbol"/>
                <a:cs typeface="Segoe UI Symbol"/>
              </a:rPr>
              <a:t> </a:t>
            </a:r>
            <a:endParaRPr sz="2400" dirty="0">
              <a:latin typeface="Times New Roman"/>
              <a:cs typeface="Times New Roman"/>
            </a:endParaRPr>
          </a:p>
          <a:p>
            <a:pPr marL="256540" indent="-243840" eaLnBrk="1" fontAlgn="auto" hangingPunct="1">
              <a:spcBef>
                <a:spcPts val="1470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spc="25" dirty="0"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é</a:t>
            </a: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spc="25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spc="10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spc="15" dirty="0">
                <a:latin typeface="Segoe UI" panose="020B0502040204020203" pitchFamily="34" charset="0"/>
                <a:cs typeface="Segoe UI" panose="020B0502040204020203" pitchFamily="34" charset="0"/>
              </a:rPr>
              <a:t>v</a:t>
            </a: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spc="20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spc="5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spc="7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20" dirty="0"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5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spc="7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10" dirty="0">
                <a:latin typeface="Segoe UI" panose="020B0502040204020203" pitchFamily="34" charset="0"/>
                <a:cs typeface="Segoe UI" panose="020B0502040204020203" pitchFamily="34" charset="0"/>
              </a:rPr>
              <a:t>ss</a:t>
            </a:r>
            <a:r>
              <a:rPr spc="25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spc="10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spc="40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5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spc="14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7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25" dirty="0"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60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spc="5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spc="6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10" dirty="0"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spc="20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spc="-25" dirty="0">
                <a:latin typeface="Segoe UI" panose="020B0502040204020203" pitchFamily="34" charset="0"/>
                <a:cs typeface="Segoe UI" panose="020B0502040204020203" pitchFamily="34" charset="0"/>
              </a:rPr>
              <a:t>li</a:t>
            </a:r>
            <a:r>
              <a:rPr spc="10" dirty="0">
                <a:latin typeface="Segoe UI" panose="020B0502040204020203" pitchFamily="34" charset="0"/>
                <a:cs typeface="Segoe UI" panose="020B0502040204020203" pitchFamily="34" charset="0"/>
              </a:rPr>
              <a:t>sa</a:t>
            </a:r>
            <a:r>
              <a:rPr spc="5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-25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spc="25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spc="5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56540" indent="-243840" eaLnBrk="1" fontAlgn="auto" hangingPunct="1">
              <a:spcBef>
                <a:spcPts val="229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pc="25" dirty="0" smtClean="0">
                <a:latin typeface="Segoe UI" panose="020B0502040204020203" pitchFamily="34" charset="0"/>
                <a:cs typeface="Segoe UI" panose="020B0502040204020203" pitchFamily="34" charset="0"/>
              </a:rPr>
              <a:t>Travailler avec les d</a:t>
            </a:r>
            <a:r>
              <a:rPr lang="fr-FR" spc="-25" dirty="0" smtClean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fr-FR" spc="-5" dirty="0" smtClean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lang="fr-FR" spc="10" dirty="0" smtClean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fr-FR" spc="-25" dirty="0" smtClean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fr-FR" spc="25" dirty="0" smtClean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lang="fr-FR" spc="10" dirty="0" smtClean="0">
                <a:latin typeface="Segoe UI" panose="020B0502040204020203" pitchFamily="34" charset="0"/>
                <a:cs typeface="Segoe UI" panose="020B0502040204020203" pitchFamily="34" charset="0"/>
              </a:rPr>
              <a:t>nn</a:t>
            </a:r>
            <a:r>
              <a:rPr lang="fr-FR" spc="60" dirty="0" smtClean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fr-FR" spc="-25" dirty="0" smtClean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fr-FR" spc="40" dirty="0" smtClean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lang="fr-FR" spc="-10" dirty="0" smtClean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pc="5" dirty="0" smtClean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spc="14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20" dirty="0"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spc="5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5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10" dirty="0">
                <a:latin typeface="Segoe UI" panose="020B0502040204020203" pitchFamily="34" charset="0"/>
                <a:cs typeface="Segoe UI" panose="020B0502040204020203" pitchFamily="34" charset="0"/>
              </a:rPr>
              <a:t>ss</a:t>
            </a:r>
            <a:r>
              <a:rPr spc="25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spc="10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spc="40" dirty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5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56540" indent="-243840" eaLnBrk="1" fontAlgn="auto" hangingPunct="1">
              <a:spcBef>
                <a:spcPts val="275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spc="25" dirty="0" smtClean="0">
                <a:latin typeface="Segoe UI" panose="020B0502040204020203" pitchFamily="34" charset="0"/>
                <a:cs typeface="Segoe UI" panose="020B0502040204020203" pitchFamily="34" charset="0"/>
              </a:rPr>
              <a:t>Access</a:t>
            </a:r>
            <a:r>
              <a:rPr spc="3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20" dirty="0" smtClean="0"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fr-FR" spc="-5" dirty="0" smtClean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lang="fr-FR" spc="25" dirty="0" smtClean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lang="fr-FR" spc="20" dirty="0" smtClean="0"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  <a:r>
              <a:rPr lang="fr-FR" spc="-5" dirty="0" smtClean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lang="fr-FR" spc="60" dirty="0" smtClean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mm</a:t>
            </a:r>
            <a:r>
              <a:rPr lang="fr-FR" spc="10" dirty="0" smtClean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fr-FR" spc="55" dirty="0" smtClean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fr-FR" spc="-25" dirty="0" smtClean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fr-FR" spc="20" dirty="0" smtClean="0">
                <a:latin typeface="Segoe UI" panose="020B0502040204020203" pitchFamily="34" charset="0"/>
                <a:cs typeface="Segoe UI" panose="020B0502040204020203" pitchFamily="34" charset="0"/>
              </a:rPr>
              <a:t>q</a:t>
            </a:r>
            <a:r>
              <a:rPr lang="fr-FR" spc="10" dirty="0" smtClean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lang="fr-FR" spc="5" dirty="0" smtClean="0">
                <a:latin typeface="Segoe UI" panose="020B0502040204020203" pitchFamily="34" charset="0"/>
                <a:cs typeface="Segoe UI" panose="020B0502040204020203" pitchFamily="34" charset="0"/>
              </a:rPr>
              <a:t>e au ressources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56540" indent="-243840" eaLnBrk="1" fontAlgn="auto" hangingPunct="1">
              <a:spcBef>
                <a:spcPts val="325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r</a:t>
            </a:r>
            <a:r>
              <a:rPr spc="-1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es</a:t>
            </a:r>
            <a:r>
              <a:rPr lang="fr-FR" spc="-10" dirty="0" smtClean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spc="-1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ources</a:t>
            </a:r>
            <a:r>
              <a:rPr spc="85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20" dirty="0" smtClean="0"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lang="fr-FR" spc="5" dirty="0" smtClean="0"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r>
              <a:rPr lang="fr-FR" spc="15" dirty="0" smtClean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fr-FR" spc="10" dirty="0" smtClean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m</a:t>
            </a:r>
            <a:r>
              <a:rPr lang="fr-FR" spc="-25" dirty="0" smtClean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fr-FR" spc="20" dirty="0" smtClean="0">
                <a:latin typeface="Segoe UI" panose="020B0502040204020203" pitchFamily="34" charset="0"/>
                <a:cs typeface="Segoe UI" panose="020B0502040204020203" pitchFamily="34" charset="0"/>
              </a:rPr>
              <a:t>q</a:t>
            </a:r>
            <a:r>
              <a:rPr lang="fr-FR" spc="60" dirty="0" smtClean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lang="fr-FR" spc="-10" dirty="0" smtClean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pc="5" dirty="0" smtClean="0">
                <a:latin typeface="Segoe UI" panose="020B0502040204020203" pitchFamily="34" charset="0"/>
                <a:cs typeface="Segoe UI" panose="020B0502040204020203" pitchFamily="34" charset="0"/>
              </a:rPr>
              <a:t>s vs les ressources statiques</a:t>
            </a:r>
          </a:p>
          <a:p>
            <a:pPr marL="256540" indent="-243840" eaLnBrk="1" fontAlgn="auto" hangingPunct="1">
              <a:spcBef>
                <a:spcPts val="325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pc="5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Ressources externes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16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90504" y="2991713"/>
            <a:ext cx="10311452" cy="23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 de démonstration </a:t>
            </a:r>
            <a:endParaRPr lang="en-US" altLang="en-US" sz="3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bject 18"/>
          <p:cNvSpPr txBox="1">
            <a:spLocks noChangeArrowheads="1"/>
          </p:cNvSpPr>
          <p:nvPr/>
        </p:nvSpPr>
        <p:spPr bwMode="auto">
          <a:xfrm>
            <a:off x="933748" y="3371029"/>
            <a:ext cx="10311452" cy="196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Projet: </a:t>
            </a: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ExternalResourceDemo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90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/>
          <p:cNvSpPr txBox="1"/>
          <p:nvPr/>
        </p:nvSpPr>
        <p:spPr>
          <a:xfrm>
            <a:off x="555166" y="292023"/>
            <a:ext cx="7707757" cy="3803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sz="2250" u="heavy" spc="-60" dirty="0">
                <a:latin typeface="Segoe UI Symbol"/>
                <a:cs typeface="Segoe UI Symbol"/>
              </a:rPr>
              <a:t>L</a:t>
            </a:r>
            <a:r>
              <a:rPr sz="2250" u="heavy" spc="-30" dirty="0">
                <a:latin typeface="Segoe UI Symbol"/>
                <a:cs typeface="Segoe UI Symbol"/>
              </a:rPr>
              <a:t>e</a:t>
            </a:r>
            <a:r>
              <a:rPr sz="2250" u="heavy" dirty="0">
                <a:latin typeface="Segoe UI Symbol"/>
                <a:cs typeface="Segoe UI Symbol"/>
              </a:rPr>
              <a:t>s</a:t>
            </a:r>
            <a:r>
              <a:rPr sz="2250" u="heavy" spc="-185" dirty="0">
                <a:latin typeface="Segoe UI Symbol"/>
                <a:cs typeface="Segoe UI Symbol"/>
              </a:rPr>
              <a:t> </a:t>
            </a:r>
            <a:r>
              <a:rPr sz="2250" u="heavy" spc="-65" dirty="0">
                <a:latin typeface="Segoe UI Symbol"/>
                <a:cs typeface="Segoe UI Symbol"/>
              </a:rPr>
              <a:t>r</a:t>
            </a:r>
            <a:r>
              <a:rPr sz="2250" u="heavy" spc="-80" dirty="0">
                <a:latin typeface="Segoe UI Symbol"/>
                <a:cs typeface="Segoe UI Symbol"/>
              </a:rPr>
              <a:t>e</a:t>
            </a:r>
            <a:r>
              <a:rPr sz="2250" u="heavy" spc="-50" dirty="0">
                <a:latin typeface="Segoe UI Symbol"/>
                <a:cs typeface="Segoe UI Symbol"/>
              </a:rPr>
              <a:t>s</a:t>
            </a:r>
            <a:r>
              <a:rPr sz="2250" u="heavy" spc="-95" dirty="0">
                <a:latin typeface="Segoe UI Symbol"/>
                <a:cs typeface="Segoe UI Symbol"/>
              </a:rPr>
              <a:t>s</a:t>
            </a:r>
            <a:r>
              <a:rPr sz="2250" u="heavy" spc="-30" dirty="0">
                <a:latin typeface="Segoe UI Symbol"/>
                <a:cs typeface="Segoe UI Symbol"/>
              </a:rPr>
              <a:t>ou</a:t>
            </a:r>
            <a:r>
              <a:rPr sz="2250" u="heavy" spc="-114" dirty="0">
                <a:latin typeface="Segoe UI Symbol"/>
                <a:cs typeface="Segoe UI Symbol"/>
              </a:rPr>
              <a:t>r</a:t>
            </a:r>
            <a:r>
              <a:rPr sz="2250" u="heavy" spc="-40" dirty="0">
                <a:latin typeface="Segoe UI Symbol"/>
                <a:cs typeface="Segoe UI Symbol"/>
              </a:rPr>
              <a:t>c</a:t>
            </a:r>
            <a:r>
              <a:rPr sz="2250" u="heavy" spc="-30" dirty="0">
                <a:latin typeface="Segoe UI Symbol"/>
                <a:cs typeface="Segoe UI Symbol"/>
              </a:rPr>
              <a:t>e</a:t>
            </a:r>
            <a:r>
              <a:rPr sz="2250" u="heavy" dirty="0">
                <a:latin typeface="Segoe UI Symbol"/>
                <a:cs typeface="Segoe UI Symbol"/>
              </a:rPr>
              <a:t>s</a:t>
            </a:r>
            <a:r>
              <a:rPr sz="2250" u="heavy" spc="-229" dirty="0">
                <a:latin typeface="Segoe UI Symbol"/>
                <a:cs typeface="Segoe UI Symbol"/>
              </a:rPr>
              <a:t> </a:t>
            </a:r>
            <a:r>
              <a:rPr sz="2250" u="heavy" spc="-40" dirty="0">
                <a:latin typeface="Segoe UI Symbol"/>
                <a:cs typeface="Segoe UI Symbol"/>
              </a:rPr>
              <a:t>X</a:t>
            </a:r>
            <a:r>
              <a:rPr sz="2250" u="heavy" spc="-70" dirty="0">
                <a:latin typeface="Segoe UI Symbol"/>
                <a:cs typeface="Segoe UI Symbol"/>
              </a:rPr>
              <a:t>A</a:t>
            </a:r>
            <a:r>
              <a:rPr sz="2250" u="heavy" spc="-60" dirty="0">
                <a:latin typeface="Segoe UI Symbol"/>
                <a:cs typeface="Segoe UI Symbol"/>
              </a:rPr>
              <a:t>M</a:t>
            </a:r>
            <a:r>
              <a:rPr sz="2250" u="heavy" dirty="0">
                <a:latin typeface="Segoe UI Symbol"/>
                <a:cs typeface="Segoe UI Symbol"/>
              </a:rPr>
              <a:t>L 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  <a:endParaRPr sz="2250" dirty="0">
              <a:latin typeface="Times New Roman"/>
              <a:cs typeface="Times New Roman"/>
            </a:endParaRPr>
          </a:p>
          <a:p>
            <a:pPr marL="256540" indent="-243840" eaLnBrk="1" fontAlgn="auto" hangingPunct="1">
              <a:spcBef>
                <a:spcPts val="1415"/>
              </a:spcBef>
              <a:spcAft>
                <a:spcPts val="0"/>
              </a:spcAft>
              <a:buClr>
                <a:srgbClr val="006498"/>
              </a:buClr>
              <a:buSzPct val="60714"/>
              <a:buFont typeface="Wingdings"/>
              <a:buChar char=""/>
              <a:tabLst>
                <a:tab pos="257175" algn="l"/>
              </a:tabLst>
              <a:defRPr/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spc="-2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spc="2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spc="25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25" dirty="0">
                <a:latin typeface="Segoe UI" panose="020B0502040204020203" pitchFamily="34" charset="0"/>
                <a:cs typeface="Segoe UI" panose="020B0502040204020203" pitchFamily="34" charset="0"/>
              </a:rPr>
              <a:t>ss</a:t>
            </a:r>
            <a:r>
              <a:rPr spc="30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spc="-30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spc="-30" dirty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spc="25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spc="12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spc="-2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30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spc="25" dirty="0"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spc="-2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30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14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15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spc="6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obj</a:t>
            </a:r>
            <a:r>
              <a:rPr spc="-25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9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30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spc="-20" dirty="0">
                <a:latin typeface="Segoe UI" panose="020B0502040204020203" pitchFamily="34" charset="0"/>
                <a:cs typeface="Segoe UI" panose="020B0502040204020203" pitchFamily="34" charset="0"/>
              </a:rPr>
              <a:t>é</a:t>
            </a:r>
            <a:r>
              <a:rPr spc="-30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il</a:t>
            </a:r>
            <a:r>
              <a:rPr spc="30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spc="-25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ble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1665" lvl="1" indent="-285750">
              <a:spcBef>
                <a:spcPts val="190"/>
              </a:spcBef>
              <a:buClr>
                <a:srgbClr val="006498"/>
              </a:buClr>
              <a:buSzPct val="60714"/>
              <a:buFont typeface="Arial" panose="020B0604020202020204" pitchFamily="34" charset="0"/>
              <a:buChar char="•"/>
              <a:tabLst>
                <a:tab pos="580390" algn="l"/>
              </a:tabLst>
              <a:defRPr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pc="-10" dirty="0">
                <a:latin typeface="Segoe UI" panose="020B0502040204020203" pitchFamily="34" charset="0"/>
                <a:cs typeface="Segoe UI" panose="020B0502040204020203" pitchFamily="34" charset="0"/>
              </a:rPr>
              <a:t>ll</a:t>
            </a:r>
            <a:r>
              <a:rPr lang="fr-FR" spc="-2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pc="-10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fr-FR" spc="7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-25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fr-FR" spc="-10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lang="fr-FR" spc="-30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fr-FR" spc="-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fr-FR" spc="9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fr-FR" spc="-10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lang="fr-FR" spc="-30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lang="fr-FR" spc="4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fr-FR" spc="-2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pc="-10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fr-FR" spc="12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-30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fr-FR" spc="-15" dirty="0">
                <a:latin typeface="Segoe UI" panose="020B0502040204020203" pitchFamily="34" charset="0"/>
                <a:cs typeface="Segoe UI" panose="020B0502040204020203" pitchFamily="34" charset="0"/>
              </a:rPr>
              <a:t>omm</a:t>
            </a:r>
            <a:r>
              <a:rPr lang="fr-FR" spc="25" dirty="0">
                <a:latin typeface="Segoe UI" panose="020B0502040204020203" pitchFamily="34" charset="0"/>
                <a:cs typeface="Segoe UI" panose="020B0502040204020203" pitchFamily="34" charset="0"/>
              </a:rPr>
              <a:t>é</a:t>
            </a:r>
            <a:r>
              <a:rPr lang="fr-FR" spc="-2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pc="-10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fr-FR" spc="7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-10" dirty="0"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fr-FR" spc="-5" dirty="0">
                <a:latin typeface="Segoe UI" panose="020B0502040204020203" pitchFamily="34" charset="0"/>
                <a:cs typeface="Segoe UI" panose="020B0502040204020203" pitchFamily="34" charset="0"/>
              </a:rPr>
              <a:t>ar</a:t>
            </a:r>
            <a:r>
              <a:rPr lang="fr-FR" spc="13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-30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lang="fr-FR" spc="15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fr-FR" spc="-1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pc="7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15" dirty="0" smtClean="0">
                <a:latin typeface="Segoe UI" panose="020B0502040204020203" pitchFamily="34" charset="0"/>
                <a:cs typeface="Segoe UI" panose="020B0502040204020203" pitchFamily="34" charset="0"/>
              </a:rPr>
              <a:t>k</a:t>
            </a:r>
            <a:r>
              <a:rPr lang="fr-FR" spc="-20" dirty="0" smtClean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pc="-10" dirty="0" smtClean="0"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endParaRPr lang="fr-FR" spc="-5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1665" lvl="1" indent="-285750" eaLnBrk="1" fontAlgn="auto" hangingPunct="1">
              <a:spcBef>
                <a:spcPts val="190"/>
              </a:spcBef>
              <a:spcAft>
                <a:spcPts val="0"/>
              </a:spcAft>
              <a:buClr>
                <a:srgbClr val="006498"/>
              </a:buClr>
              <a:buSzPct val="60714"/>
              <a:buFont typeface="Arial" panose="020B0604020202020204" pitchFamily="34" charset="0"/>
              <a:buChar char="•"/>
              <a:tabLst>
                <a:tab pos="580390" algn="l"/>
              </a:tabLst>
              <a:defRPr/>
            </a:pPr>
            <a:r>
              <a:rPr spc="-5" dirty="0" smtClean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spc="-10" dirty="0" smtClean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dirty="0" smtClean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-15" dirty="0" smtClean="0">
                <a:latin typeface="Segoe UI" panose="020B0502040204020203" pitchFamily="34" charset="0"/>
                <a:cs typeface="Segoe UI" panose="020B0502040204020203" pitchFamily="34" charset="0"/>
              </a:rPr>
              <a:t>io</a:t>
            </a:r>
            <a:r>
              <a:rPr spc="-10" dirty="0" smtClean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spc="65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15" dirty="0"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7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15" dirty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spc="-30" dirty="0">
                <a:latin typeface="Segoe UI" panose="020B0502040204020203" pitchFamily="34" charset="0"/>
                <a:cs typeface="Segoe UI" panose="020B0502040204020203" pitchFamily="34" charset="0"/>
              </a:rPr>
              <a:t>h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8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  <a:r>
              <a:rPr spc="-15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spc="25" dirty="0"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spc="-30" dirty="0">
                <a:latin typeface="Segoe UI" panose="020B0502040204020203" pitchFamily="34" charset="0"/>
                <a:cs typeface="Segoe UI" panose="020B0502040204020203" pitchFamily="34" charset="0"/>
              </a:rPr>
              <a:t>h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spc="25" dirty="0">
                <a:latin typeface="Segoe UI" panose="020B0502040204020203" pitchFamily="34" charset="0"/>
                <a:cs typeface="Segoe UI" panose="020B0502040204020203" pitchFamily="34" charset="0"/>
              </a:rPr>
              <a:t>q</a:t>
            </a:r>
            <a:r>
              <a:rPr spc="-30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56540" indent="-243840" eaLnBrk="1" fontAlgn="auto" hangingPunct="1">
              <a:spcBef>
                <a:spcPts val="190"/>
              </a:spcBef>
              <a:spcAft>
                <a:spcPts val="0"/>
              </a:spcAft>
              <a:buClr>
                <a:srgbClr val="006498"/>
              </a:buClr>
              <a:buSzPct val="60714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2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r>
              <a:rPr spc="-2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15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mpl</a:t>
            </a:r>
            <a:r>
              <a:rPr spc="25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1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fr-FR" spc="-10" dirty="0" smtClean="0">
                <a:latin typeface="Segoe UI" panose="020B0502040204020203" pitchFamily="34" charset="0"/>
                <a:cs typeface="Segoe UI" panose="020B0502040204020203" pitchFamily="34" charset="0"/>
              </a:rPr>
              <a:t> de ressource</a:t>
            </a:r>
            <a:r>
              <a:rPr spc="75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1665" lvl="1" indent="-285750" eaLnBrk="1" fontAlgn="auto" hangingPunct="1">
              <a:spcBef>
                <a:spcPts val="240"/>
              </a:spcBef>
              <a:spcAft>
                <a:spcPts val="0"/>
              </a:spcAft>
              <a:buClr>
                <a:srgbClr val="006498"/>
              </a:buClr>
              <a:buSzPct val="60714"/>
              <a:buFont typeface="Arial" panose="020B0604020202020204" pitchFamily="34" charset="0"/>
              <a:buChar char="•"/>
              <a:tabLst>
                <a:tab pos="580390" algn="l"/>
              </a:tabLst>
              <a:defRPr/>
            </a:pPr>
            <a:r>
              <a:rPr spc="-15" dirty="0">
                <a:latin typeface="Segoe UI" panose="020B0502040204020203" pitchFamily="34" charset="0"/>
                <a:cs typeface="Segoe UI" panose="020B0502040204020203" pitchFamily="34" charset="0"/>
              </a:rPr>
              <a:t>Colors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1665" lvl="1" indent="-285750" eaLnBrk="1" fontAlgn="auto" hangingPunct="1">
              <a:spcBef>
                <a:spcPts val="190"/>
              </a:spcBef>
              <a:spcAft>
                <a:spcPts val="0"/>
              </a:spcAft>
              <a:buClr>
                <a:srgbClr val="006498"/>
              </a:buClr>
              <a:buSzPct val="60714"/>
              <a:buFont typeface="Arial" panose="020B0604020202020204" pitchFamily="34" charset="0"/>
              <a:buChar char="•"/>
              <a:tabLst>
                <a:tab pos="580390" algn="l"/>
              </a:tabLst>
              <a:defRPr/>
            </a:pPr>
            <a:r>
              <a:rPr spc="-30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yl</a:t>
            </a:r>
            <a:r>
              <a:rPr spc="-25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1665" lvl="1" indent="-285750" eaLnBrk="1" fontAlgn="auto" hangingPunct="1">
              <a:spcBef>
                <a:spcPts val="190"/>
              </a:spcBef>
              <a:spcAft>
                <a:spcPts val="0"/>
              </a:spcAft>
              <a:buClr>
                <a:srgbClr val="006498"/>
              </a:buClr>
              <a:buSzPct val="60714"/>
              <a:buFont typeface="Arial" panose="020B0604020202020204" pitchFamily="34" charset="0"/>
              <a:buChar char="•"/>
              <a:tabLst>
                <a:tab pos="580390" algn="l"/>
              </a:tabLst>
              <a:defRPr/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spc="-30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spc="-25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spc="15" dirty="0">
                <a:latin typeface="Segoe UI" panose="020B0502040204020203" pitchFamily="34" charset="0"/>
                <a:cs typeface="Segoe UI" panose="020B0502040204020203" pitchFamily="34" charset="0"/>
              </a:rPr>
              <a:t>h</a:t>
            </a:r>
            <a:r>
              <a:rPr spc="-2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1665" lvl="1" indent="-285750" eaLnBrk="1" fontAlgn="auto" hangingPunct="1">
              <a:spcBef>
                <a:spcPts val="190"/>
              </a:spcBef>
              <a:spcAft>
                <a:spcPts val="0"/>
              </a:spcAft>
              <a:buClr>
                <a:srgbClr val="006498"/>
              </a:buClr>
              <a:buSzPct val="60714"/>
              <a:buFont typeface="Arial" panose="020B0604020202020204" pitchFamily="34" charset="0"/>
              <a:buChar char="•"/>
              <a:tabLst>
                <a:tab pos="580390" algn="l"/>
              </a:tabLst>
              <a:defRPr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Data</a:t>
            </a:r>
            <a:r>
              <a:rPr spc="-20" dirty="0" smtClean="0">
                <a:latin typeface="Segoe UI" panose="020B0502040204020203" pitchFamily="34" charset="0"/>
                <a:cs typeface="Segoe UI" panose="020B0502040204020203" pitchFamily="34" charset="0"/>
              </a:rPr>
              <a:t>Te</a:t>
            </a:r>
            <a:r>
              <a:rPr spc="25" dirty="0" smtClean="0">
                <a:latin typeface="Segoe UI" panose="020B0502040204020203" pitchFamily="34" charset="0"/>
                <a:cs typeface="Segoe UI" panose="020B0502040204020203" pitchFamily="34" charset="0"/>
              </a:rPr>
              <a:t>m</a:t>
            </a:r>
            <a:r>
              <a:rPr spc="-10" dirty="0" smtClean="0">
                <a:latin typeface="Segoe UI" panose="020B0502040204020203" pitchFamily="34" charset="0"/>
                <a:cs typeface="Segoe UI" panose="020B0502040204020203" pitchFamily="34" charset="0"/>
              </a:rPr>
              <a:t>pl</a:t>
            </a:r>
            <a:r>
              <a:rPr spc="-5" dirty="0" smtClean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dirty="0" smtClean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-20" dirty="0" smtClean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pc="-20" dirty="0" smtClean="0"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spc="-15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spc="3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spc="-3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-2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3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25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-2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15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mpl</a:t>
            </a:r>
            <a:r>
              <a:rPr spc="-5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-1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1665" lvl="1" indent="-285750" eaLnBrk="1" fontAlgn="auto" hangingPunct="1">
              <a:spcBef>
                <a:spcPts val="190"/>
              </a:spcBef>
              <a:spcAft>
                <a:spcPts val="0"/>
              </a:spcAft>
              <a:buClr>
                <a:srgbClr val="006498"/>
              </a:buClr>
              <a:buSzPct val="60714"/>
              <a:buFont typeface="Arial" panose="020B0604020202020204" pitchFamily="34" charset="0"/>
              <a:buChar char="•"/>
              <a:tabLst>
                <a:tab pos="580390" algn="l"/>
              </a:tabLst>
              <a:defRPr/>
            </a:pP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spc="5" dirty="0"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  <a:r>
              <a:rPr spc="-15" dirty="0">
                <a:latin typeface="Segoe UI" panose="020B0502040204020203" pitchFamily="34" charset="0"/>
                <a:cs typeface="Segoe UI" panose="020B0502040204020203" pitchFamily="34" charset="0"/>
              </a:rPr>
              <a:t>impor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7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q</a:t>
            </a:r>
            <a:r>
              <a:rPr spc="-35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spc="-2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spc="8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30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bj</a:t>
            </a:r>
            <a:r>
              <a:rPr spc="-25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pc="9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20" dirty="0" err="1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spc="-5" dirty="0" err="1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spc="-20" dirty="0" err="1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spc="-5" dirty="0" err="1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US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pc="-5" dirty="0" err="1">
                <a:latin typeface="Segoe UI" panose="020B0502040204020203" pitchFamily="34" charset="0"/>
                <a:cs typeface="Segoe UI" panose="020B0502040204020203" pitchFamily="34" charset="0"/>
              </a:rPr>
              <a:t>peut</a:t>
            </a:r>
            <a:r>
              <a:rPr lang="en-US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pc="-5" dirty="0" err="1">
                <a:latin typeface="Segoe UI" panose="020B0502040204020203" pitchFamily="34" charset="0"/>
                <a:cs typeface="Segoe UI" panose="020B0502040204020203" pitchFamily="34" charset="0"/>
              </a:rPr>
              <a:t>être</a:t>
            </a:r>
            <a:r>
              <a:rPr lang="en-US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pc="-5" dirty="0" err="1">
                <a:latin typeface="Segoe UI" panose="020B0502040204020203" pitchFamily="34" charset="0"/>
                <a:cs typeface="Segoe UI" panose="020B0502040204020203" pitchFamily="34" charset="0"/>
              </a:rPr>
              <a:t>aussi</a:t>
            </a:r>
            <a:r>
              <a:rPr lang="en-US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pc="-5" dirty="0" err="1">
                <a:latin typeface="Segoe UI" panose="020B0502040204020203" pitchFamily="34" charset="0"/>
                <a:cs typeface="Segoe UI" panose="020B0502040204020203" pitchFamily="34" charset="0"/>
              </a:rPr>
              <a:t>définit</a:t>
            </a:r>
            <a:r>
              <a:rPr lang="en-US" spc="-5" dirty="0">
                <a:latin typeface="Segoe UI" panose="020B0502040204020203" pitchFamily="34" charset="0"/>
                <a:cs typeface="Segoe UI" panose="020B0502040204020203" pitchFamily="34" charset="0"/>
              </a:rPr>
              <a:t> sous </a:t>
            </a:r>
            <a:r>
              <a:rPr lang="en-US" spc="-5" dirty="0" err="1">
                <a:latin typeface="Segoe UI" panose="020B0502040204020203" pitchFamily="34" charset="0"/>
                <a:cs typeface="Segoe UI" panose="020B0502040204020203" pitchFamily="34" charset="0"/>
              </a:rPr>
              <a:t>forme</a:t>
            </a:r>
            <a:r>
              <a:rPr lang="en-US" spc="-5" dirty="0">
                <a:latin typeface="Segoe UI" panose="020B0502040204020203" pitchFamily="34" charset="0"/>
                <a:cs typeface="Segoe UI" panose="020B0502040204020203" pitchFamily="34" charset="0"/>
              </a:rPr>
              <a:t> des </a:t>
            </a:r>
            <a:r>
              <a:rPr lang="en-US" spc="-5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ressources</a:t>
            </a:r>
            <a:endParaRPr lang="en-US" spc="-5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35915" lvl="1" eaLnBrk="1" fontAlgn="auto" hangingPunct="1">
              <a:spcBef>
                <a:spcPts val="190"/>
              </a:spcBef>
              <a:spcAft>
                <a:spcPts val="0"/>
              </a:spcAft>
              <a:buClr>
                <a:srgbClr val="006498"/>
              </a:buClr>
              <a:buSzPct val="60714"/>
              <a:tabLst>
                <a:tab pos="580390" algn="l"/>
              </a:tabLst>
              <a:defRPr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51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0"/>
          <p:cNvSpPr txBox="1">
            <a:spLocks noChangeArrowheads="1"/>
          </p:cNvSpPr>
          <p:nvPr/>
        </p:nvSpPr>
        <p:spPr bwMode="auto">
          <a:xfrm>
            <a:off x="330458" y="279072"/>
            <a:ext cx="10409139" cy="2018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 smtClean="0">
                <a:latin typeface="Segoe UI Symbol" panose="020B0502040204020203" pitchFamily="34" charset="0"/>
              </a:rPr>
              <a:t>Les ressources : où les définir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600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ressources peuvent être définies dans :</a:t>
            </a:r>
          </a:p>
          <a:p>
            <a:pPr marL="1185862" lvl="2" indent="-285750">
              <a:spcBef>
                <a:spcPts val="200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L’Application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App.xaml</a:t>
            </a:r>
            <a:endParaRPr lang="fr-FR" altLang="en-US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85862" lvl="2" indent="-285750">
              <a:spcBef>
                <a:spcPts val="125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fenêtre/La page </a:t>
            </a:r>
          </a:p>
          <a:p>
            <a:pPr marL="1185862" lvl="2" indent="-285750">
              <a:spcBef>
                <a:spcPts val="225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contrôle</a:t>
            </a:r>
          </a:p>
          <a:p>
            <a:pPr marL="1185862" lvl="2" indent="-285750">
              <a:spcBef>
                <a:spcPts val="225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ressources peuvent être définies dans des fichiers séparés : dictionnaires de ressources.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38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474218" y="695452"/>
            <a:ext cx="5865813" cy="346249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r>
              <a:rPr sz="2250" u="heavy" spc="-55" dirty="0">
                <a:latin typeface="Segoe UI Symbol"/>
                <a:cs typeface="Segoe UI Symbol"/>
              </a:rPr>
              <a:t>R</a:t>
            </a:r>
            <a:r>
              <a:rPr sz="2250" u="heavy" spc="-30" dirty="0">
                <a:latin typeface="Segoe UI Symbol"/>
                <a:cs typeface="Segoe UI Symbol"/>
              </a:rPr>
              <a:t>e</a:t>
            </a:r>
            <a:r>
              <a:rPr sz="2250" u="heavy" spc="-50" dirty="0">
                <a:latin typeface="Segoe UI Symbol"/>
                <a:cs typeface="Segoe UI Symbol"/>
              </a:rPr>
              <a:t>s</a:t>
            </a:r>
            <a:r>
              <a:rPr sz="2250" u="heavy" spc="-95" dirty="0">
                <a:latin typeface="Segoe UI Symbol"/>
                <a:cs typeface="Segoe UI Symbol"/>
              </a:rPr>
              <a:t>s</a:t>
            </a:r>
            <a:r>
              <a:rPr sz="2250" u="heavy" spc="-75" dirty="0">
                <a:latin typeface="Segoe UI Symbol"/>
                <a:cs typeface="Segoe UI Symbol"/>
              </a:rPr>
              <a:t>o</a:t>
            </a:r>
            <a:r>
              <a:rPr sz="2250" u="heavy" spc="-30" dirty="0">
                <a:latin typeface="Segoe UI Symbol"/>
                <a:cs typeface="Segoe UI Symbol"/>
              </a:rPr>
              <a:t>u</a:t>
            </a:r>
            <a:r>
              <a:rPr sz="2250" u="heavy" spc="-65" dirty="0">
                <a:latin typeface="Segoe UI Symbol"/>
                <a:cs typeface="Segoe UI Symbol"/>
              </a:rPr>
              <a:t>r</a:t>
            </a:r>
            <a:r>
              <a:rPr sz="2250" u="heavy" spc="-40" dirty="0">
                <a:latin typeface="Segoe UI Symbol"/>
                <a:cs typeface="Segoe UI Symbol"/>
              </a:rPr>
              <a:t>c</a:t>
            </a:r>
            <a:r>
              <a:rPr sz="2250" u="heavy" spc="-80" dirty="0">
                <a:latin typeface="Segoe UI Symbol"/>
                <a:cs typeface="Segoe UI Symbol"/>
              </a:rPr>
              <a:t>e</a:t>
            </a:r>
            <a:r>
              <a:rPr sz="2250" u="heavy" dirty="0">
                <a:latin typeface="Segoe UI Symbol"/>
                <a:cs typeface="Segoe UI Symbol"/>
              </a:rPr>
              <a:t>s</a:t>
            </a:r>
            <a:r>
              <a:rPr sz="2250" u="heavy" spc="-185" dirty="0">
                <a:latin typeface="Segoe UI Symbol"/>
                <a:cs typeface="Segoe UI Symbol"/>
              </a:rPr>
              <a:t> </a:t>
            </a:r>
            <a:r>
              <a:rPr sz="2250" u="heavy" dirty="0">
                <a:latin typeface="Segoe UI Symbol"/>
                <a:cs typeface="Segoe UI Symbol"/>
              </a:rPr>
              <a:t>:</a:t>
            </a:r>
            <a:r>
              <a:rPr sz="2250" u="heavy" spc="-195" dirty="0">
                <a:latin typeface="Segoe UI Symbol"/>
                <a:cs typeface="Segoe UI Symbol"/>
              </a:rPr>
              <a:t> </a:t>
            </a:r>
            <a:r>
              <a:rPr sz="2250" u="heavy" spc="-35" dirty="0">
                <a:latin typeface="Segoe UI Symbol"/>
                <a:cs typeface="Segoe UI Symbol"/>
              </a:rPr>
              <a:t>un</a:t>
            </a:r>
            <a:r>
              <a:rPr sz="2250" u="heavy" spc="-185" dirty="0">
                <a:latin typeface="Segoe UI Symbol"/>
                <a:cs typeface="Segoe UI Symbol"/>
              </a:rPr>
              <a:t> </a:t>
            </a:r>
            <a:r>
              <a:rPr sz="2250" u="heavy" spc="-80" dirty="0" err="1">
                <a:latin typeface="Segoe UI Symbol"/>
                <a:cs typeface="Segoe UI Symbol"/>
              </a:rPr>
              <a:t>e</a:t>
            </a:r>
            <a:r>
              <a:rPr sz="2250" u="heavy" spc="-30" dirty="0" err="1">
                <a:latin typeface="Segoe UI Symbol"/>
                <a:cs typeface="Segoe UI Symbol"/>
              </a:rPr>
              <a:t>xe</a:t>
            </a:r>
            <a:r>
              <a:rPr sz="2250" u="heavy" spc="-120" dirty="0" err="1">
                <a:latin typeface="Segoe UI Symbol"/>
                <a:cs typeface="Segoe UI Symbol"/>
              </a:rPr>
              <a:t>m</a:t>
            </a:r>
            <a:r>
              <a:rPr sz="2250" u="heavy" spc="-35" dirty="0" err="1">
                <a:latin typeface="Segoe UI Symbol"/>
                <a:cs typeface="Segoe UI Symbol"/>
              </a:rPr>
              <a:t>p</a:t>
            </a:r>
            <a:r>
              <a:rPr sz="2250" u="heavy" spc="-70" dirty="0" err="1">
                <a:latin typeface="Segoe UI Symbol"/>
                <a:cs typeface="Segoe UI Symbol"/>
              </a:rPr>
              <a:t>l</a:t>
            </a:r>
            <a:r>
              <a:rPr sz="2250" u="heavy" dirty="0" err="1">
                <a:latin typeface="Segoe UI Symbol"/>
                <a:cs typeface="Segoe UI Symbol"/>
              </a:rPr>
              <a:t>e</a:t>
            </a:r>
            <a:r>
              <a:rPr sz="2250" u="heavy" dirty="0">
                <a:latin typeface="Segoe UI Symbol"/>
                <a:cs typeface="Segoe UI Symbol"/>
              </a:rPr>
              <a:t> 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2988" y="1320806"/>
            <a:ext cx="1078876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="http://schemas.microsoft.com/dotnet/2021/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maui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winfx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/2009/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xaml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clr-namespace:FirstMauiApp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scg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clr-namespace:System.Collections.Generic;assembly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netstandard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="FirstMauiApp.MainPage"&gt;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LinearGradientBrush</a:t>
            </a:r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endParaRPr lang="en-US" sz="1600" b="1" dirty="0" smtClean="0">
              <a:solidFill>
                <a:srgbClr val="FF0000"/>
              </a:solidFill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	</a:t>
            </a:r>
            <a:r>
              <a:rPr lang="en-US" sz="1600" b="1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	x</a:t>
            </a:r>
            <a:r>
              <a:rPr lang="en-US" sz="1600" b="1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600" b="1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Key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="sunriseBrush"</a:t>
            </a:r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ascadia Mono" panose="020B0609020000020004" pitchFamily="49" charset="0"/>
              </a:rPr>
              <a:t>EndPoint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="0.5,1"</a:t>
            </a:r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StartPoint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="0.5,0"&gt;</a:t>
            </a:r>
            <a:endParaRPr lang="en-US" sz="16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GradientStop</a:t>
            </a:r>
            <a:r>
              <a:rPr lang="fr-FR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Color</a:t>
            </a:r>
            <a:r>
              <a:rPr lang="fr-FR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="#FF12243E"/&gt;</a:t>
            </a:r>
            <a:endParaRPr lang="fr-FR" sz="16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GradientStop</a:t>
            </a:r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Color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="#FF95229B"</a:t>
            </a:r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Offset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="0.936"/&gt;</a:t>
            </a:r>
            <a:endParaRPr lang="en-US" sz="16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GradientStop</a:t>
            </a:r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Color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="#FF232D69"</a:t>
            </a:r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Offset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="0.792"/&gt;</a:t>
            </a:r>
            <a:endParaRPr lang="en-US" sz="16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GradientStop</a:t>
            </a:r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Color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="#FFEE55B6"</a:t>
            </a:r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Offset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="0.957"/&gt;</a:t>
            </a:r>
            <a:endParaRPr lang="en-US" sz="16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GradientStop</a:t>
            </a:r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Color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="#FFF19453"</a:t>
            </a:r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Offset</a:t>
            </a:r>
            <a:r>
              <a:rPr lang="en-US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="0.997"/&gt;</a:t>
            </a:r>
            <a:endParaRPr lang="en-US" sz="16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LinearGradientBrush</a:t>
            </a:r>
            <a:r>
              <a:rPr lang="fr-FR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="0,20,0,0"&gt;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Border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fr-FR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6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StaticResource</a:t>
            </a:r>
            <a:r>
              <a:rPr lang="fr-FR" sz="16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sunriseBrush</a:t>
            </a:r>
            <a:r>
              <a:rPr lang="fr-FR" sz="1600" b="1" dirty="0">
                <a:solidFill>
                  <a:srgbClr val="0000FF"/>
                </a:solidFill>
                <a:latin typeface="Cascadia Mono" panose="020B0609020000020004" pitchFamily="49" charset="0"/>
              </a:rPr>
              <a:t>}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WidthRequest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="300"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HeightRequest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716292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423101" y="574358"/>
            <a:ext cx="11260899" cy="22236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r>
              <a:rPr sz="2250" u="heavy" spc="-55" dirty="0">
                <a:latin typeface="Segoe UI Symbol"/>
                <a:cs typeface="Segoe UI Symbol"/>
              </a:rPr>
              <a:t>R</a:t>
            </a:r>
            <a:r>
              <a:rPr sz="2250" u="heavy" spc="-30" dirty="0">
                <a:latin typeface="Segoe UI Symbol"/>
                <a:cs typeface="Segoe UI Symbol"/>
              </a:rPr>
              <a:t>e</a:t>
            </a:r>
            <a:r>
              <a:rPr sz="2250" u="heavy" spc="-50" dirty="0">
                <a:latin typeface="Segoe UI Symbol"/>
                <a:cs typeface="Segoe UI Symbol"/>
              </a:rPr>
              <a:t>s</a:t>
            </a:r>
            <a:r>
              <a:rPr sz="2250" u="heavy" spc="-95" dirty="0">
                <a:latin typeface="Segoe UI Symbol"/>
                <a:cs typeface="Segoe UI Symbol"/>
              </a:rPr>
              <a:t>s</a:t>
            </a:r>
            <a:r>
              <a:rPr sz="2250" u="heavy" spc="-75" dirty="0">
                <a:latin typeface="Segoe UI Symbol"/>
                <a:cs typeface="Segoe UI Symbol"/>
              </a:rPr>
              <a:t>o</a:t>
            </a:r>
            <a:r>
              <a:rPr sz="2250" u="heavy" spc="-30" dirty="0">
                <a:latin typeface="Segoe UI Symbol"/>
                <a:cs typeface="Segoe UI Symbol"/>
              </a:rPr>
              <a:t>u</a:t>
            </a:r>
            <a:r>
              <a:rPr sz="2250" u="heavy" spc="-65" dirty="0">
                <a:latin typeface="Segoe UI Symbol"/>
                <a:cs typeface="Segoe UI Symbol"/>
              </a:rPr>
              <a:t>r</a:t>
            </a:r>
            <a:r>
              <a:rPr sz="2250" u="heavy" spc="-40" dirty="0">
                <a:latin typeface="Segoe UI Symbol"/>
                <a:cs typeface="Segoe UI Symbol"/>
              </a:rPr>
              <a:t>c</a:t>
            </a:r>
            <a:r>
              <a:rPr sz="2250" u="heavy" spc="-80" dirty="0">
                <a:latin typeface="Segoe UI Symbol"/>
                <a:cs typeface="Segoe UI Symbol"/>
              </a:rPr>
              <a:t>e</a:t>
            </a:r>
            <a:r>
              <a:rPr sz="2250" u="heavy" dirty="0">
                <a:latin typeface="Segoe UI Symbol"/>
                <a:cs typeface="Segoe UI Symbol"/>
              </a:rPr>
              <a:t>s</a:t>
            </a:r>
            <a:r>
              <a:rPr sz="2250" u="heavy" spc="-185" dirty="0">
                <a:latin typeface="Segoe UI Symbol"/>
                <a:cs typeface="Segoe UI Symbol"/>
              </a:rPr>
              <a:t> </a:t>
            </a:r>
            <a:r>
              <a:rPr sz="2250" u="heavy" dirty="0">
                <a:latin typeface="Segoe UI Symbol"/>
                <a:cs typeface="Segoe UI Symbol"/>
              </a:rPr>
              <a:t>:</a:t>
            </a:r>
            <a:r>
              <a:rPr sz="2250" u="heavy" spc="-195" dirty="0">
                <a:latin typeface="Segoe UI Symbol"/>
                <a:cs typeface="Segoe UI Symbol"/>
              </a:rPr>
              <a:t> </a:t>
            </a:r>
            <a:r>
              <a:rPr lang="en-US" sz="2250" u="heavy" spc="-35" dirty="0" err="1">
                <a:latin typeface="Segoe UI Symbol"/>
                <a:cs typeface="Segoe UI Symbol"/>
              </a:rPr>
              <a:t>StaticResources</a:t>
            </a:r>
            <a:r>
              <a:rPr lang="en-US" sz="2250" u="heavy" spc="-35" dirty="0">
                <a:latin typeface="Segoe UI Symbol"/>
                <a:cs typeface="Segoe UI Symbol"/>
              </a:rPr>
              <a:t> vs </a:t>
            </a:r>
            <a:r>
              <a:rPr lang="en-US" sz="2250" u="heavy" spc="-35" dirty="0" err="1">
                <a:latin typeface="Segoe UI Symbol"/>
                <a:cs typeface="Segoe UI Symbol"/>
              </a:rPr>
              <a:t>DynamicResources</a:t>
            </a:r>
            <a:r>
              <a:rPr sz="2250" u="heavy" dirty="0">
                <a:latin typeface="Segoe UI Symbol"/>
                <a:cs typeface="Segoe UI Symbol"/>
              </a:rPr>
              <a:t> </a:t>
            </a:r>
            <a:endParaRPr lang="en-US" sz="2250" u="heavy" dirty="0">
              <a:latin typeface="Segoe UI Symbol"/>
              <a:cs typeface="Times New Roman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endParaRPr lang="en-US" sz="1400" u="heavy" dirty="0">
              <a:latin typeface="Segoe UI Symbol"/>
              <a:cs typeface="Times New Roman"/>
            </a:endParaRPr>
          </a:p>
          <a:p>
            <a:pPr marL="2984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852795" algn="l"/>
              </a:tabLst>
              <a:defRPr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deux types de ressources sont résolues le temps de leur définition</a:t>
            </a:r>
          </a:p>
          <a:p>
            <a:pPr marL="2984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852795" algn="l"/>
              </a:tabLst>
              <a:defRPr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984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852795" algn="l"/>
              </a:tabLst>
              <a:defRPr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ressources statiques ne seront attribuées qu’une seule fois</a:t>
            </a:r>
          </a:p>
          <a:p>
            <a:pPr marL="2984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852795" algn="l"/>
              </a:tabLst>
              <a:defRPr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984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852795" algn="l"/>
              </a:tabLst>
              <a:defRPr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ressources dynamiques peuvent changer au cours de l’utilisation</a:t>
            </a: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730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423101" y="574358"/>
            <a:ext cx="11260899" cy="8386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r>
              <a:rPr sz="2250" u="heavy" spc="-55" dirty="0">
                <a:latin typeface="Segoe UI Symbol"/>
                <a:cs typeface="Segoe UI Symbol"/>
              </a:rPr>
              <a:t>R</a:t>
            </a:r>
            <a:r>
              <a:rPr sz="2250" u="heavy" spc="-30" dirty="0">
                <a:latin typeface="Segoe UI Symbol"/>
                <a:cs typeface="Segoe UI Symbol"/>
              </a:rPr>
              <a:t>e</a:t>
            </a:r>
            <a:r>
              <a:rPr sz="2250" u="heavy" spc="-50" dirty="0">
                <a:latin typeface="Segoe UI Symbol"/>
                <a:cs typeface="Segoe UI Symbol"/>
              </a:rPr>
              <a:t>s</a:t>
            </a:r>
            <a:r>
              <a:rPr sz="2250" u="heavy" spc="-95" dirty="0">
                <a:latin typeface="Segoe UI Symbol"/>
                <a:cs typeface="Segoe UI Symbol"/>
              </a:rPr>
              <a:t>s</a:t>
            </a:r>
            <a:r>
              <a:rPr sz="2250" u="heavy" spc="-75" dirty="0">
                <a:latin typeface="Segoe UI Symbol"/>
                <a:cs typeface="Segoe UI Symbol"/>
              </a:rPr>
              <a:t>o</a:t>
            </a:r>
            <a:r>
              <a:rPr sz="2250" u="heavy" spc="-30" dirty="0">
                <a:latin typeface="Segoe UI Symbol"/>
                <a:cs typeface="Segoe UI Symbol"/>
              </a:rPr>
              <a:t>u</a:t>
            </a:r>
            <a:r>
              <a:rPr sz="2250" u="heavy" spc="-65" dirty="0">
                <a:latin typeface="Segoe UI Symbol"/>
                <a:cs typeface="Segoe UI Symbol"/>
              </a:rPr>
              <a:t>r</a:t>
            </a:r>
            <a:r>
              <a:rPr sz="2250" u="heavy" spc="-40" dirty="0">
                <a:latin typeface="Segoe UI Symbol"/>
                <a:cs typeface="Segoe UI Symbol"/>
              </a:rPr>
              <a:t>c</a:t>
            </a:r>
            <a:r>
              <a:rPr sz="2250" u="heavy" spc="-80" dirty="0">
                <a:latin typeface="Segoe UI Symbol"/>
                <a:cs typeface="Segoe UI Symbol"/>
              </a:rPr>
              <a:t>e</a:t>
            </a:r>
            <a:r>
              <a:rPr sz="2250" u="heavy" dirty="0">
                <a:latin typeface="Segoe UI Symbol"/>
                <a:cs typeface="Segoe UI Symbol"/>
              </a:rPr>
              <a:t>s</a:t>
            </a:r>
            <a:r>
              <a:rPr sz="2250" u="heavy" spc="-185" dirty="0">
                <a:latin typeface="Segoe UI Symbol"/>
                <a:cs typeface="Segoe UI Symbol"/>
              </a:rPr>
              <a:t> </a:t>
            </a:r>
            <a:r>
              <a:rPr sz="2250" u="heavy" dirty="0">
                <a:latin typeface="Segoe UI Symbol"/>
                <a:cs typeface="Segoe UI Symbol"/>
              </a:rPr>
              <a:t>:</a:t>
            </a:r>
            <a:r>
              <a:rPr sz="2250" u="heavy" spc="-195" dirty="0">
                <a:latin typeface="Segoe UI Symbol"/>
                <a:cs typeface="Segoe UI Symbol"/>
              </a:rPr>
              <a:t> </a:t>
            </a:r>
            <a:r>
              <a:rPr lang="en-US" sz="2250" u="heavy" spc="-35" dirty="0" err="1">
                <a:latin typeface="Segoe UI Symbol"/>
                <a:cs typeface="Segoe UI Symbol"/>
              </a:rPr>
              <a:t>StaticResources</a:t>
            </a:r>
            <a:r>
              <a:rPr lang="en-US" sz="2250" u="heavy" spc="-35" dirty="0">
                <a:latin typeface="Segoe UI Symbol"/>
                <a:cs typeface="Segoe UI Symbol"/>
              </a:rPr>
              <a:t> vs </a:t>
            </a:r>
            <a:r>
              <a:rPr lang="en-US" sz="2250" u="heavy" spc="-35" dirty="0" err="1">
                <a:latin typeface="Segoe UI Symbol"/>
                <a:cs typeface="Segoe UI Symbol"/>
              </a:rPr>
              <a:t>DynamicResources</a:t>
            </a:r>
            <a:r>
              <a:rPr sz="2250" u="heavy" dirty="0">
                <a:latin typeface="Segoe UI Symbol"/>
                <a:cs typeface="Segoe UI Symbol"/>
              </a:rPr>
              <a:t> </a:t>
            </a:r>
            <a:endParaRPr lang="en-US" sz="2250" u="heavy" dirty="0">
              <a:latin typeface="Segoe UI Symbol"/>
              <a:cs typeface="Times New Roman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endParaRPr lang="en-US" sz="1400" u="heavy" dirty="0">
              <a:latin typeface="Segoe UI Symbol"/>
              <a:cs typeface="Times New Roman"/>
            </a:endParaRPr>
          </a:p>
          <a:p>
            <a:pPr marL="2984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852795" algn="l"/>
              </a:tabLst>
              <a:defRPr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Pour comprendre soit l’exemple suivant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0473" y="1574280"/>
            <a:ext cx="737235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="http://schemas.microsoft.com/dotnet/2021/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maui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winfx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/2009/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xaml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clr-namespace:FirstMauiApp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scg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clr-namespace:System.Collections.Generic;assembly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</a:t>
            </a:r>
            <a:r>
              <a:rPr lang="fr-FR" sz="1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netstandard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="FirstMauiApp.MainPage"&gt;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SolidColorBrush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Color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Key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="redcolor"/&gt;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SolidColorBrush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Color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="blue"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Key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="bluecolor"/&gt;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="0,20,0,0"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Spacing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="20"&gt;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Border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HeightRequest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WidthRequest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		Background</a:t>
            </a:r>
            <a:r>
              <a:rPr lang="en-US" sz="1600" b="1" i="1" u="sng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600" b="1" i="1" u="sng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StaticResource</a:t>
            </a:r>
            <a:r>
              <a:rPr lang="en-US" sz="1600" b="1" i="1" u="sng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i="1" u="sng" dirty="0" err="1">
                <a:solidFill>
                  <a:srgbClr val="FF0000"/>
                </a:solidFill>
                <a:latin typeface="Cascadia Mono" panose="020B0609020000020004" pitchFamily="49" charset="0"/>
              </a:rPr>
              <a:t>redcolor</a:t>
            </a:r>
            <a:r>
              <a:rPr lang="en-US" sz="1600" b="1" i="1" u="sng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en-US" sz="1400" u="sng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1400" u="sng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Border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HeightRequest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WidthRequest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200"	</a:t>
            </a:r>
            <a:r>
              <a:rPr lang="en-US" sz="14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	Background</a:t>
            </a:r>
            <a:r>
              <a:rPr lang="en-US" sz="1600" b="1" i="1" u="sng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600" b="1" i="1" u="sng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DynamicResource</a:t>
            </a:r>
            <a:r>
              <a:rPr lang="en-US" sz="1600" b="1" i="1" u="sng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i="1" u="sng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bluecolor</a:t>
            </a:r>
            <a:r>
              <a:rPr lang="en-US" sz="1600" b="1" i="1" u="sng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WidthRequest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="Change The color"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	Clicked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Button_Clicked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289100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423101" y="574358"/>
            <a:ext cx="11260899" cy="8386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r>
              <a:rPr sz="2250" u="heavy" spc="-55" dirty="0">
                <a:latin typeface="Segoe UI Symbol"/>
                <a:cs typeface="Segoe UI Symbol"/>
              </a:rPr>
              <a:t>R</a:t>
            </a:r>
            <a:r>
              <a:rPr sz="2250" u="heavy" spc="-30" dirty="0">
                <a:latin typeface="Segoe UI Symbol"/>
                <a:cs typeface="Segoe UI Symbol"/>
              </a:rPr>
              <a:t>e</a:t>
            </a:r>
            <a:r>
              <a:rPr sz="2250" u="heavy" spc="-50" dirty="0">
                <a:latin typeface="Segoe UI Symbol"/>
                <a:cs typeface="Segoe UI Symbol"/>
              </a:rPr>
              <a:t>s</a:t>
            </a:r>
            <a:r>
              <a:rPr sz="2250" u="heavy" spc="-95" dirty="0">
                <a:latin typeface="Segoe UI Symbol"/>
                <a:cs typeface="Segoe UI Symbol"/>
              </a:rPr>
              <a:t>s</a:t>
            </a:r>
            <a:r>
              <a:rPr sz="2250" u="heavy" spc="-75" dirty="0">
                <a:latin typeface="Segoe UI Symbol"/>
                <a:cs typeface="Segoe UI Symbol"/>
              </a:rPr>
              <a:t>o</a:t>
            </a:r>
            <a:r>
              <a:rPr sz="2250" u="heavy" spc="-30" dirty="0">
                <a:latin typeface="Segoe UI Symbol"/>
                <a:cs typeface="Segoe UI Symbol"/>
              </a:rPr>
              <a:t>u</a:t>
            </a:r>
            <a:r>
              <a:rPr sz="2250" u="heavy" spc="-65" dirty="0">
                <a:latin typeface="Segoe UI Symbol"/>
                <a:cs typeface="Segoe UI Symbol"/>
              </a:rPr>
              <a:t>r</a:t>
            </a:r>
            <a:r>
              <a:rPr sz="2250" u="heavy" spc="-40" dirty="0">
                <a:latin typeface="Segoe UI Symbol"/>
                <a:cs typeface="Segoe UI Symbol"/>
              </a:rPr>
              <a:t>c</a:t>
            </a:r>
            <a:r>
              <a:rPr sz="2250" u="heavy" spc="-80" dirty="0">
                <a:latin typeface="Segoe UI Symbol"/>
                <a:cs typeface="Segoe UI Symbol"/>
              </a:rPr>
              <a:t>e</a:t>
            </a:r>
            <a:r>
              <a:rPr sz="2250" u="heavy" dirty="0">
                <a:latin typeface="Segoe UI Symbol"/>
                <a:cs typeface="Segoe UI Symbol"/>
              </a:rPr>
              <a:t>s</a:t>
            </a:r>
            <a:r>
              <a:rPr sz="2250" u="heavy" spc="-185" dirty="0">
                <a:latin typeface="Segoe UI Symbol"/>
                <a:cs typeface="Segoe UI Symbol"/>
              </a:rPr>
              <a:t> </a:t>
            </a:r>
            <a:r>
              <a:rPr sz="2250" u="heavy" dirty="0">
                <a:latin typeface="Segoe UI Symbol"/>
                <a:cs typeface="Segoe UI Symbol"/>
              </a:rPr>
              <a:t>:</a:t>
            </a:r>
            <a:r>
              <a:rPr sz="2250" u="heavy" spc="-195" dirty="0">
                <a:latin typeface="Segoe UI Symbol"/>
                <a:cs typeface="Segoe UI Symbol"/>
              </a:rPr>
              <a:t> </a:t>
            </a:r>
            <a:r>
              <a:rPr lang="en-US" sz="2250" u="heavy" spc="-35" dirty="0" err="1">
                <a:latin typeface="Segoe UI Symbol"/>
                <a:cs typeface="Segoe UI Symbol"/>
              </a:rPr>
              <a:t>StaticResources</a:t>
            </a:r>
            <a:r>
              <a:rPr lang="en-US" sz="2250" u="heavy" spc="-35" dirty="0">
                <a:latin typeface="Segoe UI Symbol"/>
                <a:cs typeface="Segoe UI Symbol"/>
              </a:rPr>
              <a:t> vs </a:t>
            </a:r>
            <a:r>
              <a:rPr lang="en-US" sz="2250" u="heavy" spc="-35" dirty="0" err="1">
                <a:latin typeface="Segoe UI Symbol"/>
                <a:cs typeface="Segoe UI Symbol"/>
              </a:rPr>
              <a:t>DynamicResources</a:t>
            </a:r>
            <a:r>
              <a:rPr sz="2250" u="heavy" dirty="0">
                <a:latin typeface="Segoe UI Symbol"/>
                <a:cs typeface="Segoe UI Symbol"/>
              </a:rPr>
              <a:t> </a:t>
            </a:r>
            <a:endParaRPr lang="en-US" sz="2250" u="heavy" dirty="0">
              <a:latin typeface="Segoe UI Symbol"/>
              <a:cs typeface="Times New Roman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endParaRPr lang="en-US" sz="1400" u="heavy" dirty="0">
              <a:latin typeface="Segoe UI Symbol"/>
              <a:cs typeface="Times New Roman"/>
            </a:endParaRPr>
          </a:p>
          <a:p>
            <a:pPr marL="2984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852795" algn="l"/>
              </a:tabLst>
              <a:defRPr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faut essayer le code suivant dans le gestionnaire d’événements du bouton </a:t>
            </a:r>
          </a:p>
        </p:txBody>
      </p:sp>
      <p:sp>
        <p:nvSpPr>
          <p:cNvPr id="3" name="Rectangle 2"/>
          <p:cNvSpPr/>
          <p:nvPr/>
        </p:nvSpPr>
        <p:spPr>
          <a:xfrm>
            <a:off x="647700" y="1540639"/>
            <a:ext cx="1054735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Button_Clicked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EventArgs e)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 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  //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Les ressources </a:t>
            </a:r>
            <a:r>
              <a:rPr lang="fr-FR" sz="16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statiques</a:t>
            </a:r>
            <a:endParaRPr lang="fr-FR" sz="16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fr-FR" sz="16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Resources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redcolor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SolidColorBrush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Colors.Yellow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6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Les ressources dynamiques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6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Resources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bluecolor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SolidColorBrush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Colors.Yellow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181" y="3587230"/>
            <a:ext cx="2459635" cy="1957667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097" y="3587230"/>
            <a:ext cx="2571007" cy="195766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68019" y="5544895"/>
            <a:ext cx="10619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>
                <a:latin typeface="Segoe UI Symbol"/>
                <a:cs typeface="Segoe UI Symbol"/>
              </a:rPr>
              <a:t>Avant le click</a:t>
            </a:r>
            <a:endParaRPr lang="fr-FR" sz="1200" b="1" dirty="0"/>
          </a:p>
        </p:txBody>
      </p:sp>
      <p:sp>
        <p:nvSpPr>
          <p:cNvPr id="11" name="Rectangle 10"/>
          <p:cNvSpPr/>
          <p:nvPr/>
        </p:nvSpPr>
        <p:spPr>
          <a:xfrm>
            <a:off x="6555268" y="5544896"/>
            <a:ext cx="10626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>
                <a:latin typeface="Segoe UI Symbol"/>
                <a:cs typeface="Segoe UI Symbol"/>
              </a:rPr>
              <a:t>Après le click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325919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389319" y="724916"/>
            <a:ext cx="11461305" cy="17004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70" dirty="0">
                <a:latin typeface="Segoe UI Symbol"/>
                <a:cs typeface="Segoe UI Symbol"/>
              </a:rPr>
              <a:t>Les </a:t>
            </a:r>
            <a:r>
              <a:rPr lang="en-US" sz="2250" u="heavy" spc="-70" dirty="0" err="1">
                <a:latin typeface="Segoe UI Symbol"/>
                <a:cs typeface="Segoe UI Symbol"/>
              </a:rPr>
              <a:t>dictionnaires</a:t>
            </a:r>
            <a:r>
              <a:rPr lang="en-US" sz="2250" u="heavy" spc="-70" dirty="0">
                <a:latin typeface="Segoe UI Symbol"/>
                <a:cs typeface="Segoe UI Symbol"/>
              </a:rPr>
              <a:t> de resources</a:t>
            </a: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en-US" sz="1600" spc="-7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ymbol"/>
              <a:cs typeface="Times New Roman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>
                <a:latin typeface="Segoe UI" panose="020B0502040204020203" pitchFamily="34" charset="0"/>
                <a:cs typeface="Segoe UI" panose="020B0502040204020203" pitchFamily="34" charset="0"/>
              </a:rPr>
              <a:t>Généralement les ressources sont stockées d’une manière centrale dans un dictionnaire de ressources pour le but de réutilisabilité et la facilité de maintenance et l’évolutivité</a:t>
            </a: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endParaRPr lang="fr-FR" spc="-7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>
                <a:latin typeface="Segoe UI" panose="020B0502040204020203" pitchFamily="34" charset="0"/>
                <a:cs typeface="Segoe UI" panose="020B0502040204020203" pitchFamily="34" charset="0"/>
              </a:rPr>
              <a:t>Il est possible de fusionner plusieurs dictionnaires dans un dictionnaire principal</a:t>
            </a:r>
            <a:r>
              <a:rPr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878926" y="2590225"/>
            <a:ext cx="817215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&lt;?xml version = "1.0"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encoding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= "UTF-8" ?&gt;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Application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="http://schemas.microsoft.com/dotnet/2021/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maui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winfx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/2009/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xaml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clr-namespace:FirstMauiApp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="FirstMauiApp.App"&gt;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Application.Resources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ResourceDictionary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ResourceDictionary.MergedDictionaries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ResourceDictionary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Source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Resources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/Styles/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Colors.xaml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 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ResourceDictionary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Source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Resources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/Styles/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Styles.xaml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 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ResourceDictionary.MergedDictionaries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ResourceDictionary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Application.Resources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Application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079" y="2590225"/>
            <a:ext cx="2531427" cy="316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55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278977" y="445357"/>
            <a:ext cx="9047289" cy="1084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70" dirty="0">
                <a:latin typeface="Segoe UI Symbol"/>
                <a:cs typeface="Segoe UI Symbol"/>
              </a:rPr>
              <a:t>Les </a:t>
            </a:r>
            <a:r>
              <a:rPr lang="en-US" sz="2250" u="heavy" spc="-70" dirty="0" err="1">
                <a:latin typeface="Segoe UI Symbol"/>
                <a:cs typeface="Segoe UI Symbol"/>
              </a:rPr>
              <a:t>dictionnaires</a:t>
            </a:r>
            <a:r>
              <a:rPr lang="en-US" sz="2250" u="heavy" spc="-70" dirty="0">
                <a:latin typeface="Segoe UI Symbol"/>
                <a:cs typeface="Segoe UI Symbol"/>
              </a:rPr>
              <a:t> de resources</a:t>
            </a: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en-US" sz="1200" spc="-7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ymbol"/>
              <a:cs typeface="Times New Roman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>
                <a:latin typeface="Segoe UI" panose="020B0502040204020203" pitchFamily="34" charset="0"/>
                <a:cs typeface="Segoe UI" panose="020B0502040204020203" pitchFamily="34" charset="0"/>
              </a:rPr>
              <a:t>Il est possible aussi de définir le dictionnaire de ressources d ’une façon 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programmatique </a:t>
            </a:r>
            <a:r>
              <a:rPr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580327" y="1423946"/>
            <a:ext cx="88379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ResourceDictionary</a:t>
            </a:r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dictionary</a:t>
            </a:r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Application.Current.Resources.MergedDictionaries</a:t>
            </a:r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[0];</a:t>
            </a:r>
            <a:endParaRPr lang="fr-FR" altLang="en-US" sz="1400" dirty="0"/>
          </a:p>
        </p:txBody>
      </p:sp>
      <p:sp>
        <p:nvSpPr>
          <p:cNvPr id="4" name="object 31"/>
          <p:cNvSpPr txBox="1"/>
          <p:nvPr/>
        </p:nvSpPr>
        <p:spPr>
          <a:xfrm>
            <a:off x="482727" y="2103501"/>
            <a:ext cx="7692009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sz="2250" u="heavy" spc="-70" dirty="0">
                <a:latin typeface="Segoe UI Symbol"/>
                <a:cs typeface="Segoe UI Symbol"/>
              </a:rPr>
              <a:t>A</a:t>
            </a:r>
            <a:r>
              <a:rPr sz="2250" u="heavy" spc="-40" dirty="0">
                <a:latin typeface="Segoe UI Symbol"/>
                <a:cs typeface="Segoe UI Symbol"/>
              </a:rPr>
              <a:t>c</a:t>
            </a:r>
            <a:r>
              <a:rPr sz="2250" u="heavy" spc="-85" dirty="0">
                <a:latin typeface="Segoe UI Symbol"/>
                <a:cs typeface="Segoe UI Symbol"/>
              </a:rPr>
              <a:t>c</a:t>
            </a:r>
            <a:r>
              <a:rPr sz="2250" u="heavy" spc="-30" dirty="0">
                <a:latin typeface="Segoe UI Symbol"/>
                <a:cs typeface="Segoe UI Symbol"/>
              </a:rPr>
              <a:t>è</a:t>
            </a:r>
            <a:r>
              <a:rPr sz="2250" u="heavy" dirty="0">
                <a:latin typeface="Segoe UI Symbol"/>
                <a:cs typeface="Segoe UI Symbol"/>
              </a:rPr>
              <a:t>s</a:t>
            </a:r>
            <a:r>
              <a:rPr sz="2250" u="heavy" spc="-229" dirty="0">
                <a:latin typeface="Segoe UI Symbol"/>
                <a:cs typeface="Segoe UI Symbol"/>
              </a:rPr>
              <a:t> </a:t>
            </a:r>
            <a:r>
              <a:rPr sz="2250" u="heavy" spc="-35" dirty="0">
                <a:latin typeface="Segoe UI Symbol"/>
                <a:cs typeface="Segoe UI Symbol"/>
              </a:rPr>
              <a:t>p</a:t>
            </a:r>
            <a:r>
              <a:rPr sz="2250" u="heavy" spc="-65" dirty="0">
                <a:latin typeface="Segoe UI Symbol"/>
                <a:cs typeface="Segoe UI Symbol"/>
              </a:rPr>
              <a:t>r</a:t>
            </a:r>
            <a:r>
              <a:rPr sz="2250" u="heavy" spc="-75" dirty="0">
                <a:latin typeface="Segoe UI Symbol"/>
                <a:cs typeface="Segoe UI Symbol"/>
              </a:rPr>
              <a:t>o</a:t>
            </a:r>
            <a:r>
              <a:rPr sz="2250" u="heavy" spc="-35" dirty="0">
                <a:latin typeface="Segoe UI Symbol"/>
                <a:cs typeface="Segoe UI Symbol"/>
              </a:rPr>
              <a:t>g</a:t>
            </a:r>
            <a:r>
              <a:rPr sz="2250" u="heavy" spc="-65" dirty="0">
                <a:latin typeface="Segoe UI Symbol"/>
                <a:cs typeface="Segoe UI Symbol"/>
              </a:rPr>
              <a:t>r</a:t>
            </a:r>
            <a:r>
              <a:rPr sz="2250" u="heavy" spc="-45" dirty="0">
                <a:latin typeface="Segoe UI Symbol"/>
                <a:cs typeface="Segoe UI Symbol"/>
              </a:rPr>
              <a:t>a</a:t>
            </a:r>
            <a:r>
              <a:rPr sz="2250" u="heavy" spc="-75" dirty="0">
                <a:latin typeface="Segoe UI Symbol"/>
                <a:cs typeface="Segoe UI Symbol"/>
              </a:rPr>
              <a:t>mm</a:t>
            </a:r>
            <a:r>
              <a:rPr sz="2250" u="heavy" spc="-95" dirty="0">
                <a:latin typeface="Segoe UI Symbol"/>
                <a:cs typeface="Segoe UI Symbol"/>
              </a:rPr>
              <a:t>a</a:t>
            </a:r>
            <a:r>
              <a:rPr sz="2250" u="heavy" spc="-45" dirty="0">
                <a:latin typeface="Segoe UI Symbol"/>
                <a:cs typeface="Segoe UI Symbol"/>
              </a:rPr>
              <a:t>t</a:t>
            </a:r>
            <a:r>
              <a:rPr sz="2250" u="heavy" spc="-70" dirty="0">
                <a:latin typeface="Segoe UI Symbol"/>
                <a:cs typeface="Segoe UI Symbol"/>
              </a:rPr>
              <a:t>i</a:t>
            </a:r>
            <a:r>
              <a:rPr sz="2250" u="heavy" spc="-85" dirty="0">
                <a:latin typeface="Segoe UI Symbol"/>
                <a:cs typeface="Segoe UI Symbol"/>
              </a:rPr>
              <a:t>q</a:t>
            </a:r>
            <a:r>
              <a:rPr sz="2250" u="heavy" spc="-80" dirty="0">
                <a:latin typeface="Segoe UI Symbol"/>
                <a:cs typeface="Segoe UI Symbol"/>
              </a:rPr>
              <a:t>u</a:t>
            </a:r>
            <a:r>
              <a:rPr sz="2250" u="heavy" dirty="0">
                <a:latin typeface="Segoe UI Symbol"/>
                <a:cs typeface="Segoe UI Symbol"/>
              </a:rPr>
              <a:t>e 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  <a:endParaRPr sz="2250" dirty="0">
              <a:latin typeface="Times New Roman"/>
              <a:cs typeface="Times New Roman"/>
            </a:endParaRPr>
          </a:p>
          <a:p>
            <a:pPr marL="134620" indent="-121920" eaLnBrk="1" fontAlgn="auto" hangingPunct="1">
              <a:spcBef>
                <a:spcPts val="1470"/>
              </a:spcBef>
              <a:spcAft>
                <a:spcPts val="0"/>
              </a:spcAft>
              <a:buClr>
                <a:srgbClr val="006498"/>
              </a:buClr>
              <a:buSzPct val="92000"/>
              <a:buFont typeface="Segoe UI Symbol"/>
              <a:buChar char="•"/>
              <a:tabLst>
                <a:tab pos="135255" algn="l"/>
              </a:tabLst>
              <a:defRPr/>
            </a:pPr>
            <a:r>
              <a:rPr lang="fr-FR" spc="-25" dirty="0" smtClean="0">
                <a:latin typeface="Segoe UI" panose="020B0502040204020203" pitchFamily="34" charset="0"/>
                <a:cs typeface="Segoe UI" panose="020B0502040204020203" pitchFamily="34" charset="0"/>
              </a:rPr>
              <a:t>Utiliser un style existant dans XAML dynamiquement</a:t>
            </a:r>
            <a:r>
              <a:rPr spc="-5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object 27"/>
          <p:cNvSpPr txBox="1"/>
          <p:nvPr/>
        </p:nvSpPr>
        <p:spPr>
          <a:xfrm>
            <a:off x="580327" y="3115818"/>
            <a:ext cx="8837993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>
              <a:defRPr/>
            </a:pPr>
            <a:r>
              <a:rPr sz="1600" spc="15" dirty="0" err="1">
                <a:latin typeface="Consolas"/>
                <a:cs typeface="Consolas"/>
              </a:rPr>
              <a:t>backB</a:t>
            </a:r>
            <a:r>
              <a:rPr sz="1600" spc="60" dirty="0" err="1">
                <a:latin typeface="Consolas"/>
                <a:cs typeface="Consolas"/>
              </a:rPr>
              <a:t>u</a:t>
            </a:r>
            <a:r>
              <a:rPr sz="1600" spc="15" dirty="0" err="1">
                <a:latin typeface="Consolas"/>
                <a:cs typeface="Consolas"/>
              </a:rPr>
              <a:t>tto</a:t>
            </a:r>
            <a:r>
              <a:rPr sz="1600" spc="60" dirty="0" err="1">
                <a:latin typeface="Consolas"/>
                <a:cs typeface="Consolas"/>
              </a:rPr>
              <a:t>n</a:t>
            </a:r>
            <a:r>
              <a:rPr sz="1600" spc="15" dirty="0" err="1">
                <a:latin typeface="Consolas"/>
                <a:cs typeface="Consolas"/>
              </a:rPr>
              <a:t>.Sty</a:t>
            </a:r>
            <a:r>
              <a:rPr sz="1600" spc="60" dirty="0" err="1">
                <a:latin typeface="Consolas"/>
                <a:cs typeface="Consolas"/>
              </a:rPr>
              <a:t>l</a:t>
            </a:r>
            <a:r>
              <a:rPr sz="1600" dirty="0" err="1">
                <a:latin typeface="Consolas"/>
                <a:cs typeface="Consolas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 smtClean="0">
                <a:latin typeface="Consolas"/>
                <a:cs typeface="Consolas"/>
              </a:rPr>
              <a:t>=</a:t>
            </a:r>
            <a:r>
              <a:rPr lang="en-US" sz="1600" dirty="0" smtClean="0">
                <a:latin typeface="Consolas"/>
                <a:cs typeface="Consolas"/>
              </a:rPr>
              <a:t> </a:t>
            </a:r>
            <a:r>
              <a:rPr lang="en-US" sz="1600" spc="15" dirty="0" err="1">
                <a:solidFill>
                  <a:srgbClr val="2A90AE"/>
                </a:solidFill>
                <a:latin typeface="Consolas"/>
                <a:cs typeface="Consolas"/>
              </a:rPr>
              <a:t>Ap</a:t>
            </a:r>
            <a:r>
              <a:rPr lang="en-US" sz="1600" spc="-35" dirty="0" err="1">
                <a:solidFill>
                  <a:srgbClr val="2A90AE"/>
                </a:solidFill>
                <a:latin typeface="Consolas"/>
                <a:cs typeface="Consolas"/>
              </a:rPr>
              <a:t>p</a:t>
            </a:r>
            <a:r>
              <a:rPr lang="en-US" sz="1600" spc="15" dirty="0" err="1">
                <a:solidFill>
                  <a:srgbClr val="2A90AE"/>
                </a:solidFill>
                <a:latin typeface="Consolas"/>
                <a:cs typeface="Consolas"/>
              </a:rPr>
              <a:t>li</a:t>
            </a:r>
            <a:r>
              <a:rPr lang="en-US" sz="1600" spc="-35" dirty="0" err="1">
                <a:solidFill>
                  <a:srgbClr val="2A90AE"/>
                </a:solidFill>
                <a:latin typeface="Consolas"/>
                <a:cs typeface="Consolas"/>
              </a:rPr>
              <a:t>c</a:t>
            </a:r>
            <a:r>
              <a:rPr lang="en-US" sz="1600" spc="15" dirty="0" err="1">
                <a:solidFill>
                  <a:srgbClr val="2A90AE"/>
                </a:solidFill>
                <a:latin typeface="Consolas"/>
                <a:cs typeface="Consolas"/>
              </a:rPr>
              <a:t>a</a:t>
            </a:r>
            <a:r>
              <a:rPr lang="en-US" sz="1600" spc="-35" dirty="0" err="1">
                <a:solidFill>
                  <a:srgbClr val="2A90AE"/>
                </a:solidFill>
                <a:latin typeface="Consolas"/>
                <a:cs typeface="Consolas"/>
              </a:rPr>
              <a:t>t</a:t>
            </a:r>
            <a:r>
              <a:rPr lang="en-US" sz="1600" spc="15" dirty="0" err="1">
                <a:solidFill>
                  <a:srgbClr val="2A90AE"/>
                </a:solidFill>
                <a:latin typeface="Consolas"/>
                <a:cs typeface="Consolas"/>
              </a:rPr>
              <a:t>io</a:t>
            </a:r>
            <a:r>
              <a:rPr lang="en-US" sz="1600" spc="-20" dirty="0" err="1">
                <a:solidFill>
                  <a:srgbClr val="2A90AE"/>
                </a:solidFill>
                <a:latin typeface="Consolas"/>
                <a:cs typeface="Consolas"/>
              </a:rPr>
              <a:t>n</a:t>
            </a:r>
            <a:r>
              <a:rPr lang="en-US" sz="1600" spc="15" dirty="0" err="1">
                <a:latin typeface="Consolas"/>
                <a:cs typeface="Consolas"/>
              </a:rPr>
              <a:t>.</a:t>
            </a:r>
            <a:r>
              <a:rPr lang="en-US" sz="1600" spc="-35" dirty="0" err="1">
                <a:latin typeface="Consolas"/>
                <a:cs typeface="Consolas"/>
              </a:rPr>
              <a:t>C</a:t>
            </a:r>
            <a:r>
              <a:rPr lang="en-US" sz="1600" spc="15" dirty="0" err="1">
                <a:latin typeface="Consolas"/>
                <a:cs typeface="Consolas"/>
              </a:rPr>
              <a:t>ur</a:t>
            </a:r>
            <a:r>
              <a:rPr lang="en-US" sz="1600" spc="-35" dirty="0" err="1">
                <a:latin typeface="Consolas"/>
                <a:cs typeface="Consolas"/>
              </a:rPr>
              <a:t>r</a:t>
            </a:r>
            <a:r>
              <a:rPr lang="en-US" sz="1600" spc="15" dirty="0" err="1">
                <a:latin typeface="Consolas"/>
                <a:cs typeface="Consolas"/>
              </a:rPr>
              <a:t>e</a:t>
            </a:r>
            <a:r>
              <a:rPr lang="en-US" sz="1600" spc="-35" dirty="0" err="1">
                <a:latin typeface="Consolas"/>
                <a:cs typeface="Consolas"/>
              </a:rPr>
              <a:t>n</a:t>
            </a:r>
            <a:r>
              <a:rPr lang="en-US" sz="1600" spc="15" dirty="0" err="1">
                <a:latin typeface="Consolas"/>
                <a:cs typeface="Consolas"/>
              </a:rPr>
              <a:t>t.</a:t>
            </a:r>
            <a:r>
              <a:rPr lang="en-US" sz="1600" spc="-35" dirty="0" err="1">
                <a:latin typeface="Consolas"/>
                <a:cs typeface="Consolas"/>
              </a:rPr>
              <a:t>R</a:t>
            </a:r>
            <a:r>
              <a:rPr lang="en-US" sz="1600" spc="15" dirty="0" err="1">
                <a:latin typeface="Consolas"/>
                <a:cs typeface="Consolas"/>
              </a:rPr>
              <a:t>e</a:t>
            </a:r>
            <a:r>
              <a:rPr lang="en-US" sz="1600" spc="-35" dirty="0" err="1">
                <a:latin typeface="Consolas"/>
                <a:cs typeface="Consolas"/>
              </a:rPr>
              <a:t>s</a:t>
            </a:r>
            <a:r>
              <a:rPr lang="en-US" sz="1600" spc="15" dirty="0" err="1">
                <a:latin typeface="Consolas"/>
                <a:cs typeface="Consolas"/>
              </a:rPr>
              <a:t>ou</a:t>
            </a:r>
            <a:r>
              <a:rPr lang="en-US" sz="1600" spc="-35" dirty="0" err="1">
                <a:latin typeface="Consolas"/>
                <a:cs typeface="Consolas"/>
              </a:rPr>
              <a:t>r</a:t>
            </a:r>
            <a:r>
              <a:rPr lang="en-US" sz="1600" spc="15" dirty="0" err="1">
                <a:latin typeface="Consolas"/>
                <a:cs typeface="Consolas"/>
              </a:rPr>
              <a:t>ce</a:t>
            </a:r>
            <a:r>
              <a:rPr lang="en-US" sz="1600" spc="-35" dirty="0" err="1">
                <a:latin typeface="Consolas"/>
                <a:cs typeface="Consolas"/>
              </a:rPr>
              <a:t>s</a:t>
            </a:r>
            <a:r>
              <a:rPr lang="en-US" sz="1600" spc="35" dirty="0">
                <a:latin typeface="Consolas"/>
                <a:cs typeface="Consolas"/>
              </a:rPr>
              <a:t>[</a:t>
            </a:r>
            <a:r>
              <a:rPr lang="en-US" sz="1600" spc="-35" dirty="0">
                <a:solidFill>
                  <a:srgbClr val="A21313"/>
                </a:solidFill>
                <a:latin typeface="Consolas"/>
                <a:cs typeface="Consolas"/>
              </a:rPr>
              <a:t>"</a:t>
            </a:r>
            <a:r>
              <a:rPr lang="en-US" sz="1600" spc="15" dirty="0" err="1">
                <a:solidFill>
                  <a:srgbClr val="A21313"/>
                </a:solidFill>
                <a:latin typeface="Consolas"/>
                <a:cs typeface="Consolas"/>
              </a:rPr>
              <a:t>Ba</a:t>
            </a:r>
            <a:r>
              <a:rPr lang="en-US" sz="1600" spc="-35" dirty="0" err="1">
                <a:solidFill>
                  <a:srgbClr val="A21313"/>
                </a:solidFill>
                <a:latin typeface="Consolas"/>
                <a:cs typeface="Consolas"/>
              </a:rPr>
              <a:t>c</a:t>
            </a:r>
            <a:r>
              <a:rPr lang="en-US" sz="1600" spc="15" dirty="0" err="1">
                <a:solidFill>
                  <a:srgbClr val="A21313"/>
                </a:solidFill>
                <a:latin typeface="Consolas"/>
                <a:cs typeface="Consolas"/>
              </a:rPr>
              <a:t>k</a:t>
            </a:r>
            <a:r>
              <a:rPr lang="en-US" sz="1600" spc="-35" dirty="0" err="1">
                <a:solidFill>
                  <a:srgbClr val="A21313"/>
                </a:solidFill>
                <a:latin typeface="Consolas"/>
                <a:cs typeface="Consolas"/>
              </a:rPr>
              <a:t>B</a:t>
            </a:r>
            <a:r>
              <a:rPr lang="en-US" sz="1600" spc="15" dirty="0" err="1">
                <a:solidFill>
                  <a:srgbClr val="A21313"/>
                </a:solidFill>
                <a:latin typeface="Consolas"/>
                <a:cs typeface="Consolas"/>
              </a:rPr>
              <a:t>ut</a:t>
            </a:r>
            <a:r>
              <a:rPr lang="en-US" sz="1600" spc="-35" dirty="0" err="1">
                <a:solidFill>
                  <a:srgbClr val="A21313"/>
                </a:solidFill>
                <a:latin typeface="Consolas"/>
                <a:cs typeface="Consolas"/>
              </a:rPr>
              <a:t>t</a:t>
            </a:r>
            <a:r>
              <a:rPr lang="en-US" sz="1600" spc="15" dirty="0" err="1">
                <a:solidFill>
                  <a:srgbClr val="A21313"/>
                </a:solidFill>
                <a:latin typeface="Consolas"/>
                <a:cs typeface="Consolas"/>
              </a:rPr>
              <a:t>o</a:t>
            </a:r>
            <a:r>
              <a:rPr lang="en-US" sz="1600" spc="-35" dirty="0" err="1">
                <a:solidFill>
                  <a:srgbClr val="A21313"/>
                </a:solidFill>
                <a:latin typeface="Consolas"/>
                <a:cs typeface="Consolas"/>
              </a:rPr>
              <a:t>n</a:t>
            </a:r>
            <a:r>
              <a:rPr lang="en-US" sz="1600" spc="15" dirty="0" err="1">
                <a:solidFill>
                  <a:srgbClr val="A21313"/>
                </a:solidFill>
                <a:latin typeface="Consolas"/>
                <a:cs typeface="Consolas"/>
              </a:rPr>
              <a:t>St</a:t>
            </a:r>
            <a:r>
              <a:rPr lang="en-US" sz="1600" spc="-35" dirty="0" err="1">
                <a:solidFill>
                  <a:srgbClr val="A21313"/>
                </a:solidFill>
                <a:latin typeface="Consolas"/>
                <a:cs typeface="Consolas"/>
              </a:rPr>
              <a:t>y</a:t>
            </a:r>
            <a:r>
              <a:rPr lang="en-US" sz="1600" spc="15" dirty="0" err="1">
                <a:solidFill>
                  <a:srgbClr val="A21313"/>
                </a:solidFill>
                <a:latin typeface="Consolas"/>
                <a:cs typeface="Consolas"/>
              </a:rPr>
              <a:t>l</a:t>
            </a:r>
            <a:r>
              <a:rPr lang="en-US" sz="1600" spc="-35" dirty="0" err="1">
                <a:solidFill>
                  <a:srgbClr val="A21313"/>
                </a:solidFill>
                <a:latin typeface="Consolas"/>
                <a:cs typeface="Consolas"/>
              </a:rPr>
              <a:t>e</a:t>
            </a:r>
            <a:r>
              <a:rPr lang="en-US" sz="1600" spc="30" dirty="0">
                <a:solidFill>
                  <a:srgbClr val="A21313"/>
                </a:solidFill>
                <a:latin typeface="Consolas"/>
                <a:cs typeface="Consolas"/>
              </a:rPr>
              <a:t>"</a:t>
            </a:r>
            <a:r>
              <a:rPr lang="en-US" sz="1600" dirty="0">
                <a:latin typeface="Consolas"/>
                <a:cs typeface="Consolas"/>
              </a:rPr>
              <a:t>]</a:t>
            </a:r>
            <a:r>
              <a:rPr lang="en-US" sz="1600" dirty="0">
                <a:latin typeface="Times New Roman"/>
                <a:cs typeface="Times New Roman"/>
              </a:rPr>
              <a:t>  </a:t>
            </a:r>
            <a:r>
              <a:rPr lang="en-US" sz="1600" spc="105" dirty="0">
                <a:latin typeface="Times New Roman"/>
                <a:cs typeface="Times New Roman"/>
              </a:rPr>
              <a:t> </a:t>
            </a:r>
            <a:r>
              <a:rPr lang="en-US" sz="1600" spc="15" dirty="0" smtClean="0">
                <a:solidFill>
                  <a:srgbClr val="0000FF"/>
                </a:solidFill>
                <a:latin typeface="Consolas"/>
                <a:cs typeface="Consolas"/>
              </a:rPr>
              <a:t>as </a:t>
            </a:r>
            <a:r>
              <a:rPr lang="en-US" sz="1600" spc="15" dirty="0">
                <a:solidFill>
                  <a:srgbClr val="2A90AE"/>
                </a:solidFill>
                <a:latin typeface="Consolas"/>
                <a:cs typeface="Consolas"/>
              </a:rPr>
              <a:t>S</a:t>
            </a:r>
            <a:r>
              <a:rPr lang="en-US" sz="1600" spc="-35" dirty="0">
                <a:solidFill>
                  <a:srgbClr val="2A90AE"/>
                </a:solidFill>
                <a:latin typeface="Consolas"/>
                <a:cs typeface="Consolas"/>
              </a:rPr>
              <a:t>t</a:t>
            </a:r>
            <a:r>
              <a:rPr lang="en-US" sz="1600" spc="15" dirty="0">
                <a:solidFill>
                  <a:srgbClr val="2A90AE"/>
                </a:solidFill>
                <a:latin typeface="Consolas"/>
                <a:cs typeface="Consolas"/>
              </a:rPr>
              <a:t>y</a:t>
            </a:r>
            <a:r>
              <a:rPr lang="en-US" sz="1600" spc="-35" dirty="0">
                <a:solidFill>
                  <a:srgbClr val="2A90AE"/>
                </a:solidFill>
                <a:latin typeface="Consolas"/>
                <a:cs typeface="Consolas"/>
              </a:rPr>
              <a:t>l</a:t>
            </a:r>
            <a:r>
              <a:rPr lang="en-US" sz="1600" spc="20" dirty="0">
                <a:solidFill>
                  <a:srgbClr val="2A90AE"/>
                </a:solidFill>
                <a:latin typeface="Consolas"/>
                <a:cs typeface="Consolas"/>
              </a:rPr>
              <a:t>e</a:t>
            </a:r>
            <a:r>
              <a:rPr lang="en-US" sz="1600" dirty="0">
                <a:latin typeface="Consolas"/>
                <a:cs typeface="Consolas"/>
              </a:rPr>
              <a:t>;</a:t>
            </a:r>
          </a:p>
          <a:p>
            <a:pPr marL="12700">
              <a:defRPr/>
            </a:pPr>
            <a:endParaRPr lang="en-US" sz="1100" dirty="0">
              <a:latin typeface="Consolas"/>
              <a:cs typeface="Consolas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100" dirty="0">
              <a:latin typeface="Consolas"/>
              <a:cs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1031" y="3777538"/>
            <a:ext cx="3433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4620" indent="-121920" eaLnBrk="1" fontAlgn="auto" hangingPunct="1">
              <a:spcBef>
                <a:spcPts val="1470"/>
              </a:spcBef>
              <a:spcAft>
                <a:spcPts val="0"/>
              </a:spcAft>
              <a:buClr>
                <a:srgbClr val="006498"/>
              </a:buClr>
              <a:buSzPct val="92000"/>
              <a:buFont typeface="Segoe UI Symbol"/>
              <a:buChar char="•"/>
              <a:tabLst>
                <a:tab pos="135255" algn="l"/>
              </a:tabLst>
              <a:defRPr/>
            </a:pPr>
            <a:r>
              <a:rPr lang="fr-FR" spc="-25" dirty="0" smtClean="0">
                <a:latin typeface="Segoe UI "/>
                <a:cs typeface="Segoe UI Symbol"/>
              </a:rPr>
              <a:t>Créer un style dynamiquement</a:t>
            </a:r>
            <a:r>
              <a:rPr lang="fr-FR" spc="-5" dirty="0" smtClean="0">
                <a:latin typeface="Segoe UI "/>
                <a:cs typeface="Segoe UI Symbol"/>
              </a:rPr>
              <a:t>:</a:t>
            </a:r>
            <a:endParaRPr lang="fr-FR" dirty="0">
              <a:latin typeface="Segoe UI "/>
              <a:cs typeface="Segoe UI Symbo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580327" y="4303204"/>
            <a:ext cx="916509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</a:t>
            </a:r>
            <a:r>
              <a:rPr lang="fr-F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fr-FR" alt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Definir</a:t>
            </a:r>
            <a:r>
              <a:rPr lang="fr-F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les </a:t>
            </a:r>
            <a:r>
              <a:rPr lang="fr-FR" alt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resources</a:t>
            </a:r>
            <a:r>
              <a:rPr lang="fr-F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dynamiquement via le code</a:t>
            </a:r>
            <a:endParaRPr lang="fr-FR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SolidColorBrush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brush 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SolidColorBrush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Colors.Red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Resources.Add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backcolor</a:t>
            </a:r>
            <a:r>
              <a:rPr lang="en-US" alt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brush);</a:t>
            </a:r>
          </a:p>
          <a:p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fr-FR" altLang="en-US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fr-FR" alt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Definir</a:t>
            </a:r>
            <a:r>
              <a:rPr lang="fr-F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la couleur de fond à partir des ressources</a:t>
            </a:r>
            <a:endParaRPr lang="fr-FR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contentBorder.Background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Resources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backcolor</a:t>
            </a:r>
            <a:r>
              <a:rPr lang="en-US" alt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SolidColorBrush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151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371031" y="788924"/>
            <a:ext cx="7686735" cy="3854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70" dirty="0">
                <a:latin typeface="Segoe UI Symbol"/>
                <a:cs typeface="Segoe UI Symbol"/>
              </a:rPr>
              <a:t>Les </a:t>
            </a:r>
            <a:r>
              <a:rPr lang="en-US" sz="2250" u="heavy" spc="-70" dirty="0" smtClean="0">
                <a:latin typeface="Segoe UI Symbol"/>
                <a:cs typeface="Segoe UI Symbol"/>
              </a:rPr>
              <a:t>resources </a:t>
            </a:r>
            <a:r>
              <a:rPr lang="en-US" sz="2250" u="heavy" spc="-70" dirty="0" err="1" smtClean="0">
                <a:latin typeface="Segoe UI Symbol"/>
                <a:cs typeface="Segoe UI Symbol"/>
              </a:rPr>
              <a:t>externes</a:t>
            </a:r>
            <a:endParaRPr lang="en-US" sz="2250" u="heavy" spc="-70" dirty="0">
              <a:latin typeface="Segoe UI Symbol"/>
              <a:cs typeface="Segoe UI Symbol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en-US" sz="1200" spc="-7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ymbol"/>
              <a:cs typeface="Times New Roman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existe des ressources externes qui sont essentiellement </a:t>
            </a:r>
          </a:p>
          <a:p>
            <a:pPr marL="781685" lvl="1" indent="-171450"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des images </a:t>
            </a:r>
          </a:p>
          <a:p>
            <a:pPr marL="781685" lvl="1" indent="-171450"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des police de caractères</a:t>
            </a:r>
          </a:p>
          <a:p>
            <a:pPr marL="781685" lvl="1" indent="-171450"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Des fichiers</a:t>
            </a:r>
          </a:p>
          <a:p>
            <a:pPr marL="781685" lvl="1" indent="-171450"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endParaRPr lang="fr-FR" spc="-7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800" lvl="1"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spc="-70" dirty="0">
                <a:latin typeface="Segoe UI" panose="020B0502040204020203" pitchFamily="34" charset="0"/>
                <a:cs typeface="Segoe UI" panose="020B0502040204020203" pitchFamily="34" charset="0"/>
              </a:rPr>
              <a:t>police de 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caractères:</a:t>
            </a:r>
            <a:endParaRPr lang="fr-FR" spc="-7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800" lvl="1"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Il faut télécharger les fichiers </a:t>
            </a: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ttf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et les placer au niveau du dossier</a:t>
            </a:r>
          </a:p>
          <a:p>
            <a:pPr marL="177800" lvl="1">
              <a:tabLst>
                <a:tab pos="5993130" algn="l"/>
              </a:tabLst>
              <a:defRPr/>
            </a:pPr>
            <a:r>
              <a:rPr lang="fr-FR" spc="-7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Fonts 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sous le dossier </a:t>
            </a: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Ressources</a:t>
            </a:r>
          </a:p>
          <a:p>
            <a:pPr marL="177800" lvl="1">
              <a:tabLst>
                <a:tab pos="5993130" algn="l"/>
              </a:tabLst>
              <a:defRPr/>
            </a:pPr>
            <a:endParaRPr lang="fr-FR" b="1" spc="-7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800" lvl="1"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existe beaucoup de sites qui fournissent déjà des polices comme  par exemple</a:t>
            </a:r>
          </a:p>
          <a:p>
            <a:pPr marL="177800" lvl="1">
              <a:tabLst>
                <a:tab pos="5993130" algn="l"/>
              </a:tabLst>
              <a:defRPr/>
            </a:pPr>
            <a:r>
              <a:rPr lang="fr-FR" spc="-7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www.fontsquirrel.com/fonts/list/popular</a:t>
            </a:r>
            <a:endParaRPr lang="fr-FR" spc="-7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800" lvl="1"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http://www.font.google.com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0763" y="788924"/>
            <a:ext cx="3076968" cy="4099959"/>
          </a:xfrm>
          <a:prstGeom prst="rect">
            <a:avLst/>
          </a:prstGeom>
        </p:spPr>
      </p:pic>
      <p:sp>
        <p:nvSpPr>
          <p:cNvPr id="9" name="Ellipse 8"/>
          <p:cNvSpPr/>
          <p:nvPr/>
        </p:nvSpPr>
        <p:spPr>
          <a:xfrm>
            <a:off x="9697996" y="2111993"/>
            <a:ext cx="356259" cy="3384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10" name="Ellipse 9"/>
          <p:cNvSpPr/>
          <p:nvPr/>
        </p:nvSpPr>
        <p:spPr>
          <a:xfrm>
            <a:off x="9899247" y="2799607"/>
            <a:ext cx="356259" cy="3384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11" name="Ellipse 10"/>
          <p:cNvSpPr/>
          <p:nvPr/>
        </p:nvSpPr>
        <p:spPr>
          <a:xfrm>
            <a:off x="9845808" y="3161991"/>
            <a:ext cx="356259" cy="3384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6185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371031" y="788924"/>
            <a:ext cx="8370633" cy="1084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70" dirty="0">
                <a:latin typeface="Segoe UI Symbol"/>
                <a:cs typeface="Segoe UI Symbol"/>
              </a:rPr>
              <a:t>Les </a:t>
            </a:r>
            <a:r>
              <a:rPr lang="en-US" sz="2250" u="heavy" spc="-70" dirty="0" smtClean="0">
                <a:latin typeface="Segoe UI Symbol"/>
                <a:cs typeface="Segoe UI Symbol"/>
              </a:rPr>
              <a:t>resources </a:t>
            </a:r>
            <a:r>
              <a:rPr lang="en-US" sz="2250" u="heavy" spc="-70" dirty="0" err="1" smtClean="0">
                <a:latin typeface="Segoe UI Symbol"/>
                <a:cs typeface="Segoe UI Symbol"/>
              </a:rPr>
              <a:t>externes</a:t>
            </a:r>
            <a:r>
              <a:rPr lang="en-US" sz="2250" u="heavy" spc="-70" dirty="0" smtClean="0">
                <a:latin typeface="Segoe UI Symbol"/>
                <a:cs typeface="Segoe UI Symbol"/>
              </a:rPr>
              <a:t>-Les polices</a:t>
            </a:r>
            <a:endParaRPr lang="en-US" sz="2250" u="heavy" spc="-70" dirty="0">
              <a:latin typeface="Segoe UI Symbol"/>
              <a:cs typeface="Segoe UI Symbol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en-US" sz="1200" spc="-7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ymbol"/>
              <a:cs typeface="Times New Roman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Une fois le fichier </a:t>
            </a:r>
            <a:r>
              <a:rPr lang="fr-FR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ttf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est téléchargé, il doit être placé sous le dossier </a:t>
            </a: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Resources</a:t>
            </a: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&gt;Font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4" y="1331380"/>
            <a:ext cx="3076968" cy="4099959"/>
          </a:xfrm>
          <a:prstGeom prst="rect">
            <a:avLst/>
          </a:prstGeom>
        </p:spPr>
      </p:pic>
      <p:cxnSp>
        <p:nvCxnSpPr>
          <p:cNvPr id="4" name="Connecteur droit avec flèche 3"/>
          <p:cNvCxnSpPr/>
          <p:nvPr/>
        </p:nvCxnSpPr>
        <p:spPr>
          <a:xfrm>
            <a:off x="8039595" y="1662545"/>
            <a:ext cx="1169719" cy="1229097"/>
          </a:xfrm>
          <a:prstGeom prst="straightConnector1">
            <a:avLst/>
          </a:prstGeom>
          <a:ln w="3492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11646" y="180481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pc="-70" dirty="0">
                <a:latin typeface="Segoe UI" panose="020B0502040204020203" pitchFamily="34" charset="0"/>
                <a:cs typeface="Segoe UI" panose="020B0502040204020203" pitchFamily="34" charset="0"/>
              </a:rPr>
              <a:t>Une fois le fichier </a:t>
            </a:r>
            <a:r>
              <a:rPr lang="fr-FR" spc="-70" dirty="0" err="1">
                <a:latin typeface="Segoe UI" panose="020B0502040204020203" pitchFamily="34" charset="0"/>
                <a:cs typeface="Segoe UI" panose="020B0502040204020203" pitchFamily="34" charset="0"/>
              </a:rPr>
              <a:t>ttf</a:t>
            </a:r>
            <a:r>
              <a:rPr lang="fr-FR" spc="-70" dirty="0">
                <a:latin typeface="Segoe UI" panose="020B0502040204020203" pitchFamily="34" charset="0"/>
                <a:cs typeface="Segoe UI" panose="020B0502040204020203" pitchFamily="34" charset="0"/>
              </a:rPr>
              <a:t> est téléchargé, il doit être placé sous le dossier </a:t>
            </a:r>
            <a:r>
              <a:rPr lang="fr-FR" b="1" spc="-70" dirty="0" err="1">
                <a:latin typeface="Segoe UI" panose="020B0502040204020203" pitchFamily="34" charset="0"/>
                <a:cs typeface="Segoe UI" panose="020B0502040204020203" pitchFamily="34" charset="0"/>
              </a:rPr>
              <a:t>Resources</a:t>
            </a:r>
            <a:r>
              <a:rPr lang="fr-FR" b="1" spc="-70" dirty="0">
                <a:latin typeface="Segoe UI" panose="020B0502040204020203" pitchFamily="34" charset="0"/>
                <a:cs typeface="Segoe UI" panose="020B0502040204020203" pitchFamily="34" charset="0"/>
              </a:rPr>
              <a:t>&gt;Font</a:t>
            </a:r>
            <a:r>
              <a:rPr lang="fr-FR" spc="-7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1031" y="2581548"/>
            <a:ext cx="4335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y a deux manières d’enregistrer  les font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10056" y="3012027"/>
            <a:ext cx="13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Via </a:t>
            </a: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cspoj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2241382" y="304854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MauiFont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Include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Resources\Fonts\OpenSans-Regular.ttf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Alias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OpenSansRegular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/&gt;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900179" y="3571769"/>
            <a:ext cx="2278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Via </a:t>
            </a: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MAUIProgram</a:t>
            </a:r>
            <a:endParaRPr lang="en-US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1028"/>
          <a:stretch/>
        </p:blipFill>
        <p:spPr>
          <a:xfrm>
            <a:off x="973723" y="4002247"/>
            <a:ext cx="5138641" cy="211880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945401" y="4746482"/>
            <a:ext cx="4394030" cy="684857"/>
          </a:xfrm>
          <a:prstGeom prst="rect">
            <a:avLst/>
          </a:prstGeom>
          <a:solidFill>
            <a:srgbClr val="FF0000">
              <a:alpha val="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06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371031" y="788924"/>
            <a:ext cx="11133110" cy="8079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70" dirty="0">
                <a:latin typeface="Segoe UI Symbol"/>
                <a:cs typeface="Segoe UI Symbol"/>
              </a:rPr>
              <a:t>Les </a:t>
            </a:r>
            <a:r>
              <a:rPr lang="en-US" sz="2250" u="heavy" spc="-70" dirty="0" smtClean="0">
                <a:latin typeface="Segoe UI Symbol"/>
                <a:cs typeface="Segoe UI Symbol"/>
              </a:rPr>
              <a:t>resources </a:t>
            </a:r>
            <a:r>
              <a:rPr lang="en-US" sz="2250" u="heavy" spc="-70" dirty="0" err="1" smtClean="0">
                <a:latin typeface="Segoe UI Symbol"/>
                <a:cs typeface="Segoe UI Symbol"/>
              </a:rPr>
              <a:t>externes</a:t>
            </a:r>
            <a:r>
              <a:rPr lang="en-US" sz="2250" u="heavy" spc="-70" dirty="0" smtClean="0">
                <a:latin typeface="Segoe UI Symbol"/>
                <a:cs typeface="Segoe UI Symbol"/>
              </a:rPr>
              <a:t>-Les polices</a:t>
            </a:r>
            <a:endParaRPr lang="en-US" sz="2250" u="heavy" spc="-70" dirty="0">
              <a:latin typeface="Segoe UI Symbol"/>
              <a:cs typeface="Segoe UI Symbol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en-US" sz="1200" spc="-7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ymbol"/>
              <a:cs typeface="Times New Roman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Exemple d’ajout de </a:t>
            </a: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FontFamily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particulière au niveau du fichier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MauiProgram.cs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71815" y="1743489"/>
            <a:ext cx="8171936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MauiApp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CreateMauiApp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lvl="1"/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MauiApp.CreateBuilder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1"/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UseMauiApp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&lt;App&gt;()</a:t>
            </a:r>
          </a:p>
          <a:p>
            <a:pPr lvl="1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ConfigureFonts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(fonts =&gt;</a:t>
            </a:r>
          </a:p>
          <a:p>
            <a:pPr lvl="2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lvl="3"/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fonts.AddFont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"OpenSans-Regular.ttf"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OpenSansRegular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lvl="3"/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fonts.AddFont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"OpenSans-Semibold.ttf"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OpenSansSemibold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lvl="3"/>
            <a:r>
              <a:rPr lang="fr-FR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fonts.AddFont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(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"Pacifico.ttf"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, 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"Pacifico"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);</a:t>
            </a:r>
          </a:p>
          <a:p>
            <a:pPr lvl="2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}).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UseMauiMaps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1"/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808080"/>
                </a:solidFill>
                <a:latin typeface="Cascadia Mono" panose="020B0609020000020004" pitchFamily="49" charset="0"/>
              </a:rPr>
              <a:t>#if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DEBUG</a:t>
            </a:r>
          </a:p>
          <a:p>
            <a:pPr lvl="1"/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builder.Logging.AddDebug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1"/>
            <a:r>
              <a:rPr lang="fr-FR" sz="1400" dirty="0">
                <a:solidFill>
                  <a:srgbClr val="808080"/>
                </a:solidFill>
                <a:latin typeface="Cascadia Mono" panose="020B0609020000020004" pitchFamily="49" charset="0"/>
              </a:rPr>
              <a:t>#</a:t>
            </a:r>
            <a:r>
              <a:rPr lang="fr-FR" sz="14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endif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builder.Build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	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713908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371031" y="788924"/>
            <a:ext cx="8370633" cy="8079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70" dirty="0">
                <a:latin typeface="Segoe UI Symbol"/>
                <a:cs typeface="Segoe UI Symbol"/>
              </a:rPr>
              <a:t>Les </a:t>
            </a:r>
            <a:r>
              <a:rPr lang="en-US" sz="2250" u="heavy" spc="-70" dirty="0" smtClean="0">
                <a:latin typeface="Segoe UI Symbol"/>
                <a:cs typeface="Segoe UI Symbol"/>
              </a:rPr>
              <a:t>resources </a:t>
            </a:r>
            <a:r>
              <a:rPr lang="en-US" sz="2250" u="heavy" spc="-70" dirty="0" err="1" smtClean="0">
                <a:latin typeface="Segoe UI Symbol"/>
                <a:cs typeface="Segoe UI Symbol"/>
              </a:rPr>
              <a:t>externes</a:t>
            </a:r>
            <a:r>
              <a:rPr lang="en-US" sz="2250" u="heavy" spc="-70" dirty="0" smtClean="0">
                <a:latin typeface="Segoe UI Symbol"/>
                <a:cs typeface="Segoe UI Symbol"/>
              </a:rPr>
              <a:t>- Les polices</a:t>
            </a:r>
            <a:endParaRPr lang="en-US" sz="2250" u="heavy" spc="-70" dirty="0">
              <a:latin typeface="Segoe UI Symbol"/>
              <a:cs typeface="Segoe UI Symbol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en-US" sz="1200" spc="-7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ymbol"/>
              <a:cs typeface="Times New Roman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propriété </a:t>
            </a: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FontFamily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permet de définir la police à appliquer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</p:txBody>
      </p:sp>
      <p:sp>
        <p:nvSpPr>
          <p:cNvPr id="3" name="Rectangle 2"/>
          <p:cNvSpPr/>
          <p:nvPr/>
        </p:nvSpPr>
        <p:spPr>
          <a:xfrm>
            <a:off x="687859" y="1942826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VerticalStackLayout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="Large"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FontFamily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="OpenSans-Regular.ttf"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Text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="Ce ci est un texte en "/&gt;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="Large"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FontFamily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="Pacifico.ttf"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Text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="Ce ci est un texte en "/&gt;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VerticalStackLayout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365" y="788924"/>
            <a:ext cx="2508379" cy="56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14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371031" y="788924"/>
            <a:ext cx="11133110" cy="21929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70" dirty="0">
                <a:latin typeface="Segoe UI Symbol"/>
                <a:cs typeface="Segoe UI Symbol"/>
              </a:rPr>
              <a:t>Les </a:t>
            </a:r>
            <a:r>
              <a:rPr lang="en-US" sz="2250" u="heavy" spc="-70" dirty="0" smtClean="0">
                <a:latin typeface="Segoe UI Symbol"/>
                <a:cs typeface="Segoe UI Symbol"/>
              </a:rPr>
              <a:t>resources </a:t>
            </a:r>
            <a:r>
              <a:rPr lang="en-US" sz="2250" u="heavy" spc="-70" dirty="0" err="1" smtClean="0">
                <a:latin typeface="Segoe UI Symbol"/>
                <a:cs typeface="Segoe UI Symbol"/>
              </a:rPr>
              <a:t>externes</a:t>
            </a:r>
            <a:r>
              <a:rPr lang="en-US" sz="2250" u="heavy" spc="-70" dirty="0" smtClean="0">
                <a:latin typeface="Segoe UI Symbol"/>
                <a:cs typeface="Segoe UI Symbol"/>
              </a:rPr>
              <a:t>-Les </a:t>
            </a:r>
            <a:r>
              <a:rPr lang="en-US" sz="2250" u="heavy" spc="-70" dirty="0" err="1" smtClean="0">
                <a:latin typeface="Segoe UI Symbol"/>
                <a:cs typeface="Segoe UI Symbol"/>
              </a:rPr>
              <a:t>icones</a:t>
            </a:r>
            <a:endParaRPr lang="en-US" sz="2250" u="heavy" spc="-70" dirty="0">
              <a:latin typeface="Segoe UI Symbol"/>
              <a:cs typeface="Segoe UI Symbol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en-US" sz="1200" spc="-7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ymbol"/>
              <a:cs typeface="Times New Roman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existe plusieurs sites de téléchargement d’icones</a:t>
            </a:r>
          </a:p>
          <a:p>
            <a:pPr marL="781685" lvl="1" indent="-171450"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Icon8</a:t>
            </a:r>
          </a:p>
          <a:p>
            <a:pPr marL="781685" lvl="1" indent="-171450"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FontAwsome</a:t>
            </a:r>
            <a:endParaRPr lang="fr-FR" b="1" spc="-7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81685" lvl="1" indent="-171450"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Fontello</a:t>
            </a:r>
            <a:endParaRPr lang="fr-FR" b="1" spc="-7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endParaRPr lang="fr-FR" b="1" spc="-7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Pour le site </a:t>
            </a: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Fontello</a:t>
            </a: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d’une façon particulière il est possible de générer l’icone à partir d’un code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99" y="3373898"/>
            <a:ext cx="6292179" cy="31048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34" y="3258831"/>
            <a:ext cx="4492733" cy="223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02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371031" y="788924"/>
            <a:ext cx="11133110" cy="8079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70" dirty="0">
                <a:latin typeface="Segoe UI Symbol"/>
                <a:cs typeface="Segoe UI Symbol"/>
              </a:rPr>
              <a:t>Les </a:t>
            </a:r>
            <a:r>
              <a:rPr lang="en-US" sz="2250" u="heavy" spc="-70" dirty="0" smtClean="0">
                <a:latin typeface="Segoe UI Symbol"/>
                <a:cs typeface="Segoe UI Symbol"/>
              </a:rPr>
              <a:t>resources </a:t>
            </a:r>
            <a:r>
              <a:rPr lang="en-US" sz="2250" u="heavy" spc="-70" dirty="0" err="1" smtClean="0">
                <a:latin typeface="Segoe UI Symbol"/>
                <a:cs typeface="Segoe UI Symbol"/>
              </a:rPr>
              <a:t>externes</a:t>
            </a:r>
            <a:r>
              <a:rPr lang="en-US" sz="2250" u="heavy" spc="-70" dirty="0" smtClean="0">
                <a:latin typeface="Segoe UI Symbol"/>
                <a:cs typeface="Segoe UI Symbol"/>
              </a:rPr>
              <a:t>-Les </a:t>
            </a:r>
            <a:r>
              <a:rPr lang="en-US" sz="2250" u="heavy" spc="-70" dirty="0" err="1" smtClean="0">
                <a:latin typeface="Segoe UI Symbol"/>
                <a:cs typeface="Segoe UI Symbol"/>
              </a:rPr>
              <a:t>icones</a:t>
            </a:r>
            <a:endParaRPr lang="en-US" sz="2250" u="heavy" spc="-70" dirty="0">
              <a:latin typeface="Segoe UI Symbol"/>
              <a:cs typeface="Segoe UI Symbol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en-US" sz="1200" spc="-7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ymbol"/>
              <a:cs typeface="Times New Roman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Une fois les icones sont choisies, il faut bien les télécharger et placer le fichier </a:t>
            </a: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fontello.ttf 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au niveau des ressources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57" y="1741440"/>
            <a:ext cx="6826601" cy="424201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476" y="1741440"/>
            <a:ext cx="2738498" cy="223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78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371031" y="788924"/>
            <a:ext cx="9063914" cy="3300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70" dirty="0">
                <a:latin typeface="Segoe UI Symbol"/>
                <a:cs typeface="Segoe UI Symbol"/>
              </a:rPr>
              <a:t>Les </a:t>
            </a:r>
            <a:r>
              <a:rPr lang="en-US" sz="2250" u="heavy" spc="-70" dirty="0" smtClean="0">
                <a:latin typeface="Segoe UI Symbol"/>
                <a:cs typeface="Segoe UI Symbol"/>
              </a:rPr>
              <a:t>resources </a:t>
            </a:r>
            <a:r>
              <a:rPr lang="en-US" sz="2250" u="heavy" spc="-70" dirty="0" err="1" smtClean="0">
                <a:latin typeface="Segoe UI Symbol"/>
                <a:cs typeface="Segoe UI Symbol"/>
              </a:rPr>
              <a:t>externes</a:t>
            </a:r>
            <a:r>
              <a:rPr lang="en-US" sz="2250" u="heavy" spc="-70" dirty="0" smtClean="0">
                <a:latin typeface="Segoe UI Symbol"/>
                <a:cs typeface="Segoe UI Symbol"/>
              </a:rPr>
              <a:t>-Les </a:t>
            </a:r>
            <a:r>
              <a:rPr lang="en-US" sz="2250" u="heavy" spc="-70" dirty="0" err="1" smtClean="0">
                <a:latin typeface="Segoe UI Symbol"/>
                <a:cs typeface="Segoe UI Symbol"/>
              </a:rPr>
              <a:t>icones</a:t>
            </a:r>
            <a:endParaRPr lang="en-US" sz="2250" u="heavy" spc="-70" dirty="0">
              <a:latin typeface="Segoe UI Symbol"/>
              <a:cs typeface="Segoe UI Symbol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en-US" sz="1200" spc="-7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ymbol"/>
              <a:cs typeface="Times New Roman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à présent un exemple de code qui consomme les icones téléchargées</a:t>
            </a: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fr-FR" b="1" spc="-7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Il</a:t>
            </a: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faut bien enregistrer le fichier </a:t>
            </a:r>
            <a:r>
              <a:rPr lang="fr-FR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ttf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dans le fichier </a:t>
            </a: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MauiProgram.cs</a:t>
            </a: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fr-FR" b="1" spc="-7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fr-FR" b="1" spc="-7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fr-FR" b="1" spc="-7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fr-FR" b="1" spc="-7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fr-FR" b="1" spc="-7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fr-FR" b="1" spc="-7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propriétés</a:t>
            </a: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FontFamily</a:t>
            </a: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et</a:t>
            </a: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Glyph</a:t>
            </a: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sont utilisées dans ce cas pour définir les icones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407" y="1152766"/>
            <a:ext cx="2155720" cy="49023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61852" y="2282725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UseMauiApp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&lt;App&gt;()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ConfigureFonts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(fonts =&gt;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……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fonts.AddFont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"fontello.ttf"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fontello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}).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UseMauiMaps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sz="1200" dirty="0"/>
          </a:p>
        </p:txBody>
      </p:sp>
      <p:sp>
        <p:nvSpPr>
          <p:cNvPr id="8" name="Rectangle 7"/>
          <p:cNvSpPr/>
          <p:nvPr/>
        </p:nvSpPr>
        <p:spPr>
          <a:xfrm>
            <a:off x="952006" y="4324059"/>
            <a:ext cx="7265718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1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="black" &gt;</a:t>
            </a:r>
            <a:endParaRPr lang="fr-FR" sz="11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b="1" dirty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r>
              <a:rPr lang="fr-FR" sz="11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b="1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="20"&gt;</a:t>
            </a:r>
            <a:endParaRPr lang="fr-FR" sz="11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Image.Source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FontImageSource</a:t>
            </a:r>
            <a:endParaRPr lang="fr-FR" sz="11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  <a:r>
              <a:rPr lang="fr-FR" sz="11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FontFamily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</a:t>
            </a:r>
            <a:r>
              <a:rPr lang="fr-FR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fontello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</a:t>
            </a:r>
            <a:r>
              <a:rPr lang="fr-FR" sz="11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Glyph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="&amp;#xF0E0;"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1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  <a:r>
              <a:rPr lang="fr-FR" sz="11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Size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="50"&gt;</a:t>
            </a:r>
            <a:endParaRPr lang="fr-FR" sz="11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1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FontImageSource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1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Image.Source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100" b="1" dirty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r>
              <a:rPr lang="fr-FR" sz="11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632538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1"/>
          <p:cNvSpPr txBox="1"/>
          <p:nvPr/>
        </p:nvSpPr>
        <p:spPr>
          <a:xfrm>
            <a:off x="247246" y="250845"/>
            <a:ext cx="9063914" cy="1915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70" dirty="0">
                <a:latin typeface="Segoe UI Symbol"/>
                <a:cs typeface="Segoe UI Symbol"/>
              </a:rPr>
              <a:t>Les </a:t>
            </a:r>
            <a:r>
              <a:rPr lang="en-US" sz="2250" u="heavy" spc="-70" dirty="0" smtClean="0">
                <a:latin typeface="Segoe UI Symbol"/>
                <a:cs typeface="Segoe UI Symbol"/>
              </a:rPr>
              <a:t>resources </a:t>
            </a:r>
            <a:r>
              <a:rPr lang="en-US" sz="2250" u="heavy" spc="-70" dirty="0" err="1" smtClean="0">
                <a:latin typeface="Segoe UI Symbol"/>
                <a:cs typeface="Segoe UI Symbol"/>
              </a:rPr>
              <a:t>externes</a:t>
            </a:r>
            <a:r>
              <a:rPr lang="en-US" sz="2250" u="heavy" spc="-70" dirty="0" smtClean="0">
                <a:latin typeface="Segoe UI Symbol"/>
                <a:cs typeface="Segoe UI Symbol"/>
              </a:rPr>
              <a:t>-Les </a:t>
            </a:r>
            <a:r>
              <a:rPr lang="en-US" sz="2250" u="heavy" spc="-70" dirty="0" err="1" smtClean="0">
                <a:latin typeface="Segoe UI Symbol"/>
                <a:cs typeface="Segoe UI Symbol"/>
              </a:rPr>
              <a:t>fichiers</a:t>
            </a:r>
            <a:r>
              <a:rPr lang="en-US" sz="2250" u="heavy" spc="-70" dirty="0" smtClean="0">
                <a:latin typeface="Segoe UI Symbol"/>
                <a:cs typeface="Segoe UI Symbol"/>
              </a:rPr>
              <a:t> </a:t>
            </a:r>
            <a:endParaRPr lang="en-US" sz="2250" u="heavy" spc="-70" dirty="0">
              <a:latin typeface="Segoe UI Symbol"/>
              <a:cs typeface="Segoe UI Symbol"/>
            </a:endParaRPr>
          </a:p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endParaRPr lang="en-US" sz="1200" spc="-7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ymbol"/>
              <a:cs typeface="Times New Roman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autres types de fichiers sont ajouté dans </a:t>
            </a: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Resources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r>
              <a:rPr lang="fr-FR" b="1" spc="-7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Raw</a:t>
            </a:r>
            <a:endParaRPr lang="fr-FR" b="1" spc="-7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24485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endParaRPr lang="fr-FR" b="1" spc="-7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24485" indent="-1714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993130" algn="l"/>
              </a:tabLst>
              <a:defRPr/>
            </a:pP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fichier </a:t>
            </a:r>
            <a:r>
              <a:rPr lang="fr-FR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AboutAssets.txt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contient un fragment de code qui montre </a:t>
            </a:r>
          </a:p>
          <a:p>
            <a:pPr marL="15303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fr-FR" spc="-7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  comment lire les données à partir des fichiers 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8729" y="5789757"/>
            <a:ext cx="36232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Lire </a:t>
            </a:r>
            <a:r>
              <a:rPr lang="fr-FR" sz="1400" b="1" spc="-70" dirty="0">
                <a:latin typeface="Segoe UI" panose="020B0502040204020203" pitchFamily="34" charset="0"/>
                <a:cs typeface="Segoe UI" panose="020B0502040204020203" pitchFamily="34" charset="0"/>
              </a:rPr>
              <a:t>les données à partir </a:t>
            </a:r>
            <a:r>
              <a:rPr lang="fr-FR" sz="1400" b="1" spc="-70" dirty="0" smtClean="0">
                <a:latin typeface="Segoe UI" panose="020B0502040204020203" pitchFamily="34" charset="0"/>
                <a:cs typeface="Segoe UI" panose="020B0502040204020203" pitchFamily="34" charset="0"/>
              </a:rPr>
              <a:t>du fichier content.txt</a:t>
            </a:r>
            <a:endParaRPr lang="en-US" sz="14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558" y="1509110"/>
            <a:ext cx="3624712" cy="28726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3235" y="2218432"/>
            <a:ext cx="6096000" cy="35548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private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async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void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LoadRawFile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try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{ // Nom complet du fichier embarqué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assembly =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typeof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(App).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GetTypeInfo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().Assembly;</a:t>
            </a:r>
          </a:p>
          <a:p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using Stream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stream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= assembly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.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GetManifestResourceStream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("MauiApp1.Resources.Raw.content.txt");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if (stream != null)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using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reader = new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StreamReader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(stream);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string content = await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reader.ReadToEndAsync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Debug.WriteLine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(content);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else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Debug.WriteLine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("Le fichier est vide");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catch (Exception ex)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Debug.WriteLine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ex.Message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4792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90504" y="2991713"/>
            <a:ext cx="10311452" cy="21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localisation d’une application MAUI</a:t>
            </a:r>
            <a:endParaRPr lang="en-US" altLang="en-US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17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1367</Words>
  <Application>Microsoft Office PowerPoint</Application>
  <PresentationFormat>Widescreen</PresentationFormat>
  <Paragraphs>310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Calibri</vt:lpstr>
      <vt:lpstr>Calibri Light</vt:lpstr>
      <vt:lpstr>Cascadia Mono</vt:lpstr>
      <vt:lpstr>Comic Sans MS</vt:lpstr>
      <vt:lpstr>Consolas</vt:lpstr>
      <vt:lpstr>Segoe UI</vt:lpstr>
      <vt:lpstr>Segoe UI </vt:lpstr>
      <vt:lpstr>Segoe UI 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Présentation Foundation </dc:title>
  <dc:creator>Windows User</dc:creator>
  <cp:lastModifiedBy>DELL</cp:lastModifiedBy>
  <cp:revision>42</cp:revision>
  <dcterms:created xsi:type="dcterms:W3CDTF">2022-10-07T06:51:45Z</dcterms:created>
  <dcterms:modified xsi:type="dcterms:W3CDTF">2025-07-15T10:02:28Z</dcterms:modified>
</cp:coreProperties>
</file>