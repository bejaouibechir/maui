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74" r:id="rId2"/>
    <p:sldId id="256" r:id="rId3"/>
    <p:sldId id="257" r:id="rId4"/>
    <p:sldId id="263" r:id="rId5"/>
    <p:sldId id="275" r:id="rId6"/>
    <p:sldId id="259" r:id="rId7"/>
    <p:sldId id="264" r:id="rId8"/>
    <p:sldId id="271" r:id="rId9"/>
    <p:sldId id="265" r:id="rId10"/>
    <p:sldId id="280" r:id="rId11"/>
    <p:sldId id="278" r:id="rId12"/>
    <p:sldId id="279" r:id="rId13"/>
    <p:sldId id="261" r:id="rId14"/>
    <p:sldId id="267" r:id="rId15"/>
    <p:sldId id="268" r:id="rId16"/>
    <p:sldId id="269" r:id="rId17"/>
    <p:sldId id="270" r:id="rId18"/>
    <p:sldId id="262" r:id="rId19"/>
    <p:sldId id="276" r:id="rId20"/>
    <p:sldId id="277" r:id="rId21"/>
    <p:sldId id="273" r:id="rId22"/>
    <p:sldId id="27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6290DFA-5F6E-4EF1-815C-4E92BDDB2F6D}">
          <p14:sldIdLst>
            <p14:sldId id="274"/>
            <p14:sldId id="256"/>
          </p14:sldIdLst>
        </p14:section>
        <p14:section name="Binding entre éléments" id="{E33A0072-4B2C-49D8-992B-FD0D0506E433}">
          <p14:sldIdLst>
            <p14:sldId id="257"/>
            <p14:sldId id="263"/>
          </p14:sldIdLst>
        </p14:section>
        <p14:section name="TemplateBinding" id="{5817868B-0E57-489A-B4C6-C6EC6AAF9E8B}">
          <p14:sldIdLst>
            <p14:sldId id="275"/>
          </p14:sldIdLst>
        </p14:section>
        <p14:section name="BindingContext" id="{99A972A5-3C6D-4E35-A79F-78A31BA1A88D}">
          <p14:sldIdLst>
            <p14:sldId id="259"/>
            <p14:sldId id="264"/>
          </p14:sldIdLst>
        </p14:section>
        <p14:section name="Relative Source" id="{6A8C5FD1-E2DC-430F-B053-7ADD414AA542}">
          <p14:sldIdLst>
            <p14:sldId id="271"/>
          </p14:sldIdLst>
        </p14:section>
        <p14:section name="RelativeSource" id="{F252D914-7A70-4CF0-8C93-75EF287FC60D}">
          <p14:sldIdLst>
            <p14:sldId id="265"/>
            <p14:sldId id="280"/>
            <p14:sldId id="278"/>
            <p14:sldId id="279"/>
          </p14:sldIdLst>
        </p14:section>
        <p14:section name="Autre Binding" id="{54D12EAB-A384-4380-BEB8-47B13AA4BBF1}">
          <p14:sldIdLst>
            <p14:sldId id="261"/>
          </p14:sldIdLst>
        </p14:section>
        <p14:section name="Bindable Properties" id="{8B503349-5D45-4CFF-922F-96B99C7FA415}">
          <p14:sldIdLst>
            <p14:sldId id="267"/>
            <p14:sldId id="268"/>
            <p14:sldId id="269"/>
          </p14:sldIdLst>
        </p14:section>
        <p14:section name="Attached Properties" id="{7012F8A2-A710-41F9-B1DF-95DC35228FBB}">
          <p14:sldIdLst>
            <p14:sldId id="270"/>
          </p14:sldIdLst>
        </p14:section>
        <p14:section name="INotifyPropertyChanged" id="{D552B63C-A7E1-4D99-B90A-EA806172329A}">
          <p14:sldIdLst>
            <p14:sldId id="262"/>
          </p14:sldIdLst>
        </p14:section>
        <p14:section name="INotifyPropertyChanging" id="{305B79DF-2DB3-4D7C-ACA7-86FF6A7C1209}">
          <p14:sldIdLst>
            <p14:sldId id="276"/>
          </p14:sldIdLst>
        </p14:section>
        <p14:section name="INotifyCollectionChanged" id="{86586F51-FEC4-4B3D-AC34-A352462569B9}">
          <p14:sldIdLst>
            <p14:sldId id="277"/>
          </p14:sldIdLst>
        </p14:section>
        <p14:section name="Les extensions de balisage" id="{5E4D887D-B836-4156-9C8F-80EC464869DB}">
          <p14:sldIdLst>
            <p14:sldId id="273"/>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32" autoAdjust="0"/>
    <p:restoredTop sz="93883" autoAdjust="0"/>
  </p:normalViewPr>
  <p:slideViewPr>
    <p:cSldViewPr snapToGrid="0">
      <p:cViewPr varScale="1">
        <p:scale>
          <a:sx n="106" d="100"/>
          <a:sy n="106" d="100"/>
        </p:scale>
        <p:origin x="66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90BAA8-6151-48A3-AE50-386405E8D3F2}" type="datetimeFigureOut">
              <a:rPr lang="fr-FR" smtClean="0"/>
              <a:t>15/07/2025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139648-5E4B-484D-B5BB-D289BC444157}" type="slidenum">
              <a:rPr lang="fr-FR" smtClean="0"/>
              <a:t>‹#›</a:t>
            </a:fld>
            <a:endParaRPr lang="fr-FR"/>
          </a:p>
        </p:txBody>
      </p:sp>
    </p:spTree>
    <p:extLst>
      <p:ext uri="{BB962C8B-B14F-4D97-AF65-F5344CB8AC3E}">
        <p14:creationId xmlns:p14="http://schemas.microsoft.com/office/powerpoint/2010/main" val="3929916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&lt;</a:t>
            </a:r>
            <a:r>
              <a:rPr lang="en-US" sz="1200" kern="1200" dirty="0" err="1" smtClean="0">
                <a:solidFill>
                  <a:schemeClr val="tx1"/>
                </a:solidFill>
                <a:latin typeface="+mn-lt"/>
                <a:ea typeface="+mn-ea"/>
                <a:cs typeface="+mn-cs"/>
              </a:rPr>
              <a:t>ContentView</a:t>
            </a:r>
            <a:r>
              <a:rPr lang="en-US" sz="1200" kern="1200" dirty="0" smtClean="0">
                <a:solidFill>
                  <a:schemeClr val="tx1"/>
                </a:solidFill>
                <a:latin typeface="+mn-lt"/>
                <a:ea typeface="+mn-ea"/>
                <a:cs typeface="+mn-cs"/>
              </a:rPr>
              <a:t> ControlTemplate="{</a:t>
            </a:r>
            <a:r>
              <a:rPr lang="en-US" sz="1200" kern="1200" dirty="0" err="1" smtClean="0">
                <a:solidFill>
                  <a:schemeClr val="tx1"/>
                </a:solidFill>
                <a:latin typeface="+mn-lt"/>
                <a:ea typeface="+mn-ea"/>
                <a:cs typeface="+mn-cs"/>
              </a:rPr>
              <a:t>StaticResource</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MyTemplate</a:t>
            </a:r>
            <a:r>
              <a:rPr lang="en-US" sz="1200" kern="1200" dirty="0" smtClean="0">
                <a:solidFill>
                  <a:schemeClr val="tx1"/>
                </a:solidFill>
                <a:latin typeface="+mn-lt"/>
                <a:ea typeface="+mn-ea"/>
                <a:cs typeface="+mn-cs"/>
              </a:rPr>
              <a:t>}"&gt;</a:t>
            </a:r>
          </a:p>
          <a:p>
            <a:r>
              <a:rPr lang="en-US" sz="1200" kern="1200" dirty="0" smtClean="0">
                <a:solidFill>
                  <a:schemeClr val="tx1"/>
                </a:solidFill>
                <a:latin typeface="+mn-lt"/>
                <a:ea typeface="+mn-ea"/>
                <a:cs typeface="+mn-cs"/>
              </a:rPr>
              <a:t>    &lt;Label Text="</a:t>
            </a:r>
            <a:r>
              <a:rPr lang="en-US" sz="1200" kern="1200" dirty="0" err="1" smtClean="0">
                <a:solidFill>
                  <a:schemeClr val="tx1"/>
                </a:solidFill>
                <a:latin typeface="+mn-lt"/>
                <a:ea typeface="+mn-ea"/>
                <a:cs typeface="+mn-cs"/>
              </a:rPr>
              <a:t>Valider</a:t>
            </a:r>
            <a:r>
              <a:rPr lang="en-US" sz="1200" kern="1200" dirty="0" smtClean="0">
                <a:solidFill>
                  <a:schemeClr val="tx1"/>
                </a:solidFill>
                <a:latin typeface="+mn-lt"/>
                <a:ea typeface="+mn-ea"/>
                <a:cs typeface="+mn-cs"/>
              </a:rPr>
              <a:t>" /&gt;</a:t>
            </a:r>
          </a:p>
          <a:p>
            <a:r>
              <a:rPr lang="en-US" sz="1200" kern="1200" dirty="0" smtClean="0">
                <a:solidFill>
                  <a:schemeClr val="tx1"/>
                </a:solidFill>
                <a:latin typeface="+mn-lt"/>
                <a:ea typeface="+mn-ea"/>
                <a:cs typeface="+mn-cs"/>
              </a:rPr>
              <a:t>&lt;/</a:t>
            </a:r>
            <a:r>
              <a:rPr lang="en-US" sz="1200" kern="1200" dirty="0" err="1" smtClean="0">
                <a:solidFill>
                  <a:schemeClr val="tx1"/>
                </a:solidFill>
                <a:latin typeface="+mn-lt"/>
                <a:ea typeface="+mn-ea"/>
                <a:cs typeface="+mn-cs"/>
              </a:rPr>
              <a:t>ContentView</a:t>
            </a:r>
            <a:r>
              <a:rPr lang="en-US" sz="1200" kern="1200" dirty="0" smtClean="0">
                <a:solidFill>
                  <a:schemeClr val="tx1"/>
                </a:solidFill>
                <a:latin typeface="+mn-lt"/>
                <a:ea typeface="+mn-ea"/>
                <a:cs typeface="+mn-cs"/>
              </a:rPr>
              <a:t>&gt;</a:t>
            </a:r>
            <a:endParaRPr lang="en-US" dirty="0"/>
          </a:p>
        </p:txBody>
      </p:sp>
      <p:sp>
        <p:nvSpPr>
          <p:cNvPr id="4" name="Slide Number Placeholder 3"/>
          <p:cNvSpPr>
            <a:spLocks noGrp="1"/>
          </p:cNvSpPr>
          <p:nvPr>
            <p:ph type="sldNum" sz="quarter" idx="10"/>
          </p:nvPr>
        </p:nvSpPr>
        <p:spPr/>
        <p:txBody>
          <a:bodyPr/>
          <a:lstStyle/>
          <a:p>
            <a:fld id="{A5139648-5E4B-484D-B5BB-D289BC444157}" type="slidenum">
              <a:rPr lang="fr-FR" smtClean="0"/>
              <a:t>5</a:t>
            </a:fld>
            <a:endParaRPr lang="fr-FR"/>
          </a:p>
        </p:txBody>
      </p:sp>
    </p:spTree>
    <p:extLst>
      <p:ext uri="{BB962C8B-B14F-4D97-AF65-F5344CB8AC3E}">
        <p14:creationId xmlns:p14="http://schemas.microsoft.com/office/powerpoint/2010/main" val="1937666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5139648-5E4B-484D-B5BB-D289BC444157}" type="slidenum">
              <a:rPr lang="fr-FR" smtClean="0"/>
              <a:t>8</a:t>
            </a:fld>
            <a:endParaRPr lang="fr-FR"/>
          </a:p>
        </p:txBody>
      </p:sp>
    </p:spTree>
    <p:extLst>
      <p:ext uri="{BB962C8B-B14F-4D97-AF65-F5344CB8AC3E}">
        <p14:creationId xmlns:p14="http://schemas.microsoft.com/office/powerpoint/2010/main" val="3912897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latin typeface="+mn-lt"/>
                <a:ea typeface="+mn-ea"/>
                <a:cs typeface="+mn-cs"/>
              </a:rPr>
              <a:t>Le</a:t>
            </a:r>
            <a:r>
              <a:rPr lang="fr-FR" sz="1200" kern="1200" baseline="0" dirty="0" smtClean="0">
                <a:solidFill>
                  <a:schemeClr val="tx1"/>
                </a:solidFill>
                <a:latin typeface="+mn-lt"/>
                <a:ea typeface="+mn-ea"/>
                <a:cs typeface="+mn-cs"/>
              </a:rPr>
              <a:t> code XAML:</a:t>
            </a:r>
            <a:endParaRPr lang="fr-FR" sz="1200" kern="1200" dirty="0" smtClean="0">
              <a:solidFill>
                <a:schemeClr val="tx1"/>
              </a:solidFill>
              <a:latin typeface="+mn-lt"/>
              <a:ea typeface="+mn-ea"/>
              <a:cs typeface="+mn-cs"/>
            </a:endParaRP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&lt;?xml version="1.0" </a:t>
            </a:r>
            <a:r>
              <a:rPr lang="fr-FR" sz="1200" kern="1200" dirty="0" err="1" smtClean="0">
                <a:solidFill>
                  <a:schemeClr val="tx1"/>
                </a:solidFill>
                <a:latin typeface="+mn-lt"/>
                <a:ea typeface="+mn-ea"/>
                <a:cs typeface="+mn-cs"/>
              </a:rPr>
              <a:t>encoding</a:t>
            </a:r>
            <a:r>
              <a:rPr lang="fr-FR" sz="1200" kern="1200" dirty="0" smtClean="0">
                <a:solidFill>
                  <a:schemeClr val="tx1"/>
                </a:solidFill>
                <a:latin typeface="+mn-lt"/>
                <a:ea typeface="+mn-ea"/>
                <a:cs typeface="+mn-cs"/>
              </a:rPr>
              <a:t>="utf-8" ?&gt;</a:t>
            </a:r>
          </a:p>
          <a:p>
            <a:r>
              <a:rPr lang="fr-FR" sz="1200" kern="1200" dirty="0" smtClean="0">
                <a:solidFill>
                  <a:schemeClr val="tx1"/>
                </a:solidFill>
                <a:latin typeface="+mn-lt"/>
                <a:ea typeface="+mn-ea"/>
                <a:cs typeface="+mn-cs"/>
              </a:rPr>
              <a:t>&lt;</a:t>
            </a:r>
            <a:r>
              <a:rPr lang="fr-FR" sz="1200" kern="1200" dirty="0" err="1" smtClean="0">
                <a:solidFill>
                  <a:schemeClr val="tx1"/>
                </a:solidFill>
                <a:latin typeface="+mn-lt"/>
                <a:ea typeface="+mn-ea"/>
                <a:cs typeface="+mn-cs"/>
              </a:rPr>
              <a:t>ContentPage</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xmlns</a:t>
            </a:r>
            <a:r>
              <a:rPr lang="fr-FR" sz="1200" kern="1200" dirty="0" smtClean="0">
                <a:solidFill>
                  <a:schemeClr val="tx1"/>
                </a:solidFill>
                <a:latin typeface="+mn-lt"/>
                <a:ea typeface="+mn-ea"/>
                <a:cs typeface="+mn-cs"/>
              </a:rPr>
              <a:t>="http://schemas.microsoft.com/dotnet/2021/</a:t>
            </a:r>
            <a:r>
              <a:rPr lang="fr-FR" sz="1200" kern="1200" dirty="0" err="1" smtClean="0">
                <a:solidFill>
                  <a:schemeClr val="tx1"/>
                </a:solidFill>
                <a:latin typeface="+mn-lt"/>
                <a:ea typeface="+mn-ea"/>
                <a:cs typeface="+mn-cs"/>
              </a:rPr>
              <a:t>maui</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xmlns:x</a:t>
            </a:r>
            <a:r>
              <a:rPr lang="fr-FR" sz="1200" kern="1200" dirty="0" smtClean="0">
                <a:solidFill>
                  <a:schemeClr val="tx1"/>
                </a:solidFill>
                <a:latin typeface="+mn-lt"/>
                <a:ea typeface="+mn-ea"/>
                <a:cs typeface="+mn-cs"/>
              </a:rPr>
              <a:t>="http://schemas.microsoft.com/</a:t>
            </a:r>
            <a:r>
              <a:rPr lang="fr-FR" sz="1200" kern="1200" dirty="0" err="1" smtClean="0">
                <a:solidFill>
                  <a:schemeClr val="tx1"/>
                </a:solidFill>
                <a:latin typeface="+mn-lt"/>
                <a:ea typeface="+mn-ea"/>
                <a:cs typeface="+mn-cs"/>
              </a:rPr>
              <a:t>winfx</a:t>
            </a:r>
            <a:r>
              <a:rPr lang="fr-FR" sz="1200" kern="1200" dirty="0" smtClean="0">
                <a:solidFill>
                  <a:schemeClr val="tx1"/>
                </a:solidFill>
                <a:latin typeface="+mn-lt"/>
                <a:ea typeface="+mn-ea"/>
                <a:cs typeface="+mn-cs"/>
              </a:rPr>
              <a:t>/2009/</a:t>
            </a:r>
            <a:r>
              <a:rPr lang="fr-FR" sz="1200" kern="1200" dirty="0" err="1" smtClean="0">
                <a:solidFill>
                  <a:schemeClr val="tx1"/>
                </a:solidFill>
                <a:latin typeface="+mn-lt"/>
                <a:ea typeface="+mn-ea"/>
                <a:cs typeface="+mn-cs"/>
              </a:rPr>
              <a:t>xaml</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xmlns:local</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clr-namespace:FirstMauiApp</a:t>
            </a:r>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xmlns:scg</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clr-namespace:System.Collections.Generic;assembly</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netstandard</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x:Class="FirstMauiApp.MainPage"&gt;</a:t>
            </a: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StackLayout</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VerticalOptions</a:t>
            </a:r>
            <a:r>
              <a:rPr lang="fr-FR" sz="1200" kern="1200" dirty="0" smtClean="0">
                <a:solidFill>
                  <a:schemeClr val="tx1"/>
                </a:solidFill>
                <a:latin typeface="+mn-lt"/>
                <a:ea typeface="+mn-ea"/>
                <a:cs typeface="+mn-cs"/>
              </a:rPr>
              <a:t>="Center" </a:t>
            </a:r>
            <a:r>
              <a:rPr lang="fr-FR" sz="1200" kern="1200" dirty="0" err="1" smtClean="0">
                <a:solidFill>
                  <a:schemeClr val="tx1"/>
                </a:solidFill>
                <a:latin typeface="+mn-lt"/>
                <a:ea typeface="+mn-ea"/>
                <a:cs typeface="+mn-cs"/>
              </a:rPr>
              <a:t>HorizontalOptions</a:t>
            </a:r>
            <a:r>
              <a:rPr lang="fr-FR" sz="1200" kern="1200" dirty="0" smtClean="0">
                <a:solidFill>
                  <a:schemeClr val="tx1"/>
                </a:solidFill>
                <a:latin typeface="+mn-lt"/>
                <a:ea typeface="+mn-ea"/>
                <a:cs typeface="+mn-cs"/>
              </a:rPr>
              <a:t>="Center"&gt;</a:t>
            </a:r>
          </a:p>
          <a:p>
            <a:r>
              <a:rPr lang="fr-FR" sz="1200" kern="1200" dirty="0" smtClean="0">
                <a:solidFill>
                  <a:schemeClr val="tx1"/>
                </a:solidFill>
                <a:latin typeface="+mn-lt"/>
                <a:ea typeface="+mn-ea"/>
                <a:cs typeface="+mn-cs"/>
              </a:rPr>
              <a:t>        &lt;Border </a:t>
            </a:r>
            <a:r>
              <a:rPr lang="fr-FR" sz="1200" kern="1200" dirty="0" err="1" smtClean="0">
                <a:solidFill>
                  <a:schemeClr val="tx1"/>
                </a:solidFill>
                <a:latin typeface="+mn-lt"/>
                <a:ea typeface="+mn-ea"/>
                <a:cs typeface="+mn-cs"/>
              </a:rPr>
              <a:t>StrokeThickness</a:t>
            </a:r>
            <a:r>
              <a:rPr lang="fr-FR" sz="1200" kern="1200" dirty="0" smtClean="0">
                <a:solidFill>
                  <a:schemeClr val="tx1"/>
                </a:solidFill>
                <a:latin typeface="+mn-lt"/>
                <a:ea typeface="+mn-ea"/>
                <a:cs typeface="+mn-cs"/>
              </a:rPr>
              <a:t>="2" </a:t>
            </a:r>
          </a:p>
          <a:p>
            <a:r>
              <a:rPr lang="fr-FR" sz="1200" kern="1200" dirty="0" smtClean="0">
                <a:solidFill>
                  <a:schemeClr val="tx1"/>
                </a:solidFill>
                <a:latin typeface="+mn-lt"/>
                <a:ea typeface="+mn-ea"/>
                <a:cs typeface="+mn-cs"/>
              </a:rPr>
              <a:t>                Stroke="Black" Background="Red"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WidthRequest</a:t>
            </a:r>
            <a:r>
              <a:rPr lang="fr-FR" sz="1200" kern="1200" dirty="0" smtClean="0">
                <a:solidFill>
                  <a:schemeClr val="tx1"/>
                </a:solidFill>
                <a:latin typeface="+mn-lt"/>
                <a:ea typeface="+mn-ea"/>
                <a:cs typeface="+mn-cs"/>
              </a:rPr>
              <a:t>="400" </a:t>
            </a:r>
            <a:r>
              <a:rPr lang="fr-FR" sz="1200" kern="1200" dirty="0" err="1" smtClean="0">
                <a:solidFill>
                  <a:schemeClr val="tx1"/>
                </a:solidFill>
                <a:latin typeface="+mn-lt"/>
                <a:ea typeface="+mn-ea"/>
                <a:cs typeface="+mn-cs"/>
              </a:rPr>
              <a:t>HeightRequest</a:t>
            </a:r>
            <a:r>
              <a:rPr lang="fr-FR" sz="1200" kern="1200" dirty="0" smtClean="0">
                <a:solidFill>
                  <a:schemeClr val="tx1"/>
                </a:solidFill>
                <a:latin typeface="+mn-lt"/>
                <a:ea typeface="+mn-ea"/>
                <a:cs typeface="+mn-cs"/>
              </a:rPr>
              <a:t>="400"&gt;</a:t>
            </a:r>
          </a:p>
          <a:p>
            <a:r>
              <a:rPr lang="en-US" sz="1200" kern="1200" dirty="0" smtClean="0">
                <a:solidFill>
                  <a:schemeClr val="tx1"/>
                </a:solidFill>
                <a:latin typeface="+mn-lt"/>
                <a:ea typeface="+mn-ea"/>
                <a:cs typeface="+mn-cs"/>
              </a:rPr>
              <a:t>            &lt;Border Margin="20" Background="Blue"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StrokeThickness</a:t>
            </a:r>
            <a:r>
              <a:rPr lang="fr-FR" sz="1200" kern="1200" dirty="0" smtClean="0">
                <a:solidFill>
                  <a:schemeClr val="tx1"/>
                </a:solidFill>
                <a:latin typeface="+mn-lt"/>
                <a:ea typeface="+mn-ea"/>
                <a:cs typeface="+mn-cs"/>
              </a:rPr>
              <a:t>="3" Stroke="Black"&gt;</a:t>
            </a:r>
          </a:p>
          <a:p>
            <a:r>
              <a:rPr lang="en-US" sz="1200" kern="1200" dirty="0" smtClean="0">
                <a:solidFill>
                  <a:schemeClr val="tx1"/>
                </a:solidFill>
                <a:latin typeface="+mn-lt"/>
                <a:ea typeface="+mn-ea"/>
                <a:cs typeface="+mn-cs"/>
              </a:rPr>
              <a:t>                &lt;Border Margin="20" Background="Green"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StrokeThickness</a:t>
            </a:r>
            <a:r>
              <a:rPr lang="fr-FR" sz="1200" kern="1200" dirty="0" smtClean="0">
                <a:solidFill>
                  <a:schemeClr val="tx1"/>
                </a:solidFill>
                <a:latin typeface="+mn-lt"/>
                <a:ea typeface="+mn-ea"/>
                <a:cs typeface="+mn-cs"/>
              </a:rPr>
              <a:t>="3" Stroke="Black"&gt;</a:t>
            </a:r>
          </a:p>
          <a:p>
            <a:r>
              <a:rPr lang="fr-FR" sz="1200" kern="1200" dirty="0" smtClean="0">
                <a:solidFill>
                  <a:schemeClr val="tx1"/>
                </a:solidFill>
                <a:latin typeface="+mn-lt"/>
                <a:ea typeface="+mn-ea"/>
                <a:cs typeface="+mn-cs"/>
              </a:rPr>
              <a:t>                    &lt;Border </a:t>
            </a:r>
            <a:r>
              <a:rPr lang="fr-FR" sz="1200" kern="1200" dirty="0" err="1" smtClean="0">
                <a:solidFill>
                  <a:schemeClr val="tx1"/>
                </a:solidFill>
                <a:latin typeface="+mn-lt"/>
                <a:ea typeface="+mn-ea"/>
                <a:cs typeface="+mn-cs"/>
              </a:rPr>
              <a:t>Margin</a:t>
            </a:r>
            <a:r>
              <a:rPr lang="fr-FR" sz="1200" kern="1200" dirty="0" smtClean="0">
                <a:solidFill>
                  <a:schemeClr val="tx1"/>
                </a:solidFill>
                <a:latin typeface="+mn-lt"/>
                <a:ea typeface="+mn-ea"/>
                <a:cs typeface="+mn-cs"/>
              </a:rPr>
              <a:t>="20" </a:t>
            </a:r>
            <a:r>
              <a:rPr lang="fr-FR" sz="1200" kern="1200" dirty="0" err="1" smtClean="0">
                <a:solidFill>
                  <a:schemeClr val="tx1"/>
                </a:solidFill>
                <a:latin typeface="+mn-lt"/>
                <a:ea typeface="+mn-ea"/>
                <a:cs typeface="+mn-cs"/>
              </a:rPr>
              <a:t>StrokeThickness</a:t>
            </a:r>
            <a:r>
              <a:rPr lang="fr-FR" sz="1200" kern="1200" dirty="0" smtClean="0">
                <a:solidFill>
                  <a:schemeClr val="tx1"/>
                </a:solidFill>
                <a:latin typeface="+mn-lt"/>
                <a:ea typeface="+mn-ea"/>
                <a:cs typeface="+mn-cs"/>
              </a:rPr>
              <a:t>="3" </a:t>
            </a:r>
          </a:p>
          <a:p>
            <a:r>
              <a:rPr lang="fr-FR" sz="1200" kern="1200" dirty="0" smtClean="0">
                <a:solidFill>
                  <a:schemeClr val="tx1"/>
                </a:solidFill>
                <a:latin typeface="+mn-lt"/>
                <a:ea typeface="+mn-ea"/>
                <a:cs typeface="+mn-cs"/>
              </a:rPr>
              <a:t>                        Background="{Binding Background,</a:t>
            </a:r>
          </a:p>
          <a:p>
            <a:r>
              <a:rPr lang="fr-FR" sz="1200" kern="1200" dirty="0" smtClean="0">
                <a:solidFill>
                  <a:schemeClr val="tx1"/>
                </a:solidFill>
                <a:latin typeface="+mn-lt"/>
                <a:ea typeface="+mn-ea"/>
                <a:cs typeface="+mn-cs"/>
              </a:rPr>
              <a:t>                        Source={</a:t>
            </a:r>
            <a:r>
              <a:rPr lang="fr-FR" sz="1200" kern="1200" dirty="0" err="1" smtClean="0">
                <a:solidFill>
                  <a:schemeClr val="tx1"/>
                </a:solidFill>
                <a:latin typeface="+mn-lt"/>
                <a:ea typeface="+mn-ea"/>
                <a:cs typeface="+mn-cs"/>
              </a:rPr>
              <a:t>RelativeSource</a:t>
            </a:r>
            <a:r>
              <a:rPr lang="fr-FR" sz="1200" kern="1200" dirty="0" smtClean="0">
                <a:solidFill>
                  <a:schemeClr val="tx1"/>
                </a:solidFill>
                <a:latin typeface="+mn-lt"/>
                <a:ea typeface="+mn-ea"/>
                <a:cs typeface="+mn-cs"/>
              </a:rPr>
              <a:t> Mode=</a:t>
            </a:r>
            <a:r>
              <a:rPr lang="fr-FR" sz="1200" kern="1200" dirty="0" err="1" smtClean="0">
                <a:solidFill>
                  <a:schemeClr val="tx1"/>
                </a:solidFill>
                <a:latin typeface="+mn-lt"/>
                <a:ea typeface="+mn-ea"/>
                <a:cs typeface="+mn-cs"/>
              </a:rPr>
              <a:t>FindAncestor</a:t>
            </a:r>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AncestorLevel</a:t>
            </a:r>
            <a:r>
              <a:rPr lang="fr-FR" sz="1200" kern="1200" dirty="0" smtClean="0">
                <a:solidFill>
                  <a:schemeClr val="tx1"/>
                </a:solidFill>
                <a:latin typeface="+mn-lt"/>
                <a:ea typeface="+mn-ea"/>
                <a:cs typeface="+mn-cs"/>
              </a:rPr>
              <a:t>=3,AncestorType={</a:t>
            </a:r>
            <a:r>
              <a:rPr lang="fr-FR" sz="1200" kern="1200" dirty="0" err="1" smtClean="0">
                <a:solidFill>
                  <a:schemeClr val="tx1"/>
                </a:solidFill>
                <a:latin typeface="+mn-lt"/>
                <a:ea typeface="+mn-ea"/>
                <a:cs typeface="+mn-cs"/>
              </a:rPr>
              <a:t>x:Type</a:t>
            </a:r>
            <a:r>
              <a:rPr lang="fr-FR" sz="1200" kern="1200" dirty="0" smtClean="0">
                <a:solidFill>
                  <a:schemeClr val="tx1"/>
                </a:solidFill>
                <a:latin typeface="+mn-lt"/>
                <a:ea typeface="+mn-ea"/>
                <a:cs typeface="+mn-cs"/>
              </a:rPr>
              <a:t> Border}}}" </a:t>
            </a:r>
          </a:p>
          <a:p>
            <a:r>
              <a:rPr lang="fr-FR" sz="1200" kern="1200" dirty="0" smtClean="0">
                <a:solidFill>
                  <a:schemeClr val="tx1"/>
                </a:solidFill>
                <a:latin typeface="+mn-lt"/>
                <a:ea typeface="+mn-ea"/>
                <a:cs typeface="+mn-cs"/>
              </a:rPr>
              <a:t>                        Stroke="Black"&gt;</a:t>
            </a:r>
          </a:p>
          <a:p>
            <a:r>
              <a:rPr lang="fr-FR" sz="1200" kern="1200" dirty="0" smtClean="0">
                <a:solidFill>
                  <a:schemeClr val="tx1"/>
                </a:solidFill>
                <a:latin typeface="+mn-lt"/>
                <a:ea typeface="+mn-ea"/>
                <a:cs typeface="+mn-cs"/>
              </a:rPr>
              <a:t>                    &lt;/Border&gt;</a:t>
            </a:r>
          </a:p>
          <a:p>
            <a:r>
              <a:rPr lang="fr-FR" sz="1200" kern="1200" dirty="0" smtClean="0">
                <a:solidFill>
                  <a:schemeClr val="tx1"/>
                </a:solidFill>
                <a:latin typeface="+mn-lt"/>
                <a:ea typeface="+mn-ea"/>
                <a:cs typeface="+mn-cs"/>
              </a:rPr>
              <a:t>                &lt;/Border&gt;</a:t>
            </a:r>
          </a:p>
          <a:p>
            <a:r>
              <a:rPr lang="fr-FR" sz="1200" kern="1200" dirty="0" smtClean="0">
                <a:solidFill>
                  <a:schemeClr val="tx1"/>
                </a:solidFill>
                <a:latin typeface="+mn-lt"/>
                <a:ea typeface="+mn-ea"/>
                <a:cs typeface="+mn-cs"/>
              </a:rPr>
              <a:t>            &lt;/Border&gt; </a:t>
            </a:r>
          </a:p>
          <a:p>
            <a:r>
              <a:rPr lang="fr-FR" sz="1200" kern="1200" dirty="0" smtClean="0">
                <a:solidFill>
                  <a:schemeClr val="tx1"/>
                </a:solidFill>
                <a:latin typeface="+mn-lt"/>
                <a:ea typeface="+mn-ea"/>
                <a:cs typeface="+mn-cs"/>
              </a:rPr>
              <a:t>        &lt;/Border&gt;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StackLayout</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&lt;/</a:t>
            </a:r>
            <a:r>
              <a:rPr lang="fr-FR" sz="1200" kern="1200" dirty="0" err="1" smtClean="0">
                <a:solidFill>
                  <a:schemeClr val="tx1"/>
                </a:solidFill>
                <a:latin typeface="+mn-lt"/>
                <a:ea typeface="+mn-ea"/>
                <a:cs typeface="+mn-cs"/>
              </a:rPr>
              <a:t>ContentPage</a:t>
            </a:r>
            <a:r>
              <a:rPr lang="fr-FR" sz="1200" kern="1200" dirty="0" smtClean="0">
                <a:solidFill>
                  <a:schemeClr val="tx1"/>
                </a:solidFill>
                <a:latin typeface="+mn-lt"/>
                <a:ea typeface="+mn-ea"/>
                <a:cs typeface="+mn-cs"/>
              </a:rPr>
              <a:t>&gt;</a:t>
            </a:r>
          </a:p>
          <a:p>
            <a:endParaRPr lang="fr-FR" dirty="0"/>
          </a:p>
        </p:txBody>
      </p:sp>
      <p:sp>
        <p:nvSpPr>
          <p:cNvPr id="4" name="Espace réservé du numéro de diapositive 3"/>
          <p:cNvSpPr>
            <a:spLocks noGrp="1"/>
          </p:cNvSpPr>
          <p:nvPr>
            <p:ph type="sldNum" sz="quarter" idx="10"/>
          </p:nvPr>
        </p:nvSpPr>
        <p:spPr/>
        <p:txBody>
          <a:bodyPr/>
          <a:lstStyle/>
          <a:p>
            <a:fld id="{A5139648-5E4B-484D-B5BB-D289BC444157}" type="slidenum">
              <a:rPr lang="fr-FR" smtClean="0"/>
              <a:t>9</a:t>
            </a:fld>
            <a:endParaRPr lang="fr-FR"/>
          </a:p>
        </p:txBody>
      </p:sp>
    </p:spTree>
    <p:extLst>
      <p:ext uri="{BB962C8B-B14F-4D97-AF65-F5344CB8AC3E}">
        <p14:creationId xmlns:p14="http://schemas.microsoft.com/office/powerpoint/2010/main" val="2753245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latin typeface="+mn-lt"/>
                <a:ea typeface="+mn-ea"/>
                <a:cs typeface="+mn-cs"/>
              </a:rPr>
              <a:t>Le</a:t>
            </a:r>
            <a:r>
              <a:rPr lang="fr-FR" sz="1200" kern="1200" baseline="0" dirty="0" smtClean="0">
                <a:solidFill>
                  <a:schemeClr val="tx1"/>
                </a:solidFill>
                <a:latin typeface="+mn-lt"/>
                <a:ea typeface="+mn-ea"/>
                <a:cs typeface="+mn-cs"/>
              </a:rPr>
              <a:t> code XAML:</a:t>
            </a:r>
            <a:endParaRPr lang="fr-FR" sz="1200" kern="1200" dirty="0" smtClean="0">
              <a:solidFill>
                <a:schemeClr val="tx1"/>
              </a:solidFill>
              <a:latin typeface="+mn-lt"/>
              <a:ea typeface="+mn-ea"/>
              <a:cs typeface="+mn-cs"/>
            </a:endParaRP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&lt;?xml version="1.0" </a:t>
            </a:r>
            <a:r>
              <a:rPr lang="fr-FR" sz="1200" kern="1200" dirty="0" err="1" smtClean="0">
                <a:solidFill>
                  <a:schemeClr val="tx1"/>
                </a:solidFill>
                <a:latin typeface="+mn-lt"/>
                <a:ea typeface="+mn-ea"/>
                <a:cs typeface="+mn-cs"/>
              </a:rPr>
              <a:t>encoding</a:t>
            </a:r>
            <a:r>
              <a:rPr lang="fr-FR" sz="1200" kern="1200" dirty="0" smtClean="0">
                <a:solidFill>
                  <a:schemeClr val="tx1"/>
                </a:solidFill>
                <a:latin typeface="+mn-lt"/>
                <a:ea typeface="+mn-ea"/>
                <a:cs typeface="+mn-cs"/>
              </a:rPr>
              <a:t>="utf-8" ?&gt;</a:t>
            </a:r>
          </a:p>
          <a:p>
            <a:r>
              <a:rPr lang="fr-FR" sz="1200" kern="1200" dirty="0" smtClean="0">
                <a:solidFill>
                  <a:schemeClr val="tx1"/>
                </a:solidFill>
                <a:latin typeface="+mn-lt"/>
                <a:ea typeface="+mn-ea"/>
                <a:cs typeface="+mn-cs"/>
              </a:rPr>
              <a:t>&lt;</a:t>
            </a:r>
            <a:r>
              <a:rPr lang="fr-FR" sz="1200" kern="1200" dirty="0" err="1" smtClean="0">
                <a:solidFill>
                  <a:schemeClr val="tx1"/>
                </a:solidFill>
                <a:latin typeface="+mn-lt"/>
                <a:ea typeface="+mn-ea"/>
                <a:cs typeface="+mn-cs"/>
              </a:rPr>
              <a:t>ContentPage</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xmlns</a:t>
            </a:r>
            <a:r>
              <a:rPr lang="fr-FR" sz="1200" kern="1200" dirty="0" smtClean="0">
                <a:solidFill>
                  <a:schemeClr val="tx1"/>
                </a:solidFill>
                <a:latin typeface="+mn-lt"/>
                <a:ea typeface="+mn-ea"/>
                <a:cs typeface="+mn-cs"/>
              </a:rPr>
              <a:t>="http://schemas.microsoft.com/dotnet/2021/</a:t>
            </a:r>
            <a:r>
              <a:rPr lang="fr-FR" sz="1200" kern="1200" dirty="0" err="1" smtClean="0">
                <a:solidFill>
                  <a:schemeClr val="tx1"/>
                </a:solidFill>
                <a:latin typeface="+mn-lt"/>
                <a:ea typeface="+mn-ea"/>
                <a:cs typeface="+mn-cs"/>
              </a:rPr>
              <a:t>maui</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xmlns:x</a:t>
            </a:r>
            <a:r>
              <a:rPr lang="fr-FR" sz="1200" kern="1200" dirty="0" smtClean="0">
                <a:solidFill>
                  <a:schemeClr val="tx1"/>
                </a:solidFill>
                <a:latin typeface="+mn-lt"/>
                <a:ea typeface="+mn-ea"/>
                <a:cs typeface="+mn-cs"/>
              </a:rPr>
              <a:t>="http://schemas.microsoft.com/</a:t>
            </a:r>
            <a:r>
              <a:rPr lang="fr-FR" sz="1200" kern="1200" dirty="0" err="1" smtClean="0">
                <a:solidFill>
                  <a:schemeClr val="tx1"/>
                </a:solidFill>
                <a:latin typeface="+mn-lt"/>
                <a:ea typeface="+mn-ea"/>
                <a:cs typeface="+mn-cs"/>
              </a:rPr>
              <a:t>winfx</a:t>
            </a:r>
            <a:r>
              <a:rPr lang="fr-FR" sz="1200" kern="1200" dirty="0" smtClean="0">
                <a:solidFill>
                  <a:schemeClr val="tx1"/>
                </a:solidFill>
                <a:latin typeface="+mn-lt"/>
                <a:ea typeface="+mn-ea"/>
                <a:cs typeface="+mn-cs"/>
              </a:rPr>
              <a:t>/2009/</a:t>
            </a:r>
            <a:r>
              <a:rPr lang="fr-FR" sz="1200" kern="1200" dirty="0" err="1" smtClean="0">
                <a:solidFill>
                  <a:schemeClr val="tx1"/>
                </a:solidFill>
                <a:latin typeface="+mn-lt"/>
                <a:ea typeface="+mn-ea"/>
                <a:cs typeface="+mn-cs"/>
              </a:rPr>
              <a:t>xaml</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xmlns:local</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clr-namespace:FirstMauiApp</a:t>
            </a:r>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xmlns:scg</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clr-namespace:System.Collections.Generic;assembly</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netstandard</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x:Class="FirstMauiApp.MainPage"&gt;</a:t>
            </a: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StackLayout</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VerticalOptions</a:t>
            </a:r>
            <a:r>
              <a:rPr lang="fr-FR" sz="1200" kern="1200" dirty="0" smtClean="0">
                <a:solidFill>
                  <a:schemeClr val="tx1"/>
                </a:solidFill>
                <a:latin typeface="+mn-lt"/>
                <a:ea typeface="+mn-ea"/>
                <a:cs typeface="+mn-cs"/>
              </a:rPr>
              <a:t>="Center" </a:t>
            </a:r>
            <a:r>
              <a:rPr lang="fr-FR" sz="1200" kern="1200" dirty="0" err="1" smtClean="0">
                <a:solidFill>
                  <a:schemeClr val="tx1"/>
                </a:solidFill>
                <a:latin typeface="+mn-lt"/>
                <a:ea typeface="+mn-ea"/>
                <a:cs typeface="+mn-cs"/>
              </a:rPr>
              <a:t>HorizontalOptions</a:t>
            </a:r>
            <a:r>
              <a:rPr lang="fr-FR" sz="1200" kern="1200" dirty="0" smtClean="0">
                <a:solidFill>
                  <a:schemeClr val="tx1"/>
                </a:solidFill>
                <a:latin typeface="+mn-lt"/>
                <a:ea typeface="+mn-ea"/>
                <a:cs typeface="+mn-cs"/>
              </a:rPr>
              <a:t>="Center"&gt;</a:t>
            </a:r>
          </a:p>
          <a:p>
            <a:r>
              <a:rPr lang="fr-FR" sz="1200" kern="1200" dirty="0" smtClean="0">
                <a:solidFill>
                  <a:schemeClr val="tx1"/>
                </a:solidFill>
                <a:latin typeface="+mn-lt"/>
                <a:ea typeface="+mn-ea"/>
                <a:cs typeface="+mn-cs"/>
              </a:rPr>
              <a:t>        &lt;Border </a:t>
            </a:r>
            <a:r>
              <a:rPr lang="fr-FR" sz="1200" kern="1200" dirty="0" err="1" smtClean="0">
                <a:solidFill>
                  <a:schemeClr val="tx1"/>
                </a:solidFill>
                <a:latin typeface="+mn-lt"/>
                <a:ea typeface="+mn-ea"/>
                <a:cs typeface="+mn-cs"/>
              </a:rPr>
              <a:t>StrokeThickness</a:t>
            </a:r>
            <a:r>
              <a:rPr lang="fr-FR" sz="1200" kern="1200" dirty="0" smtClean="0">
                <a:solidFill>
                  <a:schemeClr val="tx1"/>
                </a:solidFill>
                <a:latin typeface="+mn-lt"/>
                <a:ea typeface="+mn-ea"/>
                <a:cs typeface="+mn-cs"/>
              </a:rPr>
              <a:t>="2" </a:t>
            </a:r>
          </a:p>
          <a:p>
            <a:r>
              <a:rPr lang="fr-FR" sz="1200" kern="1200" dirty="0" smtClean="0">
                <a:solidFill>
                  <a:schemeClr val="tx1"/>
                </a:solidFill>
                <a:latin typeface="+mn-lt"/>
                <a:ea typeface="+mn-ea"/>
                <a:cs typeface="+mn-cs"/>
              </a:rPr>
              <a:t>                Stroke="Black" Background="Red"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WidthRequest</a:t>
            </a:r>
            <a:r>
              <a:rPr lang="fr-FR" sz="1200" kern="1200" dirty="0" smtClean="0">
                <a:solidFill>
                  <a:schemeClr val="tx1"/>
                </a:solidFill>
                <a:latin typeface="+mn-lt"/>
                <a:ea typeface="+mn-ea"/>
                <a:cs typeface="+mn-cs"/>
              </a:rPr>
              <a:t>="400" </a:t>
            </a:r>
            <a:r>
              <a:rPr lang="fr-FR" sz="1200" kern="1200" dirty="0" err="1" smtClean="0">
                <a:solidFill>
                  <a:schemeClr val="tx1"/>
                </a:solidFill>
                <a:latin typeface="+mn-lt"/>
                <a:ea typeface="+mn-ea"/>
                <a:cs typeface="+mn-cs"/>
              </a:rPr>
              <a:t>HeightRequest</a:t>
            </a:r>
            <a:r>
              <a:rPr lang="fr-FR" sz="1200" kern="1200" dirty="0" smtClean="0">
                <a:solidFill>
                  <a:schemeClr val="tx1"/>
                </a:solidFill>
                <a:latin typeface="+mn-lt"/>
                <a:ea typeface="+mn-ea"/>
                <a:cs typeface="+mn-cs"/>
              </a:rPr>
              <a:t>="400"&gt;</a:t>
            </a:r>
          </a:p>
          <a:p>
            <a:r>
              <a:rPr lang="en-US" sz="1200" kern="1200" dirty="0" smtClean="0">
                <a:solidFill>
                  <a:schemeClr val="tx1"/>
                </a:solidFill>
                <a:latin typeface="+mn-lt"/>
                <a:ea typeface="+mn-ea"/>
                <a:cs typeface="+mn-cs"/>
              </a:rPr>
              <a:t>            &lt;Border Margin="20" Background="Blue"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StrokeThickness</a:t>
            </a:r>
            <a:r>
              <a:rPr lang="fr-FR" sz="1200" kern="1200" dirty="0" smtClean="0">
                <a:solidFill>
                  <a:schemeClr val="tx1"/>
                </a:solidFill>
                <a:latin typeface="+mn-lt"/>
                <a:ea typeface="+mn-ea"/>
                <a:cs typeface="+mn-cs"/>
              </a:rPr>
              <a:t>="3" Stroke="Black"&gt;</a:t>
            </a:r>
          </a:p>
          <a:p>
            <a:r>
              <a:rPr lang="en-US" sz="1200" kern="1200" dirty="0" smtClean="0">
                <a:solidFill>
                  <a:schemeClr val="tx1"/>
                </a:solidFill>
                <a:latin typeface="+mn-lt"/>
                <a:ea typeface="+mn-ea"/>
                <a:cs typeface="+mn-cs"/>
              </a:rPr>
              <a:t>                &lt;Border Margin="20" Background="Green"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StrokeThickness</a:t>
            </a:r>
            <a:r>
              <a:rPr lang="fr-FR" sz="1200" kern="1200" dirty="0" smtClean="0">
                <a:solidFill>
                  <a:schemeClr val="tx1"/>
                </a:solidFill>
                <a:latin typeface="+mn-lt"/>
                <a:ea typeface="+mn-ea"/>
                <a:cs typeface="+mn-cs"/>
              </a:rPr>
              <a:t>="3" Stroke="Black"&gt;</a:t>
            </a:r>
          </a:p>
          <a:p>
            <a:r>
              <a:rPr lang="fr-FR" sz="1200" kern="1200" dirty="0" smtClean="0">
                <a:solidFill>
                  <a:schemeClr val="tx1"/>
                </a:solidFill>
                <a:latin typeface="+mn-lt"/>
                <a:ea typeface="+mn-ea"/>
                <a:cs typeface="+mn-cs"/>
              </a:rPr>
              <a:t>                    &lt;Border </a:t>
            </a:r>
            <a:r>
              <a:rPr lang="fr-FR" sz="1200" kern="1200" dirty="0" err="1" smtClean="0">
                <a:solidFill>
                  <a:schemeClr val="tx1"/>
                </a:solidFill>
                <a:latin typeface="+mn-lt"/>
                <a:ea typeface="+mn-ea"/>
                <a:cs typeface="+mn-cs"/>
              </a:rPr>
              <a:t>Margin</a:t>
            </a:r>
            <a:r>
              <a:rPr lang="fr-FR" sz="1200" kern="1200" dirty="0" smtClean="0">
                <a:solidFill>
                  <a:schemeClr val="tx1"/>
                </a:solidFill>
                <a:latin typeface="+mn-lt"/>
                <a:ea typeface="+mn-ea"/>
                <a:cs typeface="+mn-cs"/>
              </a:rPr>
              <a:t>="20" </a:t>
            </a:r>
            <a:r>
              <a:rPr lang="fr-FR" sz="1200" kern="1200" dirty="0" err="1" smtClean="0">
                <a:solidFill>
                  <a:schemeClr val="tx1"/>
                </a:solidFill>
                <a:latin typeface="+mn-lt"/>
                <a:ea typeface="+mn-ea"/>
                <a:cs typeface="+mn-cs"/>
              </a:rPr>
              <a:t>StrokeThickness</a:t>
            </a:r>
            <a:r>
              <a:rPr lang="fr-FR" sz="1200" kern="1200" dirty="0" smtClean="0">
                <a:solidFill>
                  <a:schemeClr val="tx1"/>
                </a:solidFill>
                <a:latin typeface="+mn-lt"/>
                <a:ea typeface="+mn-ea"/>
                <a:cs typeface="+mn-cs"/>
              </a:rPr>
              <a:t>="3" </a:t>
            </a:r>
          </a:p>
          <a:p>
            <a:r>
              <a:rPr lang="fr-FR" sz="1200" kern="1200" dirty="0" smtClean="0">
                <a:solidFill>
                  <a:schemeClr val="tx1"/>
                </a:solidFill>
                <a:latin typeface="+mn-lt"/>
                <a:ea typeface="+mn-ea"/>
                <a:cs typeface="+mn-cs"/>
              </a:rPr>
              <a:t>                        Background="{Binding Background,</a:t>
            </a:r>
          </a:p>
          <a:p>
            <a:r>
              <a:rPr lang="fr-FR" sz="1200" kern="1200" dirty="0" smtClean="0">
                <a:solidFill>
                  <a:schemeClr val="tx1"/>
                </a:solidFill>
                <a:latin typeface="+mn-lt"/>
                <a:ea typeface="+mn-ea"/>
                <a:cs typeface="+mn-cs"/>
              </a:rPr>
              <a:t>                        Source={</a:t>
            </a:r>
            <a:r>
              <a:rPr lang="fr-FR" sz="1200" kern="1200" dirty="0" err="1" smtClean="0">
                <a:solidFill>
                  <a:schemeClr val="tx1"/>
                </a:solidFill>
                <a:latin typeface="+mn-lt"/>
                <a:ea typeface="+mn-ea"/>
                <a:cs typeface="+mn-cs"/>
              </a:rPr>
              <a:t>RelativeSource</a:t>
            </a:r>
            <a:r>
              <a:rPr lang="fr-FR" sz="1200" kern="1200" dirty="0" smtClean="0">
                <a:solidFill>
                  <a:schemeClr val="tx1"/>
                </a:solidFill>
                <a:latin typeface="+mn-lt"/>
                <a:ea typeface="+mn-ea"/>
                <a:cs typeface="+mn-cs"/>
              </a:rPr>
              <a:t> Mode=</a:t>
            </a:r>
            <a:r>
              <a:rPr lang="fr-FR" sz="1200" kern="1200" dirty="0" err="1" smtClean="0">
                <a:solidFill>
                  <a:schemeClr val="tx1"/>
                </a:solidFill>
                <a:latin typeface="+mn-lt"/>
                <a:ea typeface="+mn-ea"/>
                <a:cs typeface="+mn-cs"/>
              </a:rPr>
              <a:t>FindAncestor</a:t>
            </a:r>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AncestorLevel</a:t>
            </a:r>
            <a:r>
              <a:rPr lang="fr-FR" sz="1200" kern="1200" dirty="0" smtClean="0">
                <a:solidFill>
                  <a:schemeClr val="tx1"/>
                </a:solidFill>
                <a:latin typeface="+mn-lt"/>
                <a:ea typeface="+mn-ea"/>
                <a:cs typeface="+mn-cs"/>
              </a:rPr>
              <a:t>=3,AncestorType={</a:t>
            </a:r>
            <a:r>
              <a:rPr lang="fr-FR" sz="1200" kern="1200" dirty="0" err="1" smtClean="0">
                <a:solidFill>
                  <a:schemeClr val="tx1"/>
                </a:solidFill>
                <a:latin typeface="+mn-lt"/>
                <a:ea typeface="+mn-ea"/>
                <a:cs typeface="+mn-cs"/>
              </a:rPr>
              <a:t>x:Type</a:t>
            </a:r>
            <a:r>
              <a:rPr lang="fr-FR" sz="1200" kern="1200" dirty="0" smtClean="0">
                <a:solidFill>
                  <a:schemeClr val="tx1"/>
                </a:solidFill>
                <a:latin typeface="+mn-lt"/>
                <a:ea typeface="+mn-ea"/>
                <a:cs typeface="+mn-cs"/>
              </a:rPr>
              <a:t> Border}}}" </a:t>
            </a:r>
          </a:p>
          <a:p>
            <a:r>
              <a:rPr lang="fr-FR" sz="1200" kern="1200" dirty="0" smtClean="0">
                <a:solidFill>
                  <a:schemeClr val="tx1"/>
                </a:solidFill>
                <a:latin typeface="+mn-lt"/>
                <a:ea typeface="+mn-ea"/>
                <a:cs typeface="+mn-cs"/>
              </a:rPr>
              <a:t>                        Stroke="Black"&gt;</a:t>
            </a:r>
          </a:p>
          <a:p>
            <a:r>
              <a:rPr lang="fr-FR" sz="1200" kern="1200" dirty="0" smtClean="0">
                <a:solidFill>
                  <a:schemeClr val="tx1"/>
                </a:solidFill>
                <a:latin typeface="+mn-lt"/>
                <a:ea typeface="+mn-ea"/>
                <a:cs typeface="+mn-cs"/>
              </a:rPr>
              <a:t>                    &lt;/Border&gt;</a:t>
            </a:r>
          </a:p>
          <a:p>
            <a:r>
              <a:rPr lang="fr-FR" sz="1200" kern="1200" dirty="0" smtClean="0">
                <a:solidFill>
                  <a:schemeClr val="tx1"/>
                </a:solidFill>
                <a:latin typeface="+mn-lt"/>
                <a:ea typeface="+mn-ea"/>
                <a:cs typeface="+mn-cs"/>
              </a:rPr>
              <a:t>                &lt;/Border&gt;</a:t>
            </a:r>
          </a:p>
          <a:p>
            <a:r>
              <a:rPr lang="fr-FR" sz="1200" kern="1200" dirty="0" smtClean="0">
                <a:solidFill>
                  <a:schemeClr val="tx1"/>
                </a:solidFill>
                <a:latin typeface="+mn-lt"/>
                <a:ea typeface="+mn-ea"/>
                <a:cs typeface="+mn-cs"/>
              </a:rPr>
              <a:t>            &lt;/Border&gt; </a:t>
            </a:r>
          </a:p>
          <a:p>
            <a:r>
              <a:rPr lang="fr-FR" sz="1200" kern="1200" dirty="0" smtClean="0">
                <a:solidFill>
                  <a:schemeClr val="tx1"/>
                </a:solidFill>
                <a:latin typeface="+mn-lt"/>
                <a:ea typeface="+mn-ea"/>
                <a:cs typeface="+mn-cs"/>
              </a:rPr>
              <a:t>        &lt;/Border&gt;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StackLayout</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&lt;/</a:t>
            </a:r>
            <a:r>
              <a:rPr lang="fr-FR" sz="1200" kern="1200" dirty="0" err="1" smtClean="0">
                <a:solidFill>
                  <a:schemeClr val="tx1"/>
                </a:solidFill>
                <a:latin typeface="+mn-lt"/>
                <a:ea typeface="+mn-ea"/>
                <a:cs typeface="+mn-cs"/>
              </a:rPr>
              <a:t>ContentPage</a:t>
            </a:r>
            <a:r>
              <a:rPr lang="fr-FR" sz="1200" kern="1200" dirty="0" smtClean="0">
                <a:solidFill>
                  <a:schemeClr val="tx1"/>
                </a:solidFill>
                <a:latin typeface="+mn-lt"/>
                <a:ea typeface="+mn-ea"/>
                <a:cs typeface="+mn-cs"/>
              </a:rPr>
              <a:t>&gt;</a:t>
            </a:r>
          </a:p>
          <a:p>
            <a:endParaRPr lang="fr-FR" dirty="0"/>
          </a:p>
        </p:txBody>
      </p:sp>
      <p:sp>
        <p:nvSpPr>
          <p:cNvPr id="4" name="Espace réservé du numéro de diapositive 3"/>
          <p:cNvSpPr>
            <a:spLocks noGrp="1"/>
          </p:cNvSpPr>
          <p:nvPr>
            <p:ph type="sldNum" sz="quarter" idx="10"/>
          </p:nvPr>
        </p:nvSpPr>
        <p:spPr/>
        <p:txBody>
          <a:bodyPr/>
          <a:lstStyle/>
          <a:p>
            <a:fld id="{A5139648-5E4B-484D-B5BB-D289BC444157}" type="slidenum">
              <a:rPr lang="fr-FR" smtClean="0"/>
              <a:t>10</a:t>
            </a:fld>
            <a:endParaRPr lang="fr-FR"/>
          </a:p>
        </p:txBody>
      </p:sp>
    </p:spTree>
    <p:extLst>
      <p:ext uri="{BB962C8B-B14F-4D97-AF65-F5344CB8AC3E}">
        <p14:creationId xmlns:p14="http://schemas.microsoft.com/office/powerpoint/2010/main" val="3384771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latin typeface="+mn-lt"/>
                <a:ea typeface="+mn-ea"/>
                <a:cs typeface="+mn-cs"/>
              </a:rPr>
              <a:t>Le</a:t>
            </a:r>
            <a:r>
              <a:rPr lang="fr-FR" sz="1200" kern="1200" baseline="0" dirty="0" smtClean="0">
                <a:solidFill>
                  <a:schemeClr val="tx1"/>
                </a:solidFill>
                <a:latin typeface="+mn-lt"/>
                <a:ea typeface="+mn-ea"/>
                <a:cs typeface="+mn-cs"/>
              </a:rPr>
              <a:t> code XAML:</a:t>
            </a:r>
            <a:endParaRPr lang="fr-FR" sz="1200" kern="1200" dirty="0" smtClean="0">
              <a:solidFill>
                <a:schemeClr val="tx1"/>
              </a:solidFill>
              <a:latin typeface="+mn-lt"/>
              <a:ea typeface="+mn-ea"/>
              <a:cs typeface="+mn-cs"/>
            </a:endParaRP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&lt;?xml version="1.0" </a:t>
            </a:r>
            <a:r>
              <a:rPr lang="fr-FR" sz="1200" kern="1200" dirty="0" err="1" smtClean="0">
                <a:solidFill>
                  <a:schemeClr val="tx1"/>
                </a:solidFill>
                <a:latin typeface="+mn-lt"/>
                <a:ea typeface="+mn-ea"/>
                <a:cs typeface="+mn-cs"/>
              </a:rPr>
              <a:t>encoding</a:t>
            </a:r>
            <a:r>
              <a:rPr lang="fr-FR" sz="1200" kern="1200" dirty="0" smtClean="0">
                <a:solidFill>
                  <a:schemeClr val="tx1"/>
                </a:solidFill>
                <a:latin typeface="+mn-lt"/>
                <a:ea typeface="+mn-ea"/>
                <a:cs typeface="+mn-cs"/>
              </a:rPr>
              <a:t>="utf-8" ?&gt;</a:t>
            </a:r>
          </a:p>
          <a:p>
            <a:r>
              <a:rPr lang="fr-FR" sz="1200" kern="1200" dirty="0" smtClean="0">
                <a:solidFill>
                  <a:schemeClr val="tx1"/>
                </a:solidFill>
                <a:latin typeface="+mn-lt"/>
                <a:ea typeface="+mn-ea"/>
                <a:cs typeface="+mn-cs"/>
              </a:rPr>
              <a:t>&lt;</a:t>
            </a:r>
            <a:r>
              <a:rPr lang="fr-FR" sz="1200" kern="1200" dirty="0" err="1" smtClean="0">
                <a:solidFill>
                  <a:schemeClr val="tx1"/>
                </a:solidFill>
                <a:latin typeface="+mn-lt"/>
                <a:ea typeface="+mn-ea"/>
                <a:cs typeface="+mn-cs"/>
              </a:rPr>
              <a:t>ContentPage</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xmlns</a:t>
            </a:r>
            <a:r>
              <a:rPr lang="fr-FR" sz="1200" kern="1200" dirty="0" smtClean="0">
                <a:solidFill>
                  <a:schemeClr val="tx1"/>
                </a:solidFill>
                <a:latin typeface="+mn-lt"/>
                <a:ea typeface="+mn-ea"/>
                <a:cs typeface="+mn-cs"/>
              </a:rPr>
              <a:t>="http://schemas.microsoft.com/dotnet/2021/</a:t>
            </a:r>
            <a:r>
              <a:rPr lang="fr-FR" sz="1200" kern="1200" dirty="0" err="1" smtClean="0">
                <a:solidFill>
                  <a:schemeClr val="tx1"/>
                </a:solidFill>
                <a:latin typeface="+mn-lt"/>
                <a:ea typeface="+mn-ea"/>
                <a:cs typeface="+mn-cs"/>
              </a:rPr>
              <a:t>maui</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xmlns:x</a:t>
            </a:r>
            <a:r>
              <a:rPr lang="fr-FR" sz="1200" kern="1200" dirty="0" smtClean="0">
                <a:solidFill>
                  <a:schemeClr val="tx1"/>
                </a:solidFill>
                <a:latin typeface="+mn-lt"/>
                <a:ea typeface="+mn-ea"/>
                <a:cs typeface="+mn-cs"/>
              </a:rPr>
              <a:t>="http://schemas.microsoft.com/</a:t>
            </a:r>
            <a:r>
              <a:rPr lang="fr-FR" sz="1200" kern="1200" dirty="0" err="1" smtClean="0">
                <a:solidFill>
                  <a:schemeClr val="tx1"/>
                </a:solidFill>
                <a:latin typeface="+mn-lt"/>
                <a:ea typeface="+mn-ea"/>
                <a:cs typeface="+mn-cs"/>
              </a:rPr>
              <a:t>winfx</a:t>
            </a:r>
            <a:r>
              <a:rPr lang="fr-FR" sz="1200" kern="1200" dirty="0" smtClean="0">
                <a:solidFill>
                  <a:schemeClr val="tx1"/>
                </a:solidFill>
                <a:latin typeface="+mn-lt"/>
                <a:ea typeface="+mn-ea"/>
                <a:cs typeface="+mn-cs"/>
              </a:rPr>
              <a:t>/2009/</a:t>
            </a:r>
            <a:r>
              <a:rPr lang="fr-FR" sz="1200" kern="1200" dirty="0" err="1" smtClean="0">
                <a:solidFill>
                  <a:schemeClr val="tx1"/>
                </a:solidFill>
                <a:latin typeface="+mn-lt"/>
                <a:ea typeface="+mn-ea"/>
                <a:cs typeface="+mn-cs"/>
              </a:rPr>
              <a:t>xaml</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xmlns:local</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clr-namespace:FirstMauiApp</a:t>
            </a:r>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xmlns:scg</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clr-namespace:System.Collections.Generic;assembly</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netstandard</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x:Class="FirstMauiApp.MainPage"&gt;</a:t>
            </a: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StackLayout</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VerticalOptions</a:t>
            </a:r>
            <a:r>
              <a:rPr lang="fr-FR" sz="1200" kern="1200" dirty="0" smtClean="0">
                <a:solidFill>
                  <a:schemeClr val="tx1"/>
                </a:solidFill>
                <a:latin typeface="+mn-lt"/>
                <a:ea typeface="+mn-ea"/>
                <a:cs typeface="+mn-cs"/>
              </a:rPr>
              <a:t>="Center" </a:t>
            </a:r>
            <a:r>
              <a:rPr lang="fr-FR" sz="1200" kern="1200" dirty="0" err="1" smtClean="0">
                <a:solidFill>
                  <a:schemeClr val="tx1"/>
                </a:solidFill>
                <a:latin typeface="+mn-lt"/>
                <a:ea typeface="+mn-ea"/>
                <a:cs typeface="+mn-cs"/>
              </a:rPr>
              <a:t>HorizontalOptions</a:t>
            </a:r>
            <a:r>
              <a:rPr lang="fr-FR" sz="1200" kern="1200" dirty="0" smtClean="0">
                <a:solidFill>
                  <a:schemeClr val="tx1"/>
                </a:solidFill>
                <a:latin typeface="+mn-lt"/>
                <a:ea typeface="+mn-ea"/>
                <a:cs typeface="+mn-cs"/>
              </a:rPr>
              <a:t>="Center"&gt;</a:t>
            </a:r>
          </a:p>
          <a:p>
            <a:r>
              <a:rPr lang="fr-FR" sz="1200" kern="1200" dirty="0" smtClean="0">
                <a:solidFill>
                  <a:schemeClr val="tx1"/>
                </a:solidFill>
                <a:latin typeface="+mn-lt"/>
                <a:ea typeface="+mn-ea"/>
                <a:cs typeface="+mn-cs"/>
              </a:rPr>
              <a:t>        &lt;Border </a:t>
            </a:r>
            <a:r>
              <a:rPr lang="fr-FR" sz="1200" kern="1200" dirty="0" err="1" smtClean="0">
                <a:solidFill>
                  <a:schemeClr val="tx1"/>
                </a:solidFill>
                <a:latin typeface="+mn-lt"/>
                <a:ea typeface="+mn-ea"/>
                <a:cs typeface="+mn-cs"/>
              </a:rPr>
              <a:t>StrokeThickness</a:t>
            </a:r>
            <a:r>
              <a:rPr lang="fr-FR" sz="1200" kern="1200" dirty="0" smtClean="0">
                <a:solidFill>
                  <a:schemeClr val="tx1"/>
                </a:solidFill>
                <a:latin typeface="+mn-lt"/>
                <a:ea typeface="+mn-ea"/>
                <a:cs typeface="+mn-cs"/>
              </a:rPr>
              <a:t>="2" </a:t>
            </a:r>
          </a:p>
          <a:p>
            <a:r>
              <a:rPr lang="fr-FR" sz="1200" kern="1200" dirty="0" smtClean="0">
                <a:solidFill>
                  <a:schemeClr val="tx1"/>
                </a:solidFill>
                <a:latin typeface="+mn-lt"/>
                <a:ea typeface="+mn-ea"/>
                <a:cs typeface="+mn-cs"/>
              </a:rPr>
              <a:t>                Stroke="Black" Background="Red"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WidthRequest</a:t>
            </a:r>
            <a:r>
              <a:rPr lang="fr-FR" sz="1200" kern="1200" dirty="0" smtClean="0">
                <a:solidFill>
                  <a:schemeClr val="tx1"/>
                </a:solidFill>
                <a:latin typeface="+mn-lt"/>
                <a:ea typeface="+mn-ea"/>
                <a:cs typeface="+mn-cs"/>
              </a:rPr>
              <a:t>="400" </a:t>
            </a:r>
            <a:r>
              <a:rPr lang="fr-FR" sz="1200" kern="1200" dirty="0" err="1" smtClean="0">
                <a:solidFill>
                  <a:schemeClr val="tx1"/>
                </a:solidFill>
                <a:latin typeface="+mn-lt"/>
                <a:ea typeface="+mn-ea"/>
                <a:cs typeface="+mn-cs"/>
              </a:rPr>
              <a:t>HeightRequest</a:t>
            </a:r>
            <a:r>
              <a:rPr lang="fr-FR" sz="1200" kern="1200" dirty="0" smtClean="0">
                <a:solidFill>
                  <a:schemeClr val="tx1"/>
                </a:solidFill>
                <a:latin typeface="+mn-lt"/>
                <a:ea typeface="+mn-ea"/>
                <a:cs typeface="+mn-cs"/>
              </a:rPr>
              <a:t>="400"&gt;</a:t>
            </a:r>
          </a:p>
          <a:p>
            <a:r>
              <a:rPr lang="en-US" sz="1200" kern="1200" dirty="0" smtClean="0">
                <a:solidFill>
                  <a:schemeClr val="tx1"/>
                </a:solidFill>
                <a:latin typeface="+mn-lt"/>
                <a:ea typeface="+mn-ea"/>
                <a:cs typeface="+mn-cs"/>
              </a:rPr>
              <a:t>            &lt;Border Margin="20" Background="Blue"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StrokeThickness</a:t>
            </a:r>
            <a:r>
              <a:rPr lang="fr-FR" sz="1200" kern="1200" dirty="0" smtClean="0">
                <a:solidFill>
                  <a:schemeClr val="tx1"/>
                </a:solidFill>
                <a:latin typeface="+mn-lt"/>
                <a:ea typeface="+mn-ea"/>
                <a:cs typeface="+mn-cs"/>
              </a:rPr>
              <a:t>="3" Stroke="Black"&gt;</a:t>
            </a:r>
          </a:p>
          <a:p>
            <a:r>
              <a:rPr lang="en-US" sz="1200" kern="1200" dirty="0" smtClean="0">
                <a:solidFill>
                  <a:schemeClr val="tx1"/>
                </a:solidFill>
                <a:latin typeface="+mn-lt"/>
                <a:ea typeface="+mn-ea"/>
                <a:cs typeface="+mn-cs"/>
              </a:rPr>
              <a:t>                &lt;Border Margin="20" Background="Green"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StrokeThickness</a:t>
            </a:r>
            <a:r>
              <a:rPr lang="fr-FR" sz="1200" kern="1200" dirty="0" smtClean="0">
                <a:solidFill>
                  <a:schemeClr val="tx1"/>
                </a:solidFill>
                <a:latin typeface="+mn-lt"/>
                <a:ea typeface="+mn-ea"/>
                <a:cs typeface="+mn-cs"/>
              </a:rPr>
              <a:t>="3" Stroke="Black"&gt;</a:t>
            </a:r>
          </a:p>
          <a:p>
            <a:r>
              <a:rPr lang="fr-FR" sz="1200" kern="1200" dirty="0" smtClean="0">
                <a:solidFill>
                  <a:schemeClr val="tx1"/>
                </a:solidFill>
                <a:latin typeface="+mn-lt"/>
                <a:ea typeface="+mn-ea"/>
                <a:cs typeface="+mn-cs"/>
              </a:rPr>
              <a:t>                    &lt;Border </a:t>
            </a:r>
            <a:r>
              <a:rPr lang="fr-FR" sz="1200" kern="1200" dirty="0" err="1" smtClean="0">
                <a:solidFill>
                  <a:schemeClr val="tx1"/>
                </a:solidFill>
                <a:latin typeface="+mn-lt"/>
                <a:ea typeface="+mn-ea"/>
                <a:cs typeface="+mn-cs"/>
              </a:rPr>
              <a:t>Margin</a:t>
            </a:r>
            <a:r>
              <a:rPr lang="fr-FR" sz="1200" kern="1200" dirty="0" smtClean="0">
                <a:solidFill>
                  <a:schemeClr val="tx1"/>
                </a:solidFill>
                <a:latin typeface="+mn-lt"/>
                <a:ea typeface="+mn-ea"/>
                <a:cs typeface="+mn-cs"/>
              </a:rPr>
              <a:t>="20" </a:t>
            </a:r>
            <a:r>
              <a:rPr lang="fr-FR" sz="1200" kern="1200" dirty="0" err="1" smtClean="0">
                <a:solidFill>
                  <a:schemeClr val="tx1"/>
                </a:solidFill>
                <a:latin typeface="+mn-lt"/>
                <a:ea typeface="+mn-ea"/>
                <a:cs typeface="+mn-cs"/>
              </a:rPr>
              <a:t>StrokeThickness</a:t>
            </a:r>
            <a:r>
              <a:rPr lang="fr-FR" sz="1200" kern="1200" dirty="0" smtClean="0">
                <a:solidFill>
                  <a:schemeClr val="tx1"/>
                </a:solidFill>
                <a:latin typeface="+mn-lt"/>
                <a:ea typeface="+mn-ea"/>
                <a:cs typeface="+mn-cs"/>
              </a:rPr>
              <a:t>="3" </a:t>
            </a:r>
          </a:p>
          <a:p>
            <a:r>
              <a:rPr lang="fr-FR" sz="1200" kern="1200" dirty="0" smtClean="0">
                <a:solidFill>
                  <a:schemeClr val="tx1"/>
                </a:solidFill>
                <a:latin typeface="+mn-lt"/>
                <a:ea typeface="+mn-ea"/>
                <a:cs typeface="+mn-cs"/>
              </a:rPr>
              <a:t>                        Background="{Binding Background,</a:t>
            </a:r>
          </a:p>
          <a:p>
            <a:r>
              <a:rPr lang="fr-FR" sz="1200" kern="1200" dirty="0" smtClean="0">
                <a:solidFill>
                  <a:schemeClr val="tx1"/>
                </a:solidFill>
                <a:latin typeface="+mn-lt"/>
                <a:ea typeface="+mn-ea"/>
                <a:cs typeface="+mn-cs"/>
              </a:rPr>
              <a:t>                        Source={</a:t>
            </a:r>
            <a:r>
              <a:rPr lang="fr-FR" sz="1200" kern="1200" dirty="0" err="1" smtClean="0">
                <a:solidFill>
                  <a:schemeClr val="tx1"/>
                </a:solidFill>
                <a:latin typeface="+mn-lt"/>
                <a:ea typeface="+mn-ea"/>
                <a:cs typeface="+mn-cs"/>
              </a:rPr>
              <a:t>RelativeSource</a:t>
            </a:r>
            <a:r>
              <a:rPr lang="fr-FR" sz="1200" kern="1200" dirty="0" smtClean="0">
                <a:solidFill>
                  <a:schemeClr val="tx1"/>
                </a:solidFill>
                <a:latin typeface="+mn-lt"/>
                <a:ea typeface="+mn-ea"/>
                <a:cs typeface="+mn-cs"/>
              </a:rPr>
              <a:t> Mode=</a:t>
            </a:r>
            <a:r>
              <a:rPr lang="fr-FR" sz="1200" kern="1200" dirty="0" err="1" smtClean="0">
                <a:solidFill>
                  <a:schemeClr val="tx1"/>
                </a:solidFill>
                <a:latin typeface="+mn-lt"/>
                <a:ea typeface="+mn-ea"/>
                <a:cs typeface="+mn-cs"/>
              </a:rPr>
              <a:t>FindAncestor</a:t>
            </a:r>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AncestorLevel</a:t>
            </a:r>
            <a:r>
              <a:rPr lang="fr-FR" sz="1200" kern="1200" dirty="0" smtClean="0">
                <a:solidFill>
                  <a:schemeClr val="tx1"/>
                </a:solidFill>
                <a:latin typeface="+mn-lt"/>
                <a:ea typeface="+mn-ea"/>
                <a:cs typeface="+mn-cs"/>
              </a:rPr>
              <a:t>=3,AncestorType={</a:t>
            </a:r>
            <a:r>
              <a:rPr lang="fr-FR" sz="1200" kern="1200" dirty="0" err="1" smtClean="0">
                <a:solidFill>
                  <a:schemeClr val="tx1"/>
                </a:solidFill>
                <a:latin typeface="+mn-lt"/>
                <a:ea typeface="+mn-ea"/>
                <a:cs typeface="+mn-cs"/>
              </a:rPr>
              <a:t>x:Type</a:t>
            </a:r>
            <a:r>
              <a:rPr lang="fr-FR" sz="1200" kern="1200" dirty="0" smtClean="0">
                <a:solidFill>
                  <a:schemeClr val="tx1"/>
                </a:solidFill>
                <a:latin typeface="+mn-lt"/>
                <a:ea typeface="+mn-ea"/>
                <a:cs typeface="+mn-cs"/>
              </a:rPr>
              <a:t> Border}}}" </a:t>
            </a:r>
          </a:p>
          <a:p>
            <a:r>
              <a:rPr lang="fr-FR" sz="1200" kern="1200" dirty="0" smtClean="0">
                <a:solidFill>
                  <a:schemeClr val="tx1"/>
                </a:solidFill>
                <a:latin typeface="+mn-lt"/>
                <a:ea typeface="+mn-ea"/>
                <a:cs typeface="+mn-cs"/>
              </a:rPr>
              <a:t>                        Stroke="Black"&gt;</a:t>
            </a:r>
          </a:p>
          <a:p>
            <a:r>
              <a:rPr lang="fr-FR" sz="1200" kern="1200" dirty="0" smtClean="0">
                <a:solidFill>
                  <a:schemeClr val="tx1"/>
                </a:solidFill>
                <a:latin typeface="+mn-lt"/>
                <a:ea typeface="+mn-ea"/>
                <a:cs typeface="+mn-cs"/>
              </a:rPr>
              <a:t>                    &lt;/Border&gt;</a:t>
            </a:r>
          </a:p>
          <a:p>
            <a:r>
              <a:rPr lang="fr-FR" sz="1200" kern="1200" dirty="0" smtClean="0">
                <a:solidFill>
                  <a:schemeClr val="tx1"/>
                </a:solidFill>
                <a:latin typeface="+mn-lt"/>
                <a:ea typeface="+mn-ea"/>
                <a:cs typeface="+mn-cs"/>
              </a:rPr>
              <a:t>                &lt;/Border&gt;</a:t>
            </a:r>
          </a:p>
          <a:p>
            <a:r>
              <a:rPr lang="fr-FR" sz="1200" kern="1200" dirty="0" smtClean="0">
                <a:solidFill>
                  <a:schemeClr val="tx1"/>
                </a:solidFill>
                <a:latin typeface="+mn-lt"/>
                <a:ea typeface="+mn-ea"/>
                <a:cs typeface="+mn-cs"/>
              </a:rPr>
              <a:t>            &lt;/Border&gt; </a:t>
            </a:r>
          </a:p>
          <a:p>
            <a:r>
              <a:rPr lang="fr-FR" sz="1200" kern="1200" dirty="0" smtClean="0">
                <a:solidFill>
                  <a:schemeClr val="tx1"/>
                </a:solidFill>
                <a:latin typeface="+mn-lt"/>
                <a:ea typeface="+mn-ea"/>
                <a:cs typeface="+mn-cs"/>
              </a:rPr>
              <a:t>        &lt;/Border&gt;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StackLayout</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&lt;/</a:t>
            </a:r>
            <a:r>
              <a:rPr lang="fr-FR" sz="1200" kern="1200" dirty="0" err="1" smtClean="0">
                <a:solidFill>
                  <a:schemeClr val="tx1"/>
                </a:solidFill>
                <a:latin typeface="+mn-lt"/>
                <a:ea typeface="+mn-ea"/>
                <a:cs typeface="+mn-cs"/>
              </a:rPr>
              <a:t>ContentPage</a:t>
            </a:r>
            <a:r>
              <a:rPr lang="fr-FR" sz="1200" kern="1200" dirty="0" smtClean="0">
                <a:solidFill>
                  <a:schemeClr val="tx1"/>
                </a:solidFill>
                <a:latin typeface="+mn-lt"/>
                <a:ea typeface="+mn-ea"/>
                <a:cs typeface="+mn-cs"/>
              </a:rPr>
              <a:t>&gt;</a:t>
            </a:r>
          </a:p>
          <a:p>
            <a:endParaRPr lang="fr-FR" dirty="0"/>
          </a:p>
        </p:txBody>
      </p:sp>
      <p:sp>
        <p:nvSpPr>
          <p:cNvPr id="4" name="Espace réservé du numéro de diapositive 3"/>
          <p:cNvSpPr>
            <a:spLocks noGrp="1"/>
          </p:cNvSpPr>
          <p:nvPr>
            <p:ph type="sldNum" sz="quarter" idx="10"/>
          </p:nvPr>
        </p:nvSpPr>
        <p:spPr/>
        <p:txBody>
          <a:bodyPr/>
          <a:lstStyle/>
          <a:p>
            <a:fld id="{A5139648-5E4B-484D-B5BB-D289BC444157}" type="slidenum">
              <a:rPr lang="fr-FR" smtClean="0"/>
              <a:t>11</a:t>
            </a:fld>
            <a:endParaRPr lang="fr-FR"/>
          </a:p>
        </p:txBody>
      </p:sp>
    </p:spTree>
    <p:extLst>
      <p:ext uri="{BB962C8B-B14F-4D97-AF65-F5344CB8AC3E}">
        <p14:creationId xmlns:p14="http://schemas.microsoft.com/office/powerpoint/2010/main" val="2726383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latin typeface="+mn-lt"/>
                <a:ea typeface="+mn-ea"/>
                <a:cs typeface="+mn-cs"/>
              </a:rPr>
              <a:t>Le</a:t>
            </a:r>
            <a:r>
              <a:rPr lang="fr-FR" sz="1200" kern="1200" baseline="0" dirty="0" smtClean="0">
                <a:solidFill>
                  <a:schemeClr val="tx1"/>
                </a:solidFill>
                <a:latin typeface="+mn-lt"/>
                <a:ea typeface="+mn-ea"/>
                <a:cs typeface="+mn-cs"/>
              </a:rPr>
              <a:t> code XAML:</a:t>
            </a:r>
            <a:endParaRPr lang="fr-FR" sz="1200" kern="1200" dirty="0" smtClean="0">
              <a:solidFill>
                <a:schemeClr val="tx1"/>
              </a:solidFill>
              <a:latin typeface="+mn-lt"/>
              <a:ea typeface="+mn-ea"/>
              <a:cs typeface="+mn-cs"/>
            </a:endParaRP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&lt;?xml version="1.0" </a:t>
            </a:r>
            <a:r>
              <a:rPr lang="fr-FR" sz="1200" kern="1200" dirty="0" err="1" smtClean="0">
                <a:solidFill>
                  <a:schemeClr val="tx1"/>
                </a:solidFill>
                <a:latin typeface="+mn-lt"/>
                <a:ea typeface="+mn-ea"/>
                <a:cs typeface="+mn-cs"/>
              </a:rPr>
              <a:t>encoding</a:t>
            </a:r>
            <a:r>
              <a:rPr lang="fr-FR" sz="1200" kern="1200" dirty="0" smtClean="0">
                <a:solidFill>
                  <a:schemeClr val="tx1"/>
                </a:solidFill>
                <a:latin typeface="+mn-lt"/>
                <a:ea typeface="+mn-ea"/>
                <a:cs typeface="+mn-cs"/>
              </a:rPr>
              <a:t>="utf-8" ?&gt;</a:t>
            </a:r>
          </a:p>
          <a:p>
            <a:r>
              <a:rPr lang="fr-FR" sz="1200" kern="1200" dirty="0" smtClean="0">
                <a:solidFill>
                  <a:schemeClr val="tx1"/>
                </a:solidFill>
                <a:latin typeface="+mn-lt"/>
                <a:ea typeface="+mn-ea"/>
                <a:cs typeface="+mn-cs"/>
              </a:rPr>
              <a:t>&lt;</a:t>
            </a:r>
            <a:r>
              <a:rPr lang="fr-FR" sz="1200" kern="1200" dirty="0" err="1" smtClean="0">
                <a:solidFill>
                  <a:schemeClr val="tx1"/>
                </a:solidFill>
                <a:latin typeface="+mn-lt"/>
                <a:ea typeface="+mn-ea"/>
                <a:cs typeface="+mn-cs"/>
              </a:rPr>
              <a:t>ContentPage</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xmlns</a:t>
            </a:r>
            <a:r>
              <a:rPr lang="fr-FR" sz="1200" kern="1200" dirty="0" smtClean="0">
                <a:solidFill>
                  <a:schemeClr val="tx1"/>
                </a:solidFill>
                <a:latin typeface="+mn-lt"/>
                <a:ea typeface="+mn-ea"/>
                <a:cs typeface="+mn-cs"/>
              </a:rPr>
              <a:t>="http://schemas.microsoft.com/dotnet/2021/</a:t>
            </a:r>
            <a:r>
              <a:rPr lang="fr-FR" sz="1200" kern="1200" dirty="0" err="1" smtClean="0">
                <a:solidFill>
                  <a:schemeClr val="tx1"/>
                </a:solidFill>
                <a:latin typeface="+mn-lt"/>
                <a:ea typeface="+mn-ea"/>
                <a:cs typeface="+mn-cs"/>
              </a:rPr>
              <a:t>maui</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xmlns:x</a:t>
            </a:r>
            <a:r>
              <a:rPr lang="fr-FR" sz="1200" kern="1200" dirty="0" smtClean="0">
                <a:solidFill>
                  <a:schemeClr val="tx1"/>
                </a:solidFill>
                <a:latin typeface="+mn-lt"/>
                <a:ea typeface="+mn-ea"/>
                <a:cs typeface="+mn-cs"/>
              </a:rPr>
              <a:t>="http://schemas.microsoft.com/</a:t>
            </a:r>
            <a:r>
              <a:rPr lang="fr-FR" sz="1200" kern="1200" dirty="0" err="1" smtClean="0">
                <a:solidFill>
                  <a:schemeClr val="tx1"/>
                </a:solidFill>
                <a:latin typeface="+mn-lt"/>
                <a:ea typeface="+mn-ea"/>
                <a:cs typeface="+mn-cs"/>
              </a:rPr>
              <a:t>winfx</a:t>
            </a:r>
            <a:r>
              <a:rPr lang="fr-FR" sz="1200" kern="1200" dirty="0" smtClean="0">
                <a:solidFill>
                  <a:schemeClr val="tx1"/>
                </a:solidFill>
                <a:latin typeface="+mn-lt"/>
                <a:ea typeface="+mn-ea"/>
                <a:cs typeface="+mn-cs"/>
              </a:rPr>
              <a:t>/2009/</a:t>
            </a:r>
            <a:r>
              <a:rPr lang="fr-FR" sz="1200" kern="1200" dirty="0" err="1" smtClean="0">
                <a:solidFill>
                  <a:schemeClr val="tx1"/>
                </a:solidFill>
                <a:latin typeface="+mn-lt"/>
                <a:ea typeface="+mn-ea"/>
                <a:cs typeface="+mn-cs"/>
              </a:rPr>
              <a:t>xaml</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xmlns:local</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clr-namespace:FirstMauiApp</a:t>
            </a:r>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xmlns:scg</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clr-namespace:System.Collections.Generic;assembly</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netstandard</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x:Class="FirstMauiApp.MainPage"&gt;</a:t>
            </a: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StackLayout</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VerticalOptions</a:t>
            </a:r>
            <a:r>
              <a:rPr lang="fr-FR" sz="1200" kern="1200" dirty="0" smtClean="0">
                <a:solidFill>
                  <a:schemeClr val="tx1"/>
                </a:solidFill>
                <a:latin typeface="+mn-lt"/>
                <a:ea typeface="+mn-ea"/>
                <a:cs typeface="+mn-cs"/>
              </a:rPr>
              <a:t>="Center" </a:t>
            </a:r>
            <a:r>
              <a:rPr lang="fr-FR" sz="1200" kern="1200" dirty="0" err="1" smtClean="0">
                <a:solidFill>
                  <a:schemeClr val="tx1"/>
                </a:solidFill>
                <a:latin typeface="+mn-lt"/>
                <a:ea typeface="+mn-ea"/>
                <a:cs typeface="+mn-cs"/>
              </a:rPr>
              <a:t>HorizontalOptions</a:t>
            </a:r>
            <a:r>
              <a:rPr lang="fr-FR" sz="1200" kern="1200" dirty="0" smtClean="0">
                <a:solidFill>
                  <a:schemeClr val="tx1"/>
                </a:solidFill>
                <a:latin typeface="+mn-lt"/>
                <a:ea typeface="+mn-ea"/>
                <a:cs typeface="+mn-cs"/>
              </a:rPr>
              <a:t>="Center"&gt;</a:t>
            </a:r>
          </a:p>
          <a:p>
            <a:r>
              <a:rPr lang="fr-FR" sz="1200" kern="1200" dirty="0" smtClean="0">
                <a:solidFill>
                  <a:schemeClr val="tx1"/>
                </a:solidFill>
                <a:latin typeface="+mn-lt"/>
                <a:ea typeface="+mn-ea"/>
                <a:cs typeface="+mn-cs"/>
              </a:rPr>
              <a:t>        &lt;Border </a:t>
            </a:r>
            <a:r>
              <a:rPr lang="fr-FR" sz="1200" kern="1200" dirty="0" err="1" smtClean="0">
                <a:solidFill>
                  <a:schemeClr val="tx1"/>
                </a:solidFill>
                <a:latin typeface="+mn-lt"/>
                <a:ea typeface="+mn-ea"/>
                <a:cs typeface="+mn-cs"/>
              </a:rPr>
              <a:t>StrokeThickness</a:t>
            </a:r>
            <a:r>
              <a:rPr lang="fr-FR" sz="1200" kern="1200" dirty="0" smtClean="0">
                <a:solidFill>
                  <a:schemeClr val="tx1"/>
                </a:solidFill>
                <a:latin typeface="+mn-lt"/>
                <a:ea typeface="+mn-ea"/>
                <a:cs typeface="+mn-cs"/>
              </a:rPr>
              <a:t>="2" </a:t>
            </a:r>
          </a:p>
          <a:p>
            <a:r>
              <a:rPr lang="fr-FR" sz="1200" kern="1200" dirty="0" smtClean="0">
                <a:solidFill>
                  <a:schemeClr val="tx1"/>
                </a:solidFill>
                <a:latin typeface="+mn-lt"/>
                <a:ea typeface="+mn-ea"/>
                <a:cs typeface="+mn-cs"/>
              </a:rPr>
              <a:t>                Stroke="Black" Background="Red"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WidthRequest</a:t>
            </a:r>
            <a:r>
              <a:rPr lang="fr-FR" sz="1200" kern="1200" dirty="0" smtClean="0">
                <a:solidFill>
                  <a:schemeClr val="tx1"/>
                </a:solidFill>
                <a:latin typeface="+mn-lt"/>
                <a:ea typeface="+mn-ea"/>
                <a:cs typeface="+mn-cs"/>
              </a:rPr>
              <a:t>="400" </a:t>
            </a:r>
            <a:r>
              <a:rPr lang="fr-FR" sz="1200" kern="1200" dirty="0" err="1" smtClean="0">
                <a:solidFill>
                  <a:schemeClr val="tx1"/>
                </a:solidFill>
                <a:latin typeface="+mn-lt"/>
                <a:ea typeface="+mn-ea"/>
                <a:cs typeface="+mn-cs"/>
              </a:rPr>
              <a:t>HeightRequest</a:t>
            </a:r>
            <a:r>
              <a:rPr lang="fr-FR" sz="1200" kern="1200" dirty="0" smtClean="0">
                <a:solidFill>
                  <a:schemeClr val="tx1"/>
                </a:solidFill>
                <a:latin typeface="+mn-lt"/>
                <a:ea typeface="+mn-ea"/>
                <a:cs typeface="+mn-cs"/>
              </a:rPr>
              <a:t>="400"&gt;</a:t>
            </a:r>
          </a:p>
          <a:p>
            <a:r>
              <a:rPr lang="en-US" sz="1200" kern="1200" dirty="0" smtClean="0">
                <a:solidFill>
                  <a:schemeClr val="tx1"/>
                </a:solidFill>
                <a:latin typeface="+mn-lt"/>
                <a:ea typeface="+mn-ea"/>
                <a:cs typeface="+mn-cs"/>
              </a:rPr>
              <a:t>            &lt;Border Margin="20" Background="Blue"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StrokeThickness</a:t>
            </a:r>
            <a:r>
              <a:rPr lang="fr-FR" sz="1200" kern="1200" dirty="0" smtClean="0">
                <a:solidFill>
                  <a:schemeClr val="tx1"/>
                </a:solidFill>
                <a:latin typeface="+mn-lt"/>
                <a:ea typeface="+mn-ea"/>
                <a:cs typeface="+mn-cs"/>
              </a:rPr>
              <a:t>="3" Stroke="Black"&gt;</a:t>
            </a:r>
          </a:p>
          <a:p>
            <a:r>
              <a:rPr lang="en-US" sz="1200" kern="1200" dirty="0" smtClean="0">
                <a:solidFill>
                  <a:schemeClr val="tx1"/>
                </a:solidFill>
                <a:latin typeface="+mn-lt"/>
                <a:ea typeface="+mn-ea"/>
                <a:cs typeface="+mn-cs"/>
              </a:rPr>
              <a:t>                &lt;Border Margin="20" Background="Green"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StrokeThickness</a:t>
            </a:r>
            <a:r>
              <a:rPr lang="fr-FR" sz="1200" kern="1200" dirty="0" smtClean="0">
                <a:solidFill>
                  <a:schemeClr val="tx1"/>
                </a:solidFill>
                <a:latin typeface="+mn-lt"/>
                <a:ea typeface="+mn-ea"/>
                <a:cs typeface="+mn-cs"/>
              </a:rPr>
              <a:t>="3" Stroke="Black"&gt;</a:t>
            </a:r>
          </a:p>
          <a:p>
            <a:r>
              <a:rPr lang="fr-FR" sz="1200" kern="1200" dirty="0" smtClean="0">
                <a:solidFill>
                  <a:schemeClr val="tx1"/>
                </a:solidFill>
                <a:latin typeface="+mn-lt"/>
                <a:ea typeface="+mn-ea"/>
                <a:cs typeface="+mn-cs"/>
              </a:rPr>
              <a:t>                    &lt;Border </a:t>
            </a:r>
            <a:r>
              <a:rPr lang="fr-FR" sz="1200" kern="1200" dirty="0" err="1" smtClean="0">
                <a:solidFill>
                  <a:schemeClr val="tx1"/>
                </a:solidFill>
                <a:latin typeface="+mn-lt"/>
                <a:ea typeface="+mn-ea"/>
                <a:cs typeface="+mn-cs"/>
              </a:rPr>
              <a:t>Margin</a:t>
            </a:r>
            <a:r>
              <a:rPr lang="fr-FR" sz="1200" kern="1200" dirty="0" smtClean="0">
                <a:solidFill>
                  <a:schemeClr val="tx1"/>
                </a:solidFill>
                <a:latin typeface="+mn-lt"/>
                <a:ea typeface="+mn-ea"/>
                <a:cs typeface="+mn-cs"/>
              </a:rPr>
              <a:t>="20" </a:t>
            </a:r>
            <a:r>
              <a:rPr lang="fr-FR" sz="1200" kern="1200" dirty="0" err="1" smtClean="0">
                <a:solidFill>
                  <a:schemeClr val="tx1"/>
                </a:solidFill>
                <a:latin typeface="+mn-lt"/>
                <a:ea typeface="+mn-ea"/>
                <a:cs typeface="+mn-cs"/>
              </a:rPr>
              <a:t>StrokeThickness</a:t>
            </a:r>
            <a:r>
              <a:rPr lang="fr-FR" sz="1200" kern="1200" dirty="0" smtClean="0">
                <a:solidFill>
                  <a:schemeClr val="tx1"/>
                </a:solidFill>
                <a:latin typeface="+mn-lt"/>
                <a:ea typeface="+mn-ea"/>
                <a:cs typeface="+mn-cs"/>
              </a:rPr>
              <a:t>="3" </a:t>
            </a:r>
          </a:p>
          <a:p>
            <a:r>
              <a:rPr lang="fr-FR" sz="1200" kern="1200" dirty="0" smtClean="0">
                <a:solidFill>
                  <a:schemeClr val="tx1"/>
                </a:solidFill>
                <a:latin typeface="+mn-lt"/>
                <a:ea typeface="+mn-ea"/>
                <a:cs typeface="+mn-cs"/>
              </a:rPr>
              <a:t>                        Background="{Binding Background,</a:t>
            </a:r>
          </a:p>
          <a:p>
            <a:r>
              <a:rPr lang="fr-FR" sz="1200" kern="1200" dirty="0" smtClean="0">
                <a:solidFill>
                  <a:schemeClr val="tx1"/>
                </a:solidFill>
                <a:latin typeface="+mn-lt"/>
                <a:ea typeface="+mn-ea"/>
                <a:cs typeface="+mn-cs"/>
              </a:rPr>
              <a:t>                        Source={</a:t>
            </a:r>
            <a:r>
              <a:rPr lang="fr-FR" sz="1200" kern="1200" dirty="0" err="1" smtClean="0">
                <a:solidFill>
                  <a:schemeClr val="tx1"/>
                </a:solidFill>
                <a:latin typeface="+mn-lt"/>
                <a:ea typeface="+mn-ea"/>
                <a:cs typeface="+mn-cs"/>
              </a:rPr>
              <a:t>RelativeSource</a:t>
            </a:r>
            <a:r>
              <a:rPr lang="fr-FR" sz="1200" kern="1200" dirty="0" smtClean="0">
                <a:solidFill>
                  <a:schemeClr val="tx1"/>
                </a:solidFill>
                <a:latin typeface="+mn-lt"/>
                <a:ea typeface="+mn-ea"/>
                <a:cs typeface="+mn-cs"/>
              </a:rPr>
              <a:t> Mode=</a:t>
            </a:r>
            <a:r>
              <a:rPr lang="fr-FR" sz="1200" kern="1200" dirty="0" err="1" smtClean="0">
                <a:solidFill>
                  <a:schemeClr val="tx1"/>
                </a:solidFill>
                <a:latin typeface="+mn-lt"/>
                <a:ea typeface="+mn-ea"/>
                <a:cs typeface="+mn-cs"/>
              </a:rPr>
              <a:t>FindAncestor</a:t>
            </a:r>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AncestorLevel</a:t>
            </a:r>
            <a:r>
              <a:rPr lang="fr-FR" sz="1200" kern="1200" dirty="0" smtClean="0">
                <a:solidFill>
                  <a:schemeClr val="tx1"/>
                </a:solidFill>
                <a:latin typeface="+mn-lt"/>
                <a:ea typeface="+mn-ea"/>
                <a:cs typeface="+mn-cs"/>
              </a:rPr>
              <a:t>=3,AncestorType={</a:t>
            </a:r>
            <a:r>
              <a:rPr lang="fr-FR" sz="1200" kern="1200" dirty="0" err="1" smtClean="0">
                <a:solidFill>
                  <a:schemeClr val="tx1"/>
                </a:solidFill>
                <a:latin typeface="+mn-lt"/>
                <a:ea typeface="+mn-ea"/>
                <a:cs typeface="+mn-cs"/>
              </a:rPr>
              <a:t>x:Type</a:t>
            </a:r>
            <a:r>
              <a:rPr lang="fr-FR" sz="1200" kern="1200" dirty="0" smtClean="0">
                <a:solidFill>
                  <a:schemeClr val="tx1"/>
                </a:solidFill>
                <a:latin typeface="+mn-lt"/>
                <a:ea typeface="+mn-ea"/>
                <a:cs typeface="+mn-cs"/>
              </a:rPr>
              <a:t> Border}}}" </a:t>
            </a:r>
          </a:p>
          <a:p>
            <a:r>
              <a:rPr lang="fr-FR" sz="1200" kern="1200" dirty="0" smtClean="0">
                <a:solidFill>
                  <a:schemeClr val="tx1"/>
                </a:solidFill>
                <a:latin typeface="+mn-lt"/>
                <a:ea typeface="+mn-ea"/>
                <a:cs typeface="+mn-cs"/>
              </a:rPr>
              <a:t>                        Stroke="Black"&gt;</a:t>
            </a:r>
          </a:p>
          <a:p>
            <a:r>
              <a:rPr lang="fr-FR" sz="1200" kern="1200" dirty="0" smtClean="0">
                <a:solidFill>
                  <a:schemeClr val="tx1"/>
                </a:solidFill>
                <a:latin typeface="+mn-lt"/>
                <a:ea typeface="+mn-ea"/>
                <a:cs typeface="+mn-cs"/>
              </a:rPr>
              <a:t>                    &lt;/Border&gt;</a:t>
            </a:r>
          </a:p>
          <a:p>
            <a:r>
              <a:rPr lang="fr-FR" sz="1200" kern="1200" dirty="0" smtClean="0">
                <a:solidFill>
                  <a:schemeClr val="tx1"/>
                </a:solidFill>
                <a:latin typeface="+mn-lt"/>
                <a:ea typeface="+mn-ea"/>
                <a:cs typeface="+mn-cs"/>
              </a:rPr>
              <a:t>                &lt;/Border&gt;</a:t>
            </a:r>
          </a:p>
          <a:p>
            <a:r>
              <a:rPr lang="fr-FR" sz="1200" kern="1200" dirty="0" smtClean="0">
                <a:solidFill>
                  <a:schemeClr val="tx1"/>
                </a:solidFill>
                <a:latin typeface="+mn-lt"/>
                <a:ea typeface="+mn-ea"/>
                <a:cs typeface="+mn-cs"/>
              </a:rPr>
              <a:t>            &lt;/Border&gt; </a:t>
            </a:r>
          </a:p>
          <a:p>
            <a:r>
              <a:rPr lang="fr-FR" sz="1200" kern="1200" dirty="0" smtClean="0">
                <a:solidFill>
                  <a:schemeClr val="tx1"/>
                </a:solidFill>
                <a:latin typeface="+mn-lt"/>
                <a:ea typeface="+mn-ea"/>
                <a:cs typeface="+mn-cs"/>
              </a:rPr>
              <a:t>        &lt;/Border&gt;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StackLayout</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&lt;/</a:t>
            </a:r>
            <a:r>
              <a:rPr lang="fr-FR" sz="1200" kern="1200" dirty="0" err="1" smtClean="0">
                <a:solidFill>
                  <a:schemeClr val="tx1"/>
                </a:solidFill>
                <a:latin typeface="+mn-lt"/>
                <a:ea typeface="+mn-ea"/>
                <a:cs typeface="+mn-cs"/>
              </a:rPr>
              <a:t>ContentPage</a:t>
            </a:r>
            <a:r>
              <a:rPr lang="fr-FR" sz="1200" kern="1200" dirty="0" smtClean="0">
                <a:solidFill>
                  <a:schemeClr val="tx1"/>
                </a:solidFill>
                <a:latin typeface="+mn-lt"/>
                <a:ea typeface="+mn-ea"/>
                <a:cs typeface="+mn-cs"/>
              </a:rPr>
              <a:t>&gt;</a:t>
            </a:r>
          </a:p>
          <a:p>
            <a:endParaRPr lang="fr-FR" dirty="0"/>
          </a:p>
        </p:txBody>
      </p:sp>
      <p:sp>
        <p:nvSpPr>
          <p:cNvPr id="4" name="Espace réservé du numéro de diapositive 3"/>
          <p:cNvSpPr>
            <a:spLocks noGrp="1"/>
          </p:cNvSpPr>
          <p:nvPr>
            <p:ph type="sldNum" sz="quarter" idx="10"/>
          </p:nvPr>
        </p:nvSpPr>
        <p:spPr/>
        <p:txBody>
          <a:bodyPr/>
          <a:lstStyle/>
          <a:p>
            <a:fld id="{A5139648-5E4B-484D-B5BB-D289BC444157}" type="slidenum">
              <a:rPr lang="fr-FR" smtClean="0"/>
              <a:t>12</a:t>
            </a:fld>
            <a:endParaRPr lang="fr-FR"/>
          </a:p>
        </p:txBody>
      </p:sp>
    </p:spTree>
    <p:extLst>
      <p:ext uri="{BB962C8B-B14F-4D97-AF65-F5344CB8AC3E}">
        <p14:creationId xmlns:p14="http://schemas.microsoft.com/office/powerpoint/2010/main" val="35675618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latin typeface="+mn-lt"/>
                <a:ea typeface="+mn-ea"/>
                <a:cs typeface="+mn-cs"/>
              </a:rPr>
              <a:t>public </a:t>
            </a:r>
            <a:r>
              <a:rPr lang="fr-FR" sz="1200" kern="1200" dirty="0" err="1" smtClean="0">
                <a:solidFill>
                  <a:schemeClr val="tx1"/>
                </a:solidFill>
                <a:latin typeface="+mn-lt"/>
                <a:ea typeface="+mn-ea"/>
                <a:cs typeface="+mn-cs"/>
              </a:rPr>
              <a:t>enum</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VisibilityState</a:t>
            </a:r>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Visible, </a:t>
            </a:r>
            <a:r>
              <a:rPr lang="fr-FR" sz="1200" kern="1200" dirty="0" err="1" smtClean="0">
                <a:solidFill>
                  <a:schemeClr val="tx1"/>
                </a:solidFill>
                <a:latin typeface="+mn-lt"/>
                <a:ea typeface="+mn-ea"/>
                <a:cs typeface="+mn-cs"/>
              </a:rPr>
              <a:t>Hidden</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Collapsed</a:t>
            </a:r>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a:t>
            </a: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public class </a:t>
            </a:r>
            <a:r>
              <a:rPr lang="fr-FR" sz="1200" kern="1200" dirty="0" err="1" smtClean="0">
                <a:solidFill>
                  <a:schemeClr val="tx1"/>
                </a:solidFill>
                <a:latin typeface="+mn-lt"/>
                <a:ea typeface="+mn-ea"/>
                <a:cs typeface="+mn-cs"/>
              </a:rPr>
              <a:t>LabelSpecial</a:t>
            </a:r>
            <a:r>
              <a:rPr lang="fr-FR" sz="1200" kern="1200" dirty="0" smtClean="0">
                <a:solidFill>
                  <a:schemeClr val="tx1"/>
                </a:solidFill>
                <a:latin typeface="+mn-lt"/>
                <a:ea typeface="+mn-ea"/>
                <a:cs typeface="+mn-cs"/>
              </a:rPr>
              <a:t> :Label</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static private Brush _</a:t>
            </a:r>
            <a:r>
              <a:rPr lang="fr-FR" sz="1200" kern="1200" dirty="0" err="1" smtClean="0">
                <a:solidFill>
                  <a:schemeClr val="tx1"/>
                </a:solidFill>
                <a:latin typeface="+mn-lt"/>
                <a:ea typeface="+mn-ea"/>
                <a:cs typeface="+mn-cs"/>
              </a:rPr>
              <a:t>color</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static private </a:t>
            </a:r>
            <a:r>
              <a:rPr lang="fr-FR" sz="1200" kern="1200" dirty="0" err="1" smtClean="0">
                <a:solidFill>
                  <a:schemeClr val="tx1"/>
                </a:solidFill>
                <a:latin typeface="+mn-lt"/>
                <a:ea typeface="+mn-ea"/>
                <a:cs typeface="+mn-cs"/>
              </a:rPr>
              <a:t>Color</a:t>
            </a:r>
            <a:r>
              <a:rPr lang="fr-FR" sz="1200" kern="1200" dirty="0" smtClean="0">
                <a:solidFill>
                  <a:schemeClr val="tx1"/>
                </a:solidFill>
                <a:latin typeface="+mn-lt"/>
                <a:ea typeface="+mn-ea"/>
                <a:cs typeface="+mn-cs"/>
              </a:rPr>
              <a:t> _</a:t>
            </a:r>
            <a:r>
              <a:rPr lang="fr-FR" sz="1200" kern="1200" dirty="0" err="1" smtClean="0">
                <a:solidFill>
                  <a:schemeClr val="tx1"/>
                </a:solidFill>
                <a:latin typeface="+mn-lt"/>
                <a:ea typeface="+mn-ea"/>
                <a:cs typeface="+mn-cs"/>
              </a:rPr>
              <a:t>textcolor</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public </a:t>
            </a:r>
            <a:r>
              <a:rPr lang="fr-FR" sz="1200" kern="1200" dirty="0" err="1" smtClean="0">
                <a:solidFill>
                  <a:schemeClr val="tx1"/>
                </a:solidFill>
                <a:latin typeface="+mn-lt"/>
                <a:ea typeface="+mn-ea"/>
                <a:cs typeface="+mn-cs"/>
              </a:rPr>
              <a:t>VisibilityState</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Visibility</a:t>
            </a:r>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get</a:t>
            </a:r>
            <a:r>
              <a:rPr lang="fr-FR" sz="1200" kern="1200" dirty="0" smtClean="0">
                <a:solidFill>
                  <a:schemeClr val="tx1"/>
                </a:solidFill>
                <a:latin typeface="+mn-lt"/>
                <a:ea typeface="+mn-ea"/>
                <a:cs typeface="+mn-cs"/>
              </a:rPr>
              <a:t> { return (</a:t>
            </a:r>
            <a:r>
              <a:rPr lang="fr-FR" sz="1200" kern="1200" dirty="0" err="1" smtClean="0">
                <a:solidFill>
                  <a:schemeClr val="tx1"/>
                </a:solidFill>
                <a:latin typeface="+mn-lt"/>
                <a:ea typeface="+mn-ea"/>
                <a:cs typeface="+mn-cs"/>
              </a:rPr>
              <a:t>VisibilityState</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GetValue</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VisibilityProperty</a:t>
            </a:r>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set { </a:t>
            </a:r>
            <a:r>
              <a:rPr lang="fr-FR" sz="1200" kern="1200" dirty="0" err="1" smtClean="0">
                <a:solidFill>
                  <a:schemeClr val="tx1"/>
                </a:solidFill>
                <a:latin typeface="+mn-lt"/>
                <a:ea typeface="+mn-ea"/>
                <a:cs typeface="+mn-cs"/>
              </a:rPr>
              <a:t>SetValue</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VisibilityProperty</a:t>
            </a:r>
            <a:r>
              <a:rPr lang="fr-FR" sz="1200" kern="1200" dirty="0" smtClean="0">
                <a:solidFill>
                  <a:schemeClr val="tx1"/>
                </a:solidFill>
                <a:latin typeface="+mn-lt"/>
                <a:ea typeface="+mn-ea"/>
                <a:cs typeface="+mn-cs"/>
              </a:rPr>
              <a:t>, value); }</a:t>
            </a:r>
          </a:p>
          <a:p>
            <a:r>
              <a:rPr lang="fr-FR" sz="1200" kern="1200" dirty="0" smtClean="0">
                <a:solidFill>
                  <a:schemeClr val="tx1"/>
                </a:solidFill>
                <a:latin typeface="+mn-lt"/>
                <a:ea typeface="+mn-ea"/>
                <a:cs typeface="+mn-cs"/>
              </a:rPr>
              <a:t>        }</a:t>
            </a:r>
          </a:p>
          <a:p>
            <a:endParaRPr lang="fr-FR"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 Using a DependencyProperty as the backing store for </a:t>
            </a:r>
            <a:r>
              <a:rPr lang="en-US" sz="1200" kern="1200" dirty="0" err="1" smtClean="0">
                <a:solidFill>
                  <a:schemeClr val="tx1"/>
                </a:solidFill>
                <a:latin typeface="+mn-lt"/>
                <a:ea typeface="+mn-ea"/>
                <a:cs typeface="+mn-cs"/>
              </a:rPr>
              <a:t>VisibiliyProperty</a:t>
            </a:r>
            <a:r>
              <a:rPr lang="en-US" sz="1200" kern="1200" dirty="0" smtClean="0">
                <a:solidFill>
                  <a:schemeClr val="tx1"/>
                </a:solidFill>
                <a:latin typeface="+mn-lt"/>
                <a:ea typeface="+mn-ea"/>
                <a:cs typeface="+mn-cs"/>
              </a:rPr>
              <a:t>.  This enables animation, styling, binding, etc...</a:t>
            </a:r>
          </a:p>
          <a:p>
            <a:r>
              <a:rPr lang="en-US" sz="1200" kern="1200" dirty="0" smtClean="0">
                <a:solidFill>
                  <a:schemeClr val="tx1"/>
                </a:solidFill>
                <a:latin typeface="+mn-lt"/>
                <a:ea typeface="+mn-ea"/>
                <a:cs typeface="+mn-cs"/>
              </a:rPr>
              <a:t>        public static readonly </a:t>
            </a:r>
            <a:r>
              <a:rPr lang="en-US" sz="1200" kern="1200" dirty="0" err="1" smtClean="0">
                <a:solidFill>
                  <a:schemeClr val="tx1"/>
                </a:solidFill>
                <a:latin typeface="+mn-lt"/>
                <a:ea typeface="+mn-ea"/>
                <a:cs typeface="+mn-cs"/>
              </a:rPr>
              <a:t>BindableProperty</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VisibilityProperty</a:t>
            </a:r>
            <a:r>
              <a:rPr lang="en-US"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BindableProperty.Create</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VisibiliyProperty</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typeof</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VisibilityState</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typeof</a:t>
            </a:r>
            <a:r>
              <a:rPr lang="fr-FR" sz="1200" kern="1200" dirty="0" smtClean="0">
                <a:solidFill>
                  <a:schemeClr val="tx1"/>
                </a:solidFill>
                <a:latin typeface="+mn-lt"/>
                <a:ea typeface="+mn-ea"/>
                <a:cs typeface="+mn-cs"/>
              </a:rPr>
              <a:t>(Label)</a:t>
            </a:r>
          </a:p>
          <a:p>
            <a:r>
              <a:rPr lang="fr-FR" sz="1200" kern="1200" dirty="0" smtClean="0">
                <a:solidFill>
                  <a:schemeClr val="tx1"/>
                </a:solidFill>
                <a:latin typeface="+mn-lt"/>
                <a:ea typeface="+mn-ea"/>
                <a:cs typeface="+mn-cs"/>
              </a:rPr>
              <a:t>                , </a:t>
            </a:r>
            <a:r>
              <a:rPr lang="fr-FR" sz="1200" kern="1200" dirty="0" err="1" smtClean="0">
                <a:solidFill>
                  <a:schemeClr val="tx1"/>
                </a:solidFill>
                <a:latin typeface="+mn-lt"/>
                <a:ea typeface="+mn-ea"/>
                <a:cs typeface="+mn-cs"/>
              </a:rPr>
              <a:t>VisibilityState.Visible</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propertyChanged</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OnVisibilityChanged</a:t>
            </a:r>
            <a:r>
              <a:rPr lang="fr-FR" sz="1200" kern="1200" dirty="0" smtClean="0">
                <a:solidFill>
                  <a:schemeClr val="tx1"/>
                </a:solidFill>
                <a:latin typeface="+mn-lt"/>
                <a:ea typeface="+mn-ea"/>
                <a:cs typeface="+mn-cs"/>
              </a:rPr>
              <a:t>);</a:t>
            </a:r>
          </a:p>
          <a:p>
            <a:endParaRPr lang="fr-FR"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private static void </a:t>
            </a:r>
            <a:r>
              <a:rPr lang="en-US" sz="1200" kern="1200" dirty="0" err="1" smtClean="0">
                <a:solidFill>
                  <a:schemeClr val="tx1"/>
                </a:solidFill>
                <a:latin typeface="+mn-lt"/>
                <a:ea typeface="+mn-ea"/>
                <a:cs typeface="+mn-cs"/>
              </a:rPr>
              <a:t>OnVisibilityChanged</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BindableObject</a:t>
            </a:r>
            <a:r>
              <a:rPr lang="en-US" sz="1200" kern="1200" dirty="0" smtClean="0">
                <a:solidFill>
                  <a:schemeClr val="tx1"/>
                </a:solidFill>
                <a:latin typeface="+mn-lt"/>
                <a:ea typeface="+mn-ea"/>
                <a:cs typeface="+mn-cs"/>
              </a:rPr>
              <a:t> view, object </a:t>
            </a:r>
            <a:r>
              <a:rPr lang="en-US" sz="1200" kern="1200" dirty="0" err="1" smtClean="0">
                <a:solidFill>
                  <a:schemeClr val="tx1"/>
                </a:solidFill>
                <a:latin typeface="+mn-lt"/>
                <a:ea typeface="+mn-ea"/>
                <a:cs typeface="+mn-cs"/>
              </a:rPr>
              <a:t>oldValue</a:t>
            </a:r>
            <a:r>
              <a:rPr lang="en-US" sz="1200" kern="1200" dirty="0" smtClean="0">
                <a:solidFill>
                  <a:schemeClr val="tx1"/>
                </a:solidFill>
                <a:latin typeface="+mn-lt"/>
                <a:ea typeface="+mn-ea"/>
                <a:cs typeface="+mn-cs"/>
              </a:rPr>
              <a:t>, object </a:t>
            </a:r>
            <a:r>
              <a:rPr lang="en-US" sz="1200" kern="1200" dirty="0" err="1" smtClean="0">
                <a:solidFill>
                  <a:schemeClr val="tx1"/>
                </a:solidFill>
                <a:latin typeface="+mn-lt"/>
                <a:ea typeface="+mn-ea"/>
                <a:cs typeface="+mn-cs"/>
              </a:rPr>
              <a:t>newValue</a:t>
            </a:r>
            <a:r>
              <a:rPr lang="en-US"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LabelSpecial</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current</a:t>
            </a:r>
            <a:r>
              <a:rPr lang="fr-FR" sz="1200" kern="1200" dirty="0" smtClean="0">
                <a:solidFill>
                  <a:schemeClr val="tx1"/>
                </a:solidFill>
                <a:latin typeface="+mn-lt"/>
                <a:ea typeface="+mn-ea"/>
                <a:cs typeface="+mn-cs"/>
              </a:rPr>
              <a:t> = (</a:t>
            </a:r>
            <a:r>
              <a:rPr lang="fr-FR" sz="1200" kern="1200" dirty="0" err="1" smtClean="0">
                <a:solidFill>
                  <a:schemeClr val="tx1"/>
                </a:solidFill>
                <a:latin typeface="+mn-lt"/>
                <a:ea typeface="+mn-ea"/>
                <a:cs typeface="+mn-cs"/>
              </a:rPr>
              <a:t>LabelSpecial</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view</a:t>
            </a:r>
            <a:r>
              <a:rPr lang="fr-FR" sz="1200" kern="1200" dirty="0" smtClean="0">
                <a:solidFill>
                  <a:schemeClr val="tx1"/>
                </a:solidFill>
                <a:latin typeface="+mn-lt"/>
                <a:ea typeface="+mn-ea"/>
                <a:cs typeface="+mn-cs"/>
              </a:rPr>
              <a:t>;</a:t>
            </a: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if(</a:t>
            </a:r>
            <a:r>
              <a:rPr lang="fr-FR" sz="1200" kern="1200" dirty="0" err="1" smtClean="0">
                <a:solidFill>
                  <a:schemeClr val="tx1"/>
                </a:solidFill>
                <a:latin typeface="+mn-lt"/>
                <a:ea typeface="+mn-ea"/>
                <a:cs typeface="+mn-cs"/>
              </a:rPr>
              <a:t>current.Visibility</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VisibilityState.Collapsed</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current.IsVisible</a:t>
            </a:r>
            <a:r>
              <a:rPr lang="fr-FR" sz="1200" kern="1200" dirty="0" smtClean="0">
                <a:solidFill>
                  <a:schemeClr val="tx1"/>
                </a:solidFill>
                <a:latin typeface="+mn-lt"/>
                <a:ea typeface="+mn-ea"/>
                <a:cs typeface="+mn-cs"/>
              </a:rPr>
              <a:t> = false;</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else if(</a:t>
            </a:r>
            <a:r>
              <a:rPr lang="fr-FR" sz="1200" kern="1200" dirty="0" err="1" smtClean="0">
                <a:solidFill>
                  <a:schemeClr val="tx1"/>
                </a:solidFill>
                <a:latin typeface="+mn-lt"/>
                <a:ea typeface="+mn-ea"/>
                <a:cs typeface="+mn-cs"/>
              </a:rPr>
              <a:t>current.Visibility</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VisibilityState.Hidden</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current.IsVisible</a:t>
            </a:r>
            <a:r>
              <a:rPr lang="fr-FR" sz="1200" kern="1200" dirty="0" smtClean="0">
                <a:solidFill>
                  <a:schemeClr val="tx1"/>
                </a:solidFill>
                <a:latin typeface="+mn-lt"/>
                <a:ea typeface="+mn-ea"/>
                <a:cs typeface="+mn-cs"/>
              </a:rPr>
              <a:t> = </a:t>
            </a:r>
            <a:r>
              <a:rPr lang="fr-FR" sz="1200" kern="1200" dirty="0" err="1" smtClean="0">
                <a:solidFill>
                  <a:schemeClr val="tx1"/>
                </a:solidFill>
                <a:latin typeface="+mn-lt"/>
                <a:ea typeface="+mn-ea"/>
                <a:cs typeface="+mn-cs"/>
              </a:rPr>
              <a:t>true</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_</a:t>
            </a:r>
            <a:r>
              <a:rPr lang="fr-FR" sz="1200" kern="1200" dirty="0" err="1" smtClean="0">
                <a:solidFill>
                  <a:schemeClr val="tx1"/>
                </a:solidFill>
                <a:latin typeface="+mn-lt"/>
                <a:ea typeface="+mn-ea"/>
                <a:cs typeface="+mn-cs"/>
              </a:rPr>
              <a:t>color</a:t>
            </a:r>
            <a:r>
              <a:rPr lang="fr-FR" sz="1200" kern="1200" dirty="0" smtClean="0">
                <a:solidFill>
                  <a:schemeClr val="tx1"/>
                </a:solidFill>
                <a:latin typeface="+mn-lt"/>
                <a:ea typeface="+mn-ea"/>
                <a:cs typeface="+mn-cs"/>
              </a:rPr>
              <a:t> = </a:t>
            </a:r>
            <a:r>
              <a:rPr lang="fr-FR" sz="1200" kern="1200" dirty="0" err="1" smtClean="0">
                <a:solidFill>
                  <a:schemeClr val="tx1"/>
                </a:solidFill>
                <a:latin typeface="+mn-lt"/>
                <a:ea typeface="+mn-ea"/>
                <a:cs typeface="+mn-cs"/>
              </a:rPr>
              <a:t>current.Background</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_</a:t>
            </a:r>
            <a:r>
              <a:rPr lang="fr-FR" sz="1200" kern="1200" dirty="0" err="1" smtClean="0">
                <a:solidFill>
                  <a:schemeClr val="tx1"/>
                </a:solidFill>
                <a:latin typeface="+mn-lt"/>
                <a:ea typeface="+mn-ea"/>
                <a:cs typeface="+mn-cs"/>
              </a:rPr>
              <a:t>textcolor</a:t>
            </a:r>
            <a:r>
              <a:rPr lang="fr-FR" sz="1200" kern="1200" dirty="0" smtClean="0">
                <a:solidFill>
                  <a:schemeClr val="tx1"/>
                </a:solidFill>
                <a:latin typeface="+mn-lt"/>
                <a:ea typeface="+mn-ea"/>
                <a:cs typeface="+mn-cs"/>
              </a:rPr>
              <a:t> = </a:t>
            </a:r>
            <a:r>
              <a:rPr lang="fr-FR" sz="1200" kern="1200" dirty="0" err="1" smtClean="0">
                <a:solidFill>
                  <a:schemeClr val="tx1"/>
                </a:solidFill>
                <a:latin typeface="+mn-lt"/>
                <a:ea typeface="+mn-ea"/>
                <a:cs typeface="+mn-cs"/>
              </a:rPr>
              <a:t>current.TextColor</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current.Background</a:t>
            </a:r>
            <a:r>
              <a:rPr lang="fr-FR" sz="1200" kern="1200" dirty="0" smtClean="0">
                <a:solidFill>
                  <a:schemeClr val="tx1"/>
                </a:solidFill>
                <a:latin typeface="+mn-lt"/>
                <a:ea typeface="+mn-ea"/>
                <a:cs typeface="+mn-cs"/>
              </a:rPr>
              <a:t> = new </a:t>
            </a:r>
            <a:r>
              <a:rPr lang="fr-FR" sz="1200" kern="1200" dirty="0" err="1" smtClean="0">
                <a:solidFill>
                  <a:schemeClr val="tx1"/>
                </a:solidFill>
                <a:latin typeface="+mn-lt"/>
                <a:ea typeface="+mn-ea"/>
                <a:cs typeface="+mn-cs"/>
              </a:rPr>
              <a:t>SolidColorBrush</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Colors.Transparent</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current.TextColor</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Colors.Transparent</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else</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current.IsVisible</a:t>
            </a:r>
            <a:r>
              <a:rPr lang="fr-FR" sz="1200" kern="1200" dirty="0" smtClean="0">
                <a:solidFill>
                  <a:schemeClr val="tx1"/>
                </a:solidFill>
                <a:latin typeface="+mn-lt"/>
                <a:ea typeface="+mn-ea"/>
                <a:cs typeface="+mn-cs"/>
              </a:rPr>
              <a:t> = </a:t>
            </a:r>
            <a:r>
              <a:rPr lang="fr-FR" sz="1200" kern="1200" dirty="0" err="1" smtClean="0">
                <a:solidFill>
                  <a:schemeClr val="tx1"/>
                </a:solidFill>
                <a:latin typeface="+mn-lt"/>
                <a:ea typeface="+mn-ea"/>
                <a:cs typeface="+mn-cs"/>
              </a:rPr>
              <a:t>true</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current.Background</a:t>
            </a:r>
            <a:r>
              <a:rPr lang="fr-FR" sz="1200" kern="1200" dirty="0" smtClean="0">
                <a:solidFill>
                  <a:schemeClr val="tx1"/>
                </a:solidFill>
                <a:latin typeface="+mn-lt"/>
                <a:ea typeface="+mn-ea"/>
                <a:cs typeface="+mn-cs"/>
              </a:rPr>
              <a:t> = _</a:t>
            </a:r>
            <a:r>
              <a:rPr lang="fr-FR" sz="1200" kern="1200" dirty="0" err="1" smtClean="0">
                <a:solidFill>
                  <a:schemeClr val="tx1"/>
                </a:solidFill>
                <a:latin typeface="+mn-lt"/>
                <a:ea typeface="+mn-ea"/>
                <a:cs typeface="+mn-cs"/>
              </a:rPr>
              <a:t>color</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current.TextColor</a:t>
            </a:r>
            <a:r>
              <a:rPr lang="fr-FR" sz="1200" kern="1200" dirty="0" smtClean="0">
                <a:solidFill>
                  <a:schemeClr val="tx1"/>
                </a:solidFill>
                <a:latin typeface="+mn-lt"/>
                <a:ea typeface="+mn-ea"/>
                <a:cs typeface="+mn-cs"/>
              </a:rPr>
              <a:t> = _</a:t>
            </a:r>
            <a:r>
              <a:rPr lang="fr-FR" sz="1200" kern="1200" dirty="0" err="1" smtClean="0">
                <a:solidFill>
                  <a:schemeClr val="tx1"/>
                </a:solidFill>
                <a:latin typeface="+mn-lt"/>
                <a:ea typeface="+mn-ea"/>
                <a:cs typeface="+mn-cs"/>
              </a:rPr>
              <a:t>textcolor</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endParaRPr lang="fr-FR" dirty="0"/>
          </a:p>
        </p:txBody>
      </p:sp>
      <p:sp>
        <p:nvSpPr>
          <p:cNvPr id="4" name="Espace réservé du numéro de diapositive 3"/>
          <p:cNvSpPr>
            <a:spLocks noGrp="1"/>
          </p:cNvSpPr>
          <p:nvPr>
            <p:ph type="sldNum" sz="quarter" idx="10"/>
          </p:nvPr>
        </p:nvSpPr>
        <p:spPr/>
        <p:txBody>
          <a:bodyPr/>
          <a:lstStyle/>
          <a:p>
            <a:fld id="{A5139648-5E4B-484D-B5BB-D289BC444157}" type="slidenum">
              <a:rPr lang="fr-FR" smtClean="0"/>
              <a:t>14</a:t>
            </a:fld>
            <a:endParaRPr lang="fr-FR"/>
          </a:p>
        </p:txBody>
      </p:sp>
    </p:spTree>
    <p:extLst>
      <p:ext uri="{BB962C8B-B14F-4D97-AF65-F5344CB8AC3E}">
        <p14:creationId xmlns:p14="http://schemas.microsoft.com/office/powerpoint/2010/main" val="42575360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5139648-5E4B-484D-B5BB-D289BC444157}" type="slidenum">
              <a:rPr lang="fr-FR" smtClean="0"/>
              <a:t>15</a:t>
            </a:fld>
            <a:endParaRPr lang="fr-FR"/>
          </a:p>
        </p:txBody>
      </p:sp>
    </p:spTree>
    <p:extLst>
      <p:ext uri="{BB962C8B-B14F-4D97-AF65-F5344CB8AC3E}">
        <p14:creationId xmlns:p14="http://schemas.microsoft.com/office/powerpoint/2010/main" val="2821197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5139648-5E4B-484D-B5BB-D289BC444157}" type="slidenum">
              <a:rPr lang="fr-FR" smtClean="0"/>
              <a:t>16</a:t>
            </a:fld>
            <a:endParaRPr lang="fr-FR"/>
          </a:p>
        </p:txBody>
      </p:sp>
    </p:spTree>
    <p:extLst>
      <p:ext uri="{BB962C8B-B14F-4D97-AF65-F5344CB8AC3E}">
        <p14:creationId xmlns:p14="http://schemas.microsoft.com/office/powerpoint/2010/main" val="41547272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Code Behind: </a:t>
            </a:r>
          </a:p>
          <a:p>
            <a:endParaRPr lang="fr-FR" dirty="0" smtClean="0"/>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internal</a:t>
            </a:r>
            <a:r>
              <a:rPr lang="fr-FR" sz="1200" kern="1200" dirty="0" smtClean="0">
                <a:solidFill>
                  <a:schemeClr val="tx1"/>
                </a:solidFill>
                <a:latin typeface="+mn-lt"/>
                <a:ea typeface="+mn-ea"/>
                <a:cs typeface="+mn-cs"/>
              </a:rPr>
              <a:t> class Validation : </a:t>
            </a:r>
            <a:r>
              <a:rPr lang="fr-FR" sz="1200" kern="1200" dirty="0" err="1" smtClean="0">
                <a:solidFill>
                  <a:schemeClr val="tx1"/>
                </a:solidFill>
                <a:latin typeface="+mn-lt"/>
                <a:ea typeface="+mn-ea"/>
                <a:cs typeface="+mn-cs"/>
              </a:rPr>
              <a:t>BindableObject</a:t>
            </a:r>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public static bool </a:t>
            </a:r>
            <a:r>
              <a:rPr lang="en-US" sz="1200" kern="1200" dirty="0" err="1" smtClean="0">
                <a:solidFill>
                  <a:schemeClr val="tx1"/>
                </a:solidFill>
                <a:latin typeface="+mn-lt"/>
                <a:ea typeface="+mn-ea"/>
                <a:cs typeface="+mn-cs"/>
              </a:rPr>
              <a:t>GetMailValidation</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BindableObject</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obj</a:t>
            </a:r>
            <a:r>
              <a:rPr lang="en-US"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return (</a:t>
            </a:r>
            <a:r>
              <a:rPr lang="fr-FR" sz="1200" kern="1200" dirty="0" err="1" smtClean="0">
                <a:solidFill>
                  <a:schemeClr val="tx1"/>
                </a:solidFill>
                <a:latin typeface="+mn-lt"/>
                <a:ea typeface="+mn-ea"/>
                <a:cs typeface="+mn-cs"/>
              </a:rPr>
              <a:t>bool</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obj.GetValue</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MailValidationProperty</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endParaRPr lang="fr-FR"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public static void </a:t>
            </a:r>
            <a:r>
              <a:rPr lang="en-US" sz="1200" kern="1200" dirty="0" err="1" smtClean="0">
                <a:solidFill>
                  <a:schemeClr val="tx1"/>
                </a:solidFill>
                <a:latin typeface="+mn-lt"/>
                <a:ea typeface="+mn-ea"/>
                <a:cs typeface="+mn-cs"/>
              </a:rPr>
              <a:t>SetMailValidation</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BindableObject</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obj</a:t>
            </a:r>
            <a:r>
              <a:rPr lang="en-US" sz="1200" kern="1200" dirty="0" smtClean="0">
                <a:solidFill>
                  <a:schemeClr val="tx1"/>
                </a:solidFill>
                <a:latin typeface="+mn-lt"/>
                <a:ea typeface="+mn-ea"/>
                <a:cs typeface="+mn-cs"/>
              </a:rPr>
              <a:t>, bool value)</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obj.SetValue</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MailValidationProperty</a:t>
            </a:r>
            <a:r>
              <a:rPr lang="fr-FR" sz="1200" kern="1200" dirty="0" smtClean="0">
                <a:solidFill>
                  <a:schemeClr val="tx1"/>
                </a:solidFill>
                <a:latin typeface="+mn-lt"/>
                <a:ea typeface="+mn-ea"/>
                <a:cs typeface="+mn-cs"/>
              </a:rPr>
              <a:t>, value);</a:t>
            </a:r>
          </a:p>
          <a:p>
            <a:r>
              <a:rPr lang="fr-FR" sz="1200" kern="1200" dirty="0" smtClean="0">
                <a:solidFill>
                  <a:schemeClr val="tx1"/>
                </a:solidFill>
                <a:latin typeface="+mn-lt"/>
                <a:ea typeface="+mn-ea"/>
                <a:cs typeface="+mn-cs"/>
              </a:rPr>
              <a:t>        }</a:t>
            </a:r>
          </a:p>
          <a:p>
            <a:endParaRPr lang="fr-FR"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public static readonly BindableProperty </a:t>
            </a:r>
            <a:r>
              <a:rPr lang="en-US" sz="1200" kern="1200" dirty="0" err="1" smtClean="0">
                <a:solidFill>
                  <a:schemeClr val="tx1"/>
                </a:solidFill>
                <a:latin typeface="+mn-lt"/>
                <a:ea typeface="+mn-ea"/>
                <a:cs typeface="+mn-cs"/>
              </a:rPr>
              <a:t>MailValidationProperty</a:t>
            </a:r>
            <a:r>
              <a:rPr lang="en-US"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BindableProperty.CreateAttached</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MailValidation</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typeof</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bool</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typeof</a:t>
            </a:r>
            <a:r>
              <a:rPr lang="fr-FR" sz="1200" kern="1200" dirty="0" smtClean="0">
                <a:solidFill>
                  <a:schemeClr val="tx1"/>
                </a:solidFill>
                <a:latin typeface="+mn-lt"/>
                <a:ea typeface="+mn-ea"/>
                <a:cs typeface="+mn-cs"/>
              </a:rPr>
              <a:t>(Entry),</a:t>
            </a:r>
          </a:p>
          <a:p>
            <a:r>
              <a:rPr lang="fr-FR" sz="1200" kern="1200" dirty="0" smtClean="0">
                <a:solidFill>
                  <a:schemeClr val="tx1"/>
                </a:solidFill>
                <a:latin typeface="+mn-lt"/>
                <a:ea typeface="+mn-ea"/>
                <a:cs typeface="+mn-cs"/>
              </a:rPr>
              <a:t>                false, </a:t>
            </a:r>
            <a:r>
              <a:rPr lang="fr-FR" sz="1200" kern="1200" dirty="0" err="1" smtClean="0">
                <a:solidFill>
                  <a:schemeClr val="tx1"/>
                </a:solidFill>
                <a:latin typeface="+mn-lt"/>
                <a:ea typeface="+mn-ea"/>
                <a:cs typeface="+mn-cs"/>
              </a:rPr>
              <a:t>propertyChanged</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OnVerifyMailCallBack</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static private </a:t>
            </a:r>
            <a:r>
              <a:rPr lang="fr-FR" sz="1200" kern="1200" dirty="0" err="1" smtClean="0">
                <a:solidFill>
                  <a:schemeClr val="tx1"/>
                </a:solidFill>
                <a:latin typeface="+mn-lt"/>
                <a:ea typeface="+mn-ea"/>
                <a:cs typeface="+mn-cs"/>
              </a:rPr>
              <a:t>void</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OnVerifyMailCallBack</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BindableObject</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bindable</a:t>
            </a:r>
            <a:r>
              <a:rPr lang="fr-FR" sz="1200" kern="1200" dirty="0" smtClean="0">
                <a:solidFill>
                  <a:schemeClr val="tx1"/>
                </a:solidFill>
                <a:latin typeface="+mn-lt"/>
                <a:ea typeface="+mn-ea"/>
                <a:cs typeface="+mn-cs"/>
              </a:rPr>
              <a:t>, object </a:t>
            </a:r>
            <a:r>
              <a:rPr lang="fr-FR" sz="1200" kern="1200" dirty="0" err="1" smtClean="0">
                <a:solidFill>
                  <a:schemeClr val="tx1"/>
                </a:solidFill>
                <a:latin typeface="+mn-lt"/>
                <a:ea typeface="+mn-ea"/>
                <a:cs typeface="+mn-cs"/>
              </a:rPr>
              <a:t>oldvalue,object</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newvalue</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Entry </a:t>
            </a:r>
            <a:r>
              <a:rPr lang="fr-FR" sz="1200" kern="1200" dirty="0" err="1" smtClean="0">
                <a:solidFill>
                  <a:schemeClr val="tx1"/>
                </a:solidFill>
                <a:latin typeface="+mn-lt"/>
                <a:ea typeface="+mn-ea"/>
                <a:cs typeface="+mn-cs"/>
              </a:rPr>
              <a:t>entry</a:t>
            </a:r>
            <a:r>
              <a:rPr lang="fr-FR" sz="1200" kern="1200" dirty="0" smtClean="0">
                <a:solidFill>
                  <a:schemeClr val="tx1"/>
                </a:solidFill>
                <a:latin typeface="+mn-lt"/>
                <a:ea typeface="+mn-ea"/>
                <a:cs typeface="+mn-cs"/>
              </a:rPr>
              <a:t> = (Entry)</a:t>
            </a:r>
            <a:r>
              <a:rPr lang="fr-FR" sz="1200" kern="1200" dirty="0" err="1" smtClean="0">
                <a:solidFill>
                  <a:schemeClr val="tx1"/>
                </a:solidFill>
                <a:latin typeface="+mn-lt"/>
                <a:ea typeface="+mn-ea"/>
                <a:cs typeface="+mn-cs"/>
              </a:rPr>
              <a:t>bindable</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entry.BackgroundColor</a:t>
            </a:r>
            <a:r>
              <a:rPr lang="fr-FR" sz="1200" kern="1200" dirty="0" smtClean="0">
                <a:solidFill>
                  <a:schemeClr val="tx1"/>
                </a:solidFill>
                <a:latin typeface="+mn-lt"/>
                <a:ea typeface="+mn-ea"/>
                <a:cs typeface="+mn-cs"/>
              </a:rPr>
              <a:t> = </a:t>
            </a:r>
            <a:r>
              <a:rPr lang="fr-FR" sz="1200" kern="1200" dirty="0" err="1" smtClean="0">
                <a:solidFill>
                  <a:schemeClr val="tx1"/>
                </a:solidFill>
                <a:latin typeface="+mn-lt"/>
                <a:ea typeface="+mn-ea"/>
                <a:cs typeface="+mn-cs"/>
              </a:rPr>
              <a:t>Colors.White</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entry.Unfocused</a:t>
            </a:r>
            <a:r>
              <a:rPr lang="fr-FR" sz="1200" kern="1200" dirty="0" smtClean="0">
                <a:solidFill>
                  <a:schemeClr val="tx1"/>
                </a:solidFill>
                <a:latin typeface="+mn-lt"/>
                <a:ea typeface="+mn-ea"/>
                <a:cs typeface="+mn-cs"/>
              </a:rPr>
              <a:t> += (s, </a:t>
            </a:r>
            <a:r>
              <a:rPr lang="fr-FR" sz="1200" kern="1200" dirty="0" err="1" smtClean="0">
                <a:solidFill>
                  <a:schemeClr val="tx1"/>
                </a:solidFill>
                <a:latin typeface="+mn-lt"/>
                <a:ea typeface="+mn-ea"/>
                <a:cs typeface="+mn-cs"/>
              </a:rPr>
              <a:t>arg</a:t>
            </a:r>
            <a:r>
              <a:rPr lang="fr-FR" sz="1200" kern="1200" dirty="0" smtClean="0">
                <a:solidFill>
                  <a:schemeClr val="tx1"/>
                </a:solidFill>
                <a:latin typeface="+mn-lt"/>
                <a:ea typeface="+mn-ea"/>
                <a:cs typeface="+mn-cs"/>
              </a:rPr>
              <a:t>) =&gt;</a:t>
            </a:r>
          </a:p>
          <a:p>
            <a:r>
              <a:rPr lang="fr-FR" sz="1200" kern="1200" dirty="0" smtClean="0">
                <a:solidFill>
                  <a:schemeClr val="tx1"/>
                </a:solidFill>
                <a:latin typeface="+mn-lt"/>
                <a:ea typeface="+mn-ea"/>
                <a:cs typeface="+mn-cs"/>
              </a:rPr>
              <a:t>            {</a:t>
            </a:r>
          </a:p>
          <a:p>
            <a:r>
              <a:rPr lang="pt-BR" sz="1200" kern="1200" dirty="0" smtClean="0">
                <a:solidFill>
                  <a:schemeClr val="tx1"/>
                </a:solidFill>
                <a:latin typeface="+mn-lt"/>
                <a:ea typeface="+mn-ea"/>
                <a:cs typeface="+mn-cs"/>
              </a:rPr>
              <a:t>                Entry e = s as Entry;</a:t>
            </a:r>
          </a:p>
          <a:p>
            <a:r>
              <a:rPr lang="fr-FR" sz="1200" kern="1200" dirty="0" smtClean="0">
                <a:solidFill>
                  <a:schemeClr val="tx1"/>
                </a:solidFill>
                <a:latin typeface="+mn-lt"/>
                <a:ea typeface="+mn-ea"/>
                <a:cs typeface="+mn-cs"/>
              </a:rPr>
              <a:t>                if (</a:t>
            </a:r>
            <a:r>
              <a:rPr lang="fr-FR" sz="1200" kern="1200" dirty="0" err="1" smtClean="0">
                <a:solidFill>
                  <a:schemeClr val="tx1"/>
                </a:solidFill>
                <a:latin typeface="+mn-lt"/>
                <a:ea typeface="+mn-ea"/>
                <a:cs typeface="+mn-cs"/>
              </a:rPr>
              <a:t>string.IsNullOrEmpty</a:t>
            </a:r>
            <a:r>
              <a:rPr lang="fr-FR" sz="1200" kern="1200" dirty="0" smtClean="0">
                <a:solidFill>
                  <a:schemeClr val="tx1"/>
                </a:solidFill>
                <a:latin typeface="+mn-lt"/>
                <a:ea typeface="+mn-ea"/>
                <a:cs typeface="+mn-cs"/>
              </a:rPr>
              <a:t>(</a:t>
            </a:r>
            <a:r>
              <a:rPr lang="fr-FR" sz="1200" kern="1200" dirty="0" err="1" smtClean="0">
                <a:solidFill>
                  <a:schemeClr val="tx1"/>
                </a:solidFill>
                <a:latin typeface="+mn-lt"/>
                <a:ea typeface="+mn-ea"/>
                <a:cs typeface="+mn-cs"/>
              </a:rPr>
              <a:t>e.Text</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e.BackgroundColor</a:t>
            </a:r>
            <a:r>
              <a:rPr lang="fr-FR" sz="1200" kern="1200" dirty="0" smtClean="0">
                <a:solidFill>
                  <a:schemeClr val="tx1"/>
                </a:solidFill>
                <a:latin typeface="+mn-lt"/>
                <a:ea typeface="+mn-ea"/>
                <a:cs typeface="+mn-cs"/>
              </a:rPr>
              <a:t> = </a:t>
            </a:r>
            <a:r>
              <a:rPr lang="fr-FR" sz="1200" kern="1200" dirty="0" err="1" smtClean="0">
                <a:solidFill>
                  <a:schemeClr val="tx1"/>
                </a:solidFill>
                <a:latin typeface="+mn-lt"/>
                <a:ea typeface="+mn-ea"/>
                <a:cs typeface="+mn-cs"/>
              </a:rPr>
              <a:t>Colors.Red</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else</a:t>
            </a:r>
          </a:p>
          <a:p>
            <a:r>
              <a:rPr lang="fr-FR"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if (</a:t>
            </a:r>
            <a:r>
              <a:rPr lang="en-US" sz="1200" kern="1200" dirty="0" err="1" smtClean="0">
                <a:solidFill>
                  <a:schemeClr val="tx1"/>
                </a:solidFill>
                <a:latin typeface="+mn-lt"/>
                <a:ea typeface="+mn-ea"/>
                <a:cs typeface="+mn-cs"/>
              </a:rPr>
              <a:t>Regex.IsMatch</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e.Text</a:t>
            </a:r>
            <a:r>
              <a:rPr lang="en-US" sz="1200" kern="1200" dirty="0" smtClean="0">
                <a:solidFill>
                  <a:schemeClr val="tx1"/>
                </a:solidFill>
                <a:latin typeface="+mn-lt"/>
                <a:ea typeface="+mn-ea"/>
                <a:cs typeface="+mn-cs"/>
              </a:rPr>
              <a:t>, @"^([\w-\.]+)@((\[[0-9]{1,3}\.[0-9]{1,3}\.[0-9]{1,3}\.)|(([\w-]+\.)+))([a-</a:t>
            </a:r>
            <a:r>
              <a:rPr lang="en-US" sz="1200" kern="1200" dirty="0" err="1" smtClean="0">
                <a:solidFill>
                  <a:schemeClr val="tx1"/>
                </a:solidFill>
                <a:latin typeface="+mn-lt"/>
                <a:ea typeface="+mn-ea"/>
                <a:cs typeface="+mn-cs"/>
              </a:rPr>
              <a:t>zA</a:t>
            </a:r>
            <a:r>
              <a:rPr lang="en-US" sz="1200" kern="1200" dirty="0" smtClean="0">
                <a:solidFill>
                  <a:schemeClr val="tx1"/>
                </a:solidFill>
                <a:latin typeface="+mn-lt"/>
                <a:ea typeface="+mn-ea"/>
                <a:cs typeface="+mn-cs"/>
              </a:rPr>
              <a:t>-Z]{2,4}|[0-9]{1,3})(\]?)$"))</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e.BackgroundColor</a:t>
            </a:r>
            <a:r>
              <a:rPr lang="fr-FR" sz="1200" kern="1200" dirty="0" smtClean="0">
                <a:solidFill>
                  <a:schemeClr val="tx1"/>
                </a:solidFill>
                <a:latin typeface="+mn-lt"/>
                <a:ea typeface="+mn-ea"/>
                <a:cs typeface="+mn-cs"/>
              </a:rPr>
              <a:t> = </a:t>
            </a:r>
            <a:r>
              <a:rPr lang="fr-FR" sz="1200" kern="1200" dirty="0" err="1" smtClean="0">
                <a:solidFill>
                  <a:schemeClr val="tx1"/>
                </a:solidFill>
                <a:latin typeface="+mn-lt"/>
                <a:ea typeface="+mn-ea"/>
                <a:cs typeface="+mn-cs"/>
              </a:rPr>
              <a:t>Colors.White</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else</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e.BackgroundColor</a:t>
            </a:r>
            <a:r>
              <a:rPr lang="fr-FR" sz="1200" kern="1200" dirty="0" smtClean="0">
                <a:solidFill>
                  <a:schemeClr val="tx1"/>
                </a:solidFill>
                <a:latin typeface="+mn-lt"/>
                <a:ea typeface="+mn-ea"/>
                <a:cs typeface="+mn-cs"/>
              </a:rPr>
              <a:t> = </a:t>
            </a:r>
            <a:r>
              <a:rPr lang="fr-FR" sz="1200" kern="1200" dirty="0" err="1" smtClean="0">
                <a:solidFill>
                  <a:schemeClr val="tx1"/>
                </a:solidFill>
                <a:latin typeface="+mn-lt"/>
                <a:ea typeface="+mn-ea"/>
                <a:cs typeface="+mn-cs"/>
              </a:rPr>
              <a:t>Colors.Red</a:t>
            </a:r>
            <a:r>
              <a:rPr lang="fr-FR" sz="1200" kern="1200" dirty="0" smtClean="0">
                <a:solidFill>
                  <a:schemeClr val="tx1"/>
                </a:solidFill>
                <a:latin typeface="+mn-lt"/>
                <a:ea typeface="+mn-ea"/>
                <a:cs typeface="+mn-cs"/>
              </a:rPr>
              <a:t>;</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Code XAML: </a:t>
            </a:r>
          </a:p>
          <a:p>
            <a:endParaRPr lang="fr-FR" sz="1200" kern="1200" dirty="0" smtClean="0">
              <a:solidFill>
                <a:schemeClr val="tx1"/>
              </a:solidFill>
              <a:latin typeface="+mn-lt"/>
              <a:ea typeface="+mn-ea"/>
              <a:cs typeface="+mn-cs"/>
            </a:endParaRPr>
          </a:p>
          <a:p>
            <a:endParaRPr lang="fr-FR" sz="1200" kern="1200" dirty="0" smtClean="0">
              <a:solidFill>
                <a:schemeClr val="tx1"/>
              </a:solidFill>
              <a:latin typeface="+mn-lt"/>
              <a:ea typeface="+mn-ea"/>
              <a:cs typeface="+mn-cs"/>
            </a:endParaRP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StackLayout</a:t>
            </a:r>
            <a:r>
              <a:rPr lang="fr-FR" sz="1200" kern="1200" dirty="0" smtClean="0">
                <a:solidFill>
                  <a:schemeClr val="tx1"/>
                </a:solidFill>
                <a:latin typeface="+mn-lt"/>
                <a:ea typeface="+mn-ea"/>
                <a:cs typeface="+mn-cs"/>
              </a:rPr>
              <a:t> &gt;</a:t>
            </a:r>
          </a:p>
          <a:p>
            <a:r>
              <a:rPr lang="fr-FR" sz="1200" kern="1200" dirty="0" smtClean="0">
                <a:solidFill>
                  <a:schemeClr val="tx1"/>
                </a:solidFill>
                <a:latin typeface="+mn-lt"/>
                <a:ea typeface="+mn-ea"/>
                <a:cs typeface="+mn-cs"/>
              </a:rPr>
              <a:t>        &lt;Grid </a:t>
            </a:r>
            <a:r>
              <a:rPr lang="fr-FR" sz="1200" kern="1200" dirty="0" err="1" smtClean="0">
                <a:solidFill>
                  <a:schemeClr val="tx1"/>
                </a:solidFill>
                <a:latin typeface="+mn-lt"/>
                <a:ea typeface="+mn-ea"/>
                <a:cs typeface="+mn-cs"/>
              </a:rPr>
              <a:t>HorizontalOptions</a:t>
            </a:r>
            <a:r>
              <a:rPr lang="fr-FR" sz="1200" kern="1200" dirty="0" smtClean="0">
                <a:solidFill>
                  <a:schemeClr val="tx1"/>
                </a:solidFill>
                <a:latin typeface="+mn-lt"/>
                <a:ea typeface="+mn-ea"/>
                <a:cs typeface="+mn-cs"/>
              </a:rPr>
              <a:t>="Center"&gt;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Grid.ColumnDefinitions</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ColumnDefinition</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Width</a:t>
            </a:r>
            <a:r>
              <a:rPr lang="fr-FR" sz="1200" kern="1200" dirty="0" smtClean="0">
                <a:solidFill>
                  <a:schemeClr val="tx1"/>
                </a:solidFill>
                <a:latin typeface="+mn-lt"/>
                <a:ea typeface="+mn-ea"/>
                <a:cs typeface="+mn-cs"/>
              </a:rPr>
              <a:t>="1*" /&gt;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ColumnDefinition</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Width</a:t>
            </a:r>
            <a:r>
              <a:rPr lang="fr-FR" sz="1200" kern="1200" dirty="0" smtClean="0">
                <a:solidFill>
                  <a:schemeClr val="tx1"/>
                </a:solidFill>
                <a:latin typeface="+mn-lt"/>
                <a:ea typeface="+mn-ea"/>
                <a:cs typeface="+mn-cs"/>
              </a:rPr>
              <a:t>="1*" /&gt;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Grid.ColumnDefinitions</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Grid.RowDefinitions</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RowDefinition</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Height</a:t>
            </a:r>
            <a:r>
              <a:rPr lang="fr-FR" sz="1200" kern="1200" dirty="0" smtClean="0">
                <a:solidFill>
                  <a:schemeClr val="tx1"/>
                </a:solidFill>
                <a:latin typeface="+mn-lt"/>
                <a:ea typeface="+mn-ea"/>
                <a:cs typeface="+mn-cs"/>
              </a:rPr>
              <a:t>="1*" /&gt;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RowDefinition</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Height</a:t>
            </a:r>
            <a:r>
              <a:rPr lang="fr-FR" sz="1200" kern="1200" dirty="0" smtClean="0">
                <a:solidFill>
                  <a:schemeClr val="tx1"/>
                </a:solidFill>
                <a:latin typeface="+mn-lt"/>
                <a:ea typeface="+mn-ea"/>
                <a:cs typeface="+mn-cs"/>
              </a:rPr>
              <a:t>="1*" /&gt;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RowDefinition</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Height</a:t>
            </a:r>
            <a:r>
              <a:rPr lang="fr-FR" sz="1200" kern="1200" dirty="0" smtClean="0">
                <a:solidFill>
                  <a:schemeClr val="tx1"/>
                </a:solidFill>
                <a:latin typeface="+mn-lt"/>
                <a:ea typeface="+mn-ea"/>
                <a:cs typeface="+mn-cs"/>
              </a:rPr>
              <a:t>="1*" /&gt;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RowDefinition</a:t>
            </a:r>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Height</a:t>
            </a:r>
            <a:r>
              <a:rPr lang="fr-FR" sz="1200" kern="1200" dirty="0" smtClean="0">
                <a:solidFill>
                  <a:schemeClr val="tx1"/>
                </a:solidFill>
                <a:latin typeface="+mn-lt"/>
                <a:ea typeface="+mn-ea"/>
                <a:cs typeface="+mn-cs"/>
              </a:rPr>
              <a:t>="1*" /&gt;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Grid.RowDefinitions</a:t>
            </a:r>
            <a:r>
              <a:rPr lang="fr-FR" sz="1200" kern="1200" dirty="0" smtClean="0">
                <a:solidFill>
                  <a:schemeClr val="tx1"/>
                </a:solidFill>
                <a:latin typeface="+mn-lt"/>
                <a:ea typeface="+mn-ea"/>
                <a:cs typeface="+mn-cs"/>
              </a:rPr>
              <a:t>&gt;</a:t>
            </a:r>
          </a:p>
          <a:p>
            <a:r>
              <a:rPr lang="fr-FR" sz="1200" kern="1200" dirty="0" smtClean="0">
                <a:solidFill>
                  <a:schemeClr val="tx1"/>
                </a:solidFill>
                <a:latin typeface="+mn-lt"/>
                <a:ea typeface="+mn-ea"/>
                <a:cs typeface="+mn-cs"/>
              </a:rPr>
              <a:t>            &lt;Label Text="Vérification de mail" </a:t>
            </a:r>
            <a:r>
              <a:rPr lang="fr-FR" sz="1200" kern="1200" dirty="0" err="1" smtClean="0">
                <a:solidFill>
                  <a:schemeClr val="tx1"/>
                </a:solidFill>
                <a:latin typeface="+mn-lt"/>
                <a:ea typeface="+mn-ea"/>
                <a:cs typeface="+mn-cs"/>
              </a:rPr>
              <a:t>Grid.ColumnSpan</a:t>
            </a:r>
            <a:r>
              <a:rPr lang="fr-FR" sz="1200" kern="1200" dirty="0" smtClean="0">
                <a:solidFill>
                  <a:schemeClr val="tx1"/>
                </a:solidFill>
                <a:latin typeface="+mn-lt"/>
                <a:ea typeface="+mn-ea"/>
                <a:cs typeface="+mn-cs"/>
              </a:rPr>
              <a:t>="2" </a:t>
            </a:r>
            <a:r>
              <a:rPr lang="fr-FR" sz="1200" kern="1200" dirty="0" err="1" smtClean="0">
                <a:solidFill>
                  <a:schemeClr val="tx1"/>
                </a:solidFill>
                <a:latin typeface="+mn-lt"/>
                <a:ea typeface="+mn-ea"/>
                <a:cs typeface="+mn-cs"/>
              </a:rPr>
              <a:t>FontSize</a:t>
            </a:r>
            <a:r>
              <a:rPr lang="fr-FR" sz="1200" kern="1200" dirty="0" smtClean="0">
                <a:solidFill>
                  <a:schemeClr val="tx1"/>
                </a:solidFill>
                <a:latin typeface="+mn-lt"/>
                <a:ea typeface="+mn-ea"/>
                <a:cs typeface="+mn-cs"/>
              </a:rPr>
              <a:t>="35" </a:t>
            </a:r>
            <a:r>
              <a:rPr lang="fr-FR" sz="1200" kern="1200" dirty="0" err="1" smtClean="0">
                <a:solidFill>
                  <a:schemeClr val="tx1"/>
                </a:solidFill>
                <a:latin typeface="+mn-lt"/>
                <a:ea typeface="+mn-ea"/>
                <a:cs typeface="+mn-cs"/>
              </a:rPr>
              <a:t>HorizontalOptions</a:t>
            </a:r>
            <a:r>
              <a:rPr lang="fr-FR" sz="1200" kern="1200" dirty="0" smtClean="0">
                <a:solidFill>
                  <a:schemeClr val="tx1"/>
                </a:solidFill>
                <a:latin typeface="+mn-lt"/>
                <a:ea typeface="+mn-ea"/>
                <a:cs typeface="+mn-cs"/>
              </a:rPr>
              <a:t>="Center" /&gt;</a:t>
            </a:r>
          </a:p>
          <a:p>
            <a:r>
              <a:rPr lang="fr-FR" sz="1200" kern="1200" dirty="0" smtClean="0">
                <a:solidFill>
                  <a:schemeClr val="tx1"/>
                </a:solidFill>
                <a:latin typeface="+mn-lt"/>
                <a:ea typeface="+mn-ea"/>
                <a:cs typeface="+mn-cs"/>
              </a:rPr>
              <a:t>            &lt;Label Text="Entrer le mail: "</a:t>
            </a:r>
          </a:p>
          <a:p>
            <a:r>
              <a:rPr lang="fr-FR" sz="1200" kern="1200" dirty="0" smtClean="0">
                <a:solidFill>
                  <a:schemeClr val="tx1"/>
                </a:solidFill>
                <a:latin typeface="+mn-lt"/>
                <a:ea typeface="+mn-ea"/>
                <a:cs typeface="+mn-cs"/>
              </a:rPr>
              <a:t>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Grid.Row</a:t>
            </a:r>
            <a:r>
              <a:rPr lang="fr-FR" sz="1200" kern="1200" dirty="0" smtClean="0">
                <a:solidFill>
                  <a:schemeClr val="tx1"/>
                </a:solidFill>
                <a:latin typeface="+mn-lt"/>
                <a:ea typeface="+mn-ea"/>
                <a:cs typeface="+mn-cs"/>
              </a:rPr>
              <a:t>="1" </a:t>
            </a:r>
            <a:r>
              <a:rPr lang="fr-FR" sz="1200" kern="1200" dirty="0" err="1" smtClean="0">
                <a:solidFill>
                  <a:schemeClr val="tx1"/>
                </a:solidFill>
                <a:latin typeface="+mn-lt"/>
                <a:ea typeface="+mn-ea"/>
                <a:cs typeface="+mn-cs"/>
              </a:rPr>
              <a:t>FontSize</a:t>
            </a:r>
            <a:r>
              <a:rPr lang="fr-FR" sz="1200" kern="1200" dirty="0" smtClean="0">
                <a:solidFill>
                  <a:schemeClr val="tx1"/>
                </a:solidFill>
                <a:latin typeface="+mn-lt"/>
                <a:ea typeface="+mn-ea"/>
                <a:cs typeface="+mn-cs"/>
              </a:rPr>
              <a:t>="20" </a:t>
            </a:r>
            <a:r>
              <a:rPr lang="fr-FR" sz="1200" kern="1200" dirty="0" err="1" smtClean="0">
                <a:solidFill>
                  <a:schemeClr val="tx1"/>
                </a:solidFill>
                <a:latin typeface="+mn-lt"/>
                <a:ea typeface="+mn-ea"/>
                <a:cs typeface="+mn-cs"/>
              </a:rPr>
              <a:t>VerticalOptions</a:t>
            </a:r>
            <a:r>
              <a:rPr lang="fr-FR" sz="1200" kern="1200" dirty="0" smtClean="0">
                <a:solidFill>
                  <a:schemeClr val="tx1"/>
                </a:solidFill>
                <a:latin typeface="+mn-lt"/>
                <a:ea typeface="+mn-ea"/>
                <a:cs typeface="+mn-cs"/>
              </a:rPr>
              <a:t>="Center" </a:t>
            </a:r>
            <a:r>
              <a:rPr lang="fr-FR" sz="1200" kern="1200" dirty="0" err="1" smtClean="0">
                <a:solidFill>
                  <a:schemeClr val="tx1"/>
                </a:solidFill>
                <a:latin typeface="+mn-lt"/>
                <a:ea typeface="+mn-ea"/>
                <a:cs typeface="+mn-cs"/>
              </a:rPr>
              <a:t>Margin</a:t>
            </a:r>
            <a:r>
              <a:rPr lang="fr-FR" sz="1200" kern="1200" dirty="0" smtClean="0">
                <a:solidFill>
                  <a:schemeClr val="tx1"/>
                </a:solidFill>
                <a:latin typeface="+mn-lt"/>
                <a:ea typeface="+mn-ea"/>
                <a:cs typeface="+mn-cs"/>
              </a:rPr>
              <a:t>="0,0,5,0"/&gt;</a:t>
            </a:r>
          </a:p>
          <a:p>
            <a:r>
              <a:rPr lang="en-US" sz="1200" kern="1200" dirty="0" smtClean="0">
                <a:solidFill>
                  <a:schemeClr val="tx1"/>
                </a:solidFill>
                <a:latin typeface="+mn-lt"/>
                <a:ea typeface="+mn-ea"/>
                <a:cs typeface="+mn-cs"/>
              </a:rPr>
              <a:t>            &lt;Entry </a:t>
            </a:r>
            <a:r>
              <a:rPr lang="en-US" sz="1200" kern="1200" dirty="0" err="1" smtClean="0">
                <a:solidFill>
                  <a:schemeClr val="tx1"/>
                </a:solidFill>
                <a:latin typeface="+mn-lt"/>
                <a:ea typeface="+mn-ea"/>
                <a:cs typeface="+mn-cs"/>
              </a:rPr>
              <a:t>Grid.Row</a:t>
            </a:r>
            <a:r>
              <a:rPr lang="en-US" sz="1200" kern="1200" dirty="0" smtClean="0">
                <a:solidFill>
                  <a:schemeClr val="tx1"/>
                </a:solidFill>
                <a:latin typeface="+mn-lt"/>
                <a:ea typeface="+mn-ea"/>
                <a:cs typeface="+mn-cs"/>
              </a:rPr>
              <a:t>="1" </a:t>
            </a:r>
            <a:r>
              <a:rPr lang="en-US" sz="1200" kern="1200" dirty="0" err="1" smtClean="0">
                <a:solidFill>
                  <a:schemeClr val="tx1"/>
                </a:solidFill>
                <a:latin typeface="+mn-lt"/>
                <a:ea typeface="+mn-ea"/>
                <a:cs typeface="+mn-cs"/>
              </a:rPr>
              <a:t>Grid.Column</a:t>
            </a:r>
            <a:r>
              <a:rPr lang="en-US" sz="1200" kern="1200" dirty="0" smtClean="0">
                <a:solidFill>
                  <a:schemeClr val="tx1"/>
                </a:solidFill>
                <a:latin typeface="+mn-lt"/>
                <a:ea typeface="+mn-ea"/>
                <a:cs typeface="+mn-cs"/>
              </a:rPr>
              <a:t>="1"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local:Validation.MailValidation</a:t>
            </a:r>
            <a:r>
              <a:rPr lang="fr-FR" sz="1200" kern="1200" dirty="0" smtClean="0">
                <a:solidFill>
                  <a:schemeClr val="tx1"/>
                </a:solidFill>
                <a:latin typeface="+mn-lt"/>
                <a:ea typeface="+mn-ea"/>
                <a:cs typeface="+mn-cs"/>
              </a:rPr>
              <a:t>="True"</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FontSize</a:t>
            </a:r>
            <a:r>
              <a:rPr lang="fr-FR" sz="1200" kern="1200" dirty="0" smtClean="0">
                <a:solidFill>
                  <a:schemeClr val="tx1"/>
                </a:solidFill>
                <a:latin typeface="+mn-lt"/>
                <a:ea typeface="+mn-ea"/>
                <a:cs typeface="+mn-cs"/>
              </a:rPr>
              <a:t>="20"   </a:t>
            </a:r>
            <a:r>
              <a:rPr lang="fr-FR" sz="1200" kern="1200" dirty="0" err="1" smtClean="0">
                <a:solidFill>
                  <a:schemeClr val="tx1"/>
                </a:solidFill>
                <a:latin typeface="+mn-lt"/>
                <a:ea typeface="+mn-ea"/>
                <a:cs typeface="+mn-cs"/>
              </a:rPr>
              <a:t>WidthRequest</a:t>
            </a:r>
            <a:r>
              <a:rPr lang="fr-FR" sz="1200" kern="1200" dirty="0" smtClean="0">
                <a:solidFill>
                  <a:schemeClr val="tx1"/>
                </a:solidFill>
                <a:latin typeface="+mn-lt"/>
                <a:ea typeface="+mn-ea"/>
                <a:cs typeface="+mn-cs"/>
              </a:rPr>
              <a:t>="250"/&gt;</a:t>
            </a:r>
          </a:p>
          <a:p>
            <a:r>
              <a:rPr lang="en-US" sz="1200" kern="1200" dirty="0" smtClean="0">
                <a:solidFill>
                  <a:schemeClr val="tx1"/>
                </a:solidFill>
                <a:latin typeface="+mn-lt"/>
                <a:ea typeface="+mn-ea"/>
                <a:cs typeface="+mn-cs"/>
              </a:rPr>
              <a:t>            &lt;Entry </a:t>
            </a:r>
            <a:r>
              <a:rPr lang="en-US" sz="1200" kern="1200" dirty="0" err="1" smtClean="0">
                <a:solidFill>
                  <a:schemeClr val="tx1"/>
                </a:solidFill>
                <a:latin typeface="+mn-lt"/>
                <a:ea typeface="+mn-ea"/>
                <a:cs typeface="+mn-cs"/>
              </a:rPr>
              <a:t>Grid.Row</a:t>
            </a:r>
            <a:r>
              <a:rPr lang="en-US" sz="1200" kern="1200" dirty="0" smtClean="0">
                <a:solidFill>
                  <a:schemeClr val="tx1"/>
                </a:solidFill>
                <a:latin typeface="+mn-lt"/>
                <a:ea typeface="+mn-ea"/>
                <a:cs typeface="+mn-cs"/>
              </a:rPr>
              <a:t>="2" </a:t>
            </a:r>
            <a:r>
              <a:rPr lang="en-US" sz="1200" kern="1200" dirty="0" err="1" smtClean="0">
                <a:solidFill>
                  <a:schemeClr val="tx1"/>
                </a:solidFill>
                <a:latin typeface="+mn-lt"/>
                <a:ea typeface="+mn-ea"/>
                <a:cs typeface="+mn-cs"/>
              </a:rPr>
              <a:t>Grid.Column</a:t>
            </a:r>
            <a:r>
              <a:rPr lang="en-US" sz="1200" kern="1200" dirty="0" smtClean="0">
                <a:solidFill>
                  <a:schemeClr val="tx1"/>
                </a:solidFill>
                <a:latin typeface="+mn-lt"/>
                <a:ea typeface="+mn-ea"/>
                <a:cs typeface="+mn-cs"/>
              </a:rPr>
              <a:t>="1" </a:t>
            </a:r>
          </a:p>
          <a:p>
            <a:r>
              <a:rPr lang="fr-FR" sz="1200" kern="1200" dirty="0" smtClean="0">
                <a:solidFill>
                  <a:schemeClr val="tx1"/>
                </a:solidFill>
                <a:latin typeface="+mn-lt"/>
                <a:ea typeface="+mn-ea"/>
                <a:cs typeface="+mn-cs"/>
              </a:rPr>
              <a:t>                   </a:t>
            </a:r>
            <a:r>
              <a:rPr lang="fr-FR" sz="1200" kern="1200" dirty="0" err="1" smtClean="0">
                <a:solidFill>
                  <a:schemeClr val="tx1"/>
                </a:solidFill>
                <a:latin typeface="+mn-lt"/>
                <a:ea typeface="+mn-ea"/>
                <a:cs typeface="+mn-cs"/>
              </a:rPr>
              <a:t>FontSize</a:t>
            </a:r>
            <a:r>
              <a:rPr lang="fr-FR" sz="1200" kern="1200" dirty="0" smtClean="0">
                <a:solidFill>
                  <a:schemeClr val="tx1"/>
                </a:solidFill>
                <a:latin typeface="+mn-lt"/>
                <a:ea typeface="+mn-ea"/>
                <a:cs typeface="+mn-cs"/>
              </a:rPr>
              <a:t>="20"   </a:t>
            </a:r>
            <a:r>
              <a:rPr lang="fr-FR" sz="1200" kern="1200" dirty="0" err="1" smtClean="0">
                <a:solidFill>
                  <a:schemeClr val="tx1"/>
                </a:solidFill>
                <a:latin typeface="+mn-lt"/>
                <a:ea typeface="+mn-ea"/>
                <a:cs typeface="+mn-cs"/>
              </a:rPr>
              <a:t>WidthRequest</a:t>
            </a:r>
            <a:r>
              <a:rPr lang="fr-FR" sz="1200" kern="1200" dirty="0" smtClean="0">
                <a:solidFill>
                  <a:schemeClr val="tx1"/>
                </a:solidFill>
                <a:latin typeface="+mn-lt"/>
                <a:ea typeface="+mn-ea"/>
                <a:cs typeface="+mn-cs"/>
              </a:rPr>
              <a:t>="250"/&gt;</a:t>
            </a:r>
          </a:p>
          <a:p>
            <a:r>
              <a:rPr lang="fr-FR" sz="1200" kern="1200" dirty="0" smtClean="0">
                <a:solidFill>
                  <a:schemeClr val="tx1"/>
                </a:solidFill>
                <a:latin typeface="+mn-lt"/>
                <a:ea typeface="+mn-ea"/>
                <a:cs typeface="+mn-cs"/>
              </a:rPr>
              <a:t>        &lt;/Grid&gt;</a:t>
            </a:r>
          </a:p>
          <a:p>
            <a:r>
              <a:rPr lang="fr-FR" sz="1200" kern="1200" dirty="0" smtClean="0">
                <a:solidFill>
                  <a:schemeClr val="tx1"/>
                </a:solidFill>
                <a:latin typeface="+mn-lt"/>
                <a:ea typeface="+mn-ea"/>
                <a:cs typeface="+mn-cs"/>
              </a:rPr>
              <a:t>    &lt;/</a:t>
            </a:r>
            <a:r>
              <a:rPr lang="fr-FR" sz="1200" kern="1200" dirty="0" err="1" smtClean="0">
                <a:solidFill>
                  <a:schemeClr val="tx1"/>
                </a:solidFill>
                <a:latin typeface="+mn-lt"/>
                <a:ea typeface="+mn-ea"/>
                <a:cs typeface="+mn-cs"/>
              </a:rPr>
              <a:t>StackLayout</a:t>
            </a:r>
            <a:r>
              <a:rPr lang="fr-FR" sz="1200" kern="1200" dirty="0" smtClean="0">
                <a:solidFill>
                  <a:schemeClr val="tx1"/>
                </a:solidFill>
                <a:latin typeface="+mn-lt"/>
                <a:ea typeface="+mn-ea"/>
                <a:cs typeface="+mn-cs"/>
              </a:rPr>
              <a:t>&gt;</a:t>
            </a:r>
            <a:endParaRPr lang="fr-FR" dirty="0" smtClean="0"/>
          </a:p>
          <a:p>
            <a:endParaRPr lang="fr-FR" dirty="0"/>
          </a:p>
        </p:txBody>
      </p:sp>
      <p:sp>
        <p:nvSpPr>
          <p:cNvPr id="4" name="Espace réservé du numéro de diapositive 3"/>
          <p:cNvSpPr>
            <a:spLocks noGrp="1"/>
          </p:cNvSpPr>
          <p:nvPr>
            <p:ph type="sldNum" sz="quarter" idx="10"/>
          </p:nvPr>
        </p:nvSpPr>
        <p:spPr/>
        <p:txBody>
          <a:bodyPr/>
          <a:lstStyle/>
          <a:p>
            <a:fld id="{A5139648-5E4B-484D-B5BB-D289BC444157}" type="slidenum">
              <a:rPr lang="fr-FR" smtClean="0"/>
              <a:t>17</a:t>
            </a:fld>
            <a:endParaRPr lang="fr-FR"/>
          </a:p>
        </p:txBody>
      </p:sp>
    </p:spTree>
    <p:extLst>
      <p:ext uri="{BB962C8B-B14F-4D97-AF65-F5344CB8AC3E}">
        <p14:creationId xmlns:p14="http://schemas.microsoft.com/office/powerpoint/2010/main" val="1534899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fr-F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fr-FR"/>
          </a:p>
        </p:txBody>
      </p:sp>
      <p:sp>
        <p:nvSpPr>
          <p:cNvPr id="4" name="Date Placeholder 3"/>
          <p:cNvSpPr>
            <a:spLocks noGrp="1"/>
          </p:cNvSpPr>
          <p:nvPr>
            <p:ph type="dt" sz="half" idx="10"/>
          </p:nvPr>
        </p:nvSpPr>
        <p:spPr/>
        <p:txBody>
          <a:bodyPr/>
          <a:lstStyle/>
          <a:p>
            <a:fld id="{6401C8F0-71B3-4574-9D77-6310021C20AE}" type="datetimeFigureOut">
              <a:rPr lang="fr-FR" smtClean="0"/>
              <a:t>15/07/2025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4159F79-83B6-4005-8DFB-297D713E6B61}" type="slidenum">
              <a:rPr lang="fr-FR" smtClean="0"/>
              <a:t>‹#›</a:t>
            </a:fld>
            <a:endParaRPr lang="fr-FR"/>
          </a:p>
        </p:txBody>
      </p:sp>
    </p:spTree>
    <p:extLst>
      <p:ext uri="{BB962C8B-B14F-4D97-AF65-F5344CB8AC3E}">
        <p14:creationId xmlns:p14="http://schemas.microsoft.com/office/powerpoint/2010/main" val="460840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6401C8F0-71B3-4574-9D77-6310021C20AE}" type="datetimeFigureOut">
              <a:rPr lang="fr-FR" smtClean="0"/>
              <a:t>15/07/2025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4159F79-83B6-4005-8DFB-297D713E6B61}" type="slidenum">
              <a:rPr lang="fr-FR" smtClean="0"/>
              <a:t>‹#›</a:t>
            </a:fld>
            <a:endParaRPr lang="fr-FR"/>
          </a:p>
        </p:txBody>
      </p:sp>
    </p:spTree>
    <p:extLst>
      <p:ext uri="{BB962C8B-B14F-4D97-AF65-F5344CB8AC3E}">
        <p14:creationId xmlns:p14="http://schemas.microsoft.com/office/powerpoint/2010/main" val="1705075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fr-F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401C8F0-71B3-4574-9D77-6310021C20AE}" type="datetimeFigureOut">
              <a:rPr lang="fr-FR" smtClean="0"/>
              <a:t>15/07/2025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4159F79-83B6-4005-8DFB-297D713E6B61}" type="slidenum">
              <a:rPr lang="fr-FR" smtClean="0"/>
              <a:t>‹#›</a:t>
            </a:fld>
            <a:endParaRPr lang="fr-FR"/>
          </a:p>
        </p:txBody>
      </p:sp>
    </p:spTree>
    <p:extLst>
      <p:ext uri="{BB962C8B-B14F-4D97-AF65-F5344CB8AC3E}">
        <p14:creationId xmlns:p14="http://schemas.microsoft.com/office/powerpoint/2010/main" val="1201096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Date Placeholder 4"/>
          <p:cNvSpPr>
            <a:spLocks noGrp="1"/>
          </p:cNvSpPr>
          <p:nvPr>
            <p:ph type="dt" sz="half" idx="10"/>
          </p:nvPr>
        </p:nvSpPr>
        <p:spPr/>
        <p:txBody>
          <a:bodyPr/>
          <a:lstStyle/>
          <a:p>
            <a:fld id="{6401C8F0-71B3-4574-9D77-6310021C20AE}" type="datetimeFigureOut">
              <a:rPr lang="fr-FR" smtClean="0"/>
              <a:t>15/07/2025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4159F79-83B6-4005-8DFB-297D713E6B61}" type="slidenum">
              <a:rPr lang="fr-FR" smtClean="0"/>
              <a:t>‹#›</a:t>
            </a:fld>
            <a:endParaRPr lang="fr-FR"/>
          </a:p>
        </p:txBody>
      </p:sp>
    </p:spTree>
    <p:extLst>
      <p:ext uri="{BB962C8B-B14F-4D97-AF65-F5344CB8AC3E}">
        <p14:creationId xmlns:p14="http://schemas.microsoft.com/office/powerpoint/2010/main" val="3070175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fr-F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Date Placeholder 6"/>
          <p:cNvSpPr>
            <a:spLocks noGrp="1"/>
          </p:cNvSpPr>
          <p:nvPr>
            <p:ph type="dt" sz="half" idx="10"/>
          </p:nvPr>
        </p:nvSpPr>
        <p:spPr/>
        <p:txBody>
          <a:bodyPr/>
          <a:lstStyle/>
          <a:p>
            <a:fld id="{6401C8F0-71B3-4574-9D77-6310021C20AE}" type="datetimeFigureOut">
              <a:rPr lang="fr-FR" smtClean="0"/>
              <a:t>15/07/2025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84159F79-83B6-4005-8DFB-297D713E6B61}" type="slidenum">
              <a:rPr lang="fr-FR" smtClean="0"/>
              <a:t>‹#›</a:t>
            </a:fld>
            <a:endParaRPr lang="fr-FR"/>
          </a:p>
        </p:txBody>
      </p:sp>
    </p:spTree>
    <p:extLst>
      <p:ext uri="{BB962C8B-B14F-4D97-AF65-F5344CB8AC3E}">
        <p14:creationId xmlns:p14="http://schemas.microsoft.com/office/powerpoint/2010/main" val="3130888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Date Placeholder 2"/>
          <p:cNvSpPr>
            <a:spLocks noGrp="1"/>
          </p:cNvSpPr>
          <p:nvPr>
            <p:ph type="dt" sz="half" idx="10"/>
          </p:nvPr>
        </p:nvSpPr>
        <p:spPr/>
        <p:txBody>
          <a:bodyPr/>
          <a:lstStyle/>
          <a:p>
            <a:fld id="{6401C8F0-71B3-4574-9D77-6310021C20AE}" type="datetimeFigureOut">
              <a:rPr lang="fr-FR" smtClean="0"/>
              <a:t>15/07/2025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84159F79-83B6-4005-8DFB-297D713E6B61}" type="slidenum">
              <a:rPr lang="fr-FR" smtClean="0"/>
              <a:t>‹#›</a:t>
            </a:fld>
            <a:endParaRPr lang="fr-FR"/>
          </a:p>
        </p:txBody>
      </p:sp>
    </p:spTree>
    <p:extLst>
      <p:ext uri="{BB962C8B-B14F-4D97-AF65-F5344CB8AC3E}">
        <p14:creationId xmlns:p14="http://schemas.microsoft.com/office/powerpoint/2010/main" val="2668214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01C8F0-71B3-4574-9D77-6310021C20AE}" type="datetimeFigureOut">
              <a:rPr lang="fr-FR" smtClean="0"/>
              <a:t>15/07/2025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84159F79-83B6-4005-8DFB-297D713E6B61}" type="slidenum">
              <a:rPr lang="fr-FR" smtClean="0"/>
              <a:t>‹#›</a:t>
            </a:fld>
            <a:endParaRPr lang="fr-FR"/>
          </a:p>
        </p:txBody>
      </p:sp>
    </p:spTree>
    <p:extLst>
      <p:ext uri="{BB962C8B-B14F-4D97-AF65-F5344CB8AC3E}">
        <p14:creationId xmlns:p14="http://schemas.microsoft.com/office/powerpoint/2010/main" val="595699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401C8F0-71B3-4574-9D77-6310021C20AE}" type="datetimeFigureOut">
              <a:rPr lang="fr-FR" smtClean="0"/>
              <a:t>15/07/2025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4159F79-83B6-4005-8DFB-297D713E6B61}" type="slidenum">
              <a:rPr lang="fr-FR" smtClean="0"/>
              <a:t>‹#›</a:t>
            </a:fld>
            <a:endParaRPr lang="fr-FR"/>
          </a:p>
        </p:txBody>
      </p:sp>
    </p:spTree>
    <p:extLst>
      <p:ext uri="{BB962C8B-B14F-4D97-AF65-F5344CB8AC3E}">
        <p14:creationId xmlns:p14="http://schemas.microsoft.com/office/powerpoint/2010/main" val="2250060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401C8F0-71B3-4574-9D77-6310021C20AE}" type="datetimeFigureOut">
              <a:rPr lang="fr-FR" smtClean="0"/>
              <a:t>15/07/2025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4159F79-83B6-4005-8DFB-297D713E6B61}" type="slidenum">
              <a:rPr lang="fr-FR" smtClean="0"/>
              <a:t>‹#›</a:t>
            </a:fld>
            <a:endParaRPr lang="fr-FR"/>
          </a:p>
        </p:txBody>
      </p:sp>
    </p:spTree>
    <p:extLst>
      <p:ext uri="{BB962C8B-B14F-4D97-AF65-F5344CB8AC3E}">
        <p14:creationId xmlns:p14="http://schemas.microsoft.com/office/powerpoint/2010/main" val="1260984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6401C8F0-71B3-4574-9D77-6310021C20AE}" type="datetimeFigureOut">
              <a:rPr lang="fr-FR" smtClean="0"/>
              <a:t>15/07/2025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4159F79-83B6-4005-8DFB-297D713E6B61}" type="slidenum">
              <a:rPr lang="fr-FR" smtClean="0"/>
              <a:t>‹#›</a:t>
            </a:fld>
            <a:endParaRPr lang="fr-FR"/>
          </a:p>
        </p:txBody>
      </p:sp>
    </p:spTree>
    <p:extLst>
      <p:ext uri="{BB962C8B-B14F-4D97-AF65-F5344CB8AC3E}">
        <p14:creationId xmlns:p14="http://schemas.microsoft.com/office/powerpoint/2010/main" val="2543116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fr-F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6401C8F0-71B3-4574-9D77-6310021C20AE}" type="datetimeFigureOut">
              <a:rPr lang="fr-FR" smtClean="0"/>
              <a:t>15/07/2025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4159F79-83B6-4005-8DFB-297D713E6B61}" type="slidenum">
              <a:rPr lang="fr-FR" smtClean="0"/>
              <a:t>‹#›</a:t>
            </a:fld>
            <a:endParaRPr lang="fr-FR"/>
          </a:p>
        </p:txBody>
      </p:sp>
    </p:spTree>
    <p:extLst>
      <p:ext uri="{BB962C8B-B14F-4D97-AF65-F5344CB8AC3E}">
        <p14:creationId xmlns:p14="http://schemas.microsoft.com/office/powerpoint/2010/main" val="3069235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fr-F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01C8F0-71B3-4574-9D77-6310021C20AE}" type="datetimeFigureOut">
              <a:rPr lang="fr-FR" smtClean="0"/>
              <a:t>15/07/2025</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159F79-83B6-4005-8DFB-297D713E6B61}" type="slidenum">
              <a:rPr lang="fr-FR" smtClean="0"/>
              <a:t>‹#›</a:t>
            </a:fld>
            <a:endParaRPr lang="fr-FR"/>
          </a:p>
        </p:txBody>
      </p:sp>
      <p:sp>
        <p:nvSpPr>
          <p:cNvPr id="11" name="Rectangle 10"/>
          <p:cNvSpPr/>
          <p:nvPr userDrawn="1"/>
        </p:nvSpPr>
        <p:spPr>
          <a:xfrm>
            <a:off x="146050" y="6198255"/>
            <a:ext cx="12045950" cy="52322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400" b="1" dirty="0" smtClean="0"/>
              <a:t>Multi Application User Interface:  </a:t>
            </a:r>
          </a:p>
          <a:p>
            <a:r>
              <a:rPr lang="fr-FR" sz="1400" dirty="0" smtClean="0"/>
              <a:t>Ce support de cours est la propriété intellectuelle de Béchir Béjaoui, il n’est utilisé qu’avec l’accord du propriétaire © </a:t>
            </a:r>
            <a:r>
              <a:rPr lang="fr-FR" sz="1400" dirty="0" smtClean="0"/>
              <a:t>2025-2026 </a:t>
            </a:r>
            <a:endParaRPr lang="fr-FR" sz="1400" dirty="0"/>
          </a:p>
        </p:txBody>
      </p:sp>
      <p:pic>
        <p:nvPicPr>
          <p:cNvPr id="12" name="Picture 11" descr="dotnetMAUI"/>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536694" y="6087940"/>
            <a:ext cx="494184" cy="494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1571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bejaouibechir/BindingDemo.git"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56353" y="2274326"/>
            <a:ext cx="965329" cy="415498"/>
          </a:xfrm>
          <a:prstGeom prst="rect">
            <a:avLst/>
          </a:prstGeom>
        </p:spPr>
        <p:txBody>
          <a:bodyPr wrap="none">
            <a:spAutoFit/>
          </a:bodyPr>
          <a:lstStyle/>
          <a:p>
            <a:pPr algn="ctr"/>
            <a:r>
              <a:rPr lang="fr-FR" sz="2100" dirty="0">
                <a:solidFill>
                  <a:srgbClr val="1C3158"/>
                </a:solidFill>
                <a:latin typeface="Comic Sans MS" pitchFamily="66" charset="0"/>
              </a:rPr>
              <a:t>MAUI</a:t>
            </a:r>
          </a:p>
        </p:txBody>
      </p:sp>
      <p:cxnSp>
        <p:nvCxnSpPr>
          <p:cNvPr id="4" name="Connecteur droit 3"/>
          <p:cNvCxnSpPr>
            <a:cxnSpLocks/>
          </p:cNvCxnSpPr>
          <p:nvPr/>
        </p:nvCxnSpPr>
        <p:spPr>
          <a:xfrm flipH="1">
            <a:off x="5663952" y="2738280"/>
            <a:ext cx="3882150" cy="13038"/>
          </a:xfrm>
          <a:prstGeom prst="line">
            <a:avLst/>
          </a:prstGeom>
          <a:ln w="22225">
            <a:solidFill>
              <a:srgbClr val="1C3158"/>
            </a:solidFill>
          </a:ln>
        </p:spPr>
        <p:style>
          <a:lnRef idx="1">
            <a:schemeClr val="accent1"/>
          </a:lnRef>
          <a:fillRef idx="0">
            <a:schemeClr val="accent1"/>
          </a:fillRef>
          <a:effectRef idx="0">
            <a:schemeClr val="accent1"/>
          </a:effectRef>
          <a:fontRef idx="minor">
            <a:schemeClr val="tx1"/>
          </a:fontRef>
        </p:style>
      </p:cxnSp>
      <p:pic>
        <p:nvPicPr>
          <p:cNvPr id="1027" name="Picture 3" descr="C:\Users\bepro-17\AppData\Roaming\Skype\live#3ambenalaya.bepro\media_messaging\media_cache_v3\^2DF5C670F0A42E46084157BFD3139AC68F80CB1B7C725AE391^pimgpsh_fullsize_dist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9795" y="4900959"/>
            <a:ext cx="1164186" cy="115980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5071100" y="5523434"/>
            <a:ext cx="3222654" cy="507831"/>
          </a:xfrm>
          <a:prstGeom prst="rect">
            <a:avLst/>
          </a:prstGeom>
        </p:spPr>
        <p:txBody>
          <a:bodyPr wrap="square">
            <a:spAutoFit/>
          </a:bodyPr>
          <a:lstStyle/>
          <a:p>
            <a:pPr algn="ctr"/>
            <a:r>
              <a:rPr lang="fr-FR" sz="1350" b="1" i="1" dirty="0">
                <a:solidFill>
                  <a:srgbClr val="1C3158"/>
                </a:solidFill>
              </a:rPr>
              <a:t>Béchir BEJAOUI</a:t>
            </a:r>
          </a:p>
          <a:p>
            <a:pPr algn="ctr"/>
            <a:r>
              <a:rPr lang="fr-FR" sz="1350" dirty="0">
                <a:solidFill>
                  <a:srgbClr val="1C3158"/>
                </a:solidFill>
              </a:rPr>
              <a:t>Formateur et consultant indépendant</a:t>
            </a:r>
          </a:p>
        </p:txBody>
      </p:sp>
      <p:sp>
        <p:nvSpPr>
          <p:cNvPr id="3" name="Rectangle 2"/>
          <p:cNvSpPr/>
          <p:nvPr/>
        </p:nvSpPr>
        <p:spPr>
          <a:xfrm>
            <a:off x="6290314" y="2799774"/>
            <a:ext cx="3011169" cy="369332"/>
          </a:xfrm>
          <a:prstGeom prst="rect">
            <a:avLst/>
          </a:prstGeom>
        </p:spPr>
        <p:txBody>
          <a:bodyPr wrap="square">
            <a:spAutoFit/>
          </a:bodyPr>
          <a:lstStyle/>
          <a:p>
            <a:pPr lvl="0" algn="ctr"/>
            <a:r>
              <a:rPr lang="fr-FR" smtClean="0">
                <a:solidFill>
                  <a:srgbClr val="1C3158"/>
                </a:solidFill>
                <a:latin typeface="Comic Sans MS" pitchFamily="66" charset="0"/>
              </a:rPr>
              <a:t>Les Bindings</a:t>
            </a:r>
            <a:endParaRPr lang="fr-FR" dirty="0">
              <a:solidFill>
                <a:srgbClr val="1C3158"/>
              </a:solidFill>
              <a:latin typeface="Comic Sans MS" pitchFamily="66" charset="0"/>
            </a:endParaRPr>
          </a:p>
        </p:txBody>
      </p:sp>
      <p:pic>
        <p:nvPicPr>
          <p:cNvPr id="1026" name="Picture 2" descr="dotnetMAU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1395" y="836712"/>
            <a:ext cx="3109706" cy="3109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00537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93"/>
          <p:cNvSpPr txBox="1">
            <a:spLocks noChangeArrowheads="1"/>
          </p:cNvSpPr>
          <p:nvPr/>
        </p:nvSpPr>
        <p:spPr bwMode="auto">
          <a:xfrm>
            <a:off x="355346" y="600964"/>
            <a:ext cx="9026398"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500" dirty="0" smtClean="0">
                <a:latin typeface="Segoe UI" panose="020B0502040204020203" pitchFamily="34" charset="0"/>
                <a:cs typeface="Segoe UI" panose="020B0502040204020203" pitchFamily="34" charset="0"/>
              </a:rPr>
              <a:t>Les liaisons DataBinding</a:t>
            </a:r>
            <a:endParaRPr lang="en-US" altLang="en-US" sz="2500" dirty="0">
              <a:latin typeface="Segoe UI" panose="020B0502040204020203" pitchFamily="34" charset="0"/>
              <a:cs typeface="Segoe UI" panose="020B0502040204020203" pitchFamily="34" charset="0"/>
            </a:endParaRPr>
          </a:p>
        </p:txBody>
      </p:sp>
      <p:sp>
        <p:nvSpPr>
          <p:cNvPr id="3" name="object 4"/>
          <p:cNvSpPr txBox="1"/>
          <p:nvPr/>
        </p:nvSpPr>
        <p:spPr>
          <a:xfrm>
            <a:off x="452882" y="1341692"/>
            <a:ext cx="7541394" cy="4396075"/>
          </a:xfrm>
          <a:prstGeom prst="rect">
            <a:avLst/>
          </a:prstGeom>
        </p:spPr>
        <p:txBody>
          <a:bodyPr wrap="square" lIns="0" tIns="0" rIns="0" bIns="0">
            <a:spAutoFit/>
          </a:bodyPr>
          <a:lstStyle/>
          <a:p>
            <a:pPr marL="153035" eaLnBrk="1" fontAlgn="auto" hangingPunct="1">
              <a:spcBef>
                <a:spcPts val="0"/>
              </a:spcBef>
              <a:spcAft>
                <a:spcPts val="0"/>
              </a:spcAft>
              <a:tabLst>
                <a:tab pos="5998210" algn="l"/>
              </a:tabLst>
              <a:defRPr/>
            </a:pPr>
            <a:r>
              <a:rPr lang="en-US" sz="2400" u="heavy" spc="-5" dirty="0" err="1" smtClean="0">
                <a:latin typeface="Segoe UI Symbol"/>
                <a:cs typeface="Segoe UI Symbol"/>
              </a:rPr>
              <a:t>Objectifs</a:t>
            </a:r>
            <a:r>
              <a:rPr sz="2400" u="heavy" dirty="0" smtClean="0">
                <a:latin typeface="Segoe UI Symbol"/>
                <a:cs typeface="Segoe UI Symbol"/>
              </a:rPr>
              <a:t> </a:t>
            </a:r>
            <a:endParaRPr sz="2400" dirty="0">
              <a:latin typeface="Times New Roman"/>
              <a:cs typeface="Times New Roman"/>
            </a:endParaRPr>
          </a:p>
          <a:p>
            <a:pPr marL="256540" indent="-243840" eaLnBrk="1" fontAlgn="auto" hangingPunct="1">
              <a:lnSpc>
                <a:spcPct val="150000"/>
              </a:lnSpc>
              <a:spcBef>
                <a:spcPts val="1360"/>
              </a:spcBef>
              <a:spcAft>
                <a:spcPts val="0"/>
              </a:spcAft>
              <a:buClr>
                <a:srgbClr val="006498"/>
              </a:buClr>
              <a:buSzPct val="57500"/>
              <a:buFont typeface="Wingdings"/>
              <a:buChar char=""/>
              <a:tabLst>
                <a:tab pos="257175" algn="l"/>
              </a:tabLst>
              <a:defRPr/>
            </a:pPr>
            <a:r>
              <a:rPr lang="fr-FR" sz="2000" spc="-25" dirty="0" smtClean="0">
                <a:latin typeface="Segoe UI" panose="020B0502040204020203" pitchFamily="34" charset="0"/>
                <a:cs typeface="Segoe UI" panose="020B0502040204020203" pitchFamily="34" charset="0"/>
              </a:rPr>
              <a:t>Les liaisons </a:t>
            </a:r>
            <a:r>
              <a:rPr sz="2000" spc="-25" dirty="0" smtClean="0">
                <a:latin typeface="Segoe UI" panose="020B0502040204020203" pitchFamily="34" charset="0"/>
                <a:cs typeface="Segoe UI" panose="020B0502040204020203" pitchFamily="34" charset="0"/>
              </a:rPr>
              <a:t>D</a:t>
            </a:r>
            <a:r>
              <a:rPr sz="2000" spc="-20" dirty="0" smtClean="0">
                <a:latin typeface="Segoe UI" panose="020B0502040204020203" pitchFamily="34" charset="0"/>
                <a:cs typeface="Segoe UI" panose="020B0502040204020203" pitchFamily="34" charset="0"/>
              </a:rPr>
              <a:t>a</a:t>
            </a:r>
            <a:r>
              <a:rPr sz="2000" spc="-15" dirty="0" smtClean="0">
                <a:latin typeface="Segoe UI" panose="020B0502040204020203" pitchFamily="34" charset="0"/>
                <a:cs typeface="Segoe UI" panose="020B0502040204020203" pitchFamily="34" charset="0"/>
              </a:rPr>
              <a:t>t</a:t>
            </a:r>
            <a:r>
              <a:rPr sz="2000" spc="-20" dirty="0" smtClean="0">
                <a:latin typeface="Segoe UI" panose="020B0502040204020203" pitchFamily="34" charset="0"/>
                <a:cs typeface="Segoe UI" panose="020B0502040204020203" pitchFamily="34" charset="0"/>
              </a:rPr>
              <a:t>a</a:t>
            </a:r>
            <a:r>
              <a:rPr sz="2000" spc="-5" dirty="0" smtClean="0">
                <a:latin typeface="Segoe UI" panose="020B0502040204020203" pitchFamily="34" charset="0"/>
                <a:cs typeface="Segoe UI" panose="020B0502040204020203" pitchFamily="34" charset="0"/>
              </a:rPr>
              <a:t>B</a:t>
            </a:r>
            <a:r>
              <a:rPr sz="2000" spc="-15" dirty="0" smtClean="0">
                <a:latin typeface="Segoe UI" panose="020B0502040204020203" pitchFamily="34" charset="0"/>
                <a:cs typeface="Segoe UI" panose="020B0502040204020203" pitchFamily="34" charset="0"/>
              </a:rPr>
              <a:t>i</a:t>
            </a:r>
            <a:r>
              <a:rPr sz="2000" spc="5" dirty="0" smtClean="0">
                <a:latin typeface="Segoe UI" panose="020B0502040204020203" pitchFamily="34" charset="0"/>
                <a:cs typeface="Segoe UI" panose="020B0502040204020203" pitchFamily="34" charset="0"/>
              </a:rPr>
              <a:t>n</a:t>
            </a:r>
            <a:r>
              <a:rPr sz="2000" spc="10" dirty="0" smtClean="0">
                <a:latin typeface="Segoe UI" panose="020B0502040204020203" pitchFamily="34" charset="0"/>
                <a:cs typeface="Segoe UI" panose="020B0502040204020203" pitchFamily="34" charset="0"/>
              </a:rPr>
              <a:t>d</a:t>
            </a:r>
            <a:r>
              <a:rPr sz="2000" spc="-10" dirty="0" smtClean="0">
                <a:latin typeface="Segoe UI" panose="020B0502040204020203" pitchFamily="34" charset="0"/>
                <a:cs typeface="Segoe UI" panose="020B0502040204020203" pitchFamily="34" charset="0"/>
              </a:rPr>
              <a:t>i</a:t>
            </a:r>
            <a:r>
              <a:rPr sz="2000" spc="5" dirty="0" smtClean="0">
                <a:latin typeface="Segoe UI" panose="020B0502040204020203" pitchFamily="34" charset="0"/>
                <a:cs typeface="Segoe UI" panose="020B0502040204020203" pitchFamily="34" charset="0"/>
              </a:rPr>
              <a:t>n</a:t>
            </a:r>
            <a:r>
              <a:rPr sz="2000" dirty="0" smtClean="0">
                <a:latin typeface="Segoe UI" panose="020B0502040204020203" pitchFamily="34" charset="0"/>
                <a:cs typeface="Segoe UI" panose="020B0502040204020203" pitchFamily="34" charset="0"/>
              </a:rPr>
              <a:t>g</a:t>
            </a:r>
            <a:r>
              <a:rPr lang="fr-FR" sz="2000" dirty="0" smtClean="0">
                <a:latin typeface="Segoe UI" panose="020B0502040204020203" pitchFamily="34" charset="0"/>
                <a:cs typeface="Segoe UI" panose="020B0502040204020203" pitchFamily="34" charset="0"/>
              </a:rPr>
              <a:t> avec Binding et x:Reference</a:t>
            </a:r>
          </a:p>
          <a:p>
            <a:pPr marL="256540" indent="-243840" eaLnBrk="1" fontAlgn="auto" hangingPunct="1">
              <a:lnSpc>
                <a:spcPct val="150000"/>
              </a:lnSpc>
              <a:spcBef>
                <a:spcPts val="1360"/>
              </a:spcBef>
              <a:spcAft>
                <a:spcPts val="0"/>
              </a:spcAft>
              <a:buClr>
                <a:srgbClr val="006498"/>
              </a:buClr>
              <a:buSzPct val="57500"/>
              <a:buFont typeface="Wingdings"/>
              <a:buChar char=""/>
              <a:tabLst>
                <a:tab pos="257175" algn="l"/>
              </a:tabLst>
              <a:defRPr/>
            </a:pPr>
            <a:r>
              <a:rPr lang="fr-FR" sz="2000" dirty="0" smtClean="0">
                <a:latin typeface="Segoe UI" panose="020B0502040204020203" pitchFamily="34" charset="0"/>
                <a:cs typeface="Segoe UI" panose="020B0502040204020203" pitchFamily="34" charset="0"/>
              </a:rPr>
              <a:t>La classe BindingContext</a:t>
            </a:r>
          </a:p>
          <a:p>
            <a:pPr marL="256540" indent="-243840" eaLnBrk="1" fontAlgn="auto" hangingPunct="1">
              <a:lnSpc>
                <a:spcPct val="150000"/>
              </a:lnSpc>
              <a:spcBef>
                <a:spcPts val="1360"/>
              </a:spcBef>
              <a:spcAft>
                <a:spcPts val="0"/>
              </a:spcAft>
              <a:buClr>
                <a:srgbClr val="006498"/>
              </a:buClr>
              <a:buSzPct val="57500"/>
              <a:buFont typeface="Wingdings"/>
              <a:buChar char=""/>
              <a:tabLst>
                <a:tab pos="257175" algn="l"/>
              </a:tabLst>
              <a:defRPr/>
            </a:pPr>
            <a:r>
              <a:rPr lang="fr-FR" sz="2000" dirty="0" smtClean="0">
                <a:latin typeface="Segoe UI" panose="020B0502040204020203" pitchFamily="34" charset="0"/>
                <a:cs typeface="Segoe UI" panose="020B0502040204020203" pitchFamily="34" charset="0"/>
              </a:rPr>
              <a:t>Les autres types de Binding</a:t>
            </a:r>
          </a:p>
          <a:p>
            <a:pPr marL="256540" indent="-243840" eaLnBrk="1" fontAlgn="auto" hangingPunct="1">
              <a:lnSpc>
                <a:spcPct val="150000"/>
              </a:lnSpc>
              <a:spcBef>
                <a:spcPts val="1360"/>
              </a:spcBef>
              <a:spcAft>
                <a:spcPts val="0"/>
              </a:spcAft>
              <a:buClr>
                <a:srgbClr val="006498"/>
              </a:buClr>
              <a:buSzPct val="57500"/>
              <a:buFont typeface="Wingdings"/>
              <a:buChar char=""/>
              <a:tabLst>
                <a:tab pos="257175" algn="l"/>
              </a:tabLst>
              <a:defRPr/>
            </a:pPr>
            <a:r>
              <a:rPr lang="fr-FR" sz="2000" dirty="0" err="1" smtClean="0">
                <a:latin typeface="Segoe UI" panose="020B0502040204020203" pitchFamily="34" charset="0"/>
                <a:cs typeface="Segoe UI" panose="020B0502040204020203" pitchFamily="34" charset="0"/>
              </a:rPr>
              <a:t>BindableProperty</a:t>
            </a:r>
            <a:r>
              <a:rPr lang="fr-FR" sz="2000" dirty="0" smtClean="0">
                <a:latin typeface="Segoe UI" panose="020B0502040204020203" pitchFamily="34" charset="0"/>
                <a:cs typeface="Segoe UI" panose="020B0502040204020203" pitchFamily="34" charset="0"/>
              </a:rPr>
              <a:t>/</a:t>
            </a:r>
            <a:r>
              <a:rPr lang="fr-FR" sz="2000" dirty="0" err="1" smtClean="0">
                <a:latin typeface="Segoe UI" panose="020B0502040204020203" pitchFamily="34" charset="0"/>
                <a:cs typeface="Segoe UI" panose="020B0502040204020203" pitchFamily="34" charset="0"/>
              </a:rPr>
              <a:t>BindableObject</a:t>
            </a:r>
            <a:endParaRPr sz="2000" dirty="0" smtClean="0">
              <a:latin typeface="Segoe UI" panose="020B0502040204020203" pitchFamily="34" charset="0"/>
              <a:cs typeface="Segoe UI" panose="020B0502040204020203" pitchFamily="34" charset="0"/>
            </a:endParaRPr>
          </a:p>
          <a:p>
            <a:pPr marL="256540" indent="-243840" eaLnBrk="1" fontAlgn="auto" hangingPunct="1">
              <a:lnSpc>
                <a:spcPct val="150000"/>
              </a:lnSpc>
              <a:spcBef>
                <a:spcPts val="240"/>
              </a:spcBef>
              <a:spcAft>
                <a:spcPts val="0"/>
              </a:spcAft>
              <a:buClr>
                <a:srgbClr val="006498"/>
              </a:buClr>
              <a:buSzPct val="57500"/>
              <a:buFont typeface="Wingdings"/>
              <a:buChar char=""/>
              <a:tabLst>
                <a:tab pos="257175" algn="l"/>
              </a:tabLst>
              <a:defRPr/>
            </a:pPr>
            <a:r>
              <a:rPr sz="2000" spc="-10" dirty="0" err="1" smtClean="0">
                <a:latin typeface="Segoe UI" panose="020B0502040204020203" pitchFamily="34" charset="0"/>
                <a:cs typeface="Segoe UI" panose="020B0502040204020203" pitchFamily="34" charset="0"/>
              </a:rPr>
              <a:t>I</a:t>
            </a:r>
            <a:r>
              <a:rPr sz="2000" spc="-20" dirty="0" err="1" smtClean="0">
                <a:latin typeface="Segoe UI" panose="020B0502040204020203" pitchFamily="34" charset="0"/>
                <a:cs typeface="Segoe UI" panose="020B0502040204020203" pitchFamily="34" charset="0"/>
              </a:rPr>
              <a:t>N</a:t>
            </a:r>
            <a:r>
              <a:rPr sz="2000" spc="15" dirty="0" err="1" smtClean="0">
                <a:latin typeface="Segoe UI" panose="020B0502040204020203" pitchFamily="34" charset="0"/>
                <a:cs typeface="Segoe UI" panose="020B0502040204020203" pitchFamily="34" charset="0"/>
              </a:rPr>
              <a:t>o</a:t>
            </a:r>
            <a:r>
              <a:rPr sz="2000" spc="-15" dirty="0" err="1" smtClean="0">
                <a:latin typeface="Segoe UI" panose="020B0502040204020203" pitchFamily="34" charset="0"/>
                <a:cs typeface="Segoe UI" panose="020B0502040204020203" pitchFamily="34" charset="0"/>
              </a:rPr>
              <a:t>t</a:t>
            </a:r>
            <a:r>
              <a:rPr sz="2000" spc="-10" dirty="0" err="1" smtClean="0">
                <a:latin typeface="Segoe UI" panose="020B0502040204020203" pitchFamily="34" charset="0"/>
                <a:cs typeface="Segoe UI" panose="020B0502040204020203" pitchFamily="34" charset="0"/>
              </a:rPr>
              <a:t>if</a:t>
            </a:r>
            <a:r>
              <a:rPr sz="2000" spc="-20" dirty="0" err="1" smtClean="0">
                <a:latin typeface="Segoe UI" panose="020B0502040204020203" pitchFamily="34" charset="0"/>
                <a:cs typeface="Segoe UI" panose="020B0502040204020203" pitchFamily="34" charset="0"/>
              </a:rPr>
              <a:t>y</a:t>
            </a:r>
            <a:r>
              <a:rPr sz="2000" spc="20" dirty="0" err="1" smtClean="0">
                <a:latin typeface="Segoe UI" panose="020B0502040204020203" pitchFamily="34" charset="0"/>
                <a:cs typeface="Segoe UI" panose="020B0502040204020203" pitchFamily="34" charset="0"/>
              </a:rPr>
              <a:t>P</a:t>
            </a:r>
            <a:r>
              <a:rPr sz="2000" spc="-30" dirty="0" err="1" smtClean="0">
                <a:latin typeface="Segoe UI" panose="020B0502040204020203" pitchFamily="34" charset="0"/>
                <a:cs typeface="Segoe UI" panose="020B0502040204020203" pitchFamily="34" charset="0"/>
              </a:rPr>
              <a:t>r</a:t>
            </a:r>
            <a:r>
              <a:rPr sz="2000" spc="15" dirty="0" err="1" smtClean="0">
                <a:latin typeface="Segoe UI" panose="020B0502040204020203" pitchFamily="34" charset="0"/>
                <a:cs typeface="Segoe UI" panose="020B0502040204020203" pitchFamily="34" charset="0"/>
              </a:rPr>
              <a:t>o</a:t>
            </a:r>
            <a:r>
              <a:rPr sz="2000" spc="10" dirty="0" err="1" smtClean="0">
                <a:latin typeface="Segoe UI" panose="020B0502040204020203" pitchFamily="34" charset="0"/>
                <a:cs typeface="Segoe UI" panose="020B0502040204020203" pitchFamily="34" charset="0"/>
              </a:rPr>
              <a:t>p</a:t>
            </a:r>
            <a:r>
              <a:rPr sz="2000" spc="-50" dirty="0" err="1" smtClean="0">
                <a:latin typeface="Segoe UI" panose="020B0502040204020203" pitchFamily="34" charset="0"/>
                <a:cs typeface="Segoe UI" panose="020B0502040204020203" pitchFamily="34" charset="0"/>
              </a:rPr>
              <a:t>e</a:t>
            </a:r>
            <a:r>
              <a:rPr sz="2000" spc="15" dirty="0" err="1" smtClean="0">
                <a:latin typeface="Segoe UI" panose="020B0502040204020203" pitchFamily="34" charset="0"/>
                <a:cs typeface="Segoe UI" panose="020B0502040204020203" pitchFamily="34" charset="0"/>
              </a:rPr>
              <a:t>r</a:t>
            </a:r>
            <a:r>
              <a:rPr sz="2000" spc="-15" dirty="0" err="1" smtClean="0">
                <a:latin typeface="Segoe UI" panose="020B0502040204020203" pitchFamily="34" charset="0"/>
                <a:cs typeface="Segoe UI" panose="020B0502040204020203" pitchFamily="34" charset="0"/>
              </a:rPr>
              <a:t>t</a:t>
            </a:r>
            <a:r>
              <a:rPr sz="2000" spc="-20" dirty="0" err="1" smtClean="0">
                <a:latin typeface="Segoe UI" panose="020B0502040204020203" pitchFamily="34" charset="0"/>
                <a:cs typeface="Segoe UI" panose="020B0502040204020203" pitchFamily="34" charset="0"/>
              </a:rPr>
              <a:t>y</a:t>
            </a:r>
            <a:r>
              <a:rPr sz="2000" spc="-5" dirty="0" err="1" smtClean="0">
                <a:latin typeface="Segoe UI" panose="020B0502040204020203" pitchFamily="34" charset="0"/>
                <a:cs typeface="Segoe UI" panose="020B0502040204020203" pitchFamily="34" charset="0"/>
              </a:rPr>
              <a:t>C</a:t>
            </a:r>
            <a:r>
              <a:rPr sz="2000" spc="5" dirty="0" err="1" smtClean="0">
                <a:latin typeface="Segoe UI" panose="020B0502040204020203" pitchFamily="34" charset="0"/>
                <a:cs typeface="Segoe UI" panose="020B0502040204020203" pitchFamily="34" charset="0"/>
              </a:rPr>
              <a:t>h</a:t>
            </a:r>
            <a:r>
              <a:rPr sz="2000" spc="-20" dirty="0" err="1" smtClean="0">
                <a:latin typeface="Segoe UI" panose="020B0502040204020203" pitchFamily="34" charset="0"/>
                <a:cs typeface="Segoe UI" panose="020B0502040204020203" pitchFamily="34" charset="0"/>
              </a:rPr>
              <a:t>a</a:t>
            </a:r>
            <a:r>
              <a:rPr sz="2000" spc="-40" dirty="0" err="1" smtClean="0">
                <a:latin typeface="Segoe UI" panose="020B0502040204020203" pitchFamily="34" charset="0"/>
                <a:cs typeface="Segoe UI" panose="020B0502040204020203" pitchFamily="34" charset="0"/>
              </a:rPr>
              <a:t>n</a:t>
            </a:r>
            <a:r>
              <a:rPr sz="2000" spc="10" dirty="0" err="1" smtClean="0">
                <a:latin typeface="Segoe UI" panose="020B0502040204020203" pitchFamily="34" charset="0"/>
                <a:cs typeface="Segoe UI" panose="020B0502040204020203" pitchFamily="34" charset="0"/>
              </a:rPr>
              <a:t>g</a:t>
            </a:r>
            <a:r>
              <a:rPr sz="2000" dirty="0" err="1" smtClean="0">
                <a:latin typeface="Segoe UI" panose="020B0502040204020203" pitchFamily="34" charset="0"/>
                <a:cs typeface="Segoe UI" panose="020B0502040204020203" pitchFamily="34" charset="0"/>
              </a:rPr>
              <a:t>ed</a:t>
            </a:r>
            <a:r>
              <a:rPr lang="fr-FR" sz="2000" dirty="0" smtClean="0">
                <a:latin typeface="Segoe UI" panose="020B0502040204020203" pitchFamily="34" charset="0"/>
                <a:cs typeface="Segoe UI" panose="020B0502040204020203" pitchFamily="34" charset="0"/>
              </a:rPr>
              <a:t>/</a:t>
            </a:r>
            <a:r>
              <a:rPr lang="fr-FR" sz="2000" dirty="0" err="1" smtClean="0">
                <a:latin typeface="Segoe UI" panose="020B0502040204020203" pitchFamily="34" charset="0"/>
                <a:cs typeface="Segoe UI" panose="020B0502040204020203" pitchFamily="34" charset="0"/>
              </a:rPr>
              <a:t>INotifyPropertyChanging</a:t>
            </a:r>
            <a:endParaRPr lang="fr-FR" sz="2000" dirty="0" smtClean="0">
              <a:latin typeface="Segoe UI" panose="020B0502040204020203" pitchFamily="34" charset="0"/>
              <a:cs typeface="Segoe UI" panose="020B0502040204020203" pitchFamily="34" charset="0"/>
            </a:endParaRPr>
          </a:p>
          <a:p>
            <a:pPr marL="256540" indent="-243840" eaLnBrk="1" fontAlgn="auto" hangingPunct="1">
              <a:lnSpc>
                <a:spcPct val="150000"/>
              </a:lnSpc>
              <a:spcBef>
                <a:spcPts val="240"/>
              </a:spcBef>
              <a:spcAft>
                <a:spcPts val="0"/>
              </a:spcAft>
              <a:buClr>
                <a:srgbClr val="006498"/>
              </a:buClr>
              <a:buSzPct val="57500"/>
              <a:buFont typeface="Wingdings"/>
              <a:buChar char=""/>
              <a:tabLst>
                <a:tab pos="257175" algn="l"/>
              </a:tabLst>
              <a:defRPr/>
            </a:pPr>
            <a:r>
              <a:rPr lang="fr-FR" sz="2000" dirty="0" smtClean="0">
                <a:latin typeface="Segoe UI" panose="020B0502040204020203" pitchFamily="34" charset="0"/>
                <a:cs typeface="Segoe UI" panose="020B0502040204020203" pitchFamily="34" charset="0"/>
              </a:rPr>
              <a:t>Les propriétés attachées</a:t>
            </a:r>
          </a:p>
          <a:p>
            <a:pPr marL="256540" indent="-243840" eaLnBrk="1" fontAlgn="auto" hangingPunct="1">
              <a:lnSpc>
                <a:spcPct val="150000"/>
              </a:lnSpc>
              <a:spcBef>
                <a:spcPts val="240"/>
              </a:spcBef>
              <a:spcAft>
                <a:spcPts val="0"/>
              </a:spcAft>
              <a:buClr>
                <a:srgbClr val="006498"/>
              </a:buClr>
              <a:buSzPct val="57500"/>
              <a:buFont typeface="Wingdings"/>
              <a:buChar char=""/>
              <a:tabLst>
                <a:tab pos="257175" algn="l"/>
              </a:tabLst>
              <a:defRPr/>
            </a:pPr>
            <a:r>
              <a:rPr lang="fr-FR" sz="2000" dirty="0" smtClean="0">
                <a:latin typeface="Segoe UI" panose="020B0502040204020203" pitchFamily="34" charset="0"/>
                <a:cs typeface="Segoe UI" panose="020B0502040204020203" pitchFamily="34" charset="0"/>
              </a:rPr>
              <a:t>Les extensions de balisages </a:t>
            </a:r>
            <a:endParaRPr sz="20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1562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7"/>
          <p:cNvSpPr txBox="1"/>
          <p:nvPr/>
        </p:nvSpPr>
        <p:spPr>
          <a:xfrm>
            <a:off x="250063" y="288349"/>
            <a:ext cx="5865813" cy="346249"/>
          </a:xfrm>
          <a:prstGeom prst="rect">
            <a:avLst/>
          </a:prstGeom>
        </p:spPr>
        <p:txBody>
          <a:bodyPr lIns="0" tIns="0" rIns="0" bIns="0">
            <a:spAutoFit/>
          </a:bodyPr>
          <a:lstStyle/>
          <a:p>
            <a:pPr marL="12700" eaLnBrk="1" fontAlgn="auto" hangingPunct="1">
              <a:spcBef>
                <a:spcPts val="0"/>
              </a:spcBef>
              <a:spcAft>
                <a:spcPts val="0"/>
              </a:spcAft>
              <a:tabLst>
                <a:tab pos="5852795" algn="l"/>
              </a:tabLst>
              <a:defRPr/>
            </a:pPr>
            <a:r>
              <a:rPr sz="2250" u="heavy" spc="-50" dirty="0">
                <a:latin typeface="Segoe UI Symbol"/>
                <a:cs typeface="Segoe UI Symbol"/>
              </a:rPr>
              <a:t>D</a:t>
            </a:r>
            <a:r>
              <a:rPr sz="2250" u="heavy" spc="-45" dirty="0">
                <a:latin typeface="Segoe UI Symbol"/>
                <a:cs typeface="Segoe UI Symbol"/>
              </a:rPr>
              <a:t>a</a:t>
            </a:r>
            <a:r>
              <a:rPr sz="2250" u="heavy" spc="-95" dirty="0">
                <a:latin typeface="Segoe UI Symbol"/>
                <a:cs typeface="Segoe UI Symbol"/>
              </a:rPr>
              <a:t>t</a:t>
            </a:r>
            <a:r>
              <a:rPr sz="2250" u="heavy" spc="-45" dirty="0">
                <a:latin typeface="Segoe UI Symbol"/>
                <a:cs typeface="Segoe UI Symbol"/>
              </a:rPr>
              <a:t>a</a:t>
            </a:r>
            <a:r>
              <a:rPr sz="2250" u="heavy" spc="-50" dirty="0">
                <a:latin typeface="Segoe UI Symbol"/>
                <a:cs typeface="Segoe UI Symbol"/>
              </a:rPr>
              <a:t>B</a:t>
            </a:r>
            <a:r>
              <a:rPr sz="2250" u="heavy" spc="-120" dirty="0">
                <a:latin typeface="Segoe UI Symbol"/>
                <a:cs typeface="Segoe UI Symbol"/>
              </a:rPr>
              <a:t>i</a:t>
            </a:r>
            <a:r>
              <a:rPr sz="2250" u="heavy" spc="-30" dirty="0">
                <a:latin typeface="Segoe UI Symbol"/>
                <a:cs typeface="Segoe UI Symbol"/>
              </a:rPr>
              <a:t>n</a:t>
            </a:r>
            <a:r>
              <a:rPr sz="2250" u="heavy" spc="-35" dirty="0">
                <a:latin typeface="Segoe UI Symbol"/>
                <a:cs typeface="Segoe UI Symbol"/>
              </a:rPr>
              <a:t>d</a:t>
            </a:r>
            <a:r>
              <a:rPr sz="2250" u="heavy" spc="-120" dirty="0">
                <a:latin typeface="Segoe UI Symbol"/>
                <a:cs typeface="Segoe UI Symbol"/>
              </a:rPr>
              <a:t>i</a:t>
            </a:r>
            <a:r>
              <a:rPr sz="2250" u="heavy" spc="-30" dirty="0">
                <a:latin typeface="Segoe UI Symbol"/>
                <a:cs typeface="Segoe UI Symbol"/>
              </a:rPr>
              <a:t>n</a:t>
            </a:r>
            <a:r>
              <a:rPr sz="2250" u="heavy" dirty="0">
                <a:latin typeface="Segoe UI Symbol"/>
                <a:cs typeface="Segoe UI Symbol"/>
              </a:rPr>
              <a:t>g</a:t>
            </a:r>
            <a:r>
              <a:rPr sz="2250" u="heavy" spc="-170" dirty="0">
                <a:latin typeface="Segoe UI Symbol"/>
                <a:cs typeface="Segoe UI Symbol"/>
              </a:rPr>
              <a:t> </a:t>
            </a:r>
            <a:r>
              <a:rPr sz="2250" u="heavy" spc="-80" dirty="0">
                <a:latin typeface="Segoe UI Symbol"/>
                <a:cs typeface="Segoe UI Symbol"/>
              </a:rPr>
              <a:t>e</a:t>
            </a:r>
            <a:r>
              <a:rPr sz="2250" u="heavy" spc="-30" dirty="0">
                <a:latin typeface="Segoe UI Symbol"/>
                <a:cs typeface="Segoe UI Symbol"/>
              </a:rPr>
              <a:t>n</a:t>
            </a:r>
            <a:r>
              <a:rPr sz="2250" u="heavy" spc="-45" dirty="0">
                <a:latin typeface="Segoe UI Symbol"/>
                <a:cs typeface="Segoe UI Symbol"/>
              </a:rPr>
              <a:t>t</a:t>
            </a:r>
            <a:r>
              <a:rPr sz="2250" u="heavy" spc="-114" dirty="0">
                <a:latin typeface="Segoe UI Symbol"/>
                <a:cs typeface="Segoe UI Symbol"/>
              </a:rPr>
              <a:t>r</a:t>
            </a:r>
            <a:r>
              <a:rPr sz="2250" u="heavy" dirty="0">
                <a:latin typeface="Segoe UI Symbol"/>
                <a:cs typeface="Segoe UI Symbol"/>
              </a:rPr>
              <a:t>e</a:t>
            </a:r>
            <a:r>
              <a:rPr sz="2250" u="heavy" spc="-170" dirty="0">
                <a:latin typeface="Segoe UI Symbol"/>
                <a:cs typeface="Segoe UI Symbol"/>
              </a:rPr>
              <a:t> </a:t>
            </a:r>
            <a:r>
              <a:rPr sz="2250" u="heavy" spc="-30" dirty="0" err="1">
                <a:latin typeface="Segoe UI Symbol"/>
                <a:cs typeface="Segoe UI Symbol"/>
              </a:rPr>
              <a:t>é</a:t>
            </a:r>
            <a:r>
              <a:rPr sz="2250" u="heavy" spc="-120" dirty="0" err="1">
                <a:latin typeface="Segoe UI Symbol"/>
                <a:cs typeface="Segoe UI Symbol"/>
              </a:rPr>
              <a:t>l</a:t>
            </a:r>
            <a:r>
              <a:rPr sz="2250" u="heavy" spc="-30" dirty="0" err="1">
                <a:latin typeface="Segoe UI Symbol"/>
                <a:cs typeface="Segoe UI Symbol"/>
              </a:rPr>
              <a:t>é</a:t>
            </a:r>
            <a:r>
              <a:rPr sz="2250" u="heavy" spc="-75" dirty="0" err="1">
                <a:latin typeface="Segoe UI Symbol"/>
                <a:cs typeface="Segoe UI Symbol"/>
              </a:rPr>
              <a:t>m</a:t>
            </a:r>
            <a:r>
              <a:rPr sz="2250" u="heavy" spc="-80" dirty="0" err="1">
                <a:latin typeface="Segoe UI Symbol"/>
                <a:cs typeface="Segoe UI Symbol"/>
              </a:rPr>
              <a:t>e</a:t>
            </a:r>
            <a:r>
              <a:rPr sz="2250" u="heavy" spc="-30" dirty="0" err="1">
                <a:latin typeface="Segoe UI Symbol"/>
                <a:cs typeface="Segoe UI Symbol"/>
              </a:rPr>
              <a:t>n</a:t>
            </a:r>
            <a:r>
              <a:rPr sz="2250" u="heavy" spc="-45" dirty="0" err="1">
                <a:latin typeface="Segoe UI Symbol"/>
                <a:cs typeface="Segoe UI Symbol"/>
              </a:rPr>
              <a:t>t</a:t>
            </a:r>
            <a:r>
              <a:rPr sz="2250" u="heavy" dirty="0" err="1">
                <a:latin typeface="Segoe UI Symbol"/>
                <a:cs typeface="Segoe UI Symbol"/>
              </a:rPr>
              <a:t>s</a:t>
            </a:r>
            <a:r>
              <a:rPr sz="2250" u="heavy" dirty="0">
                <a:latin typeface="Segoe UI Symbol"/>
                <a:cs typeface="Segoe UI Symbol"/>
              </a:rPr>
              <a:t> </a:t>
            </a:r>
            <a:endParaRPr sz="2250" dirty="0">
              <a:latin typeface="Times New Roman"/>
              <a:cs typeface="Times New Roman"/>
            </a:endParaRPr>
          </a:p>
        </p:txBody>
      </p:sp>
      <p:sp>
        <p:nvSpPr>
          <p:cNvPr id="5" name="object 28"/>
          <p:cNvSpPr txBox="1">
            <a:spLocks noChangeArrowheads="1"/>
          </p:cNvSpPr>
          <p:nvPr/>
        </p:nvSpPr>
        <p:spPr bwMode="auto">
          <a:xfrm>
            <a:off x="250063" y="929949"/>
            <a:ext cx="10671238" cy="196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261938" indent="-249238">
              <a:tabLst>
                <a:tab pos="257175" algn="l"/>
              </a:tabLst>
              <a:defRPr>
                <a:solidFill>
                  <a:schemeClr val="tx1"/>
                </a:solidFill>
                <a:latin typeface="Calibri" panose="020F0502020204030204" pitchFamily="34" charset="0"/>
                <a:cs typeface="Arial" panose="020B0604020202020204" pitchFamily="34" charset="0"/>
              </a:defRPr>
            </a:lvl1pPr>
            <a:lvl2pPr marL="742950" indent="-285750">
              <a:tabLst>
                <a:tab pos="257175" algn="l"/>
              </a:tabLst>
              <a:defRPr>
                <a:solidFill>
                  <a:schemeClr val="tx1"/>
                </a:solidFill>
                <a:latin typeface="Calibri" panose="020F0502020204030204" pitchFamily="34" charset="0"/>
                <a:cs typeface="Arial" panose="020B0604020202020204" pitchFamily="34" charset="0"/>
              </a:defRPr>
            </a:lvl2pPr>
            <a:lvl3pPr marL="1143000" indent="-228600">
              <a:tabLst>
                <a:tab pos="257175" algn="l"/>
              </a:tabLst>
              <a:defRPr>
                <a:solidFill>
                  <a:schemeClr val="tx1"/>
                </a:solidFill>
                <a:latin typeface="Calibri" panose="020F0502020204030204" pitchFamily="34" charset="0"/>
                <a:cs typeface="Arial" panose="020B0604020202020204" pitchFamily="34" charset="0"/>
              </a:defRPr>
            </a:lvl3pPr>
            <a:lvl4pPr marL="1600200" indent="-228600">
              <a:tabLst>
                <a:tab pos="257175" algn="l"/>
              </a:tabLst>
              <a:defRPr>
                <a:solidFill>
                  <a:schemeClr val="tx1"/>
                </a:solidFill>
                <a:latin typeface="Calibri" panose="020F0502020204030204" pitchFamily="34" charset="0"/>
                <a:cs typeface="Arial" panose="020B0604020202020204" pitchFamily="34" charset="0"/>
              </a:defRPr>
            </a:lvl4pPr>
            <a:lvl5pPr marL="2057400" indent="-228600">
              <a:tabLst>
                <a:tab pos="257175"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9pPr>
          </a:lstStyle>
          <a:p>
            <a:pPr eaLnBrk="1" hangingPunct="1">
              <a:lnSpc>
                <a:spcPts val="1488"/>
              </a:lnSpc>
              <a:buClr>
                <a:srgbClr val="006498"/>
              </a:buClr>
              <a:buSzPct val="60000"/>
              <a:buFont typeface="Wingdings" panose="05000000000000000000" pitchFamily="2" charset="2"/>
              <a:buChar char=""/>
            </a:pPr>
            <a:r>
              <a:rPr lang="fr-FR" altLang="en-US" dirty="0" smtClean="0">
                <a:latin typeface="Segoe UI" panose="020B0502040204020203" pitchFamily="34" charset="0"/>
                <a:cs typeface="Segoe UI" panose="020B0502040204020203" pitchFamily="34" charset="0"/>
              </a:rPr>
              <a:t>Ce ci est un premier exemple de liaison entre éléments visuels</a:t>
            </a:r>
          </a:p>
        </p:txBody>
      </p:sp>
      <p:sp>
        <p:nvSpPr>
          <p:cNvPr id="3" name="Rectangle 2"/>
          <p:cNvSpPr/>
          <p:nvPr/>
        </p:nvSpPr>
        <p:spPr>
          <a:xfrm>
            <a:off x="454133" y="1339641"/>
            <a:ext cx="6896099" cy="3508653"/>
          </a:xfrm>
          <a:prstGeom prst="rect">
            <a:avLst/>
          </a:prstGeom>
        </p:spPr>
        <p:txBody>
          <a:bodyPr wrap="square">
            <a:spAutoFit/>
          </a:bodyPr>
          <a:lstStyle/>
          <a:p>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StackLayout</a:t>
            </a:r>
            <a:r>
              <a:rPr lang="fr-FR" sz="1200" dirty="0">
                <a:solidFill>
                  <a:srgbClr val="0000FF"/>
                </a:solidFill>
                <a:latin typeface="Cascadia Mono" panose="020B0609020000020004" pitchFamily="49" charset="0"/>
              </a:rPr>
              <a:t> &gt;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a:solidFill>
                  <a:srgbClr val="A31515"/>
                </a:solidFill>
                <a:latin typeface="Cascadia Mono" panose="020B0609020000020004" pitchFamily="49" charset="0"/>
              </a:rPr>
              <a:t>Label</a:t>
            </a:r>
            <a:r>
              <a:rPr lang="fr-FR" sz="1200" dirty="0">
                <a:solidFill>
                  <a:srgbClr val="000000"/>
                </a:solidFill>
                <a:latin typeface="Cascadia Mono" panose="020B0609020000020004" pitchFamily="49" charset="0"/>
              </a:rPr>
              <a:t> </a:t>
            </a:r>
          </a:p>
          <a:p>
            <a:r>
              <a:rPr lang="fr-FR" sz="1200" dirty="0">
                <a:solidFill>
                  <a:srgbClr val="000000"/>
                </a:solidFill>
                <a:latin typeface="Cascadia Mono" panose="020B0609020000020004" pitchFamily="49" charset="0"/>
              </a:rPr>
              <a:t>           </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FontSize</a:t>
            </a:r>
            <a:r>
              <a:rPr lang="fr-FR" sz="1200" dirty="0">
                <a:solidFill>
                  <a:srgbClr val="0000FF"/>
                </a:solidFill>
                <a:latin typeface="Cascadia Mono" panose="020B0609020000020004" pitchFamily="49" charset="0"/>
              </a:rPr>
              <a:t>="Large"</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Margin</a:t>
            </a:r>
            <a:r>
              <a:rPr lang="fr-FR" sz="1200" dirty="0">
                <a:solidFill>
                  <a:srgbClr val="0000FF"/>
                </a:solidFill>
                <a:latin typeface="Cascadia Mono" panose="020B0609020000020004" pitchFamily="49" charset="0"/>
              </a:rPr>
              <a:t>="20"</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FF0000"/>
                </a:solidFill>
                <a:latin typeface="Cascadia Mono" panose="020B0609020000020004" pitchFamily="49" charset="0"/>
              </a:rPr>
              <a:t> Text</a:t>
            </a:r>
            <a:r>
              <a:rPr lang="fr-FR" sz="1200" dirty="0">
                <a:solidFill>
                  <a:srgbClr val="0000FF"/>
                </a:solidFill>
                <a:latin typeface="Cascadia Mono" panose="020B0609020000020004" pitchFamily="49" charset="0"/>
              </a:rPr>
              <a:t>="Exemple de liaison entre un </a:t>
            </a:r>
            <a:r>
              <a:rPr lang="fr-FR" sz="1200" dirty="0" err="1">
                <a:solidFill>
                  <a:srgbClr val="0000FF"/>
                </a:solidFill>
                <a:latin typeface="Cascadia Mono" panose="020B0609020000020004" pitchFamily="49" charset="0"/>
              </a:rPr>
              <a:t>slider</a:t>
            </a:r>
            <a:r>
              <a:rPr lang="fr-FR" sz="1200" dirty="0">
                <a:solidFill>
                  <a:srgbClr val="0000FF"/>
                </a:solidFill>
                <a:latin typeface="Cascadia Mono" panose="020B0609020000020004" pitchFamily="49" charset="0"/>
              </a:rPr>
              <a:t> et un label:"/&gt;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a:solidFill>
                  <a:srgbClr val="A31515"/>
                </a:solidFill>
                <a:latin typeface="Cascadia Mono" panose="020B0609020000020004" pitchFamily="49" charset="0"/>
              </a:rPr>
              <a:t>Grid</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Margin</a:t>
            </a:r>
            <a:r>
              <a:rPr lang="fr-FR" sz="1200" dirty="0">
                <a:solidFill>
                  <a:srgbClr val="0000FF"/>
                </a:solidFill>
                <a:latin typeface="Cascadia Mono" panose="020B0609020000020004" pitchFamily="49" charset="0"/>
              </a:rPr>
              <a:t>="20"</a:t>
            </a:r>
            <a:r>
              <a:rPr lang="fr-FR" sz="1200" dirty="0">
                <a:solidFill>
                  <a:srgbClr val="FF0000"/>
                </a:solidFill>
                <a:latin typeface="Cascadia Mono" panose="020B0609020000020004" pitchFamily="49" charset="0"/>
              </a:rPr>
              <a:t> VerticalOptions</a:t>
            </a:r>
            <a:r>
              <a:rPr lang="fr-FR" sz="1200" dirty="0">
                <a:solidFill>
                  <a:srgbClr val="0000FF"/>
                </a:solidFill>
                <a:latin typeface="Cascadia Mono" panose="020B0609020000020004" pitchFamily="49" charset="0"/>
              </a:rPr>
              <a:t>="Center" &gt;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Grid.RowDefinitions</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RowDefinition</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Height</a:t>
            </a:r>
            <a:r>
              <a:rPr lang="fr-FR" sz="1200" dirty="0">
                <a:solidFill>
                  <a:srgbClr val="0000FF"/>
                </a:solidFill>
                <a:latin typeface="Cascadia Mono" panose="020B0609020000020004" pitchFamily="49" charset="0"/>
              </a:rPr>
              <a:t>="1*" /&gt;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RowDefinition</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Height</a:t>
            </a:r>
            <a:r>
              <a:rPr lang="fr-FR" sz="1200" dirty="0">
                <a:solidFill>
                  <a:srgbClr val="0000FF"/>
                </a:solidFill>
                <a:latin typeface="Cascadia Mono" panose="020B0609020000020004" pitchFamily="49" charset="0"/>
              </a:rPr>
              <a:t>="1*" /&gt;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Grid.RowDefinitions</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A31515"/>
                </a:solidFill>
                <a:latin typeface="Cascadia Mono" panose="020B0609020000020004" pitchFamily="49" charset="0"/>
              </a:rPr>
              <a:t>Slider</a:t>
            </a:r>
            <a:r>
              <a:rPr lang="en-US" sz="1200" dirty="0">
                <a:solidFill>
                  <a:srgbClr val="FF0000"/>
                </a:solidFill>
                <a:latin typeface="Cascadia Mono" panose="020B0609020000020004" pitchFamily="49" charset="0"/>
              </a:rPr>
              <a:t> </a:t>
            </a:r>
            <a:r>
              <a:rPr lang="en-US" sz="1400" b="1" dirty="0">
                <a:solidFill>
                  <a:srgbClr val="FF0000"/>
                </a:solidFill>
                <a:effectLst>
                  <a:outerShdw blurRad="38100" dist="38100" dir="2700000" algn="tl">
                    <a:srgbClr val="000000">
                      <a:alpha val="43137"/>
                    </a:srgbClr>
                  </a:outerShdw>
                </a:effectLst>
                <a:latin typeface="Cascadia Mono" panose="020B0609020000020004" pitchFamily="49" charset="0"/>
              </a:rPr>
              <a:t>x</a:t>
            </a:r>
            <a:r>
              <a:rPr lang="en-US" sz="14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en-US" sz="1400" b="1" dirty="0">
                <a:solidFill>
                  <a:srgbClr val="FF0000"/>
                </a:solidFill>
                <a:effectLst>
                  <a:outerShdw blurRad="38100" dist="38100" dir="2700000" algn="tl">
                    <a:srgbClr val="000000">
                      <a:alpha val="43137"/>
                    </a:srgbClr>
                  </a:outerShdw>
                </a:effectLst>
                <a:latin typeface="Cascadia Mono" panose="020B0609020000020004" pitchFamily="49" charset="0"/>
              </a:rPr>
              <a:t>Name</a:t>
            </a:r>
            <a:r>
              <a:rPr lang="en-US" sz="1400" b="1" dirty="0">
                <a:solidFill>
                  <a:srgbClr val="0000FF"/>
                </a:solidFill>
                <a:effectLst>
                  <a:outerShdw blurRad="38100" dist="38100" dir="2700000" algn="tl">
                    <a:srgbClr val="000000">
                      <a:alpha val="43137"/>
                    </a:srgbClr>
                  </a:outerShdw>
                </a:effectLst>
                <a:latin typeface="Cascadia Mono" panose="020B0609020000020004" pitchFamily="49" charset="0"/>
              </a:rPr>
              <a:t>="MySlider"</a:t>
            </a:r>
            <a:r>
              <a:rPr lang="en-US" sz="1400" b="1" dirty="0">
                <a:solidFill>
                  <a:srgbClr val="FF0000"/>
                </a:solidFill>
                <a:effectLst>
                  <a:outerShdw blurRad="38100" dist="38100" dir="2700000" algn="tl">
                    <a:srgbClr val="000000">
                      <a:alpha val="43137"/>
                    </a:srgbClr>
                  </a:outerShdw>
                </a:effectLst>
                <a:latin typeface="Cascadia Mono" panose="020B0609020000020004" pitchFamily="49" charset="0"/>
              </a:rPr>
              <a:t> </a:t>
            </a:r>
            <a:r>
              <a:rPr lang="en-US" sz="1200" dirty="0">
                <a:solidFill>
                  <a:srgbClr val="FF0000"/>
                </a:solidFill>
                <a:latin typeface="Cascadia Mono" panose="020B0609020000020004" pitchFamily="49" charset="0"/>
              </a:rPr>
              <a:t>Value</a:t>
            </a:r>
            <a:r>
              <a:rPr lang="en-US" sz="1200" dirty="0">
                <a:solidFill>
                  <a:srgbClr val="0000FF"/>
                </a:solidFill>
                <a:latin typeface="Cascadia Mono" panose="020B0609020000020004" pitchFamily="49" charset="0"/>
              </a:rPr>
              <a:t>="0.5"/&gt;</a:t>
            </a:r>
            <a:endParaRPr lang="en-US"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a:solidFill>
                  <a:srgbClr val="A31515"/>
                </a:solidFill>
                <a:latin typeface="Cascadia Mono" panose="020B0609020000020004" pitchFamily="49" charset="0"/>
              </a:rPr>
              <a:t>Label</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Margin</a:t>
            </a:r>
            <a:r>
              <a:rPr lang="fr-FR" sz="1200" dirty="0">
                <a:solidFill>
                  <a:srgbClr val="0000FF"/>
                </a:solidFill>
                <a:latin typeface="Cascadia Mono" panose="020B0609020000020004" pitchFamily="49" charset="0"/>
              </a:rPr>
              <a:t>="20"</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FontSize</a:t>
            </a:r>
            <a:r>
              <a:rPr lang="fr-FR" sz="1200" dirty="0">
                <a:solidFill>
                  <a:srgbClr val="0000FF"/>
                </a:solidFill>
                <a:latin typeface="Cascadia Mono" panose="020B0609020000020004" pitchFamily="49" charset="0"/>
              </a:rPr>
              <a:t>="Medium"</a:t>
            </a:r>
            <a:endParaRPr lang="fr-FR"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 </a:t>
            </a:r>
            <a:r>
              <a:rPr lang="en-US" sz="1400" b="1" dirty="0">
                <a:solidFill>
                  <a:srgbClr val="FF0000"/>
                </a:solidFill>
                <a:effectLst>
                  <a:outerShdw blurRad="38100" dist="38100" dir="2700000" algn="tl">
                    <a:srgbClr val="000000">
                      <a:alpha val="43137"/>
                    </a:srgbClr>
                  </a:outerShdw>
                </a:effectLst>
                <a:latin typeface="Cascadia Mono" panose="020B0609020000020004" pitchFamily="49" charset="0"/>
              </a:rPr>
              <a:t>Text</a:t>
            </a:r>
            <a:r>
              <a:rPr lang="en-US" sz="14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en-US" sz="1400" b="1" dirty="0">
                <a:solidFill>
                  <a:srgbClr val="A31515"/>
                </a:solidFill>
                <a:effectLst>
                  <a:outerShdw blurRad="38100" dist="38100" dir="2700000" algn="tl">
                    <a:srgbClr val="000000">
                      <a:alpha val="43137"/>
                    </a:srgbClr>
                  </a:outerShdw>
                </a:effectLst>
                <a:latin typeface="Cascadia Mono" panose="020B0609020000020004" pitchFamily="49" charset="0"/>
              </a:rPr>
              <a:t>Binding</a:t>
            </a:r>
            <a:r>
              <a:rPr lang="en-US" sz="1400" b="1" dirty="0">
                <a:solidFill>
                  <a:srgbClr val="FF0000"/>
                </a:solidFill>
                <a:effectLst>
                  <a:outerShdw blurRad="38100" dist="38100" dir="2700000" algn="tl">
                    <a:srgbClr val="000000">
                      <a:alpha val="43137"/>
                    </a:srgbClr>
                  </a:outerShdw>
                </a:effectLst>
                <a:latin typeface="Cascadia Mono" panose="020B0609020000020004" pitchFamily="49" charset="0"/>
              </a:rPr>
              <a:t> Source</a:t>
            </a:r>
            <a:r>
              <a:rPr lang="en-US" sz="14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en-US" sz="1400" b="1" dirty="0" err="1">
                <a:solidFill>
                  <a:srgbClr val="A31515"/>
                </a:solidFill>
                <a:effectLst>
                  <a:outerShdw blurRad="38100" dist="38100" dir="2700000" algn="tl">
                    <a:srgbClr val="000000">
                      <a:alpha val="43137"/>
                    </a:srgbClr>
                  </a:outerShdw>
                </a:effectLst>
                <a:latin typeface="Cascadia Mono" panose="020B0609020000020004" pitchFamily="49" charset="0"/>
              </a:rPr>
              <a:t>x</a:t>
            </a:r>
            <a:r>
              <a:rPr lang="en-US" sz="1400" b="1" dirty="0" err="1">
                <a:solidFill>
                  <a:srgbClr val="0000FF"/>
                </a:solidFill>
                <a:effectLst>
                  <a:outerShdw blurRad="38100" dist="38100" dir="2700000" algn="tl">
                    <a:srgbClr val="000000">
                      <a:alpha val="43137"/>
                    </a:srgbClr>
                  </a:outerShdw>
                </a:effectLst>
                <a:latin typeface="Cascadia Mono" panose="020B0609020000020004" pitchFamily="49" charset="0"/>
              </a:rPr>
              <a:t>:</a:t>
            </a:r>
            <a:r>
              <a:rPr lang="en-US" sz="1400" b="1" dirty="0" err="1">
                <a:solidFill>
                  <a:srgbClr val="A31515"/>
                </a:solidFill>
                <a:effectLst>
                  <a:outerShdw blurRad="38100" dist="38100" dir="2700000" algn="tl">
                    <a:srgbClr val="000000">
                      <a:alpha val="43137"/>
                    </a:srgbClr>
                  </a:outerShdw>
                </a:effectLst>
                <a:latin typeface="Cascadia Mono" panose="020B0609020000020004" pitchFamily="49" charset="0"/>
              </a:rPr>
              <a:t>Reference</a:t>
            </a:r>
            <a:r>
              <a:rPr lang="en-US" sz="1400" b="1" dirty="0">
                <a:solidFill>
                  <a:srgbClr val="FF0000"/>
                </a:solidFill>
                <a:effectLst>
                  <a:outerShdw blurRad="38100" dist="38100" dir="2700000" algn="tl">
                    <a:srgbClr val="000000">
                      <a:alpha val="43137"/>
                    </a:srgbClr>
                  </a:outerShdw>
                </a:effectLst>
                <a:latin typeface="Cascadia Mono" panose="020B0609020000020004" pitchFamily="49" charset="0"/>
              </a:rPr>
              <a:t> </a:t>
            </a:r>
            <a:r>
              <a:rPr lang="en-US" sz="1400" b="1" dirty="0" err="1">
                <a:solidFill>
                  <a:srgbClr val="FF0000"/>
                </a:solidFill>
                <a:effectLst>
                  <a:outerShdw blurRad="38100" dist="38100" dir="2700000" algn="tl">
                    <a:srgbClr val="000000">
                      <a:alpha val="43137"/>
                    </a:srgbClr>
                  </a:outerShdw>
                </a:effectLst>
                <a:latin typeface="Cascadia Mono" panose="020B0609020000020004" pitchFamily="49" charset="0"/>
              </a:rPr>
              <a:t>MySlider</a:t>
            </a:r>
            <a:r>
              <a:rPr lang="en-US" sz="14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en-US" sz="1400" b="1" dirty="0">
                <a:solidFill>
                  <a:srgbClr val="000000"/>
                </a:solidFill>
                <a:effectLst>
                  <a:outerShdw blurRad="38100" dist="38100" dir="2700000" algn="tl">
                    <a:srgbClr val="000000">
                      <a:alpha val="43137"/>
                    </a:srgbClr>
                  </a:outerShdw>
                </a:effectLst>
                <a:latin typeface="Cascadia Mono" panose="020B0609020000020004" pitchFamily="49" charset="0"/>
              </a:rPr>
              <a:t> </a:t>
            </a:r>
          </a:p>
          <a:p>
            <a:r>
              <a:rPr lang="fr-FR" sz="1400" b="1" dirty="0">
                <a:solidFill>
                  <a:srgbClr val="000000"/>
                </a:solidFill>
                <a:effectLst>
                  <a:outerShdw blurRad="38100" dist="38100" dir="2700000" algn="tl">
                    <a:srgbClr val="000000">
                      <a:alpha val="43137"/>
                    </a:srgbClr>
                  </a:outerShdw>
                </a:effectLst>
                <a:latin typeface="Cascadia Mono" panose="020B0609020000020004" pitchFamily="49" charset="0"/>
              </a:rPr>
              <a:t>                           </a:t>
            </a:r>
            <a:r>
              <a:rPr lang="fr-FR" sz="1400" b="1" dirty="0">
                <a:solidFill>
                  <a:srgbClr val="FF0000"/>
                </a:solidFill>
                <a:effectLst>
                  <a:outerShdw blurRad="38100" dist="38100" dir="2700000" algn="tl">
                    <a:srgbClr val="000000">
                      <a:alpha val="43137"/>
                    </a:srgbClr>
                  </a:outerShdw>
                </a:effectLst>
                <a:latin typeface="Cascadia Mono" panose="020B0609020000020004" pitchFamily="49" charset="0"/>
              </a:rPr>
              <a:t> Path</a:t>
            </a:r>
            <a:r>
              <a:rPr lang="fr-FR" sz="1400" b="1" dirty="0">
                <a:solidFill>
                  <a:srgbClr val="0000FF"/>
                </a:solidFill>
                <a:effectLst>
                  <a:outerShdw blurRad="38100" dist="38100" dir="2700000" algn="tl">
                    <a:srgbClr val="000000">
                      <a:alpha val="43137"/>
                    </a:srgbClr>
                  </a:outerShdw>
                </a:effectLst>
                <a:latin typeface="Cascadia Mono" panose="020B0609020000020004" pitchFamily="49" charset="0"/>
              </a:rPr>
              <a:t>=Value,</a:t>
            </a:r>
            <a:endParaRPr lang="fr-FR" sz="1400" b="1" dirty="0">
              <a:solidFill>
                <a:srgbClr val="000000"/>
              </a:solidFill>
              <a:effectLst>
                <a:outerShdw blurRad="38100" dist="38100" dir="2700000" algn="tl">
                  <a:srgbClr val="000000">
                    <a:alpha val="43137"/>
                  </a:srgbClr>
                </a:outerShdw>
              </a:effectLst>
              <a:latin typeface="Cascadia Mono" panose="020B0609020000020004" pitchFamily="49" charset="0"/>
            </a:endParaRPr>
          </a:p>
          <a:p>
            <a:r>
              <a:rPr lang="fr-FR" sz="1400" b="1" dirty="0">
                <a:solidFill>
                  <a:srgbClr val="000000"/>
                </a:solidFill>
                <a:effectLst>
                  <a:outerShdw blurRad="38100" dist="38100" dir="2700000" algn="tl">
                    <a:srgbClr val="000000">
                      <a:alpha val="43137"/>
                    </a:srgbClr>
                  </a:outerShdw>
                </a:effectLst>
                <a:latin typeface="Cascadia Mono" panose="020B0609020000020004" pitchFamily="49" charset="0"/>
              </a:rPr>
              <a:t>                           </a:t>
            </a:r>
            <a:r>
              <a:rPr lang="fr-FR" sz="1400" b="1" dirty="0">
                <a:solidFill>
                  <a:srgbClr val="FF0000"/>
                </a:solidFill>
                <a:effectLst>
                  <a:outerShdw blurRad="38100" dist="38100" dir="2700000" algn="tl">
                    <a:srgbClr val="000000">
                      <a:alpha val="43137"/>
                    </a:srgbClr>
                  </a:outerShdw>
                </a:effectLst>
                <a:latin typeface="Cascadia Mono" panose="020B0609020000020004" pitchFamily="49" charset="0"/>
              </a:rPr>
              <a:t> </a:t>
            </a:r>
            <a:r>
              <a:rPr lang="fr-FR" sz="1400" b="1" dirty="0" err="1">
                <a:solidFill>
                  <a:srgbClr val="FF0000"/>
                </a:solidFill>
                <a:effectLst>
                  <a:outerShdw blurRad="38100" dist="38100" dir="2700000" algn="tl">
                    <a:srgbClr val="000000">
                      <a:alpha val="43137"/>
                    </a:srgbClr>
                  </a:outerShdw>
                </a:effectLst>
                <a:latin typeface="Cascadia Mono" panose="020B0609020000020004" pitchFamily="49" charset="0"/>
              </a:rPr>
              <a:t>StringFormat</a:t>
            </a:r>
            <a:r>
              <a:rPr lang="fr-FR" sz="1400" b="1" dirty="0">
                <a:solidFill>
                  <a:srgbClr val="0000FF"/>
                </a:solidFill>
                <a:effectLst>
                  <a:outerShdw blurRad="38100" dist="38100" dir="2700000" algn="tl">
                    <a:srgbClr val="000000">
                      <a:alpha val="43137"/>
                    </a:srgbClr>
                  </a:outerShdw>
                </a:effectLst>
                <a:latin typeface="Cascadia Mono" panose="020B0609020000020004" pitchFamily="49" charset="0"/>
              </a:rPr>
              <a:t>='la valeur: {0:F2}'}"</a:t>
            </a:r>
            <a:endParaRPr lang="fr-FR" sz="1400" b="1" dirty="0">
              <a:solidFill>
                <a:srgbClr val="000000"/>
              </a:solidFill>
              <a:effectLst>
                <a:outerShdw blurRad="38100" dist="38100" dir="2700000" algn="tl">
                  <a:srgbClr val="000000">
                    <a:alpha val="43137"/>
                  </a:srgbClr>
                </a:outerShdw>
              </a:effectLst>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Grid.Row</a:t>
            </a:r>
            <a:r>
              <a:rPr lang="fr-FR" sz="1200" dirty="0">
                <a:solidFill>
                  <a:srgbClr val="0000FF"/>
                </a:solidFill>
                <a:latin typeface="Cascadia Mono" panose="020B0609020000020004" pitchFamily="49" charset="0"/>
              </a:rPr>
              <a:t>="1"/&gt;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a:solidFill>
                  <a:srgbClr val="A31515"/>
                </a:solidFill>
                <a:latin typeface="Cascadia Mono" panose="020B0609020000020004" pitchFamily="49" charset="0"/>
              </a:rPr>
              <a:t>Grid</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StackLayout</a:t>
            </a:r>
            <a:r>
              <a:rPr lang="fr-FR" sz="1200" dirty="0">
                <a:solidFill>
                  <a:srgbClr val="0000FF"/>
                </a:solidFill>
                <a:latin typeface="Cascadia Mono" panose="020B0609020000020004" pitchFamily="49" charset="0"/>
              </a:rPr>
              <a:t>&gt;</a:t>
            </a:r>
            <a:endParaRPr lang="fr-FR" sz="1200" dirty="0"/>
          </a:p>
        </p:txBody>
      </p:sp>
      <p:cxnSp>
        <p:nvCxnSpPr>
          <p:cNvPr id="9" name="Connecteur droit avec flèche 8"/>
          <p:cNvCxnSpPr/>
          <p:nvPr/>
        </p:nvCxnSpPr>
        <p:spPr>
          <a:xfrm>
            <a:off x="3821500" y="3236142"/>
            <a:ext cx="2103344" cy="322729"/>
          </a:xfrm>
          <a:prstGeom prst="straightConnector1">
            <a:avLst/>
          </a:prstGeom>
          <a:ln w="2857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13" name="Image 12"/>
          <p:cNvPicPr>
            <a:picLocks noChangeAspect="1"/>
          </p:cNvPicPr>
          <p:nvPr/>
        </p:nvPicPr>
        <p:blipFill>
          <a:blip r:embed="rId2"/>
          <a:stretch>
            <a:fillRect/>
          </a:stretch>
        </p:blipFill>
        <p:spPr>
          <a:xfrm>
            <a:off x="9138317" y="885494"/>
            <a:ext cx="2177738" cy="4931774"/>
          </a:xfrm>
          <a:prstGeom prst="rect">
            <a:avLst/>
          </a:prstGeom>
        </p:spPr>
      </p:pic>
    </p:spTree>
    <p:extLst>
      <p:ext uri="{BB962C8B-B14F-4D97-AF65-F5344CB8AC3E}">
        <p14:creationId xmlns:p14="http://schemas.microsoft.com/office/powerpoint/2010/main" val="2790138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7"/>
          <p:cNvSpPr txBox="1"/>
          <p:nvPr/>
        </p:nvSpPr>
        <p:spPr>
          <a:xfrm>
            <a:off x="207952" y="361825"/>
            <a:ext cx="5865813" cy="346249"/>
          </a:xfrm>
          <a:prstGeom prst="rect">
            <a:avLst/>
          </a:prstGeom>
        </p:spPr>
        <p:txBody>
          <a:bodyPr lIns="0" tIns="0" rIns="0" bIns="0">
            <a:spAutoFit/>
          </a:bodyPr>
          <a:lstStyle/>
          <a:p>
            <a:pPr marL="12700" eaLnBrk="1" fontAlgn="auto" hangingPunct="1">
              <a:spcBef>
                <a:spcPts val="0"/>
              </a:spcBef>
              <a:spcAft>
                <a:spcPts val="0"/>
              </a:spcAft>
              <a:tabLst>
                <a:tab pos="5852795" algn="l"/>
              </a:tabLst>
              <a:defRPr/>
            </a:pPr>
            <a:r>
              <a:rPr sz="2250" u="heavy" spc="-50" dirty="0">
                <a:latin typeface="Segoe UI Symbol"/>
                <a:cs typeface="Segoe UI Symbol"/>
              </a:rPr>
              <a:t>D</a:t>
            </a:r>
            <a:r>
              <a:rPr sz="2250" u="heavy" spc="-45" dirty="0">
                <a:latin typeface="Segoe UI Symbol"/>
                <a:cs typeface="Segoe UI Symbol"/>
              </a:rPr>
              <a:t>a</a:t>
            </a:r>
            <a:r>
              <a:rPr sz="2250" u="heavy" spc="-95" dirty="0">
                <a:latin typeface="Segoe UI Symbol"/>
                <a:cs typeface="Segoe UI Symbol"/>
              </a:rPr>
              <a:t>t</a:t>
            </a:r>
            <a:r>
              <a:rPr sz="2250" u="heavy" spc="-45" dirty="0">
                <a:latin typeface="Segoe UI Symbol"/>
                <a:cs typeface="Segoe UI Symbol"/>
              </a:rPr>
              <a:t>a</a:t>
            </a:r>
            <a:r>
              <a:rPr sz="2250" u="heavy" spc="-50" dirty="0">
                <a:latin typeface="Segoe UI Symbol"/>
                <a:cs typeface="Segoe UI Symbol"/>
              </a:rPr>
              <a:t>B</a:t>
            </a:r>
            <a:r>
              <a:rPr sz="2250" u="heavy" spc="-120" dirty="0">
                <a:latin typeface="Segoe UI Symbol"/>
                <a:cs typeface="Segoe UI Symbol"/>
              </a:rPr>
              <a:t>i</a:t>
            </a:r>
            <a:r>
              <a:rPr sz="2250" u="heavy" spc="-30" dirty="0">
                <a:latin typeface="Segoe UI Symbol"/>
                <a:cs typeface="Segoe UI Symbol"/>
              </a:rPr>
              <a:t>n</a:t>
            </a:r>
            <a:r>
              <a:rPr sz="2250" u="heavy" spc="-35" dirty="0">
                <a:latin typeface="Segoe UI Symbol"/>
                <a:cs typeface="Segoe UI Symbol"/>
              </a:rPr>
              <a:t>d</a:t>
            </a:r>
            <a:r>
              <a:rPr sz="2250" u="heavy" spc="-120" dirty="0">
                <a:latin typeface="Segoe UI Symbol"/>
                <a:cs typeface="Segoe UI Symbol"/>
              </a:rPr>
              <a:t>i</a:t>
            </a:r>
            <a:r>
              <a:rPr sz="2250" u="heavy" spc="-30" dirty="0">
                <a:latin typeface="Segoe UI Symbol"/>
                <a:cs typeface="Segoe UI Symbol"/>
              </a:rPr>
              <a:t>n</a:t>
            </a:r>
            <a:r>
              <a:rPr sz="2250" u="heavy" dirty="0">
                <a:latin typeface="Segoe UI Symbol"/>
                <a:cs typeface="Segoe UI Symbol"/>
              </a:rPr>
              <a:t>g</a:t>
            </a:r>
            <a:r>
              <a:rPr sz="2250" u="heavy" spc="-170" dirty="0">
                <a:latin typeface="Segoe UI Symbol"/>
                <a:cs typeface="Segoe UI Symbol"/>
              </a:rPr>
              <a:t> </a:t>
            </a:r>
            <a:r>
              <a:rPr sz="2250" u="heavy" spc="-80" dirty="0">
                <a:latin typeface="Segoe UI Symbol"/>
                <a:cs typeface="Segoe UI Symbol"/>
              </a:rPr>
              <a:t>e</a:t>
            </a:r>
            <a:r>
              <a:rPr sz="2250" u="heavy" spc="-30" dirty="0">
                <a:latin typeface="Segoe UI Symbol"/>
                <a:cs typeface="Segoe UI Symbol"/>
              </a:rPr>
              <a:t>n</a:t>
            </a:r>
            <a:r>
              <a:rPr sz="2250" u="heavy" spc="-45" dirty="0">
                <a:latin typeface="Segoe UI Symbol"/>
                <a:cs typeface="Segoe UI Symbol"/>
              </a:rPr>
              <a:t>t</a:t>
            </a:r>
            <a:r>
              <a:rPr sz="2250" u="heavy" spc="-114" dirty="0">
                <a:latin typeface="Segoe UI Symbol"/>
                <a:cs typeface="Segoe UI Symbol"/>
              </a:rPr>
              <a:t>r</a:t>
            </a:r>
            <a:r>
              <a:rPr sz="2250" u="heavy" dirty="0">
                <a:latin typeface="Segoe UI Symbol"/>
                <a:cs typeface="Segoe UI Symbol"/>
              </a:rPr>
              <a:t>e</a:t>
            </a:r>
            <a:r>
              <a:rPr sz="2250" u="heavy" spc="-170" dirty="0">
                <a:latin typeface="Segoe UI Symbol"/>
                <a:cs typeface="Segoe UI Symbol"/>
              </a:rPr>
              <a:t> </a:t>
            </a:r>
            <a:r>
              <a:rPr sz="2250" u="heavy" spc="-30" dirty="0" err="1">
                <a:latin typeface="Segoe UI Symbol"/>
                <a:cs typeface="Segoe UI Symbol"/>
              </a:rPr>
              <a:t>é</a:t>
            </a:r>
            <a:r>
              <a:rPr sz="2250" u="heavy" spc="-120" dirty="0" err="1">
                <a:latin typeface="Segoe UI Symbol"/>
                <a:cs typeface="Segoe UI Symbol"/>
              </a:rPr>
              <a:t>l</a:t>
            </a:r>
            <a:r>
              <a:rPr sz="2250" u="heavy" spc="-30" dirty="0" err="1">
                <a:latin typeface="Segoe UI Symbol"/>
                <a:cs typeface="Segoe UI Symbol"/>
              </a:rPr>
              <a:t>é</a:t>
            </a:r>
            <a:r>
              <a:rPr sz="2250" u="heavy" spc="-75" dirty="0" err="1">
                <a:latin typeface="Segoe UI Symbol"/>
                <a:cs typeface="Segoe UI Symbol"/>
              </a:rPr>
              <a:t>m</a:t>
            </a:r>
            <a:r>
              <a:rPr sz="2250" u="heavy" spc="-80" dirty="0" err="1">
                <a:latin typeface="Segoe UI Symbol"/>
                <a:cs typeface="Segoe UI Symbol"/>
              </a:rPr>
              <a:t>e</a:t>
            </a:r>
            <a:r>
              <a:rPr sz="2250" u="heavy" spc="-30" dirty="0" err="1">
                <a:latin typeface="Segoe UI Symbol"/>
                <a:cs typeface="Segoe UI Symbol"/>
              </a:rPr>
              <a:t>n</a:t>
            </a:r>
            <a:r>
              <a:rPr sz="2250" u="heavy" spc="-45" dirty="0" err="1">
                <a:latin typeface="Segoe UI Symbol"/>
                <a:cs typeface="Segoe UI Symbol"/>
              </a:rPr>
              <a:t>t</a:t>
            </a:r>
            <a:r>
              <a:rPr sz="2250" u="heavy" dirty="0" err="1">
                <a:latin typeface="Segoe UI Symbol"/>
                <a:cs typeface="Segoe UI Symbol"/>
              </a:rPr>
              <a:t>s</a:t>
            </a:r>
            <a:r>
              <a:rPr sz="2250" u="heavy" dirty="0">
                <a:latin typeface="Segoe UI Symbol"/>
                <a:cs typeface="Segoe UI Symbol"/>
              </a:rPr>
              <a:t> </a:t>
            </a:r>
            <a:endParaRPr sz="2250" dirty="0">
              <a:latin typeface="Times New Roman"/>
              <a:cs typeface="Times New Roman"/>
            </a:endParaRPr>
          </a:p>
        </p:txBody>
      </p:sp>
      <p:sp>
        <p:nvSpPr>
          <p:cNvPr id="5" name="object 28"/>
          <p:cNvSpPr txBox="1">
            <a:spLocks noChangeArrowheads="1"/>
          </p:cNvSpPr>
          <p:nvPr/>
        </p:nvSpPr>
        <p:spPr bwMode="auto">
          <a:xfrm>
            <a:off x="245249" y="1035356"/>
            <a:ext cx="10671238"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261938" indent="-249238">
              <a:tabLst>
                <a:tab pos="257175" algn="l"/>
              </a:tabLst>
              <a:defRPr>
                <a:solidFill>
                  <a:schemeClr val="tx1"/>
                </a:solidFill>
                <a:latin typeface="Calibri" panose="020F0502020204030204" pitchFamily="34" charset="0"/>
                <a:cs typeface="Arial" panose="020B0604020202020204" pitchFamily="34" charset="0"/>
              </a:defRPr>
            </a:lvl1pPr>
            <a:lvl2pPr marL="742950" indent="-285750">
              <a:tabLst>
                <a:tab pos="257175" algn="l"/>
              </a:tabLst>
              <a:defRPr>
                <a:solidFill>
                  <a:schemeClr val="tx1"/>
                </a:solidFill>
                <a:latin typeface="Calibri" panose="020F0502020204030204" pitchFamily="34" charset="0"/>
                <a:cs typeface="Arial" panose="020B0604020202020204" pitchFamily="34" charset="0"/>
              </a:defRPr>
            </a:lvl2pPr>
            <a:lvl3pPr marL="1143000" indent="-228600">
              <a:tabLst>
                <a:tab pos="257175" algn="l"/>
              </a:tabLst>
              <a:defRPr>
                <a:solidFill>
                  <a:schemeClr val="tx1"/>
                </a:solidFill>
                <a:latin typeface="Calibri" panose="020F0502020204030204" pitchFamily="34" charset="0"/>
                <a:cs typeface="Arial" panose="020B0604020202020204" pitchFamily="34" charset="0"/>
              </a:defRPr>
            </a:lvl3pPr>
            <a:lvl4pPr marL="1600200" indent="-228600">
              <a:tabLst>
                <a:tab pos="257175" algn="l"/>
              </a:tabLst>
              <a:defRPr>
                <a:solidFill>
                  <a:schemeClr val="tx1"/>
                </a:solidFill>
                <a:latin typeface="Calibri" panose="020F0502020204030204" pitchFamily="34" charset="0"/>
                <a:cs typeface="Arial" panose="020B0604020202020204" pitchFamily="34" charset="0"/>
              </a:defRPr>
            </a:lvl4pPr>
            <a:lvl5pPr marL="2057400" indent="-228600">
              <a:tabLst>
                <a:tab pos="257175"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9pPr>
          </a:lstStyle>
          <a:p>
            <a:pPr eaLnBrk="1" hangingPunct="1">
              <a:lnSpc>
                <a:spcPts val="1488"/>
              </a:lnSpc>
              <a:buClr>
                <a:srgbClr val="006498"/>
              </a:buClr>
              <a:buSzPct val="60000"/>
              <a:buFont typeface="Wingdings" panose="05000000000000000000" pitchFamily="2" charset="2"/>
              <a:buChar char=""/>
            </a:pPr>
            <a:r>
              <a:rPr lang="fr-FR" altLang="en-US" dirty="0" smtClean="0">
                <a:latin typeface="Segoe UI" panose="020B0502040204020203" pitchFamily="34" charset="0"/>
                <a:cs typeface="Segoe UI" panose="020B0502040204020203" pitchFamily="34" charset="0"/>
              </a:rPr>
              <a:t>Il y a quatre modes de liaisons</a:t>
            </a:r>
          </a:p>
          <a:p>
            <a:pPr lvl="1">
              <a:lnSpc>
                <a:spcPts val="1488"/>
              </a:lnSpc>
              <a:buClr>
                <a:srgbClr val="006498"/>
              </a:buClr>
              <a:buSzPct val="60000"/>
              <a:buFont typeface="Wingdings" panose="05000000000000000000" pitchFamily="2" charset="2"/>
              <a:buChar char=""/>
            </a:pPr>
            <a:endParaRPr lang="fr-FR" altLang="en-US" dirty="0">
              <a:latin typeface="Segoe UI" panose="020B0502040204020203" pitchFamily="34" charset="0"/>
              <a:cs typeface="Segoe UI" panose="020B0502040204020203" pitchFamily="34" charset="0"/>
            </a:endParaRPr>
          </a:p>
          <a:p>
            <a:pPr lvl="1">
              <a:lnSpc>
                <a:spcPts val="1488"/>
              </a:lnSpc>
              <a:buClr>
                <a:srgbClr val="006498"/>
              </a:buClr>
              <a:buSzPct val="60000"/>
              <a:buFont typeface="Wingdings" panose="05000000000000000000" pitchFamily="2" charset="2"/>
              <a:buChar char=""/>
            </a:pPr>
            <a:r>
              <a:rPr lang="fr-FR" altLang="en-US" b="1" dirty="0" smtClean="0">
                <a:latin typeface="Segoe UI" panose="020B0502040204020203" pitchFamily="34" charset="0"/>
                <a:cs typeface="Segoe UI" panose="020B0502040204020203" pitchFamily="34" charset="0"/>
              </a:rPr>
              <a:t>OneWay:</a:t>
            </a:r>
            <a:r>
              <a:rPr lang="fr-FR" altLang="en-US" dirty="0" smtClean="0">
                <a:latin typeface="Segoe UI" panose="020B0502040204020203" pitchFamily="34" charset="0"/>
                <a:cs typeface="Segoe UI" panose="020B0502040204020203" pitchFamily="34" charset="0"/>
              </a:rPr>
              <a:t> La liaison est faite depuis l’élément source vers l ’élément de destination </a:t>
            </a:r>
          </a:p>
          <a:p>
            <a:pPr lvl="1">
              <a:lnSpc>
                <a:spcPts val="1488"/>
              </a:lnSpc>
              <a:buClr>
                <a:srgbClr val="006498"/>
              </a:buClr>
              <a:buSzPct val="60000"/>
              <a:buFont typeface="Wingdings" panose="05000000000000000000" pitchFamily="2" charset="2"/>
              <a:buChar char=""/>
            </a:pPr>
            <a:endParaRPr lang="fr-FR" altLang="en-US" dirty="0" smtClean="0">
              <a:latin typeface="Segoe UI" panose="020B0502040204020203" pitchFamily="34" charset="0"/>
              <a:cs typeface="Segoe UI" panose="020B0502040204020203" pitchFamily="34" charset="0"/>
            </a:endParaRPr>
          </a:p>
          <a:p>
            <a:pPr lvl="1">
              <a:lnSpc>
                <a:spcPts val="1488"/>
              </a:lnSpc>
              <a:buClr>
                <a:srgbClr val="006498"/>
              </a:buClr>
              <a:buSzPct val="60000"/>
              <a:buFont typeface="Wingdings" panose="05000000000000000000" pitchFamily="2" charset="2"/>
              <a:buChar char=""/>
            </a:pPr>
            <a:r>
              <a:rPr lang="fr-FR" altLang="en-US" b="1" dirty="0" smtClean="0">
                <a:latin typeface="Segoe UI" panose="020B0502040204020203" pitchFamily="34" charset="0"/>
                <a:cs typeface="Segoe UI" panose="020B0502040204020203" pitchFamily="34" charset="0"/>
              </a:rPr>
              <a:t>OneWayToSource: </a:t>
            </a:r>
            <a:r>
              <a:rPr lang="fr-FR" altLang="en-US" dirty="0" smtClean="0">
                <a:latin typeface="Segoe UI" panose="020B0502040204020203" pitchFamily="34" charset="0"/>
                <a:cs typeface="Segoe UI" panose="020B0502040204020203" pitchFamily="34" charset="0"/>
              </a:rPr>
              <a:t>La liaison est faite depuis l’élément destination vers l’élément source</a:t>
            </a:r>
          </a:p>
          <a:p>
            <a:pPr lvl="1">
              <a:lnSpc>
                <a:spcPts val="1488"/>
              </a:lnSpc>
              <a:buClr>
                <a:srgbClr val="006498"/>
              </a:buClr>
              <a:buSzPct val="60000"/>
              <a:buFont typeface="Wingdings" panose="05000000000000000000" pitchFamily="2" charset="2"/>
              <a:buChar char=""/>
            </a:pPr>
            <a:endParaRPr lang="fr-FR" altLang="en-US" dirty="0" smtClean="0">
              <a:latin typeface="Segoe UI" panose="020B0502040204020203" pitchFamily="34" charset="0"/>
              <a:cs typeface="Segoe UI" panose="020B0502040204020203" pitchFamily="34" charset="0"/>
            </a:endParaRPr>
          </a:p>
          <a:p>
            <a:pPr lvl="1">
              <a:lnSpc>
                <a:spcPts val="1488"/>
              </a:lnSpc>
              <a:buClr>
                <a:srgbClr val="006498"/>
              </a:buClr>
              <a:buSzPct val="60000"/>
              <a:buFont typeface="Wingdings" panose="05000000000000000000" pitchFamily="2" charset="2"/>
              <a:buChar char=""/>
            </a:pPr>
            <a:r>
              <a:rPr lang="fr-FR" altLang="en-US" b="1" dirty="0" smtClean="0">
                <a:latin typeface="Segoe UI" panose="020B0502040204020203" pitchFamily="34" charset="0"/>
                <a:cs typeface="Segoe UI" panose="020B0502040204020203" pitchFamily="34" charset="0"/>
              </a:rPr>
              <a:t>TwoWays: </a:t>
            </a:r>
            <a:r>
              <a:rPr lang="fr-FR" altLang="en-US" dirty="0" smtClean="0">
                <a:latin typeface="Segoe UI" panose="020B0502040204020203" pitchFamily="34" charset="0"/>
                <a:cs typeface="Segoe UI" panose="020B0502040204020203" pitchFamily="34" charset="0"/>
              </a:rPr>
              <a:t>La liaison est faite dans les deux sens, c’est  le comportement par défaut</a:t>
            </a:r>
            <a:endParaRPr lang="fr-FR" altLang="en-US" b="1" dirty="0" smtClean="0">
              <a:latin typeface="Segoe UI" panose="020B0502040204020203" pitchFamily="34" charset="0"/>
              <a:cs typeface="Segoe UI" panose="020B0502040204020203" pitchFamily="34" charset="0"/>
            </a:endParaRPr>
          </a:p>
          <a:p>
            <a:pPr lvl="1">
              <a:lnSpc>
                <a:spcPts val="1488"/>
              </a:lnSpc>
              <a:buClr>
                <a:srgbClr val="006498"/>
              </a:buClr>
              <a:buSzPct val="60000"/>
              <a:buFont typeface="Wingdings" panose="05000000000000000000" pitchFamily="2" charset="2"/>
              <a:buChar char=""/>
            </a:pPr>
            <a:endParaRPr lang="fr-FR" altLang="en-US" dirty="0" smtClean="0">
              <a:latin typeface="Segoe UI" panose="020B0502040204020203" pitchFamily="34" charset="0"/>
              <a:cs typeface="Segoe UI" panose="020B0502040204020203" pitchFamily="34" charset="0"/>
            </a:endParaRPr>
          </a:p>
          <a:p>
            <a:pPr lvl="1">
              <a:lnSpc>
                <a:spcPts val="1488"/>
              </a:lnSpc>
              <a:buClr>
                <a:srgbClr val="006498"/>
              </a:buClr>
              <a:buSzPct val="60000"/>
              <a:buFont typeface="Wingdings" panose="05000000000000000000" pitchFamily="2" charset="2"/>
              <a:buChar char=""/>
            </a:pPr>
            <a:r>
              <a:rPr lang="fr-FR" altLang="en-US" b="1" dirty="0" err="1" smtClean="0">
                <a:latin typeface="Segoe UI" panose="020B0502040204020203" pitchFamily="34" charset="0"/>
                <a:cs typeface="Segoe UI" panose="020B0502040204020203" pitchFamily="34" charset="0"/>
              </a:rPr>
              <a:t>OneTime</a:t>
            </a:r>
            <a:r>
              <a:rPr lang="fr-FR" altLang="en-US" b="1" dirty="0" smtClean="0">
                <a:latin typeface="Segoe UI" panose="020B0502040204020203" pitchFamily="34" charset="0"/>
                <a:cs typeface="Segoe UI" panose="020B0502040204020203" pitchFamily="34" charset="0"/>
              </a:rPr>
              <a:t>: </a:t>
            </a:r>
            <a:r>
              <a:rPr lang="fr-FR" altLang="en-US" dirty="0">
                <a:latin typeface="Segoe UI" panose="020B0502040204020203" pitchFamily="34" charset="0"/>
                <a:cs typeface="Segoe UI" panose="020B0502040204020203" pitchFamily="34" charset="0"/>
              </a:rPr>
              <a:t>La liaison est faite depuis l’élément source vers l ’élément de destination </a:t>
            </a:r>
            <a:r>
              <a:rPr lang="fr-FR" altLang="en-US" dirty="0" smtClean="0">
                <a:latin typeface="Segoe UI" panose="020B0502040204020203" pitchFamily="34" charset="0"/>
                <a:cs typeface="Segoe UI" panose="020B0502040204020203" pitchFamily="34" charset="0"/>
              </a:rPr>
              <a:t>mais une seule </a:t>
            </a:r>
          </a:p>
          <a:p>
            <a:pPr marL="914400" lvl="2" indent="0">
              <a:lnSpc>
                <a:spcPts val="1488"/>
              </a:lnSpc>
              <a:buClr>
                <a:srgbClr val="006498"/>
              </a:buClr>
              <a:buSzPct val="60000"/>
            </a:pPr>
            <a:endParaRPr lang="fr-FR" altLang="en-US" dirty="0" smtClean="0">
              <a:latin typeface="Segoe UI" panose="020B0502040204020203" pitchFamily="34" charset="0"/>
              <a:cs typeface="Segoe UI" panose="020B0502040204020203" pitchFamily="34" charset="0"/>
            </a:endParaRPr>
          </a:p>
          <a:p>
            <a:pPr marL="914400" lvl="2" indent="0">
              <a:lnSpc>
                <a:spcPts val="1488"/>
              </a:lnSpc>
              <a:buClr>
                <a:srgbClr val="006498"/>
              </a:buClr>
              <a:buSzPct val="60000"/>
            </a:pPr>
            <a:r>
              <a:rPr lang="fr-FR" altLang="en-US" dirty="0" smtClean="0">
                <a:latin typeface="Segoe UI" panose="020B0502040204020203" pitchFamily="34" charset="0"/>
                <a:cs typeface="Segoe UI" panose="020B0502040204020203" pitchFamily="34" charset="0"/>
              </a:rPr>
              <a:t>fois pendant le chargement visuel  </a:t>
            </a:r>
            <a:endParaRPr lang="fr-FR" altLang="en-US" b="1" dirty="0" smtClean="0">
              <a:latin typeface="Segoe UI" panose="020B0502040204020203" pitchFamily="34" charset="0"/>
              <a:cs typeface="Segoe UI" panose="020B0502040204020203" pitchFamily="34" charset="0"/>
            </a:endParaRPr>
          </a:p>
          <a:p>
            <a:pPr marL="457200" lvl="1" indent="0">
              <a:lnSpc>
                <a:spcPts val="1488"/>
              </a:lnSpc>
              <a:buClr>
                <a:srgbClr val="006498"/>
              </a:buClr>
              <a:buSzPct val="60000"/>
            </a:pPr>
            <a:endParaRPr lang="fr-FR" altLang="en-US" dirty="0" smtClean="0">
              <a:latin typeface="Segoe UI" panose="020B0502040204020203" pitchFamily="34" charset="0"/>
              <a:cs typeface="Segoe UI" panose="020B0502040204020203" pitchFamily="34" charset="0"/>
            </a:endParaRPr>
          </a:p>
        </p:txBody>
      </p:sp>
      <p:sp>
        <p:nvSpPr>
          <p:cNvPr id="3" name="Ellipse 2"/>
          <p:cNvSpPr/>
          <p:nvPr/>
        </p:nvSpPr>
        <p:spPr>
          <a:xfrm>
            <a:off x="1500967" y="4216240"/>
            <a:ext cx="1955969" cy="200441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i="1" dirty="0" smtClean="0"/>
              <a:t>Source</a:t>
            </a:r>
            <a:endParaRPr lang="fr-FR" sz="2400" b="1" i="1" dirty="0"/>
          </a:p>
        </p:txBody>
      </p:sp>
      <p:sp>
        <p:nvSpPr>
          <p:cNvPr id="9" name="Ellipse 8"/>
          <p:cNvSpPr/>
          <p:nvPr/>
        </p:nvSpPr>
        <p:spPr>
          <a:xfrm>
            <a:off x="7216001" y="4216240"/>
            <a:ext cx="1955969" cy="200441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i="1" dirty="0" smtClean="0"/>
              <a:t>Destination</a:t>
            </a:r>
            <a:endParaRPr lang="fr-FR" b="1" i="1" dirty="0"/>
          </a:p>
        </p:txBody>
      </p:sp>
      <p:sp>
        <p:nvSpPr>
          <p:cNvPr id="4" name="Rectangle 3"/>
          <p:cNvSpPr/>
          <p:nvPr/>
        </p:nvSpPr>
        <p:spPr>
          <a:xfrm>
            <a:off x="1500967" y="3715864"/>
            <a:ext cx="1776255" cy="461665"/>
          </a:xfrm>
          <a:prstGeom prst="rect">
            <a:avLst/>
          </a:prstGeom>
        </p:spPr>
        <p:txBody>
          <a:bodyPr wrap="none">
            <a:spAutoFit/>
          </a:bodyPr>
          <a:lstStyle/>
          <a:p>
            <a:r>
              <a:rPr lang="fr-FR" altLang="en-US" sz="1200" dirty="0" smtClean="0">
                <a:latin typeface="Segoe UI" panose="020B0502040204020203" pitchFamily="34" charset="0"/>
                <a:cs typeface="Segoe UI" panose="020B0502040204020203" pitchFamily="34" charset="0"/>
              </a:rPr>
              <a:t>Path=nom de propriété</a:t>
            </a:r>
          </a:p>
          <a:p>
            <a:r>
              <a:rPr lang="fr-FR" sz="1200" dirty="0" smtClean="0">
                <a:latin typeface="Segoe UI" panose="020B0502040204020203" pitchFamily="34" charset="0"/>
                <a:cs typeface="Segoe UI" panose="020B0502040204020203" pitchFamily="34" charset="0"/>
              </a:rPr>
              <a:t>source </a:t>
            </a:r>
            <a:endParaRPr lang="fr-FR" sz="1200" dirty="0"/>
          </a:p>
        </p:txBody>
      </p:sp>
      <p:sp>
        <p:nvSpPr>
          <p:cNvPr id="10" name="Rectangle 9"/>
          <p:cNvSpPr/>
          <p:nvPr/>
        </p:nvSpPr>
        <p:spPr>
          <a:xfrm>
            <a:off x="7064201" y="3715865"/>
            <a:ext cx="1776255" cy="461665"/>
          </a:xfrm>
          <a:prstGeom prst="rect">
            <a:avLst/>
          </a:prstGeom>
        </p:spPr>
        <p:txBody>
          <a:bodyPr wrap="none">
            <a:spAutoFit/>
          </a:bodyPr>
          <a:lstStyle/>
          <a:p>
            <a:r>
              <a:rPr lang="fr-FR" altLang="en-US" sz="1200" dirty="0" smtClean="0">
                <a:latin typeface="Segoe UI" panose="020B0502040204020203" pitchFamily="34" charset="0"/>
                <a:cs typeface="Segoe UI" panose="020B0502040204020203" pitchFamily="34" charset="0"/>
              </a:rPr>
              <a:t>Path=nom de propriété</a:t>
            </a:r>
          </a:p>
          <a:p>
            <a:r>
              <a:rPr lang="fr-FR" sz="1200" dirty="0" smtClean="0">
                <a:latin typeface="Segoe UI" panose="020B0502040204020203" pitchFamily="34" charset="0"/>
                <a:cs typeface="Segoe UI" panose="020B0502040204020203" pitchFamily="34" charset="0"/>
              </a:rPr>
              <a:t>destination</a:t>
            </a:r>
            <a:endParaRPr lang="fr-FR" sz="1200" dirty="0"/>
          </a:p>
        </p:txBody>
      </p:sp>
      <p:sp>
        <p:nvSpPr>
          <p:cNvPr id="11" name="Rectangle 10"/>
          <p:cNvSpPr/>
          <p:nvPr/>
        </p:nvSpPr>
        <p:spPr>
          <a:xfrm>
            <a:off x="4845943" y="3577364"/>
            <a:ext cx="915635" cy="369332"/>
          </a:xfrm>
          <a:prstGeom prst="rect">
            <a:avLst/>
          </a:prstGeom>
        </p:spPr>
        <p:txBody>
          <a:bodyPr wrap="none">
            <a:spAutoFit/>
          </a:bodyPr>
          <a:lstStyle/>
          <a:p>
            <a:r>
              <a:rPr lang="fr-FR" altLang="en-US" b="1" dirty="0" smtClean="0">
                <a:latin typeface="Segoe UI" panose="020B0502040204020203" pitchFamily="34" charset="0"/>
                <a:cs typeface="Segoe UI" panose="020B0502040204020203" pitchFamily="34" charset="0"/>
              </a:rPr>
              <a:t>Modes</a:t>
            </a:r>
            <a:endParaRPr lang="fr-FR" b="1" dirty="0"/>
          </a:p>
        </p:txBody>
      </p:sp>
      <p:sp>
        <p:nvSpPr>
          <p:cNvPr id="12" name="Rectangle 11"/>
          <p:cNvSpPr/>
          <p:nvPr/>
        </p:nvSpPr>
        <p:spPr>
          <a:xfrm>
            <a:off x="4957647" y="4229551"/>
            <a:ext cx="757643" cy="276999"/>
          </a:xfrm>
          <a:prstGeom prst="rect">
            <a:avLst/>
          </a:prstGeom>
        </p:spPr>
        <p:txBody>
          <a:bodyPr wrap="none">
            <a:spAutoFit/>
          </a:bodyPr>
          <a:lstStyle/>
          <a:p>
            <a:r>
              <a:rPr lang="fr-FR" altLang="en-US" sz="1200" dirty="0" smtClean="0">
                <a:latin typeface="Segoe UI" panose="020B0502040204020203" pitchFamily="34" charset="0"/>
                <a:cs typeface="Segoe UI" panose="020B0502040204020203" pitchFamily="34" charset="0"/>
              </a:rPr>
              <a:t>OneWay</a:t>
            </a:r>
            <a:endParaRPr lang="fr-FR" sz="1200" dirty="0"/>
          </a:p>
        </p:txBody>
      </p:sp>
      <p:cxnSp>
        <p:nvCxnSpPr>
          <p:cNvPr id="14" name="Connecteur droit avec flèche 13"/>
          <p:cNvCxnSpPr/>
          <p:nvPr/>
        </p:nvCxnSpPr>
        <p:spPr>
          <a:xfrm flipV="1">
            <a:off x="3901858" y="4609578"/>
            <a:ext cx="3112717" cy="626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4650799" y="4725308"/>
            <a:ext cx="1371337" cy="276999"/>
          </a:xfrm>
          <a:prstGeom prst="rect">
            <a:avLst/>
          </a:prstGeom>
        </p:spPr>
        <p:txBody>
          <a:bodyPr wrap="none">
            <a:spAutoFit/>
          </a:bodyPr>
          <a:lstStyle/>
          <a:p>
            <a:r>
              <a:rPr lang="fr-FR" altLang="en-US" sz="1200" dirty="0" smtClean="0">
                <a:latin typeface="Segoe UI" panose="020B0502040204020203" pitchFamily="34" charset="0"/>
                <a:cs typeface="Segoe UI" panose="020B0502040204020203" pitchFamily="34" charset="0"/>
              </a:rPr>
              <a:t>OneWayToSource</a:t>
            </a:r>
            <a:endParaRPr lang="fr-FR" sz="1200" dirty="0"/>
          </a:p>
        </p:txBody>
      </p:sp>
      <p:cxnSp>
        <p:nvCxnSpPr>
          <p:cNvPr id="17" name="Connecteur droit avec flèche 16"/>
          <p:cNvCxnSpPr/>
          <p:nvPr/>
        </p:nvCxnSpPr>
        <p:spPr>
          <a:xfrm flipH="1">
            <a:off x="3901857" y="5002307"/>
            <a:ext cx="311271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4930039" y="5160864"/>
            <a:ext cx="812851" cy="276999"/>
          </a:xfrm>
          <a:prstGeom prst="rect">
            <a:avLst/>
          </a:prstGeom>
        </p:spPr>
        <p:txBody>
          <a:bodyPr wrap="none">
            <a:spAutoFit/>
          </a:bodyPr>
          <a:lstStyle/>
          <a:p>
            <a:r>
              <a:rPr lang="fr-FR" altLang="en-US" sz="1200" dirty="0" smtClean="0">
                <a:latin typeface="Segoe UI" panose="020B0502040204020203" pitchFamily="34" charset="0"/>
                <a:cs typeface="Segoe UI" panose="020B0502040204020203" pitchFamily="34" charset="0"/>
              </a:rPr>
              <a:t>TwoWays</a:t>
            </a:r>
            <a:endParaRPr lang="fr-FR" sz="1200" dirty="0"/>
          </a:p>
        </p:txBody>
      </p:sp>
      <p:cxnSp>
        <p:nvCxnSpPr>
          <p:cNvPr id="21" name="Connecteur droit avec flèche 20"/>
          <p:cNvCxnSpPr/>
          <p:nvPr/>
        </p:nvCxnSpPr>
        <p:spPr>
          <a:xfrm flipV="1">
            <a:off x="3853841" y="5469676"/>
            <a:ext cx="3112717" cy="626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p:cNvCxnSpPr/>
          <p:nvPr/>
        </p:nvCxnSpPr>
        <p:spPr>
          <a:xfrm flipH="1">
            <a:off x="3853840" y="5633235"/>
            <a:ext cx="311271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4930038" y="5761600"/>
            <a:ext cx="1301661" cy="276999"/>
          </a:xfrm>
          <a:prstGeom prst="rect">
            <a:avLst/>
          </a:prstGeom>
        </p:spPr>
        <p:txBody>
          <a:bodyPr wrap="square">
            <a:spAutoFit/>
          </a:bodyPr>
          <a:lstStyle/>
          <a:p>
            <a:r>
              <a:rPr lang="fr-FR" altLang="en-US" sz="1200" dirty="0" err="1" smtClean="0">
                <a:latin typeface="Segoe UI" panose="020B0502040204020203" pitchFamily="34" charset="0"/>
                <a:cs typeface="Segoe UI" panose="020B0502040204020203" pitchFamily="34" charset="0"/>
              </a:rPr>
              <a:t>OneTime</a:t>
            </a:r>
            <a:r>
              <a:rPr lang="fr-FR" altLang="en-US" sz="1200" dirty="0" smtClean="0">
                <a:latin typeface="Segoe UI" panose="020B0502040204020203" pitchFamily="34" charset="0"/>
                <a:cs typeface="Segoe UI" panose="020B0502040204020203" pitchFamily="34" charset="0"/>
              </a:rPr>
              <a:t> (t=0)</a:t>
            </a:r>
            <a:endParaRPr lang="fr-FR" sz="1200" dirty="0"/>
          </a:p>
        </p:txBody>
      </p:sp>
      <p:cxnSp>
        <p:nvCxnSpPr>
          <p:cNvPr id="24" name="Connecteur droit avec flèche 23"/>
          <p:cNvCxnSpPr/>
          <p:nvPr/>
        </p:nvCxnSpPr>
        <p:spPr>
          <a:xfrm flipV="1">
            <a:off x="3901856" y="6038599"/>
            <a:ext cx="3112717" cy="6263"/>
          </a:xfrm>
          <a:prstGeom prst="straightConnector1">
            <a:avLst/>
          </a:prstGeom>
          <a:ln w="2857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6308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7"/>
          <p:cNvSpPr txBox="1"/>
          <p:nvPr/>
        </p:nvSpPr>
        <p:spPr>
          <a:xfrm>
            <a:off x="207952" y="361825"/>
            <a:ext cx="9296995" cy="346249"/>
          </a:xfrm>
          <a:prstGeom prst="rect">
            <a:avLst/>
          </a:prstGeom>
        </p:spPr>
        <p:txBody>
          <a:bodyPr wrap="square" lIns="0" tIns="0" rIns="0" bIns="0">
            <a:spAutoFit/>
          </a:bodyPr>
          <a:lstStyle/>
          <a:p>
            <a:pPr marL="12700" eaLnBrk="1" fontAlgn="auto" hangingPunct="1">
              <a:spcBef>
                <a:spcPts val="0"/>
              </a:spcBef>
              <a:spcAft>
                <a:spcPts val="0"/>
              </a:spcAft>
              <a:tabLst>
                <a:tab pos="5852795" algn="l"/>
              </a:tabLst>
              <a:defRPr/>
            </a:pPr>
            <a:r>
              <a:rPr sz="2250" u="heavy" spc="-50" dirty="0">
                <a:latin typeface="Segoe UI Symbol"/>
                <a:cs typeface="Segoe UI Symbol"/>
              </a:rPr>
              <a:t>D</a:t>
            </a:r>
            <a:r>
              <a:rPr sz="2250" u="heavy" spc="-45" dirty="0">
                <a:latin typeface="Segoe UI Symbol"/>
                <a:cs typeface="Segoe UI Symbol"/>
              </a:rPr>
              <a:t>a</a:t>
            </a:r>
            <a:r>
              <a:rPr sz="2250" u="heavy" spc="-95" dirty="0">
                <a:latin typeface="Segoe UI Symbol"/>
                <a:cs typeface="Segoe UI Symbol"/>
              </a:rPr>
              <a:t>t</a:t>
            </a:r>
            <a:r>
              <a:rPr sz="2250" u="heavy" spc="-45" dirty="0">
                <a:latin typeface="Segoe UI Symbol"/>
                <a:cs typeface="Segoe UI Symbol"/>
              </a:rPr>
              <a:t>a</a:t>
            </a:r>
            <a:r>
              <a:rPr sz="2250" u="heavy" spc="-50" dirty="0">
                <a:latin typeface="Segoe UI Symbol"/>
                <a:cs typeface="Segoe UI Symbol"/>
              </a:rPr>
              <a:t>B</a:t>
            </a:r>
            <a:r>
              <a:rPr sz="2250" u="heavy" spc="-120" dirty="0">
                <a:latin typeface="Segoe UI Symbol"/>
                <a:cs typeface="Segoe UI Symbol"/>
              </a:rPr>
              <a:t>i</a:t>
            </a:r>
            <a:r>
              <a:rPr sz="2250" u="heavy" spc="-30" dirty="0">
                <a:latin typeface="Segoe UI Symbol"/>
                <a:cs typeface="Segoe UI Symbol"/>
              </a:rPr>
              <a:t>n</a:t>
            </a:r>
            <a:r>
              <a:rPr sz="2250" u="heavy" spc="-35" dirty="0">
                <a:latin typeface="Segoe UI Symbol"/>
                <a:cs typeface="Segoe UI Symbol"/>
              </a:rPr>
              <a:t>d</a:t>
            </a:r>
            <a:r>
              <a:rPr sz="2250" u="heavy" spc="-120" dirty="0">
                <a:latin typeface="Segoe UI Symbol"/>
                <a:cs typeface="Segoe UI Symbol"/>
              </a:rPr>
              <a:t>i</a:t>
            </a:r>
            <a:r>
              <a:rPr sz="2250" u="heavy" spc="-30" dirty="0">
                <a:latin typeface="Segoe UI Symbol"/>
                <a:cs typeface="Segoe UI Symbol"/>
              </a:rPr>
              <a:t>n</a:t>
            </a:r>
            <a:r>
              <a:rPr sz="2250" u="heavy" dirty="0">
                <a:latin typeface="Segoe UI Symbol"/>
                <a:cs typeface="Segoe UI Symbol"/>
              </a:rPr>
              <a:t>g</a:t>
            </a:r>
            <a:r>
              <a:rPr sz="2250" u="heavy" spc="-170" dirty="0">
                <a:latin typeface="Segoe UI Symbol"/>
                <a:cs typeface="Segoe UI Symbol"/>
              </a:rPr>
              <a:t> </a:t>
            </a:r>
            <a:r>
              <a:rPr sz="2250" u="heavy" spc="-80" dirty="0">
                <a:latin typeface="Segoe UI Symbol"/>
                <a:cs typeface="Segoe UI Symbol"/>
              </a:rPr>
              <a:t>e</a:t>
            </a:r>
            <a:r>
              <a:rPr sz="2250" u="heavy" spc="-30" dirty="0">
                <a:latin typeface="Segoe UI Symbol"/>
                <a:cs typeface="Segoe UI Symbol"/>
              </a:rPr>
              <a:t>n</a:t>
            </a:r>
            <a:r>
              <a:rPr sz="2250" u="heavy" spc="-45" dirty="0">
                <a:latin typeface="Segoe UI Symbol"/>
                <a:cs typeface="Segoe UI Symbol"/>
              </a:rPr>
              <a:t>t</a:t>
            </a:r>
            <a:r>
              <a:rPr sz="2250" u="heavy" spc="-114" dirty="0">
                <a:latin typeface="Segoe UI Symbol"/>
                <a:cs typeface="Segoe UI Symbol"/>
              </a:rPr>
              <a:t>r</a:t>
            </a:r>
            <a:r>
              <a:rPr sz="2250" u="heavy" dirty="0">
                <a:latin typeface="Segoe UI Symbol"/>
                <a:cs typeface="Segoe UI Symbol"/>
              </a:rPr>
              <a:t>e</a:t>
            </a:r>
            <a:r>
              <a:rPr sz="2250" u="heavy" spc="-170" dirty="0">
                <a:latin typeface="Segoe UI Symbol"/>
                <a:cs typeface="Segoe UI Symbol"/>
              </a:rPr>
              <a:t> </a:t>
            </a:r>
            <a:r>
              <a:rPr sz="2250" u="heavy" spc="-30" dirty="0" err="1" smtClean="0">
                <a:latin typeface="Segoe UI Symbol"/>
                <a:cs typeface="Segoe UI Symbol"/>
              </a:rPr>
              <a:t>é</a:t>
            </a:r>
            <a:r>
              <a:rPr sz="2250" u="heavy" spc="-120" dirty="0" err="1" smtClean="0">
                <a:latin typeface="Segoe UI Symbol"/>
                <a:cs typeface="Segoe UI Symbol"/>
              </a:rPr>
              <a:t>l</a:t>
            </a:r>
            <a:r>
              <a:rPr sz="2250" u="heavy" spc="-30" dirty="0" err="1" smtClean="0">
                <a:latin typeface="Segoe UI Symbol"/>
                <a:cs typeface="Segoe UI Symbol"/>
              </a:rPr>
              <a:t>é</a:t>
            </a:r>
            <a:r>
              <a:rPr sz="2250" u="heavy" spc="-75" dirty="0" err="1" smtClean="0">
                <a:latin typeface="Segoe UI Symbol"/>
                <a:cs typeface="Segoe UI Symbol"/>
              </a:rPr>
              <a:t>m</a:t>
            </a:r>
            <a:r>
              <a:rPr sz="2250" u="heavy" spc="-80" dirty="0" err="1" smtClean="0">
                <a:latin typeface="Segoe UI Symbol"/>
                <a:cs typeface="Segoe UI Symbol"/>
              </a:rPr>
              <a:t>e</a:t>
            </a:r>
            <a:r>
              <a:rPr sz="2250" u="heavy" spc="-30" dirty="0" err="1" smtClean="0">
                <a:latin typeface="Segoe UI Symbol"/>
                <a:cs typeface="Segoe UI Symbol"/>
              </a:rPr>
              <a:t>n</a:t>
            </a:r>
            <a:r>
              <a:rPr sz="2250" u="heavy" spc="-45" dirty="0" err="1" smtClean="0">
                <a:latin typeface="Segoe UI Symbol"/>
                <a:cs typeface="Segoe UI Symbol"/>
              </a:rPr>
              <a:t>t</a:t>
            </a:r>
            <a:r>
              <a:rPr lang="fr-FR" sz="2250" u="heavy" dirty="0">
                <a:latin typeface="Segoe UI Symbol"/>
                <a:cs typeface="Segoe UI Symbol"/>
              </a:rPr>
              <a:t> </a:t>
            </a:r>
            <a:r>
              <a:rPr lang="fr-FR" sz="2250" u="heavy" dirty="0" smtClean="0">
                <a:latin typeface="Segoe UI Symbol"/>
                <a:cs typeface="Segoe UI Symbol"/>
              </a:rPr>
              <a:t>et Template (</a:t>
            </a:r>
            <a:r>
              <a:rPr lang="fr-FR" sz="2250" u="heavy" dirty="0" err="1" smtClean="0">
                <a:latin typeface="Segoe UI Symbol"/>
                <a:cs typeface="Segoe UI Symbol"/>
              </a:rPr>
              <a:t>TemplateBinding</a:t>
            </a:r>
            <a:r>
              <a:rPr lang="fr-FR" sz="2250" u="heavy" dirty="0" smtClean="0">
                <a:latin typeface="Segoe UI Symbol"/>
                <a:cs typeface="Segoe UI Symbol"/>
              </a:rPr>
              <a:t>)</a:t>
            </a:r>
            <a:r>
              <a:rPr sz="2250" u="heavy" dirty="0" smtClean="0">
                <a:latin typeface="Segoe UI Symbol"/>
                <a:cs typeface="Segoe UI Symbol"/>
              </a:rPr>
              <a:t> </a:t>
            </a:r>
            <a:endParaRPr sz="2250" dirty="0">
              <a:latin typeface="Times New Roman"/>
              <a:cs typeface="Times New Roman"/>
            </a:endParaRPr>
          </a:p>
        </p:txBody>
      </p:sp>
      <p:sp>
        <p:nvSpPr>
          <p:cNvPr id="5" name="object 28"/>
          <p:cNvSpPr txBox="1">
            <a:spLocks noChangeArrowheads="1"/>
          </p:cNvSpPr>
          <p:nvPr/>
        </p:nvSpPr>
        <p:spPr bwMode="auto">
          <a:xfrm>
            <a:off x="245249" y="1035356"/>
            <a:ext cx="10671238"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261938" indent="-249238">
              <a:tabLst>
                <a:tab pos="257175" algn="l"/>
              </a:tabLst>
              <a:defRPr>
                <a:solidFill>
                  <a:schemeClr val="tx1"/>
                </a:solidFill>
                <a:latin typeface="Calibri" panose="020F0502020204030204" pitchFamily="34" charset="0"/>
                <a:cs typeface="Arial" panose="020B0604020202020204" pitchFamily="34" charset="0"/>
              </a:defRPr>
            </a:lvl1pPr>
            <a:lvl2pPr marL="742950" indent="-285750">
              <a:tabLst>
                <a:tab pos="257175" algn="l"/>
              </a:tabLst>
              <a:defRPr>
                <a:solidFill>
                  <a:schemeClr val="tx1"/>
                </a:solidFill>
                <a:latin typeface="Calibri" panose="020F0502020204030204" pitchFamily="34" charset="0"/>
                <a:cs typeface="Arial" panose="020B0604020202020204" pitchFamily="34" charset="0"/>
              </a:defRPr>
            </a:lvl2pPr>
            <a:lvl3pPr marL="1143000" indent="-228600">
              <a:tabLst>
                <a:tab pos="257175" algn="l"/>
              </a:tabLst>
              <a:defRPr>
                <a:solidFill>
                  <a:schemeClr val="tx1"/>
                </a:solidFill>
                <a:latin typeface="Calibri" panose="020F0502020204030204" pitchFamily="34" charset="0"/>
                <a:cs typeface="Arial" panose="020B0604020202020204" pitchFamily="34" charset="0"/>
              </a:defRPr>
            </a:lvl3pPr>
            <a:lvl4pPr marL="1600200" indent="-228600">
              <a:tabLst>
                <a:tab pos="257175" algn="l"/>
              </a:tabLst>
              <a:defRPr>
                <a:solidFill>
                  <a:schemeClr val="tx1"/>
                </a:solidFill>
                <a:latin typeface="Calibri" panose="020F0502020204030204" pitchFamily="34" charset="0"/>
                <a:cs typeface="Arial" panose="020B0604020202020204" pitchFamily="34" charset="0"/>
              </a:defRPr>
            </a:lvl4pPr>
            <a:lvl5pPr marL="2057400" indent="-228600">
              <a:tabLst>
                <a:tab pos="257175"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9pPr>
          </a:lstStyle>
          <a:p>
            <a:pPr eaLnBrk="1" hangingPunct="1">
              <a:lnSpc>
                <a:spcPts val="1488"/>
              </a:lnSpc>
              <a:buClr>
                <a:srgbClr val="006498"/>
              </a:buClr>
              <a:buSzPct val="60000"/>
              <a:buFont typeface="Wingdings" panose="05000000000000000000" pitchFamily="2" charset="2"/>
              <a:buChar char=""/>
            </a:pPr>
            <a:r>
              <a:rPr lang="fr-FR" altLang="en-US" dirty="0" smtClean="0">
                <a:latin typeface="Segoe UI" panose="020B0502040204020203" pitchFamily="34" charset="0"/>
                <a:cs typeface="Segoe UI" panose="020B0502040204020203" pitchFamily="34" charset="0"/>
              </a:rPr>
              <a:t>Il y a quatre modes de liaisons</a:t>
            </a:r>
          </a:p>
          <a:p>
            <a:pPr marL="457200" lvl="1" indent="0">
              <a:lnSpc>
                <a:spcPts val="1488"/>
              </a:lnSpc>
              <a:buClr>
                <a:srgbClr val="006498"/>
              </a:buClr>
              <a:buSzPct val="60000"/>
            </a:pPr>
            <a:endParaRPr lang="fr-FR" altLang="en-US" dirty="0">
              <a:latin typeface="Segoe UI" panose="020B0502040204020203" pitchFamily="34" charset="0"/>
              <a:cs typeface="Segoe UI" panose="020B0502040204020203" pitchFamily="34" charset="0"/>
            </a:endParaRPr>
          </a:p>
        </p:txBody>
      </p:sp>
      <p:sp>
        <p:nvSpPr>
          <p:cNvPr id="6" name="Rectangle 5"/>
          <p:cNvSpPr/>
          <p:nvPr/>
        </p:nvSpPr>
        <p:spPr>
          <a:xfrm>
            <a:off x="449178" y="1420077"/>
            <a:ext cx="9609221" cy="1538883"/>
          </a:xfrm>
          <a:prstGeom prst="rect">
            <a:avLst/>
          </a:prstGeom>
        </p:spPr>
        <p:txBody>
          <a:bodyPr wrap="square">
            <a:spAutoFit/>
          </a:bodyPr>
          <a:lstStyle/>
          <a:p>
            <a:pPr marL="285750" indent="-285750">
              <a:buClr>
                <a:srgbClr val="0070C0"/>
              </a:buClr>
              <a:buFont typeface="Wingdings" panose="05000000000000000000" pitchFamily="2" charset="2"/>
              <a:buChar char="§"/>
            </a:pPr>
            <a:r>
              <a:rPr lang="fr-FR" b="1" dirty="0" err="1">
                <a:latin typeface="Segoe UI" panose="020B0502040204020203" pitchFamily="34" charset="0"/>
                <a:cs typeface="Segoe UI" panose="020B0502040204020203" pitchFamily="34" charset="0"/>
              </a:rPr>
              <a:t>TemplateBinding</a:t>
            </a:r>
            <a:r>
              <a:rPr lang="fr-FR" dirty="0">
                <a:latin typeface="Segoe UI" panose="020B0502040204020203" pitchFamily="34" charset="0"/>
                <a:cs typeface="Segoe UI" panose="020B0502040204020203" pitchFamily="34" charset="0"/>
              </a:rPr>
              <a:t> permet de </a:t>
            </a:r>
            <a:r>
              <a:rPr lang="fr-FR" b="1" dirty="0">
                <a:latin typeface="Segoe UI" panose="020B0502040204020203" pitchFamily="34" charset="0"/>
                <a:cs typeface="Segoe UI" panose="020B0502040204020203" pitchFamily="34" charset="0"/>
              </a:rPr>
              <a:t>lier une propriété d’un contrôle à sa définition par le parent</a:t>
            </a:r>
            <a:r>
              <a:rPr lang="fr-FR" dirty="0">
                <a:latin typeface="Segoe UI" panose="020B0502040204020203" pitchFamily="34" charset="0"/>
                <a:cs typeface="Segoe UI" panose="020B0502040204020203" pitchFamily="34" charset="0"/>
              </a:rPr>
              <a:t> quand on utilise un </a:t>
            </a:r>
            <a:r>
              <a:rPr lang="fr-FR" b="1" dirty="0">
                <a:latin typeface="Segoe UI" panose="020B0502040204020203" pitchFamily="34" charset="0"/>
                <a:cs typeface="Segoe UI" panose="020B0502040204020203" pitchFamily="34" charset="0"/>
              </a:rPr>
              <a:t>ControlTemplate</a:t>
            </a:r>
            <a:r>
              <a:rPr lang="fr-FR" dirty="0" smtClean="0">
                <a:latin typeface="Segoe UI" panose="020B0502040204020203" pitchFamily="34" charset="0"/>
                <a:cs typeface="Segoe UI" panose="020B0502040204020203" pitchFamily="34" charset="0"/>
              </a:rPr>
              <a:t>.</a:t>
            </a:r>
          </a:p>
          <a:p>
            <a:pPr marL="285750" indent="-285750">
              <a:buClr>
                <a:srgbClr val="0070C0"/>
              </a:buClr>
              <a:buFont typeface="Wingdings" panose="05000000000000000000" pitchFamily="2" charset="2"/>
              <a:buChar char="§"/>
            </a:pPr>
            <a:endParaRPr lang="fr-FR" dirty="0">
              <a:latin typeface="Segoe UI" panose="020B0502040204020203" pitchFamily="34" charset="0"/>
              <a:cs typeface="Segoe UI" panose="020B0502040204020203" pitchFamily="34" charset="0"/>
            </a:endParaRPr>
          </a:p>
          <a:p>
            <a:pPr marL="342900" indent="-342900">
              <a:buClr>
                <a:srgbClr val="0070C0"/>
              </a:buClr>
              <a:buFont typeface="Wingdings" panose="05000000000000000000" pitchFamily="2" charset="2"/>
              <a:buChar char="§"/>
            </a:pPr>
            <a:r>
              <a:rPr lang="fr-FR" sz="2000" dirty="0"/>
              <a:t>Il est utilisé </a:t>
            </a:r>
            <a:r>
              <a:rPr lang="fr-FR" sz="2000" b="1" dirty="0"/>
              <a:t>à l’intérieur d’un ControlTemplate</a:t>
            </a:r>
            <a:r>
              <a:rPr lang="fr-FR" sz="2000" dirty="0"/>
              <a:t> pour réutiliser des valeurs dynamiques passées par le parent.</a:t>
            </a:r>
            <a:endParaRPr lang="en-US" sz="2000" dirty="0">
              <a:latin typeface="Segoe UI" panose="020B0502040204020203" pitchFamily="34" charset="0"/>
              <a:cs typeface="Segoe UI" panose="020B0502040204020203" pitchFamily="34" charset="0"/>
            </a:endParaRPr>
          </a:p>
        </p:txBody>
      </p:sp>
      <p:sp>
        <p:nvSpPr>
          <p:cNvPr id="8" name="Rectangle 7"/>
          <p:cNvSpPr/>
          <p:nvPr/>
        </p:nvSpPr>
        <p:spPr>
          <a:xfrm>
            <a:off x="996615" y="3296294"/>
            <a:ext cx="7876674" cy="2308324"/>
          </a:xfrm>
          <a:prstGeom prst="rect">
            <a:avLst/>
          </a:prstGeom>
        </p:spPr>
        <p:txBody>
          <a:bodyPr wrap="square">
            <a:spAutoFit/>
          </a:bodyPr>
          <a:lstStyle/>
          <a:p>
            <a:r>
              <a:rPr lang="en-US" sz="1200" dirty="0">
                <a:solidFill>
                  <a:srgbClr val="0000FF"/>
                </a:solidFill>
                <a:latin typeface="Cascadia Mono" panose="020B0609020000020004" pitchFamily="49" charset="0"/>
              </a:rPr>
              <a:t>&lt;</a:t>
            </a:r>
            <a:r>
              <a:rPr lang="en-US" sz="1200" dirty="0">
                <a:solidFill>
                  <a:srgbClr val="A31515"/>
                </a:solidFill>
                <a:latin typeface="Cascadia Mono" panose="020B0609020000020004" pitchFamily="49" charset="0"/>
              </a:rPr>
              <a:t>ControlTemplate</a:t>
            </a:r>
            <a:r>
              <a:rPr lang="en-US" sz="1200" dirty="0">
                <a:solidFill>
                  <a:srgbClr val="FF0000"/>
                </a:solidFill>
                <a:latin typeface="Cascadia Mono" panose="020B0609020000020004" pitchFamily="49" charset="0"/>
              </a:rPr>
              <a:t> x</a:t>
            </a:r>
            <a:r>
              <a:rPr lang="en-US" sz="1200" dirty="0">
                <a:solidFill>
                  <a:srgbClr val="0000FF"/>
                </a:solidFill>
                <a:latin typeface="Cascadia Mono" panose="020B0609020000020004" pitchFamily="49" charset="0"/>
              </a:rPr>
              <a:t>:</a:t>
            </a:r>
            <a:r>
              <a:rPr lang="en-US" sz="1200" dirty="0">
                <a:solidFill>
                  <a:srgbClr val="FF0000"/>
                </a:solidFill>
                <a:latin typeface="Cascadia Mono" panose="020B0609020000020004" pitchFamily="49" charset="0"/>
              </a:rPr>
              <a:t>Key</a:t>
            </a:r>
            <a:r>
              <a:rPr lang="en-US" sz="1200" dirty="0">
                <a:solidFill>
                  <a:srgbClr val="0000FF"/>
                </a:solidFill>
                <a:latin typeface="Cascadia Mono" panose="020B0609020000020004" pitchFamily="49" charset="0"/>
              </a:rPr>
              <a:t>="MyButtonTemplate"&gt;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A31515"/>
                </a:solidFill>
                <a:latin typeface="Cascadia Mono" panose="020B0609020000020004" pitchFamily="49" charset="0"/>
              </a:rPr>
              <a:t>Grid</a:t>
            </a:r>
            <a:r>
              <a:rPr lang="en-US" sz="1200" dirty="0">
                <a:solidFill>
                  <a:srgbClr val="0000FF"/>
                </a:solidFill>
                <a:latin typeface="Cascadia Mono" panose="020B0609020000020004" pitchFamily="49" charset="0"/>
              </a:rPr>
              <a:t>&gt;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A31515"/>
                </a:solidFill>
                <a:latin typeface="Cascadia Mono" panose="020B0609020000020004" pitchFamily="49" charset="0"/>
              </a:rPr>
              <a:t>Border</a:t>
            </a:r>
            <a:r>
              <a:rPr lang="en-US" sz="1200" dirty="0">
                <a:solidFill>
                  <a:srgbClr val="FF0000"/>
                </a:solidFill>
                <a:latin typeface="Cascadia Mono" panose="020B0609020000020004" pitchFamily="49" charset="0"/>
              </a:rPr>
              <a:t> Stroke</a:t>
            </a:r>
            <a:r>
              <a:rPr lang="en-US" sz="1200" dirty="0">
                <a:solidFill>
                  <a:srgbClr val="0000FF"/>
                </a:solidFill>
                <a:latin typeface="Cascadia Mono" panose="020B0609020000020004" pitchFamily="49" charset="0"/>
              </a:rPr>
              <a:t>="</a:t>
            </a:r>
            <a:r>
              <a:rPr lang="en-US" sz="1200" dirty="0" err="1">
                <a:solidFill>
                  <a:srgbClr val="0000FF"/>
                </a:solidFill>
                <a:latin typeface="Cascadia Mono" panose="020B0609020000020004" pitchFamily="49" charset="0"/>
              </a:rPr>
              <a:t>DarkBlue</a:t>
            </a:r>
            <a:r>
              <a:rPr lang="en-US" sz="1200" dirty="0">
                <a:solidFill>
                  <a:srgbClr val="0000FF"/>
                </a:solidFill>
                <a:latin typeface="Cascadia Mono" panose="020B0609020000020004" pitchFamily="49" charset="0"/>
              </a:rPr>
              <a:t>"</a:t>
            </a:r>
            <a:r>
              <a:rPr lang="en-US" sz="1200" dirty="0">
                <a:solidFill>
                  <a:srgbClr val="FF0000"/>
                </a:solidFill>
                <a:latin typeface="Cascadia Mono" panose="020B0609020000020004" pitchFamily="49" charset="0"/>
              </a:rPr>
              <a:t> </a:t>
            </a:r>
            <a:r>
              <a:rPr lang="en-US" sz="1200" dirty="0" err="1">
                <a:solidFill>
                  <a:srgbClr val="FF0000"/>
                </a:solidFill>
                <a:latin typeface="Cascadia Mono" panose="020B0609020000020004" pitchFamily="49" charset="0"/>
              </a:rPr>
              <a:t>StrokeThickness</a:t>
            </a:r>
            <a:r>
              <a:rPr lang="en-US" sz="1200" dirty="0">
                <a:solidFill>
                  <a:srgbClr val="0000FF"/>
                </a:solidFill>
                <a:latin typeface="Cascadia Mono" panose="020B0609020000020004" pitchFamily="49" charset="0"/>
              </a:rPr>
              <a:t>="2"</a:t>
            </a:r>
            <a:r>
              <a:rPr lang="en-US" sz="1200" dirty="0">
                <a:solidFill>
                  <a:srgbClr val="FF0000"/>
                </a:solidFill>
                <a:latin typeface="Cascadia Mono" panose="020B0609020000020004" pitchFamily="49" charset="0"/>
              </a:rPr>
              <a:t> </a:t>
            </a:r>
            <a:r>
              <a:rPr lang="en-US" sz="1200" dirty="0" err="1">
                <a:solidFill>
                  <a:srgbClr val="FF0000"/>
                </a:solidFill>
                <a:latin typeface="Cascadia Mono" panose="020B0609020000020004" pitchFamily="49" charset="0"/>
              </a:rPr>
              <a:t>BackgroundColor</a:t>
            </a:r>
            <a:r>
              <a:rPr lang="en-US" sz="1200" dirty="0">
                <a:solidFill>
                  <a:srgbClr val="0000FF"/>
                </a:solidFill>
                <a:latin typeface="Cascadia Mono" panose="020B0609020000020004" pitchFamily="49" charset="0"/>
              </a:rPr>
              <a:t>="</a:t>
            </a:r>
            <a:r>
              <a:rPr lang="en-US" sz="1200" dirty="0" err="1">
                <a:solidFill>
                  <a:srgbClr val="0000FF"/>
                </a:solidFill>
                <a:latin typeface="Cascadia Mono" panose="020B0609020000020004" pitchFamily="49" charset="0"/>
              </a:rPr>
              <a:t>LightSkyBlue</a:t>
            </a:r>
            <a:r>
              <a:rPr lang="en-US" sz="1200" dirty="0">
                <a:solidFill>
                  <a:srgbClr val="0000FF"/>
                </a:solidFill>
                <a:latin typeface="Cascadia Mono" panose="020B0609020000020004" pitchFamily="49" charset="0"/>
              </a:rPr>
              <a:t>"</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 </a:t>
            </a:r>
            <a:r>
              <a:rPr lang="en-US" sz="1200" dirty="0" err="1">
                <a:solidFill>
                  <a:srgbClr val="FF0000"/>
                </a:solidFill>
                <a:latin typeface="Cascadia Mono" panose="020B0609020000020004" pitchFamily="49" charset="0"/>
              </a:rPr>
              <a:t>CornerRadius</a:t>
            </a:r>
            <a:r>
              <a:rPr lang="en-US" sz="1200" dirty="0">
                <a:solidFill>
                  <a:srgbClr val="0000FF"/>
                </a:solidFill>
                <a:latin typeface="Cascadia Mono" panose="020B0609020000020004" pitchFamily="49" charset="0"/>
              </a:rPr>
              <a:t>="10"</a:t>
            </a:r>
            <a:r>
              <a:rPr lang="en-US" sz="1200" dirty="0">
                <a:solidFill>
                  <a:srgbClr val="FF0000"/>
                </a:solidFill>
                <a:latin typeface="Cascadia Mono" panose="020B0609020000020004" pitchFamily="49" charset="0"/>
              </a:rPr>
              <a:t> Padding</a:t>
            </a:r>
            <a:r>
              <a:rPr lang="en-US" sz="1200" dirty="0">
                <a:solidFill>
                  <a:srgbClr val="0000FF"/>
                </a:solidFill>
                <a:latin typeface="Cascadia Mono" panose="020B0609020000020004" pitchFamily="49" charset="0"/>
              </a:rPr>
              <a:t>="10"&gt;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A31515"/>
                </a:solidFill>
                <a:latin typeface="Cascadia Mono" panose="020B0609020000020004" pitchFamily="49" charset="0"/>
              </a:rPr>
              <a:t>Label</a:t>
            </a:r>
            <a:r>
              <a:rPr lang="en-US" sz="1200" dirty="0">
                <a:solidFill>
                  <a:srgbClr val="FF0000"/>
                </a:solidFill>
                <a:latin typeface="Cascadia Mono" panose="020B0609020000020004" pitchFamily="49" charset="0"/>
              </a:rPr>
              <a:t> Text</a:t>
            </a:r>
            <a:r>
              <a:rPr lang="en-US" sz="1200" dirty="0">
                <a:solidFill>
                  <a:srgbClr val="0000FF"/>
                </a:solidFill>
                <a:latin typeface="Cascadia Mono" panose="020B0609020000020004" pitchFamily="49" charset="0"/>
              </a:rPr>
              <a:t>="{</a:t>
            </a:r>
            <a:r>
              <a:rPr lang="en-US" sz="1200" dirty="0" err="1">
                <a:solidFill>
                  <a:srgbClr val="A31515"/>
                </a:solidFill>
                <a:latin typeface="Cascadia Mono" panose="020B0609020000020004" pitchFamily="49" charset="0"/>
              </a:rPr>
              <a:t>TemplateBinding</a:t>
            </a:r>
            <a:r>
              <a:rPr lang="en-US" sz="1200" dirty="0">
                <a:solidFill>
                  <a:srgbClr val="FF0000"/>
                </a:solidFill>
                <a:latin typeface="Cascadia Mono" panose="020B0609020000020004" pitchFamily="49" charset="0"/>
              </a:rPr>
              <a:t> Text</a:t>
            </a:r>
            <a:r>
              <a:rPr lang="en-US" sz="1200" dirty="0">
                <a:solidFill>
                  <a:srgbClr val="0000FF"/>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 </a:t>
            </a:r>
            <a:r>
              <a:rPr lang="en-US" sz="1200" dirty="0" err="1">
                <a:solidFill>
                  <a:srgbClr val="FF0000"/>
                </a:solidFill>
                <a:latin typeface="Cascadia Mono" panose="020B0609020000020004" pitchFamily="49" charset="0"/>
              </a:rPr>
              <a:t>HorizontalOptions</a:t>
            </a:r>
            <a:r>
              <a:rPr lang="en-US" sz="1200" dirty="0">
                <a:solidFill>
                  <a:srgbClr val="0000FF"/>
                </a:solidFill>
                <a:latin typeface="Cascadia Mono" panose="020B0609020000020004" pitchFamily="49" charset="0"/>
              </a:rPr>
              <a:t>="Center"</a:t>
            </a:r>
          </a:p>
          <a:p>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 </a:t>
            </a:r>
            <a:r>
              <a:rPr lang="en-US" sz="1200" dirty="0" err="1">
                <a:solidFill>
                  <a:srgbClr val="FF0000"/>
                </a:solidFill>
                <a:latin typeface="Cascadia Mono" panose="020B0609020000020004" pitchFamily="49" charset="0"/>
              </a:rPr>
              <a:t>VerticalOptions</a:t>
            </a:r>
            <a:r>
              <a:rPr lang="en-US" sz="1200" dirty="0">
                <a:solidFill>
                  <a:srgbClr val="0000FF"/>
                </a:solidFill>
                <a:latin typeface="Cascadia Mono" panose="020B0609020000020004" pitchFamily="49" charset="0"/>
              </a:rPr>
              <a:t>="Center"</a:t>
            </a:r>
          </a:p>
          <a:p>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 </a:t>
            </a:r>
            <a:r>
              <a:rPr lang="en-US" sz="1200" dirty="0" err="1">
                <a:solidFill>
                  <a:srgbClr val="FF0000"/>
                </a:solidFill>
                <a:latin typeface="Cascadia Mono" panose="020B0609020000020004" pitchFamily="49" charset="0"/>
              </a:rPr>
              <a:t>FontSize</a:t>
            </a:r>
            <a:r>
              <a:rPr lang="en-US" sz="1200" dirty="0">
                <a:solidFill>
                  <a:srgbClr val="0000FF"/>
                </a:solidFill>
                <a:latin typeface="Cascadia Mono" panose="020B0609020000020004" pitchFamily="49" charset="0"/>
              </a:rPr>
              <a:t>="20"</a:t>
            </a:r>
          </a:p>
          <a:p>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 </a:t>
            </a:r>
            <a:r>
              <a:rPr lang="en-US" sz="1200" dirty="0" err="1">
                <a:solidFill>
                  <a:srgbClr val="FF0000"/>
                </a:solidFill>
                <a:latin typeface="Cascadia Mono" panose="020B0609020000020004" pitchFamily="49" charset="0"/>
              </a:rPr>
              <a:t>FontAttributes</a:t>
            </a:r>
            <a:r>
              <a:rPr lang="en-US" sz="1200" dirty="0">
                <a:solidFill>
                  <a:srgbClr val="0000FF"/>
                </a:solidFill>
                <a:latin typeface="Cascadia Mono" panose="020B0609020000020004" pitchFamily="49" charset="0"/>
              </a:rPr>
              <a:t>="Bold" /&gt;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A31515"/>
                </a:solidFill>
                <a:latin typeface="Cascadia Mono" panose="020B0609020000020004" pitchFamily="49" charset="0"/>
              </a:rPr>
              <a:t>Border</a:t>
            </a:r>
            <a:r>
              <a:rPr lang="en-US" sz="1200" dirty="0">
                <a:solidFill>
                  <a:srgbClr val="0000FF"/>
                </a:solidFill>
                <a:latin typeface="Cascadia Mono" panose="020B0609020000020004" pitchFamily="49" charset="0"/>
              </a:rPr>
              <a:t>&gt;</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A31515"/>
                </a:solidFill>
                <a:latin typeface="Cascadia Mono" panose="020B0609020000020004" pitchFamily="49" charset="0"/>
              </a:rPr>
              <a:t>Grid</a:t>
            </a:r>
            <a:r>
              <a:rPr lang="en-US" sz="1200" dirty="0">
                <a:solidFill>
                  <a:srgbClr val="0000FF"/>
                </a:solidFill>
                <a:latin typeface="Cascadia Mono" panose="020B0609020000020004" pitchFamily="49" charset="0"/>
              </a:rPr>
              <a:t>&gt;</a:t>
            </a:r>
          </a:p>
          <a:p>
            <a:r>
              <a:rPr lang="en-US" sz="1200" dirty="0">
                <a:solidFill>
                  <a:srgbClr val="0000FF"/>
                </a:solidFill>
                <a:latin typeface="Cascadia Mono" panose="020B0609020000020004" pitchFamily="49" charset="0"/>
              </a:rPr>
              <a:t>&lt;/</a:t>
            </a:r>
            <a:r>
              <a:rPr lang="en-US" sz="1200" dirty="0">
                <a:solidFill>
                  <a:srgbClr val="A31515"/>
                </a:solidFill>
                <a:latin typeface="Cascadia Mono" panose="020B0609020000020004" pitchFamily="49" charset="0"/>
              </a:rPr>
              <a:t>ControlTemplate</a:t>
            </a:r>
            <a:r>
              <a:rPr lang="en-US" sz="1200" dirty="0">
                <a:solidFill>
                  <a:srgbClr val="0000FF"/>
                </a:solidFill>
                <a:latin typeface="Cascadia Mono" panose="020B0609020000020004" pitchFamily="49" charset="0"/>
              </a:rPr>
              <a:t>&gt;</a:t>
            </a:r>
            <a:endParaRPr lang="en-US" sz="1200" dirty="0"/>
          </a:p>
        </p:txBody>
      </p:sp>
    </p:spTree>
    <p:extLst>
      <p:ext uri="{BB962C8B-B14F-4D97-AF65-F5344CB8AC3E}">
        <p14:creationId xmlns:p14="http://schemas.microsoft.com/office/powerpoint/2010/main" val="2216281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2"/>
          <p:cNvSpPr txBox="1">
            <a:spLocks noChangeArrowheads="1"/>
          </p:cNvSpPr>
          <p:nvPr/>
        </p:nvSpPr>
        <p:spPr bwMode="auto">
          <a:xfrm>
            <a:off x="212383" y="571595"/>
            <a:ext cx="11277155" cy="1374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La </a:t>
            </a:r>
            <a:r>
              <a:rPr lang="en-US" altLang="en-US" sz="2200" u="sng" dirty="0" err="1" smtClean="0">
                <a:latin typeface="Segoe UI Symbol" panose="020B0502040204020203" pitchFamily="34" charset="0"/>
              </a:rPr>
              <a:t>classe</a:t>
            </a:r>
            <a:r>
              <a:rPr lang="en-US" altLang="en-US" sz="2200" u="sng" dirty="0" smtClean="0">
                <a:latin typeface="Segoe UI Symbol" panose="020B0502040204020203" pitchFamily="34" charset="0"/>
              </a:rPr>
              <a:t> </a:t>
            </a:r>
            <a:r>
              <a:rPr lang="en-US" altLang="en-US" sz="2200" u="sng" dirty="0" err="1" smtClean="0">
                <a:latin typeface="Segoe UI Symbol" panose="020B0502040204020203" pitchFamily="34" charset="0"/>
              </a:rPr>
              <a:t>BindingContext</a:t>
            </a:r>
            <a:r>
              <a:rPr lang="en-US" altLang="en-US" sz="2200" u="sng" dirty="0" smtClean="0">
                <a:latin typeface="Segoe UI Symbol" panose="020B0502040204020203" pitchFamily="34" charset="0"/>
              </a:rPr>
              <a:t> </a:t>
            </a:r>
            <a:endParaRPr lang="en-US" altLang="en-US" sz="2200" dirty="0">
              <a:latin typeface="Times New Roman" panose="02020603050405020304" pitchFamily="18" charset="0"/>
              <a:cs typeface="Times New Roman" panose="02020603050405020304" pitchFamily="18" charset="0"/>
            </a:endParaRPr>
          </a:p>
          <a:p>
            <a:pPr eaLnBrk="1" hangingPunct="1">
              <a:lnSpc>
                <a:spcPct val="150000"/>
              </a:lnSpc>
              <a:spcBef>
                <a:spcPts val="1613"/>
              </a:spcBef>
              <a:buClr>
                <a:srgbClr val="006498"/>
              </a:buClr>
              <a:buSzPct val="61000"/>
              <a:buFont typeface="Wingdings" panose="05000000000000000000" pitchFamily="2" charset="2"/>
              <a:buChar char=""/>
            </a:pPr>
            <a:r>
              <a:rPr lang="fr-FR" altLang="en-US" dirty="0" smtClean="0">
                <a:latin typeface="Segoe UI" panose="020B0502040204020203" pitchFamily="34" charset="0"/>
                <a:cs typeface="Segoe UI" panose="020B0502040204020203" pitchFamily="34" charset="0"/>
              </a:rPr>
              <a:t>C ’est une propriété de dépendance qui fournit l’objet du binding global du visuel parent à tout les visuels descendants </a:t>
            </a:r>
          </a:p>
        </p:txBody>
      </p:sp>
      <p:sp>
        <p:nvSpPr>
          <p:cNvPr id="5" name="Rectangle à coins arrondis 4"/>
          <p:cNvSpPr/>
          <p:nvPr/>
        </p:nvSpPr>
        <p:spPr>
          <a:xfrm>
            <a:off x="396688" y="2097741"/>
            <a:ext cx="10253382" cy="392654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r>
              <a:rPr lang="fr-FR" sz="3200" b="1" dirty="0" smtClean="0"/>
              <a:t>L’objet Parent:</a:t>
            </a:r>
          </a:p>
          <a:p>
            <a:endParaRPr lang="fr-FR" sz="3200" b="1" dirty="0" smtClean="0"/>
          </a:p>
          <a:p>
            <a:pPr algn="ctr"/>
            <a:endParaRPr lang="fr-FR" dirty="0"/>
          </a:p>
          <a:p>
            <a:pPr algn="ctr"/>
            <a:endParaRPr lang="fr-FR" dirty="0" smtClean="0"/>
          </a:p>
          <a:p>
            <a:pPr algn="ctr"/>
            <a:endParaRPr lang="fr-FR" dirty="0"/>
          </a:p>
          <a:p>
            <a:pPr algn="ctr"/>
            <a:endParaRPr lang="fr-FR" dirty="0" smtClean="0"/>
          </a:p>
          <a:p>
            <a:pPr algn="ctr"/>
            <a:endParaRPr lang="fr-FR" dirty="0"/>
          </a:p>
          <a:p>
            <a:pPr algn="ctr"/>
            <a:endParaRPr lang="fr-FR" dirty="0" smtClean="0"/>
          </a:p>
          <a:p>
            <a:pPr algn="ctr"/>
            <a:endParaRPr lang="fr-FR" dirty="0"/>
          </a:p>
          <a:p>
            <a:pPr algn="ctr"/>
            <a:endParaRPr lang="fr-FR" dirty="0" smtClean="0"/>
          </a:p>
          <a:p>
            <a:pPr algn="ctr"/>
            <a:endParaRPr lang="fr-FR" dirty="0"/>
          </a:p>
          <a:p>
            <a:pPr algn="ctr"/>
            <a:endParaRPr lang="fr-FR" dirty="0" smtClean="0"/>
          </a:p>
          <a:p>
            <a:pPr algn="ctr"/>
            <a:endParaRPr lang="fr-FR" dirty="0"/>
          </a:p>
        </p:txBody>
      </p:sp>
      <p:sp>
        <p:nvSpPr>
          <p:cNvPr id="6" name="Rectangle à coins arrondis 5"/>
          <p:cNvSpPr/>
          <p:nvPr/>
        </p:nvSpPr>
        <p:spPr>
          <a:xfrm>
            <a:off x="1512793" y="3065929"/>
            <a:ext cx="7245723" cy="2693893"/>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fr-FR" sz="3200" b="1" dirty="0" smtClean="0"/>
              <a:t>L’objet Fils:</a:t>
            </a:r>
          </a:p>
          <a:p>
            <a:endParaRPr lang="fr-FR" sz="3200" b="1" dirty="0" smtClean="0"/>
          </a:p>
          <a:p>
            <a:pPr algn="ctr"/>
            <a:endParaRPr lang="fr-FR" dirty="0"/>
          </a:p>
          <a:p>
            <a:pPr algn="ctr"/>
            <a:endParaRPr lang="fr-FR" dirty="0" smtClean="0"/>
          </a:p>
          <a:p>
            <a:pPr algn="ctr"/>
            <a:endParaRPr lang="fr-FR" dirty="0"/>
          </a:p>
          <a:p>
            <a:pPr algn="ctr"/>
            <a:endParaRPr lang="fr-FR" dirty="0" smtClean="0"/>
          </a:p>
          <a:p>
            <a:pPr algn="ctr"/>
            <a:endParaRPr lang="fr-FR" dirty="0"/>
          </a:p>
          <a:p>
            <a:pPr algn="ctr"/>
            <a:endParaRPr lang="fr-FR" dirty="0" smtClean="0"/>
          </a:p>
          <a:p>
            <a:pPr algn="ctr"/>
            <a:endParaRPr lang="fr-FR" dirty="0"/>
          </a:p>
          <a:p>
            <a:pPr algn="ctr"/>
            <a:endParaRPr lang="fr-FR" dirty="0" smtClean="0"/>
          </a:p>
          <a:p>
            <a:pPr algn="ctr"/>
            <a:endParaRPr lang="fr-FR" dirty="0"/>
          </a:p>
          <a:p>
            <a:pPr algn="ctr"/>
            <a:endParaRPr lang="fr-FR" dirty="0" smtClean="0"/>
          </a:p>
          <a:p>
            <a:pPr algn="ctr"/>
            <a:endParaRPr lang="fr-FR" dirty="0"/>
          </a:p>
        </p:txBody>
      </p:sp>
      <p:sp>
        <p:nvSpPr>
          <p:cNvPr id="7" name="Rectangle à coins arrondis 6"/>
          <p:cNvSpPr/>
          <p:nvPr/>
        </p:nvSpPr>
        <p:spPr>
          <a:xfrm>
            <a:off x="2521324" y="4006104"/>
            <a:ext cx="5340722" cy="1259540"/>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r>
              <a:rPr lang="fr-FR" sz="3200" b="1" dirty="0" smtClean="0"/>
              <a:t>         </a:t>
            </a:r>
            <a:endParaRPr lang="fr-FR" sz="3200" b="1" dirty="0"/>
          </a:p>
          <a:p>
            <a:endParaRPr lang="fr-FR" sz="3200" b="1" dirty="0" smtClean="0"/>
          </a:p>
          <a:p>
            <a:r>
              <a:rPr lang="fr-FR" sz="3200" b="1" dirty="0" smtClean="0">
                <a:solidFill>
                  <a:schemeClr val="bg1"/>
                </a:solidFill>
              </a:rPr>
              <a:t>L’objet Fils:  </a:t>
            </a:r>
          </a:p>
          <a:p>
            <a:endParaRPr lang="fr-FR" sz="3200" b="1" dirty="0" smtClean="0"/>
          </a:p>
          <a:p>
            <a:pPr algn="ctr"/>
            <a:endParaRPr lang="fr-FR" dirty="0"/>
          </a:p>
          <a:p>
            <a:pPr algn="ctr"/>
            <a:endParaRPr lang="fr-FR" dirty="0" smtClean="0"/>
          </a:p>
          <a:p>
            <a:pPr algn="ctr"/>
            <a:endParaRPr lang="fr-FR" dirty="0"/>
          </a:p>
          <a:p>
            <a:pPr algn="ctr"/>
            <a:endParaRPr lang="fr-FR" dirty="0" smtClean="0"/>
          </a:p>
          <a:p>
            <a:pPr algn="ctr"/>
            <a:endParaRPr lang="fr-FR" dirty="0"/>
          </a:p>
          <a:p>
            <a:pPr algn="ctr"/>
            <a:endParaRPr lang="fr-FR" dirty="0" smtClean="0"/>
          </a:p>
          <a:p>
            <a:pPr algn="ctr"/>
            <a:endParaRPr lang="fr-FR" dirty="0"/>
          </a:p>
          <a:p>
            <a:pPr algn="ctr"/>
            <a:endParaRPr lang="fr-FR" dirty="0" smtClean="0"/>
          </a:p>
          <a:p>
            <a:pPr algn="ctr"/>
            <a:endParaRPr lang="fr-FR" dirty="0"/>
          </a:p>
          <a:p>
            <a:pPr algn="ctr"/>
            <a:endParaRPr lang="fr-FR" dirty="0" smtClean="0"/>
          </a:p>
          <a:p>
            <a:pPr algn="ctr"/>
            <a:endParaRPr lang="fr-FR" dirty="0"/>
          </a:p>
        </p:txBody>
      </p:sp>
      <p:sp>
        <p:nvSpPr>
          <p:cNvPr id="8" name="Rectangle 7"/>
          <p:cNvSpPr/>
          <p:nvPr/>
        </p:nvSpPr>
        <p:spPr>
          <a:xfrm>
            <a:off x="3380034" y="2080596"/>
            <a:ext cx="5263942" cy="461665"/>
          </a:xfrm>
          <a:prstGeom prst="rect">
            <a:avLst/>
          </a:prstGeom>
        </p:spPr>
        <p:txBody>
          <a:bodyPr wrap="none">
            <a:spAutoFit/>
          </a:bodyPr>
          <a:lstStyle/>
          <a:p>
            <a:r>
              <a:rPr lang="fr-FR" altLang="en-US" sz="2400" dirty="0" smtClean="0">
                <a:solidFill>
                  <a:schemeClr val="bg1"/>
                </a:solidFill>
                <a:latin typeface="Segoe UI Symbol" panose="020B0502040204020203" pitchFamily="34" charset="0"/>
              </a:rPr>
              <a:t>Object(Valeur 1,Valeur 2,….. ,Valeur N)</a:t>
            </a:r>
            <a:endParaRPr lang="fr-FR" sz="2400" dirty="0">
              <a:solidFill>
                <a:schemeClr val="bg1"/>
              </a:solidFill>
            </a:endParaRPr>
          </a:p>
        </p:txBody>
      </p:sp>
      <p:sp>
        <p:nvSpPr>
          <p:cNvPr id="9" name="Rectangle 8"/>
          <p:cNvSpPr/>
          <p:nvPr/>
        </p:nvSpPr>
        <p:spPr>
          <a:xfrm>
            <a:off x="4632261" y="3133174"/>
            <a:ext cx="3958391" cy="461665"/>
          </a:xfrm>
          <a:prstGeom prst="rect">
            <a:avLst/>
          </a:prstGeom>
        </p:spPr>
        <p:txBody>
          <a:bodyPr wrap="none">
            <a:spAutoFit/>
          </a:bodyPr>
          <a:lstStyle/>
          <a:p>
            <a:r>
              <a:rPr lang="fr-FR" altLang="en-US" sz="2400" dirty="0" smtClean="0">
                <a:solidFill>
                  <a:schemeClr val="bg1"/>
                </a:solidFill>
                <a:latin typeface="Segoe UI Symbol" panose="020B0502040204020203" pitchFamily="34" charset="0"/>
              </a:rPr>
              <a:t>Propriété={Binding Valeur1}</a:t>
            </a:r>
            <a:endParaRPr lang="fr-FR" sz="2400" dirty="0">
              <a:solidFill>
                <a:schemeClr val="bg1"/>
              </a:solidFill>
            </a:endParaRPr>
          </a:p>
        </p:txBody>
      </p:sp>
      <p:sp>
        <p:nvSpPr>
          <p:cNvPr id="11" name="Rectangle 10"/>
          <p:cNvSpPr/>
          <p:nvPr/>
        </p:nvSpPr>
        <p:spPr>
          <a:xfrm>
            <a:off x="3675279" y="4174209"/>
            <a:ext cx="3958391" cy="461665"/>
          </a:xfrm>
          <a:prstGeom prst="rect">
            <a:avLst/>
          </a:prstGeom>
        </p:spPr>
        <p:txBody>
          <a:bodyPr wrap="none">
            <a:spAutoFit/>
          </a:bodyPr>
          <a:lstStyle/>
          <a:p>
            <a:r>
              <a:rPr lang="fr-FR" altLang="en-US" sz="2400" dirty="0" smtClean="0">
                <a:solidFill>
                  <a:schemeClr val="bg1"/>
                </a:solidFill>
                <a:latin typeface="Segoe UI Symbol" panose="020B0502040204020203" pitchFamily="34" charset="0"/>
              </a:rPr>
              <a:t>Propriété={Binding Valeur2}</a:t>
            </a:r>
            <a:endParaRPr lang="fr-FR" sz="2400" dirty="0">
              <a:solidFill>
                <a:schemeClr val="bg1"/>
              </a:solidFill>
            </a:endParaRPr>
          </a:p>
        </p:txBody>
      </p:sp>
      <p:cxnSp>
        <p:nvCxnSpPr>
          <p:cNvPr id="12" name="Connecteur droit avec flèche 11"/>
          <p:cNvCxnSpPr/>
          <p:nvPr/>
        </p:nvCxnSpPr>
        <p:spPr>
          <a:xfrm>
            <a:off x="4982135" y="2503404"/>
            <a:ext cx="2879911" cy="737337"/>
          </a:xfrm>
          <a:prstGeom prst="straightConnector1">
            <a:avLst/>
          </a:prstGeom>
          <a:ln w="508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p:cNvCxnSpPr/>
          <p:nvPr/>
        </p:nvCxnSpPr>
        <p:spPr>
          <a:xfrm>
            <a:off x="6071347" y="2423831"/>
            <a:ext cx="692524" cy="1872504"/>
          </a:xfrm>
          <a:prstGeom prst="straightConnector1">
            <a:avLst/>
          </a:prstGeom>
          <a:ln w="508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5932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2"/>
          <p:cNvSpPr txBox="1">
            <a:spLocks noChangeArrowheads="1"/>
          </p:cNvSpPr>
          <p:nvPr/>
        </p:nvSpPr>
        <p:spPr bwMode="auto">
          <a:xfrm>
            <a:off x="219107" y="823776"/>
            <a:ext cx="11277155" cy="82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200" u="sng" dirty="0" smtClean="0">
                <a:latin typeface="Segoe UI Symbol" panose="020B0502040204020203" pitchFamily="34" charset="0"/>
              </a:rPr>
              <a:t>La classe </a:t>
            </a:r>
            <a:r>
              <a:rPr lang="en-US" altLang="en-US" sz="2200" u="sng" dirty="0" err="1" smtClean="0">
                <a:latin typeface="Segoe UI Symbol" panose="020B0502040204020203" pitchFamily="34" charset="0"/>
              </a:rPr>
              <a:t>BindingContext</a:t>
            </a:r>
            <a:r>
              <a:rPr lang="en-US" altLang="en-US" sz="2200" u="sng" dirty="0" smtClean="0">
                <a:latin typeface="Segoe UI Symbol" panose="020B0502040204020203" pitchFamily="34" charset="0"/>
              </a:rPr>
              <a:t> </a:t>
            </a:r>
            <a:endParaRPr lang="en-US" altLang="en-US" sz="2200" dirty="0">
              <a:latin typeface="Times New Roman" panose="02020603050405020304" pitchFamily="18" charset="0"/>
              <a:cs typeface="Times New Roman" panose="02020603050405020304" pitchFamily="18" charset="0"/>
            </a:endParaRPr>
          </a:p>
          <a:p>
            <a:pPr eaLnBrk="1" hangingPunct="1">
              <a:spcBef>
                <a:spcPts val="1613"/>
              </a:spcBef>
              <a:buClr>
                <a:srgbClr val="006498"/>
              </a:buClr>
              <a:buSzPct val="61000"/>
              <a:buFont typeface="Wingdings" panose="05000000000000000000" pitchFamily="2" charset="2"/>
              <a:buChar char=""/>
            </a:pPr>
            <a:r>
              <a:rPr lang="fr-FR" altLang="en-US" dirty="0" smtClean="0">
                <a:latin typeface="Segoe UI Symbol" panose="020B0502040204020203" pitchFamily="34" charset="0"/>
              </a:rPr>
              <a:t>Voici un exemple d’utilisation de la propreté </a:t>
            </a:r>
            <a:r>
              <a:rPr lang="fr-FR" altLang="en-US" b="1" dirty="0" smtClean="0">
                <a:latin typeface="Segoe UI Symbol" panose="020B0502040204020203" pitchFamily="34" charset="0"/>
              </a:rPr>
              <a:t>BindingContext </a:t>
            </a:r>
          </a:p>
        </p:txBody>
      </p:sp>
      <p:sp>
        <p:nvSpPr>
          <p:cNvPr id="3" name="Rectangle 2"/>
          <p:cNvSpPr/>
          <p:nvPr/>
        </p:nvSpPr>
        <p:spPr>
          <a:xfrm>
            <a:off x="1181621" y="1973747"/>
            <a:ext cx="9246296" cy="4124206"/>
          </a:xfrm>
          <a:prstGeom prst="rect">
            <a:avLst/>
          </a:prstGeom>
        </p:spPr>
        <p:txBody>
          <a:bodyPr wrap="square">
            <a:spAutoFit/>
          </a:bodyPr>
          <a:lstStyle/>
          <a:p>
            <a:r>
              <a:rPr lang="fr-FR" sz="1200" dirty="0">
                <a:solidFill>
                  <a:srgbClr val="000000"/>
                </a:solidFill>
                <a:latin typeface="Cascadia Mono" panose="020B0609020000020004" pitchFamily="49" charset="0"/>
              </a:rPr>
              <a:t> </a:t>
            </a:r>
            <a:r>
              <a:rPr lang="fr-FR" sz="1400" b="1" dirty="0">
                <a:solidFill>
                  <a:srgbClr val="0000FF"/>
                </a:solidFill>
                <a:latin typeface="Cascadia Mono" panose="020B0609020000020004" pitchFamily="49" charset="0"/>
              </a:rPr>
              <a:t>&lt;</a:t>
            </a:r>
            <a:r>
              <a:rPr lang="fr-FR" sz="1400" b="1" dirty="0" err="1">
                <a:solidFill>
                  <a:srgbClr val="A31515"/>
                </a:solidFill>
                <a:latin typeface="Cascadia Mono" panose="020B0609020000020004" pitchFamily="49" charset="0"/>
              </a:rPr>
              <a:t>StackLayout.BindingContext</a:t>
            </a:r>
            <a:r>
              <a:rPr lang="fr-FR" sz="1400" b="1" dirty="0">
                <a:solidFill>
                  <a:srgbClr val="0000FF"/>
                </a:solidFill>
                <a:latin typeface="Cascadia Mono" panose="020B0609020000020004" pitchFamily="49" charset="0"/>
              </a:rPr>
              <a:t>&gt;</a:t>
            </a:r>
            <a:endParaRPr lang="fr-FR" sz="1400" b="1" dirty="0">
              <a:solidFill>
                <a:srgbClr val="000000"/>
              </a:solidFill>
              <a:latin typeface="Cascadia Mono" panose="020B0609020000020004" pitchFamily="49" charset="0"/>
            </a:endParaRPr>
          </a:p>
          <a:p>
            <a:r>
              <a:rPr lang="en-US" sz="1400" b="1" dirty="0">
                <a:solidFill>
                  <a:srgbClr val="000000"/>
                </a:solidFill>
                <a:latin typeface="Cascadia Mono" panose="020B0609020000020004" pitchFamily="49" charset="0"/>
              </a:rPr>
              <a:t>            </a:t>
            </a:r>
            <a:r>
              <a:rPr lang="en-US" sz="1400" b="1" dirty="0">
                <a:solidFill>
                  <a:srgbClr val="0000FF"/>
                </a:solidFill>
                <a:latin typeface="Cascadia Mono" panose="020B0609020000020004" pitchFamily="49" charset="0"/>
              </a:rPr>
              <a:t>&lt;</a:t>
            </a:r>
            <a:r>
              <a:rPr lang="en-US" sz="1400" b="1" dirty="0" err="1">
                <a:solidFill>
                  <a:srgbClr val="A31515"/>
                </a:solidFill>
                <a:latin typeface="Cascadia Mono" panose="020B0609020000020004" pitchFamily="49" charset="0"/>
              </a:rPr>
              <a:t>local</a:t>
            </a:r>
            <a:r>
              <a:rPr lang="en-US" sz="1400" b="1" dirty="0" err="1">
                <a:solidFill>
                  <a:srgbClr val="0000FF"/>
                </a:solidFill>
                <a:latin typeface="Cascadia Mono" panose="020B0609020000020004" pitchFamily="49" charset="0"/>
              </a:rPr>
              <a:t>:</a:t>
            </a:r>
            <a:r>
              <a:rPr lang="en-US" sz="1400" b="1" dirty="0" err="1">
                <a:solidFill>
                  <a:srgbClr val="A31515"/>
                </a:solidFill>
                <a:latin typeface="Cascadia Mono" panose="020B0609020000020004" pitchFamily="49" charset="0"/>
              </a:rPr>
              <a:t>Employee</a:t>
            </a:r>
            <a:r>
              <a:rPr lang="en-US" sz="1400" b="1" dirty="0">
                <a:solidFill>
                  <a:srgbClr val="FF0000"/>
                </a:solidFill>
                <a:latin typeface="Cascadia Mono" panose="020B0609020000020004" pitchFamily="49" charset="0"/>
              </a:rPr>
              <a:t> Id</a:t>
            </a:r>
            <a:r>
              <a:rPr lang="en-US" sz="1400" b="1" dirty="0">
                <a:solidFill>
                  <a:srgbClr val="0000FF"/>
                </a:solidFill>
                <a:latin typeface="Cascadia Mono" panose="020B0609020000020004" pitchFamily="49" charset="0"/>
              </a:rPr>
              <a:t>="1"</a:t>
            </a:r>
            <a:r>
              <a:rPr lang="en-US" sz="1400" b="1" dirty="0">
                <a:solidFill>
                  <a:srgbClr val="FF0000"/>
                </a:solidFill>
                <a:latin typeface="Cascadia Mono" panose="020B0609020000020004" pitchFamily="49" charset="0"/>
              </a:rPr>
              <a:t> Name</a:t>
            </a:r>
            <a:r>
              <a:rPr lang="en-US" sz="1400" b="1" dirty="0">
                <a:solidFill>
                  <a:srgbClr val="0000FF"/>
                </a:solidFill>
                <a:latin typeface="Cascadia Mono" panose="020B0609020000020004" pitchFamily="49" charset="0"/>
              </a:rPr>
              <a:t>="Employee A"</a:t>
            </a:r>
            <a:r>
              <a:rPr lang="en-US" sz="1400" b="1" dirty="0">
                <a:solidFill>
                  <a:srgbClr val="FF0000"/>
                </a:solidFill>
                <a:latin typeface="Cascadia Mono" panose="020B0609020000020004" pitchFamily="49" charset="0"/>
              </a:rPr>
              <a:t> Salary</a:t>
            </a:r>
            <a:r>
              <a:rPr lang="en-US" sz="1400" b="1" dirty="0">
                <a:solidFill>
                  <a:srgbClr val="0000FF"/>
                </a:solidFill>
                <a:latin typeface="Cascadia Mono" panose="020B0609020000020004" pitchFamily="49" charset="0"/>
              </a:rPr>
              <a:t>="5500"/&gt;</a:t>
            </a:r>
            <a:endParaRPr lang="en-US" sz="1400" b="1" dirty="0">
              <a:solidFill>
                <a:srgbClr val="000000"/>
              </a:solidFill>
              <a:latin typeface="Cascadia Mono" panose="020B0609020000020004" pitchFamily="49" charset="0"/>
            </a:endParaRPr>
          </a:p>
          <a:p>
            <a:r>
              <a:rPr lang="fr-FR" sz="1400" b="1" dirty="0" smtClean="0">
                <a:solidFill>
                  <a:srgbClr val="0000FF"/>
                </a:solidFill>
                <a:latin typeface="Cascadia Mono" panose="020B0609020000020004" pitchFamily="49" charset="0"/>
              </a:rPr>
              <a:t>&lt;/</a:t>
            </a:r>
            <a:r>
              <a:rPr lang="fr-FR" sz="1400" b="1" dirty="0" err="1">
                <a:solidFill>
                  <a:srgbClr val="A31515"/>
                </a:solidFill>
                <a:latin typeface="Cascadia Mono" panose="020B0609020000020004" pitchFamily="49" charset="0"/>
              </a:rPr>
              <a:t>StackLayout.BindingContext</a:t>
            </a:r>
            <a:r>
              <a:rPr lang="fr-FR" sz="1400" b="1" dirty="0">
                <a:solidFill>
                  <a:srgbClr val="0000FF"/>
                </a:solidFill>
                <a:latin typeface="Cascadia Mono" panose="020B0609020000020004" pitchFamily="49" charset="0"/>
              </a:rPr>
              <a:t>&gt;</a:t>
            </a:r>
            <a:endParaRPr lang="fr-FR" sz="1400" b="1" dirty="0">
              <a:solidFill>
                <a:srgbClr val="000000"/>
              </a:solidFill>
              <a:latin typeface="Cascadia Mono" panose="020B0609020000020004" pitchFamily="49" charset="0"/>
            </a:endParaRPr>
          </a:p>
          <a:p>
            <a:r>
              <a:rPr lang="fr-FR" sz="1200" dirty="0" smtClean="0">
                <a:solidFill>
                  <a:srgbClr val="0000FF"/>
                </a:solidFill>
                <a:latin typeface="Cascadia Mono" panose="020B0609020000020004" pitchFamily="49" charset="0"/>
              </a:rPr>
              <a:t>&lt;</a:t>
            </a:r>
            <a:r>
              <a:rPr lang="fr-FR" sz="1200" dirty="0">
                <a:solidFill>
                  <a:srgbClr val="A31515"/>
                </a:solidFill>
                <a:latin typeface="Cascadia Mono" panose="020B0609020000020004" pitchFamily="49" charset="0"/>
              </a:rPr>
              <a:t>Grid</a:t>
            </a:r>
            <a:r>
              <a:rPr lang="fr-FR" sz="1200" dirty="0">
                <a:solidFill>
                  <a:srgbClr val="000000"/>
                </a:solidFill>
                <a:latin typeface="Cascadia Mono" panose="020B0609020000020004" pitchFamily="49" charset="0"/>
              </a:rPr>
              <a:t> </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HorizontalOptions</a:t>
            </a:r>
            <a:r>
              <a:rPr lang="fr-FR" sz="1200" dirty="0">
                <a:solidFill>
                  <a:srgbClr val="0000FF"/>
                </a:solidFill>
                <a:latin typeface="Cascadia Mono" panose="020B0609020000020004" pitchFamily="49" charset="0"/>
              </a:rPr>
              <a:t>="Center" &gt;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Grid.ColumnDefinitions</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ColumnDefinition</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Width</a:t>
            </a:r>
            <a:r>
              <a:rPr lang="fr-FR" sz="1200" dirty="0">
                <a:solidFill>
                  <a:srgbClr val="0000FF"/>
                </a:solidFill>
                <a:latin typeface="Cascadia Mono" panose="020B0609020000020004" pitchFamily="49" charset="0"/>
              </a:rPr>
              <a:t>="1*" /&gt;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ColumnDefinition</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Width</a:t>
            </a:r>
            <a:r>
              <a:rPr lang="fr-FR" sz="1200" dirty="0">
                <a:solidFill>
                  <a:srgbClr val="0000FF"/>
                </a:solidFill>
                <a:latin typeface="Cascadia Mono" panose="020B0609020000020004" pitchFamily="49" charset="0"/>
              </a:rPr>
              <a:t>="1*" /&gt;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Grid.ColumnDefinitions</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Grid.RowDefinitions</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RowDefinition</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Height</a:t>
            </a:r>
            <a:r>
              <a:rPr lang="fr-FR" sz="1200" dirty="0">
                <a:solidFill>
                  <a:srgbClr val="0000FF"/>
                </a:solidFill>
                <a:latin typeface="Cascadia Mono" panose="020B0609020000020004" pitchFamily="49" charset="0"/>
              </a:rPr>
              <a:t>="1*" /&gt;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RowDefinition</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Height</a:t>
            </a:r>
            <a:r>
              <a:rPr lang="fr-FR" sz="1200" dirty="0">
                <a:solidFill>
                  <a:srgbClr val="0000FF"/>
                </a:solidFill>
                <a:latin typeface="Cascadia Mono" panose="020B0609020000020004" pitchFamily="49" charset="0"/>
              </a:rPr>
              <a:t>="1*" /&gt;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RowDefinition</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Height</a:t>
            </a:r>
            <a:r>
              <a:rPr lang="fr-FR" sz="1200" dirty="0">
                <a:solidFill>
                  <a:srgbClr val="0000FF"/>
                </a:solidFill>
                <a:latin typeface="Cascadia Mono" panose="020B0609020000020004" pitchFamily="49" charset="0"/>
              </a:rPr>
              <a:t>="1*" /&gt;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err="1">
                <a:solidFill>
                  <a:srgbClr val="A31515"/>
                </a:solidFill>
                <a:latin typeface="Cascadia Mono" panose="020B0609020000020004" pitchFamily="49" charset="0"/>
              </a:rPr>
              <a:t>Grid.RowDefinitions</a:t>
            </a:r>
            <a:r>
              <a:rPr lang="fr-FR" sz="1200" dirty="0">
                <a:solidFill>
                  <a:srgbClr val="0000FF"/>
                </a:solidFill>
                <a:latin typeface="Cascadia Mono" panose="020B0609020000020004" pitchFamily="49" charset="0"/>
              </a:rPr>
              <a:t>&gt;</a:t>
            </a:r>
            <a:endParaRPr lang="fr-FR"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A31515"/>
                </a:solidFill>
                <a:latin typeface="Cascadia Mono" panose="020B0609020000020004" pitchFamily="49" charset="0"/>
              </a:rPr>
              <a:t>Label</a:t>
            </a:r>
            <a:r>
              <a:rPr lang="en-US" sz="1200" dirty="0">
                <a:solidFill>
                  <a:srgbClr val="FF0000"/>
                </a:solidFill>
                <a:latin typeface="Cascadia Mono" panose="020B0609020000020004" pitchFamily="49" charset="0"/>
              </a:rPr>
              <a:t> </a:t>
            </a:r>
            <a:r>
              <a:rPr lang="en-US" sz="1200" dirty="0" err="1">
                <a:solidFill>
                  <a:srgbClr val="FF0000"/>
                </a:solidFill>
                <a:latin typeface="Cascadia Mono" panose="020B0609020000020004" pitchFamily="49" charset="0"/>
              </a:rPr>
              <a:t>FontSize</a:t>
            </a:r>
            <a:r>
              <a:rPr lang="en-US" sz="1200" dirty="0">
                <a:solidFill>
                  <a:srgbClr val="0000FF"/>
                </a:solidFill>
                <a:latin typeface="Cascadia Mono" panose="020B0609020000020004" pitchFamily="49" charset="0"/>
              </a:rPr>
              <a:t>="25"</a:t>
            </a:r>
            <a:r>
              <a:rPr lang="en-US" sz="1200" dirty="0">
                <a:solidFill>
                  <a:srgbClr val="FF0000"/>
                </a:solidFill>
                <a:latin typeface="Cascadia Mono" panose="020B0609020000020004" pitchFamily="49" charset="0"/>
              </a:rPr>
              <a:t> Text</a:t>
            </a:r>
            <a:r>
              <a:rPr lang="en-US" sz="1200" dirty="0">
                <a:solidFill>
                  <a:srgbClr val="0000FF"/>
                </a:solidFill>
                <a:latin typeface="Cascadia Mono" panose="020B0609020000020004" pitchFamily="49" charset="0"/>
              </a:rPr>
              <a:t>="Id: "</a:t>
            </a:r>
            <a:r>
              <a:rPr lang="en-US" sz="1200" dirty="0">
                <a:solidFill>
                  <a:srgbClr val="FF0000"/>
                </a:solidFill>
                <a:latin typeface="Cascadia Mono" panose="020B0609020000020004" pitchFamily="49" charset="0"/>
              </a:rPr>
              <a:t> </a:t>
            </a:r>
            <a:r>
              <a:rPr lang="en-US" sz="1200" dirty="0" err="1">
                <a:solidFill>
                  <a:srgbClr val="FF0000"/>
                </a:solidFill>
                <a:latin typeface="Cascadia Mono" panose="020B0609020000020004" pitchFamily="49" charset="0"/>
              </a:rPr>
              <a:t>HorizontalOptions</a:t>
            </a:r>
            <a:r>
              <a:rPr lang="en-US" sz="1200" dirty="0">
                <a:solidFill>
                  <a:srgbClr val="0000FF"/>
                </a:solidFill>
                <a:latin typeface="Cascadia Mono" panose="020B0609020000020004" pitchFamily="49" charset="0"/>
              </a:rPr>
              <a:t>="End"/&gt;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A31515"/>
                </a:solidFill>
                <a:latin typeface="Cascadia Mono" panose="020B0609020000020004" pitchFamily="49" charset="0"/>
              </a:rPr>
              <a:t>Label</a:t>
            </a:r>
            <a:r>
              <a:rPr lang="en-US" sz="1200" dirty="0">
                <a:solidFill>
                  <a:srgbClr val="FF0000"/>
                </a:solidFill>
                <a:latin typeface="Cascadia Mono" panose="020B0609020000020004" pitchFamily="49" charset="0"/>
              </a:rPr>
              <a:t> </a:t>
            </a:r>
            <a:r>
              <a:rPr lang="en-US" sz="1200" dirty="0" err="1">
                <a:solidFill>
                  <a:srgbClr val="FF0000"/>
                </a:solidFill>
                <a:latin typeface="Cascadia Mono" panose="020B0609020000020004" pitchFamily="49" charset="0"/>
              </a:rPr>
              <a:t>FontSize</a:t>
            </a:r>
            <a:r>
              <a:rPr lang="en-US" sz="1200" dirty="0">
                <a:solidFill>
                  <a:srgbClr val="0000FF"/>
                </a:solidFill>
                <a:latin typeface="Cascadia Mono" panose="020B0609020000020004" pitchFamily="49" charset="0"/>
              </a:rPr>
              <a:t>="25"</a:t>
            </a:r>
            <a:r>
              <a:rPr lang="en-US" sz="1200" dirty="0">
                <a:solidFill>
                  <a:srgbClr val="FF0000"/>
                </a:solidFill>
                <a:latin typeface="Cascadia Mono" panose="020B0609020000020004" pitchFamily="49" charset="0"/>
              </a:rPr>
              <a:t> Text</a:t>
            </a:r>
            <a:r>
              <a:rPr lang="en-US" sz="1200" dirty="0">
                <a:solidFill>
                  <a:srgbClr val="0000FF"/>
                </a:solidFill>
                <a:latin typeface="Cascadia Mono" panose="020B0609020000020004" pitchFamily="49" charset="0"/>
              </a:rPr>
              <a:t>="Name: "</a:t>
            </a:r>
            <a:r>
              <a:rPr lang="en-US" sz="1200" dirty="0">
                <a:solidFill>
                  <a:srgbClr val="FF0000"/>
                </a:solidFill>
                <a:latin typeface="Cascadia Mono" panose="020B0609020000020004" pitchFamily="49" charset="0"/>
              </a:rPr>
              <a:t> </a:t>
            </a:r>
            <a:r>
              <a:rPr lang="en-US" sz="1200" dirty="0" err="1">
                <a:solidFill>
                  <a:srgbClr val="FF0000"/>
                </a:solidFill>
                <a:latin typeface="Cascadia Mono" panose="020B0609020000020004" pitchFamily="49" charset="0"/>
              </a:rPr>
              <a:t>Grid.Row</a:t>
            </a:r>
            <a:r>
              <a:rPr lang="en-US" sz="1200" dirty="0">
                <a:solidFill>
                  <a:srgbClr val="0000FF"/>
                </a:solidFill>
                <a:latin typeface="Cascadia Mono" panose="020B0609020000020004" pitchFamily="49" charset="0"/>
              </a:rPr>
              <a:t>="1" /&gt;</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A31515"/>
                </a:solidFill>
                <a:latin typeface="Cascadia Mono" panose="020B0609020000020004" pitchFamily="49" charset="0"/>
              </a:rPr>
              <a:t>Label</a:t>
            </a:r>
            <a:r>
              <a:rPr lang="en-US" sz="1200" dirty="0">
                <a:solidFill>
                  <a:srgbClr val="FF0000"/>
                </a:solidFill>
                <a:latin typeface="Cascadia Mono" panose="020B0609020000020004" pitchFamily="49" charset="0"/>
              </a:rPr>
              <a:t> </a:t>
            </a:r>
            <a:r>
              <a:rPr lang="en-US" sz="1200" dirty="0" err="1">
                <a:solidFill>
                  <a:srgbClr val="FF0000"/>
                </a:solidFill>
                <a:latin typeface="Cascadia Mono" panose="020B0609020000020004" pitchFamily="49" charset="0"/>
              </a:rPr>
              <a:t>FontSize</a:t>
            </a:r>
            <a:r>
              <a:rPr lang="en-US" sz="1200" dirty="0">
                <a:solidFill>
                  <a:srgbClr val="0000FF"/>
                </a:solidFill>
                <a:latin typeface="Cascadia Mono" panose="020B0609020000020004" pitchFamily="49" charset="0"/>
              </a:rPr>
              <a:t>="25"</a:t>
            </a:r>
            <a:r>
              <a:rPr lang="en-US" sz="1200" dirty="0">
                <a:solidFill>
                  <a:srgbClr val="FF0000"/>
                </a:solidFill>
                <a:latin typeface="Cascadia Mono" panose="020B0609020000020004" pitchFamily="49" charset="0"/>
              </a:rPr>
              <a:t> Text</a:t>
            </a:r>
            <a:r>
              <a:rPr lang="en-US" sz="1200" dirty="0">
                <a:solidFill>
                  <a:srgbClr val="0000FF"/>
                </a:solidFill>
                <a:latin typeface="Cascadia Mono" panose="020B0609020000020004" pitchFamily="49" charset="0"/>
              </a:rPr>
              <a:t>="Salary: "</a:t>
            </a:r>
            <a:r>
              <a:rPr lang="en-US" sz="1200" dirty="0">
                <a:solidFill>
                  <a:srgbClr val="FF0000"/>
                </a:solidFill>
                <a:latin typeface="Cascadia Mono" panose="020B0609020000020004" pitchFamily="49" charset="0"/>
              </a:rPr>
              <a:t> </a:t>
            </a:r>
            <a:r>
              <a:rPr lang="en-US" sz="1200" dirty="0" err="1">
                <a:solidFill>
                  <a:srgbClr val="FF0000"/>
                </a:solidFill>
                <a:latin typeface="Cascadia Mono" panose="020B0609020000020004" pitchFamily="49" charset="0"/>
              </a:rPr>
              <a:t>Grid.Row</a:t>
            </a:r>
            <a:r>
              <a:rPr lang="en-US" sz="1200" dirty="0">
                <a:solidFill>
                  <a:srgbClr val="0000FF"/>
                </a:solidFill>
                <a:latin typeface="Cascadia Mono" panose="020B0609020000020004" pitchFamily="49" charset="0"/>
              </a:rPr>
              <a:t>="2"/&gt;</a:t>
            </a:r>
            <a:endParaRPr lang="en-US" sz="1200" dirty="0">
              <a:solidFill>
                <a:srgbClr val="000000"/>
              </a:solidFill>
              <a:latin typeface="Cascadia Mono" panose="020B0609020000020004" pitchFamily="49" charset="0"/>
            </a:endParaRPr>
          </a:p>
          <a:p>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a:solidFill>
                  <a:srgbClr val="A31515"/>
                </a:solidFill>
                <a:latin typeface="Cascadia Mono" panose="020B0609020000020004" pitchFamily="49" charset="0"/>
              </a:rPr>
              <a:t>Label</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FontSize</a:t>
            </a:r>
            <a:r>
              <a:rPr lang="fr-FR" sz="1200" dirty="0">
                <a:solidFill>
                  <a:srgbClr val="0000FF"/>
                </a:solidFill>
                <a:latin typeface="Cascadia Mono" panose="020B0609020000020004" pitchFamily="49" charset="0"/>
              </a:rPr>
              <a:t>="25"</a:t>
            </a:r>
            <a:r>
              <a:rPr lang="fr-FR" sz="1200" dirty="0">
                <a:solidFill>
                  <a:srgbClr val="FF0000"/>
                </a:solidFill>
                <a:latin typeface="Cascadia Mono" panose="020B0609020000020004" pitchFamily="49" charset="0"/>
              </a:rPr>
              <a:t> </a:t>
            </a:r>
            <a:r>
              <a:rPr lang="fr-FR" sz="1400" b="1" dirty="0">
                <a:solidFill>
                  <a:srgbClr val="FF0000"/>
                </a:solidFill>
                <a:latin typeface="Cascadia Mono" panose="020B0609020000020004" pitchFamily="49" charset="0"/>
              </a:rPr>
              <a:t>Text</a:t>
            </a:r>
            <a:r>
              <a:rPr lang="fr-FR" sz="1400" b="1" dirty="0">
                <a:solidFill>
                  <a:srgbClr val="0000FF"/>
                </a:solidFill>
                <a:latin typeface="Cascadia Mono" panose="020B0609020000020004" pitchFamily="49" charset="0"/>
              </a:rPr>
              <a:t>="{</a:t>
            </a:r>
            <a:r>
              <a:rPr lang="fr-FR" sz="1400" b="1" dirty="0">
                <a:solidFill>
                  <a:srgbClr val="A31515"/>
                </a:solidFill>
                <a:latin typeface="Cascadia Mono" panose="020B0609020000020004" pitchFamily="49" charset="0"/>
              </a:rPr>
              <a:t>Binding</a:t>
            </a:r>
            <a:r>
              <a:rPr lang="fr-FR" sz="1400" b="1" dirty="0">
                <a:solidFill>
                  <a:srgbClr val="FF0000"/>
                </a:solidFill>
                <a:latin typeface="Cascadia Mono" panose="020B0609020000020004" pitchFamily="49" charset="0"/>
              </a:rPr>
              <a:t> Id</a:t>
            </a:r>
            <a:r>
              <a:rPr lang="fr-FR" sz="1400" b="1" dirty="0">
                <a:solidFill>
                  <a:srgbClr val="0000FF"/>
                </a:solidFill>
                <a:latin typeface="Cascadia Mono" panose="020B0609020000020004" pitchFamily="49" charset="0"/>
              </a:rPr>
              <a:t>}"</a:t>
            </a:r>
            <a:r>
              <a:rPr lang="fr-FR" sz="1400" b="1"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Grid.Column</a:t>
            </a:r>
            <a:r>
              <a:rPr lang="fr-FR" sz="1200" dirty="0">
                <a:solidFill>
                  <a:srgbClr val="0000FF"/>
                </a:solidFill>
                <a:latin typeface="Cascadia Mono" panose="020B0609020000020004" pitchFamily="49" charset="0"/>
              </a:rPr>
              <a:t>="1" /&gt;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a:solidFill>
                  <a:srgbClr val="A31515"/>
                </a:solidFill>
                <a:latin typeface="Cascadia Mono" panose="020B0609020000020004" pitchFamily="49" charset="0"/>
              </a:rPr>
              <a:t>Label</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FontSize</a:t>
            </a:r>
            <a:r>
              <a:rPr lang="fr-FR" sz="1200" dirty="0">
                <a:solidFill>
                  <a:srgbClr val="0000FF"/>
                </a:solidFill>
                <a:latin typeface="Cascadia Mono" panose="020B0609020000020004" pitchFamily="49" charset="0"/>
              </a:rPr>
              <a:t>="25"</a:t>
            </a:r>
            <a:r>
              <a:rPr lang="fr-FR" sz="1200" dirty="0">
                <a:solidFill>
                  <a:srgbClr val="FF0000"/>
                </a:solidFill>
                <a:latin typeface="Cascadia Mono" panose="020B0609020000020004" pitchFamily="49" charset="0"/>
              </a:rPr>
              <a:t> </a:t>
            </a:r>
            <a:r>
              <a:rPr lang="fr-FR" sz="1400" b="1" dirty="0">
                <a:solidFill>
                  <a:srgbClr val="FF0000"/>
                </a:solidFill>
                <a:latin typeface="Cascadia Mono" panose="020B0609020000020004" pitchFamily="49" charset="0"/>
              </a:rPr>
              <a:t>Text</a:t>
            </a:r>
            <a:r>
              <a:rPr lang="fr-FR" sz="1400" b="1" dirty="0">
                <a:solidFill>
                  <a:srgbClr val="0000FF"/>
                </a:solidFill>
                <a:latin typeface="Cascadia Mono" panose="020B0609020000020004" pitchFamily="49" charset="0"/>
              </a:rPr>
              <a:t>="{</a:t>
            </a:r>
            <a:r>
              <a:rPr lang="fr-FR" sz="1400" b="1" dirty="0">
                <a:solidFill>
                  <a:srgbClr val="A31515"/>
                </a:solidFill>
                <a:latin typeface="Cascadia Mono" panose="020B0609020000020004" pitchFamily="49" charset="0"/>
              </a:rPr>
              <a:t>Binding</a:t>
            </a:r>
            <a:r>
              <a:rPr lang="fr-FR" sz="1400" b="1" dirty="0">
                <a:solidFill>
                  <a:srgbClr val="FF0000"/>
                </a:solidFill>
                <a:latin typeface="Cascadia Mono" panose="020B0609020000020004" pitchFamily="49" charset="0"/>
              </a:rPr>
              <a:t> Name</a:t>
            </a:r>
            <a:r>
              <a:rPr lang="fr-FR" sz="1400" b="1" dirty="0">
                <a:solidFill>
                  <a:srgbClr val="0000FF"/>
                </a:solidFill>
                <a:latin typeface="Cascadia Mono" panose="020B0609020000020004" pitchFamily="49" charset="0"/>
              </a:rPr>
              <a:t>}"</a:t>
            </a:r>
            <a:r>
              <a:rPr lang="fr-FR" sz="1400" b="1"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Grid.Row</a:t>
            </a:r>
            <a:r>
              <a:rPr lang="fr-FR" sz="1200" dirty="0">
                <a:solidFill>
                  <a:srgbClr val="0000FF"/>
                </a:solidFill>
                <a:latin typeface="Cascadia Mono" panose="020B0609020000020004" pitchFamily="49" charset="0"/>
              </a:rPr>
              <a:t>="1"</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Grid.Column</a:t>
            </a:r>
            <a:r>
              <a:rPr lang="fr-FR" sz="1200" dirty="0">
                <a:solidFill>
                  <a:srgbClr val="0000FF"/>
                </a:solidFill>
                <a:latin typeface="Cascadia Mono" panose="020B0609020000020004" pitchFamily="49" charset="0"/>
              </a:rPr>
              <a:t>="1"/&gt;</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&lt;</a:t>
            </a:r>
            <a:r>
              <a:rPr lang="fr-FR" sz="1200" dirty="0">
                <a:solidFill>
                  <a:srgbClr val="A31515"/>
                </a:solidFill>
                <a:latin typeface="Cascadia Mono" panose="020B0609020000020004" pitchFamily="49" charset="0"/>
              </a:rPr>
              <a:t>Label</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FontSize</a:t>
            </a:r>
            <a:r>
              <a:rPr lang="fr-FR" sz="1200" dirty="0">
                <a:solidFill>
                  <a:srgbClr val="0000FF"/>
                </a:solidFill>
                <a:latin typeface="Cascadia Mono" panose="020B0609020000020004" pitchFamily="49" charset="0"/>
              </a:rPr>
              <a:t>="25"</a:t>
            </a:r>
            <a:r>
              <a:rPr lang="fr-FR" sz="1200" dirty="0">
                <a:solidFill>
                  <a:srgbClr val="FF0000"/>
                </a:solidFill>
                <a:latin typeface="Cascadia Mono" panose="020B0609020000020004" pitchFamily="49" charset="0"/>
              </a:rPr>
              <a:t> </a:t>
            </a:r>
            <a:r>
              <a:rPr lang="fr-FR" sz="1400" b="1" dirty="0">
                <a:solidFill>
                  <a:srgbClr val="FF0000"/>
                </a:solidFill>
                <a:latin typeface="Cascadia Mono" panose="020B0609020000020004" pitchFamily="49" charset="0"/>
              </a:rPr>
              <a:t>Text</a:t>
            </a:r>
            <a:r>
              <a:rPr lang="fr-FR" sz="1400" b="1" dirty="0">
                <a:solidFill>
                  <a:srgbClr val="0000FF"/>
                </a:solidFill>
                <a:latin typeface="Cascadia Mono" panose="020B0609020000020004" pitchFamily="49" charset="0"/>
              </a:rPr>
              <a:t>="{</a:t>
            </a:r>
            <a:r>
              <a:rPr lang="fr-FR" sz="1400" b="1" dirty="0">
                <a:solidFill>
                  <a:srgbClr val="A31515"/>
                </a:solidFill>
                <a:latin typeface="Cascadia Mono" panose="020B0609020000020004" pitchFamily="49" charset="0"/>
              </a:rPr>
              <a:t>Binding</a:t>
            </a:r>
            <a:r>
              <a:rPr lang="fr-FR" sz="1400" b="1" dirty="0">
                <a:solidFill>
                  <a:srgbClr val="FF0000"/>
                </a:solidFill>
                <a:latin typeface="Cascadia Mono" panose="020B0609020000020004" pitchFamily="49" charset="0"/>
              </a:rPr>
              <a:t> </a:t>
            </a:r>
            <a:r>
              <a:rPr lang="fr-FR" sz="1400" b="1" dirty="0" err="1">
                <a:solidFill>
                  <a:srgbClr val="FF0000"/>
                </a:solidFill>
                <a:latin typeface="Cascadia Mono" panose="020B0609020000020004" pitchFamily="49" charset="0"/>
              </a:rPr>
              <a:t>Salary</a:t>
            </a:r>
            <a:r>
              <a:rPr lang="fr-FR" sz="1400" b="1" dirty="0">
                <a:solidFill>
                  <a:srgbClr val="0000FF"/>
                </a:solidFill>
                <a:latin typeface="Cascadia Mono" panose="020B0609020000020004" pitchFamily="49" charset="0"/>
              </a:rPr>
              <a:t>}"</a:t>
            </a:r>
            <a:r>
              <a:rPr lang="fr-FR" sz="1400" b="1"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Grid.Row</a:t>
            </a:r>
            <a:r>
              <a:rPr lang="fr-FR" sz="1200" dirty="0">
                <a:solidFill>
                  <a:srgbClr val="0000FF"/>
                </a:solidFill>
                <a:latin typeface="Cascadia Mono" panose="020B0609020000020004" pitchFamily="49" charset="0"/>
              </a:rPr>
              <a:t>="2"</a:t>
            </a:r>
            <a:r>
              <a:rPr lang="fr-FR" sz="1200" dirty="0">
                <a:solidFill>
                  <a:srgbClr val="FF0000"/>
                </a:solidFill>
                <a:latin typeface="Cascadia Mono" panose="020B0609020000020004" pitchFamily="49" charset="0"/>
              </a:rPr>
              <a:t> </a:t>
            </a:r>
            <a:r>
              <a:rPr lang="fr-FR" sz="1200" dirty="0" err="1">
                <a:solidFill>
                  <a:srgbClr val="FF0000"/>
                </a:solidFill>
                <a:latin typeface="Cascadia Mono" panose="020B0609020000020004" pitchFamily="49" charset="0"/>
              </a:rPr>
              <a:t>Grid.Column</a:t>
            </a:r>
            <a:r>
              <a:rPr lang="fr-FR" sz="1200" dirty="0">
                <a:solidFill>
                  <a:srgbClr val="0000FF"/>
                </a:solidFill>
                <a:latin typeface="Cascadia Mono" panose="020B0609020000020004" pitchFamily="49" charset="0"/>
              </a:rPr>
              <a:t>="1"/&gt;</a:t>
            </a:r>
            <a:endParaRPr lang="fr-FR" sz="1200" dirty="0">
              <a:solidFill>
                <a:srgbClr val="000000"/>
              </a:solidFill>
              <a:latin typeface="Cascadia Mono" panose="020B0609020000020004" pitchFamily="49" charset="0"/>
            </a:endParaRPr>
          </a:p>
          <a:p>
            <a:r>
              <a:rPr lang="fr-FR" sz="1200" dirty="0" smtClean="0">
                <a:solidFill>
                  <a:srgbClr val="0000FF"/>
                </a:solidFill>
                <a:latin typeface="Cascadia Mono" panose="020B0609020000020004" pitchFamily="49" charset="0"/>
              </a:rPr>
              <a:t>&lt;/</a:t>
            </a:r>
            <a:r>
              <a:rPr lang="fr-FR" sz="1200" dirty="0">
                <a:solidFill>
                  <a:srgbClr val="A31515"/>
                </a:solidFill>
                <a:latin typeface="Cascadia Mono" panose="020B0609020000020004" pitchFamily="49" charset="0"/>
              </a:rPr>
              <a:t>Grid</a:t>
            </a:r>
            <a:r>
              <a:rPr lang="fr-FR" sz="1200" dirty="0">
                <a:solidFill>
                  <a:srgbClr val="0000FF"/>
                </a:solidFill>
                <a:latin typeface="Cascadia Mono" panose="020B0609020000020004" pitchFamily="49" charset="0"/>
              </a:rPr>
              <a:t>&gt;</a:t>
            </a:r>
            <a:endParaRPr lang="fr-FR" sz="1200" dirty="0"/>
          </a:p>
        </p:txBody>
      </p:sp>
      <p:cxnSp>
        <p:nvCxnSpPr>
          <p:cNvPr id="4" name="Connecteur droit avec flèche 3"/>
          <p:cNvCxnSpPr/>
          <p:nvPr/>
        </p:nvCxnSpPr>
        <p:spPr>
          <a:xfrm>
            <a:off x="4359058" y="2455101"/>
            <a:ext cx="1440493" cy="279330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p:nvPr/>
        </p:nvCxnSpPr>
        <p:spPr>
          <a:xfrm>
            <a:off x="6043808" y="2455101"/>
            <a:ext cx="25052" cy="30563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p:cNvCxnSpPr/>
          <p:nvPr/>
        </p:nvCxnSpPr>
        <p:spPr>
          <a:xfrm flipH="1">
            <a:off x="6221260" y="2455101"/>
            <a:ext cx="1682663" cy="32087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13"/>
          <p:cNvCxnSpPr/>
          <p:nvPr/>
        </p:nvCxnSpPr>
        <p:spPr>
          <a:xfrm>
            <a:off x="2724411" y="2229633"/>
            <a:ext cx="1434230" cy="62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p:nvCxnSpPr>
        <p:spPr>
          <a:xfrm>
            <a:off x="4928992" y="5423770"/>
            <a:ext cx="734859" cy="20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Connecteur droit 17"/>
          <p:cNvCxnSpPr/>
          <p:nvPr/>
        </p:nvCxnSpPr>
        <p:spPr>
          <a:xfrm>
            <a:off x="4928992" y="5652794"/>
            <a:ext cx="734859" cy="20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p:nvCxnSpPr>
        <p:spPr>
          <a:xfrm>
            <a:off x="4928992" y="5881818"/>
            <a:ext cx="734859" cy="20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3443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9"/>
          <p:cNvSpPr txBox="1"/>
          <p:nvPr/>
        </p:nvSpPr>
        <p:spPr>
          <a:xfrm>
            <a:off x="401511" y="671386"/>
            <a:ext cx="8001825" cy="346249"/>
          </a:xfrm>
          <a:prstGeom prst="rect">
            <a:avLst/>
          </a:prstGeom>
        </p:spPr>
        <p:txBody>
          <a:bodyPr wrap="square" lIns="0" tIns="0" rIns="0" bIns="0">
            <a:spAutoFit/>
          </a:bodyPr>
          <a:lstStyle/>
          <a:p>
            <a:pPr marL="80010" eaLnBrk="1" fontAlgn="auto" hangingPunct="1">
              <a:spcBef>
                <a:spcPts val="0"/>
              </a:spcBef>
              <a:spcAft>
                <a:spcPts val="0"/>
              </a:spcAft>
              <a:tabLst>
                <a:tab pos="5920105" algn="l"/>
              </a:tabLst>
              <a:defRPr/>
            </a:pPr>
            <a:r>
              <a:rPr lang="fr-FR" sz="2250" u="heavy" dirty="0" smtClean="0">
                <a:latin typeface="Segoe UI Symbol"/>
                <a:cs typeface="Segoe UI Symbol"/>
              </a:rPr>
              <a:t>Relative </a:t>
            </a:r>
            <a:r>
              <a:rPr lang="fr-FR" sz="2250" u="heavy" dirty="0" smtClean="0">
                <a:latin typeface="Segoe UI Symbol"/>
                <a:cs typeface="Segoe UI Symbol"/>
              </a:rPr>
              <a:t>Source</a:t>
            </a:r>
            <a:r>
              <a:rPr sz="2250" u="heavy" dirty="0" smtClean="0">
                <a:latin typeface="Segoe UI Symbol"/>
                <a:cs typeface="Segoe UI Symbol"/>
              </a:rPr>
              <a:t> </a:t>
            </a:r>
            <a:endParaRPr sz="2250" dirty="0">
              <a:latin typeface="Times New Roman"/>
              <a:cs typeface="Times New Roman"/>
            </a:endParaRPr>
          </a:p>
        </p:txBody>
      </p:sp>
      <p:sp>
        <p:nvSpPr>
          <p:cNvPr id="4" name="object 20"/>
          <p:cNvSpPr txBox="1">
            <a:spLocks noChangeArrowheads="1"/>
          </p:cNvSpPr>
          <p:nvPr/>
        </p:nvSpPr>
        <p:spPr bwMode="auto">
          <a:xfrm>
            <a:off x="527550" y="1085687"/>
            <a:ext cx="11048499"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255588" indent="-242888">
              <a:tabLst>
                <a:tab pos="257175" algn="l"/>
              </a:tabLst>
              <a:defRPr>
                <a:solidFill>
                  <a:schemeClr val="tx1"/>
                </a:solidFill>
                <a:latin typeface="Calibri" panose="020F0502020204030204" pitchFamily="34" charset="0"/>
                <a:cs typeface="Arial" panose="020B0604020202020204" pitchFamily="34" charset="0"/>
              </a:defRPr>
            </a:lvl1pPr>
            <a:lvl2pPr marL="742950" indent="-285750">
              <a:tabLst>
                <a:tab pos="257175" algn="l"/>
              </a:tabLst>
              <a:defRPr>
                <a:solidFill>
                  <a:schemeClr val="tx1"/>
                </a:solidFill>
                <a:latin typeface="Calibri" panose="020F0502020204030204" pitchFamily="34" charset="0"/>
                <a:cs typeface="Arial" panose="020B0604020202020204" pitchFamily="34" charset="0"/>
              </a:defRPr>
            </a:lvl2pPr>
            <a:lvl3pPr marL="1143000" indent="-228600">
              <a:tabLst>
                <a:tab pos="257175" algn="l"/>
              </a:tabLst>
              <a:defRPr>
                <a:solidFill>
                  <a:schemeClr val="tx1"/>
                </a:solidFill>
                <a:latin typeface="Calibri" panose="020F0502020204030204" pitchFamily="34" charset="0"/>
                <a:cs typeface="Arial" panose="020B0604020202020204" pitchFamily="34" charset="0"/>
              </a:defRPr>
            </a:lvl3pPr>
            <a:lvl4pPr marL="1600200" indent="-228600">
              <a:tabLst>
                <a:tab pos="257175" algn="l"/>
              </a:tabLst>
              <a:defRPr>
                <a:solidFill>
                  <a:schemeClr val="tx1"/>
                </a:solidFill>
                <a:latin typeface="Calibri" panose="020F0502020204030204" pitchFamily="34" charset="0"/>
                <a:cs typeface="Arial" panose="020B0604020202020204" pitchFamily="34" charset="0"/>
              </a:defRPr>
            </a:lvl4pPr>
            <a:lvl5pPr marL="2057400" indent="-228600">
              <a:tabLst>
                <a:tab pos="257175"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9pPr>
          </a:lstStyle>
          <a:p>
            <a:pPr eaLnBrk="1" hangingPunct="1">
              <a:lnSpc>
                <a:spcPct val="150000"/>
              </a:lnSpc>
              <a:buClr>
                <a:srgbClr val="006498"/>
              </a:buClr>
              <a:buSzPct val="61000"/>
              <a:buFont typeface="Wingdings" panose="05000000000000000000" pitchFamily="2" charset="2"/>
              <a:buChar char=""/>
            </a:pPr>
            <a:r>
              <a:rPr lang="fr-FR" altLang="en-US" dirty="0" smtClean="0">
                <a:latin typeface="Segoe UI "/>
              </a:rPr>
              <a:t>Relative source est un autre type de binding qui permet d’établir des liaisons entre éléments </a:t>
            </a:r>
          </a:p>
          <a:p>
            <a:pPr marL="12700" indent="0" eaLnBrk="1" hangingPunct="1">
              <a:lnSpc>
                <a:spcPct val="150000"/>
              </a:lnSpc>
              <a:buClr>
                <a:srgbClr val="006498"/>
              </a:buClr>
              <a:buSzPct val="61000"/>
            </a:pPr>
            <a:r>
              <a:rPr lang="fr-FR" altLang="en-US" dirty="0">
                <a:latin typeface="Segoe UI "/>
              </a:rPr>
              <a:t> </a:t>
            </a:r>
            <a:r>
              <a:rPr lang="fr-FR" altLang="en-US" dirty="0" smtClean="0">
                <a:latin typeface="Segoe UI "/>
              </a:rPr>
              <a:t>  avec un lien hiérarchique dans l’exemple ci-dessous les deux propriétés de couleur de fond de </a:t>
            </a:r>
          </a:p>
          <a:p>
            <a:pPr marL="12700" indent="0" eaLnBrk="1" hangingPunct="1">
              <a:lnSpc>
                <a:spcPct val="150000"/>
              </a:lnSpc>
              <a:buClr>
                <a:srgbClr val="006498"/>
              </a:buClr>
              <a:buSzPct val="61000"/>
            </a:pPr>
            <a:r>
              <a:rPr lang="fr-FR" altLang="en-US" dirty="0">
                <a:latin typeface="Segoe UI "/>
              </a:rPr>
              <a:t> </a:t>
            </a:r>
            <a:r>
              <a:rPr lang="fr-FR" altLang="en-US" dirty="0" smtClean="0">
                <a:latin typeface="Segoe UI "/>
              </a:rPr>
              <a:t>   l’élément racine  et de l’élément le plus petit sont liées</a:t>
            </a:r>
            <a:endParaRPr lang="fr-FR" altLang="en-US" dirty="0">
              <a:latin typeface="Segoe UI "/>
            </a:endParaRPr>
          </a:p>
          <a:p>
            <a:pPr>
              <a:lnSpc>
                <a:spcPct val="150000"/>
              </a:lnSpc>
              <a:buClr>
                <a:srgbClr val="006498"/>
              </a:buClr>
              <a:buSzPct val="61000"/>
              <a:buFont typeface="Wingdings" panose="05000000000000000000" pitchFamily="2" charset="2"/>
              <a:buChar char=""/>
            </a:pPr>
            <a:r>
              <a:rPr lang="fr-FR" altLang="en-US" dirty="0">
                <a:latin typeface="Segoe UI "/>
              </a:rPr>
              <a:t>Relative source propose quatre </a:t>
            </a:r>
            <a:r>
              <a:rPr lang="fr-FR" altLang="en-US" dirty="0" smtClean="0">
                <a:latin typeface="Segoe UI "/>
              </a:rPr>
              <a:t>modes de liaisons</a:t>
            </a:r>
            <a:endParaRPr lang="fr-FR" altLang="en-US" dirty="0">
              <a:latin typeface="Segoe UI "/>
            </a:endParaRPr>
          </a:p>
          <a:p>
            <a:pPr lvl="1">
              <a:lnSpc>
                <a:spcPct val="150000"/>
              </a:lnSpc>
              <a:buClr>
                <a:srgbClr val="006498"/>
              </a:buClr>
              <a:buSzPct val="61000"/>
              <a:buFont typeface="Wingdings" panose="05000000000000000000" pitchFamily="2" charset="2"/>
              <a:buChar char=""/>
            </a:pPr>
            <a:r>
              <a:rPr lang="fr-FR" altLang="en-US" b="1" dirty="0">
                <a:latin typeface="Segoe UI "/>
              </a:rPr>
              <a:t>Self: </a:t>
            </a:r>
            <a:r>
              <a:rPr lang="fr-FR" altLang="en-US" dirty="0">
                <a:latin typeface="Segoe UI "/>
              </a:rPr>
              <a:t>Permet de lier une propriété à la propriété du même </a:t>
            </a:r>
            <a:r>
              <a:rPr lang="fr-FR" altLang="en-US" dirty="0" smtClean="0">
                <a:latin typeface="Segoe UI "/>
              </a:rPr>
              <a:t>objet</a:t>
            </a:r>
          </a:p>
          <a:p>
            <a:pPr lvl="1">
              <a:lnSpc>
                <a:spcPct val="150000"/>
              </a:lnSpc>
              <a:buClr>
                <a:srgbClr val="006498"/>
              </a:buClr>
              <a:buSzPct val="61000"/>
              <a:buFont typeface="Wingdings" panose="05000000000000000000" pitchFamily="2" charset="2"/>
              <a:buChar char=""/>
            </a:pPr>
            <a:r>
              <a:rPr lang="fr-FR" altLang="en-US" b="1" dirty="0" err="1">
                <a:latin typeface="Segoe UI "/>
              </a:rPr>
              <a:t>TemplatedParent</a:t>
            </a:r>
            <a:r>
              <a:rPr lang="fr-FR" altLang="en-US" b="1" dirty="0">
                <a:latin typeface="Segoe UI "/>
              </a:rPr>
              <a:t>: </a:t>
            </a:r>
            <a:r>
              <a:rPr lang="fr-FR" altLang="en-US" dirty="0">
                <a:latin typeface="Segoe UI "/>
              </a:rPr>
              <a:t>Permet de lier une propriété d’un </a:t>
            </a:r>
            <a:r>
              <a:rPr lang="fr-FR" altLang="en-US" b="1" dirty="0">
                <a:latin typeface="Segoe UI "/>
              </a:rPr>
              <a:t>ControlTemplate</a:t>
            </a:r>
            <a:r>
              <a:rPr lang="fr-FR" altLang="en-US" dirty="0">
                <a:latin typeface="Segoe UI "/>
              </a:rPr>
              <a:t> ou </a:t>
            </a:r>
            <a:r>
              <a:rPr lang="fr-FR" altLang="en-US" b="1" dirty="0">
                <a:latin typeface="Segoe UI "/>
              </a:rPr>
              <a:t>DataTemplate </a:t>
            </a:r>
            <a:r>
              <a:rPr lang="fr-FR" altLang="en-US" dirty="0">
                <a:latin typeface="Segoe UI "/>
              </a:rPr>
              <a:t>à la propriété du contrôle où le </a:t>
            </a:r>
            <a:r>
              <a:rPr lang="fr-FR" altLang="en-US" dirty="0" err="1">
                <a:latin typeface="Segoe UI "/>
              </a:rPr>
              <a:t>template</a:t>
            </a:r>
            <a:r>
              <a:rPr lang="fr-FR" altLang="en-US" dirty="0">
                <a:latin typeface="Segoe UI "/>
              </a:rPr>
              <a:t> est </a:t>
            </a:r>
            <a:r>
              <a:rPr lang="fr-FR" altLang="en-US" dirty="0" smtClean="0">
                <a:latin typeface="Segoe UI "/>
              </a:rPr>
              <a:t>applicable</a:t>
            </a:r>
            <a:endParaRPr lang="fr-FR" altLang="en-US" b="1" dirty="0" smtClean="0">
              <a:latin typeface="Segoe UI "/>
            </a:endParaRPr>
          </a:p>
          <a:p>
            <a:pPr lvl="1">
              <a:lnSpc>
                <a:spcPct val="150000"/>
              </a:lnSpc>
              <a:buClr>
                <a:srgbClr val="006498"/>
              </a:buClr>
              <a:buSzPct val="61000"/>
              <a:buFont typeface="Wingdings" panose="05000000000000000000" pitchFamily="2" charset="2"/>
              <a:buChar char=""/>
            </a:pPr>
            <a:r>
              <a:rPr lang="fr-FR" altLang="en-US" b="1" dirty="0" err="1" smtClean="0">
                <a:latin typeface="Segoe UI "/>
              </a:rPr>
              <a:t>FindAncestor</a:t>
            </a:r>
            <a:r>
              <a:rPr lang="fr-FR" altLang="en-US" b="1" dirty="0">
                <a:latin typeface="Segoe UI "/>
              </a:rPr>
              <a:t>: </a:t>
            </a:r>
            <a:r>
              <a:rPr lang="fr-FR" altLang="en-US" dirty="0">
                <a:latin typeface="Segoe UI "/>
              </a:rPr>
              <a:t>Permet de lier une propriété d’un contrôle fils à un contrôle </a:t>
            </a:r>
            <a:r>
              <a:rPr lang="fr-FR" altLang="en-US" dirty="0" smtClean="0">
                <a:latin typeface="Segoe UI "/>
              </a:rPr>
              <a:t>parent</a:t>
            </a:r>
            <a:endParaRPr lang="fr-FR" altLang="en-US" dirty="0">
              <a:latin typeface="Segoe UI "/>
            </a:endParaRPr>
          </a:p>
          <a:p>
            <a:pPr marL="12700" indent="0" eaLnBrk="1" hangingPunct="1">
              <a:buClr>
                <a:srgbClr val="006498"/>
              </a:buClr>
              <a:buSzPct val="61000"/>
            </a:pPr>
            <a:endParaRPr lang="fr-FR" altLang="en-US" dirty="0">
              <a:latin typeface="Segoe UI "/>
            </a:endParaRPr>
          </a:p>
        </p:txBody>
      </p:sp>
    </p:spTree>
    <p:extLst>
      <p:ext uri="{BB962C8B-B14F-4D97-AF65-F5344CB8AC3E}">
        <p14:creationId xmlns:p14="http://schemas.microsoft.com/office/powerpoint/2010/main" val="3437895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9"/>
          <p:cNvSpPr txBox="1"/>
          <p:nvPr/>
        </p:nvSpPr>
        <p:spPr>
          <a:xfrm>
            <a:off x="354727" y="292391"/>
            <a:ext cx="8001825" cy="346249"/>
          </a:xfrm>
          <a:prstGeom prst="rect">
            <a:avLst/>
          </a:prstGeom>
        </p:spPr>
        <p:txBody>
          <a:bodyPr wrap="square" lIns="0" tIns="0" rIns="0" bIns="0">
            <a:spAutoFit/>
          </a:bodyPr>
          <a:lstStyle/>
          <a:p>
            <a:pPr marL="80010" eaLnBrk="1" fontAlgn="auto" hangingPunct="1">
              <a:spcBef>
                <a:spcPts val="0"/>
              </a:spcBef>
              <a:spcAft>
                <a:spcPts val="0"/>
              </a:spcAft>
              <a:tabLst>
                <a:tab pos="5920105" algn="l"/>
              </a:tabLst>
              <a:defRPr/>
            </a:pPr>
            <a:r>
              <a:rPr lang="fr-FR" sz="2250" u="heavy" dirty="0" smtClean="0">
                <a:latin typeface="Segoe UI Symbol"/>
                <a:cs typeface="Segoe UI Symbol"/>
              </a:rPr>
              <a:t>Relative Source-Self</a:t>
            </a:r>
            <a:endParaRPr sz="2250" dirty="0">
              <a:latin typeface="Times New Roman"/>
              <a:cs typeface="Times New Roman"/>
            </a:endParaRPr>
          </a:p>
        </p:txBody>
      </p:sp>
      <p:sp>
        <p:nvSpPr>
          <p:cNvPr id="6" name="Rectangle 1"/>
          <p:cNvSpPr>
            <a:spLocks noChangeArrowheads="1"/>
          </p:cNvSpPr>
          <p:nvPr/>
        </p:nvSpPr>
        <p:spPr bwMode="auto">
          <a:xfrm>
            <a:off x="354727" y="741766"/>
            <a:ext cx="785420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en-US" b="1" i="0" u="none" strike="noStrike" cap="none" normalizeH="0" baseline="0" dirty="0" err="1" smtClean="0">
                <a:ln>
                  <a:noFill/>
                </a:ln>
                <a:solidFill>
                  <a:schemeClr val="tx1"/>
                </a:solidFill>
                <a:effectLst/>
                <a:latin typeface="Segoe UI" panose="020B0502040204020203" pitchFamily="34" charset="0"/>
                <a:cs typeface="Segoe UI" panose="020B0502040204020203" pitchFamily="34" charset="0"/>
              </a:rPr>
              <a:t>RelativeSource</a:t>
            </a:r>
            <a:r>
              <a:rPr kumimoji="0" lang="fr-FR"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Self permet de **lier un élément à ses </a:t>
            </a:r>
            <a:r>
              <a:rPr kumimoji="0" lang="fr-FR" altLang="en-US" b="1"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propres propriétés</a:t>
            </a:r>
            <a:r>
              <a:rPr kumimoji="0" lang="fr-FR" altLang="en-US" b="0" i="0" u="none" strike="noStrike" cap="none" normalizeH="0" baseline="0" dirty="0" smtClean="0">
                <a:ln>
                  <a:noFill/>
                </a:ln>
                <a:solidFill>
                  <a:schemeClr val="tx1"/>
                </a:solidFill>
                <a:effectLst/>
                <a:latin typeface="Segoe UI" panose="020B0502040204020203" pitchFamily="34" charset="0"/>
                <a:cs typeface="Segoe UI" panose="020B0502040204020203" pitchFamily="34" charset="0"/>
              </a:rPr>
              <a:t>. </a:t>
            </a:r>
          </a:p>
        </p:txBody>
      </p:sp>
      <p:sp>
        <p:nvSpPr>
          <p:cNvPr id="7" name="Rectangle 6"/>
          <p:cNvSpPr/>
          <p:nvPr/>
        </p:nvSpPr>
        <p:spPr>
          <a:xfrm>
            <a:off x="599573" y="1397078"/>
            <a:ext cx="6096000" cy="1077218"/>
          </a:xfrm>
          <a:prstGeom prst="rect">
            <a:avLst/>
          </a:prstGeom>
        </p:spPr>
        <p:txBody>
          <a:bodyPr>
            <a:spAutoFit/>
          </a:bodyPr>
          <a:lstStyle/>
          <a:p>
            <a:r>
              <a:rPr lang="en-US" sz="1600" dirty="0">
                <a:solidFill>
                  <a:srgbClr val="0000FF"/>
                </a:solidFill>
                <a:latin typeface="Cascadia Mono" panose="020B0609020000020004" pitchFamily="49" charset="0"/>
              </a:rPr>
              <a:t>&lt;</a:t>
            </a:r>
            <a:r>
              <a:rPr lang="en-US" sz="1600" dirty="0" err="1">
                <a:solidFill>
                  <a:srgbClr val="A31515"/>
                </a:solidFill>
                <a:latin typeface="Cascadia Mono" panose="020B0609020000020004" pitchFamily="49" charset="0"/>
              </a:rPr>
              <a:t>BoxView</a:t>
            </a:r>
            <a:r>
              <a:rPr lang="en-US" sz="1600" dirty="0">
                <a:solidFill>
                  <a:srgbClr val="FF0000"/>
                </a:solidFill>
                <a:latin typeface="Cascadia Mono" panose="020B0609020000020004" pitchFamily="49" charset="0"/>
              </a:rPr>
              <a:t> Color</a:t>
            </a:r>
            <a:r>
              <a:rPr lang="en-US" sz="1600" dirty="0">
                <a:solidFill>
                  <a:srgbClr val="0000FF"/>
                </a:solidFill>
                <a:latin typeface="Cascadia Mono" panose="020B0609020000020004" pitchFamily="49" charset="0"/>
              </a:rPr>
              <a:t>="Green"</a:t>
            </a:r>
          </a:p>
          <a:p>
            <a:r>
              <a:rPr lang="en-US" sz="1600" dirty="0">
                <a:solidFill>
                  <a:srgbClr val="000000"/>
                </a:solidFill>
                <a:latin typeface="Cascadia Mono" panose="020B0609020000020004" pitchFamily="49" charset="0"/>
              </a:rPr>
              <a:t>    </a:t>
            </a:r>
            <a:r>
              <a:rPr lang="en-US" sz="1600" dirty="0">
                <a:solidFill>
                  <a:srgbClr val="FF0000"/>
                </a:solidFill>
                <a:latin typeface="Cascadia Mono" panose="020B0609020000020004" pitchFamily="49" charset="0"/>
              </a:rPr>
              <a:t> </a:t>
            </a:r>
            <a:r>
              <a:rPr lang="en-US" sz="1600" dirty="0" err="1">
                <a:solidFill>
                  <a:srgbClr val="FF0000"/>
                </a:solidFill>
                <a:latin typeface="Cascadia Mono" panose="020B0609020000020004" pitchFamily="49" charset="0"/>
              </a:rPr>
              <a:t>WidthRequest</a:t>
            </a:r>
            <a:r>
              <a:rPr lang="en-US" sz="1600" dirty="0">
                <a:solidFill>
                  <a:srgbClr val="0000FF"/>
                </a:solidFill>
                <a:latin typeface="Cascadia Mono" panose="020B0609020000020004" pitchFamily="49" charset="0"/>
              </a:rPr>
              <a:t>="100"</a:t>
            </a:r>
          </a:p>
          <a:p>
            <a:r>
              <a:rPr lang="en-US" sz="1600" dirty="0">
                <a:solidFill>
                  <a:srgbClr val="000000"/>
                </a:solidFill>
                <a:latin typeface="Cascadia Mono" panose="020B0609020000020004" pitchFamily="49" charset="0"/>
              </a:rPr>
              <a:t>    </a:t>
            </a:r>
            <a:r>
              <a:rPr lang="en-US" sz="1600" dirty="0">
                <a:solidFill>
                  <a:srgbClr val="FF0000"/>
                </a:solidFill>
                <a:latin typeface="Cascadia Mono" panose="020B0609020000020004" pitchFamily="49" charset="0"/>
              </a:rPr>
              <a:t> </a:t>
            </a:r>
            <a:r>
              <a:rPr lang="en-US" sz="1600" dirty="0" err="1">
                <a:solidFill>
                  <a:srgbClr val="FF0000"/>
                </a:solidFill>
                <a:latin typeface="Cascadia Mono" panose="020B0609020000020004" pitchFamily="49" charset="0"/>
              </a:rPr>
              <a:t>HeightRequest</a:t>
            </a:r>
            <a:r>
              <a:rPr lang="en-US" sz="1600" dirty="0">
                <a:solidFill>
                  <a:srgbClr val="0000FF"/>
                </a:solidFill>
                <a:latin typeface="Cascadia Mono" panose="020B0609020000020004" pitchFamily="49" charset="0"/>
              </a:rPr>
              <a:t>="{</a:t>
            </a:r>
            <a:r>
              <a:rPr lang="en-US" sz="1600" dirty="0">
                <a:solidFill>
                  <a:srgbClr val="A31515"/>
                </a:solidFill>
                <a:latin typeface="Cascadia Mono" panose="020B0609020000020004" pitchFamily="49" charset="0"/>
              </a:rPr>
              <a:t>Binding</a:t>
            </a:r>
            <a:r>
              <a:rPr lang="en-US" sz="1600" dirty="0">
                <a:solidFill>
                  <a:srgbClr val="FF0000"/>
                </a:solidFill>
                <a:latin typeface="Cascadia Mono" panose="020B0609020000020004" pitchFamily="49" charset="0"/>
              </a:rPr>
              <a:t> </a:t>
            </a:r>
            <a:r>
              <a:rPr lang="en-US" sz="1600" dirty="0" err="1">
                <a:solidFill>
                  <a:srgbClr val="FF0000"/>
                </a:solidFill>
                <a:latin typeface="Cascadia Mono" panose="020B0609020000020004" pitchFamily="49" charset="0"/>
              </a:rPr>
              <a:t>WidthRequest</a:t>
            </a:r>
            <a:r>
              <a:rPr lang="en-US" sz="1600" dirty="0">
                <a:solidFill>
                  <a:srgbClr val="0000FF"/>
                </a:solidFill>
                <a:latin typeface="Cascadia Mono" panose="020B0609020000020004" pitchFamily="49" charset="0"/>
              </a:rPr>
              <a:t>,</a:t>
            </a:r>
            <a:r>
              <a:rPr lang="en-US" sz="1600" dirty="0">
                <a:solidFill>
                  <a:srgbClr val="FF0000"/>
                </a:solidFill>
                <a:latin typeface="Cascadia Mono" panose="020B0609020000020004" pitchFamily="49" charset="0"/>
              </a:rPr>
              <a:t> Source</a:t>
            </a:r>
            <a:r>
              <a:rPr lang="en-US" sz="1600" dirty="0">
                <a:solidFill>
                  <a:srgbClr val="0000FF"/>
                </a:solidFill>
                <a:latin typeface="Cascadia Mono" panose="020B0609020000020004" pitchFamily="49" charset="0"/>
              </a:rPr>
              <a:t>={</a:t>
            </a:r>
            <a:r>
              <a:rPr lang="en-US" sz="1600" dirty="0" err="1">
                <a:solidFill>
                  <a:srgbClr val="A31515"/>
                </a:solidFill>
                <a:latin typeface="Cascadia Mono" panose="020B0609020000020004" pitchFamily="49" charset="0"/>
              </a:rPr>
              <a:t>RelativeSource</a:t>
            </a:r>
            <a:r>
              <a:rPr lang="en-US" sz="1600" dirty="0">
                <a:solidFill>
                  <a:srgbClr val="FF0000"/>
                </a:solidFill>
                <a:latin typeface="Cascadia Mono" panose="020B0609020000020004" pitchFamily="49" charset="0"/>
              </a:rPr>
              <a:t> Self</a:t>
            </a:r>
            <a:r>
              <a:rPr lang="en-US" sz="1600" dirty="0">
                <a:solidFill>
                  <a:srgbClr val="0000FF"/>
                </a:solidFill>
                <a:latin typeface="Cascadia Mono" panose="020B0609020000020004" pitchFamily="49" charset="0"/>
              </a:rPr>
              <a:t>}}" /&gt;</a:t>
            </a:r>
            <a:endParaRPr lang="en-US" sz="1600" dirty="0"/>
          </a:p>
        </p:txBody>
      </p:sp>
      <p:pic>
        <p:nvPicPr>
          <p:cNvPr id="8" name="Picture 7"/>
          <p:cNvPicPr>
            <a:picLocks noChangeAspect="1"/>
          </p:cNvPicPr>
          <p:nvPr/>
        </p:nvPicPr>
        <p:blipFill>
          <a:blip r:embed="rId3"/>
          <a:stretch>
            <a:fillRect/>
          </a:stretch>
        </p:blipFill>
        <p:spPr>
          <a:xfrm>
            <a:off x="9114546" y="1397078"/>
            <a:ext cx="2616244" cy="2588848"/>
          </a:xfrm>
          <a:prstGeom prst="rect">
            <a:avLst/>
          </a:prstGeom>
        </p:spPr>
      </p:pic>
    </p:spTree>
    <p:extLst>
      <p:ext uri="{BB962C8B-B14F-4D97-AF65-F5344CB8AC3E}">
        <p14:creationId xmlns:p14="http://schemas.microsoft.com/office/powerpoint/2010/main" val="1733978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9"/>
          <p:cNvSpPr txBox="1"/>
          <p:nvPr/>
        </p:nvSpPr>
        <p:spPr>
          <a:xfrm>
            <a:off x="401511" y="671386"/>
            <a:ext cx="8001825" cy="346249"/>
          </a:xfrm>
          <a:prstGeom prst="rect">
            <a:avLst/>
          </a:prstGeom>
        </p:spPr>
        <p:txBody>
          <a:bodyPr wrap="square" lIns="0" tIns="0" rIns="0" bIns="0">
            <a:spAutoFit/>
          </a:bodyPr>
          <a:lstStyle/>
          <a:p>
            <a:pPr marL="80010" eaLnBrk="1" fontAlgn="auto" hangingPunct="1">
              <a:spcBef>
                <a:spcPts val="0"/>
              </a:spcBef>
              <a:spcAft>
                <a:spcPts val="0"/>
              </a:spcAft>
              <a:tabLst>
                <a:tab pos="5920105" algn="l"/>
              </a:tabLst>
              <a:defRPr/>
            </a:pPr>
            <a:r>
              <a:rPr lang="fr-FR" sz="2250" u="heavy" dirty="0" smtClean="0">
                <a:latin typeface="Segoe UI Symbol"/>
                <a:cs typeface="Segoe UI Symbol"/>
              </a:rPr>
              <a:t>Relative Source-</a:t>
            </a:r>
            <a:r>
              <a:rPr lang="fr-FR" sz="2250" u="heavy" dirty="0" err="1" smtClean="0">
                <a:latin typeface="Segoe UI Symbol"/>
                <a:cs typeface="Segoe UI Symbol"/>
              </a:rPr>
              <a:t>Find</a:t>
            </a:r>
            <a:r>
              <a:rPr lang="fr-FR" sz="2250" u="heavy" dirty="0" smtClean="0">
                <a:latin typeface="Segoe UI Symbol"/>
                <a:cs typeface="Segoe UI Symbol"/>
              </a:rPr>
              <a:t> </a:t>
            </a:r>
            <a:r>
              <a:rPr lang="fr-FR" sz="2250" u="heavy" dirty="0" err="1" smtClean="0">
                <a:latin typeface="Segoe UI Symbol"/>
                <a:cs typeface="Segoe UI Symbol"/>
              </a:rPr>
              <a:t>Ancestor</a:t>
            </a:r>
            <a:endParaRPr sz="2250" dirty="0">
              <a:latin typeface="Times New Roman"/>
              <a:cs typeface="Times New Roman"/>
            </a:endParaRPr>
          </a:p>
        </p:txBody>
      </p:sp>
      <p:sp>
        <p:nvSpPr>
          <p:cNvPr id="4" name="object 20"/>
          <p:cNvSpPr txBox="1">
            <a:spLocks noChangeArrowheads="1"/>
          </p:cNvSpPr>
          <p:nvPr/>
        </p:nvSpPr>
        <p:spPr bwMode="auto">
          <a:xfrm>
            <a:off x="527550" y="1085687"/>
            <a:ext cx="1104849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255588" indent="-242888">
              <a:tabLst>
                <a:tab pos="257175" algn="l"/>
              </a:tabLst>
              <a:defRPr>
                <a:solidFill>
                  <a:schemeClr val="tx1"/>
                </a:solidFill>
                <a:latin typeface="Calibri" panose="020F0502020204030204" pitchFamily="34" charset="0"/>
                <a:cs typeface="Arial" panose="020B0604020202020204" pitchFamily="34" charset="0"/>
              </a:defRPr>
            </a:lvl1pPr>
            <a:lvl2pPr marL="742950" indent="-285750">
              <a:tabLst>
                <a:tab pos="257175" algn="l"/>
              </a:tabLst>
              <a:defRPr>
                <a:solidFill>
                  <a:schemeClr val="tx1"/>
                </a:solidFill>
                <a:latin typeface="Calibri" panose="020F0502020204030204" pitchFamily="34" charset="0"/>
                <a:cs typeface="Arial" panose="020B0604020202020204" pitchFamily="34" charset="0"/>
              </a:defRPr>
            </a:lvl2pPr>
            <a:lvl3pPr marL="1143000" indent="-228600">
              <a:tabLst>
                <a:tab pos="257175" algn="l"/>
              </a:tabLst>
              <a:defRPr>
                <a:solidFill>
                  <a:schemeClr val="tx1"/>
                </a:solidFill>
                <a:latin typeface="Calibri" panose="020F0502020204030204" pitchFamily="34" charset="0"/>
                <a:cs typeface="Arial" panose="020B0604020202020204" pitchFamily="34" charset="0"/>
              </a:defRPr>
            </a:lvl3pPr>
            <a:lvl4pPr marL="1600200" indent="-228600">
              <a:tabLst>
                <a:tab pos="257175" algn="l"/>
              </a:tabLst>
              <a:defRPr>
                <a:solidFill>
                  <a:schemeClr val="tx1"/>
                </a:solidFill>
                <a:latin typeface="Calibri" panose="020F0502020204030204" pitchFamily="34" charset="0"/>
                <a:cs typeface="Arial" panose="020B0604020202020204" pitchFamily="34" charset="0"/>
              </a:defRPr>
            </a:lvl4pPr>
            <a:lvl5pPr marL="2057400" indent="-228600">
              <a:tabLst>
                <a:tab pos="257175"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9pPr>
          </a:lstStyle>
          <a:p>
            <a:pPr eaLnBrk="1" hangingPunct="1">
              <a:buClr>
                <a:srgbClr val="006498"/>
              </a:buClr>
              <a:buSzPct val="61000"/>
              <a:buFont typeface="Wingdings" panose="05000000000000000000" pitchFamily="2" charset="2"/>
              <a:buChar char=""/>
            </a:pPr>
            <a:r>
              <a:rPr lang="fr-FR" altLang="en-US" dirty="0" smtClean="0">
                <a:latin typeface="Segoe UI "/>
              </a:rPr>
              <a:t>Cet exemple montre comment utiliser le mode </a:t>
            </a:r>
            <a:r>
              <a:rPr lang="fr-FR" altLang="en-US" b="1" dirty="0" err="1" smtClean="0">
                <a:latin typeface="Segoe UI "/>
              </a:rPr>
              <a:t>FindAncestor</a:t>
            </a:r>
            <a:r>
              <a:rPr lang="fr-FR" altLang="en-US" b="1" dirty="0" smtClean="0">
                <a:latin typeface="Segoe UI "/>
              </a:rPr>
              <a:t> </a:t>
            </a:r>
            <a:r>
              <a:rPr lang="fr-FR" altLang="en-US" dirty="0" smtClean="0">
                <a:latin typeface="Segoe UI "/>
              </a:rPr>
              <a:t>pour lier la couleur d’un visuel fils au premier visuel parent (Les deux visuels sont de type Border)</a:t>
            </a:r>
            <a:endParaRPr lang="fr-FR" altLang="en-US" dirty="0">
              <a:latin typeface="Segoe UI "/>
            </a:endParaRPr>
          </a:p>
        </p:txBody>
      </p:sp>
      <p:sp>
        <p:nvSpPr>
          <p:cNvPr id="3" name="Rectangle 2"/>
          <p:cNvSpPr/>
          <p:nvPr/>
        </p:nvSpPr>
        <p:spPr>
          <a:xfrm>
            <a:off x="527549" y="1777992"/>
            <a:ext cx="8058398" cy="4308872"/>
          </a:xfrm>
          <a:prstGeom prst="rect">
            <a:avLst/>
          </a:prstGeom>
        </p:spPr>
        <p:txBody>
          <a:bodyPr wrap="square">
            <a:spAutoFit/>
          </a:bodyPr>
          <a:lstStyle/>
          <a:p>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StackLayout</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VerticalOptions</a:t>
            </a:r>
            <a:r>
              <a:rPr lang="fr-FR" sz="1400" dirty="0">
                <a:solidFill>
                  <a:srgbClr val="0000FF"/>
                </a:solidFill>
                <a:latin typeface="Cascadia Mono" panose="020B0609020000020004" pitchFamily="49" charset="0"/>
              </a:rPr>
              <a:t>="Center"</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HorizontalOptions</a:t>
            </a:r>
            <a:r>
              <a:rPr lang="fr-FR" sz="1400" dirty="0">
                <a:solidFill>
                  <a:srgbClr val="0000FF"/>
                </a:solidFill>
                <a:latin typeface="Cascadia Mono" panose="020B0609020000020004" pitchFamily="49" charset="0"/>
              </a:rPr>
              <a:t>="Center"&gt;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a:solidFill>
                  <a:srgbClr val="A31515"/>
                </a:solidFill>
                <a:latin typeface="Cascadia Mono" panose="020B0609020000020004" pitchFamily="49" charset="0"/>
              </a:rPr>
              <a:t>Border</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StrokeThickness</a:t>
            </a:r>
            <a:r>
              <a:rPr lang="fr-FR" sz="1400" dirty="0">
                <a:solidFill>
                  <a:srgbClr val="0000FF"/>
                </a:solidFill>
                <a:latin typeface="Cascadia Mono" panose="020B0609020000020004" pitchFamily="49" charset="0"/>
              </a:rPr>
              <a:t>="2"</a:t>
            </a:r>
            <a:r>
              <a:rPr lang="fr-FR" sz="1400" dirty="0">
                <a:solidFill>
                  <a:srgbClr val="000000"/>
                </a:solidFill>
                <a:latin typeface="Cascadia Mono" panose="020B0609020000020004" pitchFamily="49" charset="0"/>
              </a:rPr>
              <a:t> </a:t>
            </a: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Stroke</a:t>
            </a:r>
            <a:r>
              <a:rPr lang="fr-FR" sz="1400" dirty="0">
                <a:solidFill>
                  <a:srgbClr val="0000FF"/>
                </a:solidFill>
                <a:latin typeface="Cascadia Mono" panose="020B0609020000020004" pitchFamily="49" charset="0"/>
              </a:rPr>
              <a:t>="Black"</a:t>
            </a:r>
            <a:r>
              <a:rPr lang="fr-FR" sz="1400" dirty="0">
                <a:solidFill>
                  <a:srgbClr val="FF0000"/>
                </a:solidFill>
                <a:latin typeface="Cascadia Mono" panose="020B0609020000020004" pitchFamily="49" charset="0"/>
              </a:rPr>
              <a:t> Background</a:t>
            </a:r>
            <a:r>
              <a:rPr lang="fr-FR" sz="1400" dirty="0">
                <a:solidFill>
                  <a:srgbClr val="0000FF"/>
                </a:solidFill>
                <a:latin typeface="Cascadia Mono" panose="020B0609020000020004" pitchFamily="49" charset="0"/>
              </a:rPr>
              <a:t>="Red"</a:t>
            </a:r>
            <a:r>
              <a:rPr lang="fr-FR" sz="1400" dirty="0">
                <a:solidFill>
                  <a:srgbClr val="000000"/>
                </a:solidFill>
                <a:latin typeface="Cascadia Mono" panose="020B0609020000020004" pitchFamily="49" charset="0"/>
              </a:rPr>
              <a:t> </a:t>
            </a: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WidthRequest</a:t>
            </a:r>
            <a:r>
              <a:rPr lang="fr-FR" sz="1400" dirty="0">
                <a:solidFill>
                  <a:srgbClr val="0000FF"/>
                </a:solidFill>
                <a:latin typeface="Cascadia Mono" panose="020B0609020000020004" pitchFamily="49" charset="0"/>
              </a:rPr>
              <a:t>="400"</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HeightRequest</a:t>
            </a:r>
            <a:r>
              <a:rPr lang="fr-FR" sz="1400" dirty="0">
                <a:solidFill>
                  <a:srgbClr val="0000FF"/>
                </a:solidFill>
                <a:latin typeface="Cascadia Mono" panose="020B0609020000020004" pitchFamily="49" charset="0"/>
              </a:rPr>
              <a:t>="400"&gt;</a:t>
            </a:r>
            <a:endParaRPr lang="fr-FR" sz="1400" dirty="0">
              <a:solidFill>
                <a:srgbClr val="000000"/>
              </a:solidFill>
              <a:latin typeface="Cascadia Mono" panose="020B0609020000020004" pitchFamily="49" charset="0"/>
            </a:endParaRP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Border</a:t>
            </a:r>
            <a:r>
              <a:rPr lang="en-US" sz="1400" dirty="0">
                <a:solidFill>
                  <a:srgbClr val="FF0000"/>
                </a:solidFill>
                <a:latin typeface="Cascadia Mono" panose="020B0609020000020004" pitchFamily="49" charset="0"/>
              </a:rPr>
              <a:t> Margin</a:t>
            </a:r>
            <a:r>
              <a:rPr lang="en-US" sz="1400" dirty="0">
                <a:solidFill>
                  <a:srgbClr val="0000FF"/>
                </a:solidFill>
                <a:latin typeface="Cascadia Mono" panose="020B0609020000020004" pitchFamily="49" charset="0"/>
              </a:rPr>
              <a:t>="20"</a:t>
            </a:r>
            <a:r>
              <a:rPr lang="en-US" sz="1400" dirty="0">
                <a:solidFill>
                  <a:srgbClr val="FF0000"/>
                </a:solidFill>
                <a:latin typeface="Cascadia Mono" panose="020B0609020000020004" pitchFamily="49" charset="0"/>
              </a:rPr>
              <a:t> Background</a:t>
            </a:r>
            <a:r>
              <a:rPr lang="en-US" sz="1400" dirty="0">
                <a:solidFill>
                  <a:srgbClr val="0000FF"/>
                </a:solidFill>
                <a:latin typeface="Cascadia Mono" panose="020B0609020000020004" pitchFamily="49" charset="0"/>
              </a:rPr>
              <a:t>="Blue"</a:t>
            </a:r>
            <a:r>
              <a:rPr lang="en-US" sz="1400" dirty="0">
                <a:solidFill>
                  <a:srgbClr val="000000"/>
                </a:solidFill>
                <a:latin typeface="Cascadia Mono" panose="020B0609020000020004" pitchFamily="49" charset="0"/>
              </a:rPr>
              <a:t> </a:t>
            </a: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StrokeThickness</a:t>
            </a:r>
            <a:r>
              <a:rPr lang="fr-FR" sz="1400" dirty="0">
                <a:solidFill>
                  <a:srgbClr val="0000FF"/>
                </a:solidFill>
                <a:latin typeface="Cascadia Mono" panose="020B0609020000020004" pitchFamily="49" charset="0"/>
              </a:rPr>
              <a:t>="3"</a:t>
            </a:r>
            <a:r>
              <a:rPr lang="fr-FR" sz="1400" dirty="0">
                <a:solidFill>
                  <a:srgbClr val="FF0000"/>
                </a:solidFill>
                <a:latin typeface="Cascadia Mono" panose="020B0609020000020004" pitchFamily="49" charset="0"/>
              </a:rPr>
              <a:t> Stroke</a:t>
            </a:r>
            <a:r>
              <a:rPr lang="fr-FR" sz="1400" dirty="0">
                <a:solidFill>
                  <a:srgbClr val="0000FF"/>
                </a:solidFill>
                <a:latin typeface="Cascadia Mono" panose="020B0609020000020004" pitchFamily="49" charset="0"/>
              </a:rPr>
              <a:t>="Black"&gt;</a:t>
            </a:r>
            <a:endParaRPr lang="fr-FR" sz="1400" dirty="0">
              <a:solidFill>
                <a:srgbClr val="000000"/>
              </a:solidFill>
              <a:latin typeface="Cascadia Mono" panose="020B0609020000020004" pitchFamily="49" charset="0"/>
            </a:endParaRP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Border</a:t>
            </a:r>
            <a:r>
              <a:rPr lang="en-US" sz="1400" dirty="0">
                <a:solidFill>
                  <a:srgbClr val="FF0000"/>
                </a:solidFill>
                <a:latin typeface="Cascadia Mono" panose="020B0609020000020004" pitchFamily="49" charset="0"/>
              </a:rPr>
              <a:t> Margin</a:t>
            </a:r>
            <a:r>
              <a:rPr lang="en-US" sz="1400" dirty="0">
                <a:solidFill>
                  <a:srgbClr val="0000FF"/>
                </a:solidFill>
                <a:latin typeface="Cascadia Mono" panose="020B0609020000020004" pitchFamily="49" charset="0"/>
              </a:rPr>
              <a:t>="20"</a:t>
            </a:r>
            <a:r>
              <a:rPr lang="en-US" sz="1400" dirty="0">
                <a:solidFill>
                  <a:srgbClr val="FF0000"/>
                </a:solidFill>
                <a:latin typeface="Cascadia Mono" panose="020B0609020000020004" pitchFamily="49" charset="0"/>
              </a:rPr>
              <a:t> Background</a:t>
            </a:r>
            <a:r>
              <a:rPr lang="en-US" sz="1400" dirty="0">
                <a:solidFill>
                  <a:srgbClr val="0000FF"/>
                </a:solidFill>
                <a:latin typeface="Cascadia Mono" panose="020B0609020000020004" pitchFamily="49" charset="0"/>
              </a:rPr>
              <a:t>="Green"</a:t>
            </a:r>
            <a:r>
              <a:rPr lang="en-US" sz="1400" dirty="0">
                <a:solidFill>
                  <a:srgbClr val="000000"/>
                </a:solidFill>
                <a:latin typeface="Cascadia Mono" panose="020B0609020000020004" pitchFamily="49" charset="0"/>
              </a:rPr>
              <a:t> </a:t>
            </a: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StrokeThickness</a:t>
            </a:r>
            <a:r>
              <a:rPr lang="fr-FR" sz="1400" dirty="0">
                <a:solidFill>
                  <a:srgbClr val="0000FF"/>
                </a:solidFill>
                <a:latin typeface="Cascadia Mono" panose="020B0609020000020004" pitchFamily="49" charset="0"/>
              </a:rPr>
              <a:t>="3"</a:t>
            </a:r>
            <a:r>
              <a:rPr lang="fr-FR" sz="1400" dirty="0">
                <a:solidFill>
                  <a:srgbClr val="FF0000"/>
                </a:solidFill>
                <a:latin typeface="Cascadia Mono" panose="020B0609020000020004" pitchFamily="49" charset="0"/>
              </a:rPr>
              <a:t> Stroke</a:t>
            </a:r>
            <a:r>
              <a:rPr lang="fr-FR" sz="1400" dirty="0">
                <a:solidFill>
                  <a:srgbClr val="0000FF"/>
                </a:solidFill>
                <a:latin typeface="Cascadia Mono" panose="020B0609020000020004" pitchFamily="49" charset="0"/>
              </a:rPr>
              <a:t>="Black"&gt;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a:solidFill>
                  <a:srgbClr val="A31515"/>
                </a:solidFill>
                <a:latin typeface="Cascadia Mono" panose="020B0609020000020004" pitchFamily="49" charset="0"/>
              </a:rPr>
              <a:t>Border</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Margin</a:t>
            </a:r>
            <a:r>
              <a:rPr lang="fr-FR" sz="1400" dirty="0">
                <a:solidFill>
                  <a:srgbClr val="0000FF"/>
                </a:solidFill>
                <a:latin typeface="Cascadia Mono" panose="020B0609020000020004" pitchFamily="49" charset="0"/>
              </a:rPr>
              <a:t>="20"</a:t>
            </a:r>
            <a:r>
              <a:rPr lang="fr-FR" sz="1400" dirty="0">
                <a:solidFill>
                  <a:srgbClr val="FF0000"/>
                </a:solidFill>
                <a:latin typeface="Cascadia Mono" panose="020B0609020000020004" pitchFamily="49" charset="0"/>
              </a:rPr>
              <a:t> </a:t>
            </a:r>
            <a:r>
              <a:rPr lang="fr-FR" sz="1400" dirty="0" err="1">
                <a:solidFill>
                  <a:srgbClr val="FF0000"/>
                </a:solidFill>
                <a:latin typeface="Cascadia Mono" panose="020B0609020000020004" pitchFamily="49" charset="0"/>
              </a:rPr>
              <a:t>StrokeThickness</a:t>
            </a:r>
            <a:r>
              <a:rPr lang="fr-FR" sz="1400" dirty="0">
                <a:solidFill>
                  <a:srgbClr val="0000FF"/>
                </a:solidFill>
                <a:latin typeface="Cascadia Mono" panose="020B0609020000020004" pitchFamily="49" charset="0"/>
              </a:rPr>
              <a:t>="3"</a:t>
            </a:r>
            <a:r>
              <a:rPr lang="fr-FR" sz="1400" dirty="0">
                <a:solidFill>
                  <a:srgbClr val="000000"/>
                </a:solidFill>
                <a:latin typeface="Cascadia Mono" panose="020B0609020000020004" pitchFamily="49" charset="0"/>
              </a:rPr>
              <a:t> </a:t>
            </a: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a:t>
            </a:r>
            <a:r>
              <a:rPr lang="fr-FR" sz="1600" b="1" dirty="0">
                <a:solidFill>
                  <a:srgbClr val="FF0000"/>
                </a:solidFill>
                <a:effectLst>
                  <a:outerShdw blurRad="38100" dist="38100" dir="2700000" algn="tl">
                    <a:srgbClr val="000000">
                      <a:alpha val="43137"/>
                    </a:srgbClr>
                  </a:outerShdw>
                </a:effectLst>
                <a:latin typeface="Cascadia Mono" panose="020B0609020000020004" pitchFamily="49" charset="0"/>
              </a:rPr>
              <a:t>Background</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a:solidFill>
                  <a:srgbClr val="A31515"/>
                </a:solidFill>
                <a:effectLst>
                  <a:outerShdw blurRad="38100" dist="38100" dir="2700000" algn="tl">
                    <a:srgbClr val="000000">
                      <a:alpha val="43137"/>
                    </a:srgbClr>
                  </a:outerShdw>
                </a:effectLst>
                <a:latin typeface="Cascadia Mono" panose="020B0609020000020004" pitchFamily="49" charset="0"/>
              </a:rPr>
              <a:t>Binding</a:t>
            </a:r>
            <a:r>
              <a:rPr lang="fr-FR" sz="1600" b="1" dirty="0">
                <a:solidFill>
                  <a:srgbClr val="FF0000"/>
                </a:solidFill>
                <a:effectLst>
                  <a:outerShdw blurRad="38100" dist="38100" dir="2700000" algn="tl">
                    <a:srgbClr val="000000">
                      <a:alpha val="43137"/>
                    </a:srgbClr>
                  </a:outerShdw>
                </a:effectLst>
                <a:latin typeface="Cascadia Mono" panose="020B0609020000020004" pitchFamily="49" charset="0"/>
              </a:rPr>
              <a:t> Background</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endParaRPr lang="fr-FR" sz="1600" b="1" dirty="0">
              <a:solidFill>
                <a:srgbClr val="000000"/>
              </a:solidFill>
              <a:effectLst>
                <a:outerShdw blurRad="38100" dist="38100" dir="2700000" algn="tl">
                  <a:srgbClr val="000000">
                    <a:alpha val="43137"/>
                  </a:srgbClr>
                </a:outerShdw>
              </a:effectLst>
              <a:latin typeface="Cascadia Mono" panose="020B0609020000020004" pitchFamily="49" charset="0"/>
            </a:endParaRPr>
          </a:p>
          <a:p>
            <a:r>
              <a:rPr lang="fr-FR" sz="1600" b="1" dirty="0">
                <a:solidFill>
                  <a:srgbClr val="000000"/>
                </a:solidFill>
                <a:effectLst>
                  <a:outerShdw blurRad="38100" dist="38100" dir="2700000" algn="tl">
                    <a:srgbClr val="000000">
                      <a:alpha val="43137"/>
                    </a:srgbClr>
                  </a:outerShdw>
                </a:effectLst>
                <a:latin typeface="Cascadia Mono" panose="020B0609020000020004" pitchFamily="49" charset="0"/>
              </a:rPr>
              <a:t>                       </a:t>
            </a:r>
            <a:r>
              <a:rPr lang="fr-FR" sz="1600" b="1" dirty="0">
                <a:solidFill>
                  <a:srgbClr val="FF0000"/>
                </a:solidFill>
                <a:effectLst>
                  <a:outerShdw blurRad="38100" dist="38100" dir="2700000" algn="tl">
                    <a:srgbClr val="000000">
                      <a:alpha val="43137"/>
                    </a:srgbClr>
                  </a:outerShdw>
                </a:effectLst>
                <a:latin typeface="Cascadia Mono" panose="020B0609020000020004" pitchFamily="49" charset="0"/>
              </a:rPr>
              <a:t> Source</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err="1">
                <a:solidFill>
                  <a:srgbClr val="A31515"/>
                </a:solidFill>
                <a:effectLst>
                  <a:outerShdw blurRad="38100" dist="38100" dir="2700000" algn="tl">
                    <a:srgbClr val="000000">
                      <a:alpha val="43137"/>
                    </a:srgbClr>
                  </a:outerShdw>
                </a:effectLst>
                <a:latin typeface="Cascadia Mono" panose="020B0609020000020004" pitchFamily="49" charset="0"/>
              </a:rPr>
              <a:t>RelativeSource</a:t>
            </a:r>
            <a:r>
              <a:rPr lang="fr-FR" sz="1600" b="1" dirty="0">
                <a:solidFill>
                  <a:srgbClr val="FF0000"/>
                </a:solidFill>
                <a:effectLst>
                  <a:outerShdw blurRad="38100" dist="38100" dir="2700000" algn="tl">
                    <a:srgbClr val="000000">
                      <a:alpha val="43137"/>
                    </a:srgbClr>
                  </a:outerShdw>
                </a:effectLst>
                <a:latin typeface="Cascadia Mono" panose="020B0609020000020004" pitchFamily="49" charset="0"/>
              </a:rPr>
              <a:t> Mode</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err="1">
                <a:solidFill>
                  <a:srgbClr val="0000FF"/>
                </a:solidFill>
                <a:effectLst>
                  <a:outerShdw blurRad="38100" dist="38100" dir="2700000" algn="tl">
                    <a:srgbClr val="000000">
                      <a:alpha val="43137"/>
                    </a:srgbClr>
                  </a:outerShdw>
                </a:effectLst>
                <a:latin typeface="Cascadia Mono" panose="020B0609020000020004" pitchFamily="49" charset="0"/>
              </a:rPr>
              <a:t>FindAncestor</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a:solidFill>
                  <a:srgbClr val="000000"/>
                </a:solidFill>
                <a:effectLst>
                  <a:outerShdw blurRad="38100" dist="38100" dir="2700000" algn="tl">
                    <a:srgbClr val="000000">
                      <a:alpha val="43137"/>
                    </a:srgbClr>
                  </a:outerShdw>
                </a:effectLst>
                <a:latin typeface="Cascadia Mono" panose="020B0609020000020004" pitchFamily="49" charset="0"/>
              </a:rPr>
              <a:t> </a:t>
            </a:r>
          </a:p>
          <a:p>
            <a:r>
              <a:rPr lang="fr-FR" sz="1600" b="1" dirty="0">
                <a:solidFill>
                  <a:srgbClr val="000000"/>
                </a:solidFill>
                <a:effectLst>
                  <a:outerShdw blurRad="38100" dist="38100" dir="2700000" algn="tl">
                    <a:srgbClr val="000000">
                      <a:alpha val="43137"/>
                    </a:srgbClr>
                  </a:outerShdw>
                </a:effectLst>
                <a:latin typeface="Cascadia Mono" panose="020B0609020000020004" pitchFamily="49" charset="0"/>
              </a:rPr>
              <a:t>                       </a:t>
            </a:r>
            <a:r>
              <a:rPr lang="fr-FR" sz="1600" b="1" dirty="0">
                <a:solidFill>
                  <a:srgbClr val="FF0000"/>
                </a:solidFill>
                <a:effectLst>
                  <a:outerShdw blurRad="38100" dist="38100" dir="2700000" algn="tl">
                    <a:srgbClr val="000000">
                      <a:alpha val="43137"/>
                    </a:srgbClr>
                  </a:outerShdw>
                </a:effectLst>
                <a:latin typeface="Cascadia Mono" panose="020B0609020000020004" pitchFamily="49" charset="0"/>
              </a:rPr>
              <a:t> </a:t>
            </a:r>
            <a:r>
              <a:rPr lang="fr-FR" sz="1600" b="1" dirty="0" err="1" smtClean="0">
                <a:solidFill>
                  <a:srgbClr val="FF0000"/>
                </a:solidFill>
                <a:effectLst>
                  <a:outerShdw blurRad="38100" dist="38100" dir="2700000" algn="tl">
                    <a:srgbClr val="000000">
                      <a:alpha val="43137"/>
                    </a:srgbClr>
                  </a:outerShdw>
                </a:effectLst>
                <a:latin typeface="Cascadia Mono" panose="020B0609020000020004" pitchFamily="49" charset="0"/>
              </a:rPr>
              <a:t>AncestorLevel</a:t>
            </a:r>
            <a:r>
              <a:rPr lang="fr-FR" sz="1600" b="1" dirty="0" smtClean="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smtClean="0">
                <a:solidFill>
                  <a:srgbClr val="000000"/>
                </a:solidFill>
                <a:effectLst>
                  <a:outerShdw blurRad="38100" dist="38100" dir="2700000" algn="tl">
                    <a:srgbClr val="000000">
                      <a:alpha val="43137"/>
                    </a:srgbClr>
                  </a:outerShdw>
                </a:effectLst>
                <a:latin typeface="Cascadia Mono" panose="020B0609020000020004" pitchFamily="49" charset="0"/>
              </a:rPr>
              <a:t>3</a:t>
            </a:r>
          </a:p>
          <a:p>
            <a:r>
              <a:rPr lang="fr-FR" sz="1600" b="1" dirty="0">
                <a:solidFill>
                  <a:srgbClr val="000000"/>
                </a:solidFill>
                <a:effectLst>
                  <a:outerShdw blurRad="38100" dist="38100" dir="2700000" algn="tl">
                    <a:srgbClr val="000000">
                      <a:alpha val="43137"/>
                    </a:srgbClr>
                  </a:outerShdw>
                </a:effectLst>
                <a:latin typeface="Cascadia Mono" panose="020B0609020000020004" pitchFamily="49" charset="0"/>
              </a:rPr>
              <a:t>	</a:t>
            </a:r>
            <a:r>
              <a:rPr lang="fr-FR" sz="1600" b="1" dirty="0" smtClean="0">
                <a:solidFill>
                  <a:srgbClr val="000000"/>
                </a:solidFill>
                <a:effectLst>
                  <a:outerShdw blurRad="38100" dist="38100" dir="2700000" algn="tl">
                    <a:srgbClr val="000000">
                      <a:alpha val="43137"/>
                    </a:srgbClr>
                  </a:outerShdw>
                </a:effectLst>
                <a:latin typeface="Cascadia Mono" panose="020B0609020000020004" pitchFamily="49" charset="0"/>
              </a:rPr>
              <a:t>		</a:t>
            </a:r>
            <a:r>
              <a:rPr lang="fr-FR" sz="1600" b="1" dirty="0" smtClean="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a:solidFill>
                  <a:srgbClr val="FF0000"/>
                </a:solidFill>
                <a:effectLst>
                  <a:outerShdw blurRad="38100" dist="38100" dir="2700000" algn="tl">
                    <a:srgbClr val="000000">
                      <a:alpha val="43137"/>
                    </a:srgbClr>
                  </a:outerShdw>
                </a:effectLst>
                <a:latin typeface="Cascadia Mono" panose="020B0609020000020004" pitchFamily="49" charset="0"/>
              </a:rPr>
              <a:t>AncestorType</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err="1">
                <a:solidFill>
                  <a:srgbClr val="A31515"/>
                </a:solidFill>
                <a:effectLst>
                  <a:outerShdw blurRad="38100" dist="38100" dir="2700000" algn="tl">
                    <a:srgbClr val="000000">
                      <a:alpha val="43137"/>
                    </a:srgbClr>
                  </a:outerShdw>
                </a:effectLst>
                <a:latin typeface="Cascadia Mono" panose="020B0609020000020004" pitchFamily="49" charset="0"/>
              </a:rPr>
              <a:t>x</a:t>
            </a:r>
            <a:r>
              <a:rPr lang="fr-FR" sz="1600" b="1" dirty="0" err="1">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600" b="1" dirty="0" err="1">
                <a:solidFill>
                  <a:srgbClr val="A31515"/>
                </a:solidFill>
                <a:effectLst>
                  <a:outerShdw blurRad="38100" dist="38100" dir="2700000" algn="tl">
                    <a:srgbClr val="000000">
                      <a:alpha val="43137"/>
                    </a:srgbClr>
                  </a:outerShdw>
                </a:effectLst>
                <a:latin typeface="Cascadia Mono" panose="020B0609020000020004" pitchFamily="49" charset="0"/>
              </a:rPr>
              <a:t>Type</a:t>
            </a:r>
            <a:r>
              <a:rPr lang="fr-FR" sz="1600" b="1" dirty="0">
                <a:solidFill>
                  <a:srgbClr val="FF0000"/>
                </a:solidFill>
                <a:effectLst>
                  <a:outerShdw blurRad="38100" dist="38100" dir="2700000" algn="tl">
                    <a:srgbClr val="000000">
                      <a:alpha val="43137"/>
                    </a:srgbClr>
                  </a:outerShdw>
                </a:effectLst>
                <a:latin typeface="Cascadia Mono" panose="020B0609020000020004" pitchFamily="49" charset="0"/>
              </a:rPr>
              <a:t> Border</a:t>
            </a:r>
            <a:r>
              <a:rPr lang="fr-FR" sz="1600" b="1"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fr-FR" sz="1400" dirty="0">
                <a:solidFill>
                  <a:srgbClr val="0000FF"/>
                </a:solidFill>
                <a:latin typeface="Cascadia Mono" panose="020B0609020000020004" pitchFamily="49" charset="0"/>
              </a:rPr>
              <a:t>"</a:t>
            </a:r>
            <a:r>
              <a:rPr lang="fr-FR" sz="1400" dirty="0">
                <a:solidFill>
                  <a:srgbClr val="000000"/>
                </a:solidFill>
                <a:latin typeface="Cascadia Mono" panose="020B0609020000020004" pitchFamily="49" charset="0"/>
              </a:rPr>
              <a:t> </a:t>
            </a:r>
          </a:p>
          <a:p>
            <a:r>
              <a:rPr lang="fr-FR" sz="1400" dirty="0">
                <a:solidFill>
                  <a:srgbClr val="000000"/>
                </a:solidFill>
                <a:latin typeface="Cascadia Mono" panose="020B0609020000020004" pitchFamily="49" charset="0"/>
              </a:rPr>
              <a:t>                       </a:t>
            </a:r>
            <a:r>
              <a:rPr lang="fr-FR" sz="1400" dirty="0">
                <a:solidFill>
                  <a:srgbClr val="FF0000"/>
                </a:solidFill>
                <a:latin typeface="Cascadia Mono" panose="020B0609020000020004" pitchFamily="49" charset="0"/>
              </a:rPr>
              <a:t> Stroke</a:t>
            </a:r>
            <a:r>
              <a:rPr lang="fr-FR" sz="1400" dirty="0">
                <a:solidFill>
                  <a:srgbClr val="0000FF"/>
                </a:solidFill>
                <a:latin typeface="Cascadia Mono" panose="020B0609020000020004" pitchFamily="49" charset="0"/>
              </a:rPr>
              <a:t>="Black"&gt;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a:solidFill>
                  <a:srgbClr val="A31515"/>
                </a:solidFill>
                <a:latin typeface="Cascadia Mono" panose="020B0609020000020004" pitchFamily="49" charset="0"/>
              </a:rPr>
              <a:t>Border</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a:solidFill>
                  <a:srgbClr val="A31515"/>
                </a:solidFill>
                <a:latin typeface="Cascadia Mono" panose="020B0609020000020004" pitchFamily="49" charset="0"/>
              </a:rPr>
              <a:t>Border</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a:solidFill>
                  <a:srgbClr val="A31515"/>
                </a:solidFill>
                <a:latin typeface="Cascadia Mono" panose="020B0609020000020004" pitchFamily="49" charset="0"/>
              </a:rPr>
              <a:t>Border</a:t>
            </a:r>
            <a:r>
              <a:rPr lang="fr-FR" sz="1400" dirty="0">
                <a:solidFill>
                  <a:srgbClr val="0000FF"/>
                </a:solidFill>
                <a:latin typeface="Cascadia Mono" panose="020B0609020000020004" pitchFamily="49" charset="0"/>
              </a:rPr>
              <a:t>&gt;</a:t>
            </a:r>
            <a:r>
              <a:rPr lang="fr-FR" sz="1400" dirty="0">
                <a:solidFill>
                  <a:srgbClr val="000000"/>
                </a:solidFill>
                <a:latin typeface="Cascadia Mono" panose="020B0609020000020004" pitchFamily="49" charset="0"/>
              </a:rPr>
              <a:t> </a:t>
            </a: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a:solidFill>
                  <a:srgbClr val="A31515"/>
                </a:solidFill>
                <a:latin typeface="Cascadia Mono" panose="020B0609020000020004" pitchFamily="49" charset="0"/>
              </a:rPr>
              <a:t>Border</a:t>
            </a:r>
            <a:r>
              <a:rPr lang="fr-FR" sz="1400" dirty="0">
                <a:solidFill>
                  <a:srgbClr val="0000FF"/>
                </a:solidFill>
                <a:latin typeface="Cascadia Mono" panose="020B0609020000020004" pitchFamily="49" charset="0"/>
              </a:rPr>
              <a:t>&gt;</a:t>
            </a:r>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&lt;/</a:t>
            </a:r>
            <a:r>
              <a:rPr lang="fr-FR" sz="1400" dirty="0" err="1">
                <a:solidFill>
                  <a:srgbClr val="A31515"/>
                </a:solidFill>
                <a:latin typeface="Cascadia Mono" panose="020B0609020000020004" pitchFamily="49" charset="0"/>
              </a:rPr>
              <a:t>StackLayout</a:t>
            </a:r>
            <a:r>
              <a:rPr lang="fr-FR" sz="1400" dirty="0">
                <a:solidFill>
                  <a:srgbClr val="0000FF"/>
                </a:solidFill>
                <a:latin typeface="Cascadia Mono" panose="020B0609020000020004" pitchFamily="49" charset="0"/>
              </a:rPr>
              <a:t>&gt;</a:t>
            </a:r>
            <a:endParaRPr lang="fr-FR" sz="1400" dirty="0"/>
          </a:p>
        </p:txBody>
      </p:sp>
      <p:pic>
        <p:nvPicPr>
          <p:cNvPr id="5" name="Image 4"/>
          <p:cNvPicPr>
            <a:picLocks noChangeAspect="1"/>
          </p:cNvPicPr>
          <p:nvPr/>
        </p:nvPicPr>
        <p:blipFill>
          <a:blip r:embed="rId3"/>
          <a:stretch>
            <a:fillRect/>
          </a:stretch>
        </p:blipFill>
        <p:spPr>
          <a:xfrm>
            <a:off x="8475846" y="1842247"/>
            <a:ext cx="3450947" cy="2809094"/>
          </a:xfrm>
          <a:prstGeom prst="rect">
            <a:avLst/>
          </a:prstGeom>
        </p:spPr>
      </p:pic>
    </p:spTree>
    <p:extLst>
      <p:ext uri="{BB962C8B-B14F-4D97-AF65-F5344CB8AC3E}">
        <p14:creationId xmlns:p14="http://schemas.microsoft.com/office/powerpoint/2010/main" val="3618262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9"/>
          <p:cNvSpPr txBox="1"/>
          <p:nvPr/>
        </p:nvSpPr>
        <p:spPr>
          <a:xfrm>
            <a:off x="401511" y="286376"/>
            <a:ext cx="8001825" cy="346249"/>
          </a:xfrm>
          <a:prstGeom prst="rect">
            <a:avLst/>
          </a:prstGeom>
        </p:spPr>
        <p:txBody>
          <a:bodyPr wrap="square" lIns="0" tIns="0" rIns="0" bIns="0">
            <a:spAutoFit/>
          </a:bodyPr>
          <a:lstStyle/>
          <a:p>
            <a:pPr marL="80010" eaLnBrk="1" fontAlgn="auto" hangingPunct="1">
              <a:spcBef>
                <a:spcPts val="0"/>
              </a:spcBef>
              <a:spcAft>
                <a:spcPts val="0"/>
              </a:spcAft>
              <a:tabLst>
                <a:tab pos="5920105" algn="l"/>
              </a:tabLst>
              <a:defRPr/>
            </a:pPr>
            <a:r>
              <a:rPr lang="fr-FR" sz="2250" u="heavy" dirty="0" smtClean="0">
                <a:latin typeface="Segoe UI Symbol"/>
                <a:cs typeface="Segoe UI Symbol"/>
              </a:rPr>
              <a:t>Relative Source-</a:t>
            </a:r>
            <a:r>
              <a:rPr lang="fr-FR" sz="2250" u="heavy" dirty="0" err="1" smtClean="0">
                <a:latin typeface="Segoe UI Symbol"/>
                <a:cs typeface="Segoe UI Symbol"/>
              </a:rPr>
              <a:t>TemplatedParent</a:t>
            </a:r>
            <a:endParaRPr sz="2250" dirty="0">
              <a:latin typeface="Times New Roman"/>
              <a:cs typeface="Times New Roman"/>
            </a:endParaRPr>
          </a:p>
        </p:txBody>
      </p:sp>
      <p:sp>
        <p:nvSpPr>
          <p:cNvPr id="4" name="object 20"/>
          <p:cNvSpPr txBox="1">
            <a:spLocks noChangeArrowheads="1"/>
          </p:cNvSpPr>
          <p:nvPr/>
        </p:nvSpPr>
        <p:spPr bwMode="auto">
          <a:xfrm>
            <a:off x="491456" y="881150"/>
            <a:ext cx="1104849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255588" indent="-242888">
              <a:tabLst>
                <a:tab pos="257175" algn="l"/>
              </a:tabLst>
              <a:defRPr>
                <a:solidFill>
                  <a:schemeClr val="tx1"/>
                </a:solidFill>
                <a:latin typeface="Calibri" panose="020F0502020204030204" pitchFamily="34" charset="0"/>
                <a:cs typeface="Arial" panose="020B0604020202020204" pitchFamily="34" charset="0"/>
              </a:defRPr>
            </a:lvl1pPr>
            <a:lvl2pPr marL="742950" indent="-285750">
              <a:tabLst>
                <a:tab pos="257175" algn="l"/>
              </a:tabLst>
              <a:defRPr>
                <a:solidFill>
                  <a:schemeClr val="tx1"/>
                </a:solidFill>
                <a:latin typeface="Calibri" panose="020F0502020204030204" pitchFamily="34" charset="0"/>
                <a:cs typeface="Arial" panose="020B0604020202020204" pitchFamily="34" charset="0"/>
              </a:defRPr>
            </a:lvl2pPr>
            <a:lvl3pPr marL="1143000" indent="-228600">
              <a:tabLst>
                <a:tab pos="257175" algn="l"/>
              </a:tabLst>
              <a:defRPr>
                <a:solidFill>
                  <a:schemeClr val="tx1"/>
                </a:solidFill>
                <a:latin typeface="Calibri" panose="020F0502020204030204" pitchFamily="34" charset="0"/>
                <a:cs typeface="Arial" panose="020B0604020202020204" pitchFamily="34" charset="0"/>
              </a:defRPr>
            </a:lvl3pPr>
            <a:lvl4pPr marL="1600200" indent="-228600">
              <a:tabLst>
                <a:tab pos="257175" algn="l"/>
              </a:tabLst>
              <a:defRPr>
                <a:solidFill>
                  <a:schemeClr val="tx1"/>
                </a:solidFill>
                <a:latin typeface="Calibri" panose="020F0502020204030204" pitchFamily="34" charset="0"/>
                <a:cs typeface="Arial" panose="020B0604020202020204" pitchFamily="34" charset="0"/>
              </a:defRPr>
            </a:lvl4pPr>
            <a:lvl5pPr marL="2057400" indent="-228600">
              <a:tabLst>
                <a:tab pos="257175"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9pPr>
          </a:lstStyle>
          <a:p>
            <a:pPr>
              <a:buClr>
                <a:srgbClr val="006498"/>
              </a:buClr>
              <a:buSzPct val="61000"/>
              <a:buFont typeface="Wingdings" panose="05000000000000000000" pitchFamily="2" charset="2"/>
              <a:buChar char=""/>
            </a:pPr>
            <a:r>
              <a:rPr lang="fr-FR" dirty="0">
                <a:latin typeface="Segoe UI" panose="020B0502040204020203" pitchFamily="34" charset="0"/>
                <a:cs typeface="Segoe UI" panose="020B0502040204020203" pitchFamily="34" charset="0"/>
              </a:rPr>
              <a:t>Permet d’</a:t>
            </a:r>
            <a:r>
              <a:rPr lang="fr-FR" b="1" dirty="0">
                <a:latin typeface="Segoe UI" panose="020B0502040204020203" pitchFamily="34" charset="0"/>
                <a:cs typeface="Segoe UI" panose="020B0502040204020203" pitchFamily="34" charset="0"/>
              </a:rPr>
              <a:t>accéder aux propriétés du contrôle parent qui applique un </a:t>
            </a:r>
            <a:r>
              <a:rPr lang="fr-FR" b="1" dirty="0" err="1" smtClean="0">
                <a:latin typeface="Segoe UI" panose="020B0502040204020203" pitchFamily="34" charset="0"/>
                <a:cs typeface="Segoe UI" panose="020B0502040204020203" pitchFamily="34" charset="0"/>
              </a:rPr>
              <a:t>template</a:t>
            </a:r>
            <a:endParaRPr lang="fr-FR" altLang="en-US" b="1" dirty="0">
              <a:latin typeface="Segoe UI" panose="020B0502040204020203" pitchFamily="34" charset="0"/>
              <a:cs typeface="Segoe UI" panose="020B0502040204020203" pitchFamily="34" charset="0"/>
            </a:endParaRPr>
          </a:p>
          <a:p>
            <a:pPr>
              <a:buClr>
                <a:srgbClr val="006498"/>
              </a:buClr>
              <a:buSzPct val="61000"/>
              <a:buFont typeface="Wingdings" panose="05000000000000000000" pitchFamily="2" charset="2"/>
              <a:buChar char=""/>
            </a:pPr>
            <a:r>
              <a:rPr lang="fr-FR" dirty="0">
                <a:latin typeface="Segoe UI" panose="020B0502040204020203" pitchFamily="34" charset="0"/>
                <a:cs typeface="Segoe UI" panose="020B0502040204020203" pitchFamily="34" charset="0"/>
              </a:rPr>
              <a:t>Utilisé </a:t>
            </a:r>
            <a:r>
              <a:rPr lang="fr-FR" b="1" dirty="0">
                <a:latin typeface="Segoe UI" panose="020B0502040204020203" pitchFamily="34" charset="0"/>
                <a:cs typeface="Segoe UI" panose="020B0502040204020203" pitchFamily="34" charset="0"/>
              </a:rPr>
              <a:t>dans un ControlTemplate</a:t>
            </a:r>
            <a:r>
              <a:rPr lang="fr-FR" dirty="0">
                <a:latin typeface="Segoe UI" panose="020B0502040204020203" pitchFamily="34" charset="0"/>
                <a:cs typeface="Segoe UI" panose="020B0502040204020203" pitchFamily="34" charset="0"/>
              </a:rPr>
              <a:t>, pour lier des éléments du </a:t>
            </a:r>
            <a:r>
              <a:rPr lang="fr-FR" dirty="0" err="1">
                <a:latin typeface="Segoe UI" panose="020B0502040204020203" pitchFamily="34" charset="0"/>
                <a:cs typeface="Segoe UI" panose="020B0502040204020203" pitchFamily="34" charset="0"/>
              </a:rPr>
              <a:t>template</a:t>
            </a:r>
            <a:r>
              <a:rPr lang="fr-FR" dirty="0">
                <a:latin typeface="Segoe UI" panose="020B0502040204020203" pitchFamily="34" charset="0"/>
                <a:cs typeface="Segoe UI" panose="020B0502040204020203" pitchFamily="34" charset="0"/>
              </a:rPr>
              <a:t> aux valeurs du parent</a:t>
            </a:r>
            <a:endParaRPr lang="fr-FR" altLang="en-US" dirty="0">
              <a:latin typeface="Segoe UI" panose="020B0502040204020203" pitchFamily="34" charset="0"/>
              <a:cs typeface="Segoe UI" panose="020B0502040204020203" pitchFamily="34" charset="0"/>
            </a:endParaRPr>
          </a:p>
        </p:txBody>
      </p:sp>
      <p:sp>
        <p:nvSpPr>
          <p:cNvPr id="6" name="Rectangle 5"/>
          <p:cNvSpPr/>
          <p:nvPr/>
        </p:nvSpPr>
        <p:spPr>
          <a:xfrm>
            <a:off x="629652" y="1551326"/>
            <a:ext cx="9266321" cy="2462213"/>
          </a:xfrm>
          <a:prstGeom prst="rect">
            <a:avLst/>
          </a:prstGeom>
        </p:spPr>
        <p:txBody>
          <a:bodyPr wrap="square">
            <a:spAutoFit/>
          </a:bodyPr>
          <a:lstStyle/>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err="1">
                <a:solidFill>
                  <a:srgbClr val="A31515"/>
                </a:solidFill>
                <a:latin typeface="Cascadia Mono" panose="020B0609020000020004" pitchFamily="49" charset="0"/>
              </a:rPr>
              <a:t>ContentPage.Resources</a:t>
            </a:r>
            <a:r>
              <a:rPr lang="en-US" sz="1400" dirty="0">
                <a:solidFill>
                  <a:srgbClr val="0000FF"/>
                </a:solidFill>
                <a:latin typeface="Cascadia Mono" panose="020B0609020000020004" pitchFamily="49" charset="0"/>
              </a:rPr>
              <a:t>&gt;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ControlTemplate</a:t>
            </a:r>
            <a:r>
              <a:rPr lang="en-US" sz="1400" dirty="0">
                <a:solidFill>
                  <a:srgbClr val="FF0000"/>
                </a:solidFill>
                <a:latin typeface="Cascadia Mono" panose="020B0609020000020004" pitchFamily="49" charset="0"/>
              </a:rPr>
              <a:t> x</a:t>
            </a:r>
            <a:r>
              <a:rPr lang="en-US" sz="1400" dirty="0">
                <a:solidFill>
                  <a:srgbClr val="0000FF"/>
                </a:solidFill>
                <a:latin typeface="Cascadia Mono" panose="020B0609020000020004" pitchFamily="49" charset="0"/>
              </a:rPr>
              <a:t>:</a:t>
            </a:r>
            <a:r>
              <a:rPr lang="en-US" sz="1400" dirty="0">
                <a:solidFill>
                  <a:srgbClr val="FF0000"/>
                </a:solidFill>
                <a:latin typeface="Cascadia Mono" panose="020B0609020000020004" pitchFamily="49" charset="0"/>
              </a:rPr>
              <a:t>Key</a:t>
            </a:r>
            <a:r>
              <a:rPr lang="en-US" sz="1400" dirty="0">
                <a:solidFill>
                  <a:srgbClr val="0000FF"/>
                </a:solidFill>
                <a:latin typeface="Cascadia Mono" panose="020B0609020000020004" pitchFamily="49" charset="0"/>
              </a:rPr>
              <a:t>="MyTemplate"&gt;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Frame</a:t>
            </a:r>
            <a:r>
              <a:rPr lang="en-US" sz="1400" dirty="0">
                <a:solidFill>
                  <a:srgbClr val="FF0000"/>
                </a:solidFill>
                <a:latin typeface="Cascadia Mono" panose="020B0609020000020004" pitchFamily="49" charset="0"/>
              </a:rPr>
              <a:t> </a:t>
            </a:r>
            <a:r>
              <a:rPr lang="en-US" sz="1400" dirty="0" err="1">
                <a:solidFill>
                  <a:srgbClr val="FF0000"/>
                </a:solidFill>
                <a:latin typeface="Cascadia Mono" panose="020B0609020000020004" pitchFamily="49" charset="0"/>
              </a:rPr>
              <a:t>BackgroundColor</a:t>
            </a:r>
            <a:r>
              <a:rPr lang="en-US" sz="1400" dirty="0">
                <a:solidFill>
                  <a:srgbClr val="0000FF"/>
                </a:solidFill>
                <a:latin typeface="Cascadia Mono" panose="020B0609020000020004" pitchFamily="49" charset="0"/>
              </a:rPr>
              <a:t>="{</a:t>
            </a:r>
            <a:r>
              <a:rPr lang="en-US" sz="1400" dirty="0">
                <a:solidFill>
                  <a:srgbClr val="A31515"/>
                </a:solidFill>
                <a:latin typeface="Cascadia Mono" panose="020B0609020000020004" pitchFamily="49" charset="0"/>
              </a:rPr>
              <a:t>Binding</a:t>
            </a:r>
            <a:r>
              <a:rPr lang="en-US" sz="1400" dirty="0">
                <a:solidFill>
                  <a:srgbClr val="FF0000"/>
                </a:solidFill>
                <a:latin typeface="Cascadia Mono" panose="020B0609020000020004" pitchFamily="49" charset="0"/>
              </a:rPr>
              <a:t> Source</a:t>
            </a:r>
            <a:r>
              <a:rPr lang="en-US" sz="1400" dirty="0">
                <a:solidFill>
                  <a:srgbClr val="0000FF"/>
                </a:solidFill>
                <a:latin typeface="Cascadia Mono" panose="020B0609020000020004" pitchFamily="49" charset="0"/>
              </a:rPr>
              <a:t>={</a:t>
            </a:r>
            <a:r>
              <a:rPr lang="en-US" sz="1400" dirty="0" err="1">
                <a:solidFill>
                  <a:srgbClr val="A31515"/>
                </a:solidFill>
                <a:latin typeface="Cascadia Mono" panose="020B0609020000020004" pitchFamily="49" charset="0"/>
              </a:rPr>
              <a:t>RelativeSource</a:t>
            </a:r>
            <a:r>
              <a:rPr lang="en-US" sz="1400" dirty="0">
                <a:solidFill>
                  <a:srgbClr val="FF0000"/>
                </a:solidFill>
                <a:latin typeface="Cascadia Mono" panose="020B0609020000020004" pitchFamily="49" charset="0"/>
              </a:rPr>
              <a:t> </a:t>
            </a:r>
            <a:r>
              <a:rPr lang="en-US" sz="1400" dirty="0" err="1">
                <a:solidFill>
                  <a:srgbClr val="FF0000"/>
                </a:solidFill>
                <a:latin typeface="Cascadia Mono" panose="020B0609020000020004" pitchFamily="49" charset="0"/>
              </a:rPr>
              <a:t>TemplatedParent</a:t>
            </a:r>
            <a:r>
              <a:rPr lang="en-US" sz="1400" dirty="0">
                <a:solidFill>
                  <a:srgbClr val="0000FF"/>
                </a:solidFill>
                <a:latin typeface="Cascadia Mono" panose="020B0609020000020004" pitchFamily="49" charset="0"/>
              </a:rPr>
              <a:t>},</a:t>
            </a:r>
            <a:r>
              <a:rPr lang="en-US"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a:solidFill>
                  <a:srgbClr val="FF0000"/>
                </a:solidFill>
                <a:latin typeface="Cascadia Mono" panose="020B0609020000020004" pitchFamily="49" charset="0"/>
              </a:rPr>
              <a:t> Path</a:t>
            </a:r>
            <a:r>
              <a:rPr lang="en-US" sz="1400" dirty="0">
                <a:solidFill>
                  <a:srgbClr val="0000FF"/>
                </a:solidFill>
                <a:latin typeface="Cascadia Mono" panose="020B0609020000020004" pitchFamily="49" charset="0"/>
              </a:rPr>
              <a:t>=</a:t>
            </a:r>
            <a:r>
              <a:rPr lang="en-US" sz="1400" dirty="0" err="1">
                <a:solidFill>
                  <a:srgbClr val="0000FF"/>
                </a:solidFill>
                <a:latin typeface="Cascadia Mono" panose="020B0609020000020004" pitchFamily="49" charset="0"/>
              </a:rPr>
              <a:t>BackgroundColor</a:t>
            </a:r>
            <a:r>
              <a:rPr lang="en-US" sz="1400" dirty="0">
                <a:solidFill>
                  <a:srgbClr val="0000FF"/>
                </a:solidFill>
                <a:latin typeface="Cascadia Mono" panose="020B0609020000020004" pitchFamily="49" charset="0"/>
              </a:rPr>
              <a:t>}"</a:t>
            </a:r>
          </a:p>
          <a:p>
            <a:r>
              <a:rPr lang="en-US" sz="1400" dirty="0">
                <a:solidFill>
                  <a:srgbClr val="000000"/>
                </a:solidFill>
                <a:latin typeface="Cascadia Mono" panose="020B0609020000020004" pitchFamily="49" charset="0"/>
              </a:rPr>
              <a:t>           </a:t>
            </a:r>
            <a:r>
              <a:rPr lang="en-US" sz="1400" dirty="0">
                <a:solidFill>
                  <a:srgbClr val="FF0000"/>
                </a:solidFill>
                <a:latin typeface="Cascadia Mono" panose="020B0609020000020004" pitchFamily="49" charset="0"/>
              </a:rPr>
              <a:t> </a:t>
            </a:r>
            <a:r>
              <a:rPr lang="en-US" sz="1400" dirty="0" err="1">
                <a:solidFill>
                  <a:srgbClr val="FF0000"/>
                </a:solidFill>
                <a:latin typeface="Cascadia Mono" panose="020B0609020000020004" pitchFamily="49" charset="0"/>
              </a:rPr>
              <a:t>CornerRadius</a:t>
            </a:r>
            <a:r>
              <a:rPr lang="en-US" sz="1400" dirty="0">
                <a:solidFill>
                  <a:srgbClr val="0000FF"/>
                </a:solidFill>
                <a:latin typeface="Cascadia Mono" panose="020B0609020000020004" pitchFamily="49" charset="0"/>
              </a:rPr>
              <a:t>="10"</a:t>
            </a:r>
            <a:r>
              <a:rPr lang="en-US" sz="1400" dirty="0">
                <a:solidFill>
                  <a:srgbClr val="FF0000"/>
                </a:solidFill>
                <a:latin typeface="Cascadia Mono" panose="020B0609020000020004" pitchFamily="49" charset="0"/>
              </a:rPr>
              <a:t> Padding</a:t>
            </a:r>
            <a:r>
              <a:rPr lang="en-US" sz="1400" dirty="0">
                <a:solidFill>
                  <a:srgbClr val="0000FF"/>
                </a:solidFill>
                <a:latin typeface="Cascadia Mono" panose="020B0609020000020004" pitchFamily="49" charset="0"/>
              </a:rPr>
              <a:t>="10"&gt;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err="1">
                <a:solidFill>
                  <a:srgbClr val="A31515"/>
                </a:solidFill>
                <a:latin typeface="Cascadia Mono" panose="020B0609020000020004" pitchFamily="49" charset="0"/>
              </a:rPr>
              <a:t>ContentPresenter</a:t>
            </a:r>
            <a:r>
              <a:rPr lang="en-US"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a:solidFill>
                  <a:srgbClr val="FF0000"/>
                </a:solidFill>
                <a:latin typeface="Cascadia Mono" panose="020B0609020000020004" pitchFamily="49" charset="0"/>
              </a:rPr>
              <a:t> </a:t>
            </a:r>
            <a:r>
              <a:rPr lang="en-US" sz="1400" dirty="0" err="1">
                <a:solidFill>
                  <a:srgbClr val="FF0000"/>
                </a:solidFill>
                <a:latin typeface="Cascadia Mono" panose="020B0609020000020004" pitchFamily="49" charset="0"/>
              </a:rPr>
              <a:t>HorizontalOptions</a:t>
            </a:r>
            <a:r>
              <a:rPr lang="en-US" sz="1400" dirty="0">
                <a:solidFill>
                  <a:srgbClr val="0000FF"/>
                </a:solidFill>
                <a:latin typeface="Cascadia Mono" panose="020B0609020000020004" pitchFamily="49" charset="0"/>
              </a:rPr>
              <a:t>="Center"</a:t>
            </a:r>
          </a:p>
          <a:p>
            <a:r>
              <a:rPr lang="en-US" sz="1400" dirty="0">
                <a:solidFill>
                  <a:srgbClr val="000000"/>
                </a:solidFill>
                <a:latin typeface="Cascadia Mono" panose="020B0609020000020004" pitchFamily="49" charset="0"/>
              </a:rPr>
              <a:t>            </a:t>
            </a:r>
            <a:r>
              <a:rPr lang="en-US" sz="1400" dirty="0">
                <a:solidFill>
                  <a:srgbClr val="FF0000"/>
                </a:solidFill>
                <a:latin typeface="Cascadia Mono" panose="020B0609020000020004" pitchFamily="49" charset="0"/>
              </a:rPr>
              <a:t> </a:t>
            </a:r>
            <a:r>
              <a:rPr lang="en-US" sz="1400" dirty="0" err="1">
                <a:solidFill>
                  <a:srgbClr val="FF0000"/>
                </a:solidFill>
                <a:latin typeface="Cascadia Mono" panose="020B0609020000020004" pitchFamily="49" charset="0"/>
              </a:rPr>
              <a:t>VerticalOptions</a:t>
            </a:r>
            <a:r>
              <a:rPr lang="en-US" sz="1400" dirty="0">
                <a:solidFill>
                  <a:srgbClr val="0000FF"/>
                </a:solidFill>
                <a:latin typeface="Cascadia Mono" panose="020B0609020000020004" pitchFamily="49" charset="0"/>
              </a:rPr>
              <a:t>="Center" /&gt;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Frame</a:t>
            </a:r>
            <a:r>
              <a:rPr lang="en-US" sz="1400" dirty="0">
                <a:solidFill>
                  <a:srgbClr val="0000FF"/>
                </a:solidFill>
                <a:latin typeface="Cascadia Mono" panose="020B0609020000020004" pitchFamily="49" charset="0"/>
              </a:rPr>
              <a:t>&gt;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ControlTemplate</a:t>
            </a:r>
            <a:r>
              <a:rPr lang="en-US" sz="1400" dirty="0">
                <a:solidFill>
                  <a:srgbClr val="0000FF"/>
                </a:solidFill>
                <a:latin typeface="Cascadia Mono" panose="020B0609020000020004" pitchFamily="49" charset="0"/>
              </a:rPr>
              <a:t>&gt;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err="1">
                <a:solidFill>
                  <a:srgbClr val="A31515"/>
                </a:solidFill>
                <a:latin typeface="Cascadia Mono" panose="020B0609020000020004" pitchFamily="49" charset="0"/>
              </a:rPr>
              <a:t>ContentPage.Resources</a:t>
            </a:r>
            <a:r>
              <a:rPr lang="en-US" sz="1400" dirty="0">
                <a:solidFill>
                  <a:srgbClr val="0000FF"/>
                </a:solidFill>
                <a:latin typeface="Cascadia Mono" panose="020B0609020000020004" pitchFamily="49" charset="0"/>
              </a:rPr>
              <a:t>&gt;</a:t>
            </a:r>
            <a:endParaRPr lang="en-US" sz="1400" dirty="0"/>
          </a:p>
        </p:txBody>
      </p:sp>
      <p:sp>
        <p:nvSpPr>
          <p:cNvPr id="7" name="Rectangle 6"/>
          <p:cNvSpPr/>
          <p:nvPr/>
        </p:nvSpPr>
        <p:spPr>
          <a:xfrm>
            <a:off x="774031" y="4129717"/>
            <a:ext cx="8189496" cy="1600438"/>
          </a:xfrm>
          <a:prstGeom prst="rect">
            <a:avLst/>
          </a:prstGeom>
        </p:spPr>
        <p:txBody>
          <a:bodyPr wrap="square">
            <a:spAutoFit/>
          </a:bodyPr>
          <a:lstStyle/>
          <a:p>
            <a:r>
              <a:rPr lang="en-US" sz="1400" dirty="0">
                <a:solidFill>
                  <a:srgbClr val="008000"/>
                </a:solidFill>
                <a:latin typeface="Cascadia Mono" panose="020B0609020000020004" pitchFamily="49" charset="0"/>
              </a:rPr>
              <a:t>&lt;!-- </a:t>
            </a:r>
            <a:r>
              <a:rPr lang="en-US" sz="1400" dirty="0" err="1">
                <a:solidFill>
                  <a:srgbClr val="008000"/>
                </a:solidFill>
                <a:latin typeface="Cascadia Mono" panose="020B0609020000020004" pitchFamily="49" charset="0"/>
              </a:rPr>
              <a:t>Utilisation</a:t>
            </a:r>
            <a:r>
              <a:rPr lang="en-US" sz="1400" dirty="0">
                <a:solidFill>
                  <a:srgbClr val="008000"/>
                </a:solidFill>
                <a:latin typeface="Cascadia Mono" panose="020B0609020000020004" pitchFamily="49" charset="0"/>
              </a:rPr>
              <a:t> --&gt;</a:t>
            </a:r>
          </a:p>
          <a:p>
            <a:r>
              <a:rPr lang="en-US" sz="1400" dirty="0">
                <a:solidFill>
                  <a:srgbClr val="0000FF"/>
                </a:solidFill>
                <a:latin typeface="Cascadia Mono" panose="020B0609020000020004" pitchFamily="49" charset="0"/>
              </a:rPr>
              <a:t>&lt;</a:t>
            </a:r>
            <a:r>
              <a:rPr lang="en-US" sz="1400" dirty="0" err="1">
                <a:solidFill>
                  <a:srgbClr val="A31515"/>
                </a:solidFill>
                <a:latin typeface="Cascadia Mono" panose="020B0609020000020004" pitchFamily="49" charset="0"/>
              </a:rPr>
              <a:t>ContentView</a:t>
            </a:r>
            <a:r>
              <a:rPr lang="en-US" sz="1400" dirty="0">
                <a:solidFill>
                  <a:srgbClr val="FF0000"/>
                </a:solidFill>
                <a:latin typeface="Cascadia Mono" panose="020B0609020000020004" pitchFamily="49" charset="0"/>
              </a:rPr>
              <a:t> ControlTemplate</a:t>
            </a:r>
            <a:r>
              <a:rPr lang="en-US" sz="1400" dirty="0">
                <a:solidFill>
                  <a:srgbClr val="0000FF"/>
                </a:solidFill>
                <a:latin typeface="Cascadia Mono" panose="020B0609020000020004" pitchFamily="49" charset="0"/>
              </a:rPr>
              <a:t>="{</a:t>
            </a:r>
            <a:r>
              <a:rPr lang="en-US" sz="1400" dirty="0" err="1">
                <a:solidFill>
                  <a:srgbClr val="A31515"/>
                </a:solidFill>
                <a:latin typeface="Cascadia Mono" panose="020B0609020000020004" pitchFamily="49" charset="0"/>
              </a:rPr>
              <a:t>StaticResource</a:t>
            </a:r>
            <a:r>
              <a:rPr lang="en-US" sz="1400" dirty="0">
                <a:solidFill>
                  <a:srgbClr val="FF0000"/>
                </a:solidFill>
                <a:latin typeface="Cascadia Mono" panose="020B0609020000020004" pitchFamily="49" charset="0"/>
              </a:rPr>
              <a:t> </a:t>
            </a:r>
            <a:r>
              <a:rPr lang="en-US" sz="1400" dirty="0" err="1">
                <a:solidFill>
                  <a:srgbClr val="FF0000"/>
                </a:solidFill>
                <a:latin typeface="Cascadia Mono" panose="020B0609020000020004" pitchFamily="49" charset="0"/>
              </a:rPr>
              <a:t>MyTemplate</a:t>
            </a:r>
            <a:r>
              <a:rPr lang="en-US" sz="1400" dirty="0">
                <a:solidFill>
                  <a:srgbClr val="0000FF"/>
                </a:solidFill>
                <a:latin typeface="Cascadia Mono" panose="020B0609020000020004" pitchFamily="49" charset="0"/>
              </a:rPr>
              <a:t>}"</a:t>
            </a:r>
            <a:r>
              <a:rPr lang="en-US"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a:solidFill>
                  <a:srgbClr val="FF0000"/>
                </a:solidFill>
                <a:latin typeface="Cascadia Mono" panose="020B0609020000020004" pitchFamily="49" charset="0"/>
              </a:rPr>
              <a:t> </a:t>
            </a:r>
            <a:r>
              <a:rPr lang="en-US" sz="1400" dirty="0" err="1">
                <a:solidFill>
                  <a:srgbClr val="FF0000"/>
                </a:solidFill>
                <a:latin typeface="Cascadia Mono" panose="020B0609020000020004" pitchFamily="49" charset="0"/>
              </a:rPr>
              <a:t>BackgroundColor</a:t>
            </a:r>
            <a:r>
              <a:rPr lang="en-US" sz="1400" dirty="0">
                <a:solidFill>
                  <a:srgbClr val="0000FF"/>
                </a:solidFill>
                <a:latin typeface="Cascadia Mono" panose="020B0609020000020004" pitchFamily="49" charset="0"/>
              </a:rPr>
              <a:t>="Teal"</a:t>
            </a:r>
            <a:r>
              <a:rPr lang="en-US" sz="1400" dirty="0">
                <a:solidFill>
                  <a:srgbClr val="FF0000"/>
                </a:solidFill>
                <a:latin typeface="Cascadia Mono" panose="020B0609020000020004" pitchFamily="49" charset="0"/>
              </a:rPr>
              <a:t> Margin</a:t>
            </a:r>
            <a:r>
              <a:rPr lang="en-US" sz="1400" dirty="0">
                <a:solidFill>
                  <a:srgbClr val="0000FF"/>
                </a:solidFill>
                <a:latin typeface="Cascadia Mono" panose="020B0609020000020004" pitchFamily="49" charset="0"/>
              </a:rPr>
              <a:t>="20"&gt;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Label</a:t>
            </a:r>
            <a:r>
              <a:rPr lang="en-US" sz="1400" dirty="0">
                <a:solidFill>
                  <a:srgbClr val="FF0000"/>
                </a:solidFill>
                <a:latin typeface="Cascadia Mono" panose="020B0609020000020004" pitchFamily="49" charset="0"/>
              </a:rPr>
              <a:t> Text</a:t>
            </a:r>
            <a:r>
              <a:rPr lang="en-US" sz="1400" dirty="0">
                <a:solidFill>
                  <a:srgbClr val="0000FF"/>
                </a:solidFill>
                <a:latin typeface="Cascadia Mono" panose="020B0609020000020004" pitchFamily="49" charset="0"/>
              </a:rPr>
              <a:t>="Hello Template!"</a:t>
            </a:r>
            <a:r>
              <a:rPr lang="en-US" sz="1400" dirty="0">
                <a:solidFill>
                  <a:srgbClr val="FF0000"/>
                </a:solidFill>
                <a:latin typeface="Cascadia Mono" panose="020B0609020000020004" pitchFamily="49" charset="0"/>
              </a:rPr>
              <a:t> Margin</a:t>
            </a:r>
            <a:r>
              <a:rPr lang="en-US" sz="1400" dirty="0">
                <a:solidFill>
                  <a:srgbClr val="0000FF"/>
                </a:solidFill>
                <a:latin typeface="Cascadia Mono" panose="020B0609020000020004" pitchFamily="49" charset="0"/>
              </a:rPr>
              <a:t>="30"</a:t>
            </a:r>
          </a:p>
          <a:p>
            <a:r>
              <a:rPr lang="en-US" sz="1400" dirty="0">
                <a:solidFill>
                  <a:srgbClr val="000000"/>
                </a:solidFill>
                <a:latin typeface="Cascadia Mono" panose="020B0609020000020004" pitchFamily="49" charset="0"/>
              </a:rPr>
              <a:t>      </a:t>
            </a:r>
            <a:r>
              <a:rPr lang="en-US" sz="1400" dirty="0">
                <a:solidFill>
                  <a:srgbClr val="FF0000"/>
                </a:solidFill>
                <a:latin typeface="Cascadia Mono" panose="020B0609020000020004" pitchFamily="49" charset="0"/>
              </a:rPr>
              <a:t> </a:t>
            </a:r>
            <a:r>
              <a:rPr lang="en-US" sz="1400" dirty="0" err="1">
                <a:solidFill>
                  <a:srgbClr val="FF0000"/>
                </a:solidFill>
                <a:latin typeface="Cascadia Mono" panose="020B0609020000020004" pitchFamily="49" charset="0"/>
              </a:rPr>
              <a:t>FontSize</a:t>
            </a:r>
            <a:r>
              <a:rPr lang="en-US" sz="1400" dirty="0">
                <a:solidFill>
                  <a:srgbClr val="0000FF"/>
                </a:solidFill>
                <a:latin typeface="Cascadia Mono" panose="020B0609020000020004" pitchFamily="49" charset="0"/>
              </a:rPr>
              <a:t>="20"</a:t>
            </a:r>
            <a:r>
              <a:rPr lang="en-US"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a:solidFill>
                  <a:srgbClr val="FF0000"/>
                </a:solidFill>
                <a:latin typeface="Cascadia Mono" panose="020B0609020000020004" pitchFamily="49" charset="0"/>
              </a:rPr>
              <a:t> </a:t>
            </a:r>
            <a:r>
              <a:rPr lang="en-US" sz="1400" dirty="0" err="1">
                <a:solidFill>
                  <a:srgbClr val="FF0000"/>
                </a:solidFill>
                <a:latin typeface="Cascadia Mono" panose="020B0609020000020004" pitchFamily="49" charset="0"/>
              </a:rPr>
              <a:t>TextColor</a:t>
            </a:r>
            <a:r>
              <a:rPr lang="en-US" sz="1400" dirty="0">
                <a:solidFill>
                  <a:srgbClr val="0000FF"/>
                </a:solidFill>
                <a:latin typeface="Cascadia Mono" panose="020B0609020000020004" pitchFamily="49" charset="0"/>
              </a:rPr>
              <a:t>="White"/&gt;</a:t>
            </a:r>
          </a:p>
          <a:p>
            <a:r>
              <a:rPr lang="en-US" sz="1400" dirty="0">
                <a:solidFill>
                  <a:srgbClr val="0000FF"/>
                </a:solidFill>
                <a:latin typeface="Cascadia Mono" panose="020B0609020000020004" pitchFamily="49" charset="0"/>
              </a:rPr>
              <a:t>&lt;/</a:t>
            </a:r>
            <a:r>
              <a:rPr lang="en-US" sz="1400" dirty="0" err="1">
                <a:solidFill>
                  <a:srgbClr val="A31515"/>
                </a:solidFill>
                <a:latin typeface="Cascadia Mono" panose="020B0609020000020004" pitchFamily="49" charset="0"/>
              </a:rPr>
              <a:t>ContentView</a:t>
            </a:r>
            <a:r>
              <a:rPr lang="en-US" sz="1400" dirty="0">
                <a:solidFill>
                  <a:srgbClr val="0000FF"/>
                </a:solidFill>
                <a:latin typeface="Cascadia Mono" panose="020B0609020000020004" pitchFamily="49" charset="0"/>
              </a:rPr>
              <a:t>&gt;</a:t>
            </a:r>
            <a:endParaRPr lang="en-US" sz="1400" dirty="0"/>
          </a:p>
        </p:txBody>
      </p:sp>
    </p:spTree>
    <p:extLst>
      <p:ext uri="{BB962C8B-B14F-4D97-AF65-F5344CB8AC3E}">
        <p14:creationId xmlns:p14="http://schemas.microsoft.com/office/powerpoint/2010/main" val="4178599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9"/>
          <p:cNvSpPr txBox="1"/>
          <p:nvPr/>
        </p:nvSpPr>
        <p:spPr>
          <a:xfrm>
            <a:off x="401511" y="286376"/>
            <a:ext cx="8001825" cy="346249"/>
          </a:xfrm>
          <a:prstGeom prst="rect">
            <a:avLst/>
          </a:prstGeom>
        </p:spPr>
        <p:txBody>
          <a:bodyPr wrap="square" lIns="0" tIns="0" rIns="0" bIns="0">
            <a:spAutoFit/>
          </a:bodyPr>
          <a:lstStyle/>
          <a:p>
            <a:pPr marL="80010" eaLnBrk="1" fontAlgn="auto" hangingPunct="1">
              <a:spcBef>
                <a:spcPts val="0"/>
              </a:spcBef>
              <a:spcAft>
                <a:spcPts val="0"/>
              </a:spcAft>
              <a:tabLst>
                <a:tab pos="5920105" algn="l"/>
              </a:tabLst>
              <a:defRPr/>
            </a:pPr>
            <a:r>
              <a:rPr lang="fr-FR" sz="2250" u="heavy" dirty="0" err="1" smtClean="0">
                <a:latin typeface="Segoe UI Symbol"/>
                <a:cs typeface="Segoe UI Symbol"/>
              </a:rPr>
              <a:t>TemplateBinding</a:t>
            </a:r>
            <a:endParaRPr sz="2250" dirty="0">
              <a:latin typeface="Times New Roman"/>
              <a:cs typeface="Times New Roman"/>
            </a:endParaRPr>
          </a:p>
        </p:txBody>
      </p:sp>
      <p:sp>
        <p:nvSpPr>
          <p:cNvPr id="4" name="object 20"/>
          <p:cNvSpPr txBox="1">
            <a:spLocks noChangeArrowheads="1"/>
          </p:cNvSpPr>
          <p:nvPr/>
        </p:nvSpPr>
        <p:spPr bwMode="auto">
          <a:xfrm>
            <a:off x="491456" y="881150"/>
            <a:ext cx="1104849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255588" indent="-242888">
              <a:tabLst>
                <a:tab pos="257175" algn="l"/>
              </a:tabLst>
              <a:defRPr>
                <a:solidFill>
                  <a:schemeClr val="tx1"/>
                </a:solidFill>
                <a:latin typeface="Calibri" panose="020F0502020204030204" pitchFamily="34" charset="0"/>
                <a:cs typeface="Arial" panose="020B0604020202020204" pitchFamily="34" charset="0"/>
              </a:defRPr>
            </a:lvl1pPr>
            <a:lvl2pPr marL="742950" indent="-285750">
              <a:tabLst>
                <a:tab pos="257175" algn="l"/>
              </a:tabLst>
              <a:defRPr>
                <a:solidFill>
                  <a:schemeClr val="tx1"/>
                </a:solidFill>
                <a:latin typeface="Calibri" panose="020F0502020204030204" pitchFamily="34" charset="0"/>
                <a:cs typeface="Arial" panose="020B0604020202020204" pitchFamily="34" charset="0"/>
              </a:defRPr>
            </a:lvl2pPr>
            <a:lvl3pPr marL="1143000" indent="-228600">
              <a:tabLst>
                <a:tab pos="257175" algn="l"/>
              </a:tabLst>
              <a:defRPr>
                <a:solidFill>
                  <a:schemeClr val="tx1"/>
                </a:solidFill>
                <a:latin typeface="Calibri" panose="020F0502020204030204" pitchFamily="34" charset="0"/>
                <a:cs typeface="Arial" panose="020B0604020202020204" pitchFamily="34" charset="0"/>
              </a:defRPr>
            </a:lvl3pPr>
            <a:lvl4pPr marL="1600200" indent="-228600">
              <a:tabLst>
                <a:tab pos="257175" algn="l"/>
              </a:tabLst>
              <a:defRPr>
                <a:solidFill>
                  <a:schemeClr val="tx1"/>
                </a:solidFill>
                <a:latin typeface="Calibri" panose="020F0502020204030204" pitchFamily="34" charset="0"/>
                <a:cs typeface="Arial" panose="020B0604020202020204" pitchFamily="34" charset="0"/>
              </a:defRPr>
            </a:lvl4pPr>
            <a:lvl5pPr marL="2057400" indent="-228600">
              <a:tabLst>
                <a:tab pos="257175"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9pPr>
          </a:lstStyle>
          <a:p>
            <a:pPr>
              <a:buClr>
                <a:srgbClr val="006498"/>
              </a:buClr>
              <a:buSzPct val="61000"/>
              <a:buFont typeface="Wingdings" panose="05000000000000000000" pitchFamily="2" charset="2"/>
              <a:buChar char=""/>
            </a:pPr>
            <a:r>
              <a:rPr lang="fr-FR" altLang="en-US" dirty="0" smtClean="0">
                <a:latin typeface="Segoe UI" panose="020B0502040204020203" pitchFamily="34" charset="0"/>
                <a:cs typeface="Segoe UI" panose="020B0502040204020203" pitchFamily="34" charset="0"/>
              </a:rPr>
              <a:t>Est un raccourcis de </a:t>
            </a:r>
            <a:r>
              <a:rPr lang="fr-FR" altLang="en-US" b="1" dirty="0" err="1" smtClean="0">
                <a:latin typeface="Segoe UI" panose="020B0502040204020203" pitchFamily="34" charset="0"/>
                <a:cs typeface="Segoe UI" panose="020B0502040204020203" pitchFamily="34" charset="0"/>
              </a:rPr>
              <a:t>TemplatedParent</a:t>
            </a:r>
            <a:r>
              <a:rPr lang="fr-FR" altLang="en-US" dirty="0" smtClean="0">
                <a:latin typeface="Segoe UI" panose="020B0502040204020203" pitchFamily="34" charset="0"/>
                <a:cs typeface="Segoe UI" panose="020B0502040204020203" pitchFamily="34" charset="0"/>
              </a:rPr>
              <a:t>, </a:t>
            </a:r>
            <a:r>
              <a:rPr lang="fr-FR" dirty="0">
                <a:latin typeface="Segoe UI" panose="020B0502040204020203" pitchFamily="34" charset="0"/>
                <a:cs typeface="Segoe UI" panose="020B0502040204020203" pitchFamily="34" charset="0"/>
              </a:rPr>
              <a:t>Les deux </a:t>
            </a:r>
            <a:r>
              <a:rPr lang="fr-FR" b="1" dirty="0">
                <a:latin typeface="Segoe UI" panose="020B0502040204020203" pitchFamily="34" charset="0"/>
                <a:cs typeface="Segoe UI" panose="020B0502040204020203" pitchFamily="34" charset="0"/>
              </a:rPr>
              <a:t>font la même chose</a:t>
            </a:r>
            <a:r>
              <a:rPr lang="fr-FR" dirty="0">
                <a:latin typeface="Segoe UI" panose="020B0502040204020203" pitchFamily="34" charset="0"/>
                <a:cs typeface="Segoe UI" panose="020B0502040204020203" pitchFamily="34" charset="0"/>
              </a:rPr>
              <a:t> : lier une propriété définie sur le parent qui applique le </a:t>
            </a:r>
            <a:r>
              <a:rPr lang="fr-FR" b="1" dirty="0" smtClean="0">
                <a:latin typeface="Segoe UI" panose="020B0502040204020203" pitchFamily="34" charset="0"/>
                <a:cs typeface="Segoe UI" panose="020B0502040204020203" pitchFamily="34" charset="0"/>
              </a:rPr>
              <a:t>Template</a:t>
            </a:r>
            <a:endParaRPr lang="fr-FR" altLang="en-US" b="1" dirty="0">
              <a:latin typeface="Segoe UI" panose="020B0502040204020203" pitchFamily="34" charset="0"/>
              <a:cs typeface="Segoe UI" panose="020B0502040204020203" pitchFamily="34" charset="0"/>
            </a:endParaRPr>
          </a:p>
        </p:txBody>
      </p:sp>
      <p:sp>
        <p:nvSpPr>
          <p:cNvPr id="3" name="Rectangle 2"/>
          <p:cNvSpPr/>
          <p:nvPr/>
        </p:nvSpPr>
        <p:spPr>
          <a:xfrm>
            <a:off x="629652" y="1558414"/>
            <a:ext cx="9657347" cy="2246769"/>
          </a:xfrm>
          <a:prstGeom prst="rect">
            <a:avLst/>
          </a:prstGeom>
        </p:spPr>
        <p:txBody>
          <a:bodyPr wrap="square">
            <a:spAutoFit/>
          </a:bodyPr>
          <a:lstStyle/>
          <a:p>
            <a:r>
              <a:rPr lang="en-US" sz="1400" dirty="0">
                <a:solidFill>
                  <a:srgbClr val="0000FF"/>
                </a:solidFill>
                <a:latin typeface="Cascadia Mono" panose="020B0609020000020004" pitchFamily="49" charset="0"/>
              </a:rPr>
              <a:t>&lt;</a:t>
            </a:r>
            <a:r>
              <a:rPr lang="en-US" sz="1400" dirty="0" err="1">
                <a:solidFill>
                  <a:srgbClr val="A31515"/>
                </a:solidFill>
                <a:latin typeface="Cascadia Mono" panose="020B0609020000020004" pitchFamily="49" charset="0"/>
              </a:rPr>
              <a:t>ContentPage.Resources</a:t>
            </a:r>
            <a:r>
              <a:rPr lang="en-US" sz="1400" dirty="0">
                <a:solidFill>
                  <a:srgbClr val="0000FF"/>
                </a:solidFill>
                <a:latin typeface="Cascadia Mono" panose="020B0609020000020004" pitchFamily="49" charset="0"/>
              </a:rPr>
              <a:t>&gt;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ControlTemplate</a:t>
            </a:r>
            <a:r>
              <a:rPr lang="en-US" sz="1400" dirty="0">
                <a:solidFill>
                  <a:srgbClr val="FF0000"/>
                </a:solidFill>
                <a:latin typeface="Cascadia Mono" panose="020B0609020000020004" pitchFamily="49" charset="0"/>
              </a:rPr>
              <a:t> x</a:t>
            </a:r>
            <a:r>
              <a:rPr lang="en-US" sz="1400" dirty="0">
                <a:solidFill>
                  <a:srgbClr val="0000FF"/>
                </a:solidFill>
                <a:latin typeface="Cascadia Mono" panose="020B0609020000020004" pitchFamily="49" charset="0"/>
              </a:rPr>
              <a:t>:</a:t>
            </a:r>
            <a:r>
              <a:rPr lang="en-US" sz="1400" dirty="0">
                <a:solidFill>
                  <a:srgbClr val="FF0000"/>
                </a:solidFill>
                <a:latin typeface="Cascadia Mono" panose="020B0609020000020004" pitchFamily="49" charset="0"/>
              </a:rPr>
              <a:t>Key</a:t>
            </a:r>
            <a:r>
              <a:rPr lang="en-US" sz="1400" dirty="0">
                <a:solidFill>
                  <a:srgbClr val="0000FF"/>
                </a:solidFill>
                <a:latin typeface="Cascadia Mono" panose="020B0609020000020004" pitchFamily="49" charset="0"/>
              </a:rPr>
              <a:t>="MyTemplate"&gt;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Frame</a:t>
            </a:r>
            <a:r>
              <a:rPr lang="en-US" sz="1400" dirty="0">
                <a:solidFill>
                  <a:srgbClr val="FF0000"/>
                </a:solidFill>
                <a:latin typeface="Cascadia Mono" panose="020B0609020000020004" pitchFamily="49" charset="0"/>
              </a:rPr>
              <a:t> </a:t>
            </a:r>
            <a:r>
              <a:rPr lang="en-US" sz="1400" dirty="0" err="1">
                <a:solidFill>
                  <a:srgbClr val="FF0000"/>
                </a:solidFill>
                <a:effectLst>
                  <a:outerShdw blurRad="38100" dist="38100" dir="2700000" algn="tl">
                    <a:srgbClr val="000000">
                      <a:alpha val="43137"/>
                    </a:srgbClr>
                  </a:outerShdw>
                </a:effectLst>
                <a:latin typeface="Cascadia Mono" panose="020B0609020000020004" pitchFamily="49" charset="0"/>
              </a:rPr>
              <a:t>BackgroundColor</a:t>
            </a:r>
            <a:r>
              <a:rPr lang="en-US" sz="1400" dirty="0">
                <a:solidFill>
                  <a:srgbClr val="0000FF"/>
                </a:solidFill>
                <a:effectLst>
                  <a:outerShdw blurRad="38100" dist="38100" dir="2700000" algn="tl">
                    <a:srgbClr val="000000">
                      <a:alpha val="43137"/>
                    </a:srgbClr>
                  </a:outerShdw>
                </a:effectLst>
                <a:latin typeface="Cascadia Mono" panose="020B0609020000020004" pitchFamily="49" charset="0"/>
              </a:rPr>
              <a:t>="{</a:t>
            </a:r>
            <a:r>
              <a:rPr lang="en-US" sz="1400" dirty="0" err="1">
                <a:solidFill>
                  <a:srgbClr val="A31515"/>
                </a:solidFill>
                <a:effectLst>
                  <a:outerShdw blurRad="38100" dist="38100" dir="2700000" algn="tl">
                    <a:srgbClr val="000000">
                      <a:alpha val="43137"/>
                    </a:srgbClr>
                  </a:outerShdw>
                </a:effectLst>
                <a:latin typeface="Cascadia Mono" panose="020B0609020000020004" pitchFamily="49" charset="0"/>
              </a:rPr>
              <a:t>TemplateBinding</a:t>
            </a:r>
            <a:r>
              <a:rPr lang="en-US" sz="1400" dirty="0">
                <a:solidFill>
                  <a:srgbClr val="FF0000"/>
                </a:solidFill>
                <a:effectLst>
                  <a:outerShdw blurRad="38100" dist="38100" dir="2700000" algn="tl">
                    <a:srgbClr val="000000">
                      <a:alpha val="43137"/>
                    </a:srgbClr>
                  </a:outerShdw>
                </a:effectLst>
                <a:latin typeface="Cascadia Mono" panose="020B0609020000020004" pitchFamily="49" charset="0"/>
              </a:rPr>
              <a:t> </a:t>
            </a:r>
            <a:r>
              <a:rPr lang="en-US" sz="1400" dirty="0" err="1">
                <a:solidFill>
                  <a:srgbClr val="FF0000"/>
                </a:solidFill>
                <a:effectLst>
                  <a:outerShdw blurRad="38100" dist="38100" dir="2700000" algn="tl">
                    <a:srgbClr val="000000">
                      <a:alpha val="43137"/>
                    </a:srgbClr>
                  </a:outerShdw>
                </a:effectLst>
                <a:latin typeface="Cascadia Mono" panose="020B0609020000020004" pitchFamily="49" charset="0"/>
              </a:rPr>
              <a:t>BackgroundColor</a:t>
            </a:r>
            <a:r>
              <a:rPr lang="en-US" sz="1400" dirty="0">
                <a:solidFill>
                  <a:srgbClr val="0000FF"/>
                </a:solidFill>
                <a:effectLst>
                  <a:outerShdw blurRad="38100" dist="38100" dir="2700000" algn="tl">
                    <a:srgbClr val="000000">
                      <a:alpha val="43137"/>
                    </a:srgbClr>
                  </a:outerShdw>
                </a:effectLst>
                <a:latin typeface="Cascadia Mono" panose="020B0609020000020004" pitchFamily="49" charset="0"/>
              </a:rPr>
              <a:t>}"</a:t>
            </a:r>
          </a:p>
          <a:p>
            <a:r>
              <a:rPr lang="en-US" sz="1400" dirty="0">
                <a:solidFill>
                  <a:srgbClr val="000000"/>
                </a:solidFill>
                <a:latin typeface="Cascadia Mono" panose="020B0609020000020004" pitchFamily="49" charset="0"/>
              </a:rPr>
              <a:t>          </a:t>
            </a:r>
            <a:r>
              <a:rPr lang="en-US" sz="1400" dirty="0">
                <a:solidFill>
                  <a:srgbClr val="FF0000"/>
                </a:solidFill>
                <a:latin typeface="Cascadia Mono" panose="020B0609020000020004" pitchFamily="49" charset="0"/>
              </a:rPr>
              <a:t> </a:t>
            </a:r>
            <a:r>
              <a:rPr lang="en-US" sz="1400" dirty="0" err="1">
                <a:solidFill>
                  <a:srgbClr val="FF0000"/>
                </a:solidFill>
                <a:latin typeface="Cascadia Mono" panose="020B0609020000020004" pitchFamily="49" charset="0"/>
              </a:rPr>
              <a:t>CornerRadius</a:t>
            </a:r>
            <a:r>
              <a:rPr lang="en-US" sz="1400" dirty="0">
                <a:solidFill>
                  <a:srgbClr val="0000FF"/>
                </a:solidFill>
                <a:latin typeface="Cascadia Mono" panose="020B0609020000020004" pitchFamily="49" charset="0"/>
              </a:rPr>
              <a:t>="10"</a:t>
            </a:r>
            <a:r>
              <a:rPr lang="en-US" sz="1400" dirty="0">
                <a:solidFill>
                  <a:srgbClr val="FF0000"/>
                </a:solidFill>
                <a:latin typeface="Cascadia Mono" panose="020B0609020000020004" pitchFamily="49" charset="0"/>
              </a:rPr>
              <a:t> Padding</a:t>
            </a:r>
            <a:r>
              <a:rPr lang="en-US" sz="1400" dirty="0">
                <a:solidFill>
                  <a:srgbClr val="0000FF"/>
                </a:solidFill>
                <a:latin typeface="Cascadia Mono" panose="020B0609020000020004" pitchFamily="49" charset="0"/>
              </a:rPr>
              <a:t>="20"&gt;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err="1">
                <a:solidFill>
                  <a:srgbClr val="A31515"/>
                </a:solidFill>
                <a:latin typeface="Cascadia Mono" panose="020B0609020000020004" pitchFamily="49" charset="0"/>
              </a:rPr>
              <a:t>ContentPresenter</a:t>
            </a:r>
            <a:r>
              <a:rPr lang="en-US"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a:solidFill>
                  <a:srgbClr val="FF0000"/>
                </a:solidFill>
                <a:latin typeface="Cascadia Mono" panose="020B0609020000020004" pitchFamily="49" charset="0"/>
              </a:rPr>
              <a:t> </a:t>
            </a:r>
            <a:r>
              <a:rPr lang="en-US" sz="1400" dirty="0" err="1">
                <a:solidFill>
                  <a:srgbClr val="FF0000"/>
                </a:solidFill>
                <a:latin typeface="Cascadia Mono" panose="020B0609020000020004" pitchFamily="49" charset="0"/>
              </a:rPr>
              <a:t>HorizontalOptions</a:t>
            </a:r>
            <a:r>
              <a:rPr lang="en-US" sz="1400" dirty="0">
                <a:solidFill>
                  <a:srgbClr val="0000FF"/>
                </a:solidFill>
                <a:latin typeface="Cascadia Mono" panose="020B0609020000020004" pitchFamily="49" charset="0"/>
              </a:rPr>
              <a:t>="Center"</a:t>
            </a:r>
          </a:p>
          <a:p>
            <a:r>
              <a:rPr lang="en-US" sz="1400" dirty="0">
                <a:solidFill>
                  <a:srgbClr val="000000"/>
                </a:solidFill>
                <a:latin typeface="Cascadia Mono" panose="020B0609020000020004" pitchFamily="49" charset="0"/>
              </a:rPr>
              <a:t>           </a:t>
            </a:r>
            <a:r>
              <a:rPr lang="en-US" sz="1400" dirty="0">
                <a:solidFill>
                  <a:srgbClr val="FF0000"/>
                </a:solidFill>
                <a:latin typeface="Cascadia Mono" panose="020B0609020000020004" pitchFamily="49" charset="0"/>
              </a:rPr>
              <a:t> </a:t>
            </a:r>
            <a:r>
              <a:rPr lang="en-US" sz="1400" dirty="0" err="1">
                <a:solidFill>
                  <a:srgbClr val="FF0000"/>
                </a:solidFill>
                <a:latin typeface="Cascadia Mono" panose="020B0609020000020004" pitchFamily="49" charset="0"/>
              </a:rPr>
              <a:t>VerticalOptions</a:t>
            </a:r>
            <a:r>
              <a:rPr lang="en-US" sz="1400" dirty="0">
                <a:solidFill>
                  <a:srgbClr val="0000FF"/>
                </a:solidFill>
                <a:latin typeface="Cascadia Mono" panose="020B0609020000020004" pitchFamily="49" charset="0"/>
              </a:rPr>
              <a:t>="Center" /&gt;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Frame</a:t>
            </a:r>
            <a:r>
              <a:rPr lang="en-US" sz="1400" dirty="0">
                <a:solidFill>
                  <a:srgbClr val="0000FF"/>
                </a:solidFill>
                <a:latin typeface="Cascadia Mono" panose="020B0609020000020004" pitchFamily="49" charset="0"/>
              </a:rPr>
              <a:t>&gt;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ControlTemplate</a:t>
            </a:r>
            <a:r>
              <a:rPr lang="en-US" sz="1400" dirty="0">
                <a:solidFill>
                  <a:srgbClr val="0000FF"/>
                </a:solidFill>
                <a:latin typeface="Cascadia Mono" panose="020B0609020000020004" pitchFamily="49" charset="0"/>
              </a:rPr>
              <a:t>&gt;</a:t>
            </a:r>
          </a:p>
          <a:p>
            <a:r>
              <a:rPr lang="en-US" sz="1400" dirty="0">
                <a:solidFill>
                  <a:srgbClr val="0000FF"/>
                </a:solidFill>
                <a:latin typeface="Cascadia Mono" panose="020B0609020000020004" pitchFamily="49" charset="0"/>
              </a:rPr>
              <a:t>&lt;/</a:t>
            </a:r>
            <a:r>
              <a:rPr lang="en-US" sz="1400" dirty="0" err="1">
                <a:solidFill>
                  <a:srgbClr val="A31515"/>
                </a:solidFill>
                <a:latin typeface="Cascadia Mono" panose="020B0609020000020004" pitchFamily="49" charset="0"/>
              </a:rPr>
              <a:t>ContentPage.Resources</a:t>
            </a:r>
            <a:r>
              <a:rPr lang="en-US" sz="1400" dirty="0">
                <a:solidFill>
                  <a:srgbClr val="0000FF"/>
                </a:solidFill>
                <a:latin typeface="Cascadia Mono" panose="020B0609020000020004" pitchFamily="49" charset="0"/>
              </a:rPr>
              <a:t>&gt;</a:t>
            </a:r>
            <a:endParaRPr lang="en-US" sz="1400" dirty="0"/>
          </a:p>
        </p:txBody>
      </p:sp>
      <p:sp>
        <p:nvSpPr>
          <p:cNvPr id="5" name="Rectangle 4"/>
          <p:cNvSpPr/>
          <p:nvPr/>
        </p:nvSpPr>
        <p:spPr>
          <a:xfrm>
            <a:off x="719889" y="3928449"/>
            <a:ext cx="8189496" cy="1600438"/>
          </a:xfrm>
          <a:prstGeom prst="rect">
            <a:avLst/>
          </a:prstGeom>
        </p:spPr>
        <p:txBody>
          <a:bodyPr wrap="square">
            <a:spAutoFit/>
          </a:bodyPr>
          <a:lstStyle/>
          <a:p>
            <a:r>
              <a:rPr lang="en-US" sz="1400" dirty="0">
                <a:solidFill>
                  <a:srgbClr val="008000"/>
                </a:solidFill>
                <a:latin typeface="Cascadia Mono" panose="020B0609020000020004" pitchFamily="49" charset="0"/>
              </a:rPr>
              <a:t>&lt;!-- </a:t>
            </a:r>
            <a:r>
              <a:rPr lang="en-US" sz="1400" dirty="0" err="1">
                <a:solidFill>
                  <a:srgbClr val="008000"/>
                </a:solidFill>
                <a:latin typeface="Cascadia Mono" panose="020B0609020000020004" pitchFamily="49" charset="0"/>
              </a:rPr>
              <a:t>Utilisation</a:t>
            </a:r>
            <a:r>
              <a:rPr lang="en-US" sz="1400" dirty="0">
                <a:solidFill>
                  <a:srgbClr val="008000"/>
                </a:solidFill>
                <a:latin typeface="Cascadia Mono" panose="020B0609020000020004" pitchFamily="49" charset="0"/>
              </a:rPr>
              <a:t> --&gt;</a:t>
            </a:r>
          </a:p>
          <a:p>
            <a:r>
              <a:rPr lang="en-US" sz="1400" dirty="0">
                <a:solidFill>
                  <a:srgbClr val="0000FF"/>
                </a:solidFill>
                <a:latin typeface="Cascadia Mono" panose="020B0609020000020004" pitchFamily="49" charset="0"/>
              </a:rPr>
              <a:t>&lt;</a:t>
            </a:r>
            <a:r>
              <a:rPr lang="en-US" sz="1400" dirty="0" err="1">
                <a:solidFill>
                  <a:srgbClr val="A31515"/>
                </a:solidFill>
                <a:latin typeface="Cascadia Mono" panose="020B0609020000020004" pitchFamily="49" charset="0"/>
              </a:rPr>
              <a:t>ContentView</a:t>
            </a:r>
            <a:r>
              <a:rPr lang="en-US" sz="1400" dirty="0">
                <a:solidFill>
                  <a:srgbClr val="FF0000"/>
                </a:solidFill>
                <a:latin typeface="Cascadia Mono" panose="020B0609020000020004" pitchFamily="49" charset="0"/>
              </a:rPr>
              <a:t> ControlTemplate</a:t>
            </a:r>
            <a:r>
              <a:rPr lang="en-US" sz="1400" dirty="0">
                <a:solidFill>
                  <a:srgbClr val="0000FF"/>
                </a:solidFill>
                <a:latin typeface="Cascadia Mono" panose="020B0609020000020004" pitchFamily="49" charset="0"/>
              </a:rPr>
              <a:t>="{</a:t>
            </a:r>
            <a:r>
              <a:rPr lang="en-US" sz="1400" dirty="0" err="1">
                <a:solidFill>
                  <a:srgbClr val="A31515"/>
                </a:solidFill>
                <a:latin typeface="Cascadia Mono" panose="020B0609020000020004" pitchFamily="49" charset="0"/>
              </a:rPr>
              <a:t>StaticResource</a:t>
            </a:r>
            <a:r>
              <a:rPr lang="en-US" sz="1400" dirty="0">
                <a:solidFill>
                  <a:srgbClr val="FF0000"/>
                </a:solidFill>
                <a:latin typeface="Cascadia Mono" panose="020B0609020000020004" pitchFamily="49" charset="0"/>
              </a:rPr>
              <a:t> </a:t>
            </a:r>
            <a:r>
              <a:rPr lang="en-US" sz="1400" dirty="0" err="1">
                <a:solidFill>
                  <a:srgbClr val="FF0000"/>
                </a:solidFill>
                <a:latin typeface="Cascadia Mono" panose="020B0609020000020004" pitchFamily="49" charset="0"/>
              </a:rPr>
              <a:t>MyTemplate</a:t>
            </a:r>
            <a:r>
              <a:rPr lang="en-US" sz="1400" dirty="0">
                <a:solidFill>
                  <a:srgbClr val="0000FF"/>
                </a:solidFill>
                <a:latin typeface="Cascadia Mono" panose="020B0609020000020004" pitchFamily="49" charset="0"/>
              </a:rPr>
              <a:t>}"</a:t>
            </a:r>
            <a:r>
              <a:rPr lang="en-US"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a:solidFill>
                  <a:srgbClr val="FF0000"/>
                </a:solidFill>
                <a:latin typeface="Cascadia Mono" panose="020B0609020000020004" pitchFamily="49" charset="0"/>
              </a:rPr>
              <a:t> </a:t>
            </a:r>
            <a:r>
              <a:rPr lang="en-US" sz="1400" dirty="0" err="1">
                <a:solidFill>
                  <a:srgbClr val="FF0000"/>
                </a:solidFill>
                <a:latin typeface="Cascadia Mono" panose="020B0609020000020004" pitchFamily="49" charset="0"/>
              </a:rPr>
              <a:t>BackgroundColor</a:t>
            </a:r>
            <a:r>
              <a:rPr lang="en-US" sz="1400" dirty="0">
                <a:solidFill>
                  <a:srgbClr val="0000FF"/>
                </a:solidFill>
                <a:latin typeface="Cascadia Mono" panose="020B0609020000020004" pitchFamily="49" charset="0"/>
              </a:rPr>
              <a:t>="Teal"</a:t>
            </a:r>
            <a:r>
              <a:rPr lang="en-US" sz="1400" dirty="0">
                <a:solidFill>
                  <a:srgbClr val="FF0000"/>
                </a:solidFill>
                <a:latin typeface="Cascadia Mono" panose="020B0609020000020004" pitchFamily="49" charset="0"/>
              </a:rPr>
              <a:t> Margin</a:t>
            </a:r>
            <a:r>
              <a:rPr lang="en-US" sz="1400" dirty="0">
                <a:solidFill>
                  <a:srgbClr val="0000FF"/>
                </a:solidFill>
                <a:latin typeface="Cascadia Mono" panose="020B0609020000020004" pitchFamily="49" charset="0"/>
              </a:rPr>
              <a:t>="20"&gt;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&lt;</a:t>
            </a:r>
            <a:r>
              <a:rPr lang="en-US" sz="1400" dirty="0">
                <a:solidFill>
                  <a:srgbClr val="A31515"/>
                </a:solidFill>
                <a:latin typeface="Cascadia Mono" panose="020B0609020000020004" pitchFamily="49" charset="0"/>
              </a:rPr>
              <a:t>Label</a:t>
            </a:r>
            <a:r>
              <a:rPr lang="en-US" sz="1400" dirty="0">
                <a:solidFill>
                  <a:srgbClr val="FF0000"/>
                </a:solidFill>
                <a:latin typeface="Cascadia Mono" panose="020B0609020000020004" pitchFamily="49" charset="0"/>
              </a:rPr>
              <a:t> Text</a:t>
            </a:r>
            <a:r>
              <a:rPr lang="en-US" sz="1400" dirty="0">
                <a:solidFill>
                  <a:srgbClr val="0000FF"/>
                </a:solidFill>
                <a:latin typeface="Cascadia Mono" panose="020B0609020000020004" pitchFamily="49" charset="0"/>
              </a:rPr>
              <a:t>="Hello Template!"</a:t>
            </a:r>
            <a:r>
              <a:rPr lang="en-US" sz="1400" dirty="0">
                <a:solidFill>
                  <a:srgbClr val="FF0000"/>
                </a:solidFill>
                <a:latin typeface="Cascadia Mono" panose="020B0609020000020004" pitchFamily="49" charset="0"/>
              </a:rPr>
              <a:t> Margin</a:t>
            </a:r>
            <a:r>
              <a:rPr lang="en-US" sz="1400" dirty="0">
                <a:solidFill>
                  <a:srgbClr val="0000FF"/>
                </a:solidFill>
                <a:latin typeface="Cascadia Mono" panose="020B0609020000020004" pitchFamily="49" charset="0"/>
              </a:rPr>
              <a:t>="30"</a:t>
            </a:r>
          </a:p>
          <a:p>
            <a:r>
              <a:rPr lang="en-US" sz="1400" dirty="0">
                <a:solidFill>
                  <a:srgbClr val="000000"/>
                </a:solidFill>
                <a:latin typeface="Cascadia Mono" panose="020B0609020000020004" pitchFamily="49" charset="0"/>
              </a:rPr>
              <a:t>      </a:t>
            </a:r>
            <a:r>
              <a:rPr lang="en-US" sz="1400" dirty="0">
                <a:solidFill>
                  <a:srgbClr val="FF0000"/>
                </a:solidFill>
                <a:latin typeface="Cascadia Mono" panose="020B0609020000020004" pitchFamily="49" charset="0"/>
              </a:rPr>
              <a:t> </a:t>
            </a:r>
            <a:r>
              <a:rPr lang="en-US" sz="1400" dirty="0" err="1">
                <a:solidFill>
                  <a:srgbClr val="FF0000"/>
                </a:solidFill>
                <a:latin typeface="Cascadia Mono" panose="020B0609020000020004" pitchFamily="49" charset="0"/>
              </a:rPr>
              <a:t>FontSize</a:t>
            </a:r>
            <a:r>
              <a:rPr lang="en-US" sz="1400" dirty="0">
                <a:solidFill>
                  <a:srgbClr val="0000FF"/>
                </a:solidFill>
                <a:latin typeface="Cascadia Mono" panose="020B0609020000020004" pitchFamily="49" charset="0"/>
              </a:rPr>
              <a:t>="20"</a:t>
            </a:r>
            <a:r>
              <a:rPr lang="en-US"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a:solidFill>
                  <a:srgbClr val="FF0000"/>
                </a:solidFill>
                <a:latin typeface="Cascadia Mono" panose="020B0609020000020004" pitchFamily="49" charset="0"/>
              </a:rPr>
              <a:t> </a:t>
            </a:r>
            <a:r>
              <a:rPr lang="en-US" sz="1400" dirty="0" err="1">
                <a:solidFill>
                  <a:srgbClr val="FF0000"/>
                </a:solidFill>
                <a:latin typeface="Cascadia Mono" panose="020B0609020000020004" pitchFamily="49" charset="0"/>
              </a:rPr>
              <a:t>TextColor</a:t>
            </a:r>
            <a:r>
              <a:rPr lang="en-US" sz="1400" dirty="0">
                <a:solidFill>
                  <a:srgbClr val="0000FF"/>
                </a:solidFill>
                <a:latin typeface="Cascadia Mono" panose="020B0609020000020004" pitchFamily="49" charset="0"/>
              </a:rPr>
              <a:t>="White"/&gt;</a:t>
            </a:r>
          </a:p>
          <a:p>
            <a:r>
              <a:rPr lang="en-US" sz="1400" dirty="0">
                <a:solidFill>
                  <a:srgbClr val="0000FF"/>
                </a:solidFill>
                <a:latin typeface="Cascadia Mono" panose="020B0609020000020004" pitchFamily="49" charset="0"/>
              </a:rPr>
              <a:t>&lt;/</a:t>
            </a:r>
            <a:r>
              <a:rPr lang="en-US" sz="1400" dirty="0" err="1">
                <a:solidFill>
                  <a:srgbClr val="A31515"/>
                </a:solidFill>
                <a:latin typeface="Cascadia Mono" panose="020B0609020000020004" pitchFamily="49" charset="0"/>
              </a:rPr>
              <a:t>ContentView</a:t>
            </a:r>
            <a:r>
              <a:rPr lang="en-US" sz="1400" dirty="0">
                <a:solidFill>
                  <a:srgbClr val="0000FF"/>
                </a:solidFill>
                <a:latin typeface="Cascadia Mono" panose="020B0609020000020004" pitchFamily="49" charset="0"/>
              </a:rPr>
              <a:t>&gt;</a:t>
            </a:r>
            <a:endParaRPr lang="en-US" sz="1400" dirty="0"/>
          </a:p>
        </p:txBody>
      </p:sp>
    </p:spTree>
    <p:extLst>
      <p:ext uri="{BB962C8B-B14F-4D97-AF65-F5344CB8AC3E}">
        <p14:creationId xmlns:p14="http://schemas.microsoft.com/office/powerpoint/2010/main" val="2298788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9"/>
          <p:cNvSpPr txBox="1"/>
          <p:nvPr/>
        </p:nvSpPr>
        <p:spPr>
          <a:xfrm>
            <a:off x="401511" y="671386"/>
            <a:ext cx="8001825" cy="815608"/>
          </a:xfrm>
          <a:prstGeom prst="rect">
            <a:avLst/>
          </a:prstGeom>
        </p:spPr>
        <p:txBody>
          <a:bodyPr wrap="square" lIns="0" tIns="0" rIns="0" bIns="0">
            <a:spAutoFit/>
          </a:bodyPr>
          <a:lstStyle/>
          <a:p>
            <a:pPr marL="80010" eaLnBrk="1" fontAlgn="auto" hangingPunct="1">
              <a:spcBef>
                <a:spcPts val="0"/>
              </a:spcBef>
              <a:spcAft>
                <a:spcPts val="0"/>
              </a:spcAft>
              <a:tabLst>
                <a:tab pos="5920105" algn="l"/>
              </a:tabLst>
              <a:defRPr/>
            </a:pPr>
            <a:r>
              <a:rPr sz="2250" u="heavy" spc="-70" dirty="0" err="1">
                <a:latin typeface="Segoe UI Symbol"/>
                <a:cs typeface="Segoe UI Symbol"/>
              </a:rPr>
              <a:t>A</a:t>
            </a:r>
            <a:r>
              <a:rPr sz="2250" u="heavy" spc="-30" dirty="0" err="1">
                <a:latin typeface="Segoe UI Symbol"/>
                <a:cs typeface="Segoe UI Symbol"/>
              </a:rPr>
              <a:t>u</a:t>
            </a:r>
            <a:r>
              <a:rPr sz="2250" u="heavy" spc="-45" dirty="0" err="1">
                <a:latin typeface="Segoe UI Symbol"/>
                <a:cs typeface="Segoe UI Symbol"/>
              </a:rPr>
              <a:t>t</a:t>
            </a:r>
            <a:r>
              <a:rPr sz="2250" u="heavy" spc="-114" dirty="0" err="1">
                <a:latin typeface="Segoe UI Symbol"/>
                <a:cs typeface="Segoe UI Symbol"/>
              </a:rPr>
              <a:t>r</a:t>
            </a:r>
            <a:r>
              <a:rPr sz="2250" u="heavy" spc="-30" dirty="0" err="1">
                <a:latin typeface="Segoe UI Symbol"/>
                <a:cs typeface="Segoe UI Symbol"/>
              </a:rPr>
              <a:t>e</a:t>
            </a:r>
            <a:r>
              <a:rPr sz="2250" u="heavy" dirty="0" err="1">
                <a:latin typeface="Segoe UI Symbol"/>
                <a:cs typeface="Segoe UI Symbol"/>
              </a:rPr>
              <a:t>s</a:t>
            </a:r>
            <a:r>
              <a:rPr sz="2250" u="heavy" spc="-185" dirty="0">
                <a:latin typeface="Segoe UI Symbol"/>
                <a:cs typeface="Segoe UI Symbol"/>
              </a:rPr>
              <a:t> </a:t>
            </a:r>
            <a:r>
              <a:rPr sz="2250" u="heavy" spc="-50" dirty="0" smtClean="0">
                <a:latin typeface="Segoe UI Symbol"/>
                <a:cs typeface="Segoe UI Symbol"/>
              </a:rPr>
              <a:t>B</a:t>
            </a:r>
            <a:r>
              <a:rPr sz="2250" u="heavy" spc="-120" dirty="0" smtClean="0">
                <a:latin typeface="Segoe UI Symbol"/>
                <a:cs typeface="Segoe UI Symbol"/>
              </a:rPr>
              <a:t>i</a:t>
            </a:r>
            <a:r>
              <a:rPr sz="2250" u="heavy" spc="-30" dirty="0" smtClean="0">
                <a:latin typeface="Segoe UI Symbol"/>
                <a:cs typeface="Segoe UI Symbol"/>
              </a:rPr>
              <a:t>n</a:t>
            </a:r>
            <a:r>
              <a:rPr sz="2250" u="heavy" spc="-35" dirty="0" smtClean="0">
                <a:latin typeface="Segoe UI Symbol"/>
                <a:cs typeface="Segoe UI Symbol"/>
              </a:rPr>
              <a:t>d</a:t>
            </a:r>
            <a:r>
              <a:rPr sz="2250" u="heavy" spc="-120" dirty="0" smtClean="0">
                <a:latin typeface="Segoe UI Symbol"/>
                <a:cs typeface="Segoe UI Symbol"/>
              </a:rPr>
              <a:t>i</a:t>
            </a:r>
            <a:r>
              <a:rPr sz="2250" u="heavy" spc="-30" dirty="0" smtClean="0">
                <a:latin typeface="Segoe UI Symbol"/>
                <a:cs typeface="Segoe UI Symbol"/>
              </a:rPr>
              <a:t>n</a:t>
            </a:r>
            <a:r>
              <a:rPr sz="2250" u="heavy" dirty="0" smtClean="0">
                <a:latin typeface="Segoe UI Symbol"/>
                <a:cs typeface="Segoe UI Symbol"/>
              </a:rPr>
              <a:t>g</a:t>
            </a:r>
            <a:r>
              <a:rPr lang="fr-FR" sz="2250" u="heavy" dirty="0" smtClean="0">
                <a:latin typeface="Segoe UI Symbol"/>
                <a:cs typeface="Segoe UI Symbol"/>
              </a:rPr>
              <a:t>-Binding statique</a:t>
            </a:r>
            <a:endParaRPr sz="2250" dirty="0">
              <a:latin typeface="Times New Roman"/>
              <a:cs typeface="Times New Roman"/>
            </a:endParaRPr>
          </a:p>
          <a:p>
            <a:pPr marL="280670" indent="-250190" eaLnBrk="1" fontAlgn="auto" hangingPunct="1">
              <a:spcBef>
                <a:spcPts val="1510"/>
              </a:spcBef>
              <a:spcAft>
                <a:spcPts val="0"/>
              </a:spcAft>
              <a:buClr>
                <a:srgbClr val="006498"/>
              </a:buClr>
              <a:buSzPct val="60714"/>
              <a:buFont typeface="Wingdings"/>
              <a:buChar char=""/>
              <a:tabLst>
                <a:tab pos="281305" algn="l"/>
              </a:tabLst>
              <a:defRPr/>
            </a:pPr>
            <a:r>
              <a:rPr spc="-30" dirty="0">
                <a:latin typeface="Segoe UI" panose="020B0502040204020203" pitchFamily="34" charset="0"/>
                <a:cs typeface="Segoe UI" panose="020B0502040204020203" pitchFamily="34" charset="0"/>
              </a:rPr>
              <a:t>S</a:t>
            </a:r>
            <a:r>
              <a:rPr dirty="0">
                <a:latin typeface="Segoe UI" panose="020B0502040204020203" pitchFamily="34" charset="0"/>
                <a:cs typeface="Segoe UI" panose="020B0502040204020203" pitchFamily="34" charset="0"/>
              </a:rPr>
              <a:t>tat</a:t>
            </a:r>
            <a:r>
              <a:rPr spc="-10" dirty="0">
                <a:latin typeface="Segoe UI" panose="020B0502040204020203" pitchFamily="34" charset="0"/>
                <a:cs typeface="Segoe UI" panose="020B0502040204020203" pitchFamily="34" charset="0"/>
              </a:rPr>
              <a:t>ic</a:t>
            </a:r>
            <a:r>
              <a:rPr spc="20" dirty="0">
                <a:latin typeface="Segoe UI" panose="020B0502040204020203" pitchFamily="34" charset="0"/>
                <a:cs typeface="Segoe UI" panose="020B0502040204020203" pitchFamily="34" charset="0"/>
              </a:rPr>
              <a:t> </a:t>
            </a:r>
            <a:r>
              <a:rPr spc="-5" dirty="0">
                <a:latin typeface="Segoe UI" panose="020B0502040204020203" pitchFamily="34" charset="0"/>
                <a:cs typeface="Segoe UI" panose="020B0502040204020203" pitchFamily="34" charset="0"/>
              </a:rPr>
              <a:t>:</a:t>
            </a:r>
            <a:r>
              <a:rPr spc="20"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T</a:t>
            </a:r>
            <a:r>
              <a:rPr lang="fr-FR" spc="30" dirty="0" smtClean="0">
                <a:latin typeface="Segoe UI" panose="020B0502040204020203" pitchFamily="34" charset="0"/>
                <a:cs typeface="Segoe UI" panose="020B0502040204020203" pitchFamily="34" charset="0"/>
              </a:rPr>
              <a:t>r</a:t>
            </a:r>
            <a:r>
              <a:rPr lang="fr-FR" spc="-20" dirty="0" smtClean="0">
                <a:latin typeface="Segoe UI" panose="020B0502040204020203" pitchFamily="34" charset="0"/>
                <a:cs typeface="Segoe UI" panose="020B0502040204020203" pitchFamily="34" charset="0"/>
              </a:rPr>
              <a:t>è</a:t>
            </a:r>
            <a:r>
              <a:rPr lang="fr-FR" spc="-10" dirty="0" smtClean="0">
                <a:latin typeface="Segoe UI" panose="020B0502040204020203" pitchFamily="34" charset="0"/>
                <a:cs typeface="Segoe UI" panose="020B0502040204020203" pitchFamily="34" charset="0"/>
              </a:rPr>
              <a:t>s</a:t>
            </a:r>
            <a:r>
              <a:rPr spc="70" dirty="0" smtClean="0">
                <a:latin typeface="Segoe UI" panose="020B0502040204020203" pitchFamily="34" charset="0"/>
                <a:cs typeface="Segoe UI" panose="020B0502040204020203" pitchFamily="34" charset="0"/>
              </a:rPr>
              <a:t> </a:t>
            </a:r>
            <a:r>
              <a:rPr spc="-30" dirty="0">
                <a:latin typeface="Segoe UI" panose="020B0502040204020203" pitchFamily="34" charset="0"/>
                <a:cs typeface="Segoe UI" panose="020B0502040204020203" pitchFamily="34" charset="0"/>
              </a:rPr>
              <a:t>u</a:t>
            </a:r>
            <a:r>
              <a:rPr dirty="0">
                <a:latin typeface="Segoe UI" panose="020B0502040204020203" pitchFamily="34" charset="0"/>
                <a:cs typeface="Segoe UI" panose="020B0502040204020203" pitchFamily="34" charset="0"/>
              </a:rPr>
              <a:t>t</a:t>
            </a:r>
            <a:r>
              <a:rPr spc="35" dirty="0">
                <a:latin typeface="Segoe UI" panose="020B0502040204020203" pitchFamily="34" charset="0"/>
                <a:cs typeface="Segoe UI" panose="020B0502040204020203" pitchFamily="34" charset="0"/>
              </a:rPr>
              <a:t>i</a:t>
            </a:r>
            <a:r>
              <a:rPr spc="-10" dirty="0">
                <a:latin typeface="Segoe UI" panose="020B0502040204020203" pitchFamily="34" charset="0"/>
                <a:cs typeface="Segoe UI" panose="020B0502040204020203" pitchFamily="34" charset="0"/>
              </a:rPr>
              <a:t>le</a:t>
            </a:r>
            <a:r>
              <a:rPr spc="75" dirty="0">
                <a:latin typeface="Segoe UI" panose="020B0502040204020203" pitchFamily="34" charset="0"/>
                <a:cs typeface="Segoe UI" panose="020B0502040204020203" pitchFamily="34" charset="0"/>
              </a:rPr>
              <a:t> </a:t>
            </a:r>
            <a:r>
              <a:rPr spc="-10" dirty="0">
                <a:latin typeface="Segoe UI" panose="020B0502040204020203" pitchFamily="34" charset="0"/>
                <a:cs typeface="Segoe UI" panose="020B0502040204020203" pitchFamily="34" charset="0"/>
              </a:rPr>
              <a:t>po</a:t>
            </a:r>
            <a:r>
              <a:rPr spc="-35" dirty="0">
                <a:latin typeface="Segoe UI" panose="020B0502040204020203" pitchFamily="34" charset="0"/>
                <a:cs typeface="Segoe UI" panose="020B0502040204020203" pitchFamily="34" charset="0"/>
              </a:rPr>
              <a:t>u</a:t>
            </a:r>
            <a:r>
              <a:rPr spc="-5" dirty="0">
                <a:latin typeface="Segoe UI" panose="020B0502040204020203" pitchFamily="34" charset="0"/>
                <a:cs typeface="Segoe UI" panose="020B0502040204020203" pitchFamily="34" charset="0"/>
              </a:rPr>
              <a:t>r</a:t>
            </a:r>
            <a:r>
              <a:rPr spc="125" dirty="0">
                <a:latin typeface="Segoe UI" panose="020B0502040204020203" pitchFamily="34" charset="0"/>
                <a:cs typeface="Segoe UI" panose="020B0502040204020203" pitchFamily="34" charset="0"/>
              </a:rPr>
              <a:t> </a:t>
            </a:r>
            <a:r>
              <a:rPr spc="-25" dirty="0">
                <a:latin typeface="Segoe UI" panose="020B0502040204020203" pitchFamily="34" charset="0"/>
                <a:cs typeface="Segoe UI" panose="020B0502040204020203" pitchFamily="34" charset="0"/>
              </a:rPr>
              <a:t>s</a:t>
            </a:r>
            <a:r>
              <a:rPr spc="-10" dirty="0">
                <a:latin typeface="Segoe UI" panose="020B0502040204020203" pitchFamily="34" charset="0"/>
                <a:cs typeface="Segoe UI" panose="020B0502040204020203" pitchFamily="34" charset="0"/>
              </a:rPr>
              <a:t>e</a:t>
            </a:r>
            <a:r>
              <a:rPr spc="70" dirty="0">
                <a:latin typeface="Segoe UI" panose="020B0502040204020203" pitchFamily="34" charset="0"/>
                <a:cs typeface="Segoe UI" panose="020B0502040204020203" pitchFamily="34" charset="0"/>
              </a:rPr>
              <a:t> </a:t>
            </a:r>
            <a:r>
              <a:rPr spc="-10" dirty="0">
                <a:latin typeface="Segoe UI" panose="020B0502040204020203" pitchFamily="34" charset="0"/>
                <a:cs typeface="Segoe UI" panose="020B0502040204020203" pitchFamily="34" charset="0"/>
              </a:rPr>
              <a:t>li</a:t>
            </a:r>
            <a:r>
              <a:rPr spc="25" dirty="0">
                <a:latin typeface="Segoe UI" panose="020B0502040204020203" pitchFamily="34" charset="0"/>
                <a:cs typeface="Segoe UI" panose="020B0502040204020203" pitchFamily="34" charset="0"/>
              </a:rPr>
              <a:t>e</a:t>
            </a:r>
            <a:r>
              <a:rPr spc="-5" dirty="0">
                <a:latin typeface="Segoe UI" panose="020B0502040204020203" pitchFamily="34" charset="0"/>
                <a:cs typeface="Segoe UI" panose="020B0502040204020203" pitchFamily="34" charset="0"/>
              </a:rPr>
              <a:t>r</a:t>
            </a:r>
            <a:r>
              <a:rPr spc="80" dirty="0">
                <a:latin typeface="Segoe UI" panose="020B0502040204020203" pitchFamily="34" charset="0"/>
                <a:cs typeface="Segoe UI" panose="020B0502040204020203" pitchFamily="34" charset="0"/>
              </a:rPr>
              <a:t> </a:t>
            </a:r>
            <a:r>
              <a:rPr dirty="0">
                <a:latin typeface="Segoe UI" panose="020B0502040204020203" pitchFamily="34" charset="0"/>
                <a:cs typeface="Segoe UI" panose="020B0502040204020203" pitchFamily="34" charset="0"/>
              </a:rPr>
              <a:t>a</a:t>
            </a:r>
            <a:r>
              <a:rPr spc="-30" dirty="0">
                <a:latin typeface="Segoe UI" panose="020B0502040204020203" pitchFamily="34" charset="0"/>
                <a:cs typeface="Segoe UI" panose="020B0502040204020203" pitchFamily="34" charset="0"/>
              </a:rPr>
              <a:t>u</a:t>
            </a:r>
            <a:r>
              <a:rPr spc="-10" dirty="0">
                <a:latin typeface="Segoe UI" panose="020B0502040204020203" pitchFamily="34" charset="0"/>
                <a:cs typeface="Segoe UI" panose="020B0502040204020203" pitchFamily="34" charset="0"/>
              </a:rPr>
              <a:t>x</a:t>
            </a:r>
            <a:r>
              <a:rPr spc="70" dirty="0">
                <a:latin typeface="Segoe UI" panose="020B0502040204020203" pitchFamily="34" charset="0"/>
                <a:cs typeface="Segoe UI" panose="020B0502040204020203" pitchFamily="34" charset="0"/>
              </a:rPr>
              <a:t> </a:t>
            </a:r>
            <a:r>
              <a:rPr lang="fr-FR" spc="-10" dirty="0" smtClean="0">
                <a:latin typeface="Segoe UI" panose="020B0502040204020203" pitchFamily="34" charset="0"/>
                <a:cs typeface="Segoe UI" panose="020B0502040204020203" pitchFamily="34" charset="0"/>
              </a:rPr>
              <a:t>p</a:t>
            </a:r>
            <a:r>
              <a:rPr lang="fr-FR" spc="-15" dirty="0" smtClean="0">
                <a:latin typeface="Segoe UI" panose="020B0502040204020203" pitchFamily="34" charset="0"/>
                <a:cs typeface="Segoe UI" panose="020B0502040204020203" pitchFamily="34" charset="0"/>
              </a:rPr>
              <a:t>r</a:t>
            </a:r>
            <a:r>
              <a:rPr lang="fr-FR" spc="-10" dirty="0" smtClean="0">
                <a:latin typeface="Segoe UI" panose="020B0502040204020203" pitchFamily="34" charset="0"/>
                <a:cs typeface="Segoe UI" panose="020B0502040204020203" pitchFamily="34" charset="0"/>
              </a:rPr>
              <a:t>o</a:t>
            </a:r>
            <a:r>
              <a:rPr lang="fr-FR" spc="25" dirty="0" smtClean="0">
                <a:latin typeface="Segoe UI" panose="020B0502040204020203" pitchFamily="34" charset="0"/>
                <a:cs typeface="Segoe UI" panose="020B0502040204020203" pitchFamily="34" charset="0"/>
              </a:rPr>
              <a:t>p</a:t>
            </a:r>
            <a:r>
              <a:rPr lang="fr-FR" spc="-10" dirty="0" smtClean="0">
                <a:latin typeface="Segoe UI" panose="020B0502040204020203" pitchFamily="34" charset="0"/>
                <a:cs typeface="Segoe UI" panose="020B0502040204020203" pitchFamily="34" charset="0"/>
              </a:rPr>
              <a:t>ri</a:t>
            </a:r>
            <a:r>
              <a:rPr lang="fr-FR" spc="-20" dirty="0" smtClean="0">
                <a:latin typeface="Segoe UI" panose="020B0502040204020203" pitchFamily="34" charset="0"/>
                <a:cs typeface="Segoe UI" panose="020B0502040204020203" pitchFamily="34" charset="0"/>
              </a:rPr>
              <a:t>é</a:t>
            </a:r>
            <a:r>
              <a:rPr lang="fr-FR" dirty="0" smtClean="0">
                <a:latin typeface="Segoe UI" panose="020B0502040204020203" pitchFamily="34" charset="0"/>
                <a:cs typeface="Segoe UI" panose="020B0502040204020203" pitchFamily="34" charset="0"/>
              </a:rPr>
              <a:t>t</a:t>
            </a:r>
            <a:r>
              <a:rPr lang="fr-FR" spc="-20" dirty="0" smtClean="0">
                <a:latin typeface="Segoe UI" panose="020B0502040204020203" pitchFamily="34" charset="0"/>
                <a:cs typeface="Segoe UI" panose="020B0502040204020203" pitchFamily="34" charset="0"/>
              </a:rPr>
              <a:t>é</a:t>
            </a:r>
            <a:r>
              <a:rPr lang="fr-FR" spc="-10" dirty="0" smtClean="0">
                <a:latin typeface="Segoe UI" panose="020B0502040204020203" pitchFamily="34" charset="0"/>
                <a:cs typeface="Segoe UI" panose="020B0502040204020203" pitchFamily="34" charset="0"/>
              </a:rPr>
              <a:t>s</a:t>
            </a:r>
            <a:r>
              <a:rPr lang="fr-FR" spc="120" dirty="0" smtClean="0">
                <a:latin typeface="Segoe UI" panose="020B0502040204020203" pitchFamily="34" charset="0"/>
                <a:cs typeface="Segoe UI" panose="020B0502040204020203" pitchFamily="34" charset="0"/>
              </a:rPr>
              <a:t> </a:t>
            </a:r>
            <a:r>
              <a:rPr lang="fr-FR" spc="-25" dirty="0" smtClean="0">
                <a:latin typeface="Segoe UI" panose="020B0502040204020203" pitchFamily="34" charset="0"/>
                <a:cs typeface="Segoe UI" panose="020B0502040204020203" pitchFamily="34" charset="0"/>
              </a:rPr>
              <a:t>s</a:t>
            </a:r>
            <a:r>
              <a:rPr lang="fr-FR" dirty="0" smtClean="0">
                <a:latin typeface="Segoe UI" panose="020B0502040204020203" pitchFamily="34" charset="0"/>
                <a:cs typeface="Segoe UI" panose="020B0502040204020203" pitchFamily="34" charset="0"/>
              </a:rPr>
              <a:t>tat</a:t>
            </a:r>
            <a:r>
              <a:rPr lang="fr-FR" spc="-10" dirty="0" smtClean="0">
                <a:latin typeface="Segoe UI" panose="020B0502040204020203" pitchFamily="34" charset="0"/>
                <a:cs typeface="Segoe UI" panose="020B0502040204020203" pitchFamily="34" charset="0"/>
              </a:rPr>
              <a:t>i</a:t>
            </a:r>
            <a:r>
              <a:rPr lang="fr-FR" spc="25" dirty="0" smtClean="0">
                <a:latin typeface="Segoe UI" panose="020B0502040204020203" pitchFamily="34" charset="0"/>
                <a:cs typeface="Segoe UI" panose="020B0502040204020203" pitchFamily="34" charset="0"/>
              </a:rPr>
              <a:t>q</a:t>
            </a:r>
            <a:r>
              <a:rPr lang="fr-FR" spc="-30" dirty="0" smtClean="0">
                <a:latin typeface="Segoe UI" panose="020B0502040204020203" pitchFamily="34" charset="0"/>
                <a:cs typeface="Segoe UI" panose="020B0502040204020203" pitchFamily="34" charset="0"/>
              </a:rPr>
              <a:t>u</a:t>
            </a:r>
            <a:r>
              <a:rPr lang="fr-FR" spc="-20" dirty="0" smtClean="0">
                <a:latin typeface="Segoe UI" panose="020B0502040204020203" pitchFamily="34" charset="0"/>
                <a:cs typeface="Segoe UI" panose="020B0502040204020203" pitchFamily="34" charset="0"/>
              </a:rPr>
              <a:t>e</a:t>
            </a:r>
            <a:r>
              <a:rPr lang="fr-FR" spc="-10" dirty="0" smtClean="0">
                <a:latin typeface="Segoe UI" panose="020B0502040204020203" pitchFamily="34" charset="0"/>
                <a:cs typeface="Segoe UI" panose="020B0502040204020203" pitchFamily="34" charset="0"/>
              </a:rPr>
              <a:t>s</a:t>
            </a:r>
            <a:endParaRPr lang="fr-FR" dirty="0">
              <a:latin typeface="Segoe UI" panose="020B0502040204020203" pitchFamily="34" charset="0"/>
              <a:cs typeface="Segoe UI" panose="020B0502040204020203" pitchFamily="34" charset="0"/>
            </a:endParaRPr>
          </a:p>
        </p:txBody>
      </p:sp>
      <p:sp>
        <p:nvSpPr>
          <p:cNvPr id="6" name="Rectangle 5"/>
          <p:cNvSpPr/>
          <p:nvPr/>
        </p:nvSpPr>
        <p:spPr>
          <a:xfrm>
            <a:off x="504636" y="1689783"/>
            <a:ext cx="6096000" cy="2800767"/>
          </a:xfrm>
          <a:prstGeom prst="rect">
            <a:avLst/>
          </a:prstGeom>
        </p:spPr>
        <p:txBody>
          <a:bodyPr>
            <a:spAutoFit/>
          </a:bodyPr>
          <a:lstStyle/>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public</a:t>
            </a:r>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partial</a:t>
            </a:r>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class</a:t>
            </a:r>
            <a:r>
              <a:rPr lang="fr-FR" sz="1600" dirty="0">
                <a:solidFill>
                  <a:srgbClr val="000000"/>
                </a:solidFill>
                <a:latin typeface="Cascadia Mono" panose="020B0609020000020004" pitchFamily="49" charset="0"/>
              </a:rPr>
              <a:t> </a:t>
            </a:r>
            <a:r>
              <a:rPr lang="fr-FR" sz="1600" dirty="0" err="1">
                <a:solidFill>
                  <a:srgbClr val="2B91AF"/>
                </a:solidFill>
                <a:latin typeface="Cascadia Mono" panose="020B0609020000020004" pitchFamily="49" charset="0"/>
              </a:rPr>
              <a:t>MainPage</a:t>
            </a:r>
            <a:r>
              <a:rPr lang="fr-FR" sz="1600" dirty="0">
                <a:solidFill>
                  <a:srgbClr val="000000"/>
                </a:solidFill>
                <a:latin typeface="Cascadia Mono" panose="020B0609020000020004" pitchFamily="49" charset="0"/>
              </a:rPr>
              <a:t> : </a:t>
            </a:r>
            <a:r>
              <a:rPr lang="fr-FR" sz="1600" dirty="0" err="1">
                <a:solidFill>
                  <a:srgbClr val="000000"/>
                </a:solidFill>
                <a:latin typeface="Cascadia Mono" panose="020B0609020000020004" pitchFamily="49" charset="0"/>
              </a:rPr>
              <a:t>ContentPage</a:t>
            </a:r>
            <a:endParaRPr lang="fr-FR" sz="1600" dirty="0">
              <a:solidFill>
                <a:srgbClr val="000000"/>
              </a:solidFill>
              <a:latin typeface="Cascadia Mono" panose="020B0609020000020004" pitchFamily="49" charset="0"/>
            </a:endParaRPr>
          </a:p>
          <a:p>
            <a:r>
              <a:rPr lang="fr-FR" sz="1600" dirty="0" smtClean="0">
                <a:solidFill>
                  <a:srgbClr val="000000"/>
                </a:solidFill>
                <a:latin typeface="Cascadia Mono" panose="020B0609020000020004" pitchFamily="49" charset="0"/>
              </a:rPr>
              <a:t> {</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public</a:t>
            </a:r>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static</a:t>
            </a:r>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string</a:t>
            </a:r>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ValeurStatique</a:t>
            </a:r>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 </a:t>
            </a:r>
            <a:r>
              <a:rPr lang="fr-FR" sz="1600" dirty="0" err="1">
                <a:solidFill>
                  <a:srgbClr val="0000FF"/>
                </a:solidFill>
                <a:latin typeface="Cascadia Mono" panose="020B0609020000020004" pitchFamily="49" charset="0"/>
              </a:rPr>
              <a:t>get</a:t>
            </a:r>
            <a:r>
              <a:rPr lang="fr-FR" sz="1600" dirty="0">
                <a:solidFill>
                  <a:srgbClr val="000000"/>
                </a:solidFill>
                <a:latin typeface="Cascadia Mono" panose="020B0609020000020004" pitchFamily="49" charset="0"/>
              </a:rPr>
              <a:t> =&gt; </a:t>
            </a:r>
            <a:r>
              <a:rPr lang="fr-FR" sz="1600" dirty="0">
                <a:solidFill>
                  <a:srgbClr val="A31515"/>
                </a:solidFill>
                <a:latin typeface="Cascadia Mono" panose="020B0609020000020004" pitchFamily="49" charset="0"/>
              </a:rPr>
              <a:t>"Ce ci est une valeur statique"</a:t>
            </a:r>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public</a:t>
            </a:r>
            <a:r>
              <a:rPr lang="fr-FR" sz="1600" dirty="0">
                <a:solidFill>
                  <a:srgbClr val="000000"/>
                </a:solidFill>
                <a:latin typeface="Cascadia Mono" panose="020B0609020000020004" pitchFamily="49" charset="0"/>
              </a:rPr>
              <a:t> </a:t>
            </a:r>
            <a:r>
              <a:rPr lang="fr-FR" sz="1600" dirty="0" err="1">
                <a:solidFill>
                  <a:srgbClr val="2B91AF"/>
                </a:solidFill>
                <a:latin typeface="Cascadia Mono" panose="020B0609020000020004" pitchFamily="49" charset="0"/>
              </a:rPr>
              <a:t>MainPage</a:t>
            </a:r>
            <a:r>
              <a:rPr lang="fr-FR" sz="1600" dirty="0">
                <a:solidFill>
                  <a:srgbClr val="000000"/>
                </a:solidFill>
                <a:latin typeface="Cascadia Mono" panose="020B0609020000020004" pitchFamily="49" charset="0"/>
              </a:rPr>
              <a:t>()</a:t>
            </a:r>
          </a:p>
          <a:p>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InitializeComponent</a:t>
            </a:r>
            <a:r>
              <a:rPr lang="fr-FR" sz="1600" dirty="0">
                <a:solidFill>
                  <a:srgbClr val="000000"/>
                </a:solidFill>
                <a:latin typeface="Cascadia Mono" panose="020B0609020000020004" pitchFamily="49" charset="0"/>
              </a:rPr>
              <a:t>();</a:t>
            </a:r>
          </a:p>
          <a:p>
            <a:r>
              <a:rPr lang="fr-FR" sz="1600" dirty="0">
                <a:solidFill>
                  <a:srgbClr val="000000"/>
                </a:solidFill>
                <a:latin typeface="Cascadia Mono" panose="020B0609020000020004" pitchFamily="49" charset="0"/>
              </a:rPr>
              <a:t>        }</a:t>
            </a:r>
          </a:p>
          <a:p>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smtClean="0">
                <a:solidFill>
                  <a:srgbClr val="000000"/>
                </a:solidFill>
                <a:latin typeface="Cascadia Mono" panose="020B0609020000020004" pitchFamily="49" charset="0"/>
              </a:rPr>
              <a:t>}</a:t>
            </a:r>
            <a:endParaRPr lang="fr-FR" sz="1600" dirty="0"/>
          </a:p>
        </p:txBody>
      </p:sp>
      <p:sp>
        <p:nvSpPr>
          <p:cNvPr id="7" name="Rectangle 6"/>
          <p:cNvSpPr/>
          <p:nvPr/>
        </p:nvSpPr>
        <p:spPr>
          <a:xfrm>
            <a:off x="456190" y="4693339"/>
            <a:ext cx="9111703" cy="861774"/>
          </a:xfrm>
          <a:prstGeom prst="rect">
            <a:avLst/>
          </a:prstGeom>
        </p:spPr>
        <p:txBody>
          <a:bodyPr wrap="square">
            <a:spAutoFit/>
          </a:bodyPr>
          <a:lstStyle/>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StackLayout</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a:solidFill>
                  <a:srgbClr val="0000FF"/>
                </a:solidFill>
                <a:latin typeface="Cascadia Mono" panose="020B0609020000020004" pitchFamily="49" charset="0"/>
              </a:rPr>
              <a:t>&lt;</a:t>
            </a:r>
            <a:r>
              <a:rPr lang="fr-FR" sz="1600" dirty="0">
                <a:solidFill>
                  <a:srgbClr val="A31515"/>
                </a:solidFill>
                <a:latin typeface="Cascadia Mono" panose="020B0609020000020004" pitchFamily="49" charset="0"/>
              </a:rPr>
              <a:t>Label</a:t>
            </a:r>
            <a:r>
              <a:rPr lang="fr-FR" sz="1600" dirty="0">
                <a:solidFill>
                  <a:srgbClr val="000000"/>
                </a:solidFill>
                <a:latin typeface="Cascadia Mono" panose="020B0609020000020004" pitchFamily="49" charset="0"/>
              </a:rPr>
              <a:t> </a:t>
            </a:r>
            <a:r>
              <a:rPr lang="fr-FR" sz="1600" dirty="0" smtClean="0">
                <a:solidFill>
                  <a:srgbClr val="FF0000"/>
                </a:solidFill>
                <a:latin typeface="Cascadia Mono" panose="020B0609020000020004" pitchFamily="49" charset="0"/>
              </a:rPr>
              <a:t>Text</a:t>
            </a:r>
            <a:r>
              <a:rPr lang="fr-FR" sz="1600" dirty="0">
                <a:solidFill>
                  <a:srgbClr val="0000FF"/>
                </a:solidFill>
                <a:latin typeface="Cascadia Mono" panose="020B0609020000020004" pitchFamily="49" charset="0"/>
              </a:rPr>
              <a:t>="{</a:t>
            </a:r>
            <a:r>
              <a:rPr lang="fr-FR" b="1" dirty="0" err="1">
                <a:solidFill>
                  <a:srgbClr val="A31515"/>
                </a:solidFill>
                <a:latin typeface="Cascadia Mono" panose="020B0609020000020004" pitchFamily="49" charset="0"/>
              </a:rPr>
              <a:t>x</a:t>
            </a:r>
            <a:r>
              <a:rPr lang="fr-FR" b="1" dirty="0" err="1">
                <a:solidFill>
                  <a:srgbClr val="0000FF"/>
                </a:solidFill>
                <a:latin typeface="Cascadia Mono" panose="020B0609020000020004" pitchFamily="49" charset="0"/>
              </a:rPr>
              <a:t>:</a:t>
            </a:r>
            <a:r>
              <a:rPr lang="fr-FR" b="1" dirty="0" err="1">
                <a:solidFill>
                  <a:srgbClr val="A31515"/>
                </a:solidFill>
                <a:latin typeface="Cascadia Mono" panose="020B0609020000020004" pitchFamily="49" charset="0"/>
              </a:rPr>
              <a:t>Static</a:t>
            </a:r>
            <a:r>
              <a:rPr lang="fr-FR" sz="1600" dirty="0">
                <a:solidFill>
                  <a:srgbClr val="FF0000"/>
                </a:solidFill>
                <a:latin typeface="Cascadia Mono" panose="020B0609020000020004" pitchFamily="49" charset="0"/>
              </a:rPr>
              <a:t> </a:t>
            </a:r>
            <a:r>
              <a:rPr lang="fr-FR" sz="1600" dirty="0" err="1">
                <a:solidFill>
                  <a:srgbClr val="FF0000"/>
                </a:solidFill>
                <a:latin typeface="Cascadia Mono" panose="020B0609020000020004" pitchFamily="49" charset="0"/>
              </a:rPr>
              <a:t>local</a:t>
            </a:r>
            <a:r>
              <a:rPr lang="fr-FR" sz="1600" dirty="0" err="1">
                <a:solidFill>
                  <a:srgbClr val="0000FF"/>
                </a:solidFill>
                <a:latin typeface="Cascadia Mono" panose="020B0609020000020004" pitchFamily="49" charset="0"/>
              </a:rPr>
              <a:t>:</a:t>
            </a:r>
            <a:r>
              <a:rPr lang="fr-FR" sz="1600" dirty="0" err="1">
                <a:solidFill>
                  <a:srgbClr val="FF0000"/>
                </a:solidFill>
                <a:latin typeface="Cascadia Mono" panose="020B0609020000020004" pitchFamily="49" charset="0"/>
              </a:rPr>
              <a:t>MainPage</a:t>
            </a:r>
            <a:r>
              <a:rPr lang="fr-FR" sz="1600" dirty="0" err="1">
                <a:solidFill>
                  <a:srgbClr val="0000FF"/>
                </a:solidFill>
                <a:latin typeface="Cascadia Mono" panose="020B0609020000020004" pitchFamily="49" charset="0"/>
              </a:rPr>
              <a:t>.ValeurStatique</a:t>
            </a:r>
            <a:r>
              <a:rPr lang="fr-FR" sz="1600" dirty="0">
                <a:solidFill>
                  <a:srgbClr val="0000FF"/>
                </a:solidFill>
                <a:latin typeface="Cascadia Mono" panose="020B0609020000020004" pitchFamily="49" charset="0"/>
              </a:rPr>
              <a:t>}"/&gt;</a:t>
            </a:r>
            <a:endParaRPr lang="fr-FR" sz="1600" dirty="0">
              <a:solidFill>
                <a:srgbClr val="000000"/>
              </a:solidFill>
              <a:latin typeface="Cascadia Mono" panose="020B0609020000020004" pitchFamily="49" charset="0"/>
            </a:endParaRPr>
          </a:p>
          <a:p>
            <a:r>
              <a:rPr lang="fr-FR" sz="1600" dirty="0" smtClean="0">
                <a:solidFill>
                  <a:srgbClr val="000000"/>
                </a:solidFill>
                <a:latin typeface="Cascadia Mono" panose="020B0609020000020004" pitchFamily="49" charset="0"/>
              </a:rPr>
              <a:t> </a:t>
            </a:r>
            <a:r>
              <a:rPr lang="fr-FR" sz="1600" dirty="0" smtClean="0">
                <a:solidFill>
                  <a:srgbClr val="0000FF"/>
                </a:solidFill>
                <a:latin typeface="Cascadia Mono" panose="020B0609020000020004" pitchFamily="49" charset="0"/>
              </a:rPr>
              <a:t>&lt;/</a:t>
            </a:r>
            <a:r>
              <a:rPr lang="fr-FR" sz="1600" dirty="0" err="1">
                <a:solidFill>
                  <a:srgbClr val="A31515"/>
                </a:solidFill>
                <a:latin typeface="Cascadia Mono" panose="020B0609020000020004" pitchFamily="49" charset="0"/>
              </a:rPr>
              <a:t>StackLayout</a:t>
            </a:r>
            <a:r>
              <a:rPr lang="fr-FR" sz="1600" dirty="0">
                <a:solidFill>
                  <a:srgbClr val="0000FF"/>
                </a:solidFill>
                <a:latin typeface="Cascadia Mono" panose="020B0609020000020004" pitchFamily="49" charset="0"/>
              </a:rPr>
              <a:t>&gt;</a:t>
            </a:r>
            <a:endParaRPr lang="fr-FR" sz="1600" dirty="0"/>
          </a:p>
        </p:txBody>
      </p:sp>
      <p:cxnSp>
        <p:nvCxnSpPr>
          <p:cNvPr id="10" name="Connecteur droit avec flèche 9"/>
          <p:cNvCxnSpPr/>
          <p:nvPr/>
        </p:nvCxnSpPr>
        <p:spPr>
          <a:xfrm>
            <a:off x="4263163" y="2379862"/>
            <a:ext cx="1870313" cy="258795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13"/>
          <p:cNvCxnSpPr/>
          <p:nvPr/>
        </p:nvCxnSpPr>
        <p:spPr>
          <a:xfrm flipV="1">
            <a:off x="4402423" y="5258310"/>
            <a:ext cx="3462107" cy="630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1658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9"/>
          <p:cNvSpPr txBox="1"/>
          <p:nvPr/>
        </p:nvSpPr>
        <p:spPr>
          <a:xfrm>
            <a:off x="401511" y="366586"/>
            <a:ext cx="8001825" cy="346249"/>
          </a:xfrm>
          <a:prstGeom prst="rect">
            <a:avLst/>
          </a:prstGeom>
        </p:spPr>
        <p:txBody>
          <a:bodyPr wrap="square" lIns="0" tIns="0" rIns="0" bIns="0">
            <a:spAutoFit/>
          </a:bodyPr>
          <a:lstStyle/>
          <a:p>
            <a:pPr marL="80010" eaLnBrk="1" fontAlgn="auto" hangingPunct="1">
              <a:spcBef>
                <a:spcPts val="0"/>
              </a:spcBef>
              <a:spcAft>
                <a:spcPts val="0"/>
              </a:spcAft>
              <a:tabLst>
                <a:tab pos="5920105" algn="l"/>
              </a:tabLst>
              <a:defRPr/>
            </a:pPr>
            <a:r>
              <a:rPr lang="fr-FR" sz="2250" u="heavy" spc="-70" dirty="0" smtClean="0">
                <a:latin typeface="Segoe UI Symbol"/>
                <a:cs typeface="Times New Roman"/>
              </a:rPr>
              <a:t>Les </a:t>
            </a:r>
            <a:r>
              <a:rPr lang="fr-FR" sz="2250" u="heavy" spc="-70" dirty="0" err="1" smtClean="0">
                <a:latin typeface="Segoe UI Symbol"/>
                <a:cs typeface="Times New Roman"/>
              </a:rPr>
              <a:t>BindableProperties</a:t>
            </a:r>
            <a:r>
              <a:rPr lang="fr-FR" sz="2250" u="heavy" spc="-70" dirty="0" smtClean="0">
                <a:latin typeface="Segoe UI Symbol"/>
                <a:cs typeface="Times New Roman"/>
              </a:rPr>
              <a:t> –Les propriétés liables</a:t>
            </a:r>
            <a:endParaRPr sz="2250" dirty="0">
              <a:latin typeface="Times New Roman"/>
              <a:cs typeface="Times New Roman"/>
            </a:endParaRPr>
          </a:p>
        </p:txBody>
      </p:sp>
      <p:sp>
        <p:nvSpPr>
          <p:cNvPr id="4" name="object 20"/>
          <p:cNvSpPr txBox="1">
            <a:spLocks noChangeArrowheads="1"/>
          </p:cNvSpPr>
          <p:nvPr/>
        </p:nvSpPr>
        <p:spPr bwMode="auto">
          <a:xfrm>
            <a:off x="515185" y="938634"/>
            <a:ext cx="1104849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255588" indent="-242888">
              <a:tabLst>
                <a:tab pos="257175" algn="l"/>
              </a:tabLst>
              <a:defRPr>
                <a:solidFill>
                  <a:schemeClr val="tx1"/>
                </a:solidFill>
                <a:latin typeface="Calibri" panose="020F0502020204030204" pitchFamily="34" charset="0"/>
                <a:cs typeface="Arial" panose="020B0604020202020204" pitchFamily="34" charset="0"/>
              </a:defRPr>
            </a:lvl1pPr>
            <a:lvl2pPr marL="742950" indent="-285750">
              <a:tabLst>
                <a:tab pos="257175" algn="l"/>
              </a:tabLst>
              <a:defRPr>
                <a:solidFill>
                  <a:schemeClr val="tx1"/>
                </a:solidFill>
                <a:latin typeface="Calibri" panose="020F0502020204030204" pitchFamily="34" charset="0"/>
                <a:cs typeface="Arial" panose="020B0604020202020204" pitchFamily="34" charset="0"/>
              </a:defRPr>
            </a:lvl2pPr>
            <a:lvl3pPr marL="1143000" indent="-228600">
              <a:tabLst>
                <a:tab pos="257175" algn="l"/>
              </a:tabLst>
              <a:defRPr>
                <a:solidFill>
                  <a:schemeClr val="tx1"/>
                </a:solidFill>
                <a:latin typeface="Calibri" panose="020F0502020204030204" pitchFamily="34" charset="0"/>
                <a:cs typeface="Arial" panose="020B0604020202020204" pitchFamily="34" charset="0"/>
              </a:defRPr>
            </a:lvl3pPr>
            <a:lvl4pPr marL="1600200" indent="-228600">
              <a:tabLst>
                <a:tab pos="257175" algn="l"/>
              </a:tabLst>
              <a:defRPr>
                <a:solidFill>
                  <a:schemeClr val="tx1"/>
                </a:solidFill>
                <a:latin typeface="Calibri" panose="020F0502020204030204" pitchFamily="34" charset="0"/>
                <a:cs typeface="Arial" panose="020B0604020202020204" pitchFamily="34" charset="0"/>
              </a:defRPr>
            </a:lvl4pPr>
            <a:lvl5pPr marL="2057400" indent="-228600">
              <a:tabLst>
                <a:tab pos="257175"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9pPr>
          </a:lstStyle>
          <a:p>
            <a:pPr>
              <a:buClr>
                <a:srgbClr val="006498"/>
              </a:buClr>
              <a:buSzPct val="61000"/>
              <a:buFont typeface="Wingdings" panose="05000000000000000000" pitchFamily="2" charset="2"/>
              <a:buChar char=""/>
            </a:pPr>
            <a:r>
              <a:rPr lang="fr-FR" dirty="0">
                <a:latin typeface="Segoe UI "/>
              </a:rPr>
              <a:t>Dans les applications .NET MAUI, les propriétés doivent être implémentées en tant que propriétés pouvant être </a:t>
            </a:r>
            <a:r>
              <a:rPr lang="fr-FR" dirty="0" smtClean="0">
                <a:latin typeface="Segoe UI "/>
              </a:rPr>
              <a:t>liées </a:t>
            </a:r>
            <a:r>
              <a:rPr lang="fr-FR" u="sng" dirty="0" smtClean="0">
                <a:latin typeface="Segoe UI "/>
              </a:rPr>
              <a:t>en répercutant les changements en temps réel </a:t>
            </a:r>
            <a:r>
              <a:rPr lang="fr-FR" dirty="0" smtClean="0">
                <a:latin typeface="Segoe UI "/>
              </a:rPr>
              <a:t>et de fournir une valeur par défaut</a:t>
            </a:r>
          </a:p>
          <a:p>
            <a:pPr>
              <a:buClr>
                <a:srgbClr val="006498"/>
              </a:buClr>
              <a:buSzPct val="61000"/>
              <a:buFont typeface="Wingdings" panose="05000000000000000000" pitchFamily="2" charset="2"/>
              <a:buChar char=""/>
            </a:pPr>
            <a:endParaRPr lang="fr-FR" altLang="en-US" dirty="0">
              <a:latin typeface="Segoe UI "/>
            </a:endParaRPr>
          </a:p>
          <a:p>
            <a:pPr>
              <a:buClr>
                <a:srgbClr val="006498"/>
              </a:buClr>
              <a:buSzPct val="61000"/>
              <a:buFont typeface="Wingdings" panose="05000000000000000000" pitchFamily="2" charset="2"/>
              <a:buChar char=""/>
            </a:pPr>
            <a:r>
              <a:rPr lang="fr-FR" dirty="0"/>
              <a:t>Pour créer une </a:t>
            </a:r>
            <a:r>
              <a:rPr lang="fr-FR" b="1" dirty="0" err="1"/>
              <a:t>BindableProperty</a:t>
            </a:r>
            <a:r>
              <a:rPr lang="fr-FR" dirty="0"/>
              <a:t> instance, la classe conteneur doit dériver de la </a:t>
            </a:r>
            <a:r>
              <a:rPr lang="fr-FR" dirty="0" smtClean="0"/>
              <a:t>classe </a:t>
            </a:r>
            <a:r>
              <a:rPr lang="fr-FR" b="1" dirty="0" err="1" smtClean="0"/>
              <a:t>BindableObject</a:t>
            </a:r>
            <a:r>
              <a:rPr lang="fr-FR" dirty="0"/>
              <a:t> </a:t>
            </a:r>
            <a:endParaRPr lang="fr-FR" altLang="en-US" dirty="0" smtClean="0">
              <a:latin typeface="Segoe UI "/>
            </a:endParaRPr>
          </a:p>
        </p:txBody>
      </p:sp>
      <p:sp>
        <p:nvSpPr>
          <p:cNvPr id="3" name="Rectangle 2"/>
          <p:cNvSpPr/>
          <p:nvPr/>
        </p:nvSpPr>
        <p:spPr>
          <a:xfrm>
            <a:off x="1513172" y="2922135"/>
            <a:ext cx="8697628" cy="1754326"/>
          </a:xfrm>
          <a:prstGeom prst="rect">
            <a:avLst/>
          </a:prstGeom>
        </p:spPr>
        <p:txBody>
          <a:bodyPr wrap="square">
            <a:spAutoFit/>
          </a:bodyPr>
          <a:lstStyle/>
          <a:p>
            <a:r>
              <a:rPr lang="en-US" dirty="0" smtClean="0">
                <a:solidFill>
                  <a:srgbClr val="0000FF"/>
                </a:solidFill>
                <a:latin typeface="Cascadia Mono" panose="020B0609020000020004" pitchFamily="49" charset="0"/>
              </a:rPr>
              <a:t>public</a:t>
            </a:r>
            <a:r>
              <a:rPr lang="en-US" dirty="0" smtClean="0">
                <a:solidFill>
                  <a:srgbClr val="000000"/>
                </a:solidFill>
                <a:latin typeface="Cascadia Mono" panose="020B0609020000020004" pitchFamily="49" charset="0"/>
              </a:rPr>
              <a:t> </a:t>
            </a:r>
            <a:r>
              <a:rPr lang="en-US" dirty="0">
                <a:solidFill>
                  <a:srgbClr val="0000FF"/>
                </a:solidFill>
                <a:latin typeface="Cascadia Mono" panose="020B0609020000020004" pitchFamily="49" charset="0"/>
              </a:rPr>
              <a:t>static</a:t>
            </a:r>
            <a:r>
              <a:rPr lang="en-US" dirty="0">
                <a:solidFill>
                  <a:srgbClr val="000000"/>
                </a:solidFill>
                <a:latin typeface="Cascadia Mono" panose="020B0609020000020004" pitchFamily="49" charset="0"/>
              </a:rPr>
              <a:t> </a:t>
            </a:r>
            <a:r>
              <a:rPr lang="en-US" dirty="0">
                <a:solidFill>
                  <a:srgbClr val="0000FF"/>
                </a:solidFill>
                <a:latin typeface="Cascadia Mono" panose="020B0609020000020004" pitchFamily="49" charset="0"/>
              </a:rPr>
              <a:t>readonly</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BindableProperty</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VisibilityProperty</a:t>
            </a:r>
            <a:r>
              <a:rPr lang="en-US" dirty="0">
                <a:solidFill>
                  <a:srgbClr val="000000"/>
                </a:solidFill>
                <a:latin typeface="Cascadia Mono" panose="020B0609020000020004" pitchFamily="49" charset="0"/>
              </a:rPr>
              <a:t> =</a:t>
            </a:r>
          </a:p>
          <a:p>
            <a:pPr lvl="2"/>
            <a:r>
              <a:rPr lang="fr-FR" dirty="0" err="1" smtClean="0">
                <a:solidFill>
                  <a:srgbClr val="000000"/>
                </a:solidFill>
                <a:latin typeface="Cascadia Mono" panose="020B0609020000020004" pitchFamily="49" charset="0"/>
              </a:rPr>
              <a:t>BindableProperty.Create</a:t>
            </a:r>
            <a:r>
              <a:rPr lang="fr-FR" dirty="0">
                <a:solidFill>
                  <a:srgbClr val="000000"/>
                </a:solidFill>
                <a:latin typeface="Cascadia Mono" panose="020B0609020000020004" pitchFamily="49" charset="0"/>
              </a:rPr>
              <a:t>(</a:t>
            </a:r>
            <a:r>
              <a:rPr lang="fr-FR" dirty="0">
                <a:solidFill>
                  <a:srgbClr val="A31515"/>
                </a:solidFill>
                <a:latin typeface="Cascadia Mono" panose="020B0609020000020004" pitchFamily="49" charset="0"/>
              </a:rPr>
              <a:t>"</a:t>
            </a:r>
            <a:r>
              <a:rPr lang="fr-FR" dirty="0" err="1">
                <a:solidFill>
                  <a:srgbClr val="A31515"/>
                </a:solidFill>
                <a:latin typeface="Cascadia Mono" panose="020B0609020000020004" pitchFamily="49" charset="0"/>
              </a:rPr>
              <a:t>VisibiliyProperty</a:t>
            </a:r>
            <a:r>
              <a:rPr lang="fr-FR" dirty="0">
                <a:solidFill>
                  <a:srgbClr val="A31515"/>
                </a:solidFill>
                <a:latin typeface="Cascadia Mono" panose="020B0609020000020004" pitchFamily="49" charset="0"/>
              </a:rPr>
              <a:t>"</a:t>
            </a:r>
            <a:r>
              <a:rPr lang="fr-FR" dirty="0">
                <a:solidFill>
                  <a:srgbClr val="000000"/>
                </a:solidFill>
                <a:latin typeface="Cascadia Mono" panose="020B0609020000020004" pitchFamily="49" charset="0"/>
              </a:rPr>
              <a:t>, </a:t>
            </a:r>
            <a:endParaRPr lang="fr-FR" dirty="0" smtClean="0">
              <a:solidFill>
                <a:srgbClr val="000000"/>
              </a:solidFill>
              <a:latin typeface="Cascadia Mono" panose="020B0609020000020004" pitchFamily="49" charset="0"/>
            </a:endParaRPr>
          </a:p>
          <a:p>
            <a:pPr lvl="2"/>
            <a:r>
              <a:rPr lang="fr-FR" dirty="0" err="1" smtClean="0">
                <a:solidFill>
                  <a:srgbClr val="0000FF"/>
                </a:solidFill>
                <a:latin typeface="Cascadia Mono" panose="020B0609020000020004" pitchFamily="49" charset="0"/>
              </a:rPr>
              <a:t>typeof</a:t>
            </a:r>
            <a:r>
              <a:rPr lang="fr-FR" dirty="0" smtClean="0">
                <a:solidFill>
                  <a:srgbClr val="000000"/>
                </a:solidFill>
                <a:latin typeface="Cascadia Mono" panose="020B0609020000020004" pitchFamily="49" charset="0"/>
              </a:rPr>
              <a:t>(</a:t>
            </a:r>
            <a:r>
              <a:rPr lang="fr-FR" dirty="0" err="1" smtClean="0">
                <a:solidFill>
                  <a:srgbClr val="000000"/>
                </a:solidFill>
                <a:latin typeface="Cascadia Mono" panose="020B0609020000020004" pitchFamily="49" charset="0"/>
              </a:rPr>
              <a:t>VisibilityState</a:t>
            </a:r>
            <a:r>
              <a:rPr lang="fr-FR" dirty="0" smtClean="0">
                <a:solidFill>
                  <a:srgbClr val="000000"/>
                </a:solidFill>
                <a:latin typeface="Cascadia Mono" panose="020B0609020000020004" pitchFamily="49" charset="0"/>
              </a:rPr>
              <a:t>),</a:t>
            </a:r>
          </a:p>
          <a:p>
            <a:pPr lvl="2"/>
            <a:r>
              <a:rPr lang="fr-FR" dirty="0" err="1" smtClean="0">
                <a:solidFill>
                  <a:srgbClr val="0000FF"/>
                </a:solidFill>
                <a:latin typeface="Cascadia Mono" panose="020B0609020000020004" pitchFamily="49" charset="0"/>
              </a:rPr>
              <a:t>typeof</a:t>
            </a:r>
            <a:r>
              <a:rPr lang="fr-FR" dirty="0" smtClean="0">
                <a:solidFill>
                  <a:srgbClr val="000000"/>
                </a:solidFill>
                <a:latin typeface="Cascadia Mono" panose="020B0609020000020004" pitchFamily="49" charset="0"/>
              </a:rPr>
              <a:t>(View), </a:t>
            </a:r>
          </a:p>
          <a:p>
            <a:pPr lvl="2"/>
            <a:r>
              <a:rPr lang="fr-FR" dirty="0" err="1" smtClean="0">
                <a:solidFill>
                  <a:srgbClr val="000000"/>
                </a:solidFill>
                <a:latin typeface="Cascadia Mono" panose="020B0609020000020004" pitchFamily="49" charset="0"/>
              </a:rPr>
              <a:t>VisibilityState.Visible</a:t>
            </a:r>
            <a:r>
              <a:rPr lang="fr-FR" dirty="0">
                <a:solidFill>
                  <a:srgbClr val="000000"/>
                </a:solidFill>
                <a:latin typeface="Cascadia Mono" panose="020B0609020000020004" pitchFamily="49" charset="0"/>
              </a:rPr>
              <a:t>, </a:t>
            </a:r>
            <a:endParaRPr lang="fr-FR" dirty="0" smtClean="0">
              <a:solidFill>
                <a:srgbClr val="000000"/>
              </a:solidFill>
              <a:latin typeface="Cascadia Mono" panose="020B0609020000020004" pitchFamily="49" charset="0"/>
            </a:endParaRPr>
          </a:p>
          <a:p>
            <a:r>
              <a:rPr lang="fr-FR" dirty="0" smtClean="0">
                <a:solidFill>
                  <a:srgbClr val="000000"/>
                </a:solidFill>
                <a:latin typeface="Cascadia Mono" panose="020B0609020000020004" pitchFamily="49" charset="0"/>
              </a:rPr>
              <a:t>	</a:t>
            </a:r>
            <a:r>
              <a:rPr lang="fr-FR" dirty="0" err="1" smtClean="0">
                <a:solidFill>
                  <a:srgbClr val="000000"/>
                </a:solidFill>
                <a:latin typeface="Cascadia Mono" panose="020B0609020000020004" pitchFamily="49" charset="0"/>
              </a:rPr>
              <a:t>propertyChanged</a:t>
            </a:r>
            <a:r>
              <a:rPr lang="fr-FR" dirty="0">
                <a:solidFill>
                  <a:srgbClr val="000000"/>
                </a:solidFill>
                <a:latin typeface="Cascadia Mono" panose="020B0609020000020004" pitchFamily="49" charset="0"/>
              </a:rPr>
              <a:t>: </a:t>
            </a:r>
            <a:r>
              <a:rPr lang="fr-FR" dirty="0" err="1">
                <a:solidFill>
                  <a:srgbClr val="000000"/>
                </a:solidFill>
                <a:latin typeface="Cascadia Mono" panose="020B0609020000020004" pitchFamily="49" charset="0"/>
              </a:rPr>
              <a:t>OnVisibilityChanged</a:t>
            </a:r>
            <a:r>
              <a:rPr lang="fr-FR" dirty="0">
                <a:solidFill>
                  <a:srgbClr val="000000"/>
                </a:solidFill>
                <a:latin typeface="Cascadia Mono" panose="020B0609020000020004" pitchFamily="49" charset="0"/>
              </a:rPr>
              <a:t>);</a:t>
            </a:r>
            <a:endParaRPr lang="fr-FR" dirty="0"/>
          </a:p>
        </p:txBody>
      </p:sp>
    </p:spTree>
    <p:extLst>
      <p:ext uri="{BB962C8B-B14F-4D97-AF65-F5344CB8AC3E}">
        <p14:creationId xmlns:p14="http://schemas.microsoft.com/office/powerpoint/2010/main" val="1835041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9"/>
          <p:cNvSpPr txBox="1"/>
          <p:nvPr/>
        </p:nvSpPr>
        <p:spPr>
          <a:xfrm>
            <a:off x="401511" y="671386"/>
            <a:ext cx="8001825" cy="346249"/>
          </a:xfrm>
          <a:prstGeom prst="rect">
            <a:avLst/>
          </a:prstGeom>
        </p:spPr>
        <p:txBody>
          <a:bodyPr wrap="square" lIns="0" tIns="0" rIns="0" bIns="0">
            <a:spAutoFit/>
          </a:bodyPr>
          <a:lstStyle/>
          <a:p>
            <a:pPr marL="80010" eaLnBrk="1" fontAlgn="auto" hangingPunct="1">
              <a:spcBef>
                <a:spcPts val="0"/>
              </a:spcBef>
              <a:spcAft>
                <a:spcPts val="0"/>
              </a:spcAft>
              <a:tabLst>
                <a:tab pos="5920105" algn="l"/>
              </a:tabLst>
              <a:defRPr/>
            </a:pPr>
            <a:r>
              <a:rPr lang="fr-FR" sz="2250" u="heavy" spc="-70" dirty="0" smtClean="0">
                <a:latin typeface="Segoe UI Symbol"/>
                <a:cs typeface="Times New Roman"/>
              </a:rPr>
              <a:t>Les </a:t>
            </a:r>
            <a:r>
              <a:rPr lang="fr-FR" sz="2250" u="heavy" spc="-70" dirty="0" err="1" smtClean="0">
                <a:latin typeface="Segoe UI Symbol"/>
                <a:cs typeface="Times New Roman"/>
              </a:rPr>
              <a:t>BindableProperties</a:t>
            </a:r>
            <a:r>
              <a:rPr lang="fr-FR" sz="2250" u="heavy" spc="-70" dirty="0" smtClean="0">
                <a:latin typeface="Segoe UI Symbol"/>
                <a:cs typeface="Times New Roman"/>
              </a:rPr>
              <a:t> –Les propriétés liables</a:t>
            </a:r>
            <a:endParaRPr sz="2250" dirty="0">
              <a:latin typeface="Times New Roman"/>
              <a:cs typeface="Times New Roman"/>
            </a:endParaRPr>
          </a:p>
        </p:txBody>
      </p:sp>
      <p:sp>
        <p:nvSpPr>
          <p:cNvPr id="4" name="object 20"/>
          <p:cNvSpPr txBox="1">
            <a:spLocks noChangeArrowheads="1"/>
          </p:cNvSpPr>
          <p:nvPr/>
        </p:nvSpPr>
        <p:spPr bwMode="auto">
          <a:xfrm>
            <a:off x="521200" y="1263487"/>
            <a:ext cx="1104849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255588" indent="-242888">
              <a:tabLst>
                <a:tab pos="257175" algn="l"/>
              </a:tabLst>
              <a:defRPr>
                <a:solidFill>
                  <a:schemeClr val="tx1"/>
                </a:solidFill>
                <a:latin typeface="Calibri" panose="020F0502020204030204" pitchFamily="34" charset="0"/>
                <a:cs typeface="Arial" panose="020B0604020202020204" pitchFamily="34" charset="0"/>
              </a:defRPr>
            </a:lvl1pPr>
            <a:lvl2pPr marL="742950" indent="-285750">
              <a:tabLst>
                <a:tab pos="257175" algn="l"/>
              </a:tabLst>
              <a:defRPr>
                <a:solidFill>
                  <a:schemeClr val="tx1"/>
                </a:solidFill>
                <a:latin typeface="Calibri" panose="020F0502020204030204" pitchFamily="34" charset="0"/>
                <a:cs typeface="Arial" panose="020B0604020202020204" pitchFamily="34" charset="0"/>
              </a:defRPr>
            </a:lvl2pPr>
            <a:lvl3pPr marL="1143000" indent="-228600">
              <a:tabLst>
                <a:tab pos="257175" algn="l"/>
              </a:tabLst>
              <a:defRPr>
                <a:solidFill>
                  <a:schemeClr val="tx1"/>
                </a:solidFill>
                <a:latin typeface="Calibri" panose="020F0502020204030204" pitchFamily="34" charset="0"/>
                <a:cs typeface="Arial" panose="020B0604020202020204" pitchFamily="34" charset="0"/>
              </a:defRPr>
            </a:lvl3pPr>
            <a:lvl4pPr marL="1600200" indent="-228600">
              <a:tabLst>
                <a:tab pos="257175" algn="l"/>
              </a:tabLst>
              <a:defRPr>
                <a:solidFill>
                  <a:schemeClr val="tx1"/>
                </a:solidFill>
                <a:latin typeface="Calibri" panose="020F0502020204030204" pitchFamily="34" charset="0"/>
                <a:cs typeface="Arial" panose="020B0604020202020204" pitchFamily="34" charset="0"/>
              </a:defRPr>
            </a:lvl4pPr>
            <a:lvl5pPr marL="2057400" indent="-228600">
              <a:tabLst>
                <a:tab pos="257175"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9pPr>
          </a:lstStyle>
          <a:p>
            <a:pPr>
              <a:buClr>
                <a:srgbClr val="006498"/>
              </a:buClr>
              <a:buSzPct val="61000"/>
              <a:buFont typeface="Wingdings" panose="05000000000000000000" pitchFamily="2" charset="2"/>
              <a:buChar char=""/>
            </a:pPr>
            <a:r>
              <a:rPr lang="fr-FR" altLang="en-US" dirty="0" smtClean="0">
                <a:latin typeface="Segoe UI "/>
              </a:rPr>
              <a:t>On peut définir des accesseurs à la propriété, pour faciliter l’accès aux valeurs au niveau du XAML  </a:t>
            </a:r>
          </a:p>
        </p:txBody>
      </p:sp>
      <p:sp>
        <p:nvSpPr>
          <p:cNvPr id="5" name="Rectangle 4"/>
          <p:cNvSpPr/>
          <p:nvPr/>
        </p:nvSpPr>
        <p:spPr>
          <a:xfrm>
            <a:off x="717550" y="2218138"/>
            <a:ext cx="8763000" cy="2616101"/>
          </a:xfrm>
          <a:prstGeom prst="rect">
            <a:avLst/>
          </a:prstGeom>
        </p:spPr>
        <p:txBody>
          <a:bodyPr wrap="square">
            <a:spAutoFit/>
          </a:bodyPr>
          <a:lstStyle/>
          <a:p>
            <a:r>
              <a:rPr lang="fr-FR" sz="1600" b="1" dirty="0">
                <a:solidFill>
                  <a:srgbClr val="0000FF"/>
                </a:solidFill>
                <a:latin typeface="Cascadia Mono" panose="020B0609020000020004" pitchFamily="49" charset="0"/>
              </a:rPr>
              <a:t>public</a:t>
            </a:r>
            <a:r>
              <a:rPr lang="fr-FR" sz="1600" b="1" dirty="0">
                <a:solidFill>
                  <a:srgbClr val="000000"/>
                </a:solidFill>
                <a:latin typeface="Cascadia Mono" panose="020B0609020000020004" pitchFamily="49" charset="0"/>
              </a:rPr>
              <a:t> </a:t>
            </a:r>
            <a:r>
              <a:rPr lang="fr-FR" sz="1600" b="1" dirty="0" err="1">
                <a:solidFill>
                  <a:srgbClr val="000000"/>
                </a:solidFill>
                <a:latin typeface="Cascadia Mono" panose="020B0609020000020004" pitchFamily="49" charset="0"/>
              </a:rPr>
              <a:t>VisibilityState</a:t>
            </a:r>
            <a:r>
              <a:rPr lang="fr-FR" sz="1600" b="1" dirty="0">
                <a:solidFill>
                  <a:srgbClr val="000000"/>
                </a:solidFill>
                <a:latin typeface="Cascadia Mono" panose="020B0609020000020004" pitchFamily="49" charset="0"/>
              </a:rPr>
              <a:t> </a:t>
            </a:r>
            <a:r>
              <a:rPr lang="fr-FR" sz="1600" b="1" dirty="0" err="1">
                <a:solidFill>
                  <a:srgbClr val="000000"/>
                </a:solidFill>
                <a:latin typeface="Cascadia Mono" panose="020B0609020000020004" pitchFamily="49" charset="0"/>
              </a:rPr>
              <a:t>Visibility</a:t>
            </a:r>
            <a:endParaRPr lang="fr-FR" sz="1600" b="1" dirty="0">
              <a:solidFill>
                <a:srgbClr val="000000"/>
              </a:solidFill>
              <a:latin typeface="Cascadia Mono" panose="020B0609020000020004" pitchFamily="49" charset="0"/>
            </a:endParaRPr>
          </a:p>
          <a:p>
            <a:r>
              <a:rPr lang="fr-FR" sz="1600" b="1" dirty="0" smtClean="0">
                <a:solidFill>
                  <a:srgbClr val="000000"/>
                </a:solidFill>
                <a:latin typeface="Cascadia Mono" panose="020B0609020000020004" pitchFamily="49" charset="0"/>
              </a:rPr>
              <a:t>{</a:t>
            </a:r>
            <a:endParaRPr lang="fr-FR" sz="1600" b="1" dirty="0">
              <a:solidFill>
                <a:srgbClr val="000000"/>
              </a:solidFill>
              <a:latin typeface="Cascadia Mono" panose="020B0609020000020004" pitchFamily="49" charset="0"/>
            </a:endParaRPr>
          </a:p>
          <a:p>
            <a:r>
              <a:rPr lang="fr-FR" sz="1600" b="1" dirty="0" smtClean="0">
                <a:solidFill>
                  <a:srgbClr val="0000FF"/>
                </a:solidFill>
                <a:latin typeface="Cascadia Mono" panose="020B0609020000020004" pitchFamily="49" charset="0"/>
              </a:rPr>
              <a:t>	</a:t>
            </a:r>
            <a:r>
              <a:rPr lang="fr-FR" sz="1600" b="1" dirty="0" err="1" smtClean="0">
                <a:solidFill>
                  <a:srgbClr val="0000FF"/>
                </a:solidFill>
                <a:latin typeface="Cascadia Mono" panose="020B0609020000020004" pitchFamily="49" charset="0"/>
              </a:rPr>
              <a:t>get</a:t>
            </a:r>
            <a:r>
              <a:rPr lang="fr-FR" sz="1600" b="1" dirty="0" smtClean="0">
                <a:solidFill>
                  <a:srgbClr val="000000"/>
                </a:solidFill>
                <a:latin typeface="Cascadia Mono" panose="020B0609020000020004" pitchFamily="49" charset="0"/>
              </a:rPr>
              <a:t> </a:t>
            </a:r>
            <a:r>
              <a:rPr lang="fr-FR" sz="1600" b="1" dirty="0">
                <a:solidFill>
                  <a:srgbClr val="000000"/>
                </a:solidFill>
                <a:latin typeface="Cascadia Mono" panose="020B0609020000020004" pitchFamily="49" charset="0"/>
              </a:rPr>
              <a:t>{ </a:t>
            </a:r>
            <a:r>
              <a:rPr lang="fr-FR" sz="1600" b="1" dirty="0">
                <a:solidFill>
                  <a:srgbClr val="0000FF"/>
                </a:solidFill>
                <a:latin typeface="Cascadia Mono" panose="020B0609020000020004" pitchFamily="49" charset="0"/>
              </a:rPr>
              <a:t>return</a:t>
            </a:r>
            <a:r>
              <a:rPr lang="fr-FR" sz="1600" b="1" dirty="0">
                <a:solidFill>
                  <a:srgbClr val="000000"/>
                </a:solidFill>
                <a:latin typeface="Cascadia Mono" panose="020B0609020000020004" pitchFamily="49" charset="0"/>
              </a:rPr>
              <a:t> (</a:t>
            </a:r>
            <a:r>
              <a:rPr lang="fr-FR" sz="1600" b="1" dirty="0" err="1">
                <a:solidFill>
                  <a:srgbClr val="000000"/>
                </a:solidFill>
                <a:latin typeface="Cascadia Mono" panose="020B0609020000020004" pitchFamily="49" charset="0"/>
              </a:rPr>
              <a:t>VisibilityState</a:t>
            </a:r>
            <a:r>
              <a:rPr lang="fr-FR" sz="1600" b="1" dirty="0">
                <a:solidFill>
                  <a:srgbClr val="000000"/>
                </a:solidFill>
                <a:latin typeface="Cascadia Mono" panose="020B0609020000020004" pitchFamily="49" charset="0"/>
              </a:rPr>
              <a:t>)</a:t>
            </a:r>
            <a:r>
              <a:rPr lang="fr-FR" sz="1600" b="1" dirty="0" err="1">
                <a:solidFill>
                  <a:srgbClr val="000000"/>
                </a:solidFill>
                <a:latin typeface="Cascadia Mono" panose="020B0609020000020004" pitchFamily="49" charset="0"/>
              </a:rPr>
              <a:t>GetValue</a:t>
            </a:r>
            <a:r>
              <a:rPr lang="fr-FR" sz="1600" b="1" dirty="0">
                <a:solidFill>
                  <a:srgbClr val="000000"/>
                </a:solidFill>
                <a:latin typeface="Cascadia Mono" panose="020B0609020000020004" pitchFamily="49" charset="0"/>
              </a:rPr>
              <a:t>(</a:t>
            </a:r>
            <a:r>
              <a:rPr lang="fr-FR" sz="1600" b="1" dirty="0" err="1">
                <a:solidFill>
                  <a:srgbClr val="000000"/>
                </a:solidFill>
                <a:latin typeface="Cascadia Mono" panose="020B0609020000020004" pitchFamily="49" charset="0"/>
              </a:rPr>
              <a:t>VisibilityProperty</a:t>
            </a:r>
            <a:r>
              <a:rPr lang="fr-FR" sz="1600" b="1" dirty="0">
                <a:solidFill>
                  <a:srgbClr val="000000"/>
                </a:solidFill>
                <a:latin typeface="Cascadia Mono" panose="020B0609020000020004" pitchFamily="49" charset="0"/>
              </a:rPr>
              <a:t>); }</a:t>
            </a:r>
          </a:p>
          <a:p>
            <a:r>
              <a:rPr lang="fr-FR" sz="1600" b="1" dirty="0" smtClean="0">
                <a:solidFill>
                  <a:srgbClr val="0000FF"/>
                </a:solidFill>
                <a:latin typeface="Cascadia Mono" panose="020B0609020000020004" pitchFamily="49" charset="0"/>
              </a:rPr>
              <a:t>	set</a:t>
            </a:r>
            <a:r>
              <a:rPr lang="fr-FR" sz="1600" b="1" dirty="0" smtClean="0">
                <a:solidFill>
                  <a:srgbClr val="000000"/>
                </a:solidFill>
                <a:latin typeface="Cascadia Mono" panose="020B0609020000020004" pitchFamily="49" charset="0"/>
              </a:rPr>
              <a:t> </a:t>
            </a:r>
            <a:r>
              <a:rPr lang="fr-FR" sz="1600" b="1" dirty="0">
                <a:solidFill>
                  <a:srgbClr val="000000"/>
                </a:solidFill>
                <a:latin typeface="Cascadia Mono" panose="020B0609020000020004" pitchFamily="49" charset="0"/>
              </a:rPr>
              <a:t>{ </a:t>
            </a:r>
            <a:r>
              <a:rPr lang="fr-FR" sz="1600" b="1" dirty="0" err="1">
                <a:solidFill>
                  <a:srgbClr val="000000"/>
                </a:solidFill>
                <a:latin typeface="Cascadia Mono" panose="020B0609020000020004" pitchFamily="49" charset="0"/>
              </a:rPr>
              <a:t>SetValue</a:t>
            </a:r>
            <a:r>
              <a:rPr lang="fr-FR" sz="1600" b="1" dirty="0">
                <a:solidFill>
                  <a:srgbClr val="000000"/>
                </a:solidFill>
                <a:latin typeface="Cascadia Mono" panose="020B0609020000020004" pitchFamily="49" charset="0"/>
              </a:rPr>
              <a:t>(</a:t>
            </a:r>
            <a:r>
              <a:rPr lang="fr-FR" sz="1600" b="1" dirty="0" err="1">
                <a:solidFill>
                  <a:srgbClr val="000000"/>
                </a:solidFill>
                <a:latin typeface="Cascadia Mono" panose="020B0609020000020004" pitchFamily="49" charset="0"/>
              </a:rPr>
              <a:t>VisibilityProperty</a:t>
            </a:r>
            <a:r>
              <a:rPr lang="fr-FR" sz="1600" b="1" dirty="0">
                <a:solidFill>
                  <a:srgbClr val="000000"/>
                </a:solidFill>
                <a:latin typeface="Cascadia Mono" panose="020B0609020000020004" pitchFamily="49" charset="0"/>
              </a:rPr>
              <a:t>, value); }</a:t>
            </a:r>
          </a:p>
          <a:p>
            <a:r>
              <a:rPr lang="fr-FR" sz="1600" b="1" dirty="0" smtClean="0">
                <a:solidFill>
                  <a:srgbClr val="000000"/>
                </a:solidFill>
                <a:latin typeface="Cascadia Mono" panose="020B0609020000020004" pitchFamily="49" charset="0"/>
              </a:rPr>
              <a:t>}</a:t>
            </a:r>
            <a:endParaRPr lang="fr-FR" sz="1600" b="1" dirty="0">
              <a:solidFill>
                <a:srgbClr val="000000"/>
              </a:solidFill>
              <a:latin typeface="Cascadia Mono" panose="020B0609020000020004" pitchFamily="49" charset="0"/>
            </a:endParaRPr>
          </a:p>
          <a:p>
            <a:endParaRPr lang="fr-FR" sz="1400" dirty="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p>
          <a:p>
            <a:r>
              <a:rPr lang="en-US" sz="1400" dirty="0" smtClean="0">
                <a:solidFill>
                  <a:srgbClr val="0000FF"/>
                </a:solidFill>
                <a:latin typeface="Cascadia Mono" panose="020B0609020000020004" pitchFamily="49" charset="0"/>
              </a:rPr>
              <a:t>public</a:t>
            </a:r>
            <a:r>
              <a:rPr lang="en-US" sz="1400" dirty="0" smtClean="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static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readonly</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BindableProperty</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VisibilityProperty</a:t>
            </a:r>
            <a:r>
              <a:rPr lang="en-US" sz="1400" dirty="0">
                <a:solidFill>
                  <a:srgbClr val="000000"/>
                </a:solidFill>
                <a:latin typeface="Cascadia Mono" panose="020B0609020000020004" pitchFamily="49" charset="0"/>
              </a:rPr>
              <a:t> =</a:t>
            </a:r>
          </a:p>
          <a:p>
            <a:r>
              <a:rPr lang="fr-FR" sz="1400" dirty="0">
                <a:solidFill>
                  <a:srgbClr val="000000"/>
                </a:solidFill>
                <a:latin typeface="Cascadia Mono" panose="020B0609020000020004" pitchFamily="49" charset="0"/>
              </a:rPr>
              <a:t>       </a:t>
            </a:r>
            <a:r>
              <a:rPr lang="fr-FR" sz="1400" dirty="0" err="1" smtClean="0">
                <a:solidFill>
                  <a:srgbClr val="000000"/>
                </a:solidFill>
                <a:latin typeface="Cascadia Mono" panose="020B0609020000020004" pitchFamily="49" charset="0"/>
              </a:rPr>
              <a:t>BindableProperty.Create</a:t>
            </a:r>
            <a:r>
              <a:rPr lang="fr-FR" sz="1400" dirty="0">
                <a:solidFill>
                  <a:srgbClr val="000000"/>
                </a:solidFill>
                <a:latin typeface="Cascadia Mono" panose="020B0609020000020004" pitchFamily="49" charset="0"/>
              </a:rPr>
              <a:t>(</a:t>
            </a:r>
            <a:r>
              <a:rPr lang="fr-FR" sz="1400" dirty="0">
                <a:solidFill>
                  <a:srgbClr val="A31515"/>
                </a:solidFill>
                <a:latin typeface="Cascadia Mono" panose="020B0609020000020004" pitchFamily="49" charset="0"/>
              </a:rPr>
              <a:t>"</a:t>
            </a:r>
            <a:r>
              <a:rPr lang="fr-FR" sz="1400" dirty="0" err="1">
                <a:solidFill>
                  <a:srgbClr val="A31515"/>
                </a:solidFill>
                <a:latin typeface="Cascadia Mono" panose="020B0609020000020004" pitchFamily="49" charset="0"/>
              </a:rPr>
              <a:t>VisibiliyProperty</a:t>
            </a:r>
            <a:r>
              <a:rPr lang="fr-FR" sz="1400" dirty="0">
                <a:solidFill>
                  <a:srgbClr val="A31515"/>
                </a:solidFill>
                <a:latin typeface="Cascadia Mono" panose="020B0609020000020004" pitchFamily="49" charset="0"/>
              </a:rPr>
              <a:t>"</a:t>
            </a:r>
            <a:r>
              <a:rPr lang="fr-FR" sz="1400" dirty="0">
                <a:solidFill>
                  <a:srgbClr val="000000"/>
                </a:solidFill>
                <a:latin typeface="Cascadia Mono" panose="020B0609020000020004" pitchFamily="49" charset="0"/>
              </a:rPr>
              <a:t>, </a:t>
            </a:r>
            <a:r>
              <a:rPr lang="fr-FR" sz="1400" dirty="0" err="1">
                <a:solidFill>
                  <a:srgbClr val="0000FF"/>
                </a:solidFill>
                <a:latin typeface="Cascadia Mono" panose="020B0609020000020004" pitchFamily="49" charset="0"/>
              </a:rPr>
              <a:t>typeof</a:t>
            </a:r>
            <a:r>
              <a:rPr lang="fr-FR" sz="1400" dirty="0">
                <a:solidFill>
                  <a:srgbClr val="000000"/>
                </a:solidFill>
                <a:latin typeface="Cascadia Mono" panose="020B0609020000020004" pitchFamily="49" charset="0"/>
              </a:rPr>
              <a:t>(</a:t>
            </a:r>
            <a:r>
              <a:rPr lang="fr-FR" sz="1400" dirty="0" err="1">
                <a:solidFill>
                  <a:srgbClr val="000000"/>
                </a:solidFill>
                <a:latin typeface="Cascadia Mono" panose="020B0609020000020004" pitchFamily="49" charset="0"/>
              </a:rPr>
              <a:t>VisibilityState</a:t>
            </a:r>
            <a:r>
              <a:rPr lang="fr-FR" sz="1400" dirty="0" smtClean="0">
                <a:solidFill>
                  <a:srgbClr val="000000"/>
                </a:solidFill>
                <a:latin typeface="Cascadia Mono" panose="020B0609020000020004" pitchFamily="49" charset="0"/>
              </a:rPr>
              <a:t>),</a:t>
            </a:r>
          </a:p>
          <a:p>
            <a:r>
              <a:rPr lang="fr-FR" sz="1400" dirty="0" smtClean="0">
                <a:solidFill>
                  <a:srgbClr val="0000FF"/>
                </a:solidFill>
                <a:latin typeface="Cascadia Mono" panose="020B0609020000020004" pitchFamily="49" charset="0"/>
              </a:rPr>
              <a:t>		</a:t>
            </a:r>
            <a:r>
              <a:rPr lang="fr-FR" sz="1400" dirty="0" err="1" smtClean="0">
                <a:solidFill>
                  <a:srgbClr val="0000FF"/>
                </a:solidFill>
                <a:latin typeface="Cascadia Mono" panose="020B0609020000020004" pitchFamily="49" charset="0"/>
              </a:rPr>
              <a:t>typeof</a:t>
            </a:r>
            <a:r>
              <a:rPr lang="fr-FR" sz="1400" dirty="0" smtClean="0">
                <a:solidFill>
                  <a:srgbClr val="000000"/>
                </a:solidFill>
                <a:latin typeface="Cascadia Mono" panose="020B0609020000020004" pitchFamily="49" charset="0"/>
              </a:rPr>
              <a:t>(Label), </a:t>
            </a:r>
            <a:r>
              <a:rPr lang="fr-FR" sz="1400" dirty="0" err="1">
                <a:solidFill>
                  <a:srgbClr val="000000"/>
                </a:solidFill>
                <a:latin typeface="Cascadia Mono" panose="020B0609020000020004" pitchFamily="49" charset="0"/>
              </a:rPr>
              <a:t>VisibilityState.Visible</a:t>
            </a:r>
            <a:r>
              <a:rPr lang="fr-FR" sz="1400" dirty="0">
                <a:solidFill>
                  <a:srgbClr val="000000"/>
                </a:solidFill>
                <a:latin typeface="Cascadia Mono" panose="020B0609020000020004" pitchFamily="49" charset="0"/>
              </a:rPr>
              <a:t>, </a:t>
            </a:r>
            <a:endParaRPr lang="fr-FR" sz="1400" dirty="0" smtClean="0">
              <a:solidFill>
                <a:srgbClr val="000000"/>
              </a:solidFill>
              <a:latin typeface="Cascadia Mono" panose="020B0609020000020004" pitchFamily="49" charset="0"/>
            </a:endParaRPr>
          </a:p>
          <a:p>
            <a:r>
              <a:rPr lang="fr-FR" sz="1400" dirty="0">
                <a:solidFill>
                  <a:srgbClr val="000000"/>
                </a:solidFill>
                <a:latin typeface="Cascadia Mono" panose="020B0609020000020004" pitchFamily="49" charset="0"/>
              </a:rPr>
              <a:t>	</a:t>
            </a:r>
            <a:r>
              <a:rPr lang="fr-FR" sz="1400" dirty="0" smtClean="0">
                <a:solidFill>
                  <a:srgbClr val="000000"/>
                </a:solidFill>
                <a:latin typeface="Cascadia Mono" panose="020B0609020000020004" pitchFamily="49" charset="0"/>
              </a:rPr>
              <a:t>	</a:t>
            </a:r>
            <a:r>
              <a:rPr lang="fr-FR" sz="1400" dirty="0" err="1" smtClean="0">
                <a:solidFill>
                  <a:srgbClr val="000000"/>
                </a:solidFill>
                <a:latin typeface="Cascadia Mono" panose="020B0609020000020004" pitchFamily="49" charset="0"/>
              </a:rPr>
              <a:t>propertyChanged</a:t>
            </a:r>
            <a:r>
              <a:rPr lang="fr-FR" sz="1400" dirty="0">
                <a:solidFill>
                  <a:srgbClr val="000000"/>
                </a:solidFill>
                <a:latin typeface="Cascadia Mono" panose="020B0609020000020004" pitchFamily="49" charset="0"/>
              </a:rPr>
              <a:t>: </a:t>
            </a:r>
            <a:r>
              <a:rPr lang="fr-FR" sz="1400" dirty="0" err="1">
                <a:solidFill>
                  <a:srgbClr val="000000"/>
                </a:solidFill>
                <a:latin typeface="Cascadia Mono" panose="020B0609020000020004" pitchFamily="49" charset="0"/>
              </a:rPr>
              <a:t>OnVisibilityChanged</a:t>
            </a:r>
            <a:r>
              <a:rPr lang="fr-FR" sz="1400" dirty="0">
                <a:solidFill>
                  <a:srgbClr val="000000"/>
                </a:solidFill>
                <a:latin typeface="Cascadia Mono" panose="020B0609020000020004" pitchFamily="49" charset="0"/>
              </a:rPr>
              <a:t>);</a:t>
            </a:r>
            <a:endParaRPr lang="fr-FR" sz="1400" dirty="0"/>
          </a:p>
        </p:txBody>
      </p:sp>
    </p:spTree>
    <p:extLst>
      <p:ext uri="{BB962C8B-B14F-4D97-AF65-F5344CB8AC3E}">
        <p14:creationId xmlns:p14="http://schemas.microsoft.com/office/powerpoint/2010/main" val="3936782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9"/>
          <p:cNvSpPr txBox="1"/>
          <p:nvPr/>
        </p:nvSpPr>
        <p:spPr>
          <a:xfrm>
            <a:off x="401511" y="671386"/>
            <a:ext cx="8001825" cy="346249"/>
          </a:xfrm>
          <a:prstGeom prst="rect">
            <a:avLst/>
          </a:prstGeom>
        </p:spPr>
        <p:txBody>
          <a:bodyPr wrap="square" lIns="0" tIns="0" rIns="0" bIns="0">
            <a:spAutoFit/>
          </a:bodyPr>
          <a:lstStyle/>
          <a:p>
            <a:pPr marL="80010" eaLnBrk="1" fontAlgn="auto" hangingPunct="1">
              <a:spcBef>
                <a:spcPts val="0"/>
              </a:spcBef>
              <a:spcAft>
                <a:spcPts val="0"/>
              </a:spcAft>
              <a:tabLst>
                <a:tab pos="5920105" algn="l"/>
              </a:tabLst>
              <a:defRPr/>
            </a:pPr>
            <a:r>
              <a:rPr lang="fr-FR" sz="2250" u="heavy" spc="-70" dirty="0" smtClean="0">
                <a:latin typeface="Segoe UI Symbol"/>
                <a:cs typeface="Times New Roman"/>
              </a:rPr>
              <a:t>Les </a:t>
            </a:r>
            <a:r>
              <a:rPr lang="fr-FR" sz="2250" u="heavy" spc="-70" dirty="0" err="1" smtClean="0">
                <a:latin typeface="Segoe UI Symbol"/>
                <a:cs typeface="Times New Roman"/>
              </a:rPr>
              <a:t>BindableProperties</a:t>
            </a:r>
            <a:r>
              <a:rPr lang="fr-FR" sz="2250" u="heavy" spc="-70" dirty="0" smtClean="0">
                <a:latin typeface="Segoe UI Symbol"/>
                <a:cs typeface="Times New Roman"/>
              </a:rPr>
              <a:t> –Les propriétés liables</a:t>
            </a:r>
            <a:endParaRPr sz="2250" dirty="0">
              <a:latin typeface="Times New Roman"/>
              <a:cs typeface="Times New Roman"/>
            </a:endParaRPr>
          </a:p>
        </p:txBody>
      </p:sp>
      <p:sp>
        <p:nvSpPr>
          <p:cNvPr id="4" name="object 20"/>
          <p:cNvSpPr txBox="1">
            <a:spLocks noChangeArrowheads="1"/>
          </p:cNvSpPr>
          <p:nvPr/>
        </p:nvSpPr>
        <p:spPr bwMode="auto">
          <a:xfrm>
            <a:off x="521200" y="1263487"/>
            <a:ext cx="11048499"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255588" indent="-242888">
              <a:tabLst>
                <a:tab pos="257175" algn="l"/>
              </a:tabLst>
              <a:defRPr>
                <a:solidFill>
                  <a:schemeClr val="tx1"/>
                </a:solidFill>
                <a:latin typeface="Calibri" panose="020F0502020204030204" pitchFamily="34" charset="0"/>
                <a:cs typeface="Arial" panose="020B0604020202020204" pitchFamily="34" charset="0"/>
              </a:defRPr>
            </a:lvl1pPr>
            <a:lvl2pPr marL="742950" indent="-285750">
              <a:tabLst>
                <a:tab pos="257175" algn="l"/>
              </a:tabLst>
              <a:defRPr>
                <a:solidFill>
                  <a:schemeClr val="tx1"/>
                </a:solidFill>
                <a:latin typeface="Calibri" panose="020F0502020204030204" pitchFamily="34" charset="0"/>
                <a:cs typeface="Arial" panose="020B0604020202020204" pitchFamily="34" charset="0"/>
              </a:defRPr>
            </a:lvl2pPr>
            <a:lvl3pPr marL="1143000" indent="-228600">
              <a:tabLst>
                <a:tab pos="257175" algn="l"/>
              </a:tabLst>
              <a:defRPr>
                <a:solidFill>
                  <a:schemeClr val="tx1"/>
                </a:solidFill>
                <a:latin typeface="Calibri" panose="020F0502020204030204" pitchFamily="34" charset="0"/>
                <a:cs typeface="Arial" panose="020B0604020202020204" pitchFamily="34" charset="0"/>
              </a:defRPr>
            </a:lvl3pPr>
            <a:lvl4pPr marL="1600200" indent="-228600">
              <a:tabLst>
                <a:tab pos="257175" algn="l"/>
              </a:tabLst>
              <a:defRPr>
                <a:solidFill>
                  <a:schemeClr val="tx1"/>
                </a:solidFill>
                <a:latin typeface="Calibri" panose="020F0502020204030204" pitchFamily="34" charset="0"/>
                <a:cs typeface="Arial" panose="020B0604020202020204" pitchFamily="34" charset="0"/>
              </a:defRPr>
            </a:lvl4pPr>
            <a:lvl5pPr marL="2057400" indent="-228600">
              <a:tabLst>
                <a:tab pos="257175"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9pPr>
          </a:lstStyle>
          <a:p>
            <a:pPr>
              <a:buClr>
                <a:srgbClr val="006498"/>
              </a:buClr>
              <a:buSzPct val="61000"/>
              <a:buFont typeface="Wingdings" panose="05000000000000000000" pitchFamily="2" charset="2"/>
              <a:buChar char=""/>
            </a:pPr>
            <a:r>
              <a:rPr lang="fr-FR" altLang="en-US" dirty="0" smtClean="0">
                <a:latin typeface="Segoe UI "/>
              </a:rPr>
              <a:t>Une propriété liable présente trois fonctions pour mieux cerner  la situation en temps réel</a:t>
            </a:r>
          </a:p>
          <a:p>
            <a:pPr marL="12700" indent="0">
              <a:buClr>
                <a:srgbClr val="006498"/>
              </a:buClr>
              <a:buSzPct val="61000"/>
            </a:pPr>
            <a:endParaRPr lang="fr-FR" altLang="en-US" dirty="0">
              <a:latin typeface="Segoe UI "/>
            </a:endParaRPr>
          </a:p>
          <a:p>
            <a:pPr marL="785812" lvl="1">
              <a:buClr>
                <a:srgbClr val="006498"/>
              </a:buClr>
              <a:buSzPct val="61000"/>
              <a:buFont typeface="Arial" panose="020B0604020202020204" pitchFamily="34" charset="0"/>
              <a:buChar char="•"/>
            </a:pPr>
            <a:r>
              <a:rPr lang="fr-FR" altLang="en-US" dirty="0" smtClean="0">
                <a:latin typeface="Segoe UI "/>
              </a:rPr>
              <a:t>	Une fonction qui permet d’injecter du code pendant le changement des valeurs </a:t>
            </a:r>
          </a:p>
          <a:p>
            <a:pPr marL="785812" lvl="1">
              <a:buClr>
                <a:srgbClr val="006498"/>
              </a:buClr>
              <a:buSzPct val="61000"/>
              <a:buFont typeface="Arial" panose="020B0604020202020204" pitchFamily="34" charset="0"/>
              <a:buChar char="•"/>
            </a:pPr>
            <a:endParaRPr lang="fr-FR" altLang="en-US" dirty="0">
              <a:latin typeface="Segoe UI "/>
            </a:endParaRPr>
          </a:p>
          <a:p>
            <a:pPr marL="785812" lvl="1">
              <a:buClr>
                <a:srgbClr val="006498"/>
              </a:buClr>
              <a:buSzPct val="61000"/>
              <a:buFont typeface="Arial" panose="020B0604020202020204" pitchFamily="34" charset="0"/>
              <a:buChar char="•"/>
            </a:pPr>
            <a:r>
              <a:rPr lang="fr-FR" altLang="en-US" dirty="0" smtClean="0">
                <a:latin typeface="Segoe UI "/>
              </a:rPr>
              <a:t>	Une fonction qui permet de valider les valeurs avant de les affecter aux propriétés</a:t>
            </a:r>
          </a:p>
          <a:p>
            <a:pPr marL="785812" lvl="1">
              <a:buClr>
                <a:srgbClr val="006498"/>
              </a:buClr>
              <a:buSzPct val="61000"/>
              <a:buFont typeface="Arial" panose="020B0604020202020204" pitchFamily="34" charset="0"/>
              <a:buChar char="•"/>
            </a:pPr>
            <a:endParaRPr lang="fr-FR" altLang="en-US" dirty="0">
              <a:latin typeface="Segoe UI "/>
            </a:endParaRPr>
          </a:p>
          <a:p>
            <a:pPr marL="785812" lvl="1">
              <a:buClr>
                <a:srgbClr val="006498"/>
              </a:buClr>
              <a:buSzPct val="61000"/>
              <a:buFont typeface="Arial" panose="020B0604020202020204" pitchFamily="34" charset="0"/>
              <a:buChar char="•"/>
            </a:pPr>
            <a:r>
              <a:rPr lang="fr-FR" altLang="en-US" dirty="0" smtClean="0">
                <a:latin typeface="Segoe UI "/>
              </a:rPr>
              <a:t>	Une fonction qui permet d’ajuster les valeurs affectées à des valeurs seuil</a:t>
            </a:r>
          </a:p>
        </p:txBody>
      </p:sp>
      <p:sp>
        <p:nvSpPr>
          <p:cNvPr id="3" name="Rectangle 2"/>
          <p:cNvSpPr/>
          <p:nvPr/>
        </p:nvSpPr>
        <p:spPr>
          <a:xfrm>
            <a:off x="774700" y="3517890"/>
            <a:ext cx="10013950" cy="1815882"/>
          </a:xfrm>
          <a:prstGeom prst="rect">
            <a:avLst/>
          </a:prstGeom>
        </p:spPr>
        <p:txBody>
          <a:bodyPr wrap="square">
            <a:spAutoFit/>
          </a:bodyPr>
          <a:lstStyle/>
          <a:p>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static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readonly</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BindableProperty</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VisibilityProperty</a:t>
            </a:r>
            <a:r>
              <a:rPr lang="en-US"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BindableProperty.Create</a:t>
            </a:r>
            <a:r>
              <a:rPr lang="fr-FR" sz="1600" dirty="0">
                <a:solidFill>
                  <a:srgbClr val="000000"/>
                </a:solidFill>
                <a:latin typeface="Cascadia Mono" panose="020B0609020000020004" pitchFamily="49" charset="0"/>
              </a:rPr>
              <a:t>(</a:t>
            </a:r>
            <a:r>
              <a:rPr lang="fr-FR" sz="1600" dirty="0">
                <a:solidFill>
                  <a:srgbClr val="A31515"/>
                </a:solidFill>
                <a:latin typeface="Cascadia Mono" panose="020B0609020000020004" pitchFamily="49" charset="0"/>
              </a:rPr>
              <a:t>"</a:t>
            </a:r>
            <a:r>
              <a:rPr lang="fr-FR" sz="1600" dirty="0" err="1">
                <a:solidFill>
                  <a:srgbClr val="A31515"/>
                </a:solidFill>
                <a:latin typeface="Cascadia Mono" panose="020B0609020000020004" pitchFamily="49" charset="0"/>
              </a:rPr>
              <a:t>VisibiliyProperty</a:t>
            </a:r>
            <a:r>
              <a:rPr lang="fr-FR" sz="1600" dirty="0">
                <a:solidFill>
                  <a:srgbClr val="A31515"/>
                </a:solidFill>
                <a:latin typeface="Cascadia Mono" panose="020B0609020000020004" pitchFamily="49" charset="0"/>
              </a:rPr>
              <a:t>"</a:t>
            </a:r>
            <a:r>
              <a:rPr lang="fr-FR" sz="1600" dirty="0">
                <a:solidFill>
                  <a:srgbClr val="000000"/>
                </a:solidFill>
                <a:latin typeface="Cascadia Mono" panose="020B0609020000020004" pitchFamily="49" charset="0"/>
              </a:rPr>
              <a:t>, </a:t>
            </a:r>
            <a:r>
              <a:rPr lang="fr-FR" sz="1600" dirty="0" err="1">
                <a:solidFill>
                  <a:srgbClr val="0000FF"/>
                </a:solidFill>
                <a:latin typeface="Cascadia Mono" panose="020B0609020000020004" pitchFamily="49" charset="0"/>
              </a:rPr>
              <a:t>typeof</a:t>
            </a:r>
            <a:r>
              <a:rPr lang="fr-FR" sz="1600" dirty="0">
                <a:solidFill>
                  <a:srgbClr val="000000"/>
                </a:solidFill>
                <a:latin typeface="Cascadia Mono" panose="020B0609020000020004" pitchFamily="49" charset="0"/>
              </a:rPr>
              <a:t>(</a:t>
            </a:r>
            <a:r>
              <a:rPr lang="fr-FR" sz="1600" dirty="0" err="1">
                <a:solidFill>
                  <a:srgbClr val="000000"/>
                </a:solidFill>
                <a:latin typeface="Cascadia Mono" panose="020B0609020000020004" pitchFamily="49" charset="0"/>
              </a:rPr>
              <a:t>VisibilityState</a:t>
            </a:r>
            <a:r>
              <a:rPr lang="fr-FR" sz="1600" dirty="0">
                <a:solidFill>
                  <a:srgbClr val="000000"/>
                </a:solidFill>
                <a:latin typeface="Cascadia Mono" panose="020B0609020000020004" pitchFamily="49" charset="0"/>
              </a:rPr>
              <a:t>),</a:t>
            </a:r>
          </a:p>
          <a:p>
            <a:r>
              <a:rPr lang="fr-FR" sz="1600" dirty="0">
                <a:solidFill>
                  <a:srgbClr val="000000"/>
                </a:solidFill>
                <a:latin typeface="Cascadia Mono" panose="020B0609020000020004" pitchFamily="49" charset="0"/>
              </a:rPr>
              <a:t>                </a:t>
            </a:r>
            <a:r>
              <a:rPr lang="fr-FR" sz="1600" dirty="0" err="1">
                <a:solidFill>
                  <a:srgbClr val="0000FF"/>
                </a:solidFill>
                <a:latin typeface="Cascadia Mono" panose="020B0609020000020004" pitchFamily="49" charset="0"/>
              </a:rPr>
              <a:t>typeof</a:t>
            </a:r>
            <a:r>
              <a:rPr lang="fr-FR" sz="1600" dirty="0">
                <a:solidFill>
                  <a:srgbClr val="000000"/>
                </a:solidFill>
                <a:latin typeface="Cascadia Mono" panose="020B0609020000020004" pitchFamily="49" charset="0"/>
              </a:rPr>
              <a:t>(Label)</a:t>
            </a:r>
          </a:p>
          <a:p>
            <a:r>
              <a:rPr lang="fr-FR" sz="1600" dirty="0">
                <a:solidFill>
                  <a:srgbClr val="000000"/>
                </a:solidFill>
                <a:latin typeface="Cascadia Mono" panose="020B0609020000020004" pitchFamily="49" charset="0"/>
              </a:rPr>
              <a:t>                , </a:t>
            </a:r>
            <a:r>
              <a:rPr lang="fr-FR" sz="1600" dirty="0" err="1">
                <a:solidFill>
                  <a:srgbClr val="000000"/>
                </a:solidFill>
                <a:latin typeface="Cascadia Mono" panose="020B0609020000020004" pitchFamily="49" charset="0"/>
              </a:rPr>
              <a:t>VisibilityState.Visible</a:t>
            </a:r>
            <a:r>
              <a:rPr lang="fr-FR" sz="1600" dirty="0">
                <a:solidFill>
                  <a:srgbClr val="000000"/>
                </a:solidFill>
                <a:latin typeface="Cascadia Mono" panose="020B0609020000020004" pitchFamily="49" charset="0"/>
              </a:rPr>
              <a:t>, </a:t>
            </a:r>
            <a:endParaRPr lang="fr-FR" sz="1600" dirty="0" smtClean="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a:t>
            </a:r>
            <a:r>
              <a:rPr lang="fr-FR" sz="1600" dirty="0" smtClean="0">
                <a:solidFill>
                  <a:srgbClr val="000000"/>
                </a:solidFill>
                <a:latin typeface="Cascadia Mono" panose="020B0609020000020004" pitchFamily="49" charset="0"/>
              </a:rPr>
              <a:t>			       </a:t>
            </a:r>
            <a:r>
              <a:rPr lang="fr-FR" sz="1600" dirty="0" err="1" smtClean="0">
                <a:solidFill>
                  <a:srgbClr val="000000"/>
                </a:solidFill>
                <a:latin typeface="Cascadia Mono" panose="020B0609020000020004" pitchFamily="49" charset="0"/>
              </a:rPr>
              <a:t>propertyChanged</a:t>
            </a:r>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OnVisibilityChanged</a:t>
            </a:r>
            <a:r>
              <a:rPr lang="fr-FR" sz="1600" dirty="0">
                <a:solidFill>
                  <a:srgbClr val="000000"/>
                </a:solidFill>
                <a:latin typeface="Cascadia Mono" panose="020B0609020000020004" pitchFamily="49" charset="0"/>
              </a:rPr>
              <a:t>, </a:t>
            </a:r>
          </a:p>
          <a:p>
            <a:r>
              <a:rPr lang="fr-FR" sz="1600" dirty="0">
                <a:solidFill>
                  <a:srgbClr val="000000"/>
                </a:solidFill>
                <a:latin typeface="Cascadia Mono" panose="020B0609020000020004" pitchFamily="49" charset="0"/>
              </a:rPr>
              <a:t>                                     </a:t>
            </a:r>
            <a:r>
              <a:rPr lang="fr-FR" sz="1600" dirty="0" smtClean="0">
                <a:solidFill>
                  <a:srgbClr val="000000"/>
                </a:solidFill>
                <a:latin typeface="Cascadia Mono" panose="020B0609020000020004" pitchFamily="49" charset="0"/>
              </a:rPr>
              <a:t> </a:t>
            </a:r>
            <a:r>
              <a:rPr lang="fr-FR" sz="1600" dirty="0" err="1" smtClean="0">
                <a:solidFill>
                  <a:srgbClr val="000000"/>
                </a:solidFill>
                <a:latin typeface="Cascadia Mono" panose="020B0609020000020004" pitchFamily="49" charset="0"/>
              </a:rPr>
              <a:t>validateValue</a:t>
            </a:r>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OnValidateValue</a:t>
            </a:r>
            <a:r>
              <a:rPr lang="fr-FR" sz="1600" dirty="0">
                <a:solidFill>
                  <a:srgbClr val="000000"/>
                </a:solidFill>
                <a:latin typeface="Cascadia Mono" panose="020B0609020000020004" pitchFamily="49" charset="0"/>
              </a:rPr>
              <a:t>,</a:t>
            </a:r>
          </a:p>
          <a:p>
            <a:r>
              <a:rPr lang="fr-FR" sz="1600" dirty="0">
                <a:solidFill>
                  <a:srgbClr val="000000"/>
                </a:solidFill>
                <a:latin typeface="Cascadia Mono" panose="020B0609020000020004" pitchFamily="49" charset="0"/>
              </a:rPr>
              <a:t>                                      </a:t>
            </a:r>
            <a:r>
              <a:rPr lang="fr-FR" sz="1600" dirty="0" err="1" smtClean="0">
                <a:solidFill>
                  <a:srgbClr val="000000"/>
                </a:solidFill>
                <a:latin typeface="Cascadia Mono" panose="020B0609020000020004" pitchFamily="49" charset="0"/>
              </a:rPr>
              <a:t>coerceValue</a:t>
            </a:r>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OnCoerseValue</a:t>
            </a:r>
            <a:r>
              <a:rPr lang="fr-FR" sz="1600" dirty="0">
                <a:solidFill>
                  <a:srgbClr val="000000"/>
                </a:solidFill>
                <a:latin typeface="Cascadia Mono" panose="020B0609020000020004" pitchFamily="49" charset="0"/>
              </a:rPr>
              <a:t>);</a:t>
            </a:r>
            <a:endParaRPr lang="fr-FR" sz="1600" dirty="0"/>
          </a:p>
        </p:txBody>
      </p:sp>
      <p:sp>
        <p:nvSpPr>
          <p:cNvPr id="6" name="Ellipse 5"/>
          <p:cNvSpPr/>
          <p:nvPr/>
        </p:nvSpPr>
        <p:spPr>
          <a:xfrm>
            <a:off x="7105649" y="4311650"/>
            <a:ext cx="336551" cy="3429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bg1"/>
                </a:solidFill>
              </a:rPr>
              <a:t>1</a:t>
            </a:r>
            <a:endParaRPr lang="fr-FR" b="1" dirty="0">
              <a:solidFill>
                <a:schemeClr val="bg1"/>
              </a:solidFill>
            </a:endParaRPr>
          </a:p>
        </p:txBody>
      </p:sp>
      <p:sp>
        <p:nvSpPr>
          <p:cNvPr id="7" name="Ellipse 6"/>
          <p:cNvSpPr/>
          <p:nvPr/>
        </p:nvSpPr>
        <p:spPr>
          <a:xfrm>
            <a:off x="6994523" y="4706983"/>
            <a:ext cx="336551" cy="3429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bg1"/>
                </a:solidFill>
              </a:rPr>
              <a:t>2</a:t>
            </a:r>
            <a:endParaRPr lang="fr-FR" b="1" dirty="0">
              <a:solidFill>
                <a:schemeClr val="bg1"/>
              </a:solidFill>
            </a:endParaRPr>
          </a:p>
        </p:txBody>
      </p:sp>
      <p:sp>
        <p:nvSpPr>
          <p:cNvPr id="8" name="Ellipse 7"/>
          <p:cNvSpPr/>
          <p:nvPr/>
        </p:nvSpPr>
        <p:spPr>
          <a:xfrm>
            <a:off x="6711949" y="5022394"/>
            <a:ext cx="336551" cy="3429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bg1"/>
                </a:solidFill>
              </a:rPr>
              <a:t>3</a:t>
            </a:r>
            <a:endParaRPr lang="fr-FR" b="1" dirty="0">
              <a:solidFill>
                <a:schemeClr val="bg1"/>
              </a:solidFill>
            </a:endParaRPr>
          </a:p>
        </p:txBody>
      </p:sp>
    </p:spTree>
    <p:extLst>
      <p:ext uri="{BB962C8B-B14F-4D97-AF65-F5344CB8AC3E}">
        <p14:creationId xmlns:p14="http://schemas.microsoft.com/office/powerpoint/2010/main" val="3923443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9"/>
          <p:cNvSpPr txBox="1"/>
          <p:nvPr/>
        </p:nvSpPr>
        <p:spPr>
          <a:xfrm>
            <a:off x="401511" y="671386"/>
            <a:ext cx="8001825" cy="346249"/>
          </a:xfrm>
          <a:prstGeom prst="rect">
            <a:avLst/>
          </a:prstGeom>
        </p:spPr>
        <p:txBody>
          <a:bodyPr wrap="square" lIns="0" tIns="0" rIns="0" bIns="0">
            <a:spAutoFit/>
          </a:bodyPr>
          <a:lstStyle/>
          <a:p>
            <a:pPr marL="80010" eaLnBrk="1" fontAlgn="auto" hangingPunct="1">
              <a:spcBef>
                <a:spcPts val="0"/>
              </a:spcBef>
              <a:spcAft>
                <a:spcPts val="0"/>
              </a:spcAft>
              <a:tabLst>
                <a:tab pos="5920105" algn="l"/>
              </a:tabLst>
              <a:defRPr/>
            </a:pPr>
            <a:r>
              <a:rPr lang="fr-FR" sz="2250" u="heavy" spc="-70" dirty="0" smtClean="0">
                <a:latin typeface="Segoe UI Symbol"/>
                <a:cs typeface="Times New Roman"/>
              </a:rPr>
              <a:t>Les </a:t>
            </a:r>
            <a:r>
              <a:rPr lang="fr-FR" sz="2250" u="heavy" spc="-70" dirty="0" err="1" smtClean="0">
                <a:latin typeface="Segoe UI Symbol"/>
                <a:cs typeface="Times New Roman"/>
              </a:rPr>
              <a:t>AttachedProperties</a:t>
            </a:r>
            <a:r>
              <a:rPr lang="fr-FR" sz="2250" u="heavy" spc="-70" dirty="0" smtClean="0">
                <a:latin typeface="Segoe UI Symbol"/>
                <a:cs typeface="Times New Roman"/>
              </a:rPr>
              <a:t> –Les propriétés attachées</a:t>
            </a:r>
            <a:endParaRPr sz="2250" dirty="0">
              <a:latin typeface="Times New Roman"/>
              <a:cs typeface="Times New Roman"/>
            </a:endParaRPr>
          </a:p>
        </p:txBody>
      </p:sp>
      <p:sp>
        <p:nvSpPr>
          <p:cNvPr id="4" name="object 20"/>
          <p:cNvSpPr txBox="1">
            <a:spLocks noChangeArrowheads="1"/>
          </p:cNvSpPr>
          <p:nvPr/>
        </p:nvSpPr>
        <p:spPr bwMode="auto">
          <a:xfrm>
            <a:off x="521200" y="1263487"/>
            <a:ext cx="4031065" cy="4431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255588" indent="-242888">
              <a:tabLst>
                <a:tab pos="257175" algn="l"/>
              </a:tabLst>
              <a:defRPr>
                <a:solidFill>
                  <a:schemeClr val="tx1"/>
                </a:solidFill>
                <a:latin typeface="Calibri" panose="020F0502020204030204" pitchFamily="34" charset="0"/>
                <a:cs typeface="Arial" panose="020B0604020202020204" pitchFamily="34" charset="0"/>
              </a:defRPr>
            </a:lvl1pPr>
            <a:lvl2pPr marL="742950" indent="-285750">
              <a:tabLst>
                <a:tab pos="257175" algn="l"/>
              </a:tabLst>
              <a:defRPr>
                <a:solidFill>
                  <a:schemeClr val="tx1"/>
                </a:solidFill>
                <a:latin typeface="Calibri" panose="020F0502020204030204" pitchFamily="34" charset="0"/>
                <a:cs typeface="Arial" panose="020B0604020202020204" pitchFamily="34" charset="0"/>
              </a:defRPr>
            </a:lvl2pPr>
            <a:lvl3pPr marL="1143000" indent="-228600">
              <a:tabLst>
                <a:tab pos="257175" algn="l"/>
              </a:tabLst>
              <a:defRPr>
                <a:solidFill>
                  <a:schemeClr val="tx1"/>
                </a:solidFill>
                <a:latin typeface="Calibri" panose="020F0502020204030204" pitchFamily="34" charset="0"/>
                <a:cs typeface="Arial" panose="020B0604020202020204" pitchFamily="34" charset="0"/>
              </a:defRPr>
            </a:lvl3pPr>
            <a:lvl4pPr marL="1600200" indent="-228600">
              <a:tabLst>
                <a:tab pos="257175" algn="l"/>
              </a:tabLst>
              <a:defRPr>
                <a:solidFill>
                  <a:schemeClr val="tx1"/>
                </a:solidFill>
                <a:latin typeface="Calibri" panose="020F0502020204030204" pitchFamily="34" charset="0"/>
                <a:cs typeface="Arial" panose="020B0604020202020204" pitchFamily="34" charset="0"/>
              </a:defRPr>
            </a:lvl4pPr>
            <a:lvl5pPr marL="2057400" indent="-228600">
              <a:tabLst>
                <a:tab pos="257175"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257175" algn="l"/>
              </a:tabLst>
              <a:defRPr>
                <a:solidFill>
                  <a:schemeClr val="tx1"/>
                </a:solidFill>
                <a:latin typeface="Calibri" panose="020F0502020204030204" pitchFamily="34" charset="0"/>
                <a:cs typeface="Arial" panose="020B0604020202020204" pitchFamily="34" charset="0"/>
              </a:defRPr>
            </a:lvl9pPr>
          </a:lstStyle>
          <a:p>
            <a:pPr>
              <a:buClr>
                <a:srgbClr val="006498"/>
              </a:buClr>
              <a:buSzPct val="61000"/>
              <a:buFont typeface="Wingdings" panose="05000000000000000000" pitchFamily="2" charset="2"/>
              <a:buChar char=""/>
            </a:pPr>
            <a:r>
              <a:rPr lang="fr-FR" altLang="en-US" dirty="0" smtClean="0">
                <a:latin typeface="Segoe UI "/>
              </a:rPr>
              <a:t>Une propriété attachée est une propriété liable particulière, elle fait partie d’un contrôle parent mais elle est appliquée au niveau du contrôle fils pour des raisons d’ajustement, de positionnement ou de comportement ….</a:t>
            </a:r>
          </a:p>
          <a:p>
            <a:pPr>
              <a:buClr>
                <a:srgbClr val="006498"/>
              </a:buClr>
              <a:buSzPct val="61000"/>
              <a:buFont typeface="Wingdings" panose="05000000000000000000" pitchFamily="2" charset="2"/>
              <a:buChar char=""/>
            </a:pPr>
            <a:endParaRPr lang="fr-FR" altLang="en-US" dirty="0">
              <a:latin typeface="Segoe UI" panose="020B0502040204020203" pitchFamily="34" charset="0"/>
              <a:cs typeface="Segoe UI" panose="020B0502040204020203" pitchFamily="34" charset="0"/>
            </a:endParaRPr>
          </a:p>
          <a:p>
            <a:pPr>
              <a:buClr>
                <a:srgbClr val="006498"/>
              </a:buClr>
              <a:buSzPct val="61000"/>
              <a:buFont typeface="Wingdings" panose="05000000000000000000" pitchFamily="2" charset="2"/>
              <a:buChar char=""/>
            </a:pPr>
            <a:r>
              <a:rPr lang="fr-FR" dirty="0">
                <a:latin typeface="Segoe UI" panose="020B0502040204020203" pitchFamily="34" charset="0"/>
                <a:cs typeface="Segoe UI" panose="020B0502040204020203" pitchFamily="34" charset="0"/>
              </a:rPr>
              <a:t>Elles sont utilisées aussi pour comme service, lorsque l'élément qui définit la propriété est évalué dans le contexte du service, les valeurs de la propriété attachée sont obtenues à l'aide de la logique interne de la classe de service</a:t>
            </a:r>
          </a:p>
          <a:p>
            <a:pPr>
              <a:buClr>
                <a:srgbClr val="006498"/>
              </a:buClr>
              <a:buSzPct val="61000"/>
              <a:buFont typeface="Wingdings" panose="05000000000000000000" pitchFamily="2" charset="2"/>
              <a:buChar char=""/>
            </a:pPr>
            <a:endParaRPr lang="fr-FR" altLang="en-US" dirty="0" smtClean="0">
              <a:latin typeface="Segoe UI "/>
            </a:endParaRPr>
          </a:p>
        </p:txBody>
      </p:sp>
      <p:sp>
        <p:nvSpPr>
          <p:cNvPr id="3" name="Rectangle 2"/>
          <p:cNvSpPr/>
          <p:nvPr/>
        </p:nvSpPr>
        <p:spPr>
          <a:xfrm>
            <a:off x="5291240" y="1332943"/>
            <a:ext cx="6569645" cy="3970318"/>
          </a:xfrm>
          <a:prstGeom prst="rect">
            <a:avLst/>
          </a:prstGeom>
        </p:spPr>
        <p:txBody>
          <a:bodyPr wrap="square">
            <a:spAutoFit/>
          </a:bodyPr>
          <a:lstStyle/>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static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bool</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GetMailFormatVerification</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BindableObject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obj</a:t>
            </a:r>
            <a:r>
              <a:rPr lang="en-US" sz="1200" dirty="0">
                <a:solidFill>
                  <a:srgbClr val="000000"/>
                </a:solidFill>
                <a:latin typeface="Cascadia Mono" panose="020B0609020000020004" pitchFamily="49" charset="0"/>
              </a:rPr>
              <a:t>)</a:t>
            </a:r>
          </a:p>
          <a:p>
            <a:r>
              <a:rPr lang="fr-FR" sz="1200" dirty="0">
                <a:solidFill>
                  <a:srgbClr val="000000"/>
                </a:solidFill>
                <a:latin typeface="Cascadia Mono" panose="020B0609020000020004" pitchFamily="49" charset="0"/>
              </a:rPr>
              <a:t>        {</a:t>
            </a: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return</a:t>
            </a:r>
            <a:r>
              <a:rPr lang="fr-FR" sz="1200" dirty="0">
                <a:solidFill>
                  <a:srgbClr val="000000"/>
                </a:solidFill>
                <a:latin typeface="Cascadia Mono" panose="020B0609020000020004" pitchFamily="49" charset="0"/>
              </a:rPr>
              <a:t> (</a:t>
            </a:r>
            <a:r>
              <a:rPr lang="fr-FR" sz="1200" dirty="0" err="1">
                <a:solidFill>
                  <a:srgbClr val="0000FF"/>
                </a:solidFill>
                <a:latin typeface="Cascadia Mono" panose="020B0609020000020004" pitchFamily="49" charset="0"/>
              </a:rPr>
              <a:t>bool</a:t>
            </a:r>
            <a:r>
              <a:rPr lang="fr-FR" sz="1200" dirty="0">
                <a:solidFill>
                  <a:srgbClr val="000000"/>
                </a:solidFill>
                <a:latin typeface="Cascadia Mono" panose="020B0609020000020004" pitchFamily="49" charset="0"/>
              </a:rPr>
              <a:t>)</a:t>
            </a:r>
            <a:r>
              <a:rPr lang="fr-FR" sz="1200" dirty="0" err="1">
                <a:solidFill>
                  <a:srgbClr val="000000"/>
                </a:solidFill>
                <a:latin typeface="Cascadia Mono" panose="020B0609020000020004" pitchFamily="49" charset="0"/>
              </a:rPr>
              <a:t>obj.GetValue</a:t>
            </a:r>
            <a:r>
              <a:rPr lang="fr-FR" sz="1200" dirty="0">
                <a:solidFill>
                  <a:srgbClr val="000000"/>
                </a:solidFill>
                <a:latin typeface="Cascadia Mono" panose="020B0609020000020004" pitchFamily="49" charset="0"/>
              </a:rPr>
              <a:t>(</a:t>
            </a:r>
            <a:r>
              <a:rPr lang="fr-FR" sz="1200" dirty="0" err="1">
                <a:solidFill>
                  <a:srgbClr val="000000"/>
                </a:solidFill>
                <a:latin typeface="Cascadia Mono" panose="020B0609020000020004" pitchFamily="49" charset="0"/>
              </a:rPr>
              <a:t>MailValidationProperty</a:t>
            </a:r>
            <a:r>
              <a:rPr lang="fr-FR" sz="1200" dirty="0">
                <a:solidFill>
                  <a:srgbClr val="000000"/>
                </a:solidFill>
                <a:latin typeface="Cascadia Mono" panose="020B0609020000020004" pitchFamily="49" charset="0"/>
              </a:rPr>
              <a:t>);</a:t>
            </a:r>
          </a:p>
          <a:p>
            <a:r>
              <a:rPr lang="fr-FR" sz="1200" dirty="0">
                <a:solidFill>
                  <a:srgbClr val="000000"/>
                </a:solidFill>
                <a:latin typeface="Cascadia Mono" panose="020B0609020000020004" pitchFamily="49" charset="0"/>
              </a:rPr>
              <a:t>        }</a:t>
            </a:r>
          </a:p>
          <a:p>
            <a:endParaRPr lang="fr-FR"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static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SetMailFormatVerification</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BindableObject</a:t>
            </a:r>
            <a:r>
              <a:rPr lang="en-US" sz="1200" dirty="0">
                <a:solidFill>
                  <a:srgbClr val="000000"/>
                </a:solidFill>
                <a:latin typeface="Cascadia Mono" panose="020B0609020000020004" pitchFamily="49" charset="0"/>
              </a:rPr>
              <a:t> </a:t>
            </a:r>
            <a:r>
              <a:rPr lang="en-US" sz="1200" dirty="0" smtClean="0">
                <a:solidFill>
                  <a:srgbClr val="000000"/>
                </a:solidFill>
                <a:latin typeface="Cascadia Mono" panose="020B0609020000020004" pitchFamily="49" charset="0"/>
              </a:rPr>
              <a:t>			</a:t>
            </a:r>
            <a:r>
              <a:rPr lang="en-US" sz="1200" dirty="0" err="1" smtClean="0">
                <a:solidFill>
                  <a:srgbClr val="000000"/>
                </a:solidFill>
                <a:latin typeface="Cascadia Mono" panose="020B0609020000020004" pitchFamily="49" charset="0"/>
              </a:rPr>
              <a:t>obj</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bool</a:t>
            </a:r>
            <a:r>
              <a:rPr lang="en-US" sz="1200" dirty="0">
                <a:solidFill>
                  <a:srgbClr val="000000"/>
                </a:solidFill>
                <a:latin typeface="Cascadia Mono" panose="020B0609020000020004" pitchFamily="49" charset="0"/>
              </a:rPr>
              <a:t> value)</a:t>
            </a:r>
          </a:p>
          <a:p>
            <a:r>
              <a:rPr lang="fr-FR" sz="1200" dirty="0">
                <a:solidFill>
                  <a:srgbClr val="000000"/>
                </a:solidFill>
                <a:latin typeface="Cascadia Mono" panose="020B0609020000020004" pitchFamily="49" charset="0"/>
              </a:rPr>
              <a:t>        {</a:t>
            </a:r>
          </a:p>
          <a:p>
            <a:r>
              <a:rPr lang="fr-FR" sz="1200" dirty="0">
                <a:solidFill>
                  <a:srgbClr val="000000"/>
                </a:solidFill>
                <a:latin typeface="Cascadia Mono" panose="020B0609020000020004" pitchFamily="49" charset="0"/>
              </a:rPr>
              <a:t>            </a:t>
            </a:r>
            <a:r>
              <a:rPr lang="fr-FR" sz="1200" dirty="0" err="1">
                <a:solidFill>
                  <a:srgbClr val="000000"/>
                </a:solidFill>
                <a:latin typeface="Cascadia Mono" panose="020B0609020000020004" pitchFamily="49" charset="0"/>
              </a:rPr>
              <a:t>obj.SetValue</a:t>
            </a:r>
            <a:r>
              <a:rPr lang="fr-FR" sz="1200" dirty="0">
                <a:solidFill>
                  <a:srgbClr val="000000"/>
                </a:solidFill>
                <a:latin typeface="Cascadia Mono" panose="020B0609020000020004" pitchFamily="49" charset="0"/>
              </a:rPr>
              <a:t>(</a:t>
            </a:r>
            <a:r>
              <a:rPr lang="fr-FR" sz="1200" dirty="0" err="1">
                <a:solidFill>
                  <a:srgbClr val="000000"/>
                </a:solidFill>
                <a:latin typeface="Cascadia Mono" panose="020B0609020000020004" pitchFamily="49" charset="0"/>
              </a:rPr>
              <a:t>MailValidationProperty</a:t>
            </a:r>
            <a:r>
              <a:rPr lang="fr-FR" sz="1200" dirty="0">
                <a:solidFill>
                  <a:srgbClr val="000000"/>
                </a:solidFill>
                <a:latin typeface="Cascadia Mono" panose="020B0609020000020004" pitchFamily="49" charset="0"/>
              </a:rPr>
              <a:t>, value);</a:t>
            </a:r>
          </a:p>
          <a:p>
            <a:r>
              <a:rPr lang="fr-FR" sz="1200" dirty="0">
                <a:solidFill>
                  <a:srgbClr val="000000"/>
                </a:solidFill>
                <a:latin typeface="Cascadia Mono" panose="020B0609020000020004" pitchFamily="49" charset="0"/>
              </a:rPr>
              <a:t>        }</a:t>
            </a:r>
          </a:p>
          <a:p>
            <a:endParaRPr lang="fr-FR"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static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readonly</a:t>
            </a:r>
            <a:r>
              <a:rPr lang="en-US" sz="1200" dirty="0">
                <a:solidFill>
                  <a:srgbClr val="000000"/>
                </a:solidFill>
                <a:latin typeface="Cascadia Mono" panose="020B0609020000020004" pitchFamily="49" charset="0"/>
              </a:rPr>
              <a:t> BindableProperty </a:t>
            </a:r>
            <a:r>
              <a:rPr lang="en-US" sz="1200" dirty="0" err="1">
                <a:solidFill>
                  <a:srgbClr val="000000"/>
                </a:solidFill>
                <a:latin typeface="Cascadia Mono" panose="020B0609020000020004" pitchFamily="49" charset="0"/>
              </a:rPr>
              <a:t>MailValidationProperty</a:t>
            </a:r>
            <a:r>
              <a:rPr lang="en-US" sz="1200" dirty="0">
                <a:solidFill>
                  <a:srgbClr val="000000"/>
                </a:solidFill>
                <a:latin typeface="Cascadia Mono" panose="020B0609020000020004" pitchFamily="49" charset="0"/>
              </a:rPr>
              <a:t> =</a:t>
            </a:r>
          </a:p>
          <a:p>
            <a:r>
              <a:rPr lang="fr-FR" sz="1200" dirty="0">
                <a:solidFill>
                  <a:srgbClr val="000000"/>
                </a:solidFill>
                <a:latin typeface="Cascadia Mono" panose="020B0609020000020004" pitchFamily="49" charset="0"/>
              </a:rPr>
              <a:t>            </a:t>
            </a:r>
            <a:r>
              <a:rPr lang="fr-FR" sz="1200" dirty="0" err="1">
                <a:solidFill>
                  <a:srgbClr val="000000"/>
                </a:solidFill>
                <a:latin typeface="Cascadia Mono" panose="020B0609020000020004" pitchFamily="49" charset="0"/>
              </a:rPr>
              <a:t>BindableProperty.CreateAttached</a:t>
            </a:r>
            <a:r>
              <a:rPr lang="fr-FR" sz="1200" dirty="0">
                <a:solidFill>
                  <a:srgbClr val="000000"/>
                </a:solidFill>
                <a:latin typeface="Cascadia Mono" panose="020B0609020000020004" pitchFamily="49" charset="0"/>
              </a:rPr>
              <a:t>(</a:t>
            </a:r>
            <a:r>
              <a:rPr lang="fr-FR" sz="1200" dirty="0">
                <a:solidFill>
                  <a:srgbClr val="A31515"/>
                </a:solidFill>
                <a:latin typeface="Cascadia Mono" panose="020B0609020000020004" pitchFamily="49" charset="0"/>
              </a:rPr>
              <a:t>"</a:t>
            </a:r>
            <a:r>
              <a:rPr lang="fr-FR" sz="1200" dirty="0" err="1">
                <a:solidFill>
                  <a:srgbClr val="A31515"/>
                </a:solidFill>
                <a:latin typeface="Cascadia Mono" panose="020B0609020000020004" pitchFamily="49" charset="0"/>
              </a:rPr>
              <a:t>MailValidation</a:t>
            </a:r>
            <a:r>
              <a:rPr lang="fr-FR" sz="1200" dirty="0">
                <a:solidFill>
                  <a:srgbClr val="A31515"/>
                </a:solidFill>
                <a:latin typeface="Cascadia Mono" panose="020B0609020000020004" pitchFamily="49" charset="0"/>
              </a:rPr>
              <a:t>"</a:t>
            </a:r>
            <a:r>
              <a:rPr lang="fr-FR" sz="1200" dirty="0">
                <a:solidFill>
                  <a:srgbClr val="000000"/>
                </a:solidFill>
                <a:latin typeface="Cascadia Mono" panose="020B0609020000020004" pitchFamily="49" charset="0"/>
              </a:rPr>
              <a:t>, </a:t>
            </a:r>
            <a:r>
              <a:rPr lang="fr-FR" sz="1200" dirty="0" err="1">
                <a:solidFill>
                  <a:srgbClr val="0000FF"/>
                </a:solidFill>
                <a:latin typeface="Cascadia Mono" panose="020B0609020000020004" pitchFamily="49" charset="0"/>
              </a:rPr>
              <a:t>typeof</a:t>
            </a:r>
            <a:r>
              <a:rPr lang="fr-FR" sz="1200" dirty="0">
                <a:solidFill>
                  <a:srgbClr val="000000"/>
                </a:solidFill>
                <a:latin typeface="Cascadia Mono" panose="020B0609020000020004" pitchFamily="49" charset="0"/>
              </a:rPr>
              <a:t>(</a:t>
            </a:r>
            <a:r>
              <a:rPr lang="fr-FR" sz="1200" dirty="0" err="1">
                <a:solidFill>
                  <a:srgbClr val="0000FF"/>
                </a:solidFill>
                <a:latin typeface="Cascadia Mono" panose="020B0609020000020004" pitchFamily="49" charset="0"/>
              </a:rPr>
              <a:t>bool</a:t>
            </a:r>
            <a:r>
              <a:rPr lang="fr-FR" sz="1200" dirty="0">
                <a:solidFill>
                  <a:srgbClr val="000000"/>
                </a:solidFill>
                <a:latin typeface="Cascadia Mono" panose="020B0609020000020004" pitchFamily="49" charset="0"/>
              </a:rPr>
              <a:t>), </a:t>
            </a:r>
            <a:r>
              <a:rPr lang="fr-FR" sz="1200" dirty="0" err="1">
                <a:solidFill>
                  <a:srgbClr val="0000FF"/>
                </a:solidFill>
                <a:latin typeface="Cascadia Mono" panose="020B0609020000020004" pitchFamily="49" charset="0"/>
              </a:rPr>
              <a:t>typeof</a:t>
            </a:r>
            <a:r>
              <a:rPr lang="fr-FR" sz="1200" dirty="0">
                <a:solidFill>
                  <a:srgbClr val="000000"/>
                </a:solidFill>
                <a:latin typeface="Cascadia Mono" panose="020B0609020000020004" pitchFamily="49" charset="0"/>
              </a:rPr>
              <a:t>(Entry),</a:t>
            </a: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false</a:t>
            </a:r>
            <a:r>
              <a:rPr lang="fr-FR" sz="1200" dirty="0">
                <a:solidFill>
                  <a:srgbClr val="000000"/>
                </a:solidFill>
                <a:latin typeface="Cascadia Mono" panose="020B0609020000020004" pitchFamily="49" charset="0"/>
              </a:rPr>
              <a:t>, </a:t>
            </a:r>
            <a:r>
              <a:rPr lang="fr-FR" sz="1200" dirty="0" err="1">
                <a:solidFill>
                  <a:srgbClr val="000000"/>
                </a:solidFill>
                <a:latin typeface="Cascadia Mono" panose="020B0609020000020004" pitchFamily="49" charset="0"/>
              </a:rPr>
              <a:t>propertyChanged</a:t>
            </a:r>
            <a:r>
              <a:rPr lang="fr-FR" sz="1200" dirty="0">
                <a:solidFill>
                  <a:srgbClr val="000000"/>
                </a:solidFill>
                <a:latin typeface="Cascadia Mono" panose="020B0609020000020004" pitchFamily="49" charset="0"/>
              </a:rPr>
              <a:t>: </a:t>
            </a:r>
            <a:r>
              <a:rPr lang="fr-FR" sz="1200" dirty="0" err="1">
                <a:solidFill>
                  <a:srgbClr val="000000"/>
                </a:solidFill>
                <a:latin typeface="Cascadia Mono" panose="020B0609020000020004" pitchFamily="49" charset="0"/>
              </a:rPr>
              <a:t>OnVerifyMailCallBack</a:t>
            </a:r>
            <a:r>
              <a:rPr lang="fr-FR" sz="1200" dirty="0">
                <a:solidFill>
                  <a:srgbClr val="000000"/>
                </a:solidFill>
                <a:latin typeface="Cascadia Mono" panose="020B0609020000020004" pitchFamily="49" charset="0"/>
              </a:rPr>
              <a:t>);</a:t>
            </a:r>
          </a:p>
          <a:p>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static</a:t>
            </a:r>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private</a:t>
            </a:r>
            <a:r>
              <a:rPr lang="fr-FR" sz="1200" dirty="0">
                <a:solidFill>
                  <a:srgbClr val="000000"/>
                </a:solidFill>
                <a:latin typeface="Cascadia Mono" panose="020B0609020000020004" pitchFamily="49" charset="0"/>
              </a:rPr>
              <a:t> </a:t>
            </a:r>
            <a:r>
              <a:rPr lang="fr-FR" sz="1200" dirty="0" err="1">
                <a:solidFill>
                  <a:srgbClr val="0000FF"/>
                </a:solidFill>
                <a:latin typeface="Cascadia Mono" panose="020B0609020000020004" pitchFamily="49" charset="0"/>
              </a:rPr>
              <a:t>void</a:t>
            </a:r>
            <a:r>
              <a:rPr lang="fr-FR" sz="1200" dirty="0">
                <a:solidFill>
                  <a:srgbClr val="000000"/>
                </a:solidFill>
                <a:latin typeface="Cascadia Mono" panose="020B0609020000020004" pitchFamily="49" charset="0"/>
              </a:rPr>
              <a:t> </a:t>
            </a:r>
            <a:r>
              <a:rPr lang="fr-FR" sz="1200" dirty="0" err="1">
                <a:solidFill>
                  <a:srgbClr val="000000"/>
                </a:solidFill>
                <a:latin typeface="Cascadia Mono" panose="020B0609020000020004" pitchFamily="49" charset="0"/>
              </a:rPr>
              <a:t>OnVerifyMailCallBack</a:t>
            </a:r>
            <a:r>
              <a:rPr lang="fr-FR" sz="1200" dirty="0">
                <a:solidFill>
                  <a:srgbClr val="000000"/>
                </a:solidFill>
                <a:latin typeface="Cascadia Mono" panose="020B0609020000020004" pitchFamily="49" charset="0"/>
              </a:rPr>
              <a:t>(</a:t>
            </a:r>
            <a:r>
              <a:rPr lang="fr-FR" sz="1200" dirty="0" err="1">
                <a:solidFill>
                  <a:srgbClr val="000000"/>
                </a:solidFill>
                <a:latin typeface="Cascadia Mono" panose="020B0609020000020004" pitchFamily="49" charset="0"/>
              </a:rPr>
              <a:t>BindableObject</a:t>
            </a:r>
            <a:r>
              <a:rPr lang="fr-FR" sz="1200" dirty="0">
                <a:solidFill>
                  <a:srgbClr val="000000"/>
                </a:solidFill>
                <a:latin typeface="Cascadia Mono" panose="020B0609020000020004" pitchFamily="49" charset="0"/>
              </a:rPr>
              <a:t> </a:t>
            </a:r>
            <a:r>
              <a:rPr lang="fr-FR" sz="1200" dirty="0" err="1">
                <a:solidFill>
                  <a:srgbClr val="000000"/>
                </a:solidFill>
                <a:latin typeface="Cascadia Mono" panose="020B0609020000020004" pitchFamily="49" charset="0"/>
              </a:rPr>
              <a:t>bindable</a:t>
            </a:r>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object</a:t>
            </a:r>
            <a:r>
              <a:rPr lang="fr-FR" sz="1200" dirty="0">
                <a:solidFill>
                  <a:srgbClr val="000000"/>
                </a:solidFill>
                <a:latin typeface="Cascadia Mono" panose="020B0609020000020004" pitchFamily="49" charset="0"/>
              </a:rPr>
              <a:t> </a:t>
            </a:r>
            <a:r>
              <a:rPr lang="fr-FR" sz="1200" dirty="0" err="1">
                <a:solidFill>
                  <a:srgbClr val="000000"/>
                </a:solidFill>
                <a:latin typeface="Cascadia Mono" panose="020B0609020000020004" pitchFamily="49" charset="0"/>
              </a:rPr>
              <a:t>oldvalue,</a:t>
            </a:r>
            <a:r>
              <a:rPr lang="fr-FR" sz="1200" dirty="0" err="1">
                <a:solidFill>
                  <a:srgbClr val="0000FF"/>
                </a:solidFill>
                <a:latin typeface="Cascadia Mono" panose="020B0609020000020004" pitchFamily="49" charset="0"/>
              </a:rPr>
              <a:t>object</a:t>
            </a:r>
            <a:r>
              <a:rPr lang="fr-FR" sz="1200" dirty="0">
                <a:solidFill>
                  <a:srgbClr val="000000"/>
                </a:solidFill>
                <a:latin typeface="Cascadia Mono" panose="020B0609020000020004" pitchFamily="49" charset="0"/>
              </a:rPr>
              <a:t> </a:t>
            </a:r>
            <a:r>
              <a:rPr lang="fr-FR" sz="1200" dirty="0" err="1">
                <a:solidFill>
                  <a:srgbClr val="000000"/>
                </a:solidFill>
                <a:latin typeface="Cascadia Mono" panose="020B0609020000020004" pitchFamily="49" charset="0"/>
              </a:rPr>
              <a:t>newvalue</a:t>
            </a:r>
            <a:r>
              <a:rPr lang="fr-FR" sz="1200" dirty="0">
                <a:solidFill>
                  <a:srgbClr val="000000"/>
                </a:solidFill>
                <a:latin typeface="Cascadia Mono" panose="020B0609020000020004" pitchFamily="49" charset="0"/>
              </a:rPr>
              <a:t>)</a:t>
            </a:r>
          </a:p>
          <a:p>
            <a:r>
              <a:rPr lang="fr-FR" sz="1200" dirty="0">
                <a:solidFill>
                  <a:srgbClr val="000000"/>
                </a:solidFill>
                <a:latin typeface="Cascadia Mono" panose="020B0609020000020004" pitchFamily="49" charset="0"/>
              </a:rPr>
              <a:t>        {</a:t>
            </a:r>
          </a:p>
          <a:p>
            <a:r>
              <a:rPr lang="fr-FR" sz="1200" dirty="0">
                <a:solidFill>
                  <a:srgbClr val="000000"/>
                </a:solidFill>
                <a:latin typeface="Cascadia Mono" panose="020B0609020000020004" pitchFamily="49" charset="0"/>
              </a:rPr>
              <a:t>            </a:t>
            </a:r>
            <a:r>
              <a:rPr lang="fr-FR" sz="1200" dirty="0">
                <a:solidFill>
                  <a:srgbClr val="008000"/>
                </a:solidFill>
                <a:latin typeface="Cascadia Mono" panose="020B0609020000020004" pitchFamily="49" charset="0"/>
              </a:rPr>
              <a:t>//Ecrire ici le processus de validation </a:t>
            </a:r>
            <a:endParaRPr lang="fr-FR" sz="1200" dirty="0">
              <a:solidFill>
                <a:srgbClr val="000000"/>
              </a:solidFill>
              <a:latin typeface="Cascadia Mono" panose="020B0609020000020004" pitchFamily="49" charset="0"/>
            </a:endParaRPr>
          </a:p>
          <a:p>
            <a:r>
              <a:rPr lang="fr-FR" sz="1200" dirty="0">
                <a:solidFill>
                  <a:srgbClr val="000000"/>
                </a:solidFill>
                <a:latin typeface="Cascadia Mono" panose="020B0609020000020004" pitchFamily="49" charset="0"/>
              </a:rPr>
              <a:t>        }</a:t>
            </a:r>
            <a:endParaRPr lang="fr-FR" sz="1200" dirty="0"/>
          </a:p>
        </p:txBody>
      </p:sp>
      <p:sp>
        <p:nvSpPr>
          <p:cNvPr id="5" name="Rectangle 4"/>
          <p:cNvSpPr/>
          <p:nvPr/>
        </p:nvSpPr>
        <p:spPr>
          <a:xfrm>
            <a:off x="6298489" y="5510334"/>
            <a:ext cx="4107215" cy="584775"/>
          </a:xfrm>
          <a:prstGeom prst="rect">
            <a:avLst/>
          </a:prstGeom>
        </p:spPr>
        <p:txBody>
          <a:bodyPr wrap="none">
            <a:spAutoFit/>
          </a:bodyPr>
          <a:lstStyle/>
          <a:p>
            <a:pPr algn="ctr"/>
            <a:r>
              <a:rPr lang="fr-FR" altLang="en-US" sz="1600" dirty="0" smtClean="0">
                <a:latin typeface="Segoe UI "/>
              </a:rPr>
              <a:t>Exemple de propriété attachée pour valider</a:t>
            </a:r>
          </a:p>
          <a:p>
            <a:pPr algn="ctr"/>
            <a:r>
              <a:rPr lang="fr-FR" sz="1600" dirty="0" smtClean="0">
                <a:latin typeface="Segoe UI "/>
              </a:rPr>
              <a:t>Les entrées de mail  </a:t>
            </a:r>
            <a:endParaRPr lang="fr-FR" sz="1600" dirty="0"/>
          </a:p>
        </p:txBody>
      </p:sp>
    </p:spTree>
    <p:extLst>
      <p:ext uri="{BB962C8B-B14F-4D97-AF65-F5344CB8AC3E}">
        <p14:creationId xmlns:p14="http://schemas.microsoft.com/office/powerpoint/2010/main" val="3461739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57"/>
          <p:cNvSpPr txBox="1"/>
          <p:nvPr/>
        </p:nvSpPr>
        <p:spPr>
          <a:xfrm>
            <a:off x="618236" y="695897"/>
            <a:ext cx="5865813" cy="346249"/>
          </a:xfrm>
          <a:prstGeom prst="rect">
            <a:avLst/>
          </a:prstGeom>
        </p:spPr>
        <p:txBody>
          <a:bodyPr lIns="0" tIns="0" rIns="0" bIns="0">
            <a:spAutoFit/>
          </a:bodyPr>
          <a:lstStyle/>
          <a:p>
            <a:pPr marL="12700" eaLnBrk="1" fontAlgn="auto" hangingPunct="1">
              <a:spcBef>
                <a:spcPts val="0"/>
              </a:spcBef>
              <a:spcAft>
                <a:spcPts val="0"/>
              </a:spcAft>
              <a:tabLst>
                <a:tab pos="5852795" algn="l"/>
              </a:tabLst>
              <a:defRPr/>
            </a:pPr>
            <a:r>
              <a:rPr lang="fr-FR" sz="2250" u="heavy" spc="-25" dirty="0" smtClean="0">
                <a:latin typeface="Segoe UI Symbol"/>
                <a:cs typeface="Segoe UI Symbol"/>
              </a:rPr>
              <a:t>Le binding avec </a:t>
            </a:r>
            <a:r>
              <a:rPr sz="2250" u="heavy" spc="-25" dirty="0" err="1" smtClean="0">
                <a:latin typeface="Segoe UI Symbol"/>
                <a:cs typeface="Segoe UI Symbol"/>
              </a:rPr>
              <a:t>I</a:t>
            </a:r>
            <a:r>
              <a:rPr sz="2250" u="heavy" spc="-55" dirty="0" err="1" smtClean="0">
                <a:latin typeface="Segoe UI Symbol"/>
                <a:cs typeface="Segoe UI Symbol"/>
              </a:rPr>
              <a:t>N</a:t>
            </a:r>
            <a:r>
              <a:rPr sz="2250" u="heavy" spc="-75" dirty="0" err="1" smtClean="0">
                <a:latin typeface="Segoe UI Symbol"/>
                <a:cs typeface="Segoe UI Symbol"/>
              </a:rPr>
              <a:t>o</a:t>
            </a:r>
            <a:r>
              <a:rPr sz="2250" u="heavy" spc="-45" dirty="0" err="1" smtClean="0">
                <a:latin typeface="Segoe UI Symbol"/>
                <a:cs typeface="Segoe UI Symbol"/>
              </a:rPr>
              <a:t>t</a:t>
            </a:r>
            <a:r>
              <a:rPr sz="2250" u="heavy" spc="-70" dirty="0" err="1" smtClean="0">
                <a:latin typeface="Segoe UI Symbol"/>
                <a:cs typeface="Segoe UI Symbol"/>
              </a:rPr>
              <a:t>i</a:t>
            </a:r>
            <a:r>
              <a:rPr sz="2250" u="heavy" spc="-35" dirty="0" err="1" smtClean="0">
                <a:latin typeface="Segoe UI Symbol"/>
                <a:cs typeface="Segoe UI Symbol"/>
              </a:rPr>
              <a:t>f</a:t>
            </a:r>
            <a:r>
              <a:rPr sz="2250" u="heavy" spc="-40" dirty="0" err="1" smtClean="0">
                <a:latin typeface="Segoe UI Symbol"/>
                <a:cs typeface="Segoe UI Symbol"/>
              </a:rPr>
              <a:t>y</a:t>
            </a:r>
            <a:r>
              <a:rPr sz="2250" u="heavy" spc="-70" dirty="0" err="1" smtClean="0">
                <a:latin typeface="Segoe UI Symbol"/>
                <a:cs typeface="Segoe UI Symbol"/>
              </a:rPr>
              <a:t>P</a:t>
            </a:r>
            <a:r>
              <a:rPr sz="2250" u="heavy" spc="-114" dirty="0" err="1" smtClean="0">
                <a:latin typeface="Segoe UI Symbol"/>
                <a:cs typeface="Segoe UI Symbol"/>
              </a:rPr>
              <a:t>r</a:t>
            </a:r>
            <a:r>
              <a:rPr sz="2250" u="heavy" spc="-30" dirty="0" err="1" smtClean="0">
                <a:latin typeface="Segoe UI Symbol"/>
                <a:cs typeface="Segoe UI Symbol"/>
              </a:rPr>
              <a:t>o</a:t>
            </a:r>
            <a:r>
              <a:rPr sz="2250" u="heavy" spc="-80" dirty="0" err="1" smtClean="0">
                <a:latin typeface="Segoe UI Symbol"/>
                <a:cs typeface="Segoe UI Symbol"/>
              </a:rPr>
              <a:t>p</a:t>
            </a:r>
            <a:r>
              <a:rPr sz="2250" u="heavy" spc="-30" dirty="0" err="1" smtClean="0">
                <a:latin typeface="Segoe UI Symbol"/>
                <a:cs typeface="Segoe UI Symbol"/>
              </a:rPr>
              <a:t>e</a:t>
            </a:r>
            <a:r>
              <a:rPr sz="2250" u="heavy" spc="-65" dirty="0" err="1" smtClean="0">
                <a:latin typeface="Segoe UI Symbol"/>
                <a:cs typeface="Segoe UI Symbol"/>
              </a:rPr>
              <a:t>r</a:t>
            </a:r>
            <a:r>
              <a:rPr sz="2250" u="heavy" spc="-95" dirty="0" err="1" smtClean="0">
                <a:latin typeface="Segoe UI Symbol"/>
                <a:cs typeface="Segoe UI Symbol"/>
              </a:rPr>
              <a:t>t</a:t>
            </a:r>
            <a:r>
              <a:rPr sz="2250" u="heavy" spc="-40" dirty="0" err="1" smtClean="0">
                <a:latin typeface="Segoe UI Symbol"/>
                <a:cs typeface="Segoe UI Symbol"/>
              </a:rPr>
              <a:t>y</a:t>
            </a:r>
            <a:r>
              <a:rPr sz="2250" u="heavy" spc="-55" dirty="0" err="1" smtClean="0">
                <a:latin typeface="Segoe UI Symbol"/>
                <a:cs typeface="Segoe UI Symbol"/>
              </a:rPr>
              <a:t>C</a:t>
            </a:r>
            <a:r>
              <a:rPr sz="2250" u="heavy" spc="-80" dirty="0" err="1" smtClean="0">
                <a:latin typeface="Segoe UI Symbol"/>
                <a:cs typeface="Segoe UI Symbol"/>
              </a:rPr>
              <a:t>h</a:t>
            </a:r>
            <a:r>
              <a:rPr sz="2250" u="heavy" spc="-45" dirty="0" err="1" smtClean="0">
                <a:latin typeface="Segoe UI Symbol"/>
                <a:cs typeface="Segoe UI Symbol"/>
              </a:rPr>
              <a:t>a</a:t>
            </a:r>
            <a:r>
              <a:rPr sz="2250" u="heavy" spc="-80" dirty="0" err="1" smtClean="0">
                <a:latin typeface="Segoe UI Symbol"/>
                <a:cs typeface="Segoe UI Symbol"/>
              </a:rPr>
              <a:t>n</a:t>
            </a:r>
            <a:r>
              <a:rPr sz="2250" u="heavy" spc="-35" dirty="0" err="1" smtClean="0">
                <a:latin typeface="Segoe UI Symbol"/>
                <a:cs typeface="Segoe UI Symbol"/>
              </a:rPr>
              <a:t>g</a:t>
            </a:r>
            <a:r>
              <a:rPr sz="2250" u="heavy" spc="-80" dirty="0" err="1" smtClean="0">
                <a:latin typeface="Segoe UI Symbol"/>
                <a:cs typeface="Segoe UI Symbol"/>
              </a:rPr>
              <a:t>e</a:t>
            </a:r>
            <a:r>
              <a:rPr sz="2250" u="heavy" dirty="0" err="1" smtClean="0">
                <a:latin typeface="Segoe UI Symbol"/>
                <a:cs typeface="Segoe UI Symbol"/>
              </a:rPr>
              <a:t>d</a:t>
            </a:r>
            <a:r>
              <a:rPr sz="2250" u="heavy" spc="-120" dirty="0" smtClean="0">
                <a:latin typeface="Segoe UI Symbol"/>
                <a:cs typeface="Segoe UI Symbol"/>
              </a:rPr>
              <a:t> </a:t>
            </a:r>
            <a:endParaRPr sz="2250" dirty="0">
              <a:latin typeface="Times New Roman"/>
              <a:cs typeface="Times New Roman"/>
            </a:endParaRPr>
          </a:p>
        </p:txBody>
      </p:sp>
      <p:sp>
        <p:nvSpPr>
          <p:cNvPr id="7" name="Rectangle 6"/>
          <p:cNvSpPr/>
          <p:nvPr/>
        </p:nvSpPr>
        <p:spPr>
          <a:xfrm>
            <a:off x="503142" y="1236694"/>
            <a:ext cx="11148734" cy="646331"/>
          </a:xfrm>
          <a:prstGeom prst="rect">
            <a:avLst/>
          </a:prstGeom>
        </p:spPr>
        <p:txBody>
          <a:bodyPr wrap="square">
            <a:spAutoFit/>
          </a:bodyPr>
          <a:lstStyle/>
          <a:p>
            <a:pPr marL="285750" indent="-285750">
              <a:buFont typeface="Wingdings" panose="05000000000000000000" pitchFamily="2" charset="2"/>
              <a:buChar char="§"/>
            </a:pPr>
            <a:r>
              <a:rPr lang="fr-FR" dirty="0">
                <a:latin typeface="Segoe UI" panose="020B0502040204020203" pitchFamily="34" charset="0"/>
                <a:cs typeface="Segoe UI" panose="020B0502040204020203" pitchFamily="34" charset="0"/>
              </a:rPr>
              <a:t>Interface utilisée pour </a:t>
            </a:r>
            <a:r>
              <a:rPr lang="fr-FR" b="1" dirty="0">
                <a:latin typeface="Segoe UI" panose="020B0502040204020203" pitchFamily="34" charset="0"/>
                <a:cs typeface="Segoe UI" panose="020B0502040204020203" pitchFamily="34" charset="0"/>
              </a:rPr>
              <a:t>notifier après</a:t>
            </a:r>
            <a:r>
              <a:rPr lang="fr-FR" dirty="0">
                <a:latin typeface="Segoe UI" panose="020B0502040204020203" pitchFamily="34" charset="0"/>
                <a:cs typeface="Segoe UI" panose="020B0502040204020203" pitchFamily="34" charset="0"/>
              </a:rPr>
              <a:t> qu’une propriété a été </a:t>
            </a:r>
            <a:r>
              <a:rPr lang="fr-FR" dirty="0" smtClean="0">
                <a:latin typeface="Segoe UI" panose="020B0502040204020203" pitchFamily="34" charset="0"/>
                <a:cs typeface="Segoe UI" panose="020B0502040204020203" pitchFamily="34" charset="0"/>
              </a:rPr>
              <a:t>modifiée</a:t>
            </a:r>
            <a:r>
              <a:rPr lang="fr-FR" dirty="0" smtClean="0"/>
              <a:t>, </a:t>
            </a:r>
            <a:r>
              <a:rPr lang="fr-FR" dirty="0" smtClean="0">
                <a:latin typeface="Segoe UI" panose="020B0502040204020203" pitchFamily="34" charset="0"/>
                <a:cs typeface="Segoe UI" panose="020B0502040204020203" pitchFamily="34" charset="0"/>
              </a:rPr>
              <a:t>utilisée </a:t>
            </a:r>
            <a:r>
              <a:rPr lang="fr-FR" dirty="0" smtClean="0">
                <a:latin typeface="Segoe UI" panose="020B0502040204020203" pitchFamily="34" charset="0"/>
                <a:cs typeface="Segoe UI" panose="020B0502040204020203" pitchFamily="34" charset="0"/>
              </a:rPr>
              <a:t>dans un contexte d’implémentation du patron de concept MVVM  </a:t>
            </a:r>
            <a:endParaRPr lang="fr-FR" dirty="0"/>
          </a:p>
        </p:txBody>
      </p:sp>
      <p:sp>
        <p:nvSpPr>
          <p:cNvPr id="4" name="Rectangle 3"/>
          <p:cNvSpPr/>
          <p:nvPr/>
        </p:nvSpPr>
        <p:spPr>
          <a:xfrm>
            <a:off x="930442" y="2077573"/>
            <a:ext cx="8333874" cy="4154984"/>
          </a:xfrm>
          <a:prstGeom prst="rect">
            <a:avLst/>
          </a:prstGeom>
        </p:spPr>
        <p:txBody>
          <a:bodyPr wrap="square">
            <a:spAutoFit/>
          </a:bodyPr>
          <a:lstStyle/>
          <a:p>
            <a:r>
              <a:rPr lang="en-US" sz="1200" dirty="0">
                <a:solidFill>
                  <a:srgbClr val="000000"/>
                </a:solidFill>
                <a:latin typeface="Cascadia Mono" panose="020B0609020000020004" pitchFamily="49" charset="0"/>
              </a:rPr>
              <a:t>public class </a:t>
            </a:r>
            <a:r>
              <a:rPr lang="en-US" sz="1200" dirty="0" err="1">
                <a:solidFill>
                  <a:srgbClr val="000000"/>
                </a:solidFill>
                <a:latin typeface="Cascadia Mono" panose="020B0609020000020004" pitchFamily="49" charset="0"/>
              </a:rPr>
              <a:t>Personne</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INotifyPropertyChanged</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public event </a:t>
            </a:r>
            <a:r>
              <a:rPr lang="en-US" sz="1200" dirty="0" err="1">
                <a:solidFill>
                  <a:srgbClr val="000000"/>
                </a:solidFill>
                <a:latin typeface="Cascadia Mono" panose="020B0609020000020004" pitchFamily="49" charset="0"/>
              </a:rPr>
              <a:t>PropertyChangedEventHandler</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PropertyChanged</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protected void </a:t>
            </a:r>
            <a:r>
              <a:rPr lang="en-US" sz="1200" dirty="0" err="1">
                <a:solidFill>
                  <a:srgbClr val="000000"/>
                </a:solidFill>
                <a:latin typeface="Cascadia Mono" panose="020B0609020000020004" pitchFamily="49" charset="0"/>
              </a:rPr>
              <a:t>OnPropertyChanged</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CallerMemberName</a:t>
            </a:r>
            <a:r>
              <a:rPr lang="en-US" sz="1200" dirty="0">
                <a:solidFill>
                  <a:srgbClr val="000000"/>
                </a:solidFill>
                <a:latin typeface="Cascadia Mono" panose="020B0609020000020004" pitchFamily="49" charset="0"/>
              </a:rPr>
              <a:t>] string </a:t>
            </a:r>
            <a:r>
              <a:rPr lang="en-US" sz="1200" dirty="0" err="1">
                <a:solidFill>
                  <a:srgbClr val="000000"/>
                </a:solidFill>
                <a:latin typeface="Cascadia Mono" panose="020B0609020000020004" pitchFamily="49" charset="0"/>
              </a:rPr>
              <a:t>propName</a:t>
            </a:r>
            <a:r>
              <a:rPr lang="en-US" sz="1200" dirty="0">
                <a:solidFill>
                  <a:srgbClr val="000000"/>
                </a:solidFill>
                <a:latin typeface="Cascadia Mono" panose="020B0609020000020004" pitchFamily="49" charset="0"/>
              </a:rPr>
              <a:t> = null)</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if (</a:t>
            </a:r>
            <a:r>
              <a:rPr lang="en-US" sz="1200" dirty="0" err="1">
                <a:solidFill>
                  <a:srgbClr val="000000"/>
                </a:solidFill>
                <a:latin typeface="Cascadia Mono" panose="020B0609020000020004" pitchFamily="49" charset="0"/>
              </a:rPr>
              <a:t>PropertyChanged</a:t>
            </a:r>
            <a:r>
              <a:rPr lang="en-US" sz="1200" dirty="0">
                <a:solidFill>
                  <a:srgbClr val="000000"/>
                </a:solidFill>
                <a:latin typeface="Cascadia Mono" panose="020B0609020000020004" pitchFamily="49" charset="0"/>
              </a:rPr>
              <a:t> != null)</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PropertyChanged</a:t>
            </a:r>
            <a:r>
              <a:rPr lang="en-US" sz="1200" dirty="0">
                <a:solidFill>
                  <a:srgbClr val="000000"/>
                </a:solidFill>
                <a:latin typeface="Cascadia Mono" panose="020B0609020000020004" pitchFamily="49" charset="0"/>
              </a:rPr>
              <a:t>(this, new </a:t>
            </a:r>
            <a:r>
              <a:rPr lang="en-US" sz="1200" dirty="0" err="1">
                <a:solidFill>
                  <a:srgbClr val="000000"/>
                </a:solidFill>
                <a:latin typeface="Cascadia Mono" panose="020B0609020000020004" pitchFamily="49" charset="0"/>
              </a:rPr>
              <a:t>PropertyChangedEventArgs</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propName</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private </a:t>
            </a:r>
            <a:r>
              <a:rPr lang="en-US" sz="1200" dirty="0" err="1">
                <a:solidFill>
                  <a:srgbClr val="000000"/>
                </a:solidFill>
                <a:latin typeface="Cascadia Mono" panose="020B0609020000020004" pitchFamily="49" charset="0"/>
              </a:rPr>
              <a:t>int</a:t>
            </a:r>
            <a:r>
              <a:rPr lang="en-US" sz="1200" dirty="0">
                <a:solidFill>
                  <a:srgbClr val="000000"/>
                </a:solidFill>
                <a:latin typeface="Cascadia Mono" panose="020B0609020000020004" pitchFamily="49" charset="0"/>
              </a:rPr>
              <a:t> age;</a:t>
            </a:r>
          </a:p>
          <a:p>
            <a:r>
              <a:rPr lang="en-US" sz="1200" dirty="0">
                <a:solidFill>
                  <a:srgbClr val="000000"/>
                </a:solidFill>
                <a:latin typeface="Cascadia Mono" panose="020B0609020000020004" pitchFamily="49" charset="0"/>
              </a:rPr>
              <a:t>    public </a:t>
            </a:r>
            <a:r>
              <a:rPr lang="en-US" sz="1200" dirty="0" err="1">
                <a:solidFill>
                  <a:srgbClr val="000000"/>
                </a:solidFill>
                <a:latin typeface="Cascadia Mono" panose="020B0609020000020004" pitchFamily="49" charset="0"/>
              </a:rPr>
              <a:t>int</a:t>
            </a:r>
            <a:r>
              <a:rPr lang="en-US" sz="1200" dirty="0">
                <a:solidFill>
                  <a:srgbClr val="000000"/>
                </a:solidFill>
                <a:latin typeface="Cascadia Mono" panose="020B0609020000020004" pitchFamily="49" charset="0"/>
              </a:rPr>
              <a:t> Age</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set</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age = value;</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OnPropertyChanged</a:t>
            </a:r>
            <a:r>
              <a:rPr lang="en-US"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get</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return age;</a:t>
            </a:r>
          </a:p>
          <a:p>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 </a:t>
            </a:r>
          </a:p>
          <a:p>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2561101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57"/>
          <p:cNvSpPr txBox="1"/>
          <p:nvPr/>
        </p:nvSpPr>
        <p:spPr>
          <a:xfrm>
            <a:off x="618236" y="695897"/>
            <a:ext cx="5865813" cy="346249"/>
          </a:xfrm>
          <a:prstGeom prst="rect">
            <a:avLst/>
          </a:prstGeom>
        </p:spPr>
        <p:txBody>
          <a:bodyPr lIns="0" tIns="0" rIns="0" bIns="0">
            <a:spAutoFit/>
          </a:bodyPr>
          <a:lstStyle/>
          <a:p>
            <a:pPr marL="12700" eaLnBrk="1" fontAlgn="auto" hangingPunct="1">
              <a:spcBef>
                <a:spcPts val="0"/>
              </a:spcBef>
              <a:spcAft>
                <a:spcPts val="0"/>
              </a:spcAft>
              <a:tabLst>
                <a:tab pos="5852795" algn="l"/>
              </a:tabLst>
              <a:defRPr/>
            </a:pPr>
            <a:r>
              <a:rPr lang="fr-FR" sz="2250" u="heavy" spc="-25" dirty="0" smtClean="0">
                <a:latin typeface="Segoe UI Symbol"/>
                <a:cs typeface="Segoe UI Symbol"/>
              </a:rPr>
              <a:t>Le binding avec </a:t>
            </a:r>
            <a:r>
              <a:rPr sz="2250" u="heavy" spc="-25" dirty="0" err="1" smtClean="0">
                <a:latin typeface="Segoe UI Symbol"/>
                <a:cs typeface="Segoe UI Symbol"/>
              </a:rPr>
              <a:t>I</a:t>
            </a:r>
            <a:r>
              <a:rPr sz="2250" u="heavy" spc="-55" dirty="0" err="1" smtClean="0">
                <a:latin typeface="Segoe UI Symbol"/>
                <a:cs typeface="Segoe UI Symbol"/>
              </a:rPr>
              <a:t>N</a:t>
            </a:r>
            <a:r>
              <a:rPr sz="2250" u="heavy" spc="-75" dirty="0" err="1" smtClean="0">
                <a:latin typeface="Segoe UI Symbol"/>
                <a:cs typeface="Segoe UI Symbol"/>
              </a:rPr>
              <a:t>o</a:t>
            </a:r>
            <a:r>
              <a:rPr sz="2250" u="heavy" spc="-45" dirty="0" err="1" smtClean="0">
                <a:latin typeface="Segoe UI Symbol"/>
                <a:cs typeface="Segoe UI Symbol"/>
              </a:rPr>
              <a:t>t</a:t>
            </a:r>
            <a:r>
              <a:rPr sz="2250" u="heavy" spc="-70" dirty="0" err="1" smtClean="0">
                <a:latin typeface="Segoe UI Symbol"/>
                <a:cs typeface="Segoe UI Symbol"/>
              </a:rPr>
              <a:t>i</a:t>
            </a:r>
            <a:r>
              <a:rPr sz="2250" u="heavy" spc="-35" dirty="0" err="1" smtClean="0">
                <a:latin typeface="Segoe UI Symbol"/>
                <a:cs typeface="Segoe UI Symbol"/>
              </a:rPr>
              <a:t>f</a:t>
            </a:r>
            <a:r>
              <a:rPr sz="2250" u="heavy" spc="-40" dirty="0" err="1" smtClean="0">
                <a:latin typeface="Segoe UI Symbol"/>
                <a:cs typeface="Segoe UI Symbol"/>
              </a:rPr>
              <a:t>y</a:t>
            </a:r>
            <a:r>
              <a:rPr sz="2250" u="heavy" spc="-70" dirty="0" err="1" smtClean="0">
                <a:latin typeface="Segoe UI Symbol"/>
                <a:cs typeface="Segoe UI Symbol"/>
              </a:rPr>
              <a:t>P</a:t>
            </a:r>
            <a:r>
              <a:rPr sz="2250" u="heavy" spc="-114" dirty="0" err="1" smtClean="0">
                <a:latin typeface="Segoe UI Symbol"/>
                <a:cs typeface="Segoe UI Symbol"/>
              </a:rPr>
              <a:t>r</a:t>
            </a:r>
            <a:r>
              <a:rPr sz="2250" u="heavy" spc="-30" dirty="0" err="1" smtClean="0">
                <a:latin typeface="Segoe UI Symbol"/>
                <a:cs typeface="Segoe UI Symbol"/>
              </a:rPr>
              <a:t>o</a:t>
            </a:r>
            <a:r>
              <a:rPr sz="2250" u="heavy" spc="-80" dirty="0" err="1" smtClean="0">
                <a:latin typeface="Segoe UI Symbol"/>
                <a:cs typeface="Segoe UI Symbol"/>
              </a:rPr>
              <a:t>p</a:t>
            </a:r>
            <a:r>
              <a:rPr sz="2250" u="heavy" spc="-30" dirty="0" err="1" smtClean="0">
                <a:latin typeface="Segoe UI Symbol"/>
                <a:cs typeface="Segoe UI Symbol"/>
              </a:rPr>
              <a:t>e</a:t>
            </a:r>
            <a:r>
              <a:rPr sz="2250" u="heavy" spc="-65" dirty="0" err="1" smtClean="0">
                <a:latin typeface="Segoe UI Symbol"/>
                <a:cs typeface="Segoe UI Symbol"/>
              </a:rPr>
              <a:t>r</a:t>
            </a:r>
            <a:r>
              <a:rPr sz="2250" u="heavy" spc="-95" dirty="0" err="1" smtClean="0">
                <a:latin typeface="Segoe UI Symbol"/>
                <a:cs typeface="Segoe UI Symbol"/>
              </a:rPr>
              <a:t>t</a:t>
            </a:r>
            <a:r>
              <a:rPr sz="2250" u="heavy" spc="-40" dirty="0" err="1" smtClean="0">
                <a:latin typeface="Segoe UI Symbol"/>
                <a:cs typeface="Segoe UI Symbol"/>
              </a:rPr>
              <a:t>y</a:t>
            </a:r>
            <a:r>
              <a:rPr sz="2250" u="heavy" spc="-55" dirty="0" err="1" smtClean="0">
                <a:latin typeface="Segoe UI Symbol"/>
                <a:cs typeface="Segoe UI Symbol"/>
              </a:rPr>
              <a:t>C</a:t>
            </a:r>
            <a:r>
              <a:rPr sz="2250" u="heavy" spc="-80" dirty="0" err="1" smtClean="0">
                <a:latin typeface="Segoe UI Symbol"/>
                <a:cs typeface="Segoe UI Symbol"/>
              </a:rPr>
              <a:t>h</a:t>
            </a:r>
            <a:r>
              <a:rPr sz="2250" u="heavy" spc="-45" dirty="0" err="1" smtClean="0">
                <a:latin typeface="Segoe UI Symbol"/>
                <a:cs typeface="Segoe UI Symbol"/>
              </a:rPr>
              <a:t>a</a:t>
            </a:r>
            <a:r>
              <a:rPr sz="2250" u="heavy" spc="-80" dirty="0" err="1" smtClean="0">
                <a:latin typeface="Segoe UI Symbol"/>
                <a:cs typeface="Segoe UI Symbol"/>
              </a:rPr>
              <a:t>n</a:t>
            </a:r>
            <a:r>
              <a:rPr sz="2250" u="heavy" spc="-35" dirty="0" err="1" smtClean="0">
                <a:latin typeface="Segoe UI Symbol"/>
                <a:cs typeface="Segoe UI Symbol"/>
              </a:rPr>
              <a:t>g</a:t>
            </a:r>
            <a:r>
              <a:rPr lang="fr-FR" sz="2250" u="heavy" spc="-80" dirty="0" err="1" smtClean="0">
                <a:latin typeface="Segoe UI Symbol"/>
                <a:cs typeface="Segoe UI Symbol"/>
              </a:rPr>
              <a:t>ing</a:t>
            </a:r>
            <a:r>
              <a:rPr sz="2250" u="heavy" spc="-120" dirty="0" smtClean="0">
                <a:latin typeface="Segoe UI Symbol"/>
                <a:cs typeface="Segoe UI Symbol"/>
              </a:rPr>
              <a:t> </a:t>
            </a:r>
            <a:endParaRPr sz="2250" dirty="0">
              <a:latin typeface="Times New Roman"/>
              <a:cs typeface="Times New Roman"/>
            </a:endParaRPr>
          </a:p>
        </p:txBody>
      </p:sp>
      <p:sp>
        <p:nvSpPr>
          <p:cNvPr id="7" name="Rectangle 6"/>
          <p:cNvSpPr/>
          <p:nvPr/>
        </p:nvSpPr>
        <p:spPr>
          <a:xfrm>
            <a:off x="503142" y="1236694"/>
            <a:ext cx="11148734" cy="369332"/>
          </a:xfrm>
          <a:prstGeom prst="rect">
            <a:avLst/>
          </a:prstGeom>
        </p:spPr>
        <p:txBody>
          <a:bodyPr wrap="square">
            <a:spAutoFit/>
          </a:bodyPr>
          <a:lstStyle/>
          <a:p>
            <a:pPr marL="285750" indent="-285750">
              <a:buFont typeface="Wingdings" panose="05000000000000000000" pitchFamily="2" charset="2"/>
              <a:buChar char="§"/>
            </a:pPr>
            <a:r>
              <a:rPr lang="fr-FR" dirty="0">
                <a:latin typeface="Segoe UI" panose="020B0502040204020203" pitchFamily="34" charset="0"/>
                <a:cs typeface="Segoe UI" panose="020B0502040204020203" pitchFamily="34" charset="0"/>
              </a:rPr>
              <a:t>Interface utilisée pour </a:t>
            </a:r>
            <a:r>
              <a:rPr lang="fr-FR" b="1" dirty="0">
                <a:latin typeface="Segoe UI" panose="020B0502040204020203" pitchFamily="34" charset="0"/>
                <a:cs typeface="Segoe UI" panose="020B0502040204020203" pitchFamily="34" charset="0"/>
              </a:rPr>
              <a:t>notifier avant</a:t>
            </a:r>
            <a:r>
              <a:rPr lang="fr-FR" dirty="0">
                <a:latin typeface="Segoe UI" panose="020B0502040204020203" pitchFamily="34" charset="0"/>
                <a:cs typeface="Segoe UI" panose="020B0502040204020203" pitchFamily="34" charset="0"/>
              </a:rPr>
              <a:t> qu’une propriété change</a:t>
            </a:r>
            <a:endParaRPr lang="fr-FR" dirty="0">
              <a:latin typeface="Segoe UI" panose="020B0502040204020203" pitchFamily="34" charset="0"/>
              <a:cs typeface="Segoe UI" panose="020B0502040204020203" pitchFamily="34" charset="0"/>
            </a:endParaRPr>
          </a:p>
        </p:txBody>
      </p:sp>
      <p:sp>
        <p:nvSpPr>
          <p:cNvPr id="3" name="Rectangle 2"/>
          <p:cNvSpPr/>
          <p:nvPr/>
        </p:nvSpPr>
        <p:spPr>
          <a:xfrm>
            <a:off x="768016" y="1696262"/>
            <a:ext cx="8087226" cy="4293483"/>
          </a:xfrm>
          <a:prstGeom prst="rect">
            <a:avLst/>
          </a:prstGeom>
        </p:spPr>
        <p:txBody>
          <a:bodyPr wrap="square">
            <a:spAutoFit/>
          </a:bodyPr>
          <a:lstStyle/>
          <a:p>
            <a:r>
              <a:rPr lang="en-US" sz="1050" dirty="0">
                <a:solidFill>
                  <a:srgbClr val="000000"/>
                </a:solidFill>
                <a:latin typeface="Cascadia Mono" panose="020B0609020000020004" pitchFamily="49" charset="0"/>
              </a:rPr>
              <a:t>public class </a:t>
            </a:r>
            <a:r>
              <a:rPr lang="en-US" sz="1050" dirty="0" err="1">
                <a:solidFill>
                  <a:srgbClr val="000000"/>
                </a:solidFill>
                <a:latin typeface="Cascadia Mono" panose="020B0609020000020004" pitchFamily="49" charset="0"/>
              </a:rPr>
              <a:t>Personne</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INotifyPropertyChanging</a:t>
            </a:r>
            <a:endParaRPr lang="en-US"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public event </a:t>
            </a:r>
            <a:r>
              <a:rPr lang="en-US" sz="1050" dirty="0" err="1">
                <a:solidFill>
                  <a:srgbClr val="000000"/>
                </a:solidFill>
                <a:latin typeface="Cascadia Mono" panose="020B0609020000020004" pitchFamily="49" charset="0"/>
              </a:rPr>
              <a:t>System.ComponentModel.PropertyChangingEventHandler</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PropertyChanging</a:t>
            </a:r>
            <a:r>
              <a:rPr lang="en-US" sz="1050" dirty="0">
                <a:solidFill>
                  <a:srgbClr val="000000"/>
                </a:solidFill>
                <a:latin typeface="Cascadia Mono" panose="020B0609020000020004" pitchFamily="49" charset="0"/>
              </a:rPr>
              <a:t>;</a:t>
            </a:r>
          </a:p>
          <a:p>
            <a:endParaRPr lang="en-US"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protected void </a:t>
            </a:r>
            <a:r>
              <a:rPr lang="en-US" sz="1050" dirty="0" err="1">
                <a:solidFill>
                  <a:srgbClr val="000000"/>
                </a:solidFill>
                <a:latin typeface="Cascadia Mono" panose="020B0609020000020004" pitchFamily="49" charset="0"/>
              </a:rPr>
              <a:t>OnPropertyChanging</a:t>
            </a:r>
            <a:r>
              <a:rPr lang="en-US" sz="1050" dirty="0">
                <a:solidFill>
                  <a:srgbClr val="000000"/>
                </a:solidFill>
                <a:latin typeface="Cascadia Mono" panose="020B0609020000020004" pitchFamily="49" charset="0"/>
              </a:rPr>
              <a:t>([</a:t>
            </a:r>
            <a:r>
              <a:rPr lang="en-US" sz="1050" dirty="0" err="1">
                <a:solidFill>
                  <a:srgbClr val="000000"/>
                </a:solidFill>
                <a:latin typeface="Cascadia Mono" panose="020B0609020000020004" pitchFamily="49" charset="0"/>
              </a:rPr>
              <a:t>CallerMemberName</a:t>
            </a:r>
            <a:r>
              <a:rPr lang="en-US" sz="1050" dirty="0">
                <a:solidFill>
                  <a:srgbClr val="000000"/>
                </a:solidFill>
                <a:latin typeface="Cascadia Mono" panose="020B0609020000020004" pitchFamily="49" charset="0"/>
              </a:rPr>
              <a:t>] string </a:t>
            </a:r>
            <a:r>
              <a:rPr lang="en-US" sz="1050" dirty="0" err="1">
                <a:solidFill>
                  <a:srgbClr val="000000"/>
                </a:solidFill>
                <a:latin typeface="Cascadia Mono" panose="020B0609020000020004" pitchFamily="49" charset="0"/>
              </a:rPr>
              <a:t>propertyName</a:t>
            </a:r>
            <a:r>
              <a:rPr lang="en-US" sz="1050" dirty="0">
                <a:solidFill>
                  <a:srgbClr val="000000"/>
                </a:solidFill>
                <a:latin typeface="Cascadia Mono" panose="020B0609020000020004" pitchFamily="49" charset="0"/>
              </a:rPr>
              <a:t> = null)</a:t>
            </a:r>
          </a:p>
          <a:p>
            <a:r>
              <a:rPr lang="en-US"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PropertyChanging</a:t>
            </a:r>
            <a:r>
              <a:rPr lang="en-US" sz="1050" dirty="0">
                <a:solidFill>
                  <a:srgbClr val="000000"/>
                </a:solidFill>
                <a:latin typeface="Cascadia Mono" panose="020B0609020000020004" pitchFamily="49" charset="0"/>
              </a:rPr>
              <a:t>?.Invoke(this, new </a:t>
            </a: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System.ComponentModel.PropertyChangingEventArgs</a:t>
            </a:r>
            <a:r>
              <a:rPr lang="en-US" sz="1050" dirty="0">
                <a:solidFill>
                  <a:srgbClr val="000000"/>
                </a:solidFill>
                <a:latin typeface="Cascadia Mono" panose="020B0609020000020004" pitchFamily="49" charset="0"/>
              </a:rPr>
              <a:t>(</a:t>
            </a:r>
            <a:r>
              <a:rPr lang="en-US" sz="1050" dirty="0" err="1">
                <a:solidFill>
                  <a:srgbClr val="000000"/>
                </a:solidFill>
                <a:latin typeface="Cascadia Mono" panose="020B0609020000020004" pitchFamily="49" charset="0"/>
              </a:rPr>
              <a:t>propertyName</a:t>
            </a:r>
            <a:r>
              <a:rPr lang="en-US"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a:t>
            </a:r>
          </a:p>
          <a:p>
            <a:endParaRPr lang="en-US"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private </a:t>
            </a:r>
            <a:r>
              <a:rPr lang="en-US" sz="1050" dirty="0" err="1">
                <a:solidFill>
                  <a:srgbClr val="000000"/>
                </a:solidFill>
                <a:latin typeface="Cascadia Mono" panose="020B0609020000020004" pitchFamily="49" charset="0"/>
              </a:rPr>
              <a:t>int</a:t>
            </a:r>
            <a:r>
              <a:rPr lang="en-US" sz="1050" dirty="0">
                <a:solidFill>
                  <a:srgbClr val="000000"/>
                </a:solidFill>
                <a:latin typeface="Cascadia Mono" panose="020B0609020000020004" pitchFamily="49" charset="0"/>
              </a:rPr>
              <a:t> age;</a:t>
            </a:r>
          </a:p>
          <a:p>
            <a:r>
              <a:rPr lang="en-US" sz="1050" dirty="0">
                <a:solidFill>
                  <a:srgbClr val="000000"/>
                </a:solidFill>
                <a:latin typeface="Cascadia Mono" panose="020B0609020000020004" pitchFamily="49" charset="0"/>
              </a:rPr>
              <a:t>    public </a:t>
            </a:r>
            <a:r>
              <a:rPr lang="en-US" sz="1050" dirty="0" err="1">
                <a:solidFill>
                  <a:srgbClr val="000000"/>
                </a:solidFill>
                <a:latin typeface="Cascadia Mono" panose="020B0609020000020004" pitchFamily="49" charset="0"/>
              </a:rPr>
              <a:t>int</a:t>
            </a:r>
            <a:r>
              <a:rPr lang="en-US" sz="1050" dirty="0">
                <a:solidFill>
                  <a:srgbClr val="000000"/>
                </a:solidFill>
                <a:latin typeface="Cascadia Mono" panose="020B0609020000020004" pitchFamily="49" charset="0"/>
              </a:rPr>
              <a:t> Age</a:t>
            </a:r>
          </a:p>
          <a:p>
            <a:r>
              <a:rPr lang="en-US"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get =&gt; age;</a:t>
            </a:r>
          </a:p>
          <a:p>
            <a:r>
              <a:rPr lang="en-US" sz="1050" dirty="0">
                <a:solidFill>
                  <a:srgbClr val="000000"/>
                </a:solidFill>
                <a:latin typeface="Cascadia Mono" panose="020B0609020000020004" pitchFamily="49" charset="0"/>
              </a:rPr>
              <a:t>        set</a:t>
            </a:r>
          </a:p>
          <a:p>
            <a:r>
              <a:rPr lang="en-US"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if (age != value)</a:t>
            </a:r>
          </a:p>
          <a:p>
            <a:r>
              <a:rPr lang="en-US"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Notifier</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avant</a:t>
            </a:r>
            <a:endParaRPr lang="en-US"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OnPropertyChanging</a:t>
            </a:r>
            <a:r>
              <a:rPr lang="en-US"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age = value;</a:t>
            </a:r>
          </a:p>
          <a:p>
            <a:r>
              <a:rPr lang="en-US"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p>
          <a:p>
            <a:endParaRPr lang="en-US"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537791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57"/>
          <p:cNvSpPr txBox="1"/>
          <p:nvPr/>
        </p:nvSpPr>
        <p:spPr>
          <a:xfrm>
            <a:off x="503936" y="304871"/>
            <a:ext cx="5865813" cy="346249"/>
          </a:xfrm>
          <a:prstGeom prst="rect">
            <a:avLst/>
          </a:prstGeom>
        </p:spPr>
        <p:txBody>
          <a:bodyPr lIns="0" tIns="0" rIns="0" bIns="0">
            <a:spAutoFit/>
          </a:bodyPr>
          <a:lstStyle/>
          <a:p>
            <a:pPr marL="12700" eaLnBrk="1" fontAlgn="auto" hangingPunct="1">
              <a:spcBef>
                <a:spcPts val="0"/>
              </a:spcBef>
              <a:spcAft>
                <a:spcPts val="0"/>
              </a:spcAft>
              <a:tabLst>
                <a:tab pos="5852795" algn="l"/>
              </a:tabLst>
              <a:defRPr/>
            </a:pPr>
            <a:r>
              <a:rPr lang="fr-FR" sz="2250" u="heavy" spc="-25" dirty="0" smtClean="0">
                <a:latin typeface="Segoe UI Symbol"/>
                <a:cs typeface="Segoe UI Symbol"/>
              </a:rPr>
              <a:t>Le binding avec </a:t>
            </a:r>
            <a:r>
              <a:rPr sz="2250" u="heavy" spc="-25" dirty="0" err="1" smtClean="0">
                <a:latin typeface="Segoe UI Symbol"/>
                <a:cs typeface="Segoe UI Symbol"/>
              </a:rPr>
              <a:t>I</a:t>
            </a:r>
            <a:r>
              <a:rPr sz="2250" u="heavy" spc="-55" dirty="0" err="1" smtClean="0">
                <a:latin typeface="Segoe UI Symbol"/>
                <a:cs typeface="Segoe UI Symbol"/>
              </a:rPr>
              <a:t>N</a:t>
            </a:r>
            <a:r>
              <a:rPr sz="2250" u="heavy" spc="-75" dirty="0" err="1" smtClean="0">
                <a:latin typeface="Segoe UI Symbol"/>
                <a:cs typeface="Segoe UI Symbol"/>
              </a:rPr>
              <a:t>o</a:t>
            </a:r>
            <a:r>
              <a:rPr sz="2250" u="heavy" spc="-45" dirty="0" err="1" smtClean="0">
                <a:latin typeface="Segoe UI Symbol"/>
                <a:cs typeface="Segoe UI Symbol"/>
              </a:rPr>
              <a:t>t</a:t>
            </a:r>
            <a:r>
              <a:rPr sz="2250" u="heavy" spc="-70" dirty="0" err="1" smtClean="0">
                <a:latin typeface="Segoe UI Symbol"/>
                <a:cs typeface="Segoe UI Symbol"/>
              </a:rPr>
              <a:t>i</a:t>
            </a:r>
            <a:r>
              <a:rPr sz="2250" u="heavy" spc="-35" dirty="0" err="1" smtClean="0">
                <a:latin typeface="Segoe UI Symbol"/>
                <a:cs typeface="Segoe UI Symbol"/>
              </a:rPr>
              <a:t>f</a:t>
            </a:r>
            <a:r>
              <a:rPr sz="2250" u="heavy" spc="-40" dirty="0" err="1" smtClean="0">
                <a:latin typeface="Segoe UI Symbol"/>
                <a:cs typeface="Segoe UI Symbol"/>
              </a:rPr>
              <a:t>y</a:t>
            </a:r>
            <a:r>
              <a:rPr lang="fr-FR" sz="2250" u="heavy" spc="-70" dirty="0" smtClean="0">
                <a:latin typeface="Segoe UI Symbol"/>
                <a:cs typeface="Segoe UI Symbol"/>
              </a:rPr>
              <a:t>Collection</a:t>
            </a:r>
            <a:r>
              <a:rPr sz="2250" u="heavy" spc="-55" dirty="0" smtClean="0">
                <a:latin typeface="Segoe UI Symbol"/>
                <a:cs typeface="Segoe UI Symbol"/>
              </a:rPr>
              <a:t>C</a:t>
            </a:r>
            <a:r>
              <a:rPr sz="2250" u="heavy" spc="-80" dirty="0" smtClean="0">
                <a:latin typeface="Segoe UI Symbol"/>
                <a:cs typeface="Segoe UI Symbol"/>
              </a:rPr>
              <a:t>h</a:t>
            </a:r>
            <a:r>
              <a:rPr sz="2250" u="heavy" spc="-45" dirty="0" smtClean="0">
                <a:latin typeface="Segoe UI Symbol"/>
                <a:cs typeface="Segoe UI Symbol"/>
              </a:rPr>
              <a:t>a</a:t>
            </a:r>
            <a:r>
              <a:rPr sz="2250" u="heavy" spc="-80" dirty="0" smtClean="0">
                <a:latin typeface="Segoe UI Symbol"/>
                <a:cs typeface="Segoe UI Symbol"/>
              </a:rPr>
              <a:t>n</a:t>
            </a:r>
            <a:r>
              <a:rPr sz="2250" u="heavy" spc="-35" dirty="0" smtClean="0">
                <a:latin typeface="Segoe UI Symbol"/>
                <a:cs typeface="Segoe UI Symbol"/>
              </a:rPr>
              <a:t>g</a:t>
            </a:r>
            <a:r>
              <a:rPr lang="fr-FR" sz="2250" u="heavy" spc="-80" dirty="0" err="1" smtClean="0">
                <a:latin typeface="Segoe UI Symbol"/>
                <a:cs typeface="Segoe UI Symbol"/>
              </a:rPr>
              <a:t>ed</a:t>
            </a:r>
            <a:r>
              <a:rPr sz="2250" u="heavy" spc="-120" dirty="0" smtClean="0">
                <a:latin typeface="Segoe UI Symbol"/>
                <a:cs typeface="Segoe UI Symbol"/>
              </a:rPr>
              <a:t> </a:t>
            </a:r>
            <a:endParaRPr sz="2250" dirty="0">
              <a:latin typeface="Times New Roman"/>
              <a:cs typeface="Times New Roman"/>
            </a:endParaRPr>
          </a:p>
        </p:txBody>
      </p:sp>
      <p:sp>
        <p:nvSpPr>
          <p:cNvPr id="4" name="Rectangle 1"/>
          <p:cNvSpPr>
            <a:spLocks noChangeArrowheads="1"/>
          </p:cNvSpPr>
          <p:nvPr/>
        </p:nvSpPr>
        <p:spPr bwMode="auto">
          <a:xfrm>
            <a:off x="503936" y="885736"/>
            <a:ext cx="1018099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
                <a:srgbClr val="0070C0"/>
              </a:buClr>
              <a:buSzTx/>
              <a:buFont typeface="Wingdings" panose="05000000000000000000" pitchFamily="2" charset="2"/>
              <a:buChar char="§"/>
              <a:tabLst/>
            </a:pPr>
            <a:r>
              <a:rPr kumimoji="0" lang="fr-FR" altLang="en-US" sz="1800" b="0" i="0" u="none" strike="noStrike" cap="none" normalizeH="0" baseline="0" dirty="0" smtClean="0">
                <a:ln>
                  <a:noFill/>
                </a:ln>
                <a:solidFill>
                  <a:schemeClr val="tx1"/>
                </a:solidFill>
                <a:effectLst/>
                <a:latin typeface="Arial" panose="020B0604020202020204" pitchFamily="34" charset="0"/>
              </a:rPr>
              <a:t>Interface qui permet de </a:t>
            </a:r>
            <a:r>
              <a:rPr kumimoji="0" lang="fr-FR" altLang="en-US" sz="1800" b="1" i="0" u="none" strike="noStrike" cap="none" normalizeH="0" baseline="0" dirty="0" smtClean="0">
                <a:ln>
                  <a:noFill/>
                </a:ln>
                <a:solidFill>
                  <a:schemeClr val="tx1"/>
                </a:solidFill>
                <a:effectLst/>
                <a:latin typeface="Arial" panose="020B0604020202020204" pitchFamily="34" charset="0"/>
              </a:rPr>
              <a:t>notifier l’UI ou d’autres observateurs quand la collection change</a:t>
            </a:r>
            <a:r>
              <a:rPr kumimoji="0" lang="fr-FR" altLang="en-US" sz="1800" b="0" i="0" u="none" strike="noStrike" cap="none" normalizeH="0" baseline="0" dirty="0" smtClean="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
                <a:srgbClr val="0070C0"/>
              </a:buClr>
              <a:buSzTx/>
              <a:buFont typeface="Wingdings" panose="05000000000000000000" pitchFamily="2" charset="2"/>
              <a:buChar char="§"/>
              <a:tabLst/>
            </a:pPr>
            <a:endParaRPr kumimoji="0" lang="fr-FR" alt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
                <a:srgbClr val="0070C0"/>
              </a:buClr>
              <a:buSzTx/>
              <a:buFont typeface="Wingdings" panose="05000000000000000000" pitchFamily="2" charset="2"/>
              <a:buChar char="§"/>
              <a:tabLst/>
            </a:pPr>
            <a:r>
              <a:rPr kumimoji="0" lang="fr-FR" altLang="en-US" sz="1800" b="0" i="0" u="none" strike="noStrike" cap="none" normalizeH="0" baseline="0" dirty="0" smtClean="0">
                <a:ln>
                  <a:noFill/>
                </a:ln>
                <a:solidFill>
                  <a:schemeClr val="tx1"/>
                </a:solidFill>
                <a:effectLst/>
                <a:latin typeface="Arial" panose="020B0604020202020204" pitchFamily="34" charset="0"/>
              </a:rPr>
              <a:t>Utilisée par exemple quand on ajoute, retire ou réordonne des éléments dans une liste de type </a:t>
            </a:r>
          </a:p>
          <a:p>
            <a:pPr marR="0" lvl="0" algn="l" defTabSz="914400" rtl="0" eaLnBrk="0" fontAlgn="base" latinLnBrk="0" hangingPunct="0">
              <a:lnSpc>
                <a:spcPct val="100000"/>
              </a:lnSpc>
              <a:spcBef>
                <a:spcPct val="0"/>
              </a:spcBef>
              <a:spcAft>
                <a:spcPct val="0"/>
              </a:spcAft>
              <a:buClr>
                <a:srgbClr val="0070C0"/>
              </a:buClr>
              <a:buSzTx/>
              <a:tabLst/>
            </a:pPr>
            <a:r>
              <a:rPr lang="fr-FR" altLang="en-US" dirty="0">
                <a:latin typeface="Arial" panose="020B0604020202020204" pitchFamily="34" charset="0"/>
              </a:rPr>
              <a:t> </a:t>
            </a:r>
            <a:r>
              <a:rPr lang="fr-FR" altLang="en-US" dirty="0" smtClean="0">
                <a:latin typeface="Arial" panose="020B0604020202020204" pitchFamily="34" charset="0"/>
              </a:rPr>
              <a:t>   </a:t>
            </a:r>
            <a:r>
              <a:rPr kumimoji="0" lang="fr-FR" altLang="en-US" sz="1800" b="1" i="0" u="none" strike="noStrike" cap="none" normalizeH="0" baseline="0" dirty="0" err="1" smtClean="0">
                <a:ln>
                  <a:noFill/>
                </a:ln>
                <a:solidFill>
                  <a:schemeClr val="tx1"/>
                </a:solidFill>
                <a:effectLst/>
                <a:latin typeface="Arial" panose="020B0604020202020204" pitchFamily="34" charset="0"/>
              </a:rPr>
              <a:t>ObservableCollection</a:t>
            </a:r>
            <a:r>
              <a:rPr kumimoji="0" lang="fr-FR" altLang="en-US" sz="1800" b="1" i="0" u="none" strike="noStrike" cap="none" normalizeH="0" baseline="0" dirty="0" smtClean="0">
                <a:ln>
                  <a:noFill/>
                </a:ln>
                <a:solidFill>
                  <a:schemeClr val="tx1"/>
                </a:solidFill>
                <a:effectLst/>
                <a:latin typeface="Arial" panose="020B0604020202020204" pitchFamily="34" charset="0"/>
              </a:rPr>
              <a:t>&lt;string&gt;</a:t>
            </a:r>
            <a:r>
              <a:rPr kumimoji="0" lang="fr-FR" altLang="en-US" sz="1800" b="0" i="0" u="none" strike="noStrike" cap="none" normalizeH="0" dirty="0" smtClean="0">
                <a:ln>
                  <a:noFill/>
                </a:ln>
                <a:solidFill>
                  <a:schemeClr val="tx1"/>
                </a:solidFill>
                <a:effectLst/>
                <a:latin typeface="Arial" panose="020B0604020202020204" pitchFamily="34" charset="0"/>
              </a:rPr>
              <a:t> qui implémente déjà cette interface</a:t>
            </a:r>
            <a:r>
              <a:rPr kumimoji="0" lang="fr-FR" altLang="en-US" sz="1800" b="0" i="0" u="none" strike="noStrike" cap="none" normalizeH="0" baseline="0" dirty="0" smtClean="0">
                <a:ln>
                  <a:noFill/>
                </a:ln>
                <a:solidFill>
                  <a:schemeClr val="tx1"/>
                </a:solidFill>
                <a:effectLst/>
                <a:latin typeface="Arial" panose="020B0604020202020204" pitchFamily="34" charset="0"/>
              </a:rPr>
              <a:t>.</a:t>
            </a:r>
          </a:p>
        </p:txBody>
      </p:sp>
      <p:sp>
        <p:nvSpPr>
          <p:cNvPr id="5" name="Rectangle 4"/>
          <p:cNvSpPr/>
          <p:nvPr/>
        </p:nvSpPr>
        <p:spPr>
          <a:xfrm>
            <a:off x="743951" y="2436991"/>
            <a:ext cx="9242259" cy="2585323"/>
          </a:xfrm>
          <a:prstGeom prst="rect">
            <a:avLst/>
          </a:prstGeom>
        </p:spPr>
        <p:txBody>
          <a:bodyPr wrap="square">
            <a:spAutoFit/>
          </a:bodyPr>
          <a:lstStyle/>
          <a:p>
            <a:r>
              <a:rPr lang="en-US" dirty="0"/>
              <a:t>public </a:t>
            </a:r>
            <a:r>
              <a:rPr lang="en-US" dirty="0" err="1"/>
              <a:t>ObservableCollection</a:t>
            </a:r>
            <a:r>
              <a:rPr lang="en-US" dirty="0"/>
              <a:t>&lt;string&gt; Names { get; set; } = new </a:t>
            </a:r>
            <a:r>
              <a:rPr lang="en-US" dirty="0" err="1"/>
              <a:t>ObservableCollection</a:t>
            </a:r>
            <a:r>
              <a:rPr lang="en-US" dirty="0"/>
              <a:t>&lt;string&gt;();</a:t>
            </a:r>
          </a:p>
          <a:p>
            <a:endParaRPr lang="en-US" dirty="0"/>
          </a:p>
          <a:p>
            <a:r>
              <a:rPr lang="en-US" dirty="0"/>
              <a:t>public </a:t>
            </a:r>
            <a:r>
              <a:rPr lang="en-US" dirty="0" err="1"/>
              <a:t>MyViewModel</a:t>
            </a:r>
            <a:r>
              <a:rPr lang="en-US" dirty="0"/>
              <a:t>()</a:t>
            </a:r>
          </a:p>
          <a:p>
            <a:r>
              <a:rPr lang="en-US" dirty="0"/>
              <a:t>{</a:t>
            </a:r>
          </a:p>
          <a:p>
            <a:r>
              <a:rPr lang="en-US" dirty="0"/>
              <a:t>    </a:t>
            </a:r>
            <a:r>
              <a:rPr lang="en-US" dirty="0" err="1"/>
              <a:t>Names.CollectionChanged</a:t>
            </a:r>
            <a:r>
              <a:rPr lang="en-US" dirty="0"/>
              <a:t> += (s, e) =&gt;</a:t>
            </a:r>
          </a:p>
          <a:p>
            <a:r>
              <a:rPr lang="en-US" dirty="0"/>
              <a:t>    {</a:t>
            </a:r>
          </a:p>
          <a:p>
            <a:r>
              <a:rPr lang="en-US" dirty="0"/>
              <a:t>        </a:t>
            </a:r>
            <a:r>
              <a:rPr lang="en-US" dirty="0" err="1"/>
              <a:t>Console.WriteLine</a:t>
            </a:r>
            <a:r>
              <a:rPr lang="en-US" dirty="0"/>
              <a:t>($"Action : {</a:t>
            </a:r>
            <a:r>
              <a:rPr lang="en-US" dirty="0" err="1"/>
              <a:t>e.Action</a:t>
            </a:r>
            <a:r>
              <a:rPr lang="en-US" dirty="0"/>
              <a:t>}");</a:t>
            </a:r>
          </a:p>
          <a:p>
            <a:r>
              <a:rPr lang="en-US" dirty="0"/>
              <a:t>    };</a:t>
            </a:r>
          </a:p>
          <a:p>
            <a:r>
              <a:rPr lang="en-US" dirty="0"/>
              <a:t>}</a:t>
            </a:r>
          </a:p>
        </p:txBody>
      </p:sp>
    </p:spTree>
    <p:extLst>
      <p:ext uri="{BB962C8B-B14F-4D97-AF65-F5344CB8AC3E}">
        <p14:creationId xmlns:p14="http://schemas.microsoft.com/office/powerpoint/2010/main" val="1595048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57"/>
          <p:cNvSpPr txBox="1"/>
          <p:nvPr/>
        </p:nvSpPr>
        <p:spPr>
          <a:xfrm>
            <a:off x="570110" y="371046"/>
            <a:ext cx="9319848" cy="692497"/>
          </a:xfrm>
          <a:prstGeom prst="rect">
            <a:avLst/>
          </a:prstGeom>
        </p:spPr>
        <p:txBody>
          <a:bodyPr wrap="square" lIns="0" tIns="0" rIns="0" bIns="0">
            <a:spAutoFit/>
          </a:bodyPr>
          <a:lstStyle/>
          <a:p>
            <a:pPr marL="12700" eaLnBrk="1" fontAlgn="auto" hangingPunct="1">
              <a:spcBef>
                <a:spcPts val="0"/>
              </a:spcBef>
              <a:spcAft>
                <a:spcPts val="0"/>
              </a:spcAft>
              <a:tabLst>
                <a:tab pos="5852795" algn="l"/>
              </a:tabLst>
              <a:defRPr/>
            </a:pPr>
            <a:r>
              <a:rPr lang="fr-FR" sz="2250" spc="-25" dirty="0" smtClean="0">
                <a:latin typeface="Segoe UI Symbol"/>
                <a:cs typeface="Segoe UI Symbol"/>
              </a:rPr>
              <a:t>Le binding avec les extensions de balisage </a:t>
            </a:r>
            <a:r>
              <a:rPr lang="fr-FR" sz="2250" spc="-25" dirty="0" err="1" smtClean="0">
                <a:latin typeface="Segoe UI Symbol"/>
                <a:cs typeface="Segoe UI Symbol"/>
              </a:rPr>
              <a:t>Markup</a:t>
            </a:r>
            <a:r>
              <a:rPr lang="fr-FR" sz="2250" spc="-25" dirty="0" smtClean="0">
                <a:latin typeface="Segoe UI Symbol"/>
                <a:cs typeface="Segoe UI Symbol"/>
              </a:rPr>
              <a:t> </a:t>
            </a:r>
            <a:r>
              <a:rPr lang="fr-FR" sz="2250" spc="-25" dirty="0" smtClean="0">
                <a:latin typeface="Segoe UI Symbol"/>
                <a:cs typeface="Segoe UI Symbol"/>
              </a:rPr>
              <a:t>Extension</a:t>
            </a:r>
          </a:p>
          <a:p>
            <a:pPr marL="12700" eaLnBrk="1" fontAlgn="auto" hangingPunct="1">
              <a:spcBef>
                <a:spcPts val="0"/>
              </a:spcBef>
              <a:spcAft>
                <a:spcPts val="0"/>
              </a:spcAft>
              <a:tabLst>
                <a:tab pos="5852795" algn="l"/>
              </a:tabLst>
              <a:defRPr/>
            </a:pPr>
            <a:r>
              <a:rPr sz="2250" u="heavy" dirty="0">
                <a:latin typeface="Times New Roman"/>
                <a:cs typeface="Times New Roman"/>
              </a:rPr>
              <a:t>	</a:t>
            </a:r>
            <a:endParaRPr sz="2250" dirty="0">
              <a:latin typeface="Times New Roman"/>
              <a:cs typeface="Times New Roman"/>
            </a:endParaRPr>
          </a:p>
        </p:txBody>
      </p:sp>
      <p:sp>
        <p:nvSpPr>
          <p:cNvPr id="7" name="Rectangle 6"/>
          <p:cNvSpPr/>
          <p:nvPr/>
        </p:nvSpPr>
        <p:spPr>
          <a:xfrm>
            <a:off x="570110" y="1175645"/>
            <a:ext cx="8987324" cy="4662815"/>
          </a:xfrm>
          <a:prstGeom prst="rect">
            <a:avLst/>
          </a:prstGeom>
        </p:spPr>
        <p:txBody>
          <a:bodyPr wrap="square">
            <a:spAutoFit/>
          </a:bodyPr>
          <a:lstStyle/>
          <a:p>
            <a:pPr marL="2857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Une extension de balisage permet d’ajouter un dynamisme au balisage XAML</a:t>
            </a:r>
          </a:p>
          <a:p>
            <a:pPr marL="285750"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Parmi les extensions de balisage on trouve </a:t>
            </a:r>
          </a:p>
          <a:p>
            <a:pPr marL="742950" lvl="1"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Binding</a:t>
            </a:r>
          </a:p>
          <a:p>
            <a:pPr marL="742950" lvl="1" indent="-285750">
              <a:lnSpc>
                <a:spcPct val="150000"/>
              </a:lnSpc>
              <a:buFont typeface="Wingdings" panose="05000000000000000000" pitchFamily="2" charset="2"/>
              <a:buChar char="§"/>
            </a:pPr>
            <a:r>
              <a:rPr lang="fr-FR" dirty="0" err="1" smtClean="0">
                <a:latin typeface="Segoe UI" panose="020B0502040204020203" pitchFamily="34" charset="0"/>
                <a:cs typeface="Segoe UI" panose="020B0502040204020203" pitchFamily="34" charset="0"/>
              </a:rPr>
              <a:t>StaticResources</a:t>
            </a:r>
            <a:endParaRPr lang="fr-FR" dirty="0" smtClean="0">
              <a:latin typeface="Segoe UI" panose="020B0502040204020203" pitchFamily="34" charset="0"/>
              <a:cs typeface="Segoe UI" panose="020B0502040204020203" pitchFamily="34" charset="0"/>
            </a:endParaRPr>
          </a:p>
          <a:p>
            <a:pPr marL="742950" lvl="1" indent="-285750">
              <a:lnSpc>
                <a:spcPct val="150000"/>
              </a:lnSpc>
              <a:buFont typeface="Wingdings" panose="05000000000000000000" pitchFamily="2" charset="2"/>
              <a:buChar char="§"/>
            </a:pPr>
            <a:r>
              <a:rPr lang="fr-FR" dirty="0" err="1" smtClean="0">
                <a:latin typeface="Segoe UI" panose="020B0502040204020203" pitchFamily="34" charset="0"/>
                <a:cs typeface="Segoe UI" panose="020B0502040204020203" pitchFamily="34" charset="0"/>
              </a:rPr>
              <a:t>DynamicResources</a:t>
            </a:r>
            <a:endParaRPr lang="fr-FR" dirty="0" smtClean="0">
              <a:latin typeface="Segoe UI" panose="020B0502040204020203" pitchFamily="34" charset="0"/>
              <a:cs typeface="Segoe UI" panose="020B0502040204020203" pitchFamily="34" charset="0"/>
            </a:endParaRPr>
          </a:p>
          <a:p>
            <a:pPr marL="742950" lvl="1"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Static</a:t>
            </a:r>
          </a:p>
          <a:p>
            <a:pPr marL="742950" lvl="1"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Type</a:t>
            </a:r>
          </a:p>
          <a:p>
            <a:pPr marL="742950" lvl="1" indent="-285750">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Relative Source</a:t>
            </a:r>
          </a:p>
          <a:p>
            <a:pPr marL="26988" lvl="1" indent="-26988">
              <a:lnSpc>
                <a:spcPct val="150000"/>
              </a:lnSpc>
              <a:buFont typeface="Wingdings" panose="05000000000000000000" pitchFamily="2" charset="2"/>
              <a:buChar char="§"/>
            </a:pPr>
            <a:r>
              <a:rPr lang="fr-FR" dirty="0">
                <a:latin typeface="Segoe UI" panose="020B0502040204020203" pitchFamily="34" charset="0"/>
                <a:cs typeface="Segoe UI" panose="020B0502040204020203" pitchFamily="34" charset="0"/>
              </a:rPr>
              <a:t> </a:t>
            </a:r>
            <a:r>
              <a:rPr lang="fr-FR" dirty="0" smtClean="0">
                <a:latin typeface="Segoe UI" panose="020B0502040204020203" pitchFamily="34" charset="0"/>
                <a:cs typeface="Segoe UI" panose="020B0502040204020203" pitchFamily="34" charset="0"/>
              </a:rPr>
              <a:t> C’est possible de créer son propre Extension de Balisage </a:t>
            </a:r>
          </a:p>
          <a:p>
            <a:pPr marL="484188" lvl="2" indent="-26988">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En héritant de l’un des classes évoquées si dessus</a:t>
            </a:r>
          </a:p>
          <a:p>
            <a:pPr marL="484188" lvl="2" indent="-26988">
              <a:lnSpc>
                <a:spcPct val="150000"/>
              </a:lnSpc>
              <a:buFont typeface="Wingdings" panose="05000000000000000000" pitchFamily="2" charset="2"/>
              <a:buChar char="§"/>
            </a:pPr>
            <a:r>
              <a:rPr lang="fr-FR" dirty="0" smtClean="0">
                <a:latin typeface="Segoe UI" panose="020B0502040204020203" pitchFamily="34" charset="0"/>
                <a:cs typeface="Segoe UI" panose="020B0502040204020203" pitchFamily="34" charset="0"/>
              </a:rPr>
              <a:t>En implémentant l’interface </a:t>
            </a:r>
            <a:r>
              <a:rPr lang="fr-FR" b="1" dirty="0" err="1" smtClean="0">
                <a:latin typeface="Segoe UI" panose="020B0502040204020203" pitchFamily="34" charset="0"/>
                <a:cs typeface="Segoe UI" panose="020B0502040204020203" pitchFamily="34" charset="0"/>
              </a:rPr>
              <a:t>IMarkupExtension</a:t>
            </a:r>
            <a:r>
              <a:rPr lang="fr-FR" dirty="0" smtClean="0">
                <a:latin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20162894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8">
            <a:hlinkClick r:id="rId2"/>
          </p:cNvPr>
          <p:cNvSpPr txBox="1">
            <a:spLocks noChangeArrowheads="1"/>
          </p:cNvSpPr>
          <p:nvPr/>
        </p:nvSpPr>
        <p:spPr bwMode="auto">
          <a:xfrm>
            <a:off x="933748" y="2991713"/>
            <a:ext cx="10311452" cy="23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algn="ctr">
              <a:lnSpc>
                <a:spcPts val="1488"/>
              </a:lnSpc>
              <a:spcBef>
                <a:spcPts val="1625"/>
              </a:spcBef>
              <a:buClr>
                <a:srgbClr val="006498"/>
              </a:buClr>
              <a:buSzPct val="61000"/>
            </a:pPr>
            <a:r>
              <a:rPr lang="fr-FR" altLang="en-US" sz="3200" b="1" dirty="0" smtClean="0">
                <a:solidFill>
                  <a:srgbClr val="7030A0"/>
                </a:solidFill>
                <a:latin typeface="Segoe UI" panose="020B0502040204020203" pitchFamily="34" charset="0"/>
                <a:cs typeface="Segoe UI" panose="020B0502040204020203" pitchFamily="34" charset="0"/>
              </a:rPr>
              <a:t>Projet de démonstration </a:t>
            </a:r>
            <a:endParaRPr lang="en-US" altLang="en-US" sz="3200" b="1" dirty="0">
              <a:solidFill>
                <a:srgbClr val="7030A0"/>
              </a:solidFill>
              <a:latin typeface="Segoe UI" panose="020B0502040204020203" pitchFamily="34" charset="0"/>
              <a:cs typeface="Segoe UI" panose="020B0502040204020203" pitchFamily="34" charset="0"/>
            </a:endParaRPr>
          </a:p>
        </p:txBody>
      </p:sp>
      <p:sp>
        <p:nvSpPr>
          <p:cNvPr id="11" name="object 18"/>
          <p:cNvSpPr txBox="1">
            <a:spLocks noChangeArrowheads="1"/>
          </p:cNvSpPr>
          <p:nvPr/>
        </p:nvSpPr>
        <p:spPr bwMode="auto">
          <a:xfrm>
            <a:off x="933748" y="3371029"/>
            <a:ext cx="10311452" cy="196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a:tabLst>
                <a:tab pos="5992813" algn="l"/>
              </a:tabLst>
              <a:defRPr>
                <a:solidFill>
                  <a:schemeClr val="tx1"/>
                </a:solidFill>
                <a:latin typeface="Calibri" panose="020F0502020204030204" pitchFamily="34" charset="0"/>
                <a:cs typeface="Arial" panose="020B0604020202020204" pitchFamily="34" charset="0"/>
              </a:defRPr>
            </a:lvl1pPr>
            <a:lvl2pPr marL="579438" indent="-242888">
              <a:tabLst>
                <a:tab pos="5992813" algn="l"/>
              </a:tabLst>
              <a:defRPr>
                <a:solidFill>
                  <a:schemeClr val="tx1"/>
                </a:solidFill>
                <a:latin typeface="Calibri" panose="020F0502020204030204" pitchFamily="34" charset="0"/>
                <a:cs typeface="Arial" panose="020B0604020202020204" pitchFamily="34" charset="0"/>
              </a:defRPr>
            </a:lvl2pPr>
            <a:lvl3pPr marL="1143000" indent="-228600">
              <a:tabLst>
                <a:tab pos="5992813" algn="l"/>
              </a:tabLst>
              <a:defRPr>
                <a:solidFill>
                  <a:schemeClr val="tx1"/>
                </a:solidFill>
                <a:latin typeface="Calibri" panose="020F0502020204030204" pitchFamily="34" charset="0"/>
                <a:cs typeface="Arial" panose="020B0604020202020204" pitchFamily="34" charset="0"/>
              </a:defRPr>
            </a:lvl3pPr>
            <a:lvl4pPr marL="1600200" indent="-228600">
              <a:tabLst>
                <a:tab pos="5992813" algn="l"/>
              </a:tabLst>
              <a:defRPr>
                <a:solidFill>
                  <a:schemeClr val="tx1"/>
                </a:solidFill>
                <a:latin typeface="Calibri" panose="020F0502020204030204" pitchFamily="34" charset="0"/>
                <a:cs typeface="Arial" panose="020B0604020202020204" pitchFamily="34" charset="0"/>
              </a:defRPr>
            </a:lvl4pPr>
            <a:lvl5pPr marL="2057400" indent="-228600">
              <a:tabLst>
                <a:tab pos="5992813"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5992813" algn="l"/>
              </a:tabLst>
              <a:defRPr>
                <a:solidFill>
                  <a:schemeClr val="tx1"/>
                </a:solidFill>
                <a:latin typeface="Calibri" panose="020F0502020204030204" pitchFamily="34" charset="0"/>
                <a:cs typeface="Arial" panose="020B0604020202020204" pitchFamily="34" charset="0"/>
              </a:defRPr>
            </a:lvl9pPr>
          </a:lstStyle>
          <a:p>
            <a:pPr algn="ctr">
              <a:lnSpc>
                <a:spcPts val="1488"/>
              </a:lnSpc>
              <a:spcBef>
                <a:spcPts val="1625"/>
              </a:spcBef>
              <a:buClr>
                <a:srgbClr val="006498"/>
              </a:buClr>
              <a:buSzPct val="61000"/>
            </a:pPr>
            <a:r>
              <a:rPr lang="fr-FR" altLang="en-US" b="1" dirty="0" smtClean="0">
                <a:solidFill>
                  <a:srgbClr val="7030A0"/>
                </a:solidFill>
                <a:latin typeface="Segoe UI" panose="020B0502040204020203" pitchFamily="34" charset="0"/>
                <a:cs typeface="Segoe UI" panose="020B0502040204020203" pitchFamily="34" charset="0"/>
              </a:rPr>
              <a:t>Projet: </a:t>
            </a:r>
            <a:r>
              <a:rPr lang="fr-FR" altLang="en-US" b="1" dirty="0" err="1" smtClean="0">
                <a:solidFill>
                  <a:srgbClr val="7030A0"/>
                </a:solidFill>
                <a:latin typeface="Segoe UI" panose="020B0502040204020203" pitchFamily="34" charset="0"/>
                <a:cs typeface="Segoe UI" panose="020B0502040204020203" pitchFamily="34" charset="0"/>
              </a:rPr>
              <a:t>BindingDemo</a:t>
            </a:r>
            <a:endParaRPr lang="en-US" altLang="en-US" b="1" dirty="0">
              <a:solidFill>
                <a:srgbClr val="7030A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2090424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7615</TotalTime>
  <Words>3088</Words>
  <Application>Microsoft Office PowerPoint</Application>
  <PresentationFormat>Widescreen</PresentationFormat>
  <Paragraphs>620</Paragraphs>
  <Slides>22</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Arial</vt:lpstr>
      <vt:lpstr>Calibri</vt:lpstr>
      <vt:lpstr>Calibri Light</vt:lpstr>
      <vt:lpstr>Cascadia Mono</vt:lpstr>
      <vt:lpstr>Comic Sans MS</vt:lpstr>
      <vt:lpstr>Segoe UI</vt:lpstr>
      <vt:lpstr>Segoe UI </vt:lpstr>
      <vt:lpstr>Segoe UI 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Windows Présentation Foundation </dc:title>
  <dc:creator>Windows User</dc:creator>
  <cp:lastModifiedBy>DELL</cp:lastModifiedBy>
  <cp:revision>77</cp:revision>
  <dcterms:created xsi:type="dcterms:W3CDTF">2022-10-07T06:42:58Z</dcterms:created>
  <dcterms:modified xsi:type="dcterms:W3CDTF">2025-07-15T20:16:03Z</dcterms:modified>
</cp:coreProperties>
</file>