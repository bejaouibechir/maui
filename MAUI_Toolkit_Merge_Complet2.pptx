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9" r:id="rId2"/>
    <p:sldId id="259" r:id="rId3"/>
    <p:sldId id="256" r:id="rId4"/>
    <p:sldId id="276" r:id="rId5"/>
    <p:sldId id="270" r:id="rId6"/>
    <p:sldId id="268" r:id="rId7"/>
    <p:sldId id="271" r:id="rId8"/>
    <p:sldId id="274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61" autoAdjust="0"/>
  </p:normalViewPr>
  <p:slideViewPr>
    <p:cSldViewPr snapToGrid="0">
      <p:cViewPr varScale="1">
        <p:scale>
          <a:sx n="101" d="100"/>
          <a:sy n="101" d="100"/>
        </p:scale>
        <p:origin x="8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CF081-8790-4A80-9C37-E5117570BB4E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9511D-55B6-47A0-A300-F7570D0967C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949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9627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dotnet</a:t>
            </a:r>
            <a:r>
              <a:rPr lang="fr-FR" dirty="0" smtClean="0"/>
              <a:t> </a:t>
            </a:r>
            <a:r>
              <a:rPr lang="fr-FR" dirty="0" err="1" smtClean="0"/>
              <a:t>add</a:t>
            </a:r>
            <a:r>
              <a:rPr lang="fr-FR" dirty="0" smtClean="0"/>
              <a:t> package </a:t>
            </a:r>
            <a:r>
              <a:rPr lang="fr-FR" dirty="0" err="1" smtClean="0"/>
              <a:t>CommunityToolkit.Maui</a:t>
            </a:r>
            <a:r>
              <a:rPr lang="fr-FR" dirty="0" smtClean="0"/>
              <a:t>  --version 5.2.0</a:t>
            </a:r>
          </a:p>
          <a:p>
            <a:r>
              <a:rPr lang="fr-FR" dirty="0" err="1" smtClean="0"/>
              <a:t>dotnet</a:t>
            </a:r>
            <a:r>
              <a:rPr lang="fr-FR" dirty="0" smtClean="0"/>
              <a:t> </a:t>
            </a:r>
            <a:r>
              <a:rPr lang="fr-FR" dirty="0" err="1" smtClean="0"/>
              <a:t>add</a:t>
            </a:r>
            <a:r>
              <a:rPr lang="fr-FR" dirty="0" smtClean="0"/>
              <a:t> package </a:t>
            </a:r>
            <a:r>
              <a:rPr lang="fr-FR" dirty="0" err="1" smtClean="0"/>
              <a:t>CommunityToolkit.Mvvm</a:t>
            </a:r>
            <a:r>
              <a:rPr lang="fr-FR" dirty="0" smtClean="0"/>
              <a:t>  --version 8.2.0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116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617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88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9511D-55B6-47A0-A300-F7570D0967C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177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5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5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9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89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6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5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3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NUL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E9581-868F-4D6E-B826-59F5361BFEBC}" type="datetimeFigureOut">
              <a:rPr lang="fr-FR" smtClean="0"/>
              <a:t>18/07/2025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46050" y="6243334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</a:t>
            </a:r>
            <a:r>
              <a:rPr lang="fr-FR" sz="1400" dirty="0" smtClean="0"/>
              <a:t>2024-2025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133019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ejaouibechir/Calculator-MAUI/blob/master/MauitToolkit/SnackBarAndToast.md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jaouibechir/Maui-Weather-Demo" TargetMode="External"/><Relationship Id="rId2" Type="http://schemas.openxmlformats.org/officeDocument/2006/relationships/hyperlink" Target="https://github.com/bejaouibechir/MAUI/blob/main/MauiToolkitViewModel.m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Le MAUI </a:t>
            </a:r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Toolkoit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93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/>
          <p:cNvSpPr txBox="1">
            <a:spLocks/>
          </p:cNvSpPr>
          <p:nvPr/>
        </p:nvSpPr>
        <p:spPr>
          <a:xfrm>
            <a:off x="447336" y="1282559"/>
            <a:ext cx="8276040" cy="3114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Candara" panose="020E0502030303020204" pitchFamily="34" charset="0"/>
              </a:rPr>
              <a:t>Découvrir le .Net MAUI Toolkit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 smtClean="0">
              <a:latin typeface="Candara" panose="020E0502030303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2000" dirty="0">
              <a:latin typeface="Candara" panose="020E0502030303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 flipV="1">
            <a:off x="228600" y="940730"/>
            <a:ext cx="9144000" cy="30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1"/>
          <p:cNvSpPr txBox="1"/>
          <p:nvPr/>
        </p:nvSpPr>
        <p:spPr>
          <a:xfrm>
            <a:off x="228600" y="447859"/>
            <a:ext cx="204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latin typeface="Candara" panose="020E0502030303020204" pitchFamily="34" charset="0"/>
              </a:rPr>
              <a:t>Objectifs</a:t>
            </a:r>
            <a:endParaRPr lang="fr-FR" sz="2800" i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9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47720" y="339794"/>
            <a:ext cx="8676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Toolkit </a:t>
            </a:r>
            <a:endParaRPr lang="fr-FR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644237"/>
              </p:ext>
            </p:extLst>
          </p:nvPr>
        </p:nvGraphicFramePr>
        <p:xfrm>
          <a:off x="347720" y="1718447"/>
          <a:ext cx="11276024" cy="2194560"/>
        </p:xfrm>
        <a:graphic>
          <a:graphicData uri="http://schemas.openxmlformats.org/drawingml/2006/table">
            <a:tbl>
              <a:tblPr/>
              <a:tblGrid>
                <a:gridCol w="3360330">
                  <a:extLst>
                    <a:ext uri="{9D8B030D-6E8A-4147-A177-3AD203B41FA5}">
                      <a16:colId xmlns:a16="http://schemas.microsoft.com/office/drawing/2014/main" val="52322112"/>
                    </a:ext>
                  </a:extLst>
                </a:gridCol>
                <a:gridCol w="2535095">
                  <a:extLst>
                    <a:ext uri="{9D8B030D-6E8A-4147-A177-3AD203B41FA5}">
                      <a16:colId xmlns:a16="http://schemas.microsoft.com/office/drawing/2014/main" val="1783646188"/>
                    </a:ext>
                  </a:extLst>
                </a:gridCol>
                <a:gridCol w="2561593">
                  <a:extLst>
                    <a:ext uri="{9D8B030D-6E8A-4147-A177-3AD203B41FA5}">
                      <a16:colId xmlns:a16="http://schemas.microsoft.com/office/drawing/2014/main" val="976644638"/>
                    </a:ext>
                  </a:extLst>
                </a:gridCol>
                <a:gridCol w="2819006">
                  <a:extLst>
                    <a:ext uri="{9D8B030D-6E8A-4147-A177-3AD203B41FA5}">
                      <a16:colId xmlns:a16="http://schemas.microsoft.com/office/drawing/2014/main" val="12397567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Fonctionalité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Package NuGet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Version </a:t>
                      </a:r>
                      <a:r>
                        <a:rPr lang="fr-FR" noProof="0" dirty="0" smtClean="0"/>
                        <a:t>recommandée</a:t>
                      </a:r>
                      <a:endParaRPr lang="fr-FR" noProof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Commande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d’installation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632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Behaviors, Converters, UI MAUI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CommunityToolkit.Maui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5.2.0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dotnet</a:t>
                      </a:r>
                      <a:r>
                        <a:rPr lang="en-US" dirty="0"/>
                        <a:t> add package </a:t>
                      </a:r>
                      <a:r>
                        <a:rPr lang="en-US" dirty="0" err="1"/>
                        <a:t>CommunityToolkit.Maui</a:t>
                      </a:r>
                      <a:r>
                        <a:rPr lang="en-US" dirty="0"/>
                        <a:t> --version 5.2.0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234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MVVM simplifié (RelayCommand)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CommunityToolkit.Mvvm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8.2.0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dotnet</a:t>
                      </a:r>
                      <a:r>
                        <a:rPr lang="en-US" dirty="0"/>
                        <a:t> add package </a:t>
                      </a:r>
                      <a:r>
                        <a:rPr lang="en-US" dirty="0" err="1"/>
                        <a:t>CommunityToolkit.Mvvm</a:t>
                      </a:r>
                      <a:r>
                        <a:rPr lang="en-US" dirty="0"/>
                        <a:t> --version 8.2.0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38503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47720" y="1226348"/>
            <a:ext cx="2101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Packages à </a:t>
            </a:r>
            <a:r>
              <a:rPr lang="en-US" b="1" dirty="0" smtClean="0"/>
              <a:t>installer: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716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164099"/>
            <a:ext cx="8676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Toolkit 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12813" y="4642351"/>
            <a:ext cx="24447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dirty="0" smtClean="0">
                <a:latin typeface="Candara" panose="020E0502030303020204" pitchFamily="34" charset="0"/>
              </a:rPr>
              <a:t>Instanciation de MAUI </a:t>
            </a:r>
            <a:r>
              <a:rPr lang="fr-FR" sz="1400" b="1" dirty="0" err="1" smtClean="0">
                <a:latin typeface="Candara" panose="020E0502030303020204" pitchFamily="34" charset="0"/>
              </a:rPr>
              <a:t>toolkit</a:t>
            </a:r>
            <a:endParaRPr lang="en-US" sz="1400" b="1" dirty="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448345" y="654059"/>
            <a:ext cx="40181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Configuration dans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MauiProgram.cs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460" y="1247822"/>
            <a:ext cx="1014547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using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CommunityToolkit.Maui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// pour 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UseMauiCommunityToolkit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static class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MauiProgram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static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MauiApp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CreateMauiApp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MauiApp.CreateBuilder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builder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UseMauiApp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&lt;App&gt;()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UseMauiCommunityToolkit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fr-FR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// obligatoire 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pour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Behaviors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converters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etc.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return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628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125383"/>
            <a:ext cx="8676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sz="20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sz="2000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CommunityToolkit.Maui</a:t>
            </a:r>
            <a:r>
              <a:rPr lang="en-US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sz="20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7088" y="925168"/>
            <a:ext cx="1145627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La bibliothèque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CommunityToolkit.Maui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est conçue pour simplifier le développement d'applications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.NET MAUI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en fournissant des fonctionnalités supplémentaires utiles pour la création d'interfaces utilisateur et la gestion des comportements courants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Alerts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(Snackbar &amp; Toast)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Snackbar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Permet d'afficher des messages temporaires en bas de l'écran, souvent utilisés pour fournir des feedbacks rapides à l'utilisateur.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Toast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Similaire au Snackbar mais généralement plus simple et utilisé pour des notifications plus discrètes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comportements sont des classes réutilisables qui ajoutent des fonctionnalités aux éléments d'interface utilisateur sans modifier leur code.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1">
              <a:tabLst>
                <a:tab pos="271463" algn="l"/>
              </a:tabLst>
            </a:pP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buFont typeface="Wingdings" panose="05000000000000000000" pitchFamily="2" charset="2"/>
              <a:buChar char="§"/>
              <a:tabLst>
                <a:tab pos="271463" algn="l"/>
              </a:tabLst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Converters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: Permettent de convertir des valeurs de propriétés alors du bindings</a:t>
            </a:r>
          </a:p>
          <a:p>
            <a:pPr marL="285750" lvl="1" indent="-285750">
              <a:buFont typeface="Wingdings" panose="05000000000000000000" pitchFamily="2" charset="2"/>
              <a:buChar char="§"/>
              <a:tabLst>
                <a:tab pos="271463" algn="l"/>
              </a:tabLst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buFont typeface="Wingdings" panose="05000000000000000000" pitchFamily="2" charset="2"/>
              <a:buChar char="§"/>
              <a:tabLst>
                <a:tab pos="271463" algn="l"/>
              </a:tabLst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Popup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Pop-up personnalisée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87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5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Exemple </a:t>
            </a: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d’implémentation</a:t>
            </a:r>
          </a:p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20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Toast et Snackbar</a:t>
            </a:r>
            <a:endParaRPr lang="en-US" altLang="en-US" sz="20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34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207140"/>
            <a:ext cx="867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CommunityToolkit.Maui</a:t>
            </a: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1414" y="698145"/>
            <a:ext cx="1145627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Converters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Les convertisseurs sont utilisés pour transformer des valeurs d'une forme à une autre dans les liaisons de données.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Layouts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Cette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bibliothèque inclut des dispositions supplémentaires qui ne sont pas disponibles dans le cadre de base de .NET MAUI, </a:t>
            </a:r>
            <a:endParaRPr lang="fr-FR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Views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Comprend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des contrôles d'interface utilisateur supplémentaires qui simplifient la création d'interfaces modernes et attrayantes, comme des affichages de liste, des champs de saisie enrichis, etc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Popup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affichage de dialogues personnalisés (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ShowPopupAsync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StateContainer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gestion fluide des états (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Loading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Empty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Error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Content)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SemanticOrderView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améliore l’accessibilité pour la navigation écran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800"/>
            </a:pP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Snackbar &amp; Toast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800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 meilleure personnalisation et gestion d’actions </a:t>
            </a: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async</a:t>
            </a: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47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8600" y="655962"/>
            <a:ext cx="115265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 bibliothèque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fournit des outils pour faciliter l'implémentation du modèle MVVM (Model-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View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ViewModel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en .NET 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MAUI</a:t>
            </a: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95156"/>
              </p:ext>
            </p:extLst>
          </p:nvPr>
        </p:nvGraphicFramePr>
        <p:xfrm>
          <a:off x="535502" y="1442550"/>
          <a:ext cx="10515600" cy="3931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835531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12274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Élément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 </a:t>
                      </a:r>
                      <a:r>
                        <a:rPr lang="en-US" dirty="0" err="1"/>
                        <a:t>rapide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46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ObservableObject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Base des </a:t>
                      </a:r>
                      <a:r>
                        <a:rPr lang="fr-FR" dirty="0" err="1"/>
                        <a:t>ViewModels</a:t>
                      </a:r>
                      <a:r>
                        <a:rPr lang="fr-FR" dirty="0"/>
                        <a:t>. Implémente automatiquement </a:t>
                      </a:r>
                      <a:r>
                        <a:rPr lang="fr-FR" dirty="0" err="1"/>
                        <a:t>INotifyPropertyChanged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367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[ObservableProperty]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Génère automatiquement propriété + notification (set + notify)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005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[RelayCommand]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Génère automatiquement une propriété ICommand liée à une méthode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866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[NotifyPropertyChangedFor]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Permet de notifier d’autres propriétés liées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755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ObservableValidator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ViewModel avec validation ([Required], ValidateAllProperties)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719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RelayCommand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AsyncRelayCommand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Commandes synchrones ou asynchrones avec gestion de </a:t>
                      </a:r>
                      <a:r>
                        <a:rPr lang="fr-FR" dirty="0" err="1"/>
                        <a:t>CanExecute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542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66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652483"/>
            <a:ext cx="1979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Exemple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express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517" y="1248112"/>
            <a:ext cx="933108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partial class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MainViewModel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ObservableObject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ObservableProperty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private string name;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RelayCommand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private void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SayHello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($"Bonjour {Name}");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441434" y="4805832"/>
            <a:ext cx="83263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Résultat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Crée Name avec notification auto.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Crée automatiquement la propriété SayHelloCommand utilisable dans le XAML.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8600" y="641448"/>
            <a:ext cx="73891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asser un paramètre à une [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RelayCommand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] dans MAUI via XAML 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011" y="1273696"/>
            <a:ext cx="1153878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partial class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MainViewModel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ObservableObject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RelayCommand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private void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SayHello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(string name)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Application.Current.MainPage.DisplayAlert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("Hello", $"Bonjour {name}", "OK");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43011" y="3397354"/>
            <a:ext cx="103373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Cela génère automatiquement une propriété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SayHelloCommand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: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ICommand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acceptant un </a:t>
            </a: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011" y="3866431"/>
            <a:ext cx="4084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Dans le XAML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appel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avec paramètre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80" y="433550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fr-FR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Text</a:t>
            </a:r>
            <a:r>
              <a:rPr lang="fr-FR" dirty="0">
                <a:solidFill>
                  <a:srgbClr val="0000FF"/>
                </a:solidFill>
                <a:latin typeface="Cascadia Mono" panose="020B0609020000020004" pitchFamily="49" charset="0"/>
              </a:rPr>
              <a:t>="Dire Bonjour à Alice"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Command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SayHelloCommand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CommandParameter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="Alice" /&gt;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7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8080" y="690320"/>
            <a:ext cx="5239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Cas dynamique (paramètre lié à une propriété)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537" y="1188560"/>
            <a:ext cx="93941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Entry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="entryName"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Placeholder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Votre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nom" /&gt;</a:t>
            </a:r>
          </a:p>
          <a:p>
            <a:endParaRPr lang="en-US" sz="16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="Dire Bonjour"</a:t>
            </a: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Command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SayHelloCommand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CommandParameter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Source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={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Reference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entryName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},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Path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=Text}" /&gt;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4618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8600" y="561412"/>
            <a:ext cx="52367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[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NotifyPropertyChangedFor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] – à quoi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ça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? 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599" y="1005868"/>
            <a:ext cx="99306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Quand 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une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propriété change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alors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notifie aussi une autre propriété liée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779" y="1993758"/>
            <a:ext cx="79311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partial class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PersonViewModel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ObservableObject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ObservableProperty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NotifyPropertyChangedFor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nameof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FullName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private string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ObservableProperty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NotifyPropertyChangedFor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nameof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FullName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private string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string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FullName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$"{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 {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}";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79574" y="1450324"/>
            <a:ext cx="69532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Ici, FullName est </a:t>
            </a: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calculée</a:t>
            </a:r>
            <a:r>
              <a:rPr kumimoji="0" lang="en-US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mais n’est pas un [ObservableProperty].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47741" y="5154286"/>
            <a:ext cx="87025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FullName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 se met pas à jour </a:t>
            </a:r>
            <a:r>
              <a:rPr kumimoji="0" lang="en-US" altLang="en-US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dans</a:t>
            </a:r>
            <a:r>
              <a:rPr kumimoji="0" lang="en-US" altLang="en-US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i="0" u="sng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l'UI</a:t>
            </a:r>
            <a:r>
              <a:rPr kumimoji="0" lang="en-US" altLang="en-US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quand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FirstName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LastName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change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sans </a:t>
            </a:r>
            <a:r>
              <a:rPr lang="en-US" alt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NotifyPropertyChangedFor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2942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09004" y="688116"/>
            <a:ext cx="92883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ObservableValidator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est une classe fournie par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qui combine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ObservableObject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(notification de propriété)</a:t>
            </a:r>
            <a:b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 ➕</a:t>
            </a:r>
            <a:b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INotifyDataErrorInfo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(validation de données côté </a:t>
            </a:r>
            <a:r>
              <a:rPr kumimoji="0" lang="fr-FR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ViewModel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248" y="2513999"/>
            <a:ext cx="94698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Permet de 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valider les entrées utilisateur directement dans le </a:t>
            </a:r>
            <a:r>
              <a:rPr lang="fr-FR" b="1" dirty="0" err="1">
                <a:latin typeface="Segoe UI" panose="020B0502040204020203" pitchFamily="34" charset="0"/>
                <a:cs typeface="Segoe UI" panose="020B0502040204020203" pitchFamily="34" charset="0"/>
              </a:rPr>
              <a:t>ViewModel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par exemple :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champs obligatoires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formats d’email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plages numériques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règles personnalisées</a:t>
            </a:r>
          </a:p>
        </p:txBody>
      </p:sp>
    </p:spTree>
    <p:extLst>
      <p:ext uri="{BB962C8B-B14F-4D97-AF65-F5344CB8AC3E}">
        <p14:creationId xmlns:p14="http://schemas.microsoft.com/office/powerpoint/2010/main" val="2410201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9863" y="709238"/>
            <a:ext cx="1973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Exemple concret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8761" y="1226396"/>
            <a:ext cx="1016981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using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CommunityToolkit.Mvvm.ComponentModel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using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System.ComponentModel.DataAnnotations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partial class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UserViewModel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ObservableValidator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ObservableProperty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[Required(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"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L'e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-mail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obligatoire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")]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EmailAddress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"Format e-mail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invalide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")]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private string email;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public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UserViewModel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ValidateAllProperties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 // déclenche les erreurs dès le départ si nécessaire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737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9454" y="770333"/>
            <a:ext cx="805130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Ce que ça permet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L’UI peut interroger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GetErrors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nameof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(Email)) pour afficher le message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Tu peux appeler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ValidateAllProperties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() ou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ValidateProperty</a:t>
            </a: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(...)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fr-F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 binding MAUI réagit aux erreurs via </a:t>
            </a:r>
            <a:r>
              <a:rPr kumimoji="0" lang="fr-F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INotifyDataErrorInfo</a:t>
            </a: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9926" y="2247953"/>
            <a:ext cx="3636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Exemple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de validation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manuelle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8313" y="2733580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if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(!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HasErrors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// OK → appeler l’API, sauvegarder, etc.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else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errors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GetErrors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nameof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(Email)).Cast&lt;string&gt;();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// afficher ou gérer les erreurs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9436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1"/>
          <p:cNvSpPr txBox="1"/>
          <p:nvPr/>
        </p:nvSpPr>
        <p:spPr>
          <a:xfrm>
            <a:off x="228600" y="192080"/>
            <a:ext cx="988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Introduction MAUI </a:t>
            </a:r>
            <a:r>
              <a:rPr lang="fr-FR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CommunityToolkit.MVVM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fr-FR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fr-F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15310" y="655796"/>
            <a:ext cx="46326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RelayCommand vs AsyncRelayCommand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77628"/>
              </p:ext>
            </p:extLst>
          </p:nvPr>
        </p:nvGraphicFramePr>
        <p:xfrm>
          <a:off x="459828" y="1464412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984443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168841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73205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Utiliser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quand</a:t>
                      </a:r>
                      <a:r>
                        <a:rPr lang="en-US" dirty="0"/>
                        <a:t>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Signature </a:t>
                      </a:r>
                      <a:r>
                        <a:rPr lang="en-US" dirty="0" err="1"/>
                        <a:t>attendue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253541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27852"/>
              </p:ext>
            </p:extLst>
          </p:nvPr>
        </p:nvGraphicFramePr>
        <p:xfrm>
          <a:off x="459828" y="2804691"/>
          <a:ext cx="10515600" cy="640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822395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09874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1033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RelayCommand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Méthode </a:t>
                      </a:r>
                      <a:r>
                        <a:rPr lang="fr-FR" b="1" dirty="0"/>
                        <a:t>synchrone</a:t>
                      </a:r>
                      <a:r>
                        <a:rPr lang="fr-FR" dirty="0"/>
                        <a:t> (pas de </a:t>
                      </a:r>
                      <a:r>
                        <a:rPr lang="fr-FR" dirty="0" err="1"/>
                        <a:t>async</a:t>
                      </a:r>
                      <a:r>
                        <a:rPr lang="fr-FR" dirty="0"/>
                        <a:t>/</a:t>
                      </a:r>
                      <a:r>
                        <a:rPr lang="fr-FR" dirty="0" err="1"/>
                        <a:t>await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void </a:t>
                      </a:r>
                      <a:r>
                        <a:rPr lang="en-US" dirty="0" err="1"/>
                        <a:t>MaMethode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94863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924915"/>
              </p:ext>
            </p:extLst>
          </p:nvPr>
        </p:nvGraphicFramePr>
        <p:xfrm>
          <a:off x="459828" y="2111008"/>
          <a:ext cx="105156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388096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356540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652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AsyncRelayCommand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Méthode</a:t>
                      </a:r>
                      <a:r>
                        <a:rPr lang="en-US" dirty="0" smtClean="0"/>
                        <a:t> </a:t>
                      </a:r>
                      <a:r>
                        <a:rPr lang="en-US" b="1" dirty="0" err="1"/>
                        <a:t>asynchrone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async</a:t>
                      </a:r>
                      <a:r>
                        <a:rPr lang="en-US" dirty="0"/>
                        <a:t> Task)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async</a:t>
                      </a:r>
                      <a:r>
                        <a:rPr lang="en-US" dirty="0"/>
                        <a:t> Task </a:t>
                      </a:r>
                      <a:r>
                        <a:rPr lang="en-US" dirty="0" err="1"/>
                        <a:t>MaMethodeAsync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701757"/>
                  </a:ext>
                </a:extLst>
              </a:tr>
            </a:tbl>
          </a:graphicData>
        </a:graphic>
      </p:graphicFrame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459828" y="3714146"/>
            <a:ext cx="40492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AsyncRelayCommand (asynchrone)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828" y="421667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RelayCommand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private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async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Task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LoadDataAsync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data = await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service.GetDataAsync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   //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traitement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...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83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8">
            <a:hlinkClick r:id="rId2"/>
          </p:cNvPr>
          <p:cNvSpPr txBox="1">
            <a:spLocks noChangeArrowheads="1"/>
          </p:cNvSpPr>
          <p:nvPr/>
        </p:nvSpPr>
        <p:spPr bwMode="auto">
          <a:xfrm>
            <a:off x="933748" y="2991713"/>
            <a:ext cx="10311452" cy="237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sz="32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 de démonstration </a:t>
            </a:r>
            <a:endParaRPr lang="en-US" altLang="en-US" sz="32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object 18">
            <a:hlinkClick r:id="rId3"/>
          </p:cNvPr>
          <p:cNvSpPr txBox="1">
            <a:spLocks noChangeArrowheads="1"/>
          </p:cNvSpPr>
          <p:nvPr/>
        </p:nvSpPr>
        <p:spPr bwMode="auto">
          <a:xfrm>
            <a:off x="933748" y="3371029"/>
            <a:ext cx="10311452" cy="196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579438" indent="-242888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1488"/>
              </a:lnSpc>
              <a:spcBef>
                <a:spcPts val="1625"/>
              </a:spcBef>
              <a:buClr>
                <a:srgbClr val="006498"/>
              </a:buClr>
              <a:buSzPct val="61000"/>
            </a:pP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ViewModel</a:t>
            </a:r>
            <a:r>
              <a:rPr lang="fr-FR" altLang="en-US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Maui </a:t>
            </a:r>
            <a:r>
              <a:rPr lang="fr-FR" altLang="en-US" b="1" dirty="0" err="1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Toolkit</a:t>
            </a:r>
            <a:endParaRPr lang="en-US" alt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83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2626</TotalTime>
  <Words>1037</Words>
  <Application>Microsoft Office PowerPoint</Application>
  <PresentationFormat>Widescreen</PresentationFormat>
  <Paragraphs>209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Candara</vt:lpstr>
      <vt:lpstr>Cascadia Mono</vt:lpstr>
      <vt:lpstr>Comic Sans MS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</dc:title>
  <dc:creator>Windows User</dc:creator>
  <cp:lastModifiedBy>DELL</cp:lastModifiedBy>
  <cp:revision>68</cp:revision>
  <dcterms:created xsi:type="dcterms:W3CDTF">2022-10-07T06:51:45Z</dcterms:created>
  <dcterms:modified xsi:type="dcterms:W3CDTF">2025-07-19T19:15:42Z</dcterms:modified>
</cp:coreProperties>
</file>