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8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73" r:id="rId11"/>
    <p:sldId id="274" r:id="rId12"/>
    <p:sldId id="277" r:id="rId13"/>
    <p:sldId id="278" r:id="rId14"/>
    <p:sldId id="281" r:id="rId15"/>
    <p:sldId id="282" r:id="rId16"/>
    <p:sldId id="279" r:id="rId17"/>
    <p:sldId id="280" r:id="rId18"/>
    <p:sldId id="264" r:id="rId19"/>
    <p:sldId id="265" r:id="rId20"/>
    <p:sldId id="266" r:id="rId21"/>
    <p:sldId id="284" r:id="rId22"/>
    <p:sldId id="28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54" autoAdjust="0"/>
    <p:restoredTop sz="93883" autoAdjust="0"/>
  </p:normalViewPr>
  <p:slideViewPr>
    <p:cSldViewPr snapToGrid="0">
      <p:cViewPr varScale="1">
        <p:scale>
          <a:sx n="113" d="100"/>
          <a:sy n="113" d="100"/>
        </p:scale>
        <p:origin x="7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0" y="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886CC5-EAB5-419D-85BB-9E3361421EC1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284332-4278-4774-9681-060F2D402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0718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82A7F4-A365-4B92-BEB0-C0D7CF65282E}" type="datetimeFigureOut">
              <a:rPr lang="fr-FR" smtClean="0"/>
              <a:t>20/07/2025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5E1AE6-1BFD-4589-9604-3D9D158FB78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3256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Note</a:t>
            </a:r>
            <a:r>
              <a:rPr lang="fr-FR" baseline="0" dirty="0" smtClean="0"/>
              <a:t>: Pour la figure 2 il faut recharger l’application pour appliquer le changement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0324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L’interface</a:t>
            </a:r>
            <a:r>
              <a:rPr lang="fr-FR" baseline="0" dirty="0" smtClean="0"/>
              <a:t> XAML</a:t>
            </a:r>
          </a:p>
          <a:p>
            <a:endParaRPr lang="fr-FR" baseline="0" dirty="0" smtClean="0"/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&lt;?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xml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version="1.0"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encoding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="utf-8" ?&gt;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ContentPage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xmlns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="http://schemas.microsoft.com/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dotnet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/2021/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maui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xmlns:x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="http://schemas.microsoft.com/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winfx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/2009/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xaml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xmlns:local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clr-namespace:FirstMauiApp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xmlns:scg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clr-namespace:System.Collections.Generic;assembly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netstandard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x:Class="FirstMauiApp.MainPage"&gt;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CollectionView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Margin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="10,10,0,0"&gt;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CollectionView.ItemsSource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scg:List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x:TypeArguments="local:Employee"&gt;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local:Employee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x:Arguments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&lt;x:Int32&gt;1&lt;/x:Int32&gt;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x:String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Employee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x:String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x:Decimal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&gt;5500&lt;/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x:Decimal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x:Arguments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local:Employee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local:Employee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x:Arguments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&lt;x:Int32&gt;2&lt;/x:Int32&gt;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x:String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Employee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x:String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x:Decimal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&gt;6500&lt;/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x:Decimal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x:Arguments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local:Employee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local:Employee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x:Arguments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&lt;x:Int32&gt;3&lt;/x:Int32&gt;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x:String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Employee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x:String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x:Decimal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&gt;4500&lt;/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x:Decimal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x:Arguments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local:Employee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scg:List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CollectionView.ItemsSource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CollectionView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endParaRPr lang="fr-FR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01922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L’interface</a:t>
            </a:r>
            <a:r>
              <a:rPr lang="fr-FR" baseline="0" dirty="0" smtClean="0"/>
              <a:t> XAML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&lt;?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xml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version="1.0"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encoding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="utf-8" ?&gt;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ContentPage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xmlns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="http://schemas.microsoft.com/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dotnet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/2021/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maui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xmlns:x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="http://schemas.microsoft.com/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winfx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/2009/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xaml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xmlns:local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clr-namespace:FirstMauiApp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xmlns:scg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clr-namespace:System.Collections.Generic;assembly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netstandard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x:Class="FirstMauiApp.MainPage"&gt;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CollectionView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Margin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="10,10,0,0"&gt;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CollectionView.ItemsSource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scg:List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x:TypeArguments="local:Employee"&gt;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local:Employee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x:FactoryMethod="defineEmployee"&gt;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x:Arguments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&lt;x:Int32&gt;1&lt;/x:Int32&gt;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x:String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Employee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x:String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x:Decimal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&gt;5000&lt;/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x:Decimal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x:Arguments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local:Employee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scg:List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CollectionView.ItemsSource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CollectionView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ContentPage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endParaRPr lang="fr-FR" baseline="0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01400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5832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B556CC-B3DB-497B-BE73-7E6BCECFF139}" type="datetimeFigureOut">
              <a:rPr lang="fr-FR" smtClean="0"/>
              <a:t>20/07/2025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4E7397-CDEE-49F8-B284-540E381A05A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6941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B556CC-B3DB-497B-BE73-7E6BCECFF139}" type="datetimeFigureOut">
              <a:rPr lang="fr-FR" smtClean="0"/>
              <a:t>20/07/2025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4E7397-CDEE-49F8-B284-540E381A05A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4265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B556CC-B3DB-497B-BE73-7E6BCECFF139}" type="datetimeFigureOut">
              <a:rPr lang="fr-FR" smtClean="0"/>
              <a:t>20/07/2025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4E7397-CDEE-49F8-B284-540E381A05A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5479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B556CC-B3DB-497B-BE73-7E6BCECFF139}" type="datetimeFigureOut">
              <a:rPr lang="fr-FR" smtClean="0"/>
              <a:t>20/07/2025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4E7397-CDEE-49F8-B284-540E381A05A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3637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B556CC-B3DB-497B-BE73-7E6BCECFF139}" type="datetimeFigureOut">
              <a:rPr lang="fr-FR" smtClean="0"/>
              <a:t>20/07/2025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4E7397-CDEE-49F8-B284-540E381A05A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6066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B556CC-B3DB-497B-BE73-7E6BCECFF139}" type="datetimeFigureOut">
              <a:rPr lang="fr-FR" smtClean="0"/>
              <a:t>20/07/2025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4E7397-CDEE-49F8-B284-540E381A05A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0408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B556CC-B3DB-497B-BE73-7E6BCECFF139}" type="datetimeFigureOut">
              <a:rPr lang="fr-FR" smtClean="0"/>
              <a:t>20/07/2025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4E7397-CDEE-49F8-B284-540E381A05A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7311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B556CC-B3DB-497B-BE73-7E6BCECFF139}" type="datetimeFigureOut">
              <a:rPr lang="fr-FR" smtClean="0"/>
              <a:t>20/07/2025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4E7397-CDEE-49F8-B284-540E381A05A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7616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B556CC-B3DB-497B-BE73-7E6BCECFF139}" type="datetimeFigureOut">
              <a:rPr lang="fr-FR" smtClean="0"/>
              <a:t>20/07/2025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4E7397-CDEE-49F8-B284-540E381A05A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0837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B556CC-B3DB-497B-BE73-7E6BCECFF139}" type="datetimeFigureOut">
              <a:rPr lang="fr-FR" smtClean="0"/>
              <a:t>20/07/2025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4E7397-CDEE-49F8-B284-540E381A05A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8558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B556CC-B3DB-497B-BE73-7E6BCECFF139}" type="datetimeFigureOut">
              <a:rPr lang="fr-FR" smtClean="0"/>
              <a:t>20/07/2025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4E7397-CDEE-49F8-B284-540E381A05A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573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9" name="Rectangle 8"/>
          <p:cNvSpPr/>
          <p:nvPr userDrawn="1"/>
        </p:nvSpPr>
        <p:spPr>
          <a:xfrm>
            <a:off x="146050" y="6334780"/>
            <a:ext cx="1204595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 smtClean="0"/>
              <a:t>Multi</a:t>
            </a:r>
            <a:r>
              <a:rPr lang="fr-FR" sz="1400" b="1" baseline="0" dirty="0" smtClean="0"/>
              <a:t> Application User Interface</a:t>
            </a:r>
            <a:r>
              <a:rPr lang="fr-FR" sz="1400" b="1" dirty="0" smtClean="0"/>
              <a:t>:  </a:t>
            </a:r>
          </a:p>
          <a:p>
            <a:r>
              <a:rPr lang="fr-FR" sz="1400" dirty="0" smtClean="0"/>
              <a:t>Ce support de cours est la propriété intellectuelle de Béchir Béjaoui, il n’est utilisé qu’avec l’accord du propriétaire © 2023-2024 </a:t>
            </a:r>
            <a:endParaRPr lang="fr-FR" sz="1400" dirty="0"/>
          </a:p>
        </p:txBody>
      </p:sp>
      <p:pic>
        <p:nvPicPr>
          <p:cNvPr id="11" name="Picture 10" descr="dotnetMAUI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4036" y="6219022"/>
            <a:ext cx="494184" cy="494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9019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56353" y="2274326"/>
            <a:ext cx="965329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2100" dirty="0">
                <a:solidFill>
                  <a:srgbClr val="1C3158"/>
                </a:solidFill>
                <a:latin typeface="Comic Sans MS" pitchFamily="66" charset="0"/>
              </a:rPr>
              <a:t>MAUI</a:t>
            </a:r>
          </a:p>
        </p:txBody>
      </p:sp>
      <p:cxnSp>
        <p:nvCxnSpPr>
          <p:cNvPr id="4" name="Connecteur droit 3"/>
          <p:cNvCxnSpPr>
            <a:cxnSpLocks/>
          </p:cNvCxnSpPr>
          <p:nvPr/>
        </p:nvCxnSpPr>
        <p:spPr>
          <a:xfrm flipH="1">
            <a:off x="5663952" y="2738280"/>
            <a:ext cx="3882150" cy="13038"/>
          </a:xfrm>
          <a:prstGeom prst="line">
            <a:avLst/>
          </a:prstGeom>
          <a:ln w="22225">
            <a:solidFill>
              <a:srgbClr val="1C31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 descr="C:\Users\bepro-17\AppData\Roaming\Skype\live#3ambenalaya.bepro\media_messaging\media_cache_v3\^2DF5C670F0A42E46084157BFD3139AC68F80CB1B7C725AE391^pimgpsh_fullsize_dist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9795" y="4900959"/>
            <a:ext cx="1164186" cy="1159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5071100" y="5523434"/>
            <a:ext cx="322265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350" b="1" i="1" dirty="0">
                <a:solidFill>
                  <a:srgbClr val="1C3158"/>
                </a:solidFill>
              </a:rPr>
              <a:t>Béchir BEJAOUI</a:t>
            </a:r>
          </a:p>
          <a:p>
            <a:pPr algn="ctr"/>
            <a:r>
              <a:rPr lang="fr-FR" sz="1350" dirty="0">
                <a:solidFill>
                  <a:srgbClr val="1C3158"/>
                </a:solidFill>
              </a:rPr>
              <a:t>Formateur et consultant indépendant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90314" y="2799774"/>
            <a:ext cx="30111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fr-FR" smtClean="0">
                <a:solidFill>
                  <a:srgbClr val="1C3158"/>
                </a:solidFill>
                <a:latin typeface="Comic Sans MS" pitchFamily="66" charset="0"/>
              </a:rPr>
              <a:t>Introduction au XAML</a:t>
            </a:r>
            <a:endParaRPr lang="fr-FR" dirty="0">
              <a:solidFill>
                <a:srgbClr val="1C3158"/>
              </a:solidFill>
              <a:latin typeface="Comic Sans MS" pitchFamily="66" charset="0"/>
            </a:endParaRPr>
          </a:p>
        </p:txBody>
      </p:sp>
      <p:pic>
        <p:nvPicPr>
          <p:cNvPr id="1026" name="Picture 2" descr="dotnetMAU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558" y="768558"/>
            <a:ext cx="3109706" cy="3109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075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/>
          <p:cNvSpPr txBox="1">
            <a:spLocks noChangeArrowheads="1"/>
          </p:cNvSpPr>
          <p:nvPr/>
        </p:nvSpPr>
        <p:spPr bwMode="auto">
          <a:xfrm>
            <a:off x="207871" y="424314"/>
            <a:ext cx="8830691" cy="205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341313" indent="-120650"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en-US" sz="2400" u="sng" dirty="0" smtClean="0">
                <a:latin typeface="Segoe UI Symbol" panose="020B0502040204020203" pitchFamily="34" charset="0"/>
              </a:rPr>
              <a:t>Objectif </a:t>
            </a:r>
            <a:r>
              <a:rPr lang="fr-FR" altLang="en-US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fr-FR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ts val="1363"/>
              </a:spcBef>
              <a:buClr>
                <a:srgbClr val="006498"/>
              </a:buClr>
              <a:buSzPct val="85000"/>
              <a:buFont typeface="Segoe UI Symbol" panose="020B0502040204020203" pitchFamily="34" charset="0"/>
              <a:buChar char="•"/>
            </a:pPr>
            <a:r>
              <a:rPr lang="fr-FR" altLang="en-US" sz="2000" dirty="0" smtClean="0">
                <a:latin typeface="Segoe UI Symbol" panose="020B0502040204020203" pitchFamily="34" charset="0"/>
              </a:rPr>
              <a:t>  </a:t>
            </a:r>
            <a:r>
              <a:rPr lang="fr-FR" altLang="en-US" sz="2400" dirty="0" smtClean="0">
                <a:latin typeface="Segoe UI Symbol" panose="020B0502040204020203" pitchFamily="34" charset="0"/>
              </a:rPr>
              <a:t>Découvrir</a:t>
            </a:r>
            <a:r>
              <a:rPr lang="fr-FR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smtClean="0">
                <a:latin typeface="Segoe UI Symbol" panose="020B0502040204020203" pitchFamily="34" charset="0"/>
              </a:rPr>
              <a:t>les</a:t>
            </a:r>
            <a:r>
              <a:rPr lang="fr-FR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smtClean="0">
                <a:latin typeface="Segoe UI Symbol" panose="020B0502040204020203" pitchFamily="34" charset="0"/>
              </a:rPr>
              <a:t>bases</a:t>
            </a:r>
            <a:r>
              <a:rPr lang="fr-FR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smtClean="0">
                <a:latin typeface="Segoe UI Symbol" panose="020B0502040204020203" pitchFamily="34" charset="0"/>
              </a:rPr>
              <a:t>de</a:t>
            </a:r>
            <a:r>
              <a:rPr lang="fr-FR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smtClean="0">
                <a:latin typeface="Segoe UI Symbol" panose="020B0502040204020203" pitchFamily="34" charset="0"/>
              </a:rPr>
              <a:t>XAML</a:t>
            </a:r>
          </a:p>
          <a:p>
            <a:pPr lvl="2">
              <a:spcBef>
                <a:spcPts val="1038"/>
              </a:spcBef>
              <a:buClr>
                <a:srgbClr val="006498"/>
              </a:buClr>
              <a:buSzPct val="79000"/>
              <a:buFont typeface="Wingdings" panose="05000000000000000000" pitchFamily="2" charset="2"/>
              <a:buChar char=""/>
            </a:pPr>
            <a:r>
              <a:rPr lang="fr-FR" altLang="en-US" sz="1500" dirty="0" smtClean="0">
                <a:latin typeface="Segoe UI Symbol" panose="020B0502040204020203" pitchFamily="34" charset="0"/>
              </a:rPr>
              <a:t>XAML</a:t>
            </a:r>
            <a:r>
              <a:rPr lang="fr-FR" alt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1500" dirty="0" smtClean="0">
                <a:latin typeface="Segoe UI Symbol" panose="020B0502040204020203" pitchFamily="34" charset="0"/>
              </a:rPr>
              <a:t>décrit</a:t>
            </a:r>
            <a:r>
              <a:rPr lang="fr-FR" alt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1500" dirty="0" smtClean="0">
                <a:latin typeface="Segoe UI Symbol" panose="020B0502040204020203" pitchFamily="34" charset="0"/>
              </a:rPr>
              <a:t>une</a:t>
            </a:r>
            <a:r>
              <a:rPr lang="fr-FR" alt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1500" dirty="0" smtClean="0">
                <a:latin typeface="Segoe UI Symbol" panose="020B0502040204020203" pitchFamily="34" charset="0"/>
              </a:rPr>
              <a:t>arborescence</a:t>
            </a:r>
            <a:r>
              <a:rPr lang="fr-FR" alt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1500" dirty="0" smtClean="0">
                <a:latin typeface="Segoe UI Symbol" panose="020B0502040204020203" pitchFamily="34" charset="0"/>
              </a:rPr>
              <a:t>d’objets</a:t>
            </a:r>
            <a:r>
              <a:rPr lang="fr-FR" alt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1500" dirty="0" smtClean="0">
                <a:latin typeface="Segoe UI Symbol" panose="020B0502040204020203" pitchFamily="34" charset="0"/>
              </a:rPr>
              <a:t>graphiques</a:t>
            </a:r>
          </a:p>
          <a:p>
            <a:pPr lvl="2">
              <a:spcBef>
                <a:spcPts val="13"/>
              </a:spcBef>
              <a:buClr>
                <a:srgbClr val="006498"/>
              </a:buClr>
              <a:buFont typeface="Wingdings" panose="05000000000000000000" pitchFamily="2" charset="2"/>
              <a:buChar char=""/>
            </a:pPr>
            <a:endParaRPr lang="fr-FR" altLang="en-US" sz="1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ts val="1538"/>
              </a:lnSpc>
              <a:buClr>
                <a:srgbClr val="006498"/>
              </a:buClr>
              <a:buSzPct val="79000"/>
              <a:buFont typeface="Wingdings" panose="05000000000000000000" pitchFamily="2" charset="2"/>
              <a:buChar char=""/>
            </a:pPr>
            <a:r>
              <a:rPr lang="fr-FR" altLang="en-US" sz="1500" dirty="0" smtClean="0">
                <a:latin typeface="Segoe UI Symbol" panose="020B0502040204020203" pitchFamily="34" charset="0"/>
              </a:rPr>
              <a:t>XAML</a:t>
            </a:r>
            <a:r>
              <a:rPr lang="fr-FR" alt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1500" dirty="0" smtClean="0">
                <a:latin typeface="Segoe UI Symbol" panose="020B0502040204020203" pitchFamily="34" charset="0"/>
              </a:rPr>
              <a:t>utilisé</a:t>
            </a:r>
            <a:r>
              <a:rPr lang="fr-FR" alt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1500" dirty="0" smtClean="0">
                <a:latin typeface="Segoe UI Symbol" panose="020B0502040204020203" pitchFamily="34" charset="0"/>
              </a:rPr>
              <a:t>pour</a:t>
            </a:r>
            <a:r>
              <a:rPr lang="fr-FR" alt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1500" dirty="0" smtClean="0">
                <a:latin typeface="Segoe UI Symbol" panose="020B0502040204020203" pitchFamily="34" charset="0"/>
              </a:rPr>
              <a:t>les</a:t>
            </a:r>
            <a:r>
              <a:rPr lang="fr-FR" alt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1500" dirty="0" smtClean="0">
                <a:latin typeface="Segoe UI Symbol" panose="020B0502040204020203" pitchFamily="34" charset="0"/>
              </a:rPr>
              <a:t>IHM</a:t>
            </a:r>
            <a:r>
              <a:rPr lang="fr-FR" alt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1500" dirty="0" smtClean="0">
                <a:latin typeface="Segoe UI Symbol" panose="020B0502040204020203" pitchFamily="34" charset="0"/>
              </a:rPr>
              <a:t>(MAUI,</a:t>
            </a:r>
            <a:r>
              <a:rPr lang="fr-FR" alt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1500" dirty="0" smtClean="0">
                <a:latin typeface="Segoe UI Symbol" panose="020B0502040204020203" pitchFamily="34" charset="0"/>
              </a:rPr>
              <a:t>WPF,</a:t>
            </a:r>
            <a:r>
              <a:rPr lang="fr-FR" alt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1500" dirty="0" smtClean="0">
                <a:latin typeface="Segoe UI Symbol" panose="020B0502040204020203" pitchFamily="34" charset="0"/>
              </a:rPr>
              <a:t>Windows</a:t>
            </a:r>
            <a:r>
              <a:rPr lang="fr-FR" alt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altLang="en-US" sz="1500" dirty="0" smtClean="0">
                <a:latin typeface="Segoe UI Symbol" panose="020B0502040204020203" pitchFamily="34" charset="0"/>
              </a:rPr>
              <a:t>Phone,</a:t>
            </a:r>
            <a:r>
              <a:rPr lang="fr-FR" alt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1500" dirty="0" smtClean="0">
                <a:latin typeface="Segoe UI Symbol" panose="020B0502040204020203" pitchFamily="34" charset="0"/>
              </a:rPr>
              <a:t>Windows</a:t>
            </a:r>
            <a:r>
              <a:rPr lang="fr-FR" alt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1500" dirty="0" smtClean="0">
                <a:latin typeface="Segoe UI Symbol" panose="020B0502040204020203" pitchFamily="34" charset="0"/>
              </a:rPr>
              <a:t>Store</a:t>
            </a:r>
            <a:r>
              <a:rPr lang="fr-FR" alt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1500" dirty="0" smtClean="0">
                <a:latin typeface="Segoe UI Symbol" panose="020B0502040204020203" pitchFamily="34" charset="0"/>
              </a:rPr>
              <a:t>Apps)</a:t>
            </a:r>
          </a:p>
          <a:p>
            <a:pPr lvl="2">
              <a:spcBef>
                <a:spcPts val="975"/>
              </a:spcBef>
              <a:buClr>
                <a:srgbClr val="006498"/>
              </a:buClr>
              <a:buSzPct val="79000"/>
              <a:buFont typeface="Wingdings" panose="05000000000000000000" pitchFamily="2" charset="2"/>
              <a:buChar char=""/>
            </a:pPr>
            <a:r>
              <a:rPr lang="fr-FR" altLang="en-US" sz="1500" dirty="0" smtClean="0">
                <a:latin typeface="Segoe UI Symbol" panose="020B0502040204020203" pitchFamily="34" charset="0"/>
              </a:rPr>
              <a:t>XAML</a:t>
            </a:r>
            <a:r>
              <a:rPr lang="fr-FR" alt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1500" dirty="0" smtClean="0">
                <a:latin typeface="Segoe UI Symbol" panose="020B0502040204020203" pitchFamily="34" charset="0"/>
              </a:rPr>
              <a:t>aussi</a:t>
            </a:r>
            <a:r>
              <a:rPr lang="fr-FR" alt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1500" dirty="0" smtClean="0">
                <a:latin typeface="Segoe UI Symbol" panose="020B0502040204020203" pitchFamily="34" charset="0"/>
              </a:rPr>
              <a:t>utilisé</a:t>
            </a:r>
            <a:r>
              <a:rPr lang="fr-FR" alt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1500" dirty="0" smtClean="0">
                <a:latin typeface="Segoe UI Symbol" panose="020B0502040204020203" pitchFamily="34" charset="0"/>
              </a:rPr>
              <a:t>en</a:t>
            </a:r>
            <a:r>
              <a:rPr lang="fr-FR" alt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1500" dirty="0" smtClean="0">
                <a:latin typeface="Segoe UI Symbol" panose="020B0502040204020203" pitchFamily="34" charset="0"/>
              </a:rPr>
              <a:t>Workflow</a:t>
            </a:r>
            <a:r>
              <a:rPr lang="fr-FR" alt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1500" dirty="0" err="1" smtClean="0">
                <a:latin typeface="Segoe UI Symbol" panose="020B0502040204020203" pitchFamily="34" charset="0"/>
              </a:rPr>
              <a:t>Foundation</a:t>
            </a:r>
            <a:endParaRPr lang="fr-FR" altLang="en-US" sz="1500" dirty="0">
              <a:latin typeface="Segoe UI Symbol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8874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63525" y="635635"/>
            <a:ext cx="10311452" cy="736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>
                <a:latin typeface="Segoe UI Symbol" panose="020B0502040204020203" pitchFamily="34" charset="0"/>
              </a:rPr>
              <a:t>XAML </a:t>
            </a:r>
            <a:r>
              <a:rPr lang="en-US" altLang="en-US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altLang="en-US" sz="2000" dirty="0"/>
              <a:t>L'une des premières choses que vous rencontrerez en travaillant avec </a:t>
            </a:r>
            <a:r>
              <a:rPr lang="fr-FR" altLang="en-US" sz="2000" dirty="0" err="1" smtClean="0"/>
              <a:t>WinUI</a:t>
            </a:r>
            <a:r>
              <a:rPr lang="fr-FR" altLang="en-US" sz="2000" dirty="0" smtClean="0"/>
              <a:t>/MAUI est XAML</a:t>
            </a:r>
            <a:endParaRPr lang="en-US" altLang="en-US" sz="2000" dirty="0">
              <a:latin typeface="Segoe UI Symbol" panose="020B0502040204020203" pitchFamily="34" charset="0"/>
            </a:endParaRPr>
          </a:p>
        </p:txBody>
      </p:sp>
      <p:sp>
        <p:nvSpPr>
          <p:cNvPr id="3" name="object 19"/>
          <p:cNvSpPr txBox="1">
            <a:spLocks noChangeArrowheads="1"/>
          </p:cNvSpPr>
          <p:nvPr/>
        </p:nvSpPr>
        <p:spPr bwMode="auto">
          <a:xfrm>
            <a:off x="263525" y="1833349"/>
            <a:ext cx="11176000" cy="1159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Behind	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ts val="1488"/>
              </a:lnSpc>
              <a:spcBef>
                <a:spcPts val="1725"/>
              </a:spcBef>
              <a:buClr>
                <a:srgbClr val="006498"/>
              </a:buClr>
              <a:buSzPct val="60000"/>
              <a:buFont typeface="Wingdings" panose="05000000000000000000" pitchFamily="2" charset="2"/>
              <a:buChar char=""/>
            </a:pPr>
            <a:r>
              <a:rPr lang="en-US" altLang="en-US" dirty="0" smtClean="0">
                <a:latin typeface="Calibri "/>
              </a:rPr>
              <a:t> Le </a:t>
            </a:r>
            <a:r>
              <a:rPr lang="fr-FR" altLang="en-US" dirty="0" smtClean="0">
                <a:latin typeface="Calibri "/>
              </a:rPr>
              <a:t>XAML n’est qu’une manière de dicter à MAUI comment façonner l’interface graphique, alors qu’en code </a:t>
            </a:r>
          </a:p>
          <a:p>
            <a:pPr eaLnBrk="1" hangingPunct="1">
              <a:lnSpc>
                <a:spcPts val="1488"/>
              </a:lnSpc>
              <a:spcBef>
                <a:spcPts val="1725"/>
              </a:spcBef>
              <a:buClr>
                <a:srgbClr val="006498"/>
              </a:buClr>
              <a:buSzPct val="60000"/>
            </a:pPr>
            <a:r>
              <a:rPr lang="fr-FR" altLang="en-US" dirty="0" smtClean="0">
                <a:latin typeface="Calibri "/>
              </a:rPr>
              <a:t>  </a:t>
            </a:r>
            <a:r>
              <a:rPr lang="fr-FR" altLang="en-US" dirty="0" err="1" smtClean="0">
                <a:latin typeface="Calibri "/>
              </a:rPr>
              <a:t>behind</a:t>
            </a:r>
            <a:r>
              <a:rPr lang="fr-FR" altLang="en-US" dirty="0" smtClean="0">
                <a:latin typeface="Calibri "/>
              </a:rPr>
              <a:t> en écrit la logique qui va être exécutée</a:t>
            </a:r>
            <a:endParaRPr lang="fr-FR" altLang="en-US" dirty="0">
              <a:latin typeface="Calibri 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519857" y="3277809"/>
            <a:ext cx="6097587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partial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MainWindow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: Window</a:t>
            </a:r>
          </a:p>
          <a:p>
            <a:r>
              <a:rPr lang="fr-FR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fr-FR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fr-FR" alt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fr-FR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alt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MainWindow</a:t>
            </a:r>
            <a:r>
              <a:rPr lang="fr-FR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fr-FR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fr-FR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fr-FR" alt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InitializeComponent</a:t>
            </a:r>
            <a:r>
              <a:rPr lang="fr-FR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fr-FR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fr-FR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fr-FR" alt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//Votre code C#</a:t>
            </a:r>
            <a:endParaRPr lang="fr-FR" alt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fr-F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248437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19"/>
          <p:cNvSpPr txBox="1">
            <a:spLocks noChangeArrowheads="1"/>
          </p:cNvSpPr>
          <p:nvPr/>
        </p:nvSpPr>
        <p:spPr bwMode="auto">
          <a:xfrm>
            <a:off x="367538" y="695452"/>
            <a:ext cx="6005513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fr-FR" altLang="en-US" sz="2200" u="sng" dirty="0" smtClean="0">
                <a:latin typeface="Segoe UI Symbol" panose="020B0502040204020203" pitchFamily="34" charset="0"/>
              </a:rPr>
              <a:t>Définir les composants </a:t>
            </a:r>
            <a:r>
              <a:rPr lang="en-US" altLang="en-US" sz="22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ts val="1488"/>
              </a:lnSpc>
              <a:spcBef>
                <a:spcPts val="1725"/>
              </a:spcBef>
              <a:buClr>
                <a:srgbClr val="006498"/>
              </a:buClr>
              <a:buSzPct val="60000"/>
              <a:buFont typeface="Wingdings" panose="05000000000000000000" pitchFamily="2" charset="2"/>
              <a:buChar char=""/>
              <a:defRPr/>
            </a:pPr>
            <a:r>
              <a:rPr lang="fr-FR" altLang="en-US" dirty="0" smtClean="0">
                <a:latin typeface="Segoe UI Symbol" panose="020B0502040204020203" pitchFamily="34" charset="0"/>
              </a:rPr>
              <a:t>Il existe deux façons de définir des composants</a:t>
            </a:r>
          </a:p>
          <a:p>
            <a:pPr lvl="1" eaLnBrk="1" hangingPunct="1">
              <a:lnSpc>
                <a:spcPts val="1488"/>
              </a:lnSpc>
              <a:spcBef>
                <a:spcPts val="1725"/>
              </a:spcBef>
              <a:buClr>
                <a:srgbClr val="006498"/>
              </a:buClr>
              <a:buSzPct val="60000"/>
              <a:buFont typeface="Wingdings" panose="05000000000000000000" pitchFamily="2" charset="2"/>
              <a:buChar char=""/>
              <a:defRPr/>
            </a:pPr>
            <a:r>
              <a:rPr lang="fr-FR" altLang="en-US" dirty="0" err="1" smtClean="0">
                <a:latin typeface="Segoe UI Symbol" panose="020B0502040204020203" pitchFamily="34" charset="0"/>
              </a:rPr>
              <a:t>Présentaton</a:t>
            </a:r>
            <a:r>
              <a:rPr lang="fr-FR" altLang="en-US" dirty="0" smtClean="0">
                <a:latin typeface="Segoe UI Symbol" panose="020B0502040204020203" pitchFamily="34" charset="0"/>
              </a:rPr>
              <a:t> sous forme d’éléments</a:t>
            </a:r>
          </a:p>
          <a:p>
            <a:pPr lvl="1" eaLnBrk="1" hangingPunct="1">
              <a:lnSpc>
                <a:spcPts val="1488"/>
              </a:lnSpc>
              <a:spcBef>
                <a:spcPts val="1725"/>
              </a:spcBef>
              <a:buClr>
                <a:srgbClr val="006498"/>
              </a:buClr>
              <a:buSzPct val="60000"/>
              <a:buFont typeface="Wingdings" panose="05000000000000000000" pitchFamily="2" charset="2"/>
              <a:buChar char=""/>
              <a:defRPr/>
            </a:pPr>
            <a:endParaRPr lang="en-US" altLang="en-US" sz="1400" dirty="0" smtClean="0">
              <a:latin typeface="Segoe UI Symbol" panose="020B0502040204020203" pitchFamily="34" charset="0"/>
            </a:endParaRPr>
          </a:p>
          <a:p>
            <a:pPr marL="457200" lvl="1" indent="0" eaLnBrk="1" hangingPunct="1">
              <a:lnSpc>
                <a:spcPts val="1488"/>
              </a:lnSpc>
              <a:spcBef>
                <a:spcPts val="1725"/>
              </a:spcBef>
              <a:buClr>
                <a:srgbClr val="006498"/>
              </a:buClr>
              <a:buSzPct val="60000"/>
              <a:defRPr/>
            </a:pPr>
            <a:endParaRPr lang="en-US" altLang="en-US" sz="1400" dirty="0" smtClean="0">
              <a:latin typeface="Segoe UI Symbol" panose="020B0502040204020203" pitchFamily="34" charset="0"/>
            </a:endParaRPr>
          </a:p>
          <a:p>
            <a:pPr marL="457200" lvl="1" indent="0" eaLnBrk="1" hangingPunct="1">
              <a:lnSpc>
                <a:spcPts val="1488"/>
              </a:lnSpc>
              <a:spcBef>
                <a:spcPts val="1725"/>
              </a:spcBef>
              <a:buClr>
                <a:srgbClr val="006498"/>
              </a:buClr>
              <a:buSzPct val="60000"/>
              <a:defRPr/>
            </a:pPr>
            <a:endParaRPr lang="en-US" altLang="en-US" sz="1400" dirty="0" smtClean="0">
              <a:latin typeface="Segoe UI Symbol" panose="020B0502040204020203" pitchFamily="34" charset="0"/>
            </a:endParaRPr>
          </a:p>
          <a:p>
            <a:pPr lvl="1" eaLnBrk="1" hangingPunct="1">
              <a:lnSpc>
                <a:spcPts val="1488"/>
              </a:lnSpc>
              <a:spcBef>
                <a:spcPts val="1725"/>
              </a:spcBef>
              <a:buClr>
                <a:srgbClr val="006498"/>
              </a:buClr>
              <a:buSzPct val="60000"/>
              <a:buFont typeface="Wingdings" panose="05000000000000000000" pitchFamily="2" charset="2"/>
              <a:buChar char="§"/>
              <a:defRPr/>
            </a:pPr>
            <a:r>
              <a:rPr lang="fr-FR" altLang="en-US" dirty="0" smtClean="0">
                <a:latin typeface="Segoe UI Symbol" panose="020B0502040204020203" pitchFamily="34" charset="0"/>
              </a:rPr>
              <a:t>Présentation sous forme d’attribut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054926" y="1815444"/>
            <a:ext cx="6622224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fr-FR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alt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fr-FR" altLang="en-US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Button</a:t>
            </a:r>
            <a:r>
              <a:rPr lang="fr-FR" alt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fr-FR" alt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fr-FR" alt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fr-FR" altLang="en-US" sz="1600" dirty="0" err="1" smtClean="0">
                <a:solidFill>
                  <a:srgbClr val="A31515"/>
                </a:solidFill>
                <a:latin typeface="Consolas" panose="020B0609020204030204" pitchFamily="49" charset="0"/>
              </a:rPr>
              <a:t>Button.Text</a:t>
            </a:r>
            <a:r>
              <a:rPr lang="fr-FR" altLang="en-US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fr-FR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Cliquer </a:t>
            </a:r>
            <a:r>
              <a:rPr lang="fr-FR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ici</a:t>
            </a:r>
            <a:r>
              <a:rPr lang="fr-FR" alt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fr-FR" altLang="en-US" sz="1600" dirty="0" err="1" smtClean="0">
                <a:solidFill>
                  <a:srgbClr val="A31515"/>
                </a:solidFill>
                <a:latin typeface="Consolas" panose="020B0609020204030204" pitchFamily="49" charset="0"/>
              </a:rPr>
              <a:t>Button.Text</a:t>
            </a:r>
            <a:r>
              <a:rPr lang="fr-FR" altLang="en-US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fr-FR" alt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fr-FR" alt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fr-FR" altLang="en-US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Button.Background</a:t>
            </a:r>
            <a:r>
              <a:rPr lang="fr-FR" alt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fr-FR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Red</a:t>
            </a:r>
            <a:r>
              <a:rPr lang="fr-FR" alt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fr-FR" altLang="en-US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Button.Background</a:t>
            </a:r>
            <a:r>
              <a:rPr lang="fr-FR" alt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fr-FR" alt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fr-FR" alt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fr-FR" altLang="en-US" sz="1600" dirty="0" err="1" smtClean="0">
                <a:solidFill>
                  <a:srgbClr val="A31515"/>
                </a:solidFill>
                <a:latin typeface="Consolas" panose="020B0609020204030204" pitchFamily="49" charset="0"/>
              </a:rPr>
              <a:t>Button.TextColor</a:t>
            </a:r>
            <a:r>
              <a:rPr lang="fr-FR" altLang="en-US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fr-FR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white</a:t>
            </a:r>
            <a:r>
              <a:rPr lang="fr-FR" alt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fr-FR" altLang="en-US" sz="1600" dirty="0" err="1" smtClean="0">
                <a:solidFill>
                  <a:srgbClr val="A31515"/>
                </a:solidFill>
                <a:latin typeface="Consolas" panose="020B0609020204030204" pitchFamily="49" charset="0"/>
              </a:rPr>
              <a:t>Button.TextColor</a:t>
            </a:r>
            <a:r>
              <a:rPr lang="fr-FR" altLang="en-US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fr-FR" alt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alt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fr-FR" altLang="en-US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Button</a:t>
            </a:r>
            <a:r>
              <a:rPr lang="fr-FR" alt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fr-FR" altLang="en-US" sz="1600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67538" y="4105402"/>
            <a:ext cx="9462262" cy="37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&lt;</a:t>
            </a:r>
            <a:r>
              <a:rPr lang="en-US" altLang="en-US" sz="1600" b="1" dirty="0">
                <a:solidFill>
                  <a:srgbClr val="A31515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Button</a:t>
            </a:r>
            <a:r>
              <a:rPr lang="en-US" alt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Text</a:t>
            </a:r>
            <a:r>
              <a:rPr lang="en-US" alt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="</a:t>
            </a: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Cliquer </a:t>
            </a:r>
            <a:r>
              <a:rPr lang="en-US" altLang="en-US" sz="1600" b="1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ici</a:t>
            </a: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"</a:t>
            </a:r>
            <a:r>
              <a:rPr lang="en-US" alt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Background</a:t>
            </a: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="Red"</a:t>
            </a:r>
            <a:r>
              <a:rPr lang="en-US" alt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TextColor</a:t>
            </a:r>
            <a:r>
              <a:rPr lang="en-US" alt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="</a:t>
            </a: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White"/&gt;</a:t>
            </a:r>
            <a:r>
              <a:rPr lang="en-US" altLang="en-US" sz="1600" b="1" dirty="0">
                <a:solidFill>
                  <a:srgbClr val="A31515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en-US" altLang="en-US" sz="1600" b="1" dirty="0">
              <a:latin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0213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74880" y="838133"/>
            <a:ext cx="10707445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71450" indent="-1714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fr-FR" altLang="en-US" dirty="0">
                <a:latin typeface="Calibri "/>
                <a:cs typeface="Times New Roman" panose="02020603050405020304" pitchFamily="18" charset="0"/>
              </a:rPr>
              <a:t>La question qui se pose maintenant comment ces objets sont crées</a:t>
            </a:r>
          </a:p>
          <a:p>
            <a:pPr>
              <a:buFont typeface="Wingdings" panose="05000000000000000000" pitchFamily="2" charset="2"/>
              <a:buChar char="§"/>
            </a:pPr>
            <a:endParaRPr lang="fr-FR" altLang="en-US" dirty="0">
              <a:latin typeface="Calibri 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fr-FR" altLang="en-US" dirty="0">
                <a:latin typeface="Calibri "/>
                <a:cs typeface="Times New Roman" panose="02020603050405020304" pitchFamily="18" charset="0"/>
              </a:rPr>
              <a:t>Il y a une sorte des convertisseurs derrière les scènes qui traduisent les XAML en objets dotnet</a:t>
            </a:r>
            <a:endParaRPr lang="fr-FR" altLang="en-US" dirty="0">
              <a:latin typeface="Calibri 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14400" y="1959045"/>
            <a:ext cx="7095066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//Création d'un bouton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Button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button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Button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/*Utilisateur d'un convertisseur pour construire un objet du type </a:t>
            </a:r>
            <a:r>
              <a:rPr lang="fr-FR" sz="1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SolidColorBrush</a:t>
            </a:r>
            <a:r>
              <a:rPr lang="fr-FR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*/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button.Background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(Brush)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TypeDescriptor.GetConverter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typeof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SolidColorBrush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))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.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ConvertFromInvariantString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yellow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button.TextColor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Colors.Red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button.Text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"Click moi svp!!!"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button.Clicked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+= (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sender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 =&gt; {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DisplayAlert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"Test de 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créeation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 du bouton"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"Bouton crée dynamiquement"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"OK"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); };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content.Add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button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fr-FR" sz="1400" dirty="0"/>
          </a:p>
        </p:txBody>
      </p:sp>
      <p:sp>
        <p:nvSpPr>
          <p:cNvPr id="5" name="Rectangle 4"/>
          <p:cNvSpPr/>
          <p:nvPr/>
        </p:nvSpPr>
        <p:spPr>
          <a:xfrm>
            <a:off x="7721600" y="2230104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6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ScrollView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6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VerticalStackLayout</a:t>
            </a:r>
            <a:r>
              <a:rPr lang="fr-FR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endParaRPr lang="fr-FR" sz="1600" dirty="0" smtClean="0">
              <a:solidFill>
                <a:srgbClr val="FF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smtClean="0">
                <a:solidFill>
                  <a:srgbClr val="FF0000"/>
                </a:solidFill>
                <a:latin typeface="Cascadia Mono" panose="020B0609020000020004" pitchFamily="49" charset="0"/>
              </a:rPr>
              <a:t>        x</a:t>
            </a:r>
            <a:r>
              <a:rPr lang="fr-FR" sz="16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600" dirty="0" smtClean="0">
                <a:solidFill>
                  <a:srgbClr val="FF0000"/>
                </a:solidFill>
                <a:latin typeface="Cascadia Mono" panose="020B0609020000020004" pitchFamily="49" charset="0"/>
              </a:rPr>
              <a:t>Name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="content"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 smtClean="0">
                <a:solidFill>
                  <a:srgbClr val="FF0000"/>
                </a:solidFill>
                <a:latin typeface="Cascadia Mono" panose="020B0609020000020004" pitchFamily="49" charset="0"/>
              </a:rPr>
              <a:t>         </a:t>
            </a:r>
            <a:r>
              <a:rPr lang="fr-FR" sz="1600" dirty="0" err="1" smtClean="0">
                <a:solidFill>
                  <a:srgbClr val="FF0000"/>
                </a:solidFill>
                <a:latin typeface="Cascadia Mono" panose="020B0609020000020004" pitchFamily="49" charset="0"/>
              </a:rPr>
              <a:t>Spacing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="25"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</a:t>
            </a:r>
            <a:r>
              <a:rPr lang="fr-FR" sz="1600" dirty="0" err="1" smtClean="0">
                <a:solidFill>
                  <a:srgbClr val="FF0000"/>
                </a:solidFill>
                <a:latin typeface="Cascadia Mono" panose="020B0609020000020004" pitchFamily="49" charset="0"/>
              </a:rPr>
              <a:t>Padding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="30,0"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</a:t>
            </a:r>
            <a:r>
              <a:rPr lang="fr-FR" sz="1600" dirty="0" err="1" smtClean="0">
                <a:solidFill>
                  <a:srgbClr val="FF0000"/>
                </a:solidFill>
                <a:latin typeface="Cascadia Mono" panose="020B0609020000020004" pitchFamily="49" charset="0"/>
              </a:rPr>
              <a:t>VerticalOptions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="Center"&gt;</a:t>
            </a:r>
            <a:endParaRPr lang="fr-FR" sz="1600" dirty="0"/>
          </a:p>
        </p:txBody>
      </p:sp>
      <p:sp>
        <p:nvSpPr>
          <p:cNvPr id="6" name="Rectangle 5"/>
          <p:cNvSpPr/>
          <p:nvPr/>
        </p:nvSpPr>
        <p:spPr>
          <a:xfrm>
            <a:off x="8822267" y="2777067"/>
            <a:ext cx="2091265" cy="237867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2192867" y="4546600"/>
            <a:ext cx="2370666" cy="245533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9" name="Connecteur droit avec flèche 8"/>
          <p:cNvCxnSpPr/>
          <p:nvPr/>
        </p:nvCxnSpPr>
        <p:spPr>
          <a:xfrm flipH="1">
            <a:off x="4563533" y="2870200"/>
            <a:ext cx="4258734" cy="176953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0546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/>
          <p:cNvSpPr>
            <a:spLocks/>
          </p:cNvSpPr>
          <p:nvPr/>
        </p:nvSpPr>
        <p:spPr bwMode="auto">
          <a:xfrm>
            <a:off x="461963" y="820738"/>
            <a:ext cx="2174875" cy="271462"/>
          </a:xfrm>
          <a:custGeom>
            <a:avLst/>
            <a:gdLst>
              <a:gd name="T0" fmla="*/ 1984236 w 2175510"/>
              <a:gd name="T1" fmla="*/ 0 h 271144"/>
              <a:gd name="T2" fmla="*/ 3158 w 2175510"/>
              <a:gd name="T3" fmla="*/ 0 h 271144"/>
              <a:gd name="T4" fmla="*/ 0 w 2175510"/>
              <a:gd name="T5" fmla="*/ 1322 h 271144"/>
              <a:gd name="T6" fmla="*/ 0 w 2175510"/>
              <a:gd name="T7" fmla="*/ 274678 h 271144"/>
              <a:gd name="T8" fmla="*/ 3158 w 2175510"/>
              <a:gd name="T9" fmla="*/ 277927 h 271144"/>
              <a:gd name="T10" fmla="*/ 1991810 w 2175510"/>
              <a:gd name="T11" fmla="*/ 277927 h 271144"/>
              <a:gd name="T12" fmla="*/ 1993079 w 2175510"/>
              <a:gd name="T13" fmla="*/ 274678 h 271144"/>
              <a:gd name="T14" fmla="*/ 1993079 w 2175510"/>
              <a:gd name="T15" fmla="*/ 268835 h 271144"/>
              <a:gd name="T16" fmla="*/ 8831 w 2175510"/>
              <a:gd name="T17" fmla="*/ 268835 h 271144"/>
              <a:gd name="T18" fmla="*/ 8831 w 2175510"/>
              <a:gd name="T19" fmla="*/ 9128 h 271144"/>
              <a:gd name="T20" fmla="*/ 1984236 w 2175510"/>
              <a:gd name="T21" fmla="*/ 9128 h 271144"/>
              <a:gd name="T22" fmla="*/ 1984236 w 2175510"/>
              <a:gd name="T23" fmla="*/ 0 h 271144"/>
              <a:gd name="T24" fmla="*/ 1993079 w 2175510"/>
              <a:gd name="T25" fmla="*/ 224566 h 271144"/>
              <a:gd name="T26" fmla="*/ 1984236 w 2175510"/>
              <a:gd name="T27" fmla="*/ 224566 h 271144"/>
              <a:gd name="T28" fmla="*/ 1984236 w 2175510"/>
              <a:gd name="T29" fmla="*/ 268835 h 271144"/>
              <a:gd name="T30" fmla="*/ 1993079 w 2175510"/>
              <a:gd name="T31" fmla="*/ 268835 h 271144"/>
              <a:gd name="T32" fmla="*/ 1993079 w 2175510"/>
              <a:gd name="T33" fmla="*/ 224566 h 271144"/>
              <a:gd name="T34" fmla="*/ 2161602 w 2175510"/>
              <a:gd name="T35" fmla="*/ 51423 h 271144"/>
              <a:gd name="T36" fmla="*/ 1609993 w 2175510"/>
              <a:gd name="T37" fmla="*/ 51423 h 271144"/>
              <a:gd name="T38" fmla="*/ 1609993 w 2175510"/>
              <a:gd name="T39" fmla="*/ 224566 h 271144"/>
              <a:gd name="T40" fmla="*/ 2161602 w 2175510"/>
              <a:gd name="T41" fmla="*/ 224566 h 271144"/>
              <a:gd name="T42" fmla="*/ 2161602 w 2175510"/>
              <a:gd name="T43" fmla="*/ 51423 h 271144"/>
              <a:gd name="T44" fmla="*/ 1991810 w 2175510"/>
              <a:gd name="T45" fmla="*/ 0 h 271144"/>
              <a:gd name="T46" fmla="*/ 1984236 w 2175510"/>
              <a:gd name="T47" fmla="*/ 0 h 271144"/>
              <a:gd name="T48" fmla="*/ 1984236 w 2175510"/>
              <a:gd name="T49" fmla="*/ 51423 h 271144"/>
              <a:gd name="T50" fmla="*/ 1993079 w 2175510"/>
              <a:gd name="T51" fmla="*/ 51423 h 271144"/>
              <a:gd name="T52" fmla="*/ 1993079 w 2175510"/>
              <a:gd name="T53" fmla="*/ 1322 h 271144"/>
              <a:gd name="T54" fmla="*/ 1991810 w 2175510"/>
              <a:gd name="T55" fmla="*/ 0 h 271144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0" t="0" r="r" b="b"/>
            <a:pathLst>
              <a:path w="2175510" h="271144">
                <a:moveTo>
                  <a:pt x="1996439" y="0"/>
                </a:moveTo>
                <a:lnTo>
                  <a:pt x="3179" y="0"/>
                </a:lnTo>
                <a:lnTo>
                  <a:pt x="0" y="1280"/>
                </a:lnTo>
                <a:lnTo>
                  <a:pt x="0" y="267980"/>
                </a:lnTo>
                <a:lnTo>
                  <a:pt x="3179" y="271150"/>
                </a:lnTo>
                <a:lnTo>
                  <a:pt x="2004059" y="271150"/>
                </a:lnTo>
                <a:lnTo>
                  <a:pt x="2005334" y="267980"/>
                </a:lnTo>
                <a:lnTo>
                  <a:pt x="2005334" y="262280"/>
                </a:lnTo>
                <a:lnTo>
                  <a:pt x="8894" y="262280"/>
                </a:lnTo>
                <a:lnTo>
                  <a:pt x="8894" y="8900"/>
                </a:lnTo>
                <a:lnTo>
                  <a:pt x="1996439" y="8900"/>
                </a:lnTo>
                <a:lnTo>
                  <a:pt x="1996439" y="0"/>
                </a:lnTo>
                <a:close/>
              </a:path>
              <a:path w="2175510" h="271144">
                <a:moveTo>
                  <a:pt x="2005334" y="219090"/>
                </a:moveTo>
                <a:lnTo>
                  <a:pt x="1996439" y="219090"/>
                </a:lnTo>
                <a:lnTo>
                  <a:pt x="1996439" y="262280"/>
                </a:lnTo>
                <a:lnTo>
                  <a:pt x="2005334" y="262280"/>
                </a:lnTo>
                <a:lnTo>
                  <a:pt x="2005334" y="219090"/>
                </a:lnTo>
                <a:close/>
              </a:path>
              <a:path w="2175510" h="271144">
                <a:moveTo>
                  <a:pt x="2174894" y="50170"/>
                </a:moveTo>
                <a:lnTo>
                  <a:pt x="1619893" y="50170"/>
                </a:lnTo>
                <a:lnTo>
                  <a:pt x="1619893" y="219090"/>
                </a:lnTo>
                <a:lnTo>
                  <a:pt x="2174894" y="219090"/>
                </a:lnTo>
                <a:lnTo>
                  <a:pt x="2174894" y="50170"/>
                </a:lnTo>
                <a:close/>
              </a:path>
              <a:path w="2175510" h="271144">
                <a:moveTo>
                  <a:pt x="2004059" y="0"/>
                </a:moveTo>
                <a:lnTo>
                  <a:pt x="1996439" y="0"/>
                </a:lnTo>
                <a:lnTo>
                  <a:pt x="1996439" y="50170"/>
                </a:lnTo>
                <a:lnTo>
                  <a:pt x="2005334" y="50170"/>
                </a:lnTo>
                <a:lnTo>
                  <a:pt x="2005334" y="1280"/>
                </a:lnTo>
                <a:lnTo>
                  <a:pt x="2004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fr-FR"/>
          </a:p>
        </p:txBody>
      </p:sp>
      <p:sp>
        <p:nvSpPr>
          <p:cNvPr id="3" name="object 4"/>
          <p:cNvSpPr txBox="1"/>
          <p:nvPr/>
        </p:nvSpPr>
        <p:spPr>
          <a:xfrm>
            <a:off x="452437" y="687379"/>
            <a:ext cx="2909887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984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sz="2000" spc="5" dirty="0">
                <a:latin typeface="Segoe UI Symbol"/>
                <a:cs typeface="Segoe UI Symbol"/>
              </a:rPr>
              <a:t>P</a:t>
            </a:r>
            <a:r>
              <a:rPr sz="2000" spc="-5" dirty="0">
                <a:latin typeface="Segoe UI Symbol"/>
                <a:cs typeface="Segoe UI Symbol"/>
              </a:rPr>
              <a:t>r</a:t>
            </a:r>
            <a:r>
              <a:rPr sz="2000" spc="-25" dirty="0">
                <a:latin typeface="Segoe UI Symbol"/>
                <a:cs typeface="Segoe UI Symbol"/>
              </a:rPr>
              <a:t>op</a:t>
            </a:r>
            <a:r>
              <a:rPr sz="2000" spc="-5" dirty="0">
                <a:latin typeface="Segoe UI Symbol"/>
                <a:cs typeface="Segoe UI Symbol"/>
              </a:rPr>
              <a:t>r</a:t>
            </a:r>
            <a:r>
              <a:rPr sz="2000" spc="-25" dirty="0">
                <a:latin typeface="Segoe UI Symbol"/>
                <a:cs typeface="Segoe UI Symbol"/>
              </a:rPr>
              <a:t>i</a:t>
            </a:r>
            <a:r>
              <a:rPr sz="2000" dirty="0">
                <a:latin typeface="Segoe UI Symbol"/>
                <a:cs typeface="Segoe UI Symbol"/>
              </a:rPr>
              <a:t>ét</a:t>
            </a:r>
            <a:r>
              <a:rPr sz="2000" spc="-10" dirty="0">
                <a:latin typeface="Segoe UI Symbol"/>
                <a:cs typeface="Segoe UI Symbol"/>
              </a:rPr>
              <a:t>é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Segoe UI Symbol"/>
                <a:cs typeface="Segoe UI Symbol"/>
              </a:rPr>
              <a:t>.</a:t>
            </a:r>
            <a:r>
              <a:rPr sz="2000" spc="-35" dirty="0">
                <a:latin typeface="Segoe UI Symbol"/>
                <a:cs typeface="Segoe UI Symbol"/>
              </a:rPr>
              <a:t>N</a:t>
            </a:r>
            <a:r>
              <a:rPr sz="2000" dirty="0">
                <a:latin typeface="Segoe UI Symbol"/>
                <a:cs typeface="Segoe UI Symbol"/>
              </a:rPr>
              <a:t>e</a:t>
            </a:r>
            <a:r>
              <a:rPr sz="2000" spc="-5" dirty="0">
                <a:latin typeface="Segoe UI Symbol"/>
                <a:cs typeface="Segoe UI Symbol"/>
              </a:rPr>
              <a:t>t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Segoe UI Symbol"/>
                <a:cs typeface="Segoe UI Symbol"/>
              </a:rPr>
              <a:t>:</a:t>
            </a:r>
            <a:endParaRPr sz="2000" dirty="0">
              <a:latin typeface="Segoe UI Symbol"/>
              <a:cs typeface="Segoe UI Symbol"/>
            </a:endParaRPr>
          </a:p>
        </p:txBody>
      </p:sp>
      <p:sp>
        <p:nvSpPr>
          <p:cNvPr id="4" name="object 5"/>
          <p:cNvSpPr>
            <a:spLocks/>
          </p:cNvSpPr>
          <p:nvPr/>
        </p:nvSpPr>
        <p:spPr bwMode="auto">
          <a:xfrm>
            <a:off x="4121150" y="895350"/>
            <a:ext cx="171450" cy="146050"/>
          </a:xfrm>
          <a:custGeom>
            <a:avLst/>
            <a:gdLst>
              <a:gd name="T0" fmla="*/ 0 w 170814"/>
              <a:gd name="T1" fmla="*/ 133847 h 146685"/>
              <a:gd name="T2" fmla="*/ 184542 w 170814"/>
              <a:gd name="T3" fmla="*/ 133847 h 146685"/>
              <a:gd name="T4" fmla="*/ 184542 w 170814"/>
              <a:gd name="T5" fmla="*/ 0 h 146685"/>
              <a:gd name="T6" fmla="*/ 0 w 170814"/>
              <a:gd name="T7" fmla="*/ 0 h 146685"/>
              <a:gd name="T8" fmla="*/ 0 w 170814"/>
              <a:gd name="T9" fmla="*/ 133847 h 14668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70814" h="146685">
                <a:moveTo>
                  <a:pt x="0" y="146613"/>
                </a:moveTo>
                <a:lnTo>
                  <a:pt x="170687" y="146613"/>
                </a:lnTo>
                <a:lnTo>
                  <a:pt x="170687" y="0"/>
                </a:lnTo>
                <a:lnTo>
                  <a:pt x="0" y="0"/>
                </a:lnTo>
                <a:lnTo>
                  <a:pt x="0" y="1466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fr-FR"/>
          </a:p>
        </p:txBody>
      </p:sp>
      <p:sp>
        <p:nvSpPr>
          <p:cNvPr id="5" name="object 6"/>
          <p:cNvSpPr txBox="1"/>
          <p:nvPr/>
        </p:nvSpPr>
        <p:spPr>
          <a:xfrm>
            <a:off x="2440916" y="1153191"/>
            <a:ext cx="5341937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>
              <a:defRPr/>
            </a:pPr>
            <a:r>
              <a:rPr spc="15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pc="15" dirty="0" smtClean="0">
                <a:solidFill>
                  <a:srgbClr val="A21313"/>
                </a:solidFill>
                <a:latin typeface="Consolas"/>
                <a:cs typeface="Consolas"/>
              </a:rPr>
              <a:t>Button</a:t>
            </a:r>
            <a:r>
              <a:rPr lang="en-US" spc="15" dirty="0" smtClean="0">
                <a:solidFill>
                  <a:srgbClr val="A21313"/>
                </a:solidFill>
                <a:latin typeface="Consolas"/>
                <a:cs typeface="Consolas"/>
              </a:rPr>
              <a:t>  </a:t>
            </a:r>
            <a:r>
              <a:rPr lang="en-US" spc="15" dirty="0" smtClean="0">
                <a:solidFill>
                  <a:srgbClr val="FF0000"/>
                </a:solidFill>
                <a:latin typeface="Consolas"/>
                <a:cs typeface="Consolas"/>
              </a:rPr>
              <a:t>Text</a:t>
            </a:r>
            <a:r>
              <a:rPr lang="en-US" spc="15" dirty="0" smtClean="0">
                <a:solidFill>
                  <a:srgbClr val="0000FF"/>
                </a:solidFill>
                <a:latin typeface="Consolas"/>
                <a:cs typeface="Consolas"/>
              </a:rPr>
              <a:t>="</a:t>
            </a:r>
            <a:r>
              <a:rPr lang="en-US" spc="60" dirty="0" err="1">
                <a:solidFill>
                  <a:srgbClr val="0000FF"/>
                </a:solidFill>
                <a:latin typeface="Consolas"/>
                <a:cs typeface="Consolas"/>
              </a:rPr>
              <a:t>R</a:t>
            </a:r>
            <a:r>
              <a:rPr lang="en-US" spc="15" dirty="0" err="1">
                <a:solidFill>
                  <a:srgbClr val="0000FF"/>
                </a:solidFill>
                <a:latin typeface="Consolas"/>
                <a:cs typeface="Consolas"/>
              </a:rPr>
              <a:t>emplir</a:t>
            </a:r>
            <a:r>
              <a:rPr lang="en-US" dirty="0">
                <a:solidFill>
                  <a:srgbClr val="0000FF"/>
                </a:solidFill>
                <a:latin typeface="Consolas"/>
                <a:cs typeface="Consolas"/>
              </a:rPr>
              <a:t>"</a:t>
            </a:r>
            <a:r>
              <a:rPr lang="en-US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pc="-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pc="65" dirty="0">
                <a:solidFill>
                  <a:srgbClr val="0000FF"/>
                </a:solidFill>
                <a:latin typeface="Consolas"/>
                <a:cs typeface="Consolas"/>
              </a:rPr>
              <a:t>/&gt;</a:t>
            </a:r>
            <a:endParaRPr lang="en-US" dirty="0">
              <a:latin typeface="Consolas"/>
              <a:cs typeface="Consolas"/>
            </a:endParaRPr>
          </a:p>
          <a:p>
            <a:pPr marL="127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dirty="0">
              <a:latin typeface="Consolas"/>
              <a:cs typeface="Consolas"/>
            </a:endParaRPr>
          </a:p>
        </p:txBody>
      </p:sp>
      <p:sp>
        <p:nvSpPr>
          <p:cNvPr id="7" name="object 19"/>
          <p:cNvSpPr txBox="1">
            <a:spLocks noChangeArrowheads="1"/>
          </p:cNvSpPr>
          <p:nvPr/>
        </p:nvSpPr>
        <p:spPr bwMode="auto">
          <a:xfrm>
            <a:off x="393388" y="3630963"/>
            <a:ext cx="1085854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255588" indent="-242888">
              <a:tabLst>
                <a:tab pos="2571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2571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2571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2571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2571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571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571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571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571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marL="298450" indent="-285750" eaLnBrk="1" hangingPunct="1">
              <a:buClr>
                <a:srgbClr val="006498"/>
              </a:buClr>
              <a:buSzPct val="61000"/>
              <a:buFont typeface="Wingdings" panose="05000000000000000000" pitchFamily="2" charset="2"/>
              <a:buChar char="§"/>
            </a:pPr>
            <a:r>
              <a:rPr lang="en-US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Les 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composants sont souvent décrits en XAML, mais peuvent aussi être instanciés en </a:t>
            </a:r>
            <a:r>
              <a:rPr lang="en-US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r>
              <a:rPr lang="en-US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Net </a:t>
            </a:r>
            <a:r>
              <a:rPr lang="en-US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endParaRPr lang="en-US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object 34"/>
          <p:cNvSpPr txBox="1">
            <a:spLocks noChangeArrowheads="1"/>
          </p:cNvSpPr>
          <p:nvPr/>
        </p:nvSpPr>
        <p:spPr bwMode="auto">
          <a:xfrm>
            <a:off x="393388" y="1864980"/>
            <a:ext cx="8056563" cy="2621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marL="298450" indent="-285750" eaLnBrk="1" hangingPunct="1">
              <a:lnSpc>
                <a:spcPct val="101000"/>
              </a:lnSpc>
              <a:buFont typeface="Wingdings" panose="05000000000000000000" pitchFamily="2" charset="2"/>
              <a:buChar char="§"/>
            </a:pP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Syntaxe permettant de décrire pleinement une propriété objet </a:t>
            </a:r>
            <a:r>
              <a:rPr lang="en-US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endParaRPr lang="en-US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object 39"/>
          <p:cNvSpPr txBox="1"/>
          <p:nvPr/>
        </p:nvSpPr>
        <p:spPr>
          <a:xfrm>
            <a:off x="2440916" y="2484384"/>
            <a:ext cx="5643562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pc="15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pc="15" dirty="0">
                <a:solidFill>
                  <a:srgbClr val="A21313"/>
                </a:solidFill>
                <a:latin typeface="Consolas"/>
                <a:cs typeface="Consolas"/>
              </a:rPr>
              <a:t>Butt</a:t>
            </a:r>
            <a:r>
              <a:rPr spc="60" dirty="0">
                <a:solidFill>
                  <a:srgbClr val="A21313"/>
                </a:solidFill>
                <a:latin typeface="Consolas"/>
                <a:cs typeface="Consolas"/>
              </a:rPr>
              <a:t>o</a:t>
            </a:r>
            <a:r>
              <a:rPr spc="25" dirty="0">
                <a:solidFill>
                  <a:srgbClr val="A21313"/>
                </a:solidFill>
                <a:latin typeface="Consolas"/>
                <a:cs typeface="Consolas"/>
              </a:rPr>
              <a:t>n</a:t>
            </a:r>
            <a:r>
              <a:rPr dirty="0" smtClean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lang="en-US" dirty="0" smtClean="0">
              <a:solidFill>
                <a:srgbClr val="0000FF"/>
              </a:solidFill>
              <a:latin typeface="Consolas"/>
              <a:cs typeface="Consolas"/>
            </a:endParaRPr>
          </a:p>
          <a:p>
            <a:pPr marL="12700">
              <a:defRPr/>
            </a:pPr>
            <a:r>
              <a:rPr lang="en-US" spc="15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lang="en-US" spc="15" dirty="0" err="1" smtClean="0">
                <a:solidFill>
                  <a:srgbClr val="A21313"/>
                </a:solidFill>
                <a:latin typeface="Consolas"/>
                <a:cs typeface="Consolas"/>
              </a:rPr>
              <a:t>Butt</a:t>
            </a:r>
            <a:r>
              <a:rPr lang="en-US" spc="60" dirty="0" err="1" smtClean="0">
                <a:solidFill>
                  <a:srgbClr val="A21313"/>
                </a:solidFill>
                <a:latin typeface="Consolas"/>
                <a:cs typeface="Consolas"/>
              </a:rPr>
              <a:t>o</a:t>
            </a:r>
            <a:r>
              <a:rPr lang="en-US" spc="15" dirty="0" err="1" smtClean="0">
                <a:solidFill>
                  <a:srgbClr val="A21313"/>
                </a:solidFill>
                <a:latin typeface="Consolas"/>
                <a:cs typeface="Consolas"/>
              </a:rPr>
              <a:t>n.Text</a:t>
            </a:r>
            <a:r>
              <a:rPr lang="en-US" spc="15" dirty="0" smtClean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lang="en-US" spc="15" dirty="0" err="1" smtClean="0">
                <a:solidFill>
                  <a:srgbClr val="0000FF"/>
                </a:solidFill>
                <a:latin typeface="Consolas"/>
                <a:cs typeface="Consolas"/>
              </a:rPr>
              <a:t>Re</a:t>
            </a:r>
            <a:r>
              <a:rPr lang="en-US" spc="60" dirty="0" err="1" smtClean="0">
                <a:solidFill>
                  <a:srgbClr val="0000FF"/>
                </a:solidFill>
                <a:latin typeface="Consolas"/>
                <a:cs typeface="Consolas"/>
              </a:rPr>
              <a:t>m</a:t>
            </a:r>
            <a:r>
              <a:rPr lang="en-US" spc="15" dirty="0" err="1" smtClean="0">
                <a:solidFill>
                  <a:srgbClr val="0000FF"/>
                </a:solidFill>
                <a:latin typeface="Consolas"/>
                <a:cs typeface="Consolas"/>
              </a:rPr>
              <a:t>pli</a:t>
            </a:r>
            <a:r>
              <a:rPr lang="en-US" spc="60" dirty="0" err="1" smtClean="0">
                <a:solidFill>
                  <a:srgbClr val="0000FF"/>
                </a:solidFill>
                <a:latin typeface="Consolas"/>
                <a:cs typeface="Consolas"/>
              </a:rPr>
              <a:t>r</a:t>
            </a:r>
            <a:r>
              <a:rPr lang="en-US" spc="15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lang="en-US" spc="30" dirty="0">
                <a:solidFill>
                  <a:srgbClr val="0000FF"/>
                </a:solidFill>
                <a:latin typeface="Consolas"/>
                <a:cs typeface="Consolas"/>
              </a:rPr>
              <a:t>/</a:t>
            </a:r>
            <a:r>
              <a:rPr lang="en-US" spc="15" dirty="0" err="1" smtClean="0">
                <a:solidFill>
                  <a:srgbClr val="A21313"/>
                </a:solidFill>
                <a:latin typeface="Consolas"/>
                <a:cs typeface="Consolas"/>
              </a:rPr>
              <a:t>Bu</a:t>
            </a:r>
            <a:r>
              <a:rPr lang="en-US" spc="60" dirty="0" err="1" smtClean="0">
                <a:solidFill>
                  <a:srgbClr val="A21313"/>
                </a:solidFill>
                <a:latin typeface="Consolas"/>
                <a:cs typeface="Consolas"/>
              </a:rPr>
              <a:t>t</a:t>
            </a:r>
            <a:r>
              <a:rPr lang="en-US" spc="15" dirty="0" err="1" smtClean="0">
                <a:solidFill>
                  <a:srgbClr val="A21313"/>
                </a:solidFill>
                <a:latin typeface="Consolas"/>
                <a:cs typeface="Consolas"/>
              </a:rPr>
              <a:t>ton</a:t>
            </a:r>
            <a:r>
              <a:rPr lang="en-US" spc="60" dirty="0" err="1" smtClean="0">
                <a:solidFill>
                  <a:srgbClr val="A21313"/>
                </a:solidFill>
                <a:latin typeface="Consolas"/>
                <a:cs typeface="Consolas"/>
              </a:rPr>
              <a:t>.</a:t>
            </a:r>
            <a:r>
              <a:rPr lang="en-US" spc="15" dirty="0" err="1" smtClean="0">
                <a:solidFill>
                  <a:srgbClr val="A21313"/>
                </a:solidFill>
                <a:latin typeface="Consolas"/>
                <a:cs typeface="Consolas"/>
              </a:rPr>
              <a:t>Text</a:t>
            </a:r>
            <a:r>
              <a:rPr lang="en-US" dirty="0" smtClean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</a:p>
          <a:p>
            <a:pPr marL="12700">
              <a:defRPr/>
            </a:pPr>
            <a:r>
              <a:rPr lang="en-US" spc="15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lang="en-US" spc="15" dirty="0">
                <a:solidFill>
                  <a:srgbClr val="A21313"/>
                </a:solidFill>
                <a:latin typeface="Consolas"/>
                <a:cs typeface="Consolas"/>
              </a:rPr>
              <a:t>But</a:t>
            </a:r>
            <a:r>
              <a:rPr lang="en-US" spc="60" dirty="0">
                <a:solidFill>
                  <a:srgbClr val="A21313"/>
                </a:solidFill>
                <a:latin typeface="Consolas"/>
                <a:cs typeface="Consolas"/>
              </a:rPr>
              <a:t>t</a:t>
            </a:r>
            <a:r>
              <a:rPr lang="en-US" spc="15" dirty="0">
                <a:solidFill>
                  <a:srgbClr val="A21313"/>
                </a:solidFill>
                <a:latin typeface="Consolas"/>
                <a:cs typeface="Consolas"/>
              </a:rPr>
              <a:t>o</a:t>
            </a:r>
            <a:r>
              <a:rPr lang="en-US" spc="25" dirty="0">
                <a:solidFill>
                  <a:srgbClr val="A21313"/>
                </a:solidFill>
                <a:latin typeface="Consolas"/>
                <a:cs typeface="Consolas"/>
              </a:rPr>
              <a:t>n</a:t>
            </a:r>
            <a:r>
              <a:rPr lang="en-US" dirty="0" smtClean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100" dirty="0">
              <a:latin typeface="Consolas"/>
              <a:cs typeface="Consola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440916" y="4223544"/>
            <a:ext cx="6096000" cy="67954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6000"/>
              </a:lnSpc>
            </a:pPr>
            <a:r>
              <a:rPr lang="en-US" altLang="en-US" dirty="0">
                <a:solidFill>
                  <a:srgbClr val="2A90AE"/>
                </a:solidFill>
                <a:latin typeface="Consolas" panose="020B0609020204030204" pitchFamily="49" charset="0"/>
              </a:rPr>
              <a:t>Button</a:t>
            </a:r>
            <a:r>
              <a:rPr lang="en-US" altLang="en-US" dirty="0">
                <a:solidFill>
                  <a:srgbClr val="2A90A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dirty="0" err="1">
                <a:latin typeface="Consolas" panose="020B0609020204030204" pitchFamily="49" charset="0"/>
              </a:rPr>
              <a:t>buttonOK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dirty="0">
                <a:latin typeface="Consolas" panose="020B0609020204030204" pitchFamily="49" charset="0"/>
              </a:rPr>
              <a:t>=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dirty="0">
                <a:solidFill>
                  <a:srgbClr val="2A90AE"/>
                </a:solidFill>
                <a:latin typeface="Consolas" panose="020B0609020204030204" pitchFamily="49" charset="0"/>
              </a:rPr>
              <a:t>Button</a:t>
            </a:r>
            <a:r>
              <a:rPr lang="en-US" altLang="en-US" dirty="0"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06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latin typeface="Consolas" panose="020B0609020204030204" pitchFamily="49" charset="0"/>
              </a:rPr>
              <a:t>buttonOK.Text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dirty="0">
                <a:latin typeface="Consolas" panose="020B0609020204030204" pitchFamily="49" charset="0"/>
              </a:rPr>
              <a:t>=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dirty="0">
                <a:solidFill>
                  <a:srgbClr val="A21313"/>
                </a:solidFill>
                <a:latin typeface="Consolas" panose="020B0609020204030204" pitchFamily="49" charset="0"/>
              </a:rPr>
              <a:t>"OK"</a:t>
            </a:r>
            <a:r>
              <a:rPr lang="en-US" altLang="en-US" dirty="0"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834587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2"/>
          <p:cNvSpPr txBox="1">
            <a:spLocks noChangeArrowheads="1"/>
          </p:cNvSpPr>
          <p:nvPr/>
        </p:nvSpPr>
        <p:spPr bwMode="auto">
          <a:xfrm>
            <a:off x="260350" y="1220788"/>
            <a:ext cx="11626850" cy="1434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255588" indent="-242888">
              <a:tabLst>
                <a:tab pos="2571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2571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2571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2571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2571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571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571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571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571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marL="184150" indent="-171450" eaLnBrk="1" hangingPunct="1">
              <a:lnSpc>
                <a:spcPct val="102000"/>
              </a:lnSpc>
              <a:buClr>
                <a:srgbClr val="006498"/>
              </a:buClr>
              <a:buSzPct val="60000"/>
              <a:buFont typeface="Wingdings" panose="05000000000000000000" pitchFamily="2" charset="2"/>
              <a:buChar char="§"/>
              <a:defRPr/>
            </a:pPr>
            <a:r>
              <a:rPr lang="fr-FR" altLang="en-US" dirty="0" smtClean="0">
                <a:latin typeface="Segoe UI Symbol" panose="020B0502040204020203" pitchFamily="34" charset="0"/>
              </a:rPr>
              <a:t>Le nommage des composants permet de repérer ces derniers dans le code </a:t>
            </a:r>
            <a:r>
              <a:rPr lang="fr-FR" altLang="en-US" dirty="0" err="1" smtClean="0">
                <a:latin typeface="Segoe UI Symbol" panose="020B0502040204020203" pitchFamily="34" charset="0"/>
              </a:rPr>
              <a:t>Behind</a:t>
            </a:r>
            <a:r>
              <a:rPr lang="fr-FR" altLang="en-US" dirty="0" smtClean="0">
                <a:latin typeface="Segoe UI Symbol" panose="020B0502040204020203" pitchFamily="34" charset="0"/>
              </a:rPr>
              <a:t>  </a:t>
            </a:r>
            <a:r>
              <a:rPr lang="fr-FR" altLang="en-US" b="1" dirty="0" smtClean="0">
                <a:latin typeface="Segoe UI Symbol" panose="020B0502040204020203" pitchFamily="34" charset="0"/>
              </a:rPr>
              <a:t>x:Name</a:t>
            </a:r>
            <a:r>
              <a:rPr lang="fr-FR" altLang="en-US" dirty="0" smtClean="0">
                <a:latin typeface="Segoe UI Symbol" panose="020B0502040204020203" pitchFamily="34" charset="0"/>
              </a:rPr>
              <a:t> </a:t>
            </a:r>
          </a:p>
          <a:p>
            <a:pPr marL="184150" indent="-171450" eaLnBrk="1" hangingPunct="1">
              <a:lnSpc>
                <a:spcPct val="102000"/>
              </a:lnSpc>
              <a:buClr>
                <a:srgbClr val="006498"/>
              </a:buClr>
              <a:buSzPct val="60000"/>
              <a:buFont typeface="Wingdings" panose="05000000000000000000" pitchFamily="2" charset="2"/>
              <a:buChar char="§"/>
              <a:defRPr/>
            </a:pPr>
            <a:endParaRPr lang="en-US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 eaLnBrk="1" hangingPunct="1">
              <a:spcBef>
                <a:spcPts val="5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en-US" b="1" dirty="0">
                <a:latin typeface="Segoe UI Symbol" panose="020B0502040204020203" pitchFamily="34" charset="0"/>
                <a:ea typeface="Segoe UI Symbol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b="1" dirty="0" smtClean="0">
                <a:latin typeface="Segoe UI Symbol" panose="020B0502040204020203" pitchFamily="34" charset="0"/>
                <a:ea typeface="Segoe UI Symbol" panose="020B0502040204020203" pitchFamily="34" charset="0"/>
                <a:cs typeface="Times New Roman" panose="02020603050405020304" pitchFamily="18" charset="0"/>
              </a:rPr>
              <a:t> x:Name </a:t>
            </a:r>
            <a:r>
              <a:rPr lang="fr-FR" altLang="en-US" dirty="0" smtClean="0">
                <a:latin typeface="Segoe UI Symbol" panose="020B0502040204020203" pitchFamily="34" charset="0"/>
                <a:ea typeface="Segoe UI Symbol" panose="020B0502040204020203" pitchFamily="34" charset="0"/>
                <a:cs typeface="Times New Roman" panose="02020603050405020304" pitchFamily="18" charset="0"/>
              </a:rPr>
              <a:t>est un concept XAML qui est définit dans l’espace nom </a:t>
            </a:r>
          </a:p>
          <a:p>
            <a:pPr>
              <a:spcBef>
                <a:spcPts val="50"/>
              </a:spcBef>
              <a:defRPr/>
            </a:pPr>
            <a:r>
              <a:rPr lang="fr-FR" dirty="0" smtClean="0"/>
              <a:t>						</a:t>
            </a:r>
          </a:p>
          <a:p>
            <a:pPr>
              <a:spcBef>
                <a:spcPts val="50"/>
              </a:spcBef>
              <a:defRPr/>
            </a:pPr>
            <a:r>
              <a:rPr lang="fr-FR" dirty="0"/>
              <a:t>	</a:t>
            </a:r>
            <a:r>
              <a:rPr lang="fr-FR" dirty="0" smtClean="0"/>
              <a:t>				</a:t>
            </a:r>
            <a:r>
              <a:rPr lang="fr-FR" b="1" dirty="0" err="1" smtClean="0"/>
              <a:t>xmlns:x</a:t>
            </a:r>
            <a:r>
              <a:rPr lang="fr-FR" b="1" dirty="0"/>
              <a:t>="http://schemas.microsoft.com/</a:t>
            </a:r>
            <a:r>
              <a:rPr lang="fr-FR" b="1" dirty="0" err="1"/>
              <a:t>winfx</a:t>
            </a:r>
            <a:r>
              <a:rPr lang="fr-FR" b="1" dirty="0"/>
              <a:t>/2009/</a:t>
            </a:r>
            <a:r>
              <a:rPr lang="fr-FR" b="1" dirty="0" err="1"/>
              <a:t>xaml</a:t>
            </a:r>
            <a:r>
              <a:rPr lang="fr-FR" b="1" dirty="0"/>
              <a:t>"</a:t>
            </a:r>
            <a:endParaRPr lang="en-US" altLang="en-US" b="1" dirty="0" smtClean="0">
              <a:latin typeface="Segoe UI Symbol" panose="020B0502040204020203" pitchFamily="34" charset="0"/>
              <a:ea typeface="Segoe UI Symbol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object 35"/>
          <p:cNvSpPr txBox="1"/>
          <p:nvPr/>
        </p:nvSpPr>
        <p:spPr>
          <a:xfrm>
            <a:off x="438150" y="681038"/>
            <a:ext cx="5865813" cy="312737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2700" eaLnBrk="1" fontAlgn="auto" hangingPunct="1">
              <a:spcBef>
                <a:spcPts val="0"/>
              </a:spcBef>
              <a:spcAft>
                <a:spcPts val="0"/>
              </a:spcAft>
              <a:tabLst>
                <a:tab pos="5852795" algn="l"/>
              </a:tabLst>
              <a:defRPr/>
            </a:pPr>
            <a:r>
              <a:rPr sz="2250" u="heavy" spc="-40" dirty="0">
                <a:latin typeface="Segoe UI Symbol"/>
                <a:cs typeface="Segoe UI Symbol"/>
              </a:rPr>
              <a:t>X</a:t>
            </a:r>
            <a:r>
              <a:rPr sz="2250" u="heavy" spc="-70" dirty="0">
                <a:latin typeface="Segoe UI Symbol"/>
                <a:cs typeface="Segoe UI Symbol"/>
              </a:rPr>
              <a:t>A</a:t>
            </a:r>
            <a:r>
              <a:rPr sz="2250" u="heavy" spc="-60" dirty="0">
                <a:latin typeface="Segoe UI Symbol"/>
                <a:cs typeface="Segoe UI Symbol"/>
              </a:rPr>
              <a:t>M</a:t>
            </a:r>
            <a:r>
              <a:rPr sz="2250" u="heavy" dirty="0">
                <a:latin typeface="Segoe UI Symbol"/>
                <a:cs typeface="Segoe UI Symbol"/>
              </a:rPr>
              <a:t>L</a:t>
            </a:r>
            <a:r>
              <a:rPr sz="2250" u="heavy" spc="-190" dirty="0">
                <a:latin typeface="Segoe UI Symbol"/>
                <a:cs typeface="Segoe UI Symbol"/>
              </a:rPr>
              <a:t> </a:t>
            </a:r>
            <a:r>
              <a:rPr sz="2250" u="heavy" dirty="0">
                <a:latin typeface="Segoe UI Symbol"/>
                <a:cs typeface="Segoe UI Symbol"/>
              </a:rPr>
              <a:t>:</a:t>
            </a:r>
            <a:r>
              <a:rPr sz="2250" u="heavy" spc="-200" dirty="0">
                <a:latin typeface="Segoe UI Symbol"/>
                <a:cs typeface="Segoe UI Symbol"/>
              </a:rPr>
              <a:t> </a:t>
            </a:r>
            <a:r>
              <a:rPr sz="2250" u="heavy" spc="-30" dirty="0">
                <a:latin typeface="Segoe UI Symbol"/>
                <a:cs typeface="Segoe UI Symbol"/>
              </a:rPr>
              <a:t>no</a:t>
            </a:r>
            <a:r>
              <a:rPr sz="2250" u="heavy" spc="-75" dirty="0">
                <a:latin typeface="Segoe UI Symbol"/>
                <a:cs typeface="Segoe UI Symbol"/>
              </a:rPr>
              <a:t>mm</a:t>
            </a:r>
            <a:r>
              <a:rPr sz="2250" u="heavy" spc="-45" dirty="0">
                <a:latin typeface="Segoe UI Symbol"/>
                <a:cs typeface="Segoe UI Symbol"/>
              </a:rPr>
              <a:t>a</a:t>
            </a:r>
            <a:r>
              <a:rPr sz="2250" u="heavy" spc="-35" dirty="0">
                <a:latin typeface="Segoe UI Symbol"/>
                <a:cs typeface="Segoe UI Symbol"/>
              </a:rPr>
              <a:t>g</a:t>
            </a:r>
            <a:r>
              <a:rPr sz="2250" u="heavy" dirty="0">
                <a:latin typeface="Segoe UI Symbol"/>
                <a:cs typeface="Segoe UI Symbol"/>
              </a:rPr>
              <a:t>e</a:t>
            </a:r>
            <a:r>
              <a:rPr sz="2250" u="heavy" spc="-170" dirty="0">
                <a:latin typeface="Segoe UI Symbol"/>
                <a:cs typeface="Segoe UI Symbol"/>
              </a:rPr>
              <a:t> </a:t>
            </a:r>
            <a:r>
              <a:rPr sz="2250" u="heavy" spc="-85" dirty="0">
                <a:latin typeface="Segoe UI Symbol"/>
                <a:cs typeface="Segoe UI Symbol"/>
              </a:rPr>
              <a:t>d</a:t>
            </a:r>
            <a:r>
              <a:rPr sz="2250" u="heavy" spc="-30" dirty="0">
                <a:latin typeface="Segoe UI Symbol"/>
                <a:cs typeface="Segoe UI Symbol"/>
              </a:rPr>
              <a:t>e</a:t>
            </a:r>
            <a:r>
              <a:rPr sz="2250" u="heavy" dirty="0">
                <a:latin typeface="Segoe UI Symbol"/>
                <a:cs typeface="Segoe UI Symbol"/>
              </a:rPr>
              <a:t>s</a:t>
            </a:r>
            <a:r>
              <a:rPr sz="2250" u="heavy" spc="-185" dirty="0">
                <a:latin typeface="Segoe UI Symbol"/>
                <a:cs typeface="Segoe UI Symbol"/>
              </a:rPr>
              <a:t> </a:t>
            </a:r>
            <a:r>
              <a:rPr sz="2250" u="heavy" spc="-40" dirty="0">
                <a:latin typeface="Segoe UI Symbol"/>
                <a:cs typeface="Segoe UI Symbol"/>
              </a:rPr>
              <a:t>c</a:t>
            </a:r>
            <a:r>
              <a:rPr sz="2250" u="heavy" spc="-30" dirty="0">
                <a:latin typeface="Segoe UI Symbol"/>
                <a:cs typeface="Segoe UI Symbol"/>
              </a:rPr>
              <a:t>o</a:t>
            </a:r>
            <a:r>
              <a:rPr sz="2250" u="heavy" spc="-75" dirty="0">
                <a:latin typeface="Segoe UI Symbol"/>
                <a:cs typeface="Segoe UI Symbol"/>
              </a:rPr>
              <a:t>m</a:t>
            </a:r>
            <a:r>
              <a:rPr sz="2250" u="heavy" spc="-80" dirty="0">
                <a:latin typeface="Segoe UI Symbol"/>
                <a:cs typeface="Segoe UI Symbol"/>
              </a:rPr>
              <a:t>p</a:t>
            </a:r>
            <a:r>
              <a:rPr sz="2250" u="heavy" spc="-30" dirty="0">
                <a:latin typeface="Segoe UI Symbol"/>
                <a:cs typeface="Segoe UI Symbol"/>
              </a:rPr>
              <a:t>o</a:t>
            </a:r>
            <a:r>
              <a:rPr sz="2250" u="heavy" spc="-50" dirty="0">
                <a:latin typeface="Segoe UI Symbol"/>
                <a:cs typeface="Segoe UI Symbol"/>
              </a:rPr>
              <a:t>s</a:t>
            </a:r>
            <a:r>
              <a:rPr sz="2250" u="heavy" spc="-95" dirty="0">
                <a:latin typeface="Segoe UI Symbol"/>
                <a:cs typeface="Segoe UI Symbol"/>
              </a:rPr>
              <a:t>a</a:t>
            </a:r>
            <a:r>
              <a:rPr sz="2250" u="heavy" spc="-30" dirty="0">
                <a:latin typeface="Segoe UI Symbol"/>
                <a:cs typeface="Segoe UI Symbol"/>
              </a:rPr>
              <a:t>n</a:t>
            </a:r>
            <a:r>
              <a:rPr sz="2250" u="heavy" spc="-45" dirty="0">
                <a:latin typeface="Segoe UI Symbol"/>
                <a:cs typeface="Segoe UI Symbol"/>
              </a:rPr>
              <a:t>t</a:t>
            </a:r>
            <a:r>
              <a:rPr sz="2250" u="heavy" dirty="0">
                <a:latin typeface="Segoe UI Symbol"/>
                <a:cs typeface="Segoe UI Symbol"/>
              </a:rPr>
              <a:t>s </a:t>
            </a:r>
            <a:r>
              <a:rPr sz="2250" u="heavy" dirty="0">
                <a:latin typeface="Times New Roman"/>
                <a:cs typeface="Times New Roman"/>
              </a:rPr>
              <a:t>	</a:t>
            </a:r>
            <a:endParaRPr sz="2250" dirty="0">
              <a:latin typeface="Times New Roman"/>
              <a:cs typeface="Times New Roman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838199" y="2738438"/>
            <a:ext cx="87915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fr-FR" alt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fr-FR" altLang="en-US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Button</a:t>
            </a:r>
            <a:r>
              <a:rPr lang="fr-FR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fr-FR" altLang="en-US" sz="16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x:Name</a:t>
            </a:r>
            <a:r>
              <a:rPr lang="fr-FR" alt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="MonBouton"&gt;</a:t>
            </a:r>
            <a:r>
              <a:rPr lang="fr-FR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Click moi svp!!!</a:t>
            </a:r>
            <a:r>
              <a:rPr lang="fr-FR" alt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fr-FR" altLang="en-US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Button</a:t>
            </a:r>
            <a:r>
              <a:rPr lang="fr-FR" alt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fr-FR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fr-FR" altLang="en-US" sz="1600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925161" y="4008110"/>
            <a:ext cx="9172576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fr-FR" alt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fr-FR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alt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MainWindow</a:t>
            </a:r>
            <a:r>
              <a:rPr lang="fr-FR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fr-FR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fr-FR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fr-FR" alt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InitializeComponent</a:t>
            </a:r>
            <a:r>
              <a:rPr lang="fr-FR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fr-FR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fr-FR" alt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//Configuration du bouton dans le code</a:t>
            </a:r>
            <a:endParaRPr lang="fr-FR" alt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fr-FR" alt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MonBouton.Background</a:t>
            </a:r>
            <a:r>
              <a:rPr lang="fr-FR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alt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fr-FR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alt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SolidColorBrush</a:t>
            </a:r>
            <a:r>
              <a:rPr lang="fr-FR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alt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Colors.Red</a:t>
            </a:r>
            <a:r>
              <a:rPr lang="fr-FR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fr-FR" alt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fr-FR" altLang="en-US" sz="1600" dirty="0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2903517" y="3076992"/>
            <a:ext cx="1" cy="198783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4868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5"/>
          <p:cNvSpPr txBox="1"/>
          <p:nvPr/>
        </p:nvSpPr>
        <p:spPr>
          <a:xfrm>
            <a:off x="349250" y="666750"/>
            <a:ext cx="5865813" cy="346075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2700" eaLnBrk="1" fontAlgn="auto" hangingPunct="1">
              <a:spcBef>
                <a:spcPts val="0"/>
              </a:spcBef>
              <a:spcAft>
                <a:spcPts val="0"/>
              </a:spcAft>
              <a:tabLst>
                <a:tab pos="5852795" algn="l"/>
              </a:tabLst>
              <a:defRPr/>
            </a:pPr>
            <a:r>
              <a:rPr sz="2250" u="heavy" spc="-40" dirty="0">
                <a:latin typeface="Segoe UI Symbol"/>
                <a:cs typeface="Segoe UI Symbol"/>
              </a:rPr>
              <a:t>X</a:t>
            </a:r>
            <a:r>
              <a:rPr sz="2250" u="heavy" spc="-70" dirty="0">
                <a:latin typeface="Segoe UI Symbol"/>
                <a:cs typeface="Segoe UI Symbol"/>
              </a:rPr>
              <a:t>A</a:t>
            </a:r>
            <a:r>
              <a:rPr sz="2250" u="heavy" spc="-60" dirty="0">
                <a:latin typeface="Segoe UI Symbol"/>
                <a:cs typeface="Segoe UI Symbol"/>
              </a:rPr>
              <a:t>M</a:t>
            </a:r>
            <a:r>
              <a:rPr sz="2250" u="heavy" dirty="0">
                <a:latin typeface="Segoe UI Symbol"/>
                <a:cs typeface="Segoe UI Symbol"/>
              </a:rPr>
              <a:t>L</a:t>
            </a:r>
            <a:r>
              <a:rPr sz="2250" u="heavy" spc="-190" dirty="0">
                <a:latin typeface="Segoe UI Symbol"/>
                <a:cs typeface="Segoe UI Symbol"/>
              </a:rPr>
              <a:t> </a:t>
            </a:r>
            <a:r>
              <a:rPr sz="2250" u="heavy" dirty="0">
                <a:latin typeface="Segoe UI Symbol"/>
                <a:cs typeface="Segoe UI Symbol"/>
              </a:rPr>
              <a:t>:</a:t>
            </a:r>
            <a:r>
              <a:rPr sz="2250" u="heavy" spc="-200" dirty="0">
                <a:latin typeface="Segoe UI Symbol"/>
                <a:cs typeface="Segoe UI Symbol"/>
              </a:rPr>
              <a:t> </a:t>
            </a:r>
            <a:r>
              <a:rPr lang="en-US" sz="2250" u="heavy" spc="-30" dirty="0">
                <a:latin typeface="Segoe UI Symbol"/>
                <a:cs typeface="Segoe UI Symbol"/>
              </a:rPr>
              <a:t>L</a:t>
            </a:r>
            <a:r>
              <a:rPr lang="en-US" sz="2250" u="heavy" spc="-30" dirty="0" smtClean="0">
                <a:latin typeface="Segoe UI Symbol"/>
                <a:cs typeface="Segoe UI Symbol"/>
              </a:rPr>
              <a:t>es </a:t>
            </a:r>
            <a:r>
              <a:rPr lang="en-US" sz="2250" u="heavy" spc="-30" dirty="0" err="1">
                <a:latin typeface="Segoe UI Symbol"/>
                <a:cs typeface="Segoe UI Symbol"/>
              </a:rPr>
              <a:t>espaces</a:t>
            </a:r>
            <a:r>
              <a:rPr lang="en-US" sz="2250" u="heavy" spc="-30" dirty="0">
                <a:latin typeface="Segoe UI Symbol"/>
                <a:cs typeface="Segoe UI Symbol"/>
              </a:rPr>
              <a:t> de </a:t>
            </a:r>
            <a:r>
              <a:rPr lang="en-US" sz="2250" u="heavy" spc="-30" dirty="0" err="1">
                <a:latin typeface="Segoe UI Symbol"/>
                <a:cs typeface="Segoe UI Symbol"/>
              </a:rPr>
              <a:t>noms</a:t>
            </a:r>
            <a:r>
              <a:rPr sz="2250" u="heavy" dirty="0">
                <a:latin typeface="Times New Roman"/>
                <a:cs typeface="Times New Roman"/>
              </a:rPr>
              <a:t>	</a:t>
            </a:r>
            <a:endParaRPr sz="2250" dirty="0">
              <a:latin typeface="Times New Roman"/>
              <a:cs typeface="Times New Roman"/>
            </a:endParaRPr>
          </a:p>
        </p:txBody>
      </p:sp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349250" y="1177925"/>
            <a:ext cx="114903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fr-FR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Une abstraction est utilisée pour mapper les espaces de nom utilisés par WPF au niveau de la zone présentation XAML</a:t>
            </a:r>
          </a:p>
        </p:txBody>
      </p:sp>
      <p:sp>
        <p:nvSpPr>
          <p:cNvPr id="5" name="Rectangle 4"/>
          <p:cNvSpPr/>
          <p:nvPr/>
        </p:nvSpPr>
        <p:spPr>
          <a:xfrm>
            <a:off x="746125" y="1941294"/>
            <a:ext cx="990282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fr-F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Window</a:t>
            </a:r>
            <a:r>
              <a:rPr lang="fr-FR" sz="1600" dirty="0">
                <a:solidFill>
                  <a:srgbClr val="FF0000"/>
                </a:solidFill>
                <a:latin typeface="Consolas" panose="020B0609020204030204" pitchFamily="49" charset="0"/>
              </a:rPr>
              <a:t> x</a:t>
            </a:r>
            <a:r>
              <a:rPr lang="fr-FR" sz="1600" dirty="0">
                <a:solidFill>
                  <a:srgbClr val="0000FF"/>
                </a:solidFill>
                <a:latin typeface="Consolas" panose="020B0609020204030204" pitchFamily="49" charset="0"/>
              </a:rPr>
              <a:t>:</a:t>
            </a:r>
            <a:r>
              <a:rPr lang="fr-FR" sz="16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fr-FR" sz="1600" dirty="0">
                <a:solidFill>
                  <a:srgbClr val="0000FF"/>
                </a:solidFill>
                <a:latin typeface="Consolas" panose="020B0609020204030204" pitchFamily="49" charset="0"/>
              </a:rPr>
              <a:t>="ControlFamilies.MainWindow"</a:t>
            </a:r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defRPr/>
            </a:pP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fr-FR" sz="16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xmlns</a:t>
            </a:r>
            <a:r>
              <a:rPr lang="fr-FR" sz="1600" dirty="0">
                <a:solidFill>
                  <a:srgbClr val="0000FF"/>
                </a:solidFill>
                <a:latin typeface="Consolas" panose="020B0609020204030204" pitchFamily="49" charset="0"/>
              </a:rPr>
              <a:t>="http://schemas.microsoft.com/</a:t>
            </a:r>
            <a:r>
              <a:rPr lang="fr-F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winfx</a:t>
            </a:r>
            <a:r>
              <a:rPr lang="fr-FR" sz="1600" dirty="0">
                <a:solidFill>
                  <a:srgbClr val="0000FF"/>
                </a:solidFill>
                <a:latin typeface="Consolas" panose="020B0609020204030204" pitchFamily="49" charset="0"/>
              </a:rPr>
              <a:t>/2006/</a:t>
            </a:r>
            <a:r>
              <a:rPr lang="fr-F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xaml</a:t>
            </a:r>
            <a:r>
              <a:rPr lang="fr-FR" sz="1600" dirty="0">
                <a:solidFill>
                  <a:srgbClr val="0000FF"/>
                </a:solidFill>
                <a:latin typeface="Consolas" panose="020B0609020204030204" pitchFamily="49" charset="0"/>
              </a:rPr>
              <a:t>/</a:t>
            </a:r>
            <a:r>
              <a:rPr lang="fr-F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presentation</a:t>
            </a:r>
            <a:r>
              <a:rPr lang="fr-FR" sz="16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defRPr/>
            </a:pP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fr-FR" sz="16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xmlns</a:t>
            </a:r>
            <a:r>
              <a:rPr lang="fr-F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:</a:t>
            </a:r>
            <a:r>
              <a:rPr lang="fr-F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x</a:t>
            </a:r>
            <a:r>
              <a:rPr lang="fr-FR" sz="1600" dirty="0">
                <a:solidFill>
                  <a:srgbClr val="0000FF"/>
                </a:solidFill>
                <a:latin typeface="Consolas" panose="020B0609020204030204" pitchFamily="49" charset="0"/>
              </a:rPr>
              <a:t>="http://schemas.microsoft.com/</a:t>
            </a:r>
            <a:r>
              <a:rPr lang="fr-F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winfx</a:t>
            </a:r>
            <a:r>
              <a:rPr lang="fr-FR" sz="1600" dirty="0">
                <a:solidFill>
                  <a:srgbClr val="0000FF"/>
                </a:solidFill>
                <a:latin typeface="Consolas" panose="020B0609020204030204" pitchFamily="49" charset="0"/>
              </a:rPr>
              <a:t>/2006/</a:t>
            </a:r>
            <a:r>
              <a:rPr lang="fr-F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xaml</a:t>
            </a:r>
            <a:r>
              <a:rPr lang="fr-FR" sz="16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defRPr/>
            </a:pP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fr-FR" sz="16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xmlns</a:t>
            </a:r>
            <a:r>
              <a:rPr lang="fr-FR" sz="160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:</a:t>
            </a:r>
            <a:r>
              <a:rPr lang="fr-FR" sz="16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local</a:t>
            </a:r>
            <a:r>
              <a:rPr lang="fr-FR" sz="16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="</a:t>
            </a:r>
            <a:r>
              <a:rPr lang="fr-FR" sz="160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clr-namespace:ControlFamilies</a:t>
            </a:r>
            <a:r>
              <a:rPr lang="fr-FR" sz="16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"</a:t>
            </a:r>
            <a:endParaRPr lang="fr-FR" sz="16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  <a:p>
            <a:pPr>
              <a:defRPr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 Title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MainWindow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 Height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="350"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 Width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="525"&gt;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defRPr/>
            </a:pP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fr-FR" sz="16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&lt;</a:t>
            </a:r>
            <a:r>
              <a:rPr lang="fr-FR" sz="160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local</a:t>
            </a:r>
            <a:r>
              <a:rPr lang="fr-FR" sz="160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:</a:t>
            </a:r>
            <a:r>
              <a:rPr lang="fr-FR" sz="160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ButtonSpecial</a:t>
            </a:r>
            <a:r>
              <a:rPr lang="fr-FR" sz="1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Content</a:t>
            </a:r>
            <a:r>
              <a:rPr lang="fr-FR" sz="16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="Clique moi!!!"/&gt;</a:t>
            </a:r>
            <a:endParaRPr lang="fr-FR" sz="16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  <a:p>
            <a:pPr>
              <a:defRPr/>
            </a:pPr>
            <a:r>
              <a:rPr lang="fr-FR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fr-F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Window</a:t>
            </a:r>
            <a:r>
              <a:rPr lang="fr-FR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fr-FR" sz="1600" dirty="0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746125" y="4016177"/>
            <a:ext cx="6178550" cy="246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fr-FR" alt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fr-FR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alt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ControlFamilies</a:t>
            </a:r>
            <a:endParaRPr lang="fr-FR" alt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partial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MainWindow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: Window</a:t>
            </a:r>
          </a:p>
          <a:p>
            <a:r>
              <a:rPr lang="fr-FR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fr-FR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fr-FR" alt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fr-FR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alt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MainWindow</a:t>
            </a:r>
            <a:r>
              <a:rPr lang="fr-FR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()….</a:t>
            </a:r>
          </a:p>
          <a:p>
            <a:r>
              <a:rPr lang="fr-FR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fr-FR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fr-FR" alt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fr-FR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alt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fr-FR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altLang="en-US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ButtonSpecial</a:t>
            </a:r>
            <a:r>
              <a:rPr lang="fr-FR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:</a:t>
            </a:r>
            <a:r>
              <a:rPr lang="fr-FR" alt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Button</a:t>
            </a:r>
            <a:endParaRPr lang="fr-FR" alt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fr-FR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fr-FR" alt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//Code ici</a:t>
            </a:r>
            <a:endParaRPr lang="fr-FR" alt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fr-FR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fr-FR" altLang="en-US" sz="1400" dirty="0"/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5836722" y="2903517"/>
            <a:ext cx="599004" cy="141529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 flipV="1">
            <a:off x="1914525" y="3371850"/>
            <a:ext cx="4521200" cy="91997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 flipV="1">
            <a:off x="3390900" y="4147364"/>
            <a:ext cx="3044826" cy="14446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6"/>
          <p:cNvCxnSpPr/>
          <p:nvPr/>
        </p:nvCxnSpPr>
        <p:spPr>
          <a:xfrm flipH="1" flipV="1">
            <a:off x="2856016" y="2903517"/>
            <a:ext cx="3579709" cy="141529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6282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4"/>
          <p:cNvSpPr txBox="1"/>
          <p:nvPr/>
        </p:nvSpPr>
        <p:spPr>
          <a:xfrm>
            <a:off x="274638" y="600075"/>
            <a:ext cx="5865812" cy="346249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2700" eaLnBrk="1" fontAlgn="auto" hangingPunct="1">
              <a:spcBef>
                <a:spcPts val="0"/>
              </a:spcBef>
              <a:spcAft>
                <a:spcPts val="0"/>
              </a:spcAft>
              <a:tabLst>
                <a:tab pos="5852795" algn="l"/>
              </a:tabLst>
              <a:defRPr/>
            </a:pPr>
            <a:r>
              <a:rPr sz="2250" u="heavy" spc="-40" dirty="0">
                <a:latin typeface="Segoe UI Symbol"/>
                <a:cs typeface="Segoe UI Symbol"/>
              </a:rPr>
              <a:t>X</a:t>
            </a:r>
            <a:r>
              <a:rPr sz="2250" u="heavy" spc="-70" dirty="0">
                <a:latin typeface="Segoe UI Symbol"/>
                <a:cs typeface="Segoe UI Symbol"/>
              </a:rPr>
              <a:t>A</a:t>
            </a:r>
            <a:r>
              <a:rPr sz="2250" u="heavy" spc="-60" dirty="0">
                <a:latin typeface="Segoe UI Symbol"/>
                <a:cs typeface="Segoe UI Symbol"/>
              </a:rPr>
              <a:t>M</a:t>
            </a:r>
            <a:r>
              <a:rPr sz="2250" u="heavy" dirty="0">
                <a:latin typeface="Segoe UI Symbol"/>
                <a:cs typeface="Segoe UI Symbol"/>
              </a:rPr>
              <a:t>L</a:t>
            </a:r>
            <a:r>
              <a:rPr sz="2250" u="heavy" spc="-190" dirty="0">
                <a:latin typeface="Segoe UI Symbol"/>
                <a:cs typeface="Segoe UI Symbol"/>
              </a:rPr>
              <a:t> </a:t>
            </a:r>
            <a:r>
              <a:rPr sz="2250" u="heavy" dirty="0">
                <a:latin typeface="Segoe UI Symbol"/>
                <a:cs typeface="Segoe UI Symbol"/>
              </a:rPr>
              <a:t>:</a:t>
            </a:r>
            <a:r>
              <a:rPr sz="2250" u="heavy" spc="-200" dirty="0">
                <a:latin typeface="Segoe UI Symbol"/>
                <a:cs typeface="Segoe UI Symbol"/>
              </a:rPr>
              <a:t> </a:t>
            </a:r>
            <a:r>
              <a:rPr lang="fr-FR" sz="2250" u="heavy" spc="-70" dirty="0">
                <a:latin typeface="Segoe UI Symbol"/>
                <a:cs typeface="Segoe UI Symbol"/>
              </a:rPr>
              <a:t>I</a:t>
            </a:r>
            <a:r>
              <a:rPr sz="2250" u="heavy" spc="-30" dirty="0" err="1" smtClean="0">
                <a:latin typeface="Segoe UI Symbol"/>
                <a:cs typeface="Segoe UI Symbol"/>
              </a:rPr>
              <a:t>n</a:t>
            </a:r>
            <a:r>
              <a:rPr sz="2250" u="heavy" spc="-50" dirty="0" err="1" smtClean="0">
                <a:latin typeface="Segoe UI Symbol"/>
                <a:cs typeface="Segoe UI Symbol"/>
              </a:rPr>
              <a:t>s</a:t>
            </a:r>
            <a:r>
              <a:rPr sz="2250" u="heavy" spc="-45" dirty="0" err="1" smtClean="0">
                <a:latin typeface="Segoe UI Symbol"/>
                <a:cs typeface="Segoe UI Symbol"/>
              </a:rPr>
              <a:t>ta</a:t>
            </a:r>
            <a:r>
              <a:rPr sz="2250" u="heavy" spc="-30" dirty="0" err="1" smtClean="0">
                <a:latin typeface="Segoe UI Symbol"/>
                <a:cs typeface="Segoe UI Symbol"/>
              </a:rPr>
              <a:t>n</a:t>
            </a:r>
            <a:r>
              <a:rPr sz="2250" u="heavy" spc="-40" dirty="0" err="1" smtClean="0">
                <a:latin typeface="Segoe UI Symbol"/>
                <a:cs typeface="Segoe UI Symbol"/>
              </a:rPr>
              <a:t>c</a:t>
            </a:r>
            <a:r>
              <a:rPr sz="2250" u="heavy" spc="-120" dirty="0" err="1" smtClean="0">
                <a:latin typeface="Segoe UI Symbol"/>
                <a:cs typeface="Segoe UI Symbol"/>
              </a:rPr>
              <a:t>i</a:t>
            </a:r>
            <a:r>
              <a:rPr sz="2250" u="heavy" spc="-30" dirty="0" err="1" smtClean="0">
                <a:latin typeface="Segoe UI Symbol"/>
                <a:cs typeface="Segoe UI Symbol"/>
              </a:rPr>
              <a:t>e</a:t>
            </a:r>
            <a:r>
              <a:rPr sz="2250" u="heavy" dirty="0" err="1" smtClean="0">
                <a:latin typeface="Segoe UI Symbol"/>
                <a:cs typeface="Segoe UI Symbol"/>
              </a:rPr>
              <a:t>r</a:t>
            </a:r>
            <a:r>
              <a:rPr sz="2250" u="heavy" spc="-155" dirty="0" smtClean="0">
                <a:latin typeface="Segoe UI Symbol"/>
                <a:cs typeface="Segoe UI Symbol"/>
              </a:rPr>
              <a:t> </a:t>
            </a:r>
            <a:r>
              <a:rPr sz="2250" u="heavy" spc="-80" dirty="0">
                <a:latin typeface="Segoe UI Symbol"/>
                <a:cs typeface="Segoe UI Symbol"/>
              </a:rPr>
              <a:t>un</a:t>
            </a:r>
            <a:r>
              <a:rPr sz="2250" u="heavy" spc="-90" dirty="0">
                <a:latin typeface="Segoe UI Symbol"/>
                <a:cs typeface="Segoe UI Symbol"/>
              </a:rPr>
              <a:t> </a:t>
            </a:r>
            <a:r>
              <a:rPr sz="2250" u="heavy" spc="-30" dirty="0">
                <a:latin typeface="Segoe UI Symbol"/>
                <a:cs typeface="Segoe UI Symbol"/>
              </a:rPr>
              <a:t>o</a:t>
            </a:r>
            <a:r>
              <a:rPr sz="2250" u="heavy" spc="-35" dirty="0">
                <a:latin typeface="Segoe UI Symbol"/>
                <a:cs typeface="Segoe UI Symbol"/>
              </a:rPr>
              <a:t>b</a:t>
            </a:r>
            <a:r>
              <a:rPr sz="2250" u="heavy" spc="-70" dirty="0">
                <a:latin typeface="Segoe UI Symbol"/>
                <a:cs typeface="Segoe UI Symbol"/>
              </a:rPr>
              <a:t>j</a:t>
            </a:r>
            <a:r>
              <a:rPr sz="2250" u="heavy" spc="-30" dirty="0">
                <a:latin typeface="Segoe UI Symbol"/>
                <a:cs typeface="Segoe UI Symbol"/>
              </a:rPr>
              <a:t>e</a:t>
            </a:r>
            <a:r>
              <a:rPr sz="2250" u="heavy" dirty="0">
                <a:latin typeface="Segoe UI Symbol"/>
                <a:cs typeface="Segoe UI Symbol"/>
              </a:rPr>
              <a:t>t </a:t>
            </a:r>
            <a:r>
              <a:rPr sz="2250" u="heavy" dirty="0">
                <a:latin typeface="Times New Roman"/>
                <a:cs typeface="Times New Roman"/>
              </a:rPr>
              <a:t>	</a:t>
            </a:r>
            <a:endParaRPr sz="2250" dirty="0">
              <a:latin typeface="Times New Roman"/>
              <a:cs typeface="Times New Roman"/>
            </a:endParaRPr>
          </a:p>
        </p:txBody>
      </p:sp>
      <p:sp>
        <p:nvSpPr>
          <p:cNvPr id="8" name="object 28"/>
          <p:cNvSpPr txBox="1"/>
          <p:nvPr/>
        </p:nvSpPr>
        <p:spPr>
          <a:xfrm>
            <a:off x="611188" y="1331913"/>
            <a:ext cx="10723562" cy="856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56540" indent="-243840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6498"/>
              </a:buClr>
              <a:buSzPct val="60000"/>
              <a:buFont typeface="Wingdings"/>
              <a:buChar char=""/>
              <a:tabLst>
                <a:tab pos="257175" algn="l"/>
              </a:tabLst>
              <a:defRPr/>
            </a:pPr>
            <a:r>
              <a:rPr spc="-30" dirty="0">
                <a:latin typeface="Segoe UI Symbol"/>
                <a:cs typeface="Segoe UI Symbol"/>
              </a:rPr>
              <a:t>X</a:t>
            </a:r>
            <a:r>
              <a:rPr dirty="0">
                <a:latin typeface="Segoe UI Symbol"/>
                <a:cs typeface="Segoe UI Symbol"/>
              </a:rPr>
              <a:t>A</a:t>
            </a:r>
            <a:r>
              <a:rPr spc="-35" dirty="0">
                <a:latin typeface="Segoe UI Symbol"/>
                <a:cs typeface="Segoe UI Symbol"/>
              </a:rPr>
              <a:t>M</a:t>
            </a:r>
            <a:r>
              <a:rPr spc="-10" dirty="0">
                <a:latin typeface="Segoe UI Symbol"/>
                <a:cs typeface="Segoe UI Symbol"/>
              </a:rPr>
              <a:t>L</a:t>
            </a:r>
            <a:r>
              <a:rPr spc="60" dirty="0">
                <a:latin typeface="Times New Roman"/>
                <a:cs typeface="Times New Roman"/>
              </a:rPr>
              <a:t> </a:t>
            </a:r>
            <a:r>
              <a:rPr spc="-25" dirty="0">
                <a:latin typeface="Segoe UI Symbol"/>
                <a:cs typeface="Segoe UI Symbol"/>
              </a:rPr>
              <a:t>p</a:t>
            </a:r>
            <a:r>
              <a:rPr dirty="0">
                <a:latin typeface="Segoe UI Symbol"/>
                <a:cs typeface="Segoe UI Symbol"/>
              </a:rPr>
              <a:t>e</a:t>
            </a:r>
            <a:r>
              <a:rPr spc="35" dirty="0">
                <a:latin typeface="Segoe UI Symbol"/>
                <a:cs typeface="Segoe UI Symbol"/>
              </a:rPr>
              <a:t>r</a:t>
            </a:r>
            <a:r>
              <a:rPr spc="-35" dirty="0">
                <a:latin typeface="Segoe UI Symbol"/>
                <a:cs typeface="Segoe UI Symbol"/>
              </a:rPr>
              <a:t>m</a:t>
            </a:r>
            <a:r>
              <a:rPr dirty="0">
                <a:latin typeface="Segoe UI Symbol"/>
                <a:cs typeface="Segoe UI Symbol"/>
              </a:rPr>
              <a:t>e</a:t>
            </a:r>
            <a:r>
              <a:rPr spc="-5" dirty="0">
                <a:latin typeface="Segoe UI Symbol"/>
                <a:cs typeface="Segoe UI Symbol"/>
              </a:rPr>
              <a:t>t</a:t>
            </a:r>
            <a:r>
              <a:rPr spc="135" dirty="0">
                <a:latin typeface="Times New Roman"/>
                <a:cs typeface="Times New Roman"/>
              </a:rPr>
              <a:t> </a:t>
            </a:r>
            <a:r>
              <a:rPr spc="-25" dirty="0">
                <a:latin typeface="Segoe UI Symbol"/>
                <a:cs typeface="Segoe UI Symbol"/>
              </a:rPr>
              <a:t>d</a:t>
            </a:r>
            <a:r>
              <a:rPr spc="-5" dirty="0">
                <a:latin typeface="Segoe UI Symbol"/>
                <a:cs typeface="Segoe UI Symbol"/>
              </a:rPr>
              <a:t>’</a:t>
            </a:r>
            <a:r>
              <a:rPr spc="-20" dirty="0">
                <a:latin typeface="Segoe UI Symbol"/>
                <a:cs typeface="Segoe UI Symbol"/>
              </a:rPr>
              <a:t>i</a:t>
            </a:r>
            <a:r>
              <a:rPr dirty="0">
                <a:latin typeface="Segoe UI Symbol"/>
                <a:cs typeface="Segoe UI Symbol"/>
              </a:rPr>
              <a:t>n</a:t>
            </a:r>
            <a:r>
              <a:rPr spc="-15" dirty="0">
                <a:latin typeface="Segoe UI Symbol"/>
                <a:cs typeface="Segoe UI Symbol"/>
              </a:rPr>
              <a:t>s</a:t>
            </a:r>
            <a:r>
              <a:rPr dirty="0">
                <a:latin typeface="Segoe UI Symbol"/>
                <a:cs typeface="Segoe UI Symbol"/>
              </a:rPr>
              <a:t>t</a:t>
            </a:r>
            <a:r>
              <a:rPr spc="-25" dirty="0">
                <a:latin typeface="Segoe UI Symbol"/>
                <a:cs typeface="Segoe UI Symbol"/>
              </a:rPr>
              <a:t>a</a:t>
            </a:r>
            <a:r>
              <a:rPr dirty="0">
                <a:latin typeface="Segoe UI Symbol"/>
                <a:cs typeface="Segoe UI Symbol"/>
              </a:rPr>
              <a:t>n</a:t>
            </a:r>
            <a:r>
              <a:rPr spc="-10" dirty="0">
                <a:latin typeface="Segoe UI Symbol"/>
                <a:cs typeface="Segoe UI Symbol"/>
              </a:rPr>
              <a:t>c</a:t>
            </a:r>
            <a:r>
              <a:rPr spc="-25" dirty="0">
                <a:latin typeface="Segoe UI Symbol"/>
                <a:cs typeface="Segoe UI Symbol"/>
              </a:rPr>
              <a:t>i</a:t>
            </a:r>
            <a:r>
              <a:rPr dirty="0">
                <a:latin typeface="Segoe UI Symbol"/>
                <a:cs typeface="Segoe UI Symbol"/>
              </a:rPr>
              <a:t>e</a:t>
            </a:r>
            <a:r>
              <a:rPr spc="-5" dirty="0">
                <a:latin typeface="Segoe UI Symbol"/>
                <a:cs typeface="Segoe UI Symbol"/>
              </a:rPr>
              <a:t>r</a:t>
            </a:r>
            <a:r>
              <a:rPr spc="80" dirty="0">
                <a:latin typeface="Times New Roman"/>
                <a:cs typeface="Times New Roman"/>
              </a:rPr>
              <a:t> </a:t>
            </a:r>
            <a:r>
              <a:rPr spc="-25" dirty="0">
                <a:latin typeface="Segoe UI Symbol"/>
                <a:cs typeface="Segoe UI Symbol"/>
              </a:rPr>
              <a:t>d</a:t>
            </a:r>
            <a:r>
              <a:rPr dirty="0">
                <a:latin typeface="Segoe UI Symbol"/>
                <a:cs typeface="Segoe UI Symbol"/>
              </a:rPr>
              <a:t>e</a:t>
            </a:r>
            <a:r>
              <a:rPr spc="-10" dirty="0">
                <a:latin typeface="Segoe UI Symbol"/>
                <a:cs typeface="Segoe UI Symbol"/>
              </a:rPr>
              <a:t>s</a:t>
            </a:r>
            <a:r>
              <a:rPr spc="70" dirty="0">
                <a:latin typeface="Times New Roman"/>
                <a:cs typeface="Times New Roman"/>
              </a:rPr>
              <a:t> </a:t>
            </a:r>
            <a:r>
              <a:rPr spc="-25" dirty="0">
                <a:latin typeface="Segoe UI Symbol"/>
                <a:cs typeface="Segoe UI Symbol"/>
              </a:rPr>
              <a:t>o</a:t>
            </a:r>
            <a:r>
              <a:rPr spc="20" dirty="0">
                <a:latin typeface="Segoe UI Symbol"/>
                <a:cs typeface="Segoe UI Symbol"/>
              </a:rPr>
              <a:t>b</a:t>
            </a:r>
            <a:r>
              <a:rPr spc="-20" dirty="0">
                <a:latin typeface="Segoe UI Symbol"/>
                <a:cs typeface="Segoe UI Symbol"/>
              </a:rPr>
              <a:t>j</a:t>
            </a:r>
            <a:r>
              <a:rPr dirty="0">
                <a:latin typeface="Segoe UI Symbol"/>
                <a:cs typeface="Segoe UI Symbol"/>
              </a:rPr>
              <a:t>et</a:t>
            </a:r>
            <a:r>
              <a:rPr spc="-10" dirty="0">
                <a:latin typeface="Segoe UI Symbol"/>
                <a:cs typeface="Segoe UI Symbol"/>
              </a:rPr>
              <a:t>s</a:t>
            </a:r>
            <a:r>
              <a:rPr spc="75" dirty="0">
                <a:latin typeface="Times New Roman"/>
                <a:cs typeface="Times New Roman"/>
              </a:rPr>
              <a:t> </a:t>
            </a:r>
            <a:r>
              <a:rPr spc="-25" dirty="0">
                <a:latin typeface="Segoe UI Symbol"/>
                <a:cs typeface="Segoe UI Symbol"/>
              </a:rPr>
              <a:t>d</a:t>
            </a:r>
            <a:r>
              <a:rPr spc="-10" dirty="0">
                <a:latin typeface="Segoe UI Symbol"/>
                <a:cs typeface="Segoe UI Symbol"/>
              </a:rPr>
              <a:t>e</a:t>
            </a:r>
            <a:r>
              <a:rPr spc="135" dirty="0">
                <a:latin typeface="Times New Roman"/>
                <a:cs typeface="Times New Roman"/>
              </a:rPr>
              <a:t> </a:t>
            </a:r>
            <a:r>
              <a:rPr dirty="0">
                <a:latin typeface="Segoe UI Symbol"/>
                <a:cs typeface="Segoe UI Symbol"/>
              </a:rPr>
              <a:t>n</a:t>
            </a:r>
            <a:r>
              <a:rPr spc="-5" dirty="0">
                <a:latin typeface="Segoe UI Symbol"/>
                <a:cs typeface="Segoe UI Symbol"/>
              </a:rPr>
              <a:t>’</a:t>
            </a:r>
            <a:r>
              <a:rPr spc="-20" dirty="0">
                <a:latin typeface="Segoe UI Symbol"/>
                <a:cs typeface="Segoe UI Symbol"/>
              </a:rPr>
              <a:t>i</a:t>
            </a:r>
            <a:r>
              <a:rPr spc="-35" dirty="0">
                <a:latin typeface="Segoe UI Symbol"/>
                <a:cs typeface="Segoe UI Symbol"/>
              </a:rPr>
              <a:t>m</a:t>
            </a:r>
            <a:r>
              <a:rPr spc="-25" dirty="0">
                <a:latin typeface="Segoe UI Symbol"/>
                <a:cs typeface="Segoe UI Symbol"/>
              </a:rPr>
              <a:t>po</a:t>
            </a:r>
            <a:r>
              <a:rPr spc="-5" dirty="0">
                <a:latin typeface="Segoe UI Symbol"/>
                <a:cs typeface="Segoe UI Symbol"/>
              </a:rPr>
              <a:t>r</a:t>
            </a:r>
            <a:r>
              <a:rPr dirty="0">
                <a:latin typeface="Segoe UI Symbol"/>
                <a:cs typeface="Segoe UI Symbol"/>
              </a:rPr>
              <a:t>t</a:t>
            </a:r>
            <a:r>
              <a:rPr spc="-10" dirty="0">
                <a:latin typeface="Segoe UI Symbol"/>
                <a:cs typeface="Segoe UI Symbol"/>
              </a:rPr>
              <a:t>e</a:t>
            </a:r>
            <a:r>
              <a:rPr spc="95" dirty="0">
                <a:latin typeface="Times New Roman"/>
                <a:cs typeface="Times New Roman"/>
              </a:rPr>
              <a:t> </a:t>
            </a:r>
            <a:r>
              <a:rPr spc="-25" dirty="0">
                <a:latin typeface="Segoe UI Symbol"/>
                <a:cs typeface="Segoe UI Symbol"/>
              </a:rPr>
              <a:t>q</a:t>
            </a:r>
            <a:r>
              <a:rPr dirty="0">
                <a:latin typeface="Segoe UI Symbol"/>
                <a:cs typeface="Segoe UI Symbol"/>
              </a:rPr>
              <a:t>ue</a:t>
            </a:r>
            <a:r>
              <a:rPr spc="-20" dirty="0">
                <a:latin typeface="Segoe UI Symbol"/>
                <a:cs typeface="Segoe UI Symbol"/>
              </a:rPr>
              <a:t>ll</a:t>
            </a:r>
            <a:r>
              <a:rPr spc="-10" dirty="0">
                <a:latin typeface="Segoe UI Symbol"/>
                <a:cs typeface="Segoe UI Symbol"/>
              </a:rPr>
              <a:t>e</a:t>
            </a:r>
            <a:r>
              <a:rPr spc="95" dirty="0">
                <a:latin typeface="Times New Roman"/>
                <a:cs typeface="Times New Roman"/>
              </a:rPr>
              <a:t> </a:t>
            </a:r>
            <a:r>
              <a:rPr spc="30" dirty="0">
                <a:latin typeface="Segoe UI Symbol"/>
                <a:cs typeface="Segoe UI Symbol"/>
              </a:rPr>
              <a:t>c</a:t>
            </a:r>
            <a:r>
              <a:rPr spc="-20" dirty="0">
                <a:latin typeface="Segoe UI Symbol"/>
                <a:cs typeface="Segoe UI Symbol"/>
              </a:rPr>
              <a:t>l</a:t>
            </a:r>
            <a:r>
              <a:rPr spc="-25" dirty="0">
                <a:latin typeface="Segoe UI Symbol"/>
                <a:cs typeface="Segoe UI Symbol"/>
              </a:rPr>
              <a:t>a</a:t>
            </a:r>
            <a:r>
              <a:rPr spc="-15" dirty="0">
                <a:latin typeface="Segoe UI Symbol"/>
                <a:cs typeface="Segoe UI Symbol"/>
              </a:rPr>
              <a:t>sse</a:t>
            </a:r>
            <a:endParaRPr dirty="0">
              <a:latin typeface="Segoe UI Symbol"/>
              <a:cs typeface="Segoe UI Symbol"/>
            </a:endParaRPr>
          </a:p>
          <a:p>
            <a:pPr marL="335915" lvl="1" eaLnBrk="1" fontAlgn="auto" hangingPunct="1">
              <a:spcBef>
                <a:spcPts val="234"/>
              </a:spcBef>
              <a:spcAft>
                <a:spcPts val="0"/>
              </a:spcAft>
              <a:buClr>
                <a:srgbClr val="006498"/>
              </a:buClr>
              <a:buSzPct val="59090"/>
              <a:tabLst>
                <a:tab pos="580390" algn="l"/>
              </a:tabLst>
              <a:defRPr/>
            </a:pPr>
            <a:r>
              <a:rPr spc="5" dirty="0">
                <a:latin typeface="Segoe UI Symbol"/>
                <a:cs typeface="Segoe UI Symbol"/>
              </a:rPr>
              <a:t>L</a:t>
            </a:r>
            <a:r>
              <a:rPr spc="-15" dirty="0">
                <a:latin typeface="Segoe UI Symbol"/>
                <a:cs typeface="Segoe UI Symbol"/>
              </a:rPr>
              <a:t>’</a:t>
            </a:r>
            <a:r>
              <a:rPr spc="10" dirty="0">
                <a:latin typeface="Segoe UI Symbol"/>
                <a:cs typeface="Segoe UI Symbol"/>
              </a:rPr>
              <a:t>ass</a:t>
            </a:r>
            <a:r>
              <a:rPr spc="-25" dirty="0">
                <a:latin typeface="Segoe UI Symbol"/>
                <a:cs typeface="Segoe UI Symbol"/>
              </a:rPr>
              <a:t>o</a:t>
            </a:r>
            <a:r>
              <a:rPr spc="15" dirty="0">
                <a:latin typeface="Segoe UI Symbol"/>
                <a:cs typeface="Segoe UI Symbol"/>
              </a:rPr>
              <a:t>c</a:t>
            </a:r>
            <a:r>
              <a:rPr spc="-30" dirty="0">
                <a:latin typeface="Segoe UI Symbol"/>
                <a:cs typeface="Segoe UI Symbol"/>
              </a:rPr>
              <a:t>i</a:t>
            </a:r>
            <a:r>
              <a:rPr spc="10" dirty="0">
                <a:latin typeface="Segoe UI Symbol"/>
                <a:cs typeface="Segoe UI Symbol"/>
              </a:rPr>
              <a:t>a</a:t>
            </a:r>
            <a:r>
              <a:rPr spc="5" dirty="0">
                <a:latin typeface="Segoe UI Symbol"/>
                <a:cs typeface="Segoe UI Symbol"/>
              </a:rPr>
              <a:t>t</a:t>
            </a:r>
            <a:r>
              <a:rPr spc="15" dirty="0">
                <a:latin typeface="Segoe UI Symbol"/>
                <a:cs typeface="Segoe UI Symbol"/>
              </a:rPr>
              <a:t>i</a:t>
            </a:r>
            <a:r>
              <a:rPr spc="-25" dirty="0">
                <a:latin typeface="Segoe UI Symbol"/>
                <a:cs typeface="Segoe UI Symbol"/>
              </a:rPr>
              <a:t>o</a:t>
            </a:r>
            <a:r>
              <a:rPr dirty="0">
                <a:latin typeface="Segoe UI Symbol"/>
                <a:cs typeface="Segoe UI Symbol"/>
              </a:rPr>
              <a:t>n</a:t>
            </a:r>
            <a:r>
              <a:rPr spc="114" dirty="0">
                <a:latin typeface="Times New Roman"/>
                <a:cs typeface="Times New Roman"/>
              </a:rPr>
              <a:t> </a:t>
            </a:r>
            <a:r>
              <a:rPr dirty="0">
                <a:latin typeface="Segoe UI Symbol"/>
                <a:cs typeface="Segoe UI Symbol"/>
              </a:rPr>
              <a:t>n</a:t>
            </a:r>
            <a:r>
              <a:rPr spc="-40" dirty="0">
                <a:latin typeface="Segoe UI Symbol"/>
                <a:cs typeface="Segoe UI Symbol"/>
              </a:rPr>
              <a:t>a</a:t>
            </a:r>
            <a:r>
              <a:rPr spc="5" dirty="0">
                <a:latin typeface="Segoe UI Symbol"/>
                <a:cs typeface="Segoe UI Symbol"/>
              </a:rPr>
              <a:t>m</a:t>
            </a:r>
            <a:r>
              <a:rPr dirty="0">
                <a:latin typeface="Segoe UI Symbol"/>
                <a:cs typeface="Segoe UI Symbol"/>
              </a:rPr>
              <a:t>e</a:t>
            </a:r>
            <a:r>
              <a:rPr spc="5" dirty="0">
                <a:latin typeface="Segoe UI Symbol"/>
                <a:cs typeface="Segoe UI Symbol"/>
              </a:rPr>
              <a:t>s</a:t>
            </a:r>
            <a:r>
              <a:rPr spc="-30" dirty="0">
                <a:latin typeface="Segoe UI Symbol"/>
                <a:cs typeface="Segoe UI Symbol"/>
              </a:rPr>
              <a:t>p</a:t>
            </a:r>
            <a:r>
              <a:rPr spc="10" dirty="0">
                <a:latin typeface="Segoe UI Symbol"/>
                <a:cs typeface="Segoe UI Symbol"/>
              </a:rPr>
              <a:t>a</a:t>
            </a:r>
            <a:r>
              <a:rPr spc="15" dirty="0">
                <a:latin typeface="Segoe UI Symbol"/>
                <a:cs typeface="Segoe UI Symbol"/>
              </a:rPr>
              <a:t>c</a:t>
            </a:r>
            <a:r>
              <a:rPr spc="5" dirty="0">
                <a:latin typeface="Segoe UI Symbol"/>
                <a:cs typeface="Segoe UI Symbol"/>
              </a:rPr>
              <a:t>e</a:t>
            </a:r>
            <a:r>
              <a:rPr spc="-10" dirty="0">
                <a:latin typeface="Segoe UI Symbol"/>
                <a:cs typeface="Segoe UI Symbol"/>
              </a:rPr>
              <a:t>-</a:t>
            </a:r>
            <a:r>
              <a:rPr spc="-30" dirty="0">
                <a:latin typeface="Segoe UI Symbol"/>
                <a:cs typeface="Segoe UI Symbol"/>
              </a:rPr>
              <a:t>x</a:t>
            </a:r>
            <a:r>
              <a:rPr spc="5" dirty="0">
                <a:latin typeface="Segoe UI Symbol"/>
                <a:cs typeface="Segoe UI Symbol"/>
              </a:rPr>
              <a:t>m</a:t>
            </a:r>
            <a:r>
              <a:rPr dirty="0">
                <a:latin typeface="Segoe UI Symbol"/>
                <a:cs typeface="Segoe UI Symbol"/>
              </a:rPr>
              <a:t>l</a:t>
            </a:r>
            <a:r>
              <a:rPr spc="85" dirty="0">
                <a:latin typeface="Times New Roman"/>
                <a:cs typeface="Times New Roman"/>
              </a:rPr>
              <a:t> </a:t>
            </a:r>
            <a:r>
              <a:rPr dirty="0">
                <a:latin typeface="Segoe UI Symbol"/>
                <a:cs typeface="Segoe UI Symbol"/>
              </a:rPr>
              <a:t>à</a:t>
            </a:r>
            <a:r>
              <a:rPr dirty="0">
                <a:latin typeface="Times New Roman"/>
                <a:cs typeface="Times New Roman"/>
              </a:rPr>
              <a:t> 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dirty="0">
                <a:latin typeface="Segoe UI Symbol"/>
                <a:cs typeface="Segoe UI Symbol"/>
              </a:rPr>
              <a:t>n</a:t>
            </a:r>
            <a:r>
              <a:rPr spc="10" dirty="0">
                <a:latin typeface="Segoe UI Symbol"/>
                <a:cs typeface="Segoe UI Symbol"/>
              </a:rPr>
              <a:t>a</a:t>
            </a:r>
            <a:r>
              <a:rPr spc="5" dirty="0">
                <a:latin typeface="Segoe UI Symbol"/>
                <a:cs typeface="Segoe UI Symbol"/>
              </a:rPr>
              <a:t>m</a:t>
            </a:r>
            <a:r>
              <a:rPr spc="-50" dirty="0">
                <a:latin typeface="Segoe UI Symbol"/>
                <a:cs typeface="Segoe UI Symbol"/>
              </a:rPr>
              <a:t>e</a:t>
            </a:r>
            <a:r>
              <a:rPr spc="10" dirty="0">
                <a:latin typeface="Segoe UI Symbol"/>
                <a:cs typeface="Segoe UI Symbol"/>
              </a:rPr>
              <a:t>s</a:t>
            </a:r>
            <a:r>
              <a:rPr spc="-30" dirty="0">
                <a:latin typeface="Segoe UI Symbol"/>
                <a:cs typeface="Segoe UI Symbol"/>
              </a:rPr>
              <a:t>p</a:t>
            </a:r>
            <a:r>
              <a:rPr spc="10" dirty="0">
                <a:latin typeface="Segoe UI Symbol"/>
                <a:cs typeface="Segoe UI Symbol"/>
              </a:rPr>
              <a:t>a</a:t>
            </a:r>
            <a:r>
              <a:rPr spc="15" dirty="0">
                <a:latin typeface="Segoe UI Symbol"/>
                <a:cs typeface="Segoe UI Symbol"/>
              </a:rPr>
              <a:t>c</a:t>
            </a:r>
            <a:r>
              <a:rPr spc="5" dirty="0">
                <a:latin typeface="Segoe UI Symbol"/>
                <a:cs typeface="Segoe UI Symbol"/>
              </a:rPr>
              <a:t>e</a:t>
            </a:r>
            <a:r>
              <a:rPr spc="-10" dirty="0">
                <a:latin typeface="Segoe UI Symbol"/>
                <a:cs typeface="Segoe UI Symbol"/>
              </a:rPr>
              <a:t>-</a:t>
            </a:r>
            <a:r>
              <a:rPr spc="-30" dirty="0">
                <a:latin typeface="Segoe UI Symbol"/>
                <a:cs typeface="Segoe UI Symbol"/>
              </a:rPr>
              <a:t>c</a:t>
            </a:r>
            <a:r>
              <a:rPr spc="15" dirty="0">
                <a:latin typeface="Segoe UI Symbol"/>
                <a:cs typeface="Segoe UI Symbol"/>
              </a:rPr>
              <a:t>l</a:t>
            </a:r>
            <a:r>
              <a:rPr dirty="0">
                <a:latin typeface="Segoe UI Symbol"/>
                <a:cs typeface="Segoe UI Symbol"/>
              </a:rPr>
              <a:t>r</a:t>
            </a:r>
            <a:r>
              <a:rPr spc="60" dirty="0">
                <a:latin typeface="Times New Roman"/>
                <a:cs typeface="Times New Roman"/>
              </a:rPr>
              <a:t> </a:t>
            </a:r>
            <a:r>
              <a:rPr spc="20" dirty="0">
                <a:latin typeface="Segoe UI Symbol"/>
                <a:cs typeface="Segoe UI Symbol"/>
              </a:rPr>
              <a:t>d</a:t>
            </a:r>
            <a:r>
              <a:rPr spc="-25" dirty="0">
                <a:latin typeface="Segoe UI Symbol"/>
                <a:cs typeface="Segoe UI Symbol"/>
              </a:rPr>
              <a:t>o</a:t>
            </a:r>
            <a:r>
              <a:rPr spc="15" dirty="0">
                <a:latin typeface="Segoe UI Symbol"/>
                <a:cs typeface="Segoe UI Symbol"/>
              </a:rPr>
              <a:t>i</a:t>
            </a:r>
            <a:r>
              <a:rPr dirty="0">
                <a:latin typeface="Segoe UI Symbol"/>
                <a:cs typeface="Segoe UI Symbol"/>
              </a:rPr>
              <a:t>t</a:t>
            </a:r>
            <a:r>
              <a:rPr dirty="0">
                <a:latin typeface="Times New Roman"/>
                <a:cs typeface="Times New Roman"/>
              </a:rPr>
              <a:t> 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dirty="0">
                <a:latin typeface="Segoe UI Symbol"/>
                <a:cs typeface="Segoe UI Symbol"/>
              </a:rPr>
              <a:t>ê</a:t>
            </a:r>
            <a:r>
              <a:rPr spc="5" dirty="0">
                <a:latin typeface="Segoe UI Symbol"/>
                <a:cs typeface="Segoe UI Symbol"/>
              </a:rPr>
              <a:t>t</a:t>
            </a:r>
            <a:r>
              <a:rPr dirty="0">
                <a:latin typeface="Segoe UI Symbol"/>
                <a:cs typeface="Segoe UI Symbol"/>
              </a:rPr>
              <a:t>re</a:t>
            </a:r>
            <a:r>
              <a:rPr dirty="0">
                <a:latin typeface="Times New Roman"/>
                <a:cs typeface="Times New Roman"/>
              </a:rPr>
              <a:t> </a:t>
            </a:r>
            <a:r>
              <a:rPr spc="-120" dirty="0">
                <a:latin typeface="Times New Roman"/>
                <a:cs typeface="Times New Roman"/>
              </a:rPr>
              <a:t> </a:t>
            </a:r>
            <a:r>
              <a:rPr spc="-60" dirty="0">
                <a:latin typeface="Segoe UI Symbol"/>
                <a:cs typeface="Segoe UI Symbol"/>
              </a:rPr>
              <a:t>f</a:t>
            </a:r>
            <a:r>
              <a:rPr spc="10" dirty="0">
                <a:latin typeface="Segoe UI Symbol"/>
                <a:cs typeface="Segoe UI Symbol"/>
              </a:rPr>
              <a:t>a</a:t>
            </a:r>
            <a:r>
              <a:rPr spc="15" dirty="0">
                <a:latin typeface="Segoe UI Symbol"/>
                <a:cs typeface="Segoe UI Symbol"/>
              </a:rPr>
              <a:t>i</a:t>
            </a:r>
            <a:r>
              <a:rPr spc="5" dirty="0">
                <a:latin typeface="Segoe UI Symbol"/>
                <a:cs typeface="Segoe UI Symbol"/>
              </a:rPr>
              <a:t>t</a:t>
            </a:r>
            <a:r>
              <a:rPr dirty="0">
                <a:latin typeface="Segoe UI Symbol"/>
                <a:cs typeface="Segoe UI Symbol"/>
              </a:rPr>
              <a:t>e</a:t>
            </a:r>
          </a:p>
          <a:p>
            <a:pPr eaLnBrk="1" fontAlgn="auto" hangingPunct="1">
              <a:spcBef>
                <a:spcPts val="2"/>
              </a:spcBef>
              <a:spcAft>
                <a:spcPts val="0"/>
              </a:spcAft>
              <a:defRPr/>
            </a:pPr>
            <a:endParaRPr dirty="0">
              <a:latin typeface="Times New Roman"/>
              <a:cs typeface="Times New Roman"/>
            </a:endParaRPr>
          </a:p>
        </p:txBody>
      </p:sp>
      <p:sp>
        <p:nvSpPr>
          <p:cNvPr id="9" name="object 29"/>
          <p:cNvSpPr txBox="1"/>
          <p:nvPr/>
        </p:nvSpPr>
        <p:spPr>
          <a:xfrm>
            <a:off x="798162" y="2998618"/>
            <a:ext cx="8832850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pc="15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pc="15" dirty="0" err="1">
                <a:solidFill>
                  <a:srgbClr val="A21313"/>
                </a:solidFill>
                <a:latin typeface="Consolas"/>
                <a:cs typeface="Consolas"/>
              </a:rPr>
              <a:t>Wind</a:t>
            </a:r>
            <a:r>
              <a:rPr spc="60" dirty="0" err="1">
                <a:solidFill>
                  <a:srgbClr val="A21313"/>
                </a:solidFill>
                <a:latin typeface="Consolas"/>
                <a:cs typeface="Consolas"/>
              </a:rPr>
              <a:t>o</a:t>
            </a:r>
            <a:r>
              <a:rPr spc="15" dirty="0" err="1">
                <a:solidFill>
                  <a:srgbClr val="A21313"/>
                </a:solidFill>
                <a:latin typeface="Consolas"/>
                <a:cs typeface="Consolas"/>
              </a:rPr>
              <a:t>w.R</a:t>
            </a:r>
            <a:r>
              <a:rPr spc="60" dirty="0" err="1">
                <a:solidFill>
                  <a:srgbClr val="A21313"/>
                </a:solidFill>
                <a:latin typeface="Consolas"/>
                <a:cs typeface="Consolas"/>
              </a:rPr>
              <a:t>e</a:t>
            </a:r>
            <a:r>
              <a:rPr spc="15" dirty="0" err="1">
                <a:solidFill>
                  <a:srgbClr val="A21313"/>
                </a:solidFill>
                <a:latin typeface="Consolas"/>
                <a:cs typeface="Consolas"/>
              </a:rPr>
              <a:t>sour</a:t>
            </a:r>
            <a:r>
              <a:rPr spc="60" dirty="0" err="1">
                <a:solidFill>
                  <a:srgbClr val="A21313"/>
                </a:solidFill>
                <a:latin typeface="Consolas"/>
                <a:cs typeface="Consolas"/>
              </a:rPr>
              <a:t>c</a:t>
            </a:r>
            <a:r>
              <a:rPr spc="15" dirty="0" err="1">
                <a:solidFill>
                  <a:srgbClr val="A21313"/>
                </a:solidFill>
                <a:latin typeface="Consolas"/>
                <a:cs typeface="Consolas"/>
              </a:rPr>
              <a:t>e</a:t>
            </a:r>
            <a:r>
              <a:rPr spc="40" dirty="0" err="1">
                <a:solidFill>
                  <a:srgbClr val="A21313"/>
                </a:solidFill>
                <a:latin typeface="Consolas"/>
                <a:cs typeface="Consolas"/>
              </a:rPr>
              <a:t>s</a:t>
            </a:r>
            <a:r>
              <a:rPr dirty="0" smtClean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lang="en-US" dirty="0">
              <a:solidFill>
                <a:srgbClr val="0000FF"/>
              </a:solidFill>
              <a:latin typeface="Consolas"/>
              <a:cs typeface="Consolas"/>
            </a:endParaRPr>
          </a:p>
          <a:p>
            <a:pPr marL="12700">
              <a:defRPr/>
            </a:pPr>
            <a:r>
              <a:rPr lang="en-US" spc="2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lang="en-US" b="1" spc="15" dirty="0" err="1" smtClean="0">
                <a:solidFill>
                  <a:srgbClr val="A21313"/>
                </a:solidFill>
                <a:latin typeface="Consolas"/>
                <a:cs typeface="Consolas"/>
              </a:rPr>
              <a:t>bo</a:t>
            </a:r>
            <a:r>
              <a:rPr lang="en-US" spc="15" dirty="0" err="1" smtClean="0">
                <a:solidFill>
                  <a:srgbClr val="0000FF"/>
                </a:solidFill>
                <a:latin typeface="Consolas"/>
                <a:cs typeface="Consolas"/>
              </a:rPr>
              <a:t>:</a:t>
            </a:r>
            <a:r>
              <a:rPr lang="en-US" spc="15" dirty="0" err="1" smtClean="0">
                <a:solidFill>
                  <a:srgbClr val="A21313"/>
                </a:solidFill>
                <a:latin typeface="Consolas"/>
                <a:cs typeface="Consolas"/>
              </a:rPr>
              <a:t>P</a:t>
            </a:r>
            <a:r>
              <a:rPr lang="en-US" spc="60" dirty="0" err="1" smtClean="0">
                <a:solidFill>
                  <a:srgbClr val="A21313"/>
                </a:solidFill>
                <a:latin typeface="Consolas"/>
                <a:cs typeface="Consolas"/>
              </a:rPr>
              <a:t>e</a:t>
            </a:r>
            <a:r>
              <a:rPr lang="en-US" spc="15" dirty="0" err="1" smtClean="0">
                <a:solidFill>
                  <a:srgbClr val="A21313"/>
                </a:solidFill>
                <a:latin typeface="Consolas"/>
                <a:cs typeface="Consolas"/>
              </a:rPr>
              <a:t>rso</a:t>
            </a:r>
            <a:r>
              <a:rPr lang="en-US" dirty="0" err="1" smtClean="0">
                <a:solidFill>
                  <a:srgbClr val="A21313"/>
                </a:solidFill>
                <a:latin typeface="Consolas"/>
                <a:cs typeface="Consolas"/>
              </a:rPr>
              <a:t>n</a:t>
            </a:r>
            <a:r>
              <a:rPr lang="en-US" dirty="0" smtClean="0">
                <a:solidFill>
                  <a:srgbClr val="A21313"/>
                </a:solidFill>
                <a:latin typeface="Consolas"/>
                <a:cs typeface="Consolas"/>
              </a:rPr>
              <a:t>  </a:t>
            </a:r>
            <a:r>
              <a:rPr lang="en-US" spc="15" dirty="0">
                <a:solidFill>
                  <a:srgbClr val="FF0000"/>
                </a:solidFill>
                <a:latin typeface="Consolas"/>
                <a:cs typeface="Consolas"/>
              </a:rPr>
              <a:t>x</a:t>
            </a:r>
            <a:r>
              <a:rPr lang="en-US" spc="15" dirty="0">
                <a:solidFill>
                  <a:srgbClr val="0000FF"/>
                </a:solidFill>
                <a:latin typeface="Consolas"/>
                <a:cs typeface="Consolas"/>
              </a:rPr>
              <a:t>:</a:t>
            </a:r>
            <a:r>
              <a:rPr lang="en-US" spc="15" dirty="0">
                <a:solidFill>
                  <a:srgbClr val="FF0000"/>
                </a:solidFill>
                <a:latin typeface="Consolas"/>
                <a:cs typeface="Consolas"/>
              </a:rPr>
              <a:t>Ke</a:t>
            </a:r>
            <a:r>
              <a:rPr lang="en-US" spc="20" dirty="0">
                <a:solidFill>
                  <a:srgbClr val="FF0000"/>
                </a:solidFill>
                <a:latin typeface="Consolas"/>
                <a:cs typeface="Consolas"/>
              </a:rPr>
              <a:t>y</a:t>
            </a:r>
            <a:r>
              <a:rPr lang="en-US" spc="15" dirty="0">
                <a:solidFill>
                  <a:srgbClr val="0000FF"/>
                </a:solidFill>
                <a:latin typeface="Consolas"/>
                <a:cs typeface="Consolas"/>
              </a:rPr>
              <a:t>="tot</a:t>
            </a:r>
            <a:r>
              <a:rPr lang="en-US" spc="60" dirty="0">
                <a:solidFill>
                  <a:srgbClr val="0000FF"/>
                </a:solidFill>
                <a:latin typeface="Consolas"/>
                <a:cs typeface="Consolas"/>
              </a:rPr>
              <a:t>o</a:t>
            </a:r>
            <a:r>
              <a:rPr lang="en-US" dirty="0">
                <a:solidFill>
                  <a:srgbClr val="0000FF"/>
                </a:solidFill>
                <a:latin typeface="Consolas"/>
                <a:cs typeface="Consolas"/>
              </a:rPr>
              <a:t>"</a:t>
            </a:r>
            <a:r>
              <a:rPr lang="en-US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pc="-4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pc="15" dirty="0">
                <a:solidFill>
                  <a:srgbClr val="FF0000"/>
                </a:solidFill>
                <a:latin typeface="Consolas"/>
                <a:cs typeface="Consolas"/>
              </a:rPr>
              <a:t>Age</a:t>
            </a:r>
            <a:r>
              <a:rPr lang="en-US" spc="15" dirty="0" smtClean="0">
                <a:solidFill>
                  <a:srgbClr val="0000FF"/>
                </a:solidFill>
                <a:latin typeface="Consolas"/>
                <a:cs typeface="Consolas"/>
              </a:rPr>
              <a:t>="</a:t>
            </a:r>
            <a:r>
              <a:rPr lang="en-US" spc="60" dirty="0">
                <a:solidFill>
                  <a:srgbClr val="0000FF"/>
                </a:solidFill>
                <a:latin typeface="Consolas"/>
                <a:cs typeface="Consolas"/>
              </a:rPr>
              <a:t>1</a:t>
            </a:r>
            <a:r>
              <a:rPr lang="en-US" spc="15" dirty="0">
                <a:solidFill>
                  <a:srgbClr val="0000FF"/>
                </a:solidFill>
                <a:latin typeface="Consolas"/>
                <a:cs typeface="Consolas"/>
              </a:rPr>
              <a:t>0</a:t>
            </a:r>
            <a:r>
              <a:rPr lang="en-US" spc="15" dirty="0" smtClean="0">
                <a:solidFill>
                  <a:srgbClr val="0000FF"/>
                </a:solidFill>
                <a:latin typeface="Consolas"/>
                <a:cs typeface="Consolas"/>
              </a:rPr>
              <a:t>"</a:t>
            </a:r>
            <a:r>
              <a:rPr lang="en-US" dirty="0" smtClean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lang="en-US" spc="60" dirty="0" err="1" smtClean="0">
                <a:solidFill>
                  <a:srgbClr val="FF0000"/>
                </a:solidFill>
                <a:latin typeface="Consolas"/>
                <a:cs typeface="Consolas"/>
              </a:rPr>
              <a:t>F</a:t>
            </a:r>
            <a:r>
              <a:rPr lang="en-US" spc="15" dirty="0" err="1" smtClean="0">
                <a:solidFill>
                  <a:srgbClr val="FF0000"/>
                </a:solidFill>
                <a:latin typeface="Consolas"/>
                <a:cs typeface="Consolas"/>
              </a:rPr>
              <a:t>irstnam</a:t>
            </a:r>
            <a:r>
              <a:rPr lang="en-US" spc="75" dirty="0" err="1" smtClean="0">
                <a:solidFill>
                  <a:srgbClr val="FF0000"/>
                </a:solidFill>
                <a:latin typeface="Consolas"/>
                <a:cs typeface="Consolas"/>
              </a:rPr>
              <a:t>e</a:t>
            </a:r>
            <a:r>
              <a:rPr lang="en-US" spc="15" dirty="0">
                <a:solidFill>
                  <a:srgbClr val="0000FF"/>
                </a:solidFill>
                <a:latin typeface="Consolas"/>
                <a:cs typeface="Consolas"/>
              </a:rPr>
              <a:t>="</a:t>
            </a:r>
            <a:r>
              <a:rPr lang="en-US" spc="15" dirty="0" err="1">
                <a:solidFill>
                  <a:srgbClr val="0000FF"/>
                </a:solidFill>
                <a:latin typeface="Consolas"/>
                <a:cs typeface="Consolas"/>
              </a:rPr>
              <a:t>toto</a:t>
            </a:r>
            <a:r>
              <a:rPr lang="en-US" dirty="0">
                <a:solidFill>
                  <a:srgbClr val="0000FF"/>
                </a:solidFill>
                <a:latin typeface="Consolas"/>
                <a:cs typeface="Consolas"/>
              </a:rPr>
              <a:t>"</a:t>
            </a:r>
            <a:r>
              <a:rPr lang="en-US" dirty="0">
                <a:solidFill>
                  <a:srgbClr val="0000FF"/>
                </a:solidFill>
                <a:latin typeface="Times New Roman"/>
                <a:cs typeface="Times New Roman"/>
              </a:rPr>
              <a:t>  </a:t>
            </a:r>
            <a:r>
              <a:rPr lang="en-US" spc="15" dirty="0">
                <a:solidFill>
                  <a:srgbClr val="0000FF"/>
                </a:solidFill>
                <a:latin typeface="Consolas"/>
                <a:cs typeface="Consolas"/>
              </a:rPr>
              <a:t>/&gt;</a:t>
            </a:r>
            <a:endParaRPr lang="en-US" dirty="0">
              <a:latin typeface="Consolas"/>
              <a:cs typeface="Consolas"/>
            </a:endParaRPr>
          </a:p>
          <a:p>
            <a:pPr marL="12700">
              <a:defRPr/>
            </a:pPr>
            <a:r>
              <a:rPr lang="en-US" spc="15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lang="en-US" spc="15" dirty="0" err="1">
                <a:solidFill>
                  <a:srgbClr val="A21313"/>
                </a:solidFill>
                <a:latin typeface="Consolas"/>
                <a:cs typeface="Consolas"/>
              </a:rPr>
              <a:t>Win</a:t>
            </a:r>
            <a:r>
              <a:rPr lang="en-US" spc="60" dirty="0" err="1">
                <a:solidFill>
                  <a:srgbClr val="A21313"/>
                </a:solidFill>
                <a:latin typeface="Consolas"/>
                <a:cs typeface="Consolas"/>
              </a:rPr>
              <a:t>d</a:t>
            </a:r>
            <a:r>
              <a:rPr lang="en-US" spc="15" dirty="0" err="1">
                <a:solidFill>
                  <a:srgbClr val="A21313"/>
                </a:solidFill>
                <a:latin typeface="Consolas"/>
                <a:cs typeface="Consolas"/>
              </a:rPr>
              <a:t>ow.</a:t>
            </a:r>
            <a:r>
              <a:rPr lang="en-US" spc="60" dirty="0" err="1">
                <a:solidFill>
                  <a:srgbClr val="A21313"/>
                </a:solidFill>
                <a:latin typeface="Consolas"/>
                <a:cs typeface="Consolas"/>
              </a:rPr>
              <a:t>R</a:t>
            </a:r>
            <a:r>
              <a:rPr lang="en-US" spc="15" dirty="0" err="1">
                <a:solidFill>
                  <a:srgbClr val="A21313"/>
                </a:solidFill>
                <a:latin typeface="Consolas"/>
                <a:cs typeface="Consolas"/>
              </a:rPr>
              <a:t>esou</a:t>
            </a:r>
            <a:r>
              <a:rPr lang="en-US" spc="60" dirty="0" err="1">
                <a:solidFill>
                  <a:srgbClr val="A21313"/>
                </a:solidFill>
                <a:latin typeface="Consolas"/>
                <a:cs typeface="Consolas"/>
              </a:rPr>
              <a:t>r</a:t>
            </a:r>
            <a:r>
              <a:rPr lang="en-US" spc="15" dirty="0" err="1">
                <a:solidFill>
                  <a:srgbClr val="A21313"/>
                </a:solidFill>
                <a:latin typeface="Consolas"/>
                <a:cs typeface="Consolas"/>
              </a:rPr>
              <a:t>ce</a:t>
            </a:r>
            <a:r>
              <a:rPr lang="en-US" spc="40" dirty="0" err="1">
                <a:solidFill>
                  <a:srgbClr val="A21313"/>
                </a:solidFill>
                <a:latin typeface="Consolas"/>
                <a:cs typeface="Consolas"/>
              </a:rPr>
              <a:t>s</a:t>
            </a:r>
            <a:r>
              <a:rPr lang="en-US" dirty="0" smtClean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lang="en-US" dirty="0">
              <a:latin typeface="Consolas"/>
              <a:cs typeface="Consola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54181" y="2086628"/>
            <a:ext cx="1044237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5100">
              <a:defRPr/>
            </a:pPr>
            <a:r>
              <a:rPr lang="fr-FR" spc="15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lang="fr-FR" spc="15" dirty="0" err="1">
                <a:solidFill>
                  <a:srgbClr val="A21313"/>
                </a:solidFill>
                <a:latin typeface="Consolas"/>
                <a:cs typeface="Consolas"/>
              </a:rPr>
              <a:t>Wind</a:t>
            </a:r>
            <a:r>
              <a:rPr lang="fr-FR" spc="60" dirty="0" err="1">
                <a:solidFill>
                  <a:srgbClr val="A21313"/>
                </a:solidFill>
                <a:latin typeface="Consolas"/>
                <a:cs typeface="Consolas"/>
              </a:rPr>
              <a:t>o</a:t>
            </a:r>
            <a:r>
              <a:rPr lang="fr-FR" dirty="0" err="1">
                <a:solidFill>
                  <a:srgbClr val="A21313"/>
                </a:solidFill>
                <a:latin typeface="Consolas"/>
                <a:cs typeface="Consolas"/>
              </a:rPr>
              <a:t>w</a:t>
            </a:r>
            <a:r>
              <a:rPr lang="fr-FR" dirty="0">
                <a:solidFill>
                  <a:srgbClr val="A21313"/>
                </a:solidFill>
                <a:latin typeface="Times New Roman"/>
                <a:cs typeface="Times New Roman"/>
              </a:rPr>
              <a:t> </a:t>
            </a:r>
            <a:r>
              <a:rPr lang="fr-FR" spc="-45" dirty="0">
                <a:solidFill>
                  <a:srgbClr val="A21313"/>
                </a:solidFill>
                <a:latin typeface="Times New Roman"/>
                <a:cs typeface="Times New Roman"/>
              </a:rPr>
              <a:t> </a:t>
            </a:r>
            <a:r>
              <a:rPr lang="fr-FR" spc="60" dirty="0">
                <a:solidFill>
                  <a:srgbClr val="FF0000"/>
                </a:solidFill>
                <a:latin typeface="Consolas"/>
                <a:cs typeface="Consolas"/>
              </a:rPr>
              <a:t>.</a:t>
            </a:r>
            <a:r>
              <a:rPr lang="fr-FR" spc="15" dirty="0">
                <a:solidFill>
                  <a:srgbClr val="FF0000"/>
                </a:solidFill>
                <a:latin typeface="Consolas"/>
                <a:cs typeface="Consolas"/>
              </a:rPr>
              <a:t>.</a:t>
            </a:r>
            <a:r>
              <a:rPr lang="fr-FR" dirty="0">
                <a:solidFill>
                  <a:srgbClr val="FF0000"/>
                </a:solidFill>
                <a:latin typeface="Consolas"/>
                <a:cs typeface="Consolas"/>
              </a:rPr>
              <a:t>.</a:t>
            </a:r>
            <a:endParaRPr lang="fr-FR" dirty="0">
              <a:latin typeface="Consolas"/>
              <a:cs typeface="Consolas"/>
            </a:endParaRPr>
          </a:p>
          <a:p>
            <a:pPr marL="323850">
              <a:spcBef>
                <a:spcPts val="25"/>
              </a:spcBef>
              <a:defRPr/>
            </a:pPr>
            <a:r>
              <a:rPr lang="fr-FR" spc="15" dirty="0" err="1">
                <a:solidFill>
                  <a:srgbClr val="FF0000"/>
                </a:solidFill>
                <a:latin typeface="Consolas"/>
                <a:cs typeface="Consolas"/>
              </a:rPr>
              <a:t>xmlns</a:t>
            </a:r>
            <a:r>
              <a:rPr lang="fr-FR" spc="65" dirty="0" err="1">
                <a:solidFill>
                  <a:srgbClr val="0000FF"/>
                </a:solidFill>
                <a:latin typeface="Consolas"/>
                <a:cs typeface="Consolas"/>
              </a:rPr>
              <a:t>:</a:t>
            </a:r>
            <a:r>
              <a:rPr lang="fr-FR" b="1" spc="15" dirty="0" err="1">
                <a:solidFill>
                  <a:srgbClr val="FF0000"/>
                </a:solidFill>
                <a:latin typeface="Consolas"/>
                <a:cs typeface="Consolas"/>
              </a:rPr>
              <a:t>bo</a:t>
            </a:r>
            <a:r>
              <a:rPr lang="fr-FR" spc="15" dirty="0">
                <a:solidFill>
                  <a:srgbClr val="0000FF"/>
                </a:solidFill>
                <a:latin typeface="Consolas"/>
                <a:cs typeface="Consolas"/>
              </a:rPr>
              <a:t>=</a:t>
            </a:r>
            <a:r>
              <a:rPr lang="fr-FR" spc="60" dirty="0">
                <a:solidFill>
                  <a:srgbClr val="0000FF"/>
                </a:solidFill>
                <a:latin typeface="Consolas"/>
                <a:cs typeface="Consolas"/>
              </a:rPr>
              <a:t>"</a:t>
            </a:r>
            <a:r>
              <a:rPr lang="fr-FR" spc="15" dirty="0" err="1">
                <a:solidFill>
                  <a:srgbClr val="0000FF"/>
                </a:solidFill>
                <a:latin typeface="Consolas"/>
                <a:cs typeface="Consolas"/>
              </a:rPr>
              <a:t>cl</a:t>
            </a:r>
            <a:r>
              <a:rPr lang="fr-FR" spc="20" dirty="0" err="1">
                <a:solidFill>
                  <a:srgbClr val="0000FF"/>
                </a:solidFill>
                <a:latin typeface="Consolas"/>
                <a:cs typeface="Consolas"/>
              </a:rPr>
              <a:t>r</a:t>
            </a:r>
            <a:r>
              <a:rPr lang="fr-FR" spc="15" dirty="0" err="1">
                <a:solidFill>
                  <a:srgbClr val="0000FF"/>
                </a:solidFill>
                <a:latin typeface="Consolas"/>
                <a:cs typeface="Consolas"/>
              </a:rPr>
              <a:t>-</a:t>
            </a:r>
            <a:r>
              <a:rPr lang="fr-FR" spc="60" dirty="0" err="1">
                <a:solidFill>
                  <a:srgbClr val="0000FF"/>
                </a:solidFill>
                <a:latin typeface="Consolas"/>
                <a:cs typeface="Consolas"/>
              </a:rPr>
              <a:t>n</a:t>
            </a:r>
            <a:r>
              <a:rPr lang="fr-FR" spc="15" dirty="0" err="1">
                <a:solidFill>
                  <a:srgbClr val="0000FF"/>
                </a:solidFill>
                <a:latin typeface="Consolas"/>
                <a:cs typeface="Consolas"/>
              </a:rPr>
              <a:t>ame</a:t>
            </a:r>
            <a:r>
              <a:rPr lang="fr-FR" spc="60" dirty="0" err="1">
                <a:solidFill>
                  <a:srgbClr val="0000FF"/>
                </a:solidFill>
                <a:latin typeface="Consolas"/>
                <a:cs typeface="Consolas"/>
              </a:rPr>
              <a:t>s</a:t>
            </a:r>
            <a:r>
              <a:rPr lang="fr-FR" spc="15" dirty="0" err="1">
                <a:solidFill>
                  <a:srgbClr val="0000FF"/>
                </a:solidFill>
                <a:latin typeface="Consolas"/>
                <a:cs typeface="Consolas"/>
              </a:rPr>
              <a:t>pac</a:t>
            </a:r>
            <a:r>
              <a:rPr lang="fr-FR" spc="60" dirty="0" err="1">
                <a:solidFill>
                  <a:srgbClr val="0000FF"/>
                </a:solidFill>
                <a:latin typeface="Consolas"/>
                <a:cs typeface="Consolas"/>
              </a:rPr>
              <a:t>e</a:t>
            </a:r>
            <a:r>
              <a:rPr lang="fr-FR" spc="15" dirty="0" err="1">
                <a:solidFill>
                  <a:srgbClr val="0000FF"/>
                </a:solidFill>
                <a:latin typeface="Consolas"/>
                <a:cs typeface="Consolas"/>
              </a:rPr>
              <a:t>:Bus</a:t>
            </a:r>
            <a:r>
              <a:rPr lang="fr-FR" spc="60" dirty="0" err="1">
                <a:solidFill>
                  <a:srgbClr val="0000FF"/>
                </a:solidFill>
                <a:latin typeface="Consolas"/>
                <a:cs typeface="Consolas"/>
              </a:rPr>
              <a:t>i</a:t>
            </a:r>
            <a:r>
              <a:rPr lang="fr-FR" spc="15" dirty="0" err="1">
                <a:solidFill>
                  <a:srgbClr val="0000FF"/>
                </a:solidFill>
                <a:latin typeface="Consolas"/>
                <a:cs typeface="Consolas"/>
              </a:rPr>
              <a:t>nes</a:t>
            </a:r>
            <a:r>
              <a:rPr lang="fr-FR" spc="60" dirty="0" err="1">
                <a:solidFill>
                  <a:srgbClr val="0000FF"/>
                </a:solidFill>
                <a:latin typeface="Consolas"/>
                <a:cs typeface="Consolas"/>
              </a:rPr>
              <a:t>s</a:t>
            </a:r>
            <a:r>
              <a:rPr lang="fr-FR" spc="15" dirty="0" err="1">
                <a:solidFill>
                  <a:srgbClr val="0000FF"/>
                </a:solidFill>
                <a:latin typeface="Consolas"/>
                <a:cs typeface="Consolas"/>
              </a:rPr>
              <a:t>Obj</a:t>
            </a:r>
            <a:r>
              <a:rPr lang="fr-FR" spc="60" dirty="0" err="1">
                <a:solidFill>
                  <a:srgbClr val="0000FF"/>
                </a:solidFill>
                <a:latin typeface="Consolas"/>
                <a:cs typeface="Consolas"/>
              </a:rPr>
              <a:t>e</a:t>
            </a:r>
            <a:r>
              <a:rPr lang="fr-FR" spc="15" dirty="0" err="1">
                <a:solidFill>
                  <a:srgbClr val="0000FF"/>
                </a:solidFill>
                <a:latin typeface="Consolas"/>
                <a:cs typeface="Consolas"/>
              </a:rPr>
              <a:t>cts;</a:t>
            </a:r>
            <a:r>
              <a:rPr lang="fr-FR" spc="60" dirty="0" err="1">
                <a:solidFill>
                  <a:srgbClr val="0000FF"/>
                </a:solidFill>
                <a:latin typeface="Consolas"/>
                <a:cs typeface="Consolas"/>
              </a:rPr>
              <a:t>a</a:t>
            </a:r>
            <a:r>
              <a:rPr lang="fr-FR" spc="15" dirty="0" err="1">
                <a:solidFill>
                  <a:srgbClr val="0000FF"/>
                </a:solidFill>
                <a:latin typeface="Consolas"/>
                <a:cs typeface="Consolas"/>
              </a:rPr>
              <a:t>sse</a:t>
            </a:r>
            <a:r>
              <a:rPr lang="fr-FR" spc="60" dirty="0" err="1">
                <a:solidFill>
                  <a:srgbClr val="0000FF"/>
                </a:solidFill>
                <a:latin typeface="Consolas"/>
                <a:cs typeface="Consolas"/>
              </a:rPr>
              <a:t>m</a:t>
            </a:r>
            <a:r>
              <a:rPr lang="fr-FR" spc="15" dirty="0" err="1">
                <a:solidFill>
                  <a:srgbClr val="0000FF"/>
                </a:solidFill>
                <a:latin typeface="Consolas"/>
                <a:cs typeface="Consolas"/>
              </a:rPr>
              <a:t>bly</a:t>
            </a:r>
            <a:r>
              <a:rPr lang="fr-FR" spc="60" dirty="0">
                <a:solidFill>
                  <a:srgbClr val="0000FF"/>
                </a:solidFill>
                <a:latin typeface="Consolas"/>
                <a:cs typeface="Consolas"/>
              </a:rPr>
              <a:t>=</a:t>
            </a:r>
            <a:r>
              <a:rPr lang="fr-FR" spc="15" dirty="0" err="1">
                <a:solidFill>
                  <a:srgbClr val="0000FF"/>
                </a:solidFill>
                <a:latin typeface="Consolas"/>
                <a:cs typeface="Consolas"/>
              </a:rPr>
              <a:t>Busi</a:t>
            </a:r>
            <a:r>
              <a:rPr lang="fr-FR" spc="60" dirty="0" err="1">
                <a:solidFill>
                  <a:srgbClr val="0000FF"/>
                </a:solidFill>
                <a:latin typeface="Consolas"/>
                <a:cs typeface="Consolas"/>
              </a:rPr>
              <a:t>n</a:t>
            </a:r>
            <a:r>
              <a:rPr lang="fr-FR" spc="15" dirty="0" err="1">
                <a:solidFill>
                  <a:srgbClr val="0000FF"/>
                </a:solidFill>
                <a:latin typeface="Consolas"/>
                <a:cs typeface="Consolas"/>
              </a:rPr>
              <a:t>ess</a:t>
            </a:r>
            <a:r>
              <a:rPr lang="fr-FR" spc="60" dirty="0" err="1">
                <a:solidFill>
                  <a:srgbClr val="0000FF"/>
                </a:solidFill>
                <a:latin typeface="Consolas"/>
                <a:cs typeface="Consolas"/>
              </a:rPr>
              <a:t>O</a:t>
            </a:r>
            <a:r>
              <a:rPr lang="fr-FR" spc="15" dirty="0" err="1">
                <a:solidFill>
                  <a:srgbClr val="0000FF"/>
                </a:solidFill>
                <a:latin typeface="Consolas"/>
                <a:cs typeface="Consolas"/>
              </a:rPr>
              <a:t>bje</a:t>
            </a:r>
            <a:r>
              <a:rPr lang="fr-FR" spc="60" dirty="0" err="1">
                <a:solidFill>
                  <a:srgbClr val="0000FF"/>
                </a:solidFill>
                <a:latin typeface="Consolas"/>
                <a:cs typeface="Consolas"/>
              </a:rPr>
              <a:t>c</a:t>
            </a:r>
            <a:r>
              <a:rPr lang="fr-FR" spc="15" dirty="0" err="1">
                <a:solidFill>
                  <a:srgbClr val="0000FF"/>
                </a:solidFill>
                <a:latin typeface="Consolas"/>
                <a:cs typeface="Consolas"/>
              </a:rPr>
              <a:t>ts</a:t>
            </a:r>
            <a:r>
              <a:rPr lang="fr-FR" spc="15" dirty="0">
                <a:solidFill>
                  <a:srgbClr val="0000FF"/>
                </a:solidFill>
                <a:latin typeface="Consolas"/>
                <a:cs typeface="Consolas"/>
              </a:rPr>
              <a:t>"</a:t>
            </a:r>
            <a:r>
              <a:rPr lang="fr-FR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lang="fr-FR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879451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5"/>
          <p:cNvSpPr txBox="1"/>
          <p:nvPr/>
        </p:nvSpPr>
        <p:spPr>
          <a:xfrm>
            <a:off x="304800" y="620713"/>
            <a:ext cx="9634847" cy="3462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eaLnBrk="1" fontAlgn="auto" hangingPunct="1">
              <a:spcBef>
                <a:spcPts val="0"/>
              </a:spcBef>
              <a:spcAft>
                <a:spcPts val="0"/>
              </a:spcAft>
              <a:tabLst>
                <a:tab pos="5852795" algn="l"/>
              </a:tabLst>
              <a:defRPr/>
            </a:pPr>
            <a:r>
              <a:rPr sz="2250" u="heavy" spc="-40" dirty="0">
                <a:latin typeface="Segoe UI Symbol"/>
                <a:cs typeface="Segoe UI Symbol"/>
              </a:rPr>
              <a:t>X</a:t>
            </a:r>
            <a:r>
              <a:rPr sz="2250" u="heavy" spc="-70" dirty="0">
                <a:latin typeface="Segoe UI Symbol"/>
                <a:cs typeface="Segoe UI Symbol"/>
              </a:rPr>
              <a:t>A</a:t>
            </a:r>
            <a:r>
              <a:rPr sz="2250" u="heavy" spc="-60" dirty="0">
                <a:latin typeface="Segoe UI Symbol"/>
                <a:cs typeface="Segoe UI Symbol"/>
              </a:rPr>
              <a:t>M</a:t>
            </a:r>
            <a:r>
              <a:rPr sz="2250" u="heavy" dirty="0">
                <a:latin typeface="Segoe UI Symbol"/>
                <a:cs typeface="Segoe UI Symbol"/>
              </a:rPr>
              <a:t>L</a:t>
            </a:r>
            <a:r>
              <a:rPr sz="2250" u="heavy" spc="-190" dirty="0">
                <a:latin typeface="Segoe UI Symbol"/>
                <a:cs typeface="Segoe UI Symbol"/>
              </a:rPr>
              <a:t> </a:t>
            </a:r>
            <a:r>
              <a:rPr sz="2250" u="heavy" dirty="0">
                <a:latin typeface="Segoe UI Symbol"/>
                <a:cs typeface="Segoe UI Symbol"/>
              </a:rPr>
              <a:t>:</a:t>
            </a:r>
            <a:r>
              <a:rPr sz="2250" u="heavy" spc="-200" dirty="0">
                <a:latin typeface="Segoe UI Symbol"/>
                <a:cs typeface="Segoe UI Symbol"/>
              </a:rPr>
              <a:t> </a:t>
            </a:r>
            <a:r>
              <a:rPr sz="2250" u="heavy" spc="-40" dirty="0" err="1">
                <a:latin typeface="Segoe UI Symbol"/>
                <a:cs typeface="Segoe UI Symbol"/>
              </a:rPr>
              <a:t>E</a:t>
            </a:r>
            <a:r>
              <a:rPr sz="2250" u="heavy" spc="-25" dirty="0" err="1">
                <a:latin typeface="Segoe UI Symbol"/>
                <a:cs typeface="Segoe UI Symbol"/>
              </a:rPr>
              <a:t>v</a:t>
            </a:r>
            <a:r>
              <a:rPr sz="2250" u="heavy" spc="-80" dirty="0" err="1">
                <a:latin typeface="Segoe UI Symbol"/>
                <a:cs typeface="Segoe UI Symbol"/>
              </a:rPr>
              <a:t>é</a:t>
            </a:r>
            <a:r>
              <a:rPr sz="2250" u="heavy" spc="-30" dirty="0" err="1">
                <a:latin typeface="Segoe UI Symbol"/>
                <a:cs typeface="Segoe UI Symbol"/>
              </a:rPr>
              <a:t>ne</a:t>
            </a:r>
            <a:r>
              <a:rPr sz="2250" u="heavy" spc="-75" dirty="0" err="1">
                <a:latin typeface="Segoe UI Symbol"/>
                <a:cs typeface="Segoe UI Symbol"/>
              </a:rPr>
              <a:t>m</a:t>
            </a:r>
            <a:r>
              <a:rPr sz="2250" u="heavy" spc="-80" dirty="0" err="1">
                <a:latin typeface="Segoe UI Symbol"/>
                <a:cs typeface="Segoe UI Symbol"/>
              </a:rPr>
              <a:t>e</a:t>
            </a:r>
            <a:r>
              <a:rPr sz="2250" u="heavy" spc="-30" dirty="0" err="1">
                <a:latin typeface="Segoe UI Symbol"/>
                <a:cs typeface="Segoe UI Symbol"/>
              </a:rPr>
              <a:t>n</a:t>
            </a:r>
            <a:r>
              <a:rPr sz="2250" u="heavy" spc="-45" dirty="0" err="1">
                <a:latin typeface="Segoe UI Symbol"/>
                <a:cs typeface="Segoe UI Symbol"/>
              </a:rPr>
              <a:t>t</a:t>
            </a:r>
            <a:r>
              <a:rPr sz="2250" u="heavy" dirty="0" err="1">
                <a:latin typeface="Segoe UI Symbol"/>
                <a:cs typeface="Segoe UI Symbol"/>
              </a:rPr>
              <a:t>s</a:t>
            </a:r>
            <a:r>
              <a:rPr sz="2250" u="heavy" dirty="0">
                <a:latin typeface="Segoe UI Symbol"/>
                <a:cs typeface="Segoe UI Symbol"/>
              </a:rPr>
              <a:t> </a:t>
            </a:r>
            <a:r>
              <a:rPr lang="fr-FR" sz="2250" u="heavy" dirty="0" smtClean="0">
                <a:latin typeface="Segoe UI Symbol"/>
                <a:cs typeface="Segoe UI Symbol"/>
              </a:rPr>
              <a:t>abonnement statique à partir du XAML</a:t>
            </a:r>
            <a:r>
              <a:rPr sz="2250" u="heavy" dirty="0">
                <a:latin typeface="Times New Roman"/>
                <a:cs typeface="Times New Roman"/>
              </a:rPr>
              <a:t>	</a:t>
            </a:r>
            <a:endParaRPr sz="2250" dirty="0">
              <a:latin typeface="Times New Roman"/>
              <a:cs typeface="Times New Roman"/>
            </a:endParaRPr>
          </a:p>
        </p:txBody>
      </p:sp>
      <p:sp>
        <p:nvSpPr>
          <p:cNvPr id="3" name="object 18"/>
          <p:cNvSpPr txBox="1"/>
          <p:nvPr/>
        </p:nvSpPr>
        <p:spPr>
          <a:xfrm>
            <a:off x="711695" y="2111855"/>
            <a:ext cx="9174513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>
              <a:defRPr/>
            </a:pPr>
            <a:r>
              <a:rPr spc="2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pc="15" dirty="0" smtClean="0">
                <a:solidFill>
                  <a:srgbClr val="A21313"/>
                </a:solidFill>
                <a:latin typeface="Consolas"/>
                <a:cs typeface="Consolas"/>
              </a:rPr>
              <a:t>Button</a:t>
            </a:r>
            <a:r>
              <a:rPr lang="en-US" spc="15" dirty="0" smtClean="0">
                <a:solidFill>
                  <a:srgbClr val="A21313"/>
                </a:solidFill>
                <a:latin typeface="Consolas"/>
                <a:cs typeface="Consolas"/>
              </a:rPr>
              <a:t>  </a:t>
            </a:r>
            <a:r>
              <a:rPr lang="en-US" spc="15" dirty="0" smtClean="0">
                <a:solidFill>
                  <a:srgbClr val="FF0000"/>
                </a:solidFill>
                <a:latin typeface="Consolas"/>
                <a:cs typeface="Consolas"/>
              </a:rPr>
              <a:t>Text</a:t>
            </a:r>
            <a:r>
              <a:rPr lang="en-US" spc="15" dirty="0" smtClean="0">
                <a:solidFill>
                  <a:srgbClr val="0000FF"/>
                </a:solidFill>
                <a:latin typeface="Consolas"/>
                <a:cs typeface="Consolas"/>
              </a:rPr>
              <a:t>="</a:t>
            </a:r>
            <a:r>
              <a:rPr lang="en-US" spc="15" dirty="0" err="1" smtClean="0">
                <a:solidFill>
                  <a:srgbClr val="0000FF"/>
                </a:solidFill>
                <a:latin typeface="Consolas"/>
                <a:cs typeface="Consolas"/>
              </a:rPr>
              <a:t>Cliquez</a:t>
            </a:r>
            <a:r>
              <a:rPr lang="en-US" spc="15" dirty="0" smtClean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lang="en-US" spc="15" dirty="0" err="1" smtClean="0">
                <a:solidFill>
                  <a:srgbClr val="0000FF"/>
                </a:solidFill>
                <a:latin typeface="Consolas"/>
                <a:cs typeface="Consolas"/>
              </a:rPr>
              <a:t>moi</a:t>
            </a:r>
            <a:r>
              <a:rPr lang="en-US" spc="15" dirty="0" smtClean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lang="en-US" spc="15" dirty="0" err="1" smtClean="0">
                <a:solidFill>
                  <a:srgbClr val="0000FF"/>
                </a:solidFill>
                <a:latin typeface="Consolas"/>
                <a:cs typeface="Consolas"/>
              </a:rPr>
              <a:t>Svp</a:t>
            </a:r>
            <a:r>
              <a:rPr lang="en-US" spc="15" dirty="0" smtClean="0">
                <a:solidFill>
                  <a:srgbClr val="0000FF"/>
                </a:solidFill>
                <a:latin typeface="Consolas"/>
                <a:cs typeface="Consolas"/>
              </a:rPr>
              <a:t>!!!</a:t>
            </a:r>
            <a:r>
              <a:rPr lang="en-US" dirty="0" smtClean="0">
                <a:solidFill>
                  <a:srgbClr val="0000FF"/>
                </a:solidFill>
                <a:latin typeface="Consolas"/>
                <a:cs typeface="Consolas"/>
              </a:rPr>
              <a:t>"</a:t>
            </a:r>
            <a:r>
              <a:rPr lang="en-US" dirty="0" smtClean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pc="-50" dirty="0" smtClean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pc="15" dirty="0" smtClean="0">
                <a:solidFill>
                  <a:srgbClr val="FF0000"/>
                </a:solidFill>
                <a:latin typeface="Consolas"/>
                <a:cs typeface="Consolas"/>
              </a:rPr>
              <a:t>Cl</a:t>
            </a:r>
            <a:r>
              <a:rPr lang="en-US" spc="60" dirty="0" smtClean="0">
                <a:solidFill>
                  <a:srgbClr val="FF0000"/>
                </a:solidFill>
                <a:latin typeface="Consolas"/>
                <a:cs typeface="Consolas"/>
              </a:rPr>
              <a:t>i</a:t>
            </a:r>
            <a:r>
              <a:rPr lang="en-US" spc="15" dirty="0" smtClean="0">
                <a:solidFill>
                  <a:srgbClr val="FF0000"/>
                </a:solidFill>
                <a:latin typeface="Consolas"/>
                <a:cs typeface="Consolas"/>
              </a:rPr>
              <a:t>c</a:t>
            </a:r>
            <a:r>
              <a:rPr lang="en-US" spc="20" dirty="0" smtClean="0">
                <a:solidFill>
                  <a:srgbClr val="FF0000"/>
                </a:solidFill>
                <a:latin typeface="Consolas"/>
                <a:cs typeface="Consolas"/>
              </a:rPr>
              <a:t>ked</a:t>
            </a:r>
            <a:r>
              <a:rPr lang="en-US" spc="15" dirty="0" smtClean="0">
                <a:solidFill>
                  <a:srgbClr val="0000FF"/>
                </a:solidFill>
                <a:latin typeface="Consolas"/>
                <a:cs typeface="Consolas"/>
              </a:rPr>
              <a:t>="</a:t>
            </a:r>
            <a:r>
              <a:rPr lang="en-US" spc="15" dirty="0" err="1" smtClean="0">
                <a:solidFill>
                  <a:srgbClr val="0000FF"/>
                </a:solidFill>
                <a:latin typeface="Consolas"/>
                <a:cs typeface="Consolas"/>
              </a:rPr>
              <a:t>But</a:t>
            </a:r>
            <a:r>
              <a:rPr lang="en-US" spc="60" dirty="0" err="1" smtClean="0">
                <a:solidFill>
                  <a:srgbClr val="0000FF"/>
                </a:solidFill>
                <a:latin typeface="Consolas"/>
                <a:cs typeface="Consolas"/>
              </a:rPr>
              <a:t>t</a:t>
            </a:r>
            <a:r>
              <a:rPr lang="en-US" spc="15" dirty="0" err="1" smtClean="0">
                <a:solidFill>
                  <a:srgbClr val="0000FF"/>
                </a:solidFill>
                <a:latin typeface="Consolas"/>
                <a:cs typeface="Consolas"/>
              </a:rPr>
              <a:t>onC</a:t>
            </a:r>
            <a:r>
              <a:rPr lang="en-US" spc="60" dirty="0" err="1" smtClean="0">
                <a:solidFill>
                  <a:srgbClr val="0000FF"/>
                </a:solidFill>
                <a:latin typeface="Consolas"/>
                <a:cs typeface="Consolas"/>
              </a:rPr>
              <a:t>l</a:t>
            </a:r>
            <a:r>
              <a:rPr lang="en-US" spc="15" dirty="0" err="1" smtClean="0">
                <a:solidFill>
                  <a:srgbClr val="0000FF"/>
                </a:solidFill>
                <a:latin typeface="Consolas"/>
                <a:cs typeface="Consolas"/>
              </a:rPr>
              <a:t>ick</a:t>
            </a:r>
            <a:r>
              <a:rPr lang="en-US" dirty="0">
                <a:solidFill>
                  <a:srgbClr val="0000FF"/>
                </a:solidFill>
                <a:latin typeface="Consolas"/>
                <a:cs typeface="Consolas"/>
              </a:rPr>
              <a:t>"</a:t>
            </a:r>
            <a:r>
              <a:rPr lang="en-US" dirty="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lang="en-US" spc="15" dirty="0">
                <a:solidFill>
                  <a:srgbClr val="0000FF"/>
                </a:solidFill>
                <a:latin typeface="Consolas"/>
                <a:cs typeface="Consolas"/>
              </a:rPr>
              <a:t>/&gt;</a:t>
            </a:r>
            <a:endParaRPr lang="en-US" dirty="0">
              <a:latin typeface="Consolas"/>
              <a:cs typeface="Consolas"/>
            </a:endParaRPr>
          </a:p>
          <a:p>
            <a:pPr marL="127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dirty="0">
              <a:latin typeface="Consolas"/>
              <a:cs typeface="Consolas"/>
            </a:endParaRPr>
          </a:p>
        </p:txBody>
      </p:sp>
      <p:sp>
        <p:nvSpPr>
          <p:cNvPr id="4" name="object 33"/>
          <p:cNvSpPr txBox="1">
            <a:spLocks noChangeArrowheads="1"/>
          </p:cNvSpPr>
          <p:nvPr/>
        </p:nvSpPr>
        <p:spPr bwMode="auto">
          <a:xfrm>
            <a:off x="480559" y="4303993"/>
            <a:ext cx="7801759" cy="1709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457200" indent="-158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2000"/>
              </a:lnSpc>
            </a:pPr>
            <a:r>
              <a:rPr lang="en-US" altLang="en-US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dirty="0" err="1" smtClean="0">
                <a:latin typeface="Consolas" panose="020B0609020204030204" pitchFamily="49" charset="0"/>
              </a:rPr>
              <a:t>ButtonClick</a:t>
            </a:r>
            <a:r>
              <a:rPr lang="en-US" altLang="en-US" dirty="0" smtClean="0">
                <a:latin typeface="Consolas" panose="020B0609020204030204" pitchFamily="49" charset="0"/>
              </a:rPr>
              <a:t>(</a:t>
            </a:r>
            <a:r>
              <a:rPr lang="en-US" altLang="en-US" dirty="0" smtClean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altLang="en-US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dirty="0">
                <a:latin typeface="Consolas" panose="020B0609020204030204" pitchFamily="49" charset="0"/>
              </a:rPr>
              <a:t>sender,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dirty="0" err="1">
                <a:solidFill>
                  <a:srgbClr val="2A90AE"/>
                </a:solidFill>
                <a:latin typeface="Consolas" panose="020B0609020204030204" pitchFamily="49" charset="0"/>
              </a:rPr>
              <a:t>RoutedEventArgs</a:t>
            </a:r>
            <a:r>
              <a:rPr lang="en-US" altLang="en-US" dirty="0">
                <a:solidFill>
                  <a:srgbClr val="2A90A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dirty="0">
                <a:latin typeface="Consolas" panose="020B0609020204030204" pitchFamily="49" charset="0"/>
              </a:rPr>
              <a:t>e){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2000"/>
              </a:lnSpc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2000"/>
              </a:lnSpc>
            </a:pPr>
            <a:r>
              <a:rPr lang="en-US" altLang="en-US" dirty="0" smtClean="0">
                <a:latin typeface="Consolas" panose="020B0609020204030204" pitchFamily="49" charset="0"/>
              </a:rPr>
              <a:t>//</a:t>
            </a:r>
            <a:r>
              <a:rPr lang="en-US" altLang="en-US" dirty="0" err="1" smtClean="0">
                <a:latin typeface="Consolas" panose="020B0609020204030204" pitchFamily="49" charset="0"/>
              </a:rPr>
              <a:t>Ajouter</a:t>
            </a:r>
            <a:r>
              <a:rPr lang="en-US" altLang="en-US" dirty="0" smtClean="0">
                <a:latin typeface="Consolas" panose="020B0609020204030204" pitchFamily="49" charset="0"/>
              </a:rPr>
              <a:t> le code à executer </a:t>
            </a:r>
            <a:r>
              <a:rPr lang="en-US" altLang="en-US" dirty="0" err="1" smtClean="0">
                <a:latin typeface="Consolas" panose="020B0609020204030204" pitchFamily="49" charset="0"/>
              </a:rPr>
              <a:t>ici</a:t>
            </a:r>
            <a:endParaRPr lang="en-US" altLang="en-US" dirty="0" smtClean="0">
              <a:latin typeface="Consolas" panose="020B0609020204030204" pitchFamily="49" charset="0"/>
            </a:endParaRPr>
          </a:p>
          <a:p>
            <a:pPr eaLnBrk="1" hangingPunct="1">
              <a:lnSpc>
                <a:spcPct val="102000"/>
              </a:lnSpc>
            </a:pPr>
            <a:endParaRPr lang="en-US" altLang="en-US" dirty="0">
              <a:latin typeface="Consolas" panose="020B0609020204030204" pitchFamily="49" charset="0"/>
            </a:endParaRPr>
          </a:p>
          <a:p>
            <a:pPr eaLnBrk="1" hangingPunct="1">
              <a:spcBef>
                <a:spcPts val="175"/>
              </a:spcBef>
            </a:pPr>
            <a:r>
              <a:rPr lang="en-US" altLang="en-US" dirty="0">
                <a:latin typeface="Consolas" panose="020B0609020204030204" pitchFamily="49" charset="0"/>
              </a:rPr>
              <a:t>}</a:t>
            </a:r>
          </a:p>
          <a:p>
            <a:pPr eaLnBrk="1" hangingPunct="1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28"/>
          <p:cNvSpPr txBox="1"/>
          <p:nvPr/>
        </p:nvSpPr>
        <p:spPr>
          <a:xfrm>
            <a:off x="659081" y="1134750"/>
            <a:ext cx="10663793" cy="3046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56540" indent="-243840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6498"/>
              </a:buClr>
              <a:buSzPct val="60000"/>
              <a:buFont typeface="Wingdings"/>
              <a:buChar char=""/>
              <a:tabLst>
                <a:tab pos="257175" algn="l"/>
              </a:tabLst>
              <a:defRPr/>
            </a:pPr>
            <a:r>
              <a:rPr spc="-30" dirty="0" smtClean="0">
                <a:latin typeface="Segoe UI Symbol"/>
                <a:cs typeface="Segoe UI Symbol"/>
              </a:rPr>
              <a:t>X</a:t>
            </a:r>
            <a:r>
              <a:rPr dirty="0" smtClean="0">
                <a:latin typeface="Segoe UI Symbol"/>
                <a:cs typeface="Segoe UI Symbol"/>
              </a:rPr>
              <a:t>A</a:t>
            </a:r>
            <a:r>
              <a:rPr spc="-35" dirty="0" smtClean="0">
                <a:latin typeface="Segoe UI Symbol"/>
                <a:cs typeface="Segoe UI Symbol"/>
              </a:rPr>
              <a:t>M</a:t>
            </a:r>
            <a:r>
              <a:rPr spc="-10" dirty="0" smtClean="0">
                <a:latin typeface="Segoe UI Symbol"/>
                <a:cs typeface="Segoe UI Symbol"/>
              </a:rPr>
              <a:t>L</a:t>
            </a:r>
            <a:r>
              <a:rPr spc="60" dirty="0" smtClean="0">
                <a:latin typeface="Times New Roman"/>
                <a:cs typeface="Times New Roman"/>
              </a:rPr>
              <a:t> </a:t>
            </a:r>
            <a:r>
              <a:rPr lang="fr-FR" spc="-25" dirty="0" smtClean="0">
                <a:latin typeface="Segoe UI Symbol"/>
                <a:cs typeface="Segoe UI Symbol"/>
              </a:rPr>
              <a:t>p</a:t>
            </a:r>
            <a:r>
              <a:rPr lang="fr-FR" dirty="0" smtClean="0">
                <a:latin typeface="Segoe UI Symbol"/>
                <a:cs typeface="Segoe UI Symbol"/>
              </a:rPr>
              <a:t>e</a:t>
            </a:r>
            <a:r>
              <a:rPr lang="fr-FR" spc="35" dirty="0" smtClean="0">
                <a:latin typeface="Segoe UI Symbol"/>
                <a:cs typeface="Segoe UI Symbol"/>
              </a:rPr>
              <a:t>r</a:t>
            </a:r>
            <a:r>
              <a:rPr lang="fr-FR" spc="-35" dirty="0" smtClean="0">
                <a:latin typeface="Segoe UI Symbol"/>
                <a:cs typeface="Segoe UI Symbol"/>
              </a:rPr>
              <a:t>m</a:t>
            </a:r>
            <a:r>
              <a:rPr lang="fr-FR" dirty="0" smtClean="0">
                <a:latin typeface="Segoe UI Symbol"/>
                <a:cs typeface="Segoe UI Symbol"/>
              </a:rPr>
              <a:t>e</a:t>
            </a:r>
            <a:r>
              <a:rPr lang="fr-FR" spc="-5" dirty="0" smtClean="0">
                <a:latin typeface="Segoe UI Symbol"/>
                <a:cs typeface="Segoe UI Symbol"/>
              </a:rPr>
              <a:t>t d’associer un évènement à un gestionnaire d’événement qui est une méthode spéciale </a:t>
            </a:r>
          </a:p>
          <a:p>
            <a:pPr marL="12700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6498"/>
              </a:buClr>
              <a:buSzPct val="60000"/>
              <a:tabLst>
                <a:tab pos="257175" algn="l"/>
              </a:tabLst>
              <a:defRPr/>
            </a:pPr>
            <a:r>
              <a:rPr lang="fr-FR" spc="-5" dirty="0">
                <a:latin typeface="Segoe UI Symbol"/>
                <a:cs typeface="Segoe UI Symbol"/>
              </a:rPr>
              <a:t> </a:t>
            </a:r>
            <a:r>
              <a:rPr lang="fr-FR" spc="-5" dirty="0" smtClean="0">
                <a:latin typeface="Segoe UI Symbol"/>
                <a:cs typeface="Segoe UI Symbol"/>
              </a:rPr>
              <a:t>   dont les arguments sont </a:t>
            </a:r>
          </a:p>
          <a:p>
            <a:pPr marL="12700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6498"/>
              </a:buClr>
              <a:buSzPct val="60000"/>
              <a:tabLst>
                <a:tab pos="257175" algn="l"/>
              </a:tabLst>
              <a:defRPr/>
            </a:pPr>
            <a:endParaRPr lang="fr-FR" spc="-5" dirty="0" smtClean="0">
              <a:latin typeface="Segoe UI Symbol"/>
              <a:cs typeface="Segoe UI Symbol"/>
            </a:endParaRPr>
          </a:p>
          <a:p>
            <a:pPr marL="12700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6498"/>
              </a:buClr>
              <a:buSzPct val="60000"/>
              <a:tabLst>
                <a:tab pos="257175" algn="l"/>
              </a:tabLst>
              <a:defRPr/>
            </a:pPr>
            <a:endParaRPr lang="fr-FR" spc="-5" dirty="0" smtClean="0">
              <a:latin typeface="Segoe UI Symbol"/>
              <a:cs typeface="Segoe UI Symbol"/>
            </a:endParaRPr>
          </a:p>
          <a:p>
            <a:pPr marL="12700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6498"/>
              </a:buClr>
              <a:buSzPct val="60000"/>
              <a:tabLst>
                <a:tab pos="257175" algn="l"/>
              </a:tabLst>
              <a:defRPr/>
            </a:pPr>
            <a:endParaRPr lang="fr-FR" spc="-5" dirty="0">
              <a:latin typeface="Segoe UI Symbol"/>
              <a:cs typeface="Segoe UI Symbol"/>
            </a:endParaRPr>
          </a:p>
          <a:p>
            <a:pPr marL="12700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6498"/>
              </a:buClr>
              <a:buSzPct val="60000"/>
              <a:tabLst>
                <a:tab pos="257175" algn="l"/>
              </a:tabLst>
              <a:defRPr/>
            </a:pPr>
            <a:endParaRPr lang="fr-FR" spc="-5" dirty="0" smtClean="0">
              <a:latin typeface="Segoe UI Symbol"/>
              <a:cs typeface="Segoe UI Symbol"/>
            </a:endParaRPr>
          </a:p>
          <a:p>
            <a:pPr marL="12700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6498"/>
              </a:buClr>
              <a:buSzPct val="60000"/>
              <a:tabLst>
                <a:tab pos="257175" algn="l"/>
              </a:tabLst>
              <a:defRPr/>
            </a:pPr>
            <a:endParaRPr lang="fr-FR" spc="-5" dirty="0" smtClean="0">
              <a:latin typeface="Segoe UI Symbol"/>
              <a:cs typeface="Segoe UI Symbol"/>
            </a:endParaRPr>
          </a:p>
          <a:p>
            <a:pPr marL="12700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6498"/>
              </a:buClr>
              <a:buSzPct val="60000"/>
              <a:tabLst>
                <a:tab pos="257175" algn="l"/>
              </a:tabLst>
              <a:defRPr/>
            </a:pPr>
            <a:r>
              <a:rPr lang="fr-FR" spc="-5" dirty="0">
                <a:latin typeface="Segoe UI Symbol"/>
                <a:cs typeface="Segoe UI Symbol"/>
              </a:rPr>
              <a:t>	</a:t>
            </a:r>
            <a:r>
              <a:rPr lang="fr-FR" spc="-5" dirty="0" smtClean="0">
                <a:latin typeface="Segoe UI Symbol"/>
                <a:cs typeface="Segoe UI Symbol"/>
              </a:rPr>
              <a:t>	</a:t>
            </a:r>
            <a:r>
              <a:rPr lang="fr-FR" b="1" spc="-5" dirty="0" smtClean="0">
                <a:latin typeface="Segoe UI Symbol"/>
                <a:cs typeface="Segoe UI Symbol"/>
              </a:rPr>
              <a:t>Sender:</a:t>
            </a:r>
            <a:r>
              <a:rPr lang="fr-FR" spc="-5" dirty="0" smtClean="0">
                <a:latin typeface="Segoe UI Symbol"/>
                <a:cs typeface="Segoe UI Symbol"/>
              </a:rPr>
              <a:t> De type objet qui représente la source de l’événement</a:t>
            </a:r>
          </a:p>
          <a:p>
            <a:pPr marL="12700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6498"/>
              </a:buClr>
              <a:buSzPct val="60000"/>
              <a:tabLst>
                <a:tab pos="257175" algn="l"/>
              </a:tabLst>
              <a:defRPr/>
            </a:pPr>
            <a:endParaRPr lang="fr-FR" spc="-5" dirty="0" smtClean="0">
              <a:latin typeface="Segoe UI Symbol"/>
              <a:cs typeface="Segoe UI Symbol"/>
            </a:endParaRPr>
          </a:p>
          <a:p>
            <a:pPr marL="12700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6498"/>
              </a:buClr>
              <a:buSzPct val="60000"/>
              <a:tabLst>
                <a:tab pos="257175" algn="l"/>
              </a:tabLst>
              <a:defRPr/>
            </a:pPr>
            <a:r>
              <a:rPr lang="fr-FR" spc="-5" dirty="0">
                <a:latin typeface="Segoe UI Symbol"/>
                <a:cs typeface="Segoe UI Symbol"/>
              </a:rPr>
              <a:t> </a:t>
            </a:r>
            <a:r>
              <a:rPr lang="fr-FR" spc="-5" dirty="0" smtClean="0">
                <a:latin typeface="Segoe UI Symbol"/>
                <a:cs typeface="Segoe UI Symbol"/>
              </a:rPr>
              <a:t>             </a:t>
            </a:r>
            <a:r>
              <a:rPr lang="fr-FR" b="1" spc="-5" dirty="0" smtClean="0">
                <a:latin typeface="Segoe UI Symbol"/>
                <a:cs typeface="Segoe UI Symbol"/>
              </a:rPr>
              <a:t>e:</a:t>
            </a:r>
            <a:r>
              <a:rPr lang="fr-FR" spc="-5" dirty="0" smtClean="0">
                <a:latin typeface="Segoe UI Symbol"/>
                <a:cs typeface="Segoe UI Symbol"/>
              </a:rPr>
              <a:t> De type argument d’évènements routé </a:t>
            </a:r>
          </a:p>
          <a:p>
            <a:pPr marL="12700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6498"/>
              </a:buClr>
              <a:buSzPct val="60000"/>
              <a:tabLst>
                <a:tab pos="257175" algn="l"/>
              </a:tabLst>
              <a:defRPr/>
            </a:pPr>
            <a:endParaRPr lang="fr-FR" spc="-5" dirty="0">
              <a:latin typeface="Segoe UI Symbol"/>
              <a:cs typeface="Segoe UI Symbol"/>
            </a:endParaRPr>
          </a:p>
        </p:txBody>
      </p:sp>
    </p:spTree>
    <p:extLst>
      <p:ext uri="{BB962C8B-B14F-4D97-AF65-F5344CB8AC3E}">
        <p14:creationId xmlns:p14="http://schemas.microsoft.com/office/powerpoint/2010/main" val="1344043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2"/>
          <p:cNvSpPr txBox="1"/>
          <p:nvPr/>
        </p:nvSpPr>
        <p:spPr>
          <a:xfrm>
            <a:off x="268288" y="685800"/>
            <a:ext cx="6005512" cy="866904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219710" eaLnBrk="1" fontAlgn="auto" hangingPunct="1">
              <a:spcBef>
                <a:spcPts val="0"/>
              </a:spcBef>
              <a:spcAft>
                <a:spcPts val="0"/>
              </a:spcAft>
              <a:tabLst>
                <a:tab pos="5993130" algn="l"/>
              </a:tabLst>
              <a:defRPr/>
            </a:pPr>
            <a:r>
              <a:rPr sz="2250" u="heavy" spc="-40" dirty="0">
                <a:latin typeface="Segoe UI Symbol"/>
                <a:cs typeface="Segoe UI Symbol"/>
              </a:rPr>
              <a:t>E</a:t>
            </a:r>
            <a:r>
              <a:rPr sz="2250" u="heavy" spc="-75" dirty="0">
                <a:latin typeface="Segoe UI Symbol"/>
                <a:cs typeface="Segoe UI Symbol"/>
              </a:rPr>
              <a:t>v</a:t>
            </a:r>
            <a:r>
              <a:rPr sz="2250" u="heavy" spc="-80" dirty="0">
                <a:latin typeface="Segoe UI Symbol"/>
                <a:cs typeface="Segoe UI Symbol"/>
              </a:rPr>
              <a:t>é</a:t>
            </a:r>
            <a:r>
              <a:rPr sz="2250" u="heavy" spc="-30" dirty="0">
                <a:latin typeface="Segoe UI Symbol"/>
                <a:cs typeface="Segoe UI Symbol"/>
              </a:rPr>
              <a:t>ne</a:t>
            </a:r>
            <a:r>
              <a:rPr sz="2250" u="heavy" spc="-120" dirty="0">
                <a:latin typeface="Segoe UI Symbol"/>
                <a:cs typeface="Segoe UI Symbol"/>
              </a:rPr>
              <a:t>m</a:t>
            </a:r>
            <a:r>
              <a:rPr sz="2250" u="heavy" spc="-80" dirty="0">
                <a:latin typeface="Segoe UI Symbol"/>
                <a:cs typeface="Segoe UI Symbol"/>
              </a:rPr>
              <a:t>e</a:t>
            </a:r>
            <a:r>
              <a:rPr sz="2250" u="heavy" spc="-30" dirty="0">
                <a:latin typeface="Segoe UI Symbol"/>
                <a:cs typeface="Segoe UI Symbol"/>
              </a:rPr>
              <a:t>n</a:t>
            </a:r>
            <a:r>
              <a:rPr sz="2250" u="heavy" spc="-95" dirty="0">
                <a:latin typeface="Segoe UI Symbol"/>
                <a:cs typeface="Segoe UI Symbol"/>
              </a:rPr>
              <a:t>t</a:t>
            </a:r>
            <a:r>
              <a:rPr sz="2250" u="heavy" spc="-50" dirty="0">
                <a:latin typeface="Segoe UI Symbol"/>
                <a:cs typeface="Segoe UI Symbol"/>
              </a:rPr>
              <a:t>s</a:t>
            </a:r>
            <a:r>
              <a:rPr sz="2250" u="heavy" dirty="0">
                <a:latin typeface="Segoe UI Symbol"/>
                <a:cs typeface="Segoe UI Symbol"/>
              </a:rPr>
              <a:t>,</a:t>
            </a:r>
            <a:r>
              <a:rPr sz="2250" u="heavy" spc="-145" dirty="0">
                <a:latin typeface="Segoe UI Symbol"/>
                <a:cs typeface="Segoe UI Symbol"/>
              </a:rPr>
              <a:t> </a:t>
            </a:r>
            <a:r>
              <a:rPr sz="2250" u="heavy" spc="-95" dirty="0">
                <a:latin typeface="Segoe UI Symbol"/>
                <a:cs typeface="Segoe UI Symbol"/>
              </a:rPr>
              <a:t>a</a:t>
            </a:r>
            <a:r>
              <a:rPr sz="2250" u="heavy" spc="-35" dirty="0">
                <a:latin typeface="Segoe UI Symbol"/>
                <a:cs typeface="Segoe UI Symbol"/>
              </a:rPr>
              <a:t>b</a:t>
            </a:r>
            <a:r>
              <a:rPr sz="2250" u="heavy" spc="-75" dirty="0">
                <a:latin typeface="Segoe UI Symbol"/>
                <a:cs typeface="Segoe UI Symbol"/>
              </a:rPr>
              <a:t>o</a:t>
            </a:r>
            <a:r>
              <a:rPr sz="2250" u="heavy" spc="-80" dirty="0">
                <a:latin typeface="Segoe UI Symbol"/>
                <a:cs typeface="Segoe UI Symbol"/>
              </a:rPr>
              <a:t>n</a:t>
            </a:r>
            <a:r>
              <a:rPr sz="2250" u="heavy" spc="-30" dirty="0">
                <a:latin typeface="Segoe UI Symbol"/>
                <a:cs typeface="Segoe UI Symbol"/>
              </a:rPr>
              <a:t>ne</a:t>
            </a:r>
            <a:r>
              <a:rPr sz="2250" u="heavy" spc="-120" dirty="0">
                <a:latin typeface="Segoe UI Symbol"/>
                <a:cs typeface="Segoe UI Symbol"/>
              </a:rPr>
              <a:t>m</a:t>
            </a:r>
            <a:r>
              <a:rPr sz="2250" u="heavy" spc="-30" dirty="0">
                <a:latin typeface="Segoe UI Symbol"/>
                <a:cs typeface="Segoe UI Symbol"/>
              </a:rPr>
              <a:t>e</a:t>
            </a:r>
            <a:r>
              <a:rPr sz="2250" u="heavy" spc="-80" dirty="0">
                <a:latin typeface="Segoe UI Symbol"/>
                <a:cs typeface="Segoe UI Symbol"/>
              </a:rPr>
              <a:t>n</a:t>
            </a:r>
            <a:r>
              <a:rPr sz="2250" u="heavy" dirty="0">
                <a:latin typeface="Segoe UI Symbol"/>
                <a:cs typeface="Segoe UI Symbol"/>
              </a:rPr>
              <a:t>t</a:t>
            </a:r>
            <a:r>
              <a:rPr sz="2250" u="heavy" spc="-135" dirty="0">
                <a:latin typeface="Segoe UI Symbol"/>
                <a:cs typeface="Segoe UI Symbol"/>
              </a:rPr>
              <a:t> </a:t>
            </a:r>
            <a:r>
              <a:rPr sz="2250" u="heavy" spc="-85" dirty="0">
                <a:latin typeface="Segoe UI Symbol"/>
                <a:cs typeface="Segoe UI Symbol"/>
              </a:rPr>
              <a:t>d</a:t>
            </a:r>
            <a:r>
              <a:rPr sz="2250" u="heavy" spc="-90" dirty="0">
                <a:latin typeface="Segoe UI Symbol"/>
                <a:cs typeface="Segoe UI Symbol"/>
              </a:rPr>
              <a:t>y</a:t>
            </a:r>
            <a:r>
              <a:rPr sz="2250" u="heavy" spc="-30" dirty="0">
                <a:latin typeface="Segoe UI Symbol"/>
                <a:cs typeface="Segoe UI Symbol"/>
              </a:rPr>
              <a:t>n</a:t>
            </a:r>
            <a:r>
              <a:rPr sz="2250" u="heavy" spc="-45" dirty="0">
                <a:latin typeface="Segoe UI Symbol"/>
                <a:cs typeface="Segoe UI Symbol"/>
              </a:rPr>
              <a:t>a</a:t>
            </a:r>
            <a:r>
              <a:rPr sz="2250" u="heavy" spc="-75" dirty="0">
                <a:latin typeface="Segoe UI Symbol"/>
                <a:cs typeface="Segoe UI Symbol"/>
              </a:rPr>
              <a:t>m</a:t>
            </a:r>
            <a:r>
              <a:rPr sz="2250" u="heavy" spc="-70" dirty="0">
                <a:latin typeface="Segoe UI Symbol"/>
                <a:cs typeface="Segoe UI Symbol"/>
              </a:rPr>
              <a:t>i</a:t>
            </a:r>
            <a:r>
              <a:rPr sz="2250" u="heavy" spc="-85" dirty="0">
                <a:latin typeface="Segoe UI Symbol"/>
                <a:cs typeface="Segoe UI Symbol"/>
              </a:rPr>
              <a:t>q</a:t>
            </a:r>
            <a:r>
              <a:rPr sz="2250" u="heavy" spc="-30" dirty="0">
                <a:latin typeface="Segoe UI Symbol"/>
                <a:cs typeface="Segoe UI Symbol"/>
              </a:rPr>
              <a:t>u</a:t>
            </a:r>
            <a:r>
              <a:rPr sz="2250" u="heavy" dirty="0">
                <a:latin typeface="Segoe UI Symbol"/>
                <a:cs typeface="Segoe UI Symbol"/>
              </a:rPr>
              <a:t>e </a:t>
            </a:r>
            <a:r>
              <a:rPr sz="2250" u="heavy" dirty="0">
                <a:latin typeface="Times New Roman"/>
                <a:cs typeface="Times New Roman"/>
              </a:rPr>
              <a:t>	</a:t>
            </a:r>
            <a:endParaRPr sz="2250" dirty="0">
              <a:latin typeface="Times New Roman"/>
              <a:cs typeface="Times New Roman"/>
            </a:endParaRPr>
          </a:p>
          <a:p>
            <a:pPr marL="256540" indent="-243840" eaLnBrk="1" fontAlgn="auto" hangingPunct="1">
              <a:spcBef>
                <a:spcPts val="1900"/>
              </a:spcBef>
              <a:spcAft>
                <a:spcPts val="0"/>
              </a:spcAft>
              <a:buClr>
                <a:srgbClr val="006498"/>
              </a:buClr>
              <a:buSzPct val="60000"/>
              <a:buFont typeface="Wingdings"/>
              <a:buChar char=""/>
              <a:tabLst>
                <a:tab pos="257175" algn="l"/>
              </a:tabLst>
              <a:defRPr/>
            </a:pPr>
            <a:r>
              <a:rPr spc="-25" dirty="0">
                <a:latin typeface="Segoe UI Symbol"/>
                <a:cs typeface="Segoe UI Symbol"/>
              </a:rPr>
              <a:t>L</a:t>
            </a:r>
            <a:r>
              <a:rPr spc="-5" dirty="0">
                <a:latin typeface="Segoe UI Symbol"/>
                <a:cs typeface="Segoe UI Symbol"/>
              </a:rPr>
              <a:t>’</a:t>
            </a:r>
            <a:r>
              <a:rPr spc="-25" dirty="0">
                <a:latin typeface="Segoe UI Symbol"/>
                <a:cs typeface="Segoe UI Symbol"/>
              </a:rPr>
              <a:t>app</a:t>
            </a:r>
            <a:r>
              <a:rPr spc="25" dirty="0">
                <a:latin typeface="Segoe UI Symbol"/>
                <a:cs typeface="Segoe UI Symbol"/>
              </a:rPr>
              <a:t>l</a:t>
            </a:r>
            <a:r>
              <a:rPr spc="-20" dirty="0">
                <a:latin typeface="Segoe UI Symbol"/>
                <a:cs typeface="Segoe UI Symbol"/>
              </a:rPr>
              <a:t>i</a:t>
            </a:r>
            <a:r>
              <a:rPr spc="-10" dirty="0">
                <a:latin typeface="Segoe UI Symbol"/>
                <a:cs typeface="Segoe UI Symbol"/>
              </a:rPr>
              <a:t>c</a:t>
            </a:r>
            <a:r>
              <a:rPr spc="-25" dirty="0">
                <a:latin typeface="Segoe UI Symbol"/>
                <a:cs typeface="Segoe UI Symbol"/>
              </a:rPr>
              <a:t>a</a:t>
            </a:r>
            <a:r>
              <a:rPr dirty="0">
                <a:latin typeface="Segoe UI Symbol"/>
                <a:cs typeface="Segoe UI Symbol"/>
              </a:rPr>
              <a:t>t</a:t>
            </a:r>
            <a:r>
              <a:rPr spc="-20" dirty="0">
                <a:latin typeface="Segoe UI Symbol"/>
                <a:cs typeface="Segoe UI Symbol"/>
              </a:rPr>
              <a:t>i</a:t>
            </a:r>
            <a:r>
              <a:rPr spc="-25" dirty="0">
                <a:latin typeface="Segoe UI Symbol"/>
                <a:cs typeface="Segoe UI Symbol"/>
              </a:rPr>
              <a:t>o</a:t>
            </a:r>
            <a:r>
              <a:rPr spc="-10" dirty="0">
                <a:latin typeface="Segoe UI Symbol"/>
                <a:cs typeface="Segoe UI Symbol"/>
              </a:rPr>
              <a:t>n</a:t>
            </a:r>
            <a:r>
              <a:rPr spc="135" dirty="0">
                <a:latin typeface="Times New Roman"/>
                <a:cs typeface="Times New Roman"/>
              </a:rPr>
              <a:t> </a:t>
            </a:r>
            <a:r>
              <a:rPr spc="-25" dirty="0">
                <a:latin typeface="Segoe UI Symbol"/>
                <a:cs typeface="Segoe UI Symbol"/>
              </a:rPr>
              <a:t>p</a:t>
            </a:r>
            <a:r>
              <a:rPr dirty="0">
                <a:latin typeface="Segoe UI Symbol"/>
                <a:cs typeface="Segoe UI Symbol"/>
              </a:rPr>
              <a:t>eu</a:t>
            </a:r>
            <a:r>
              <a:rPr spc="-5" dirty="0">
                <a:latin typeface="Segoe UI Symbol"/>
                <a:cs typeface="Segoe UI Symbol"/>
              </a:rPr>
              <a:t>t</a:t>
            </a:r>
            <a:r>
              <a:rPr spc="130" dirty="0">
                <a:latin typeface="Times New Roman"/>
                <a:cs typeface="Times New Roman"/>
              </a:rPr>
              <a:t> </a:t>
            </a:r>
            <a:r>
              <a:rPr spc="-15" dirty="0">
                <a:latin typeface="Segoe UI Symbol"/>
                <a:cs typeface="Segoe UI Symbol"/>
              </a:rPr>
              <a:t>s</a:t>
            </a:r>
            <a:r>
              <a:rPr dirty="0">
                <a:latin typeface="Segoe UI Symbol"/>
                <a:cs typeface="Segoe UI Symbol"/>
              </a:rPr>
              <a:t>’</a:t>
            </a:r>
            <a:r>
              <a:rPr spc="-25" dirty="0">
                <a:latin typeface="Segoe UI Symbol"/>
                <a:cs typeface="Segoe UI Symbol"/>
              </a:rPr>
              <a:t>abo</a:t>
            </a:r>
            <a:r>
              <a:rPr dirty="0">
                <a:latin typeface="Segoe UI Symbol"/>
                <a:cs typeface="Segoe UI Symbol"/>
              </a:rPr>
              <a:t>nne</a:t>
            </a:r>
            <a:r>
              <a:rPr spc="-5" dirty="0">
                <a:latin typeface="Segoe UI Symbol"/>
                <a:cs typeface="Segoe UI Symbol"/>
              </a:rPr>
              <a:t>r</a:t>
            </a:r>
            <a:r>
              <a:rPr spc="75" dirty="0">
                <a:latin typeface="Times New Roman"/>
                <a:cs typeface="Times New Roman"/>
              </a:rPr>
              <a:t> </a:t>
            </a:r>
            <a:r>
              <a:rPr spc="-25" dirty="0">
                <a:latin typeface="Segoe UI Symbol"/>
                <a:cs typeface="Segoe UI Symbol"/>
              </a:rPr>
              <a:t>d</a:t>
            </a:r>
            <a:r>
              <a:rPr dirty="0">
                <a:latin typeface="Segoe UI Symbol"/>
                <a:cs typeface="Segoe UI Symbol"/>
              </a:rPr>
              <a:t>yn</a:t>
            </a:r>
            <a:r>
              <a:rPr spc="-25" dirty="0">
                <a:latin typeface="Segoe UI Symbol"/>
                <a:cs typeface="Segoe UI Symbol"/>
              </a:rPr>
              <a:t>a</a:t>
            </a:r>
            <a:r>
              <a:rPr spc="10" dirty="0">
                <a:latin typeface="Segoe UI Symbol"/>
                <a:cs typeface="Segoe UI Symbol"/>
              </a:rPr>
              <a:t>m</a:t>
            </a:r>
            <a:r>
              <a:rPr spc="-20" dirty="0">
                <a:latin typeface="Segoe UI Symbol"/>
                <a:cs typeface="Segoe UI Symbol"/>
              </a:rPr>
              <a:t>i</a:t>
            </a:r>
            <a:r>
              <a:rPr spc="-25" dirty="0">
                <a:latin typeface="Segoe UI Symbol"/>
                <a:cs typeface="Segoe UI Symbol"/>
              </a:rPr>
              <a:t>q</a:t>
            </a:r>
            <a:r>
              <a:rPr dirty="0">
                <a:latin typeface="Segoe UI Symbol"/>
                <a:cs typeface="Segoe UI Symbol"/>
              </a:rPr>
              <a:t>ue</a:t>
            </a:r>
            <a:r>
              <a:rPr spc="-35" dirty="0">
                <a:latin typeface="Segoe UI Symbol"/>
                <a:cs typeface="Segoe UI Symbol"/>
              </a:rPr>
              <a:t>m</a:t>
            </a:r>
            <a:r>
              <a:rPr dirty="0">
                <a:latin typeface="Segoe UI Symbol"/>
                <a:cs typeface="Segoe UI Symbol"/>
              </a:rPr>
              <a:t>en</a:t>
            </a:r>
            <a:r>
              <a:rPr spc="-5" dirty="0">
                <a:latin typeface="Segoe UI Symbol"/>
                <a:cs typeface="Segoe UI Symbol"/>
              </a:rPr>
              <a:t>t</a:t>
            </a:r>
            <a:r>
              <a:rPr spc="95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Segoe UI Symbol"/>
                <a:cs typeface="Segoe UI Symbol"/>
              </a:rPr>
              <a:t>:</a:t>
            </a:r>
            <a:endParaRPr dirty="0">
              <a:latin typeface="Segoe UI Symbol"/>
              <a:cs typeface="Segoe UI Symbol"/>
            </a:endParaRPr>
          </a:p>
        </p:txBody>
      </p:sp>
      <p:sp>
        <p:nvSpPr>
          <p:cNvPr id="3" name="object 10"/>
          <p:cNvSpPr txBox="1"/>
          <p:nvPr/>
        </p:nvSpPr>
        <p:spPr>
          <a:xfrm>
            <a:off x="529854" y="1692275"/>
            <a:ext cx="4238089" cy="12875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600" spc="15" dirty="0">
                <a:solidFill>
                  <a:srgbClr val="006400"/>
                </a:solidFill>
                <a:latin typeface="Consolas"/>
                <a:cs typeface="Consolas"/>
              </a:rPr>
              <a:t>/</a:t>
            </a:r>
            <a:r>
              <a:rPr sz="1600" dirty="0">
                <a:solidFill>
                  <a:srgbClr val="006400"/>
                </a:solidFill>
                <a:latin typeface="Consolas"/>
                <a:cs typeface="Consolas"/>
              </a:rPr>
              <a:t>/</a:t>
            </a:r>
            <a:r>
              <a:rPr sz="1600" dirty="0">
                <a:solidFill>
                  <a:srgbClr val="006400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006400"/>
                </a:solidFill>
                <a:latin typeface="Times New Roman"/>
                <a:cs typeface="Times New Roman"/>
              </a:rPr>
              <a:t> </a:t>
            </a:r>
            <a:r>
              <a:rPr sz="1600" spc="15" dirty="0">
                <a:solidFill>
                  <a:srgbClr val="006400"/>
                </a:solidFill>
                <a:latin typeface="Consolas"/>
                <a:cs typeface="Consolas"/>
              </a:rPr>
              <a:t>Abo</a:t>
            </a:r>
            <a:r>
              <a:rPr sz="1600" spc="60" dirty="0">
                <a:solidFill>
                  <a:srgbClr val="006400"/>
                </a:solidFill>
                <a:latin typeface="Consolas"/>
                <a:cs typeface="Consolas"/>
              </a:rPr>
              <a:t>n</a:t>
            </a:r>
            <a:r>
              <a:rPr sz="1600" spc="15" dirty="0">
                <a:solidFill>
                  <a:srgbClr val="006400"/>
                </a:solidFill>
                <a:latin typeface="Consolas"/>
                <a:cs typeface="Consolas"/>
              </a:rPr>
              <a:t>nem</a:t>
            </a:r>
            <a:r>
              <a:rPr sz="1600" spc="60" dirty="0">
                <a:solidFill>
                  <a:srgbClr val="006400"/>
                </a:solidFill>
                <a:latin typeface="Consolas"/>
                <a:cs typeface="Consolas"/>
              </a:rPr>
              <a:t>e</a:t>
            </a:r>
            <a:r>
              <a:rPr sz="1600" spc="15" dirty="0">
                <a:solidFill>
                  <a:srgbClr val="006400"/>
                </a:solidFill>
                <a:latin typeface="Consolas"/>
                <a:cs typeface="Consolas"/>
              </a:rPr>
              <a:t>n</a:t>
            </a:r>
            <a:r>
              <a:rPr sz="1600" dirty="0">
                <a:solidFill>
                  <a:srgbClr val="006400"/>
                </a:solidFill>
                <a:latin typeface="Consolas"/>
                <a:cs typeface="Consolas"/>
              </a:rPr>
              <a:t>t</a:t>
            </a:r>
            <a:r>
              <a:rPr sz="1600" dirty="0">
                <a:solidFill>
                  <a:srgbClr val="006400"/>
                </a:solidFill>
                <a:latin typeface="Times New Roman"/>
                <a:cs typeface="Times New Roman"/>
              </a:rPr>
              <a:t> </a:t>
            </a:r>
            <a:r>
              <a:rPr sz="1600" spc="10" dirty="0">
                <a:solidFill>
                  <a:srgbClr val="0064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6400"/>
                </a:solidFill>
                <a:latin typeface="Consolas"/>
                <a:cs typeface="Consolas"/>
              </a:rPr>
              <a:t>:</a:t>
            </a:r>
            <a:endParaRPr sz="1600" dirty="0">
              <a:latin typeface="Consolas"/>
              <a:cs typeface="Consolas"/>
            </a:endParaRPr>
          </a:p>
          <a:p>
            <a:pPr marL="12700" eaLnBrk="1" fontAlgn="auto" hangingPunct="1">
              <a:spcBef>
                <a:spcPts val="25"/>
              </a:spcBef>
              <a:spcAft>
                <a:spcPts val="0"/>
              </a:spcAft>
              <a:defRPr/>
            </a:pPr>
            <a:r>
              <a:rPr sz="1600" spc="15" dirty="0" err="1" smtClean="0">
                <a:latin typeface="Consolas"/>
                <a:cs typeface="Consolas"/>
              </a:rPr>
              <a:t>bu</a:t>
            </a:r>
            <a:r>
              <a:rPr sz="1600" spc="-35" dirty="0" err="1" smtClean="0">
                <a:latin typeface="Consolas"/>
                <a:cs typeface="Consolas"/>
              </a:rPr>
              <a:t>t</a:t>
            </a:r>
            <a:r>
              <a:rPr sz="1600" spc="15" dirty="0" err="1" smtClean="0">
                <a:latin typeface="Consolas"/>
                <a:cs typeface="Consolas"/>
              </a:rPr>
              <a:t>to</a:t>
            </a:r>
            <a:r>
              <a:rPr sz="1600" spc="-35" dirty="0" err="1" smtClean="0">
                <a:latin typeface="Consolas"/>
                <a:cs typeface="Consolas"/>
              </a:rPr>
              <a:t>n</a:t>
            </a:r>
            <a:r>
              <a:rPr sz="1600" spc="15" dirty="0" err="1" smtClean="0">
                <a:latin typeface="Consolas"/>
                <a:cs typeface="Consolas"/>
              </a:rPr>
              <a:t>F</a:t>
            </a:r>
            <a:r>
              <a:rPr sz="1600" spc="-35" dirty="0" err="1" smtClean="0">
                <a:latin typeface="Consolas"/>
                <a:cs typeface="Consolas"/>
              </a:rPr>
              <a:t>i</a:t>
            </a:r>
            <a:r>
              <a:rPr sz="1600" spc="15" dirty="0" err="1" smtClean="0">
                <a:latin typeface="Consolas"/>
                <a:cs typeface="Consolas"/>
              </a:rPr>
              <a:t>ll</a:t>
            </a:r>
            <a:r>
              <a:rPr sz="1600" spc="-35" dirty="0" err="1" smtClean="0">
                <a:latin typeface="Consolas"/>
                <a:cs typeface="Consolas"/>
              </a:rPr>
              <a:t>.</a:t>
            </a:r>
            <a:r>
              <a:rPr sz="1600" spc="15" dirty="0" err="1" smtClean="0">
                <a:latin typeface="Consolas"/>
                <a:cs typeface="Consolas"/>
              </a:rPr>
              <a:t>C</a:t>
            </a:r>
            <a:r>
              <a:rPr sz="1600" spc="-35" dirty="0" err="1" smtClean="0">
                <a:latin typeface="Consolas"/>
                <a:cs typeface="Consolas"/>
              </a:rPr>
              <a:t>l</a:t>
            </a:r>
            <a:r>
              <a:rPr sz="1600" spc="15" dirty="0" err="1" smtClean="0">
                <a:latin typeface="Consolas"/>
                <a:cs typeface="Consolas"/>
              </a:rPr>
              <a:t>ic</a:t>
            </a:r>
            <a:r>
              <a:rPr sz="1600" dirty="0" err="1" smtClean="0">
                <a:latin typeface="Consolas"/>
                <a:cs typeface="Consolas"/>
              </a:rPr>
              <a:t>k</a:t>
            </a:r>
            <a:r>
              <a:rPr lang="fr-FR" sz="1600" dirty="0" err="1" smtClean="0">
                <a:latin typeface="Consolas"/>
                <a:cs typeface="Consolas"/>
              </a:rPr>
              <a:t>ed</a:t>
            </a:r>
            <a:r>
              <a:rPr sz="1600" dirty="0" smtClean="0">
                <a:latin typeface="Times New Roman"/>
                <a:cs typeface="Times New Roman"/>
              </a:rPr>
              <a:t>  </a:t>
            </a:r>
            <a:r>
              <a:rPr sz="1600" spc="-70" dirty="0" smtClean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Consolas"/>
                <a:cs typeface="Consolas"/>
              </a:rPr>
              <a:t>+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dirty="0">
                <a:latin typeface="Times New Roman"/>
                <a:cs typeface="Times New Roman"/>
              </a:rPr>
              <a:t>  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15" dirty="0" err="1" smtClean="0">
                <a:latin typeface="Consolas"/>
                <a:cs typeface="Consolas"/>
              </a:rPr>
              <a:t>B</a:t>
            </a:r>
            <a:r>
              <a:rPr sz="1600" spc="-35" dirty="0" err="1" smtClean="0">
                <a:latin typeface="Consolas"/>
                <a:cs typeface="Consolas"/>
              </a:rPr>
              <a:t>u</a:t>
            </a:r>
            <a:r>
              <a:rPr sz="1600" spc="15" dirty="0" err="1" smtClean="0">
                <a:latin typeface="Consolas"/>
                <a:cs typeface="Consolas"/>
              </a:rPr>
              <a:t>tt</a:t>
            </a:r>
            <a:r>
              <a:rPr sz="1600" spc="-35" dirty="0" err="1" smtClean="0">
                <a:latin typeface="Consolas"/>
                <a:cs typeface="Consolas"/>
              </a:rPr>
              <a:t>o</a:t>
            </a:r>
            <a:r>
              <a:rPr sz="1600" spc="15" dirty="0" err="1" smtClean="0">
                <a:latin typeface="Consolas"/>
                <a:cs typeface="Consolas"/>
              </a:rPr>
              <a:t>nC</a:t>
            </a:r>
            <a:r>
              <a:rPr sz="1600" spc="-35" dirty="0" err="1" smtClean="0">
                <a:latin typeface="Consolas"/>
                <a:cs typeface="Consolas"/>
              </a:rPr>
              <a:t>l</a:t>
            </a:r>
            <a:r>
              <a:rPr sz="1600" spc="15" dirty="0" err="1" smtClean="0">
                <a:latin typeface="Consolas"/>
                <a:cs typeface="Consolas"/>
              </a:rPr>
              <a:t>ic</a:t>
            </a:r>
            <a:r>
              <a:rPr sz="1600" spc="-35" dirty="0" err="1" smtClean="0">
                <a:latin typeface="Consolas"/>
                <a:cs typeface="Consolas"/>
              </a:rPr>
              <a:t>k</a:t>
            </a:r>
            <a:r>
              <a:rPr sz="1600" dirty="0">
                <a:latin typeface="Consolas"/>
                <a:cs typeface="Consolas"/>
              </a:rPr>
              <a:t>;</a:t>
            </a:r>
          </a:p>
          <a:p>
            <a:pPr marL="12700" eaLnBrk="1" fontAlgn="auto" hangingPunct="1">
              <a:spcBef>
                <a:spcPts val="75"/>
              </a:spcBef>
              <a:spcAft>
                <a:spcPts val="0"/>
              </a:spcAft>
              <a:defRPr/>
            </a:pPr>
            <a:r>
              <a:rPr sz="1600" spc="15" dirty="0">
                <a:latin typeface="Consolas"/>
                <a:cs typeface="Consolas"/>
              </a:rPr>
              <a:t>...</a:t>
            </a:r>
            <a:endParaRPr sz="1600" dirty="0">
              <a:latin typeface="Consolas"/>
              <a:cs typeface="Consolas"/>
            </a:endParaRPr>
          </a:p>
          <a:p>
            <a:pPr marL="12700" eaLnBrk="1" fontAlgn="auto" hangingPunct="1">
              <a:spcBef>
                <a:spcPts val="25"/>
              </a:spcBef>
              <a:spcAft>
                <a:spcPts val="0"/>
              </a:spcAft>
              <a:defRPr/>
            </a:pPr>
            <a:r>
              <a:rPr sz="1600" spc="15" dirty="0">
                <a:solidFill>
                  <a:srgbClr val="006400"/>
                </a:solidFill>
                <a:latin typeface="Consolas"/>
                <a:cs typeface="Consolas"/>
              </a:rPr>
              <a:t>/</a:t>
            </a:r>
            <a:r>
              <a:rPr sz="1600" dirty="0">
                <a:solidFill>
                  <a:srgbClr val="006400"/>
                </a:solidFill>
                <a:latin typeface="Consolas"/>
                <a:cs typeface="Consolas"/>
              </a:rPr>
              <a:t>/</a:t>
            </a:r>
            <a:r>
              <a:rPr sz="1600" dirty="0">
                <a:solidFill>
                  <a:srgbClr val="006400"/>
                </a:solidFill>
                <a:latin typeface="Times New Roman"/>
                <a:cs typeface="Times New Roman"/>
              </a:rPr>
              <a:t> </a:t>
            </a:r>
            <a:r>
              <a:rPr sz="1600" spc="-55" dirty="0">
                <a:solidFill>
                  <a:srgbClr val="006400"/>
                </a:solidFill>
                <a:latin typeface="Times New Roman"/>
                <a:cs typeface="Times New Roman"/>
              </a:rPr>
              <a:t> </a:t>
            </a:r>
            <a:r>
              <a:rPr sz="1600" spc="60" dirty="0">
                <a:solidFill>
                  <a:srgbClr val="006400"/>
                </a:solidFill>
                <a:latin typeface="Consolas"/>
                <a:cs typeface="Consolas"/>
              </a:rPr>
              <a:t>D</a:t>
            </a:r>
            <a:r>
              <a:rPr sz="1600" spc="15" dirty="0">
                <a:solidFill>
                  <a:srgbClr val="006400"/>
                </a:solidFill>
                <a:latin typeface="Consolas"/>
                <a:cs typeface="Consolas"/>
              </a:rPr>
              <a:t>ésa</a:t>
            </a:r>
            <a:r>
              <a:rPr sz="1600" spc="60" dirty="0">
                <a:solidFill>
                  <a:srgbClr val="006400"/>
                </a:solidFill>
                <a:latin typeface="Consolas"/>
                <a:cs typeface="Consolas"/>
              </a:rPr>
              <a:t>b</a:t>
            </a:r>
            <a:r>
              <a:rPr sz="1600" spc="15" dirty="0">
                <a:solidFill>
                  <a:srgbClr val="006400"/>
                </a:solidFill>
                <a:latin typeface="Consolas"/>
                <a:cs typeface="Consolas"/>
              </a:rPr>
              <a:t>onne</a:t>
            </a:r>
            <a:r>
              <a:rPr sz="1600" spc="60" dirty="0">
                <a:solidFill>
                  <a:srgbClr val="006400"/>
                </a:solidFill>
                <a:latin typeface="Consolas"/>
                <a:cs typeface="Consolas"/>
              </a:rPr>
              <a:t>m</a:t>
            </a:r>
            <a:r>
              <a:rPr sz="1600" spc="15" dirty="0">
                <a:solidFill>
                  <a:srgbClr val="006400"/>
                </a:solidFill>
                <a:latin typeface="Consolas"/>
                <a:cs typeface="Consolas"/>
              </a:rPr>
              <a:t>en</a:t>
            </a:r>
            <a:r>
              <a:rPr sz="1600" dirty="0">
                <a:solidFill>
                  <a:srgbClr val="006400"/>
                </a:solidFill>
                <a:latin typeface="Consolas"/>
                <a:cs typeface="Consolas"/>
              </a:rPr>
              <a:t>t</a:t>
            </a:r>
            <a:r>
              <a:rPr sz="1600" dirty="0">
                <a:solidFill>
                  <a:srgbClr val="006400"/>
                </a:solidFill>
                <a:latin typeface="Times New Roman"/>
                <a:cs typeface="Times New Roman"/>
              </a:rPr>
              <a:t> </a:t>
            </a:r>
            <a:r>
              <a:rPr sz="1600" spc="15" dirty="0">
                <a:solidFill>
                  <a:srgbClr val="0064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6400"/>
                </a:solidFill>
                <a:latin typeface="Consolas"/>
                <a:cs typeface="Consolas"/>
              </a:rPr>
              <a:t>:</a:t>
            </a:r>
            <a:endParaRPr sz="1600" dirty="0">
              <a:latin typeface="Consolas"/>
              <a:cs typeface="Consolas"/>
            </a:endParaRPr>
          </a:p>
          <a:p>
            <a:pPr marL="12700" eaLnBrk="1" fontAlgn="auto" hangingPunct="1">
              <a:spcBef>
                <a:spcPts val="120"/>
              </a:spcBef>
              <a:spcAft>
                <a:spcPts val="0"/>
              </a:spcAft>
              <a:defRPr/>
            </a:pPr>
            <a:r>
              <a:rPr sz="1600" spc="15" dirty="0" err="1" smtClean="0">
                <a:latin typeface="Consolas"/>
                <a:cs typeface="Consolas"/>
              </a:rPr>
              <a:t>bu</a:t>
            </a:r>
            <a:r>
              <a:rPr sz="1600" spc="-35" dirty="0" err="1" smtClean="0">
                <a:latin typeface="Consolas"/>
                <a:cs typeface="Consolas"/>
              </a:rPr>
              <a:t>t</a:t>
            </a:r>
            <a:r>
              <a:rPr sz="1600" spc="15" dirty="0" err="1" smtClean="0">
                <a:latin typeface="Consolas"/>
                <a:cs typeface="Consolas"/>
              </a:rPr>
              <a:t>to</a:t>
            </a:r>
            <a:r>
              <a:rPr sz="1600" spc="-35" dirty="0" err="1" smtClean="0">
                <a:latin typeface="Consolas"/>
                <a:cs typeface="Consolas"/>
              </a:rPr>
              <a:t>n</a:t>
            </a:r>
            <a:r>
              <a:rPr sz="1600" spc="15" dirty="0" err="1" smtClean="0">
                <a:latin typeface="Consolas"/>
                <a:cs typeface="Consolas"/>
              </a:rPr>
              <a:t>F</a:t>
            </a:r>
            <a:r>
              <a:rPr sz="1600" spc="-35" dirty="0" err="1" smtClean="0">
                <a:latin typeface="Consolas"/>
                <a:cs typeface="Consolas"/>
              </a:rPr>
              <a:t>i</a:t>
            </a:r>
            <a:r>
              <a:rPr sz="1600" spc="15" dirty="0" err="1" smtClean="0">
                <a:latin typeface="Consolas"/>
                <a:cs typeface="Consolas"/>
              </a:rPr>
              <a:t>ll</a:t>
            </a:r>
            <a:r>
              <a:rPr sz="1600" spc="-35" dirty="0" err="1" smtClean="0">
                <a:latin typeface="Consolas"/>
                <a:cs typeface="Consolas"/>
              </a:rPr>
              <a:t>.</a:t>
            </a:r>
            <a:r>
              <a:rPr sz="1600" spc="15" dirty="0" err="1" smtClean="0">
                <a:latin typeface="Consolas"/>
                <a:cs typeface="Consolas"/>
              </a:rPr>
              <a:t>C</a:t>
            </a:r>
            <a:r>
              <a:rPr sz="1600" spc="-35" dirty="0" err="1" smtClean="0">
                <a:latin typeface="Consolas"/>
                <a:cs typeface="Consolas"/>
              </a:rPr>
              <a:t>l</a:t>
            </a:r>
            <a:r>
              <a:rPr sz="1600" spc="15" dirty="0" err="1" smtClean="0">
                <a:latin typeface="Consolas"/>
                <a:cs typeface="Consolas"/>
              </a:rPr>
              <a:t>ic</a:t>
            </a:r>
            <a:r>
              <a:rPr sz="1600" dirty="0" err="1" smtClean="0">
                <a:latin typeface="Consolas"/>
                <a:cs typeface="Consolas"/>
              </a:rPr>
              <a:t>k</a:t>
            </a:r>
            <a:r>
              <a:rPr lang="fr-FR" sz="1600" dirty="0" err="1" smtClean="0">
                <a:latin typeface="Consolas"/>
                <a:cs typeface="Consolas"/>
              </a:rPr>
              <a:t>ded</a:t>
            </a:r>
            <a:r>
              <a:rPr sz="1600" dirty="0" smtClean="0">
                <a:latin typeface="Times New Roman"/>
                <a:cs typeface="Times New Roman"/>
              </a:rPr>
              <a:t>  </a:t>
            </a:r>
            <a:r>
              <a:rPr sz="1600" spc="-70" dirty="0" smtClean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Consolas"/>
                <a:cs typeface="Consolas"/>
              </a:rPr>
              <a:t>-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dirty="0">
                <a:latin typeface="Times New Roman"/>
                <a:cs typeface="Times New Roman"/>
              </a:rPr>
              <a:t>  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15" dirty="0" err="1" smtClean="0">
                <a:latin typeface="Consolas"/>
                <a:cs typeface="Consolas"/>
              </a:rPr>
              <a:t>B</a:t>
            </a:r>
            <a:r>
              <a:rPr sz="1600" spc="-35" dirty="0" err="1" smtClean="0">
                <a:latin typeface="Consolas"/>
                <a:cs typeface="Consolas"/>
              </a:rPr>
              <a:t>u</a:t>
            </a:r>
            <a:r>
              <a:rPr sz="1600" spc="15" dirty="0" err="1" smtClean="0">
                <a:latin typeface="Consolas"/>
                <a:cs typeface="Consolas"/>
              </a:rPr>
              <a:t>tt</a:t>
            </a:r>
            <a:r>
              <a:rPr sz="1600" spc="-35" dirty="0" err="1" smtClean="0">
                <a:latin typeface="Consolas"/>
                <a:cs typeface="Consolas"/>
              </a:rPr>
              <a:t>o</a:t>
            </a:r>
            <a:r>
              <a:rPr sz="1600" spc="15" dirty="0" err="1" smtClean="0">
                <a:latin typeface="Consolas"/>
                <a:cs typeface="Consolas"/>
              </a:rPr>
              <a:t>nC</a:t>
            </a:r>
            <a:r>
              <a:rPr sz="1600" spc="-35" dirty="0" err="1" smtClean="0">
                <a:latin typeface="Consolas"/>
                <a:cs typeface="Consolas"/>
              </a:rPr>
              <a:t>l</a:t>
            </a:r>
            <a:r>
              <a:rPr sz="1600" spc="15" dirty="0" err="1" smtClean="0">
                <a:latin typeface="Consolas"/>
                <a:cs typeface="Consolas"/>
              </a:rPr>
              <a:t>ic</a:t>
            </a:r>
            <a:r>
              <a:rPr sz="1600" spc="-35" dirty="0" err="1" smtClean="0">
                <a:latin typeface="Consolas"/>
                <a:cs typeface="Consolas"/>
              </a:rPr>
              <a:t>k</a:t>
            </a:r>
            <a:r>
              <a:rPr sz="1600" dirty="0">
                <a:latin typeface="Consolas"/>
                <a:cs typeface="Consolas"/>
              </a:rPr>
              <a:t>;</a:t>
            </a:r>
          </a:p>
        </p:txBody>
      </p:sp>
      <p:sp>
        <p:nvSpPr>
          <p:cNvPr id="8" name="object 10"/>
          <p:cNvSpPr txBox="1"/>
          <p:nvPr/>
        </p:nvSpPr>
        <p:spPr>
          <a:xfrm>
            <a:off x="529854" y="3354820"/>
            <a:ext cx="6235123" cy="15029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600" spc="15" dirty="0">
                <a:solidFill>
                  <a:srgbClr val="006400"/>
                </a:solidFill>
                <a:latin typeface="Consolas"/>
                <a:cs typeface="Consolas"/>
              </a:rPr>
              <a:t>/</a:t>
            </a:r>
            <a:r>
              <a:rPr sz="1600" dirty="0">
                <a:solidFill>
                  <a:srgbClr val="006400"/>
                </a:solidFill>
                <a:latin typeface="Consolas"/>
                <a:cs typeface="Consolas"/>
              </a:rPr>
              <a:t>/</a:t>
            </a:r>
            <a:r>
              <a:rPr sz="1600" dirty="0">
                <a:solidFill>
                  <a:srgbClr val="006400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006400"/>
                </a:solidFill>
                <a:latin typeface="Times New Roman"/>
                <a:cs typeface="Times New Roman"/>
              </a:rPr>
              <a:t> </a:t>
            </a:r>
            <a:r>
              <a:rPr sz="1600" spc="15" dirty="0">
                <a:solidFill>
                  <a:srgbClr val="006400"/>
                </a:solidFill>
                <a:latin typeface="Consolas"/>
                <a:cs typeface="Consolas"/>
              </a:rPr>
              <a:t>Abo</a:t>
            </a:r>
            <a:r>
              <a:rPr sz="1600" spc="60" dirty="0">
                <a:solidFill>
                  <a:srgbClr val="006400"/>
                </a:solidFill>
                <a:latin typeface="Consolas"/>
                <a:cs typeface="Consolas"/>
              </a:rPr>
              <a:t>n</a:t>
            </a:r>
            <a:r>
              <a:rPr sz="1600" spc="15" dirty="0">
                <a:solidFill>
                  <a:srgbClr val="006400"/>
                </a:solidFill>
                <a:latin typeface="Consolas"/>
                <a:cs typeface="Consolas"/>
              </a:rPr>
              <a:t>nem</a:t>
            </a:r>
            <a:r>
              <a:rPr sz="1600" spc="60" dirty="0">
                <a:solidFill>
                  <a:srgbClr val="006400"/>
                </a:solidFill>
                <a:latin typeface="Consolas"/>
                <a:cs typeface="Consolas"/>
              </a:rPr>
              <a:t>e</a:t>
            </a:r>
            <a:r>
              <a:rPr sz="1600" spc="15" dirty="0">
                <a:solidFill>
                  <a:srgbClr val="006400"/>
                </a:solidFill>
                <a:latin typeface="Consolas"/>
                <a:cs typeface="Consolas"/>
              </a:rPr>
              <a:t>n</a:t>
            </a:r>
            <a:r>
              <a:rPr sz="1600" dirty="0">
                <a:solidFill>
                  <a:srgbClr val="006400"/>
                </a:solidFill>
                <a:latin typeface="Consolas"/>
                <a:cs typeface="Consolas"/>
              </a:rPr>
              <a:t>t</a:t>
            </a:r>
            <a:r>
              <a:rPr sz="1600" dirty="0">
                <a:solidFill>
                  <a:srgbClr val="006400"/>
                </a:solidFill>
                <a:latin typeface="Times New Roman"/>
                <a:cs typeface="Times New Roman"/>
              </a:rPr>
              <a:t> </a:t>
            </a:r>
            <a:r>
              <a:rPr sz="1600" spc="10" dirty="0">
                <a:solidFill>
                  <a:srgbClr val="0064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6400"/>
                </a:solidFill>
                <a:latin typeface="Consolas"/>
                <a:cs typeface="Consolas"/>
              </a:rPr>
              <a:t>:</a:t>
            </a:r>
            <a:endParaRPr sz="1600" dirty="0">
              <a:latin typeface="Consolas"/>
              <a:cs typeface="Consolas"/>
            </a:endParaRPr>
          </a:p>
          <a:p>
            <a:pPr marL="12700" eaLnBrk="1" fontAlgn="auto" hangingPunct="1">
              <a:spcBef>
                <a:spcPts val="25"/>
              </a:spcBef>
              <a:spcAft>
                <a:spcPts val="0"/>
              </a:spcAft>
              <a:defRPr/>
            </a:pPr>
            <a:r>
              <a:rPr sz="1600" spc="15" dirty="0" err="1" smtClean="0">
                <a:latin typeface="Consolas"/>
                <a:cs typeface="Consolas"/>
              </a:rPr>
              <a:t>bu</a:t>
            </a:r>
            <a:r>
              <a:rPr sz="1600" spc="-35" dirty="0" err="1" smtClean="0">
                <a:latin typeface="Consolas"/>
                <a:cs typeface="Consolas"/>
              </a:rPr>
              <a:t>t</a:t>
            </a:r>
            <a:r>
              <a:rPr sz="1600" spc="15" dirty="0" err="1" smtClean="0">
                <a:latin typeface="Consolas"/>
                <a:cs typeface="Consolas"/>
              </a:rPr>
              <a:t>to</a:t>
            </a:r>
            <a:r>
              <a:rPr sz="1600" spc="-35" dirty="0" err="1" smtClean="0">
                <a:latin typeface="Consolas"/>
                <a:cs typeface="Consolas"/>
              </a:rPr>
              <a:t>n</a:t>
            </a:r>
            <a:r>
              <a:rPr sz="1600" spc="15" dirty="0" err="1" smtClean="0">
                <a:latin typeface="Consolas"/>
                <a:cs typeface="Consolas"/>
              </a:rPr>
              <a:t>F</a:t>
            </a:r>
            <a:r>
              <a:rPr sz="1600" spc="-35" dirty="0" err="1" smtClean="0">
                <a:latin typeface="Consolas"/>
                <a:cs typeface="Consolas"/>
              </a:rPr>
              <a:t>i</a:t>
            </a:r>
            <a:r>
              <a:rPr sz="1600" spc="15" dirty="0" err="1" smtClean="0">
                <a:latin typeface="Consolas"/>
                <a:cs typeface="Consolas"/>
              </a:rPr>
              <a:t>ll</a:t>
            </a:r>
            <a:r>
              <a:rPr sz="1600" spc="-35" dirty="0" err="1" smtClean="0">
                <a:latin typeface="Consolas"/>
                <a:cs typeface="Consolas"/>
              </a:rPr>
              <a:t>.</a:t>
            </a:r>
            <a:r>
              <a:rPr sz="1600" spc="15" dirty="0" err="1" smtClean="0">
                <a:latin typeface="Consolas"/>
                <a:cs typeface="Consolas"/>
              </a:rPr>
              <a:t>C</a:t>
            </a:r>
            <a:r>
              <a:rPr sz="1600" spc="-35" dirty="0" err="1" smtClean="0">
                <a:latin typeface="Consolas"/>
                <a:cs typeface="Consolas"/>
              </a:rPr>
              <a:t>l</a:t>
            </a:r>
            <a:r>
              <a:rPr sz="1600" spc="15" dirty="0" err="1" smtClean="0">
                <a:latin typeface="Consolas"/>
                <a:cs typeface="Consolas"/>
              </a:rPr>
              <a:t>ic</a:t>
            </a:r>
            <a:r>
              <a:rPr sz="1600" dirty="0" err="1" smtClean="0">
                <a:latin typeface="Consolas"/>
                <a:cs typeface="Consolas"/>
              </a:rPr>
              <a:t>k</a:t>
            </a:r>
            <a:r>
              <a:rPr lang="fr-FR" sz="1600" dirty="0" err="1" smtClean="0">
                <a:latin typeface="Consolas"/>
                <a:cs typeface="Consolas"/>
              </a:rPr>
              <a:t>ed</a:t>
            </a:r>
            <a:r>
              <a:rPr sz="1600" dirty="0" smtClean="0">
                <a:latin typeface="Times New Roman"/>
                <a:cs typeface="Times New Roman"/>
              </a:rPr>
              <a:t>  </a:t>
            </a:r>
            <a:r>
              <a:rPr sz="1600" spc="-70" dirty="0" smtClean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Consolas"/>
                <a:cs typeface="Consolas"/>
              </a:rPr>
              <a:t>+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dirty="0">
                <a:latin typeface="Times New Roman"/>
                <a:cs typeface="Times New Roman"/>
              </a:rPr>
              <a:t>  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lang="fr-FR" sz="1600" spc="15" dirty="0" smtClean="0">
                <a:latin typeface="Consolas"/>
                <a:cs typeface="Consolas"/>
              </a:rPr>
              <a:t>(</a:t>
            </a:r>
            <a:r>
              <a:rPr lang="fr-FR" sz="1600" spc="15" dirty="0" err="1" smtClean="0">
                <a:latin typeface="Consolas"/>
                <a:cs typeface="Consolas"/>
              </a:rPr>
              <a:t>sender,args</a:t>
            </a:r>
            <a:r>
              <a:rPr lang="fr-FR" sz="1600" spc="15" dirty="0" smtClean="0">
                <a:latin typeface="Consolas"/>
                <a:cs typeface="Consolas"/>
              </a:rPr>
              <a:t>)=&gt;{…}</a:t>
            </a:r>
            <a:endParaRPr sz="1600" dirty="0">
              <a:latin typeface="Consolas"/>
              <a:cs typeface="Consolas"/>
            </a:endParaRPr>
          </a:p>
          <a:p>
            <a:pPr marL="12700" eaLnBrk="1" fontAlgn="auto" hangingPunct="1">
              <a:spcBef>
                <a:spcPts val="75"/>
              </a:spcBef>
              <a:spcAft>
                <a:spcPts val="0"/>
              </a:spcAft>
              <a:defRPr/>
            </a:pPr>
            <a:r>
              <a:rPr sz="1600" spc="15" dirty="0">
                <a:latin typeface="Consolas"/>
                <a:cs typeface="Consolas"/>
              </a:rPr>
              <a:t>...</a:t>
            </a:r>
            <a:endParaRPr sz="1600" dirty="0">
              <a:latin typeface="Consolas"/>
              <a:cs typeface="Consolas"/>
            </a:endParaRPr>
          </a:p>
          <a:p>
            <a:pPr marL="12700" eaLnBrk="1" fontAlgn="auto" hangingPunct="1">
              <a:spcBef>
                <a:spcPts val="25"/>
              </a:spcBef>
              <a:spcAft>
                <a:spcPts val="0"/>
              </a:spcAft>
              <a:defRPr/>
            </a:pPr>
            <a:r>
              <a:rPr sz="1600" spc="15" dirty="0">
                <a:solidFill>
                  <a:srgbClr val="006400"/>
                </a:solidFill>
                <a:latin typeface="Consolas"/>
                <a:cs typeface="Consolas"/>
              </a:rPr>
              <a:t>/</a:t>
            </a:r>
            <a:r>
              <a:rPr sz="1600" dirty="0">
                <a:solidFill>
                  <a:srgbClr val="006400"/>
                </a:solidFill>
                <a:latin typeface="Consolas"/>
                <a:cs typeface="Consolas"/>
              </a:rPr>
              <a:t>/</a:t>
            </a:r>
            <a:r>
              <a:rPr sz="1600" dirty="0">
                <a:solidFill>
                  <a:srgbClr val="006400"/>
                </a:solidFill>
                <a:latin typeface="Times New Roman"/>
                <a:cs typeface="Times New Roman"/>
              </a:rPr>
              <a:t> </a:t>
            </a:r>
            <a:r>
              <a:rPr sz="1600" spc="-55" dirty="0">
                <a:solidFill>
                  <a:srgbClr val="006400"/>
                </a:solidFill>
                <a:latin typeface="Times New Roman"/>
                <a:cs typeface="Times New Roman"/>
              </a:rPr>
              <a:t> </a:t>
            </a:r>
            <a:r>
              <a:rPr sz="1600" spc="60" dirty="0">
                <a:solidFill>
                  <a:srgbClr val="006400"/>
                </a:solidFill>
                <a:latin typeface="Consolas"/>
                <a:cs typeface="Consolas"/>
              </a:rPr>
              <a:t>D</a:t>
            </a:r>
            <a:r>
              <a:rPr sz="1600" spc="15" dirty="0">
                <a:solidFill>
                  <a:srgbClr val="006400"/>
                </a:solidFill>
                <a:latin typeface="Consolas"/>
                <a:cs typeface="Consolas"/>
              </a:rPr>
              <a:t>ésa</a:t>
            </a:r>
            <a:r>
              <a:rPr sz="1600" spc="60" dirty="0">
                <a:solidFill>
                  <a:srgbClr val="006400"/>
                </a:solidFill>
                <a:latin typeface="Consolas"/>
                <a:cs typeface="Consolas"/>
              </a:rPr>
              <a:t>b</a:t>
            </a:r>
            <a:r>
              <a:rPr sz="1600" spc="15" dirty="0">
                <a:solidFill>
                  <a:srgbClr val="006400"/>
                </a:solidFill>
                <a:latin typeface="Consolas"/>
                <a:cs typeface="Consolas"/>
              </a:rPr>
              <a:t>onne</a:t>
            </a:r>
            <a:r>
              <a:rPr sz="1600" spc="60" dirty="0">
                <a:solidFill>
                  <a:srgbClr val="006400"/>
                </a:solidFill>
                <a:latin typeface="Consolas"/>
                <a:cs typeface="Consolas"/>
              </a:rPr>
              <a:t>m</a:t>
            </a:r>
            <a:r>
              <a:rPr sz="1600" spc="15" dirty="0">
                <a:solidFill>
                  <a:srgbClr val="006400"/>
                </a:solidFill>
                <a:latin typeface="Consolas"/>
                <a:cs typeface="Consolas"/>
              </a:rPr>
              <a:t>en</a:t>
            </a:r>
            <a:r>
              <a:rPr sz="1600" dirty="0">
                <a:solidFill>
                  <a:srgbClr val="006400"/>
                </a:solidFill>
                <a:latin typeface="Consolas"/>
                <a:cs typeface="Consolas"/>
              </a:rPr>
              <a:t>t</a:t>
            </a:r>
            <a:r>
              <a:rPr sz="1600" dirty="0">
                <a:solidFill>
                  <a:srgbClr val="006400"/>
                </a:solidFill>
                <a:latin typeface="Times New Roman"/>
                <a:cs typeface="Times New Roman"/>
              </a:rPr>
              <a:t> </a:t>
            </a:r>
            <a:r>
              <a:rPr sz="1600" spc="15" dirty="0">
                <a:solidFill>
                  <a:srgbClr val="0064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6400"/>
                </a:solidFill>
                <a:latin typeface="Consolas"/>
                <a:cs typeface="Consolas"/>
              </a:rPr>
              <a:t>:</a:t>
            </a:r>
            <a:endParaRPr sz="1600" dirty="0">
              <a:latin typeface="Consolas"/>
              <a:cs typeface="Consolas"/>
            </a:endParaRPr>
          </a:p>
          <a:p>
            <a:pPr marL="12700">
              <a:spcBef>
                <a:spcPts val="120"/>
              </a:spcBef>
              <a:defRPr/>
            </a:pPr>
            <a:r>
              <a:rPr sz="1600" spc="15" dirty="0" err="1" smtClean="0">
                <a:latin typeface="Consolas"/>
                <a:cs typeface="Consolas"/>
              </a:rPr>
              <a:t>bu</a:t>
            </a:r>
            <a:r>
              <a:rPr sz="1600" spc="-35" dirty="0" err="1" smtClean="0">
                <a:latin typeface="Consolas"/>
                <a:cs typeface="Consolas"/>
              </a:rPr>
              <a:t>t</a:t>
            </a:r>
            <a:r>
              <a:rPr sz="1600" spc="15" dirty="0" err="1" smtClean="0">
                <a:latin typeface="Consolas"/>
                <a:cs typeface="Consolas"/>
              </a:rPr>
              <a:t>to</a:t>
            </a:r>
            <a:r>
              <a:rPr sz="1600" spc="-35" dirty="0" err="1" smtClean="0">
                <a:latin typeface="Consolas"/>
                <a:cs typeface="Consolas"/>
              </a:rPr>
              <a:t>n</a:t>
            </a:r>
            <a:r>
              <a:rPr sz="1600" spc="15" dirty="0" err="1" smtClean="0">
                <a:latin typeface="Consolas"/>
                <a:cs typeface="Consolas"/>
              </a:rPr>
              <a:t>F</a:t>
            </a:r>
            <a:r>
              <a:rPr sz="1600" spc="-35" dirty="0" err="1" smtClean="0">
                <a:latin typeface="Consolas"/>
                <a:cs typeface="Consolas"/>
              </a:rPr>
              <a:t>i</a:t>
            </a:r>
            <a:r>
              <a:rPr sz="1600" spc="15" dirty="0" err="1" smtClean="0">
                <a:latin typeface="Consolas"/>
                <a:cs typeface="Consolas"/>
              </a:rPr>
              <a:t>ll</a:t>
            </a:r>
            <a:r>
              <a:rPr sz="1600" spc="-35" dirty="0" err="1" smtClean="0">
                <a:latin typeface="Consolas"/>
                <a:cs typeface="Consolas"/>
              </a:rPr>
              <a:t>.</a:t>
            </a:r>
            <a:r>
              <a:rPr sz="1600" spc="15" dirty="0" err="1" smtClean="0">
                <a:latin typeface="Consolas"/>
                <a:cs typeface="Consolas"/>
              </a:rPr>
              <a:t>C</a:t>
            </a:r>
            <a:r>
              <a:rPr sz="1600" spc="-35" dirty="0" err="1" smtClean="0">
                <a:latin typeface="Consolas"/>
                <a:cs typeface="Consolas"/>
              </a:rPr>
              <a:t>l</a:t>
            </a:r>
            <a:r>
              <a:rPr sz="1600" spc="15" dirty="0" err="1" smtClean="0">
                <a:latin typeface="Consolas"/>
                <a:cs typeface="Consolas"/>
              </a:rPr>
              <a:t>ic</a:t>
            </a:r>
            <a:r>
              <a:rPr sz="1600" dirty="0" err="1" smtClean="0">
                <a:latin typeface="Consolas"/>
                <a:cs typeface="Consolas"/>
              </a:rPr>
              <a:t>k</a:t>
            </a:r>
            <a:r>
              <a:rPr lang="fr-FR" sz="1600" dirty="0" err="1" smtClean="0">
                <a:latin typeface="Consolas"/>
                <a:cs typeface="Consolas"/>
              </a:rPr>
              <a:t>ded</a:t>
            </a:r>
            <a:r>
              <a:rPr sz="1600" dirty="0" smtClean="0">
                <a:latin typeface="Times New Roman"/>
                <a:cs typeface="Times New Roman"/>
              </a:rPr>
              <a:t>  </a:t>
            </a:r>
            <a:r>
              <a:rPr sz="1600" spc="-70" dirty="0" smtClean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Consolas"/>
                <a:cs typeface="Consolas"/>
              </a:rPr>
              <a:t>-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lang="fr-FR" sz="1600" spc="15" dirty="0" smtClean="0">
                <a:latin typeface="Consolas"/>
                <a:cs typeface="Consolas"/>
              </a:rPr>
              <a:t>(</a:t>
            </a:r>
            <a:r>
              <a:rPr lang="fr-FR" sz="1600" spc="15" dirty="0" err="1">
                <a:latin typeface="Consolas"/>
                <a:cs typeface="Consolas"/>
              </a:rPr>
              <a:t>sender,args</a:t>
            </a:r>
            <a:r>
              <a:rPr lang="fr-FR" sz="1600" spc="15" dirty="0">
                <a:latin typeface="Consolas"/>
                <a:cs typeface="Consolas"/>
              </a:rPr>
              <a:t>)=&gt;{…}</a:t>
            </a:r>
            <a:endParaRPr lang="fr-FR" sz="1600" dirty="0">
              <a:latin typeface="Consolas"/>
              <a:cs typeface="Consolas"/>
            </a:endParaRPr>
          </a:p>
          <a:p>
            <a:pPr marL="12700" eaLnBrk="1" fontAlgn="auto" hangingPunct="1">
              <a:spcBef>
                <a:spcPts val="120"/>
              </a:spcBef>
              <a:spcAft>
                <a:spcPts val="0"/>
              </a:spcAft>
              <a:defRPr/>
            </a:pPr>
            <a:endParaRPr sz="1600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3324108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12"/>
          <p:cNvSpPr txBox="1"/>
          <p:nvPr/>
        </p:nvSpPr>
        <p:spPr>
          <a:xfrm>
            <a:off x="334962" y="592138"/>
            <a:ext cx="11780837" cy="10823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19710" eaLnBrk="1" fontAlgn="auto" hangingPunct="1">
              <a:spcBef>
                <a:spcPts val="0"/>
              </a:spcBef>
              <a:spcAft>
                <a:spcPts val="0"/>
              </a:spcAft>
              <a:tabLst>
                <a:tab pos="5993130" algn="l"/>
              </a:tabLst>
              <a:defRPr/>
            </a:pPr>
            <a:r>
              <a:rPr lang="en-US" sz="2250" u="heavy" spc="-40" dirty="0">
                <a:latin typeface="Segoe UI Symbol"/>
                <a:cs typeface="Times New Roman"/>
              </a:rPr>
              <a:t>Les extensions de balisage </a:t>
            </a:r>
            <a:r>
              <a:rPr lang="en-US" sz="2250" u="heavy" spc="-40" dirty="0" err="1">
                <a:latin typeface="Segoe UI Symbol"/>
                <a:cs typeface="Times New Roman"/>
              </a:rPr>
              <a:t>en</a:t>
            </a:r>
            <a:r>
              <a:rPr lang="en-US" sz="2250" u="heavy" spc="-40" dirty="0">
                <a:latin typeface="Segoe UI Symbol"/>
                <a:cs typeface="Times New Roman"/>
              </a:rPr>
              <a:t> XAML</a:t>
            </a:r>
            <a:r>
              <a:rPr sz="2250" u="heavy" dirty="0">
                <a:latin typeface="Times New Roman"/>
                <a:cs typeface="Times New Roman"/>
              </a:rPr>
              <a:t>	</a:t>
            </a:r>
          </a:p>
          <a:p>
            <a:pPr marL="256540" indent="-243840" eaLnBrk="1" fontAlgn="auto" hangingPunct="1">
              <a:spcBef>
                <a:spcPts val="1900"/>
              </a:spcBef>
              <a:spcAft>
                <a:spcPts val="0"/>
              </a:spcAft>
              <a:buClr>
                <a:srgbClr val="006498"/>
              </a:buClr>
              <a:buSzPct val="60000"/>
              <a:buFont typeface="Wingdings"/>
              <a:buChar char=""/>
              <a:tabLst>
                <a:tab pos="257175" algn="l"/>
              </a:tabLst>
              <a:defRPr/>
            </a:pPr>
            <a:r>
              <a:rPr lang="fr-FR" sz="1600" spc="-25" dirty="0">
                <a:latin typeface="Segoe UI Symbol"/>
                <a:cs typeface="Segoe UI Symbol"/>
              </a:rPr>
              <a:t>Une extension de balisage ou Markup extension est une fonctionnalité à travers la quelle vous ajoutez du dynamisme au contenu XAML statique exemple, tout les binding utilisés dans le XAML sont </a:t>
            </a:r>
            <a:r>
              <a:rPr lang="fr-FR" sz="1600" spc="-25" dirty="0" smtClean="0">
                <a:latin typeface="Segoe UI Symbol"/>
                <a:cs typeface="Segoe UI Symbol"/>
              </a:rPr>
              <a:t>des implémentations de l’interface  </a:t>
            </a:r>
            <a:r>
              <a:rPr lang="fr-FR" sz="1600" b="1" spc="-25" dirty="0" err="1" smtClean="0">
                <a:latin typeface="Segoe UI Symbol"/>
                <a:cs typeface="Segoe UI Symbol"/>
              </a:rPr>
              <a:t>IMarkupExtension</a:t>
            </a:r>
            <a:r>
              <a:rPr lang="fr-FR" sz="1600" spc="-25" dirty="0" smtClean="0">
                <a:latin typeface="Segoe UI Symbol"/>
                <a:cs typeface="Segoe UI Symbol"/>
              </a:rPr>
              <a:t> </a:t>
            </a:r>
            <a:endParaRPr lang="fr-FR" sz="1600" spc="-25" dirty="0">
              <a:latin typeface="Segoe UI Symbol"/>
              <a:cs typeface="Segoe UI Symbo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53243" y="1635800"/>
            <a:ext cx="8934202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err="1" smtClean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fr-FR" sz="1600" dirty="0" smtClean="0"/>
              <a:t> </a:t>
            </a:r>
            <a:r>
              <a:rPr lang="fr-FR" sz="1600" dirty="0" err="1"/>
              <a:t>FirstMauiApp</a:t>
            </a:r>
            <a:endParaRPr lang="fr-FR" sz="1600" dirty="0"/>
          </a:p>
          <a:p>
            <a:r>
              <a:rPr lang="fr-FR" sz="1600" dirty="0"/>
              <a:t>{</a:t>
            </a:r>
            <a:endParaRPr lang="fr-FR" sz="12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  public</a:t>
            </a:r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FileResource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: </a:t>
            </a:r>
            <a:r>
              <a:rPr lang="fr-FR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IMarkupExtension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private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_content;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FileResource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 { }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FileResource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content</a:t>
            </a:r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	=&gt;_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content = content;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Content </a:t>
            </a:r>
            <a:endParaRPr lang="en-US" sz="12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en-US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	{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=&gt; _content;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=&gt; _content = value; }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object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ProvideValue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IServiceProvider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serviceProvider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=&gt; </a:t>
            </a:r>
            <a:r>
              <a:rPr lang="fr-FR" sz="12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File.ReadAllText</a:t>
            </a:r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(Content);  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  <a:endParaRPr lang="fr-FR" sz="1200" dirty="0"/>
          </a:p>
        </p:txBody>
      </p:sp>
      <p:sp>
        <p:nvSpPr>
          <p:cNvPr id="3" name="Rectangle 2"/>
          <p:cNvSpPr/>
          <p:nvPr/>
        </p:nvSpPr>
        <p:spPr>
          <a:xfrm>
            <a:off x="4749137" y="4460789"/>
            <a:ext cx="7366662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ContentPage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xmlns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="http://schemas.microsoft.com/</a:t>
            </a:r>
            <a:r>
              <a:rPr lang="fr-FR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dotnet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/2021/</a:t>
            </a:r>
            <a:r>
              <a:rPr lang="fr-FR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maui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xmlns</a:t>
            </a:r>
            <a:r>
              <a:rPr lang="fr-FR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x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="http://schemas.microsoft.com/</a:t>
            </a:r>
            <a:r>
              <a:rPr lang="fr-FR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winfx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/2009/</a:t>
            </a:r>
            <a:r>
              <a:rPr lang="fr-FR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xaml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b="1" dirty="0" err="1">
                <a:solidFill>
                  <a:srgbClr val="FF0000"/>
                </a:solidFill>
                <a:latin typeface="Cascadia Mono" panose="020B0609020000020004" pitchFamily="49" charset="0"/>
              </a:rPr>
              <a:t>xmlns</a:t>
            </a:r>
            <a:r>
              <a:rPr lang="fr-FR" sz="1200" b="1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200" b="1" dirty="0" err="1">
                <a:solidFill>
                  <a:srgbClr val="FF0000"/>
                </a:solidFill>
                <a:latin typeface="Cascadia Mono" panose="020B0609020000020004" pitchFamily="49" charset="0"/>
              </a:rPr>
              <a:t>local</a:t>
            </a:r>
            <a:r>
              <a:rPr lang="fr-FR" sz="1200" b="1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fr-FR" sz="1200" b="1" dirty="0" err="1">
                <a:solidFill>
                  <a:srgbClr val="0000FF"/>
                </a:solidFill>
                <a:latin typeface="Cascadia Mono" panose="020B0609020000020004" pitchFamily="49" charset="0"/>
              </a:rPr>
              <a:t>clr-namespace:FirstMauiApp</a:t>
            </a:r>
            <a:r>
              <a:rPr lang="fr-FR" sz="1200" b="1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endParaRPr lang="fr-FR" sz="1200" b="1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x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="FirstMauiApp.MainPage"&gt;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ScrollView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VerticalStackLayout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x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Name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="content"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Spacing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="25"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Padding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="30,0"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VerticalOptions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="Center"&gt;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200" b="1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b="1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fr-FR" sz="1200" b="1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b="1" dirty="0" err="1">
                <a:solidFill>
                  <a:srgbClr val="FF0000"/>
                </a:solidFill>
                <a:latin typeface="Cascadia Mono" panose="020B0609020000020004" pitchFamily="49" charset="0"/>
              </a:rPr>
              <a:t>Text</a:t>
            </a:r>
            <a:r>
              <a:rPr lang="fr-FR" sz="1200" b="1" dirty="0">
                <a:solidFill>
                  <a:srgbClr val="0000FF"/>
                </a:solidFill>
                <a:latin typeface="Cascadia Mono" panose="020B0609020000020004" pitchFamily="49" charset="0"/>
              </a:rPr>
              <a:t>="{</a:t>
            </a:r>
            <a:r>
              <a:rPr lang="fr-FR" sz="1200" b="1" dirty="0" err="1">
                <a:solidFill>
                  <a:srgbClr val="A31515"/>
                </a:solidFill>
                <a:latin typeface="Cascadia Mono" panose="020B0609020000020004" pitchFamily="49" charset="0"/>
              </a:rPr>
              <a:t>local</a:t>
            </a:r>
            <a:r>
              <a:rPr lang="fr-FR" sz="1200" b="1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200" b="1" dirty="0" err="1">
                <a:solidFill>
                  <a:srgbClr val="A31515"/>
                </a:solidFill>
                <a:latin typeface="Cascadia Mono" panose="020B0609020000020004" pitchFamily="49" charset="0"/>
              </a:rPr>
              <a:t>FileResource</a:t>
            </a:r>
            <a:r>
              <a:rPr lang="fr-FR" sz="1200" b="1" dirty="0">
                <a:solidFill>
                  <a:srgbClr val="FF0000"/>
                </a:solidFill>
                <a:latin typeface="Cascadia Mono" panose="020B0609020000020004" pitchFamily="49" charset="0"/>
              </a:rPr>
              <a:t> Content</a:t>
            </a:r>
            <a:r>
              <a:rPr lang="fr-FR" sz="1200" b="1" dirty="0">
                <a:solidFill>
                  <a:srgbClr val="0000FF"/>
                </a:solidFill>
                <a:latin typeface="Cascadia Mono" panose="020B0609020000020004" pitchFamily="49" charset="0"/>
              </a:rPr>
              <a:t>='c:\\</a:t>
            </a:r>
            <a:r>
              <a:rPr lang="fr-FR" sz="1200" b="1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temp</a:t>
            </a:r>
            <a:r>
              <a:rPr lang="fr-FR" sz="1200" b="1" dirty="0">
                <a:solidFill>
                  <a:srgbClr val="0000FF"/>
                </a:solidFill>
                <a:latin typeface="Cascadia Mono" panose="020B0609020000020004" pitchFamily="49" charset="0"/>
              </a:rPr>
              <a:t>\\content.txt'}"/&gt;</a:t>
            </a:r>
            <a:endParaRPr lang="fr-FR" sz="1200" b="1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Image</a:t>
            </a:r>
            <a:endParaRPr lang="fr-FR" sz="1200" dirty="0"/>
          </a:p>
        </p:txBody>
      </p:sp>
      <p:cxnSp>
        <p:nvCxnSpPr>
          <p:cNvPr id="8" name="Connecteur droit avec flèche 7"/>
          <p:cNvCxnSpPr/>
          <p:nvPr/>
        </p:nvCxnSpPr>
        <p:spPr>
          <a:xfrm>
            <a:off x="6944497" y="5051783"/>
            <a:ext cx="376881" cy="1108060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/>
          <p:cNvCxnSpPr/>
          <p:nvPr/>
        </p:nvCxnSpPr>
        <p:spPr>
          <a:xfrm flipH="1" flipV="1">
            <a:off x="1297459" y="1989438"/>
            <a:ext cx="5430795" cy="2903839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2343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12"/>
          <p:cNvSpPr txBox="1"/>
          <p:nvPr/>
        </p:nvSpPr>
        <p:spPr>
          <a:xfrm>
            <a:off x="305273" y="675265"/>
            <a:ext cx="11780837" cy="8669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19710" eaLnBrk="1" fontAlgn="auto" hangingPunct="1">
              <a:spcBef>
                <a:spcPts val="0"/>
              </a:spcBef>
              <a:spcAft>
                <a:spcPts val="0"/>
              </a:spcAft>
              <a:tabLst>
                <a:tab pos="5993130" algn="l"/>
              </a:tabLst>
              <a:defRPr/>
            </a:pPr>
            <a:r>
              <a:rPr lang="en-US" sz="2250" u="heavy" spc="-40" dirty="0" smtClean="0">
                <a:latin typeface="Segoe UI Symbol"/>
                <a:cs typeface="Times New Roman"/>
              </a:rPr>
              <a:t>Passage des arguments </a:t>
            </a:r>
            <a:r>
              <a:rPr lang="en-US" sz="2250" u="heavy" spc="-40" dirty="0" err="1" smtClean="0">
                <a:latin typeface="Segoe UI Symbol"/>
                <a:cs typeface="Times New Roman"/>
              </a:rPr>
              <a:t>en</a:t>
            </a:r>
            <a:r>
              <a:rPr lang="en-US" sz="2250" u="heavy" spc="-40" dirty="0" smtClean="0">
                <a:latin typeface="Segoe UI Symbol"/>
                <a:cs typeface="Times New Roman"/>
              </a:rPr>
              <a:t> XAML – </a:t>
            </a:r>
            <a:r>
              <a:rPr lang="en-US" sz="2250" u="heavy" spc="-40" dirty="0" err="1" smtClean="0">
                <a:latin typeface="Segoe UI Symbol"/>
                <a:cs typeface="Times New Roman"/>
              </a:rPr>
              <a:t>Cas</a:t>
            </a:r>
            <a:r>
              <a:rPr lang="en-US" sz="2250" u="heavy" spc="-40" dirty="0" smtClean="0">
                <a:latin typeface="Segoe UI Symbol"/>
                <a:cs typeface="Times New Roman"/>
              </a:rPr>
              <a:t> de x:Arguments</a:t>
            </a:r>
            <a:r>
              <a:rPr sz="2250" u="heavy" dirty="0">
                <a:latin typeface="Times New Roman"/>
                <a:cs typeface="Times New Roman"/>
              </a:rPr>
              <a:t>	</a:t>
            </a:r>
          </a:p>
          <a:p>
            <a:pPr marL="256540" indent="-243840">
              <a:spcBef>
                <a:spcPts val="1900"/>
              </a:spcBef>
              <a:buClr>
                <a:srgbClr val="006498"/>
              </a:buClr>
              <a:buSzPct val="60000"/>
              <a:buFont typeface="Wingdings"/>
              <a:buChar char=""/>
              <a:tabLst>
                <a:tab pos="257175" algn="l"/>
              </a:tabLst>
              <a:defRPr/>
            </a:pPr>
            <a:r>
              <a:rPr lang="fr-FR" dirty="0"/>
              <a:t>Il est souvent nécessaire d’instancier des objets avec des constructeurs qui nécessitent des arguments</a:t>
            </a:r>
            <a:endParaRPr lang="fr-FR" sz="1600" spc="-25" dirty="0">
              <a:latin typeface="Segoe UI Symbol"/>
              <a:cs typeface="Segoe UI Symbo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09501" y="1903435"/>
            <a:ext cx="344186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BoxView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Color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Red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"&gt;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   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BoxView.HeightRequest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150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   &lt;/</a:t>
            </a:r>
            <a:r>
              <a:rPr lang="fr-FR" sz="1400" dirty="0" err="1" smtClean="0">
                <a:solidFill>
                  <a:srgbClr val="A31515"/>
                </a:solidFill>
                <a:latin typeface="Cascadia Mono" panose="020B0609020000020004" pitchFamily="49" charset="0"/>
              </a:rPr>
              <a:t>BoxView.HeightRequest</a:t>
            </a:r>
            <a:r>
              <a:rPr lang="fr-FR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   &lt;</a:t>
            </a:r>
            <a:r>
              <a:rPr lang="fr-FR" sz="1400" dirty="0" err="1" smtClean="0">
                <a:solidFill>
                  <a:srgbClr val="A31515"/>
                </a:solidFill>
                <a:latin typeface="Cascadia Mono" panose="020B0609020000020004" pitchFamily="49" charset="0"/>
              </a:rPr>
              <a:t>BoxView.WidthRequest</a:t>
            </a:r>
            <a:r>
              <a:rPr lang="fr-FR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150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fr-FR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BoxView.WidthRequest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BoxView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/>
          </a:p>
        </p:txBody>
      </p:sp>
      <p:sp>
        <p:nvSpPr>
          <p:cNvPr id="6" name="Rectangle 5"/>
          <p:cNvSpPr/>
          <p:nvPr/>
        </p:nvSpPr>
        <p:spPr>
          <a:xfrm>
            <a:off x="787755" y="3831201"/>
            <a:ext cx="300697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1400" b="1" dirty="0" smtClean="0"/>
              <a:t>Exemple sans passage des paramètres</a:t>
            </a:r>
          </a:p>
          <a:p>
            <a:pPr algn="ctr"/>
            <a:r>
              <a:rPr lang="fr-FR" sz="1400" b="1" dirty="0" smtClean="0"/>
              <a:t>aux  </a:t>
            </a:r>
            <a:r>
              <a:rPr lang="fr-FR" sz="1400" b="1" dirty="0"/>
              <a:t>constructeurs </a:t>
            </a:r>
          </a:p>
        </p:txBody>
      </p:sp>
      <p:sp>
        <p:nvSpPr>
          <p:cNvPr id="9" name="Rectangle 8"/>
          <p:cNvSpPr/>
          <p:nvPr/>
        </p:nvSpPr>
        <p:spPr>
          <a:xfrm>
            <a:off x="4874821" y="1734158"/>
            <a:ext cx="5985163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</a:t>
            </a:r>
            <a:r>
              <a:rPr lang="fr-FR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BoxView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BoxView.Color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Color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x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Arguments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x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Single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1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x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Single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x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Single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0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x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Single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x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Single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0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x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Single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x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Single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0.75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x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Single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x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Arguments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Color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BoxView.Color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BoxView.HeightRequest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x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Double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150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x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Double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BoxView.HeightRequest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BoxView.WidthRequest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x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Double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150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x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Double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BoxView.WidthRequest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BoxView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/>
          </a:p>
        </p:txBody>
      </p:sp>
      <p:sp>
        <p:nvSpPr>
          <p:cNvPr id="11" name="Rectangle 10"/>
          <p:cNvSpPr/>
          <p:nvPr/>
        </p:nvSpPr>
        <p:spPr>
          <a:xfrm>
            <a:off x="6447612" y="5836152"/>
            <a:ext cx="301236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1400" b="1" dirty="0" smtClean="0"/>
              <a:t>Exemple avec passage des paramètres</a:t>
            </a:r>
          </a:p>
          <a:p>
            <a:pPr algn="ctr"/>
            <a:r>
              <a:rPr lang="fr-FR" sz="1400" b="1" dirty="0" smtClean="0"/>
              <a:t>aux  </a:t>
            </a:r>
            <a:r>
              <a:rPr lang="fr-FR" sz="1400" b="1" dirty="0"/>
              <a:t>constructeurs </a:t>
            </a:r>
          </a:p>
        </p:txBody>
      </p:sp>
    </p:spTree>
    <p:extLst>
      <p:ext uri="{BB962C8B-B14F-4D97-AF65-F5344CB8AC3E}">
        <p14:creationId xmlns:p14="http://schemas.microsoft.com/office/powerpoint/2010/main" val="28817834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12"/>
          <p:cNvSpPr txBox="1"/>
          <p:nvPr/>
        </p:nvSpPr>
        <p:spPr>
          <a:xfrm>
            <a:off x="305273" y="675265"/>
            <a:ext cx="11780837" cy="8669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19710" eaLnBrk="1" fontAlgn="auto" hangingPunct="1">
              <a:spcBef>
                <a:spcPts val="0"/>
              </a:spcBef>
              <a:spcAft>
                <a:spcPts val="0"/>
              </a:spcAft>
              <a:tabLst>
                <a:tab pos="5993130" algn="l"/>
              </a:tabLst>
              <a:defRPr/>
            </a:pPr>
            <a:r>
              <a:rPr lang="en-US" sz="2250" u="heavy" spc="-40" dirty="0" smtClean="0">
                <a:latin typeface="Segoe UI Symbol"/>
                <a:cs typeface="Times New Roman"/>
              </a:rPr>
              <a:t>Passage des arguments </a:t>
            </a:r>
            <a:r>
              <a:rPr lang="en-US" sz="2250" u="heavy" spc="-40" dirty="0" err="1" smtClean="0">
                <a:latin typeface="Segoe UI Symbol"/>
                <a:cs typeface="Times New Roman"/>
              </a:rPr>
              <a:t>en</a:t>
            </a:r>
            <a:r>
              <a:rPr lang="en-US" sz="2250" u="heavy" spc="-40" dirty="0" smtClean="0">
                <a:latin typeface="Segoe UI Symbol"/>
                <a:cs typeface="Times New Roman"/>
              </a:rPr>
              <a:t> XAML – </a:t>
            </a:r>
            <a:r>
              <a:rPr lang="en-US" sz="2250" u="heavy" spc="-40" dirty="0" err="1" smtClean="0">
                <a:latin typeface="Segoe UI Symbol"/>
                <a:cs typeface="Times New Roman"/>
              </a:rPr>
              <a:t>Cas</a:t>
            </a:r>
            <a:r>
              <a:rPr lang="en-US" sz="2250" u="heavy" spc="-40" dirty="0" smtClean="0">
                <a:latin typeface="Segoe UI Symbol"/>
                <a:cs typeface="Times New Roman"/>
              </a:rPr>
              <a:t> de x:TypeArguments</a:t>
            </a:r>
            <a:r>
              <a:rPr sz="2250" u="heavy" dirty="0">
                <a:latin typeface="Times New Roman"/>
                <a:cs typeface="Times New Roman"/>
              </a:rPr>
              <a:t>	</a:t>
            </a:r>
          </a:p>
          <a:p>
            <a:pPr marL="256540" indent="-243840">
              <a:spcBef>
                <a:spcPts val="1900"/>
              </a:spcBef>
              <a:buClr>
                <a:srgbClr val="006498"/>
              </a:buClr>
              <a:buSzPct val="60000"/>
              <a:buFont typeface="Wingdings"/>
              <a:buChar char=""/>
              <a:tabLst>
                <a:tab pos="257175" algn="l"/>
              </a:tabLst>
              <a:defRPr/>
            </a:pPr>
            <a:r>
              <a:rPr lang="fr-FR" dirty="0" smtClean="0"/>
              <a:t>X:TypeArguments permet de passer des arguments génériques au constructeur</a:t>
            </a:r>
            <a:endParaRPr lang="fr-FR" sz="1600" spc="-25" dirty="0">
              <a:latin typeface="Segoe UI Symbol"/>
              <a:cs typeface="Segoe UI Symbo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9982" y="5174999"/>
            <a:ext cx="373185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1400" b="1" dirty="0" smtClean="0"/>
              <a:t>Exemple de classe passée en tant que argument</a:t>
            </a:r>
          </a:p>
          <a:p>
            <a:pPr algn="ctr"/>
            <a:r>
              <a:rPr lang="fr-FR" sz="1400" b="1" dirty="0" smtClean="0"/>
              <a:t>Générique le code   </a:t>
            </a:r>
            <a:endParaRPr lang="fr-FR" sz="1400" b="1" dirty="0"/>
          </a:p>
        </p:txBody>
      </p:sp>
      <p:sp>
        <p:nvSpPr>
          <p:cNvPr id="2" name="Rectangle 1"/>
          <p:cNvSpPr/>
          <p:nvPr/>
        </p:nvSpPr>
        <p:spPr>
          <a:xfrm>
            <a:off x="393865" y="1772621"/>
            <a:ext cx="4718462" cy="3308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1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Employee</a:t>
            </a:r>
            <a:endParaRPr lang="fr-FR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1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Employee</a:t>
            </a:r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() { }</a:t>
            </a: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ascadia Mono" panose="020B0609020000020004" pitchFamily="49" charset="0"/>
              </a:rPr>
              <a:t>Employee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1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id,</a:t>
            </a:r>
            <a:r>
              <a:rPr lang="en-US" sz="11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name, </a:t>
            </a:r>
            <a:endParaRPr lang="en-US" sz="11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en-US" sz="11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		</a:t>
            </a:r>
            <a:r>
              <a:rPr lang="en-US" sz="11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decimal</a:t>
            </a:r>
            <a:r>
              <a:rPr lang="en-US" sz="11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salary) {</a:t>
            </a:r>
          </a:p>
          <a:p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Id = id;</a:t>
            </a:r>
          </a:p>
          <a:p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Name = </a:t>
            </a:r>
            <a:r>
              <a:rPr lang="fr-FR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name</a:t>
            </a:r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Salary</a:t>
            </a:r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salary</a:t>
            </a:r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Id {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Name {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decimal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Salary {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1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override</a:t>
            </a:r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ToString</a:t>
            </a:r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A31515"/>
                </a:solidFill>
                <a:latin typeface="Cascadia Mono" panose="020B0609020000020004" pitchFamily="49" charset="0"/>
              </a:rPr>
              <a:t>$"Id: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{Id}</a:t>
            </a:r>
            <a:r>
              <a:rPr lang="en-US" sz="1100" dirty="0">
                <a:solidFill>
                  <a:srgbClr val="A31515"/>
                </a:solidFill>
                <a:latin typeface="Cascadia Mono" panose="020B0609020000020004" pitchFamily="49" charset="0"/>
              </a:rPr>
              <a:t>, Name: 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{Name}</a:t>
            </a:r>
            <a:r>
              <a:rPr lang="en-US" sz="1100" dirty="0">
                <a:solidFill>
                  <a:srgbClr val="A31515"/>
                </a:solidFill>
                <a:latin typeface="Cascadia Mono" panose="020B0609020000020004" pitchFamily="49" charset="0"/>
              </a:rPr>
              <a:t>, </a:t>
            </a:r>
            <a:endParaRPr lang="en-US" sz="1100" dirty="0" smtClean="0">
              <a:solidFill>
                <a:srgbClr val="A31515"/>
              </a:solidFill>
              <a:latin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A31515"/>
                </a:solidFill>
                <a:latin typeface="Cascadia Mono" panose="020B0609020000020004" pitchFamily="49" charset="0"/>
              </a:rPr>
              <a:t>	</a:t>
            </a:r>
            <a:r>
              <a:rPr lang="en-US" sz="11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	Salary</a:t>
            </a:r>
            <a:r>
              <a:rPr lang="en-US" sz="1100" dirty="0">
                <a:solidFill>
                  <a:srgbClr val="A31515"/>
                </a:solidFill>
                <a:latin typeface="Cascadia Mono" panose="020B0609020000020004" pitchFamily="49" charset="0"/>
              </a:rPr>
              <a:t>: 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{Salary}</a:t>
            </a:r>
            <a:r>
              <a:rPr lang="en-US" sz="11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  <a:endParaRPr lang="fr-FR" sz="1100" dirty="0"/>
          </a:p>
        </p:txBody>
      </p:sp>
      <p:sp>
        <p:nvSpPr>
          <p:cNvPr id="3" name="Rectangle 2"/>
          <p:cNvSpPr/>
          <p:nvPr/>
        </p:nvSpPr>
        <p:spPr>
          <a:xfrm>
            <a:off x="5039498" y="1858335"/>
            <a:ext cx="7152502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ContentPage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xmlns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="http://schemas.microsoft.com/</a:t>
            </a:r>
            <a:r>
              <a:rPr lang="fr-FR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dotnet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/2021/</a:t>
            </a:r>
            <a:r>
              <a:rPr lang="fr-FR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maui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xmlns</a:t>
            </a:r>
            <a:r>
              <a:rPr lang="fr-FR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x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="http://schemas.microsoft.com/</a:t>
            </a:r>
            <a:r>
              <a:rPr lang="fr-FR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winfx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/2009/</a:t>
            </a:r>
            <a:r>
              <a:rPr lang="fr-FR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xaml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xmlns</a:t>
            </a:r>
            <a:r>
              <a:rPr lang="fr-FR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local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fr-FR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clr-namespace:FirstMauiApp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b="1" dirty="0" err="1">
                <a:solidFill>
                  <a:srgbClr val="FF0000"/>
                </a:solidFill>
                <a:latin typeface="Cascadia Mono" panose="020B0609020000020004" pitchFamily="49" charset="0"/>
              </a:rPr>
              <a:t>xmlns</a:t>
            </a:r>
            <a:r>
              <a:rPr lang="fr-FR" sz="1200" b="1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200" b="1" dirty="0" err="1">
                <a:solidFill>
                  <a:srgbClr val="FF0000"/>
                </a:solidFill>
                <a:latin typeface="Cascadia Mono" panose="020B0609020000020004" pitchFamily="49" charset="0"/>
              </a:rPr>
              <a:t>scg</a:t>
            </a:r>
            <a:r>
              <a:rPr lang="fr-FR" sz="1200" b="1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fr-FR" sz="1200" b="1" dirty="0" err="1">
                <a:solidFill>
                  <a:srgbClr val="0000FF"/>
                </a:solidFill>
                <a:latin typeface="Cascadia Mono" panose="020B0609020000020004" pitchFamily="49" charset="0"/>
              </a:rPr>
              <a:t>clr-namespace:System.Collections.Generic;assembly</a:t>
            </a:r>
            <a:r>
              <a:rPr lang="fr-FR" sz="1200" b="1" dirty="0">
                <a:solidFill>
                  <a:srgbClr val="0000FF"/>
                </a:solidFill>
                <a:latin typeface="Cascadia Mono" panose="020B0609020000020004" pitchFamily="49" charset="0"/>
              </a:rPr>
              <a:t>=</a:t>
            </a:r>
            <a:r>
              <a:rPr lang="fr-FR" sz="1200" b="1" dirty="0" err="1">
                <a:solidFill>
                  <a:srgbClr val="0000FF"/>
                </a:solidFill>
                <a:latin typeface="Cascadia Mono" panose="020B0609020000020004" pitchFamily="49" charset="0"/>
              </a:rPr>
              <a:t>netstandard</a:t>
            </a:r>
            <a:r>
              <a:rPr lang="fr-FR" sz="1200" b="1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endParaRPr lang="fr-FR" sz="1200" b="1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x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="FirstMauiApp.MainPage"&gt;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CollectionView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Margin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="10,10,0,0"&gt;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CollectionView.ItemsSource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b="1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scg</a:t>
            </a:r>
            <a:r>
              <a:rPr lang="fr-FR" sz="1200" b="1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200" b="1" dirty="0" err="1">
                <a:solidFill>
                  <a:srgbClr val="A31515"/>
                </a:solidFill>
                <a:latin typeface="Cascadia Mono" panose="020B0609020000020004" pitchFamily="49" charset="0"/>
              </a:rPr>
              <a:t>List</a:t>
            </a:r>
            <a:r>
              <a:rPr lang="fr-FR" sz="1200" b="1" dirty="0">
                <a:solidFill>
                  <a:srgbClr val="FF0000"/>
                </a:solidFill>
                <a:latin typeface="Cascadia Mono" panose="020B0609020000020004" pitchFamily="49" charset="0"/>
              </a:rPr>
              <a:t> x</a:t>
            </a:r>
            <a:r>
              <a:rPr lang="fr-FR" sz="1200" b="1" dirty="0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200" b="1" dirty="0">
                <a:solidFill>
                  <a:srgbClr val="FF0000"/>
                </a:solidFill>
                <a:latin typeface="Cascadia Mono" panose="020B0609020000020004" pitchFamily="49" charset="0"/>
              </a:rPr>
              <a:t>TypeArguments</a:t>
            </a:r>
            <a:r>
              <a:rPr lang="fr-FR" sz="1200" b="1" dirty="0">
                <a:solidFill>
                  <a:srgbClr val="0000FF"/>
                </a:solidFill>
                <a:latin typeface="Cascadia Mono" panose="020B0609020000020004" pitchFamily="49" charset="0"/>
              </a:rPr>
              <a:t>="local:Employee"&gt;</a:t>
            </a:r>
            <a:endParaRPr lang="fr-FR" sz="1200" b="1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local</a:t>
            </a:r>
            <a:r>
              <a:rPr lang="fr-FR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Employee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x</a:t>
            </a:r>
            <a:r>
              <a:rPr lang="fr-FR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Arguments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x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Int32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1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x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Int32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x</a:t>
            </a:r>
            <a:r>
              <a:rPr lang="fr-FR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String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r>
              <a:rPr lang="fr-FR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Employee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A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x</a:t>
            </a:r>
            <a:r>
              <a:rPr lang="fr-FR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String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x</a:t>
            </a:r>
            <a:r>
              <a:rPr lang="fr-FR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Decimal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5500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x</a:t>
            </a:r>
            <a:r>
              <a:rPr lang="fr-FR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Decimal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x</a:t>
            </a:r>
            <a:r>
              <a:rPr lang="fr-FR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Arguments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local</a:t>
            </a:r>
            <a:r>
              <a:rPr lang="fr-FR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Employee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/>
          </a:p>
        </p:txBody>
      </p:sp>
      <p:sp>
        <p:nvSpPr>
          <p:cNvPr id="10" name="Rectangle 9"/>
          <p:cNvSpPr/>
          <p:nvPr/>
        </p:nvSpPr>
        <p:spPr>
          <a:xfrm>
            <a:off x="6195691" y="5174999"/>
            <a:ext cx="36420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1400" b="1" dirty="0" smtClean="0"/>
              <a:t>Exemple de classe passé en tant que argument</a:t>
            </a:r>
          </a:p>
          <a:p>
            <a:pPr algn="ctr"/>
            <a:r>
              <a:rPr lang="fr-FR" sz="1400" b="1" dirty="0" smtClean="0"/>
              <a:t>générique la définition en XAML </a:t>
            </a:r>
            <a:endParaRPr lang="fr-FR" sz="1400" b="1" dirty="0"/>
          </a:p>
        </p:txBody>
      </p:sp>
    </p:spTree>
    <p:extLst>
      <p:ext uri="{BB962C8B-B14F-4D97-AF65-F5344CB8AC3E}">
        <p14:creationId xmlns:p14="http://schemas.microsoft.com/office/powerpoint/2010/main" val="10800080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12"/>
          <p:cNvSpPr txBox="1"/>
          <p:nvPr/>
        </p:nvSpPr>
        <p:spPr>
          <a:xfrm>
            <a:off x="305273" y="675265"/>
            <a:ext cx="11780837" cy="10823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19710" eaLnBrk="1" fontAlgn="auto" hangingPunct="1">
              <a:spcBef>
                <a:spcPts val="0"/>
              </a:spcBef>
              <a:spcAft>
                <a:spcPts val="0"/>
              </a:spcAft>
              <a:tabLst>
                <a:tab pos="5993130" algn="l"/>
              </a:tabLst>
              <a:defRPr/>
            </a:pPr>
            <a:r>
              <a:rPr lang="en-US" sz="2250" u="heavy" spc="-40" dirty="0" smtClean="0">
                <a:latin typeface="Segoe UI Symbol"/>
                <a:cs typeface="Times New Roman"/>
              </a:rPr>
              <a:t>Passage des arguments </a:t>
            </a:r>
            <a:r>
              <a:rPr lang="en-US" sz="2250" u="heavy" spc="-40" dirty="0" err="1" smtClean="0">
                <a:latin typeface="Segoe UI Symbol"/>
                <a:cs typeface="Times New Roman"/>
              </a:rPr>
              <a:t>en</a:t>
            </a:r>
            <a:r>
              <a:rPr lang="en-US" sz="2250" u="heavy" spc="-40" dirty="0" smtClean="0">
                <a:latin typeface="Segoe UI Symbol"/>
                <a:cs typeface="Times New Roman"/>
              </a:rPr>
              <a:t> XAML – </a:t>
            </a:r>
            <a:r>
              <a:rPr lang="en-US" sz="2250" u="heavy" spc="-40" dirty="0" err="1" smtClean="0">
                <a:latin typeface="Segoe UI Symbol"/>
                <a:cs typeface="Times New Roman"/>
              </a:rPr>
              <a:t>Cas</a:t>
            </a:r>
            <a:r>
              <a:rPr lang="en-US" sz="2250" u="heavy" spc="-40" dirty="0" smtClean="0">
                <a:latin typeface="Segoe UI Symbol"/>
                <a:cs typeface="Times New Roman"/>
              </a:rPr>
              <a:t> de </a:t>
            </a:r>
            <a:r>
              <a:rPr lang="en-US" sz="2250" u="heavy" spc="-40" dirty="0" err="1" smtClean="0">
                <a:latin typeface="Segoe UI Symbol"/>
                <a:cs typeface="Times New Roman"/>
              </a:rPr>
              <a:t>méthode</a:t>
            </a:r>
            <a:r>
              <a:rPr lang="en-US" sz="2250" u="heavy" spc="-40" dirty="0" smtClean="0">
                <a:latin typeface="Segoe UI Symbol"/>
                <a:cs typeface="Times New Roman"/>
              </a:rPr>
              <a:t> factory</a:t>
            </a:r>
            <a:r>
              <a:rPr sz="2250" u="heavy" dirty="0">
                <a:latin typeface="Times New Roman"/>
                <a:cs typeface="Times New Roman"/>
              </a:rPr>
              <a:t>	</a:t>
            </a:r>
          </a:p>
          <a:p>
            <a:pPr marL="256540" indent="-243840">
              <a:spcBef>
                <a:spcPts val="1900"/>
              </a:spcBef>
              <a:buClr>
                <a:srgbClr val="006498"/>
              </a:buClr>
              <a:buSzPct val="60000"/>
              <a:buFont typeface="Wingdings"/>
              <a:buChar char=""/>
              <a:tabLst>
                <a:tab pos="257175" algn="l"/>
              </a:tabLst>
              <a:defRPr/>
            </a:pPr>
            <a:r>
              <a:rPr lang="fr-FR" sz="1600" spc="-25" dirty="0">
                <a:latin typeface="Segoe UI Symbol"/>
                <a:cs typeface="Segoe UI Symbol"/>
              </a:rPr>
              <a:t>Les méthodes </a:t>
            </a:r>
            <a:r>
              <a:rPr lang="fr-FR" sz="1600" spc="-25" dirty="0" smtClean="0">
                <a:latin typeface="Segoe UI Symbol"/>
                <a:cs typeface="Segoe UI Symbol"/>
              </a:rPr>
              <a:t>peuvent </a:t>
            </a:r>
            <a:r>
              <a:rPr lang="fr-FR" sz="1600" spc="-25" dirty="0">
                <a:latin typeface="Segoe UI Symbol"/>
                <a:cs typeface="Segoe UI Symbol"/>
              </a:rPr>
              <a:t>être appelées dans .NET MAUI XAML en spécifiant le nom de la méthode à l’aide de l’attribut x:FactoryMethod </a:t>
            </a:r>
            <a:r>
              <a:rPr lang="fr-FR" sz="1600" spc="-25" dirty="0" err="1">
                <a:latin typeface="Segoe UI Symbol"/>
                <a:cs typeface="Segoe UI Symbol"/>
              </a:rPr>
              <a:t>efabriquet</a:t>
            </a:r>
            <a:r>
              <a:rPr lang="fr-FR" sz="1600" spc="-25" dirty="0">
                <a:latin typeface="Segoe UI Symbol"/>
                <a:cs typeface="Segoe UI Symbol"/>
              </a:rPr>
              <a:t> ses arguments à l’aide de l’attribut </a:t>
            </a:r>
            <a:r>
              <a:rPr lang="fr-FR" sz="1600" spc="-25" dirty="0" smtClean="0">
                <a:latin typeface="Segoe UI Symbol"/>
                <a:cs typeface="Segoe UI Symbol"/>
              </a:rPr>
              <a:t>x:Arguments, elles doivent être définies comme statiques </a:t>
            </a:r>
            <a:endParaRPr lang="fr-FR" sz="1600" spc="-25" dirty="0">
              <a:latin typeface="Segoe UI Symbol"/>
              <a:cs typeface="Segoe UI Symbo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28640" y="4081426"/>
            <a:ext cx="326435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1400" b="1" dirty="0" smtClean="0"/>
              <a:t>Exemple de méthode de fabrique le code </a:t>
            </a:r>
            <a:endParaRPr lang="fr-FR" sz="1400" b="1" dirty="0"/>
          </a:p>
        </p:txBody>
      </p:sp>
      <p:sp>
        <p:nvSpPr>
          <p:cNvPr id="10" name="Rectangle 9"/>
          <p:cNvSpPr/>
          <p:nvPr/>
        </p:nvSpPr>
        <p:spPr>
          <a:xfrm>
            <a:off x="6714201" y="4704080"/>
            <a:ext cx="34529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1400" b="1" dirty="0" smtClean="0"/>
              <a:t>Exemple d’appel de la méthode de fabrique </a:t>
            </a:r>
          </a:p>
          <a:p>
            <a:pPr algn="ctr"/>
            <a:r>
              <a:rPr lang="fr-FR" sz="1400" b="1" dirty="0" smtClean="0"/>
              <a:t>à partir du XAML</a:t>
            </a:r>
            <a:endParaRPr lang="fr-FR" sz="1400" b="1" dirty="0"/>
          </a:p>
        </p:txBody>
      </p:sp>
      <p:sp>
        <p:nvSpPr>
          <p:cNvPr id="7" name="Rectangle 6"/>
          <p:cNvSpPr/>
          <p:nvPr/>
        </p:nvSpPr>
        <p:spPr>
          <a:xfrm>
            <a:off x="403654" y="1858335"/>
            <a:ext cx="6096000" cy="209288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Employee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b="1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Employee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endParaRPr lang="fr-FR" sz="16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3"/>
            <a:r>
              <a:rPr lang="fr-FR" sz="16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defineEmployee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</a:p>
          <a:p>
            <a:pPr lvl="3"/>
            <a:r>
              <a:rPr lang="fr-FR" sz="1600" dirty="0" err="1" smtClean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6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id, </a:t>
            </a:r>
          </a:p>
          <a:p>
            <a:pPr lvl="3"/>
            <a:r>
              <a:rPr lang="fr-FR" sz="16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6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name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pPr lvl="3"/>
            <a:r>
              <a:rPr lang="fr-FR" sz="1600" dirty="0" err="1" smtClean="0">
                <a:solidFill>
                  <a:srgbClr val="0000FF"/>
                </a:solidFill>
                <a:latin typeface="Cascadia Mono" panose="020B0609020000020004" pitchFamily="49" charset="0"/>
              </a:rPr>
              <a:t>decimal</a:t>
            </a:r>
            <a:r>
              <a:rPr lang="fr-FR" sz="16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salary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fr-FR" sz="16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=&gt; 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Employee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(id,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name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salary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fr-FR" sz="1600" dirty="0"/>
          </a:p>
        </p:txBody>
      </p:sp>
      <p:sp>
        <p:nvSpPr>
          <p:cNvPr id="9" name="Rectangle 8"/>
          <p:cNvSpPr/>
          <p:nvPr/>
        </p:nvSpPr>
        <p:spPr>
          <a:xfrm>
            <a:off x="5025082" y="1896213"/>
            <a:ext cx="6831226" cy="2769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CollectionView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Margin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="10,10,0,0"&gt;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CollectionView.ItemsSource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scg</a:t>
            </a:r>
            <a:r>
              <a:rPr lang="fr-FR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List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x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TypeArguments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="local:Employee"&gt;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400" b="1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b="1" dirty="0" err="1">
                <a:solidFill>
                  <a:srgbClr val="A31515"/>
                </a:solidFill>
                <a:latin typeface="Cascadia Mono" panose="020B0609020000020004" pitchFamily="49" charset="0"/>
              </a:rPr>
              <a:t>local</a:t>
            </a:r>
            <a:r>
              <a:rPr lang="fr-FR" sz="1400" b="1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b="1" dirty="0" err="1">
                <a:solidFill>
                  <a:srgbClr val="A31515"/>
                </a:solidFill>
                <a:latin typeface="Cascadia Mono" panose="020B0609020000020004" pitchFamily="49" charset="0"/>
              </a:rPr>
              <a:t>Employee</a:t>
            </a:r>
            <a:r>
              <a:rPr lang="fr-FR" sz="1400" b="1" dirty="0">
                <a:solidFill>
                  <a:srgbClr val="FF0000"/>
                </a:solidFill>
                <a:latin typeface="Cascadia Mono" panose="020B0609020000020004" pitchFamily="49" charset="0"/>
              </a:rPr>
              <a:t> x</a:t>
            </a:r>
            <a:r>
              <a:rPr lang="fr-FR" sz="1400" b="1" dirty="0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b="1" dirty="0">
                <a:solidFill>
                  <a:srgbClr val="FF0000"/>
                </a:solidFill>
                <a:latin typeface="Cascadia Mono" panose="020B0609020000020004" pitchFamily="49" charset="0"/>
              </a:rPr>
              <a:t>FactoryMethod</a:t>
            </a:r>
            <a:r>
              <a:rPr lang="fr-FR" sz="1400" b="1" dirty="0">
                <a:solidFill>
                  <a:srgbClr val="0000FF"/>
                </a:solidFill>
                <a:latin typeface="Cascadia Mono" panose="020B0609020000020004" pitchFamily="49" charset="0"/>
              </a:rPr>
              <a:t>="defineEmployee"&gt;</a:t>
            </a:r>
            <a:endParaRPr lang="fr-FR" sz="1400" b="1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fr-FR" sz="1400" b="1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b="1" dirty="0" err="1">
                <a:solidFill>
                  <a:srgbClr val="A31515"/>
                </a:solidFill>
                <a:latin typeface="Cascadia Mono" panose="020B0609020000020004" pitchFamily="49" charset="0"/>
              </a:rPr>
              <a:t>x</a:t>
            </a:r>
            <a:r>
              <a:rPr lang="fr-FR" sz="1400" b="1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b="1" dirty="0" err="1">
                <a:solidFill>
                  <a:srgbClr val="A31515"/>
                </a:solidFill>
                <a:latin typeface="Cascadia Mono" panose="020B0609020000020004" pitchFamily="49" charset="0"/>
              </a:rPr>
              <a:t>Arguments</a:t>
            </a:r>
            <a:r>
              <a:rPr lang="fr-FR" sz="1400" b="1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b="1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  <a:r>
              <a:rPr lang="fr-FR" sz="1400" b="1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b="1" dirty="0">
                <a:solidFill>
                  <a:srgbClr val="A31515"/>
                </a:solidFill>
                <a:latin typeface="Cascadia Mono" panose="020B0609020000020004" pitchFamily="49" charset="0"/>
              </a:rPr>
              <a:t>x</a:t>
            </a:r>
            <a:r>
              <a:rPr lang="fr-FR" sz="1400" b="1" dirty="0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b="1" dirty="0">
                <a:solidFill>
                  <a:srgbClr val="A31515"/>
                </a:solidFill>
                <a:latin typeface="Cascadia Mono" panose="020B0609020000020004" pitchFamily="49" charset="0"/>
              </a:rPr>
              <a:t>Int32</a:t>
            </a:r>
            <a:r>
              <a:rPr lang="fr-FR" sz="1400" b="1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r>
              <a:rPr lang="fr-FR" sz="1400" b="1" dirty="0">
                <a:solidFill>
                  <a:srgbClr val="000000"/>
                </a:solidFill>
                <a:latin typeface="Cascadia Mono" panose="020B0609020000020004" pitchFamily="49" charset="0"/>
              </a:rPr>
              <a:t>1</a:t>
            </a:r>
            <a:r>
              <a:rPr lang="fr-FR" sz="1400" b="1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b="1" dirty="0">
                <a:solidFill>
                  <a:srgbClr val="A31515"/>
                </a:solidFill>
                <a:latin typeface="Cascadia Mono" panose="020B0609020000020004" pitchFamily="49" charset="0"/>
              </a:rPr>
              <a:t>x</a:t>
            </a:r>
            <a:r>
              <a:rPr lang="fr-FR" sz="1400" b="1" dirty="0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b="1" dirty="0">
                <a:solidFill>
                  <a:srgbClr val="A31515"/>
                </a:solidFill>
                <a:latin typeface="Cascadia Mono" panose="020B0609020000020004" pitchFamily="49" charset="0"/>
              </a:rPr>
              <a:t>Int32</a:t>
            </a:r>
            <a:r>
              <a:rPr lang="fr-FR" sz="1400" b="1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b="1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  <a:r>
              <a:rPr lang="fr-FR" sz="1400" b="1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b="1" dirty="0" err="1">
                <a:solidFill>
                  <a:srgbClr val="A31515"/>
                </a:solidFill>
                <a:latin typeface="Cascadia Mono" panose="020B0609020000020004" pitchFamily="49" charset="0"/>
              </a:rPr>
              <a:t>x</a:t>
            </a:r>
            <a:r>
              <a:rPr lang="fr-FR" sz="1400" b="1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b="1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String</a:t>
            </a:r>
            <a:r>
              <a:rPr lang="fr-FR" sz="1400" b="1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r>
              <a:rPr lang="fr-FR" sz="1400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Employee</a:t>
            </a:r>
            <a:r>
              <a:rPr lang="fr-FR" sz="14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A</a:t>
            </a:r>
            <a:r>
              <a:rPr lang="fr-FR" sz="1400" b="1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b="1" dirty="0" err="1">
                <a:solidFill>
                  <a:srgbClr val="A31515"/>
                </a:solidFill>
                <a:latin typeface="Cascadia Mono" panose="020B0609020000020004" pitchFamily="49" charset="0"/>
              </a:rPr>
              <a:t>x</a:t>
            </a:r>
            <a:r>
              <a:rPr lang="fr-FR" sz="1400" b="1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b="1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String</a:t>
            </a:r>
            <a:r>
              <a:rPr lang="fr-FR" sz="1400" b="1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b="1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  <a:r>
              <a:rPr lang="fr-FR" sz="1400" b="1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b="1" dirty="0" err="1">
                <a:solidFill>
                  <a:srgbClr val="A31515"/>
                </a:solidFill>
                <a:latin typeface="Cascadia Mono" panose="020B0609020000020004" pitchFamily="49" charset="0"/>
              </a:rPr>
              <a:t>x</a:t>
            </a:r>
            <a:r>
              <a:rPr lang="fr-FR" sz="1400" b="1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b="1" dirty="0" err="1">
                <a:solidFill>
                  <a:srgbClr val="A31515"/>
                </a:solidFill>
                <a:latin typeface="Cascadia Mono" panose="020B0609020000020004" pitchFamily="49" charset="0"/>
              </a:rPr>
              <a:t>Decimal</a:t>
            </a:r>
            <a:r>
              <a:rPr lang="fr-FR" sz="1400" b="1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r>
              <a:rPr lang="fr-FR" sz="1400" b="1" dirty="0">
                <a:solidFill>
                  <a:srgbClr val="000000"/>
                </a:solidFill>
                <a:latin typeface="Cascadia Mono" panose="020B0609020000020004" pitchFamily="49" charset="0"/>
              </a:rPr>
              <a:t>5000</a:t>
            </a:r>
            <a:r>
              <a:rPr lang="fr-FR" sz="1400" b="1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b="1" dirty="0" err="1">
                <a:solidFill>
                  <a:srgbClr val="A31515"/>
                </a:solidFill>
                <a:latin typeface="Cascadia Mono" panose="020B0609020000020004" pitchFamily="49" charset="0"/>
              </a:rPr>
              <a:t>x</a:t>
            </a:r>
            <a:r>
              <a:rPr lang="fr-FR" sz="1400" b="1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b="1" dirty="0" err="1">
                <a:solidFill>
                  <a:srgbClr val="A31515"/>
                </a:solidFill>
                <a:latin typeface="Cascadia Mono" panose="020B0609020000020004" pitchFamily="49" charset="0"/>
              </a:rPr>
              <a:t>Decimal</a:t>
            </a:r>
            <a:r>
              <a:rPr lang="fr-FR" sz="1400" b="1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b="1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fr-FR" sz="1400" b="1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b="1" dirty="0" err="1">
                <a:solidFill>
                  <a:srgbClr val="A31515"/>
                </a:solidFill>
                <a:latin typeface="Cascadia Mono" panose="020B0609020000020004" pitchFamily="49" charset="0"/>
              </a:rPr>
              <a:t>x</a:t>
            </a:r>
            <a:r>
              <a:rPr lang="fr-FR" sz="1400" b="1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b="1" dirty="0" err="1">
                <a:solidFill>
                  <a:srgbClr val="A31515"/>
                </a:solidFill>
                <a:latin typeface="Cascadia Mono" panose="020B0609020000020004" pitchFamily="49" charset="0"/>
              </a:rPr>
              <a:t>Arguments</a:t>
            </a:r>
            <a:r>
              <a:rPr lang="fr-FR" sz="1400" b="1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b="1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200" b="1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b="1" dirty="0" err="1">
                <a:solidFill>
                  <a:srgbClr val="A31515"/>
                </a:solidFill>
                <a:latin typeface="Cascadia Mono" panose="020B0609020000020004" pitchFamily="49" charset="0"/>
              </a:rPr>
              <a:t>local</a:t>
            </a:r>
            <a:r>
              <a:rPr lang="fr-FR" sz="1200" b="1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200" b="1" dirty="0" err="1">
                <a:solidFill>
                  <a:srgbClr val="A31515"/>
                </a:solidFill>
                <a:latin typeface="Cascadia Mono" panose="020B0609020000020004" pitchFamily="49" charset="0"/>
              </a:rPr>
              <a:t>Employee</a:t>
            </a:r>
            <a:r>
              <a:rPr lang="fr-FR" sz="1200" b="1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b="1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200" b="1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b="1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scg</a:t>
            </a:r>
            <a:r>
              <a:rPr lang="fr-FR" sz="1200" b="1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200" b="1" dirty="0" err="1">
                <a:solidFill>
                  <a:srgbClr val="A31515"/>
                </a:solidFill>
                <a:latin typeface="Cascadia Mono" panose="020B0609020000020004" pitchFamily="49" charset="0"/>
              </a:rPr>
              <a:t>List</a:t>
            </a:r>
            <a:r>
              <a:rPr lang="fr-FR" sz="1200" b="1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b="1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CollectionView.ItemsSource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CollectionView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15529993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12"/>
          <p:cNvSpPr txBox="1"/>
          <p:nvPr/>
        </p:nvSpPr>
        <p:spPr>
          <a:xfrm>
            <a:off x="305273" y="675265"/>
            <a:ext cx="11780837" cy="4270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19710" eaLnBrk="1" fontAlgn="auto" hangingPunct="1">
              <a:spcBef>
                <a:spcPts val="0"/>
              </a:spcBef>
              <a:spcAft>
                <a:spcPts val="0"/>
              </a:spcAft>
              <a:tabLst>
                <a:tab pos="5993130" algn="l"/>
              </a:tabLst>
              <a:defRPr/>
            </a:pPr>
            <a:r>
              <a:rPr lang="en-US" sz="2250" u="heavy" spc="-40" dirty="0" smtClean="0">
                <a:latin typeface="Segoe UI Symbol"/>
                <a:cs typeface="Times New Roman"/>
              </a:rPr>
              <a:t>Les </a:t>
            </a:r>
            <a:r>
              <a:rPr lang="en-US" sz="2250" u="heavy" spc="-40" dirty="0" err="1" smtClean="0">
                <a:latin typeface="Segoe UI Symbol"/>
                <a:cs typeface="Times New Roman"/>
              </a:rPr>
              <a:t>modificateurs</a:t>
            </a:r>
            <a:r>
              <a:rPr lang="en-US" sz="2250" u="heavy" spc="-40" dirty="0" smtClean="0">
                <a:latin typeface="Segoe UI Symbol"/>
                <a:cs typeface="Times New Roman"/>
              </a:rPr>
              <a:t> </a:t>
            </a:r>
            <a:r>
              <a:rPr lang="en-US" sz="2250" u="heavy" spc="-40" dirty="0" err="1" smtClean="0">
                <a:latin typeface="Segoe UI Symbol"/>
                <a:cs typeface="Times New Roman"/>
              </a:rPr>
              <a:t>d’accès</a:t>
            </a:r>
            <a:r>
              <a:rPr lang="en-US" sz="2250" u="heavy" spc="-40" dirty="0" smtClean="0">
                <a:latin typeface="Segoe UI Symbol"/>
                <a:cs typeface="Times New Roman"/>
              </a:rPr>
              <a:t> </a:t>
            </a:r>
            <a:r>
              <a:rPr lang="en-US" sz="2250" u="heavy" spc="-40" dirty="0" err="1" smtClean="0">
                <a:latin typeface="Segoe UI Symbol"/>
                <a:cs typeface="Times New Roman"/>
              </a:rPr>
              <a:t>en</a:t>
            </a:r>
            <a:r>
              <a:rPr lang="en-US" sz="2250" u="heavy" spc="-40" dirty="0" smtClean="0">
                <a:latin typeface="Segoe UI Symbol"/>
                <a:cs typeface="Times New Roman"/>
              </a:rPr>
              <a:t> XAML</a:t>
            </a:r>
            <a:r>
              <a:rPr sz="2250" u="heavy" dirty="0">
                <a:latin typeface="Times New Roman"/>
                <a:cs typeface="Times New Roman"/>
              </a:rPr>
              <a:t>	</a:t>
            </a:r>
          </a:p>
          <a:p>
            <a:pPr marL="256540" indent="-243840">
              <a:spcBef>
                <a:spcPts val="1900"/>
              </a:spcBef>
              <a:buClr>
                <a:srgbClr val="006498"/>
              </a:buClr>
              <a:buSzPct val="60000"/>
              <a:buFont typeface="Wingdings"/>
              <a:buChar char=""/>
              <a:tabLst>
                <a:tab pos="257175" algn="l"/>
              </a:tabLst>
              <a:defRPr/>
            </a:pPr>
            <a:r>
              <a:rPr lang="fr-FR" sz="1600" spc="-25" dirty="0">
                <a:latin typeface="Segoe UI Symbol"/>
                <a:cs typeface="Segoe UI Symbol"/>
              </a:rPr>
              <a:t>L’attribut .NET Multiplateforme App UI (.NET MAUI) x:FieldModifier spécifie le niveau d’accès pour les champs générés pour les éléments XAML </a:t>
            </a:r>
            <a:r>
              <a:rPr lang="fr-FR" sz="1600" spc="-25" dirty="0" smtClean="0">
                <a:latin typeface="Segoe UI Symbol"/>
                <a:cs typeface="Segoe UI Symbol"/>
              </a:rPr>
              <a:t>nommés</a:t>
            </a:r>
          </a:p>
          <a:p>
            <a:pPr marL="256540" indent="-243840">
              <a:spcBef>
                <a:spcPts val="1900"/>
              </a:spcBef>
              <a:buClr>
                <a:srgbClr val="006498"/>
              </a:buClr>
              <a:buSzPct val="60000"/>
              <a:buFont typeface="Wingdings"/>
              <a:buChar char=""/>
              <a:tabLst>
                <a:tab pos="257175" algn="l"/>
              </a:tabLst>
              <a:defRPr/>
            </a:pPr>
            <a:r>
              <a:rPr lang="fr-FR" sz="1600" spc="-25" dirty="0">
                <a:latin typeface="Segoe UI Symbol"/>
                <a:cs typeface="Segoe UI Symbol"/>
              </a:rPr>
              <a:t>Les valeurs valides de l’attribut x:FieldModifier sont les suivantes </a:t>
            </a:r>
            <a:r>
              <a:rPr lang="fr-FR" sz="1600" spc="-25" dirty="0" smtClean="0">
                <a:latin typeface="Segoe UI Symbol"/>
                <a:cs typeface="Segoe UI Symbol"/>
              </a:rPr>
              <a:t>:</a:t>
            </a:r>
            <a:endParaRPr lang="fr-FR" sz="1600" spc="-25" dirty="0">
              <a:latin typeface="Segoe UI Symbol"/>
              <a:cs typeface="Segoe UI Symbol"/>
            </a:endParaRPr>
          </a:p>
          <a:p>
            <a:pPr marL="713740" lvl="1" indent="-243840">
              <a:spcBef>
                <a:spcPts val="1900"/>
              </a:spcBef>
              <a:buClr>
                <a:srgbClr val="006498"/>
              </a:buClr>
              <a:buSzPct val="60000"/>
              <a:buFont typeface="Wingdings"/>
              <a:buChar char=""/>
              <a:tabLst>
                <a:tab pos="257175" algn="l"/>
              </a:tabLst>
              <a:defRPr/>
            </a:pPr>
            <a:r>
              <a:rPr lang="fr-FR" sz="1600" b="1" spc="-25" dirty="0" err="1">
                <a:latin typeface="Segoe UI Symbol"/>
                <a:cs typeface="Segoe UI Symbol"/>
              </a:rPr>
              <a:t>Private</a:t>
            </a:r>
            <a:r>
              <a:rPr lang="fr-FR" sz="1600" b="1" spc="-25" dirty="0">
                <a:latin typeface="Segoe UI Symbol"/>
                <a:cs typeface="Segoe UI Symbol"/>
              </a:rPr>
              <a:t> :</a:t>
            </a:r>
            <a:r>
              <a:rPr lang="fr-FR" sz="1600" spc="-25" dirty="0">
                <a:latin typeface="Segoe UI Symbol"/>
                <a:cs typeface="Segoe UI Symbol"/>
              </a:rPr>
              <a:t> spécifie que le champ généré pour l’élément XAML est accessible uniquement dans le corps de la classe dans laquelle il est déclaré.</a:t>
            </a:r>
          </a:p>
          <a:p>
            <a:pPr marL="713740" lvl="1" indent="-243840">
              <a:spcBef>
                <a:spcPts val="1900"/>
              </a:spcBef>
              <a:buClr>
                <a:srgbClr val="006498"/>
              </a:buClr>
              <a:buSzPct val="60000"/>
              <a:buFont typeface="Wingdings"/>
              <a:buChar char=""/>
              <a:tabLst>
                <a:tab pos="257175" algn="l"/>
              </a:tabLst>
              <a:defRPr/>
            </a:pPr>
            <a:r>
              <a:rPr lang="fr-FR" sz="1600" b="1" spc="-25" dirty="0">
                <a:latin typeface="Segoe UI Symbol"/>
                <a:cs typeface="Segoe UI Symbol"/>
              </a:rPr>
              <a:t>Public :</a:t>
            </a:r>
            <a:r>
              <a:rPr lang="fr-FR" sz="1600" spc="-25" dirty="0">
                <a:latin typeface="Segoe UI Symbol"/>
                <a:cs typeface="Segoe UI Symbol"/>
              </a:rPr>
              <a:t> spécifie que le champ généré pour l’élément XAML n’a aucune restriction d’accès.</a:t>
            </a:r>
          </a:p>
          <a:p>
            <a:pPr marL="713740" lvl="1" indent="-243840">
              <a:spcBef>
                <a:spcPts val="1900"/>
              </a:spcBef>
              <a:buClr>
                <a:srgbClr val="006498"/>
              </a:buClr>
              <a:buSzPct val="60000"/>
              <a:buFont typeface="Wingdings"/>
              <a:buChar char=""/>
              <a:tabLst>
                <a:tab pos="257175" algn="l"/>
              </a:tabLst>
              <a:defRPr/>
            </a:pPr>
            <a:r>
              <a:rPr lang="fr-FR" sz="1600" b="1" spc="-25" dirty="0" err="1">
                <a:latin typeface="Segoe UI Symbol"/>
                <a:cs typeface="Segoe UI Symbol"/>
              </a:rPr>
              <a:t>Protected</a:t>
            </a:r>
            <a:r>
              <a:rPr lang="fr-FR" sz="1600" b="1" spc="-25" dirty="0">
                <a:latin typeface="Segoe UI Symbol"/>
                <a:cs typeface="Segoe UI Symbol"/>
              </a:rPr>
              <a:t> : </a:t>
            </a:r>
            <a:r>
              <a:rPr lang="fr-FR" sz="1600" spc="-25" dirty="0">
                <a:latin typeface="Segoe UI Symbol"/>
                <a:cs typeface="Segoe UI Symbol"/>
              </a:rPr>
              <a:t>spécifie que le champ généré pour l’élément XAML est accessible dans sa classe et par des instances de classe dérivées.</a:t>
            </a:r>
          </a:p>
          <a:p>
            <a:pPr marL="713740" lvl="1" indent="-243840">
              <a:spcBef>
                <a:spcPts val="1900"/>
              </a:spcBef>
              <a:buClr>
                <a:srgbClr val="006498"/>
              </a:buClr>
              <a:buSzPct val="60000"/>
              <a:buFont typeface="Wingdings"/>
              <a:buChar char=""/>
              <a:tabLst>
                <a:tab pos="257175" algn="l"/>
              </a:tabLst>
              <a:defRPr/>
            </a:pPr>
            <a:r>
              <a:rPr lang="fr-FR" sz="1600" b="1" spc="-25" dirty="0" err="1">
                <a:latin typeface="Segoe UI Symbol"/>
                <a:cs typeface="Segoe UI Symbol"/>
              </a:rPr>
              <a:t>Internal</a:t>
            </a:r>
            <a:r>
              <a:rPr lang="fr-FR" sz="1600" b="1" spc="-25" dirty="0">
                <a:latin typeface="Segoe UI Symbol"/>
                <a:cs typeface="Segoe UI Symbol"/>
              </a:rPr>
              <a:t> </a:t>
            </a:r>
            <a:r>
              <a:rPr lang="fr-FR" sz="1600" b="1" spc="-25" dirty="0" smtClean="0">
                <a:latin typeface="Segoe UI Symbol"/>
                <a:cs typeface="Segoe UI Symbol"/>
              </a:rPr>
              <a:t>/</a:t>
            </a:r>
            <a:r>
              <a:rPr lang="fr-FR" sz="1600" b="1" spc="-25" dirty="0" err="1" smtClean="0">
                <a:latin typeface="Segoe UI Symbol"/>
                <a:cs typeface="Segoe UI Symbol"/>
              </a:rPr>
              <a:t>NotPublic</a:t>
            </a:r>
            <a:r>
              <a:rPr lang="fr-FR" sz="1600" b="1" spc="-25" dirty="0" smtClean="0">
                <a:latin typeface="Segoe UI Symbol"/>
                <a:cs typeface="Segoe UI Symbol"/>
              </a:rPr>
              <a:t> : </a:t>
            </a:r>
            <a:r>
              <a:rPr lang="fr-FR" sz="1600" spc="-25" dirty="0">
                <a:latin typeface="Segoe UI Symbol"/>
                <a:cs typeface="Segoe UI Symbol"/>
              </a:rPr>
              <a:t>spécifie que le champ généré pour l’élément XAML est accessible uniquement dans les types du même </a:t>
            </a:r>
            <a:r>
              <a:rPr lang="fr-FR" sz="1600" spc="-25" dirty="0" err="1">
                <a:latin typeface="Segoe UI Symbol"/>
                <a:cs typeface="Segoe UI Symbol"/>
              </a:rPr>
              <a:t>assembly</a:t>
            </a:r>
            <a:r>
              <a:rPr lang="fr-FR" sz="1600" spc="-25" dirty="0" smtClean="0">
                <a:latin typeface="Segoe UI Symbol"/>
                <a:cs typeface="Segoe UI Symbol"/>
              </a:rPr>
              <a:t>.</a:t>
            </a:r>
            <a:endParaRPr lang="fr-FR" sz="1600" spc="-25" dirty="0">
              <a:latin typeface="Segoe UI Symbol"/>
              <a:cs typeface="Segoe UI Symbol"/>
            </a:endParaRPr>
          </a:p>
        </p:txBody>
      </p:sp>
    </p:spTree>
    <p:extLst>
      <p:ext uri="{BB962C8B-B14F-4D97-AF65-F5344CB8AC3E}">
        <p14:creationId xmlns:p14="http://schemas.microsoft.com/office/powerpoint/2010/main" val="1422314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12"/>
          <p:cNvSpPr txBox="1"/>
          <p:nvPr/>
        </p:nvSpPr>
        <p:spPr>
          <a:xfrm>
            <a:off x="305273" y="675265"/>
            <a:ext cx="11780837" cy="3462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19710" eaLnBrk="1" fontAlgn="auto" hangingPunct="1">
              <a:spcBef>
                <a:spcPts val="0"/>
              </a:spcBef>
              <a:spcAft>
                <a:spcPts val="0"/>
              </a:spcAft>
              <a:tabLst>
                <a:tab pos="5993130" algn="l"/>
              </a:tabLst>
              <a:defRPr/>
            </a:pPr>
            <a:r>
              <a:rPr lang="en-US" sz="2250" u="heavy" spc="-40" dirty="0" smtClean="0">
                <a:latin typeface="Segoe UI Symbol"/>
                <a:cs typeface="Times New Roman"/>
              </a:rPr>
              <a:t>Les </a:t>
            </a:r>
            <a:r>
              <a:rPr lang="en-US" sz="2250" u="heavy" spc="-40" dirty="0" err="1" smtClean="0">
                <a:latin typeface="Segoe UI Symbol"/>
                <a:cs typeface="Times New Roman"/>
              </a:rPr>
              <a:t>modificateurs</a:t>
            </a:r>
            <a:r>
              <a:rPr lang="en-US" sz="2250" u="heavy" spc="-40" dirty="0" smtClean="0">
                <a:latin typeface="Segoe UI Symbol"/>
                <a:cs typeface="Times New Roman"/>
              </a:rPr>
              <a:t> </a:t>
            </a:r>
            <a:r>
              <a:rPr lang="en-US" sz="2250" u="heavy" spc="-40" dirty="0" err="1" smtClean="0">
                <a:latin typeface="Segoe UI Symbol"/>
                <a:cs typeface="Times New Roman"/>
              </a:rPr>
              <a:t>d’accès</a:t>
            </a:r>
            <a:r>
              <a:rPr lang="en-US" sz="2250" u="heavy" spc="-40" dirty="0" smtClean="0">
                <a:latin typeface="Segoe UI Symbol"/>
                <a:cs typeface="Times New Roman"/>
              </a:rPr>
              <a:t> </a:t>
            </a:r>
            <a:r>
              <a:rPr lang="en-US" sz="2250" u="heavy" spc="-40" dirty="0" err="1" smtClean="0">
                <a:latin typeface="Segoe UI Symbol"/>
                <a:cs typeface="Times New Roman"/>
              </a:rPr>
              <a:t>en</a:t>
            </a:r>
            <a:r>
              <a:rPr lang="en-US" sz="2250" u="heavy" spc="-40" dirty="0" smtClean="0">
                <a:latin typeface="Segoe UI Symbol"/>
                <a:cs typeface="Times New Roman"/>
              </a:rPr>
              <a:t> XAML</a:t>
            </a:r>
            <a:r>
              <a:rPr sz="2250" u="heavy" dirty="0">
                <a:latin typeface="Times New Roman"/>
                <a:cs typeface="Times New Roman"/>
              </a:rPr>
              <a:t>	</a:t>
            </a:r>
          </a:p>
        </p:txBody>
      </p:sp>
      <p:sp>
        <p:nvSpPr>
          <p:cNvPr id="5" name="Rectangle 4"/>
          <p:cNvSpPr/>
          <p:nvPr/>
        </p:nvSpPr>
        <p:spPr>
          <a:xfrm>
            <a:off x="423553" y="1561281"/>
            <a:ext cx="53181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x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Name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="myLabel"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Cascadia Mono" panose="020B0609020000020004" pitchFamily="49" charset="0"/>
              </a:rPr>
              <a:t>x</a:t>
            </a:r>
            <a:r>
              <a:rPr lang="en-US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en-US" dirty="0" smtClean="0">
                <a:solidFill>
                  <a:srgbClr val="FF0000"/>
                </a:solidFill>
                <a:latin typeface="Cascadia Mono" panose="020B0609020000020004" pitchFamily="49" charset="0"/>
              </a:rPr>
              <a:t>FieldModifier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="Public"/&gt;</a:t>
            </a:r>
            <a:endParaRPr lang="fr-FR" dirty="0"/>
          </a:p>
        </p:txBody>
      </p:sp>
      <p:sp>
        <p:nvSpPr>
          <p:cNvPr id="7" name="Rectangle 6"/>
          <p:cNvSpPr/>
          <p:nvPr/>
        </p:nvSpPr>
        <p:spPr>
          <a:xfrm>
            <a:off x="530431" y="408566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x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Name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="myLabel"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x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FieldModifier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="Private"/&gt;</a:t>
            </a:r>
            <a:endParaRPr lang="fr-FR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0132" y="1631589"/>
            <a:ext cx="5461001" cy="21359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0132" y="4005655"/>
            <a:ext cx="5833535" cy="186600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0431" y="4938658"/>
            <a:ext cx="345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Dans une autre page il ne sera plus</a:t>
            </a:r>
          </a:p>
          <a:p>
            <a:r>
              <a:rPr lang="fr-FR" dirty="0" smtClean="0"/>
              <a:t>visible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30431" y="2299674"/>
            <a:ext cx="34563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Dans la même page il sera</a:t>
            </a:r>
          </a:p>
          <a:p>
            <a:r>
              <a:rPr lang="fr-FR" dirty="0" smtClean="0"/>
              <a:t>visible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356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2"/>
          <p:cNvSpPr txBox="1"/>
          <p:nvPr/>
        </p:nvSpPr>
        <p:spPr>
          <a:xfrm>
            <a:off x="163513" y="593725"/>
            <a:ext cx="11561762" cy="10823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19710" eaLnBrk="1" fontAlgn="auto" hangingPunct="1">
              <a:spcBef>
                <a:spcPts val="0"/>
              </a:spcBef>
              <a:spcAft>
                <a:spcPts val="0"/>
              </a:spcAft>
              <a:tabLst>
                <a:tab pos="5993130" algn="l"/>
              </a:tabLst>
              <a:defRPr/>
            </a:pPr>
            <a:r>
              <a:rPr lang="en-US" sz="2250" u="heavy" spc="-40" dirty="0">
                <a:latin typeface="Segoe UI Symbol"/>
                <a:cs typeface="Times New Roman"/>
              </a:rPr>
              <a:t>Les regions </a:t>
            </a:r>
            <a:r>
              <a:rPr lang="en-US" sz="2250" u="heavy" spc="-40" dirty="0" err="1">
                <a:latin typeface="Segoe UI Symbol"/>
                <a:cs typeface="Times New Roman"/>
              </a:rPr>
              <a:t>en</a:t>
            </a:r>
            <a:r>
              <a:rPr lang="en-US" sz="2250" u="heavy" spc="-40" dirty="0">
                <a:latin typeface="Segoe UI Symbol"/>
                <a:cs typeface="Times New Roman"/>
              </a:rPr>
              <a:t> XAML</a:t>
            </a:r>
            <a:r>
              <a:rPr sz="2250" u="heavy" dirty="0">
                <a:latin typeface="Times New Roman"/>
                <a:cs typeface="Times New Roman"/>
              </a:rPr>
              <a:t>	</a:t>
            </a:r>
          </a:p>
          <a:p>
            <a:pPr marL="256540" indent="-243840" eaLnBrk="1" fontAlgn="auto" hangingPunct="1">
              <a:spcBef>
                <a:spcPts val="1900"/>
              </a:spcBef>
              <a:spcAft>
                <a:spcPts val="0"/>
              </a:spcAft>
              <a:buClr>
                <a:srgbClr val="006498"/>
              </a:buClr>
              <a:buSzPct val="60000"/>
              <a:buFont typeface="Wingdings"/>
              <a:buChar char=""/>
              <a:tabLst>
                <a:tab pos="257175" algn="l"/>
              </a:tabLst>
              <a:defRPr/>
            </a:pPr>
            <a:r>
              <a:rPr lang="fr-FR" sz="1600" spc="-25" dirty="0">
                <a:latin typeface="Segoe UI Symbol"/>
                <a:cs typeface="Segoe UI Symbol"/>
              </a:rPr>
              <a:t>Au fur est à mesure que vous écrivez du code XAML, sa devient compliqué de repérer les</a:t>
            </a:r>
            <a:r>
              <a:rPr lang="fr-FR" sz="1600" dirty="0">
                <a:latin typeface="Segoe UI Symbol"/>
                <a:cs typeface="Segoe UI Symbol"/>
              </a:rPr>
              <a:t> éléments dans les blocs de code, il y a une solution c’est de décomposer les blocs de code en régions</a:t>
            </a:r>
            <a:endParaRPr lang="fr-FR" sz="1600" spc="-25" dirty="0">
              <a:latin typeface="Segoe UI Symbol"/>
              <a:cs typeface="Segoe UI Symbol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3287713" y="1806575"/>
            <a:ext cx="5983287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dirty="0">
                <a:solidFill>
                  <a:srgbClr val="000000"/>
                </a:solidFill>
                <a:latin typeface="Segoe UI Symbol" panose="020B0502040204020203" pitchFamily="34" charset="0"/>
              </a:rPr>
              <a:t> </a:t>
            </a:r>
            <a:r>
              <a:rPr lang="en-US" altLang="en-US" sz="1600" dirty="0">
                <a:solidFill>
                  <a:srgbClr val="0000FF"/>
                </a:solidFill>
                <a:latin typeface="Segoe UI Symbol" panose="020B0502040204020203" pitchFamily="34" charset="0"/>
              </a:rPr>
              <a:t>&lt;</a:t>
            </a:r>
            <a:r>
              <a:rPr lang="en-US" altLang="en-US" sz="1600" dirty="0">
                <a:solidFill>
                  <a:srgbClr val="A31515"/>
                </a:solidFill>
                <a:latin typeface="Segoe UI Symbol" panose="020B0502040204020203" pitchFamily="34" charset="0"/>
              </a:rPr>
              <a:t>Grid</a:t>
            </a:r>
            <a:r>
              <a:rPr lang="en-US" altLang="en-US" sz="1600" dirty="0">
                <a:solidFill>
                  <a:srgbClr val="0000FF"/>
                </a:solidFill>
                <a:latin typeface="Segoe UI Symbol" panose="020B0502040204020203" pitchFamily="34" charset="0"/>
              </a:rPr>
              <a:t>&gt;</a:t>
            </a:r>
            <a:endParaRPr lang="en-US" altLang="en-US" sz="1600" dirty="0">
              <a:solidFill>
                <a:srgbClr val="000000"/>
              </a:solidFill>
              <a:latin typeface="Segoe UI Symbol" panose="020B0502040204020203" pitchFamily="34" charset="0"/>
            </a:endParaRPr>
          </a:p>
          <a:p>
            <a:r>
              <a:rPr lang="fr-FR" altLang="en-US" sz="1600" dirty="0">
                <a:solidFill>
                  <a:srgbClr val="000000"/>
                </a:solidFill>
                <a:latin typeface="Segoe UI Symbol" panose="020B0502040204020203" pitchFamily="34" charset="0"/>
              </a:rPr>
              <a:t>        </a:t>
            </a:r>
            <a:r>
              <a:rPr lang="fr-FR" altLang="en-US" sz="1600" dirty="0">
                <a:solidFill>
                  <a:srgbClr val="008000"/>
                </a:solidFill>
                <a:latin typeface="Segoe UI Symbol" panose="020B0502040204020203" pitchFamily="34" charset="0"/>
              </a:rPr>
              <a:t>&lt;!--#region  la définition des colonnes et des lignes --&gt;</a:t>
            </a:r>
            <a:endParaRPr lang="fr-FR" altLang="en-US" sz="1600" dirty="0">
              <a:solidFill>
                <a:srgbClr val="000000"/>
              </a:solidFill>
              <a:latin typeface="Segoe UI Symbol" panose="020B0502040204020203" pitchFamily="34" charset="0"/>
            </a:endParaRPr>
          </a:p>
          <a:p>
            <a:r>
              <a:rPr lang="en-US" altLang="en-US" sz="1600" dirty="0">
                <a:solidFill>
                  <a:srgbClr val="000000"/>
                </a:solidFill>
                <a:latin typeface="Segoe UI Symbol" panose="020B0502040204020203" pitchFamily="34" charset="0"/>
              </a:rPr>
              <a:t>        </a:t>
            </a:r>
            <a:r>
              <a:rPr lang="en-US" altLang="en-US" sz="1600" dirty="0">
                <a:solidFill>
                  <a:srgbClr val="0000FF"/>
                </a:solidFill>
                <a:latin typeface="Segoe UI Symbol" panose="020B0502040204020203" pitchFamily="34" charset="0"/>
              </a:rPr>
              <a:t>&lt;</a:t>
            </a:r>
            <a:r>
              <a:rPr lang="en-US" altLang="en-US" sz="1600" dirty="0" err="1">
                <a:solidFill>
                  <a:srgbClr val="A31515"/>
                </a:solidFill>
                <a:latin typeface="Segoe UI Symbol" panose="020B0502040204020203" pitchFamily="34" charset="0"/>
              </a:rPr>
              <a:t>Grid.ColumnDefinitions</a:t>
            </a:r>
            <a:r>
              <a:rPr lang="en-US" altLang="en-US" sz="1600" dirty="0">
                <a:solidFill>
                  <a:srgbClr val="0000FF"/>
                </a:solidFill>
                <a:latin typeface="Segoe UI Symbol" panose="020B0502040204020203" pitchFamily="34" charset="0"/>
              </a:rPr>
              <a:t>&gt;</a:t>
            </a:r>
            <a:endParaRPr lang="en-US" altLang="en-US" sz="1600" dirty="0">
              <a:solidFill>
                <a:srgbClr val="000000"/>
              </a:solidFill>
              <a:latin typeface="Segoe UI Symbol" panose="020B0502040204020203" pitchFamily="34" charset="0"/>
            </a:endParaRPr>
          </a:p>
          <a:p>
            <a:r>
              <a:rPr lang="en-US" altLang="en-US" sz="1600" dirty="0">
                <a:solidFill>
                  <a:srgbClr val="000000"/>
                </a:solidFill>
                <a:latin typeface="Segoe UI Symbol" panose="020B0502040204020203" pitchFamily="34" charset="0"/>
              </a:rPr>
              <a:t>            </a:t>
            </a:r>
            <a:r>
              <a:rPr lang="en-US" altLang="en-US" sz="1600" dirty="0">
                <a:solidFill>
                  <a:srgbClr val="0000FF"/>
                </a:solidFill>
                <a:latin typeface="Segoe UI Symbol" panose="020B0502040204020203" pitchFamily="34" charset="0"/>
              </a:rPr>
              <a:t>&lt;</a:t>
            </a:r>
            <a:r>
              <a:rPr lang="en-US" altLang="en-US" sz="1600" dirty="0" err="1">
                <a:solidFill>
                  <a:srgbClr val="A31515"/>
                </a:solidFill>
                <a:latin typeface="Segoe UI Symbol" panose="020B0502040204020203" pitchFamily="34" charset="0"/>
              </a:rPr>
              <a:t>ColumnDefinition</a:t>
            </a:r>
            <a:r>
              <a:rPr lang="en-US" altLang="en-US" sz="1600" dirty="0">
                <a:solidFill>
                  <a:srgbClr val="FF0000"/>
                </a:solidFill>
                <a:latin typeface="Segoe UI Symbol" panose="020B0502040204020203" pitchFamily="34" charset="0"/>
              </a:rPr>
              <a:t> </a:t>
            </a:r>
            <a:r>
              <a:rPr lang="en-US" altLang="en-US" sz="1600" dirty="0">
                <a:solidFill>
                  <a:srgbClr val="0000FF"/>
                </a:solidFill>
                <a:latin typeface="Segoe UI Symbol" panose="020B0502040204020203" pitchFamily="34" charset="0"/>
              </a:rPr>
              <a:t>/&gt;</a:t>
            </a:r>
            <a:endParaRPr lang="en-US" altLang="en-US" sz="1600" dirty="0">
              <a:solidFill>
                <a:srgbClr val="000000"/>
              </a:solidFill>
              <a:latin typeface="Segoe UI Symbol" panose="020B0502040204020203" pitchFamily="34" charset="0"/>
            </a:endParaRPr>
          </a:p>
          <a:p>
            <a:r>
              <a:rPr lang="en-US" altLang="en-US" sz="1600" dirty="0">
                <a:solidFill>
                  <a:srgbClr val="000000"/>
                </a:solidFill>
                <a:latin typeface="Segoe UI Symbol" panose="020B0502040204020203" pitchFamily="34" charset="0"/>
              </a:rPr>
              <a:t>            </a:t>
            </a:r>
            <a:r>
              <a:rPr lang="en-US" altLang="en-US" sz="1600" dirty="0">
                <a:solidFill>
                  <a:srgbClr val="0000FF"/>
                </a:solidFill>
                <a:latin typeface="Segoe UI Symbol" panose="020B0502040204020203" pitchFamily="34" charset="0"/>
              </a:rPr>
              <a:t>&lt;</a:t>
            </a:r>
            <a:r>
              <a:rPr lang="en-US" altLang="en-US" sz="1600" dirty="0" err="1">
                <a:solidFill>
                  <a:srgbClr val="A31515"/>
                </a:solidFill>
                <a:latin typeface="Segoe UI Symbol" panose="020B0502040204020203" pitchFamily="34" charset="0"/>
              </a:rPr>
              <a:t>ColumnDefinition</a:t>
            </a:r>
            <a:r>
              <a:rPr lang="en-US" altLang="en-US" sz="1600" dirty="0">
                <a:solidFill>
                  <a:srgbClr val="FF0000"/>
                </a:solidFill>
                <a:latin typeface="Segoe UI Symbol" panose="020B0502040204020203" pitchFamily="34" charset="0"/>
              </a:rPr>
              <a:t> </a:t>
            </a:r>
            <a:r>
              <a:rPr lang="en-US" altLang="en-US" sz="1600" dirty="0">
                <a:solidFill>
                  <a:srgbClr val="0000FF"/>
                </a:solidFill>
                <a:latin typeface="Segoe UI Symbol" panose="020B0502040204020203" pitchFamily="34" charset="0"/>
              </a:rPr>
              <a:t>/&gt;</a:t>
            </a:r>
            <a:endParaRPr lang="en-US" altLang="en-US" sz="1600" dirty="0">
              <a:solidFill>
                <a:srgbClr val="000000"/>
              </a:solidFill>
              <a:latin typeface="Segoe UI Symbol" panose="020B0502040204020203" pitchFamily="34" charset="0"/>
            </a:endParaRPr>
          </a:p>
          <a:p>
            <a:r>
              <a:rPr lang="en-US" altLang="en-US" sz="1600" dirty="0">
                <a:solidFill>
                  <a:srgbClr val="000000"/>
                </a:solidFill>
                <a:latin typeface="Segoe UI Symbol" panose="020B0502040204020203" pitchFamily="34" charset="0"/>
              </a:rPr>
              <a:t>            </a:t>
            </a:r>
            <a:r>
              <a:rPr lang="en-US" altLang="en-US" sz="1600" dirty="0">
                <a:solidFill>
                  <a:srgbClr val="0000FF"/>
                </a:solidFill>
                <a:latin typeface="Segoe UI Symbol" panose="020B0502040204020203" pitchFamily="34" charset="0"/>
              </a:rPr>
              <a:t>&lt;</a:t>
            </a:r>
            <a:r>
              <a:rPr lang="en-US" altLang="en-US" sz="1600" dirty="0" err="1">
                <a:solidFill>
                  <a:srgbClr val="A31515"/>
                </a:solidFill>
                <a:latin typeface="Segoe UI Symbol" panose="020B0502040204020203" pitchFamily="34" charset="0"/>
              </a:rPr>
              <a:t>ColumnDefinition</a:t>
            </a:r>
            <a:r>
              <a:rPr lang="en-US" altLang="en-US" sz="1600" dirty="0">
                <a:solidFill>
                  <a:srgbClr val="FF0000"/>
                </a:solidFill>
                <a:latin typeface="Segoe UI Symbol" panose="020B0502040204020203" pitchFamily="34" charset="0"/>
              </a:rPr>
              <a:t> </a:t>
            </a:r>
            <a:r>
              <a:rPr lang="en-US" altLang="en-US" sz="1600" dirty="0">
                <a:solidFill>
                  <a:srgbClr val="0000FF"/>
                </a:solidFill>
                <a:latin typeface="Segoe UI Symbol" panose="020B0502040204020203" pitchFamily="34" charset="0"/>
              </a:rPr>
              <a:t>/&gt;</a:t>
            </a:r>
            <a:endParaRPr lang="en-US" altLang="en-US" sz="1600" dirty="0">
              <a:solidFill>
                <a:srgbClr val="000000"/>
              </a:solidFill>
              <a:latin typeface="Segoe UI Symbol" panose="020B0502040204020203" pitchFamily="34" charset="0"/>
            </a:endParaRPr>
          </a:p>
          <a:p>
            <a:r>
              <a:rPr lang="en-US" altLang="en-US" sz="1600" dirty="0">
                <a:solidFill>
                  <a:srgbClr val="000000"/>
                </a:solidFill>
                <a:latin typeface="Segoe UI Symbol" panose="020B0502040204020203" pitchFamily="34" charset="0"/>
              </a:rPr>
              <a:t>            </a:t>
            </a:r>
            <a:r>
              <a:rPr lang="en-US" altLang="en-US" sz="1600" dirty="0">
                <a:solidFill>
                  <a:srgbClr val="0000FF"/>
                </a:solidFill>
                <a:latin typeface="Segoe UI Symbol" panose="020B0502040204020203" pitchFamily="34" charset="0"/>
              </a:rPr>
              <a:t>&lt;</a:t>
            </a:r>
            <a:r>
              <a:rPr lang="en-US" altLang="en-US" sz="1600" dirty="0" err="1">
                <a:solidFill>
                  <a:srgbClr val="A31515"/>
                </a:solidFill>
                <a:latin typeface="Segoe UI Symbol" panose="020B0502040204020203" pitchFamily="34" charset="0"/>
              </a:rPr>
              <a:t>ColumnDefinition</a:t>
            </a:r>
            <a:r>
              <a:rPr lang="en-US" altLang="en-US" sz="1600" dirty="0">
                <a:solidFill>
                  <a:srgbClr val="FF0000"/>
                </a:solidFill>
                <a:latin typeface="Segoe UI Symbol" panose="020B0502040204020203" pitchFamily="34" charset="0"/>
              </a:rPr>
              <a:t> </a:t>
            </a:r>
            <a:r>
              <a:rPr lang="en-US" altLang="en-US" sz="1600" dirty="0">
                <a:solidFill>
                  <a:srgbClr val="0000FF"/>
                </a:solidFill>
                <a:latin typeface="Segoe UI Symbol" panose="020B0502040204020203" pitchFamily="34" charset="0"/>
              </a:rPr>
              <a:t>/&gt;</a:t>
            </a:r>
            <a:endParaRPr lang="en-US" altLang="en-US" sz="1600" dirty="0">
              <a:solidFill>
                <a:srgbClr val="000000"/>
              </a:solidFill>
              <a:latin typeface="Segoe UI Symbol" panose="020B0502040204020203" pitchFamily="34" charset="0"/>
            </a:endParaRPr>
          </a:p>
          <a:p>
            <a:r>
              <a:rPr lang="en-US" altLang="en-US" sz="1600" dirty="0">
                <a:solidFill>
                  <a:srgbClr val="000000"/>
                </a:solidFill>
                <a:latin typeface="Segoe UI Symbol" panose="020B0502040204020203" pitchFamily="34" charset="0"/>
              </a:rPr>
              <a:t>        </a:t>
            </a:r>
            <a:r>
              <a:rPr lang="en-US" altLang="en-US" sz="1600" dirty="0">
                <a:solidFill>
                  <a:srgbClr val="0000FF"/>
                </a:solidFill>
                <a:latin typeface="Segoe UI Symbol" panose="020B0502040204020203" pitchFamily="34" charset="0"/>
              </a:rPr>
              <a:t>&lt;/</a:t>
            </a:r>
            <a:r>
              <a:rPr lang="en-US" altLang="en-US" sz="1600" dirty="0" err="1">
                <a:solidFill>
                  <a:srgbClr val="A31515"/>
                </a:solidFill>
                <a:latin typeface="Segoe UI Symbol" panose="020B0502040204020203" pitchFamily="34" charset="0"/>
              </a:rPr>
              <a:t>Grid.ColumnDefinitions</a:t>
            </a:r>
            <a:r>
              <a:rPr lang="en-US" altLang="en-US" sz="1600" dirty="0">
                <a:solidFill>
                  <a:srgbClr val="0000FF"/>
                </a:solidFill>
                <a:latin typeface="Segoe UI Symbol" panose="020B0502040204020203" pitchFamily="34" charset="0"/>
              </a:rPr>
              <a:t>&gt;</a:t>
            </a:r>
            <a:endParaRPr lang="en-US" altLang="en-US" sz="1600" dirty="0">
              <a:solidFill>
                <a:srgbClr val="000000"/>
              </a:solidFill>
              <a:latin typeface="Segoe UI Symbol" panose="020B0502040204020203" pitchFamily="34" charset="0"/>
            </a:endParaRPr>
          </a:p>
          <a:p>
            <a:r>
              <a:rPr lang="en-US" altLang="en-US" sz="1600" dirty="0">
                <a:solidFill>
                  <a:srgbClr val="000000"/>
                </a:solidFill>
                <a:latin typeface="Segoe UI Symbol" panose="020B0502040204020203" pitchFamily="34" charset="0"/>
              </a:rPr>
              <a:t>        </a:t>
            </a:r>
            <a:r>
              <a:rPr lang="en-US" altLang="en-US" sz="1600" dirty="0">
                <a:solidFill>
                  <a:srgbClr val="0000FF"/>
                </a:solidFill>
                <a:latin typeface="Segoe UI Symbol" panose="020B0502040204020203" pitchFamily="34" charset="0"/>
              </a:rPr>
              <a:t>&lt;</a:t>
            </a:r>
            <a:r>
              <a:rPr lang="en-US" altLang="en-US" sz="1600" dirty="0" err="1">
                <a:solidFill>
                  <a:srgbClr val="A31515"/>
                </a:solidFill>
                <a:latin typeface="Segoe UI Symbol" panose="020B0502040204020203" pitchFamily="34" charset="0"/>
              </a:rPr>
              <a:t>Grid.RowDefinitions</a:t>
            </a:r>
            <a:r>
              <a:rPr lang="en-US" altLang="en-US" sz="1600" dirty="0">
                <a:solidFill>
                  <a:srgbClr val="0000FF"/>
                </a:solidFill>
                <a:latin typeface="Segoe UI Symbol" panose="020B0502040204020203" pitchFamily="34" charset="0"/>
              </a:rPr>
              <a:t>&gt;</a:t>
            </a:r>
            <a:endParaRPr lang="en-US" altLang="en-US" sz="1600" dirty="0">
              <a:solidFill>
                <a:srgbClr val="000000"/>
              </a:solidFill>
              <a:latin typeface="Segoe UI Symbol" panose="020B0502040204020203" pitchFamily="34" charset="0"/>
            </a:endParaRPr>
          </a:p>
          <a:p>
            <a:r>
              <a:rPr lang="en-US" altLang="en-US" sz="1600" dirty="0">
                <a:solidFill>
                  <a:srgbClr val="000000"/>
                </a:solidFill>
                <a:latin typeface="Segoe UI Symbol" panose="020B0502040204020203" pitchFamily="34" charset="0"/>
              </a:rPr>
              <a:t>            </a:t>
            </a:r>
            <a:r>
              <a:rPr lang="en-US" altLang="en-US" sz="1600" dirty="0">
                <a:solidFill>
                  <a:srgbClr val="0000FF"/>
                </a:solidFill>
                <a:latin typeface="Segoe UI Symbol" panose="020B0502040204020203" pitchFamily="34" charset="0"/>
              </a:rPr>
              <a:t>&lt;</a:t>
            </a:r>
            <a:r>
              <a:rPr lang="en-US" altLang="en-US" sz="1600" dirty="0" err="1">
                <a:solidFill>
                  <a:srgbClr val="A31515"/>
                </a:solidFill>
                <a:latin typeface="Segoe UI Symbol" panose="020B0502040204020203" pitchFamily="34" charset="0"/>
              </a:rPr>
              <a:t>RowDefinition</a:t>
            </a:r>
            <a:r>
              <a:rPr lang="en-US" altLang="en-US" sz="1600" dirty="0">
                <a:solidFill>
                  <a:srgbClr val="FF0000"/>
                </a:solidFill>
                <a:latin typeface="Segoe UI Symbol" panose="020B0502040204020203" pitchFamily="34" charset="0"/>
              </a:rPr>
              <a:t> </a:t>
            </a:r>
            <a:r>
              <a:rPr lang="en-US" altLang="en-US" sz="1600" dirty="0">
                <a:solidFill>
                  <a:srgbClr val="0000FF"/>
                </a:solidFill>
                <a:latin typeface="Segoe UI Symbol" panose="020B0502040204020203" pitchFamily="34" charset="0"/>
              </a:rPr>
              <a:t>/&gt;</a:t>
            </a:r>
            <a:endParaRPr lang="en-US" altLang="en-US" sz="1600" dirty="0">
              <a:solidFill>
                <a:srgbClr val="000000"/>
              </a:solidFill>
              <a:latin typeface="Segoe UI Symbol" panose="020B0502040204020203" pitchFamily="34" charset="0"/>
            </a:endParaRPr>
          </a:p>
          <a:p>
            <a:r>
              <a:rPr lang="en-US" altLang="en-US" sz="1600" dirty="0">
                <a:solidFill>
                  <a:srgbClr val="000000"/>
                </a:solidFill>
                <a:latin typeface="Segoe UI Symbol" panose="020B0502040204020203" pitchFamily="34" charset="0"/>
              </a:rPr>
              <a:t>            </a:t>
            </a:r>
            <a:r>
              <a:rPr lang="en-US" altLang="en-US" sz="1600" dirty="0">
                <a:solidFill>
                  <a:srgbClr val="0000FF"/>
                </a:solidFill>
                <a:latin typeface="Segoe UI Symbol" panose="020B0502040204020203" pitchFamily="34" charset="0"/>
              </a:rPr>
              <a:t>&lt;</a:t>
            </a:r>
            <a:r>
              <a:rPr lang="en-US" altLang="en-US" sz="1600" dirty="0" err="1">
                <a:solidFill>
                  <a:srgbClr val="A31515"/>
                </a:solidFill>
                <a:latin typeface="Segoe UI Symbol" panose="020B0502040204020203" pitchFamily="34" charset="0"/>
              </a:rPr>
              <a:t>RowDefinition</a:t>
            </a:r>
            <a:r>
              <a:rPr lang="en-US" altLang="en-US" sz="1600" dirty="0">
                <a:solidFill>
                  <a:srgbClr val="FF0000"/>
                </a:solidFill>
                <a:latin typeface="Segoe UI Symbol" panose="020B0502040204020203" pitchFamily="34" charset="0"/>
              </a:rPr>
              <a:t> </a:t>
            </a:r>
            <a:r>
              <a:rPr lang="en-US" altLang="en-US" sz="1600" dirty="0">
                <a:solidFill>
                  <a:srgbClr val="0000FF"/>
                </a:solidFill>
                <a:latin typeface="Segoe UI Symbol" panose="020B0502040204020203" pitchFamily="34" charset="0"/>
              </a:rPr>
              <a:t>/&gt;</a:t>
            </a:r>
            <a:endParaRPr lang="en-US" altLang="en-US" sz="1600" dirty="0">
              <a:solidFill>
                <a:srgbClr val="000000"/>
              </a:solidFill>
              <a:latin typeface="Segoe UI Symbol" panose="020B0502040204020203" pitchFamily="34" charset="0"/>
            </a:endParaRPr>
          </a:p>
          <a:p>
            <a:r>
              <a:rPr lang="en-US" altLang="en-US" sz="1600" dirty="0">
                <a:solidFill>
                  <a:srgbClr val="000000"/>
                </a:solidFill>
                <a:latin typeface="Segoe UI Symbol" panose="020B0502040204020203" pitchFamily="34" charset="0"/>
              </a:rPr>
              <a:t>            </a:t>
            </a:r>
            <a:r>
              <a:rPr lang="en-US" altLang="en-US" sz="1600" dirty="0">
                <a:solidFill>
                  <a:srgbClr val="0000FF"/>
                </a:solidFill>
                <a:latin typeface="Segoe UI Symbol" panose="020B0502040204020203" pitchFamily="34" charset="0"/>
              </a:rPr>
              <a:t>&lt;</a:t>
            </a:r>
            <a:r>
              <a:rPr lang="en-US" altLang="en-US" sz="1600" dirty="0" err="1">
                <a:solidFill>
                  <a:srgbClr val="A31515"/>
                </a:solidFill>
                <a:latin typeface="Segoe UI Symbol" panose="020B0502040204020203" pitchFamily="34" charset="0"/>
              </a:rPr>
              <a:t>RowDefinition</a:t>
            </a:r>
            <a:r>
              <a:rPr lang="en-US" altLang="en-US" sz="1600" dirty="0">
                <a:solidFill>
                  <a:srgbClr val="FF0000"/>
                </a:solidFill>
                <a:latin typeface="Segoe UI Symbol" panose="020B0502040204020203" pitchFamily="34" charset="0"/>
              </a:rPr>
              <a:t> </a:t>
            </a:r>
            <a:r>
              <a:rPr lang="en-US" altLang="en-US" sz="1600" dirty="0">
                <a:solidFill>
                  <a:srgbClr val="0000FF"/>
                </a:solidFill>
                <a:latin typeface="Segoe UI Symbol" panose="020B0502040204020203" pitchFamily="34" charset="0"/>
              </a:rPr>
              <a:t>/&gt;</a:t>
            </a:r>
            <a:endParaRPr lang="en-US" altLang="en-US" sz="1600" dirty="0">
              <a:solidFill>
                <a:srgbClr val="000000"/>
              </a:solidFill>
              <a:latin typeface="Segoe UI Symbol" panose="020B0502040204020203" pitchFamily="34" charset="0"/>
            </a:endParaRPr>
          </a:p>
          <a:p>
            <a:r>
              <a:rPr lang="en-US" altLang="en-US" sz="1600" dirty="0">
                <a:solidFill>
                  <a:srgbClr val="000000"/>
                </a:solidFill>
                <a:latin typeface="Segoe UI Symbol" panose="020B0502040204020203" pitchFamily="34" charset="0"/>
              </a:rPr>
              <a:t>            </a:t>
            </a:r>
            <a:r>
              <a:rPr lang="en-US" altLang="en-US" sz="1600" dirty="0">
                <a:solidFill>
                  <a:srgbClr val="0000FF"/>
                </a:solidFill>
                <a:latin typeface="Segoe UI Symbol" panose="020B0502040204020203" pitchFamily="34" charset="0"/>
              </a:rPr>
              <a:t>&lt;</a:t>
            </a:r>
            <a:r>
              <a:rPr lang="en-US" altLang="en-US" sz="1600" dirty="0" err="1">
                <a:solidFill>
                  <a:srgbClr val="A31515"/>
                </a:solidFill>
                <a:latin typeface="Segoe UI Symbol" panose="020B0502040204020203" pitchFamily="34" charset="0"/>
              </a:rPr>
              <a:t>RowDefinition</a:t>
            </a:r>
            <a:r>
              <a:rPr lang="en-US" altLang="en-US" sz="1600" dirty="0">
                <a:solidFill>
                  <a:srgbClr val="FF0000"/>
                </a:solidFill>
                <a:latin typeface="Segoe UI Symbol" panose="020B0502040204020203" pitchFamily="34" charset="0"/>
              </a:rPr>
              <a:t> </a:t>
            </a:r>
            <a:r>
              <a:rPr lang="en-US" altLang="en-US" sz="1600" dirty="0">
                <a:solidFill>
                  <a:srgbClr val="0000FF"/>
                </a:solidFill>
                <a:latin typeface="Segoe UI Symbol" panose="020B0502040204020203" pitchFamily="34" charset="0"/>
              </a:rPr>
              <a:t>/&gt;</a:t>
            </a:r>
            <a:endParaRPr lang="en-US" altLang="en-US" sz="1600" dirty="0">
              <a:solidFill>
                <a:srgbClr val="000000"/>
              </a:solidFill>
              <a:latin typeface="Segoe UI Symbol" panose="020B0502040204020203" pitchFamily="34" charset="0"/>
            </a:endParaRPr>
          </a:p>
          <a:p>
            <a:r>
              <a:rPr lang="en-US" altLang="en-US" sz="1600" dirty="0">
                <a:solidFill>
                  <a:srgbClr val="000000"/>
                </a:solidFill>
                <a:latin typeface="Segoe UI Symbol" panose="020B0502040204020203" pitchFamily="34" charset="0"/>
              </a:rPr>
              <a:t>            </a:t>
            </a:r>
            <a:r>
              <a:rPr lang="en-US" altLang="en-US" sz="1600" dirty="0">
                <a:solidFill>
                  <a:srgbClr val="0000FF"/>
                </a:solidFill>
                <a:latin typeface="Segoe UI Symbol" panose="020B0502040204020203" pitchFamily="34" charset="0"/>
              </a:rPr>
              <a:t>&lt;</a:t>
            </a:r>
            <a:r>
              <a:rPr lang="en-US" altLang="en-US" sz="1600" dirty="0" err="1">
                <a:solidFill>
                  <a:srgbClr val="A31515"/>
                </a:solidFill>
                <a:latin typeface="Segoe UI Symbol" panose="020B0502040204020203" pitchFamily="34" charset="0"/>
              </a:rPr>
              <a:t>RowDefinition</a:t>
            </a:r>
            <a:r>
              <a:rPr lang="en-US" altLang="en-US" sz="1600" dirty="0">
                <a:solidFill>
                  <a:srgbClr val="FF0000"/>
                </a:solidFill>
                <a:latin typeface="Segoe UI Symbol" panose="020B0502040204020203" pitchFamily="34" charset="0"/>
              </a:rPr>
              <a:t> </a:t>
            </a:r>
            <a:r>
              <a:rPr lang="en-US" altLang="en-US" sz="1600" dirty="0">
                <a:solidFill>
                  <a:srgbClr val="0000FF"/>
                </a:solidFill>
                <a:latin typeface="Segoe UI Symbol" panose="020B0502040204020203" pitchFamily="34" charset="0"/>
              </a:rPr>
              <a:t>/&gt;</a:t>
            </a:r>
            <a:endParaRPr lang="en-US" altLang="en-US" sz="1600" dirty="0">
              <a:solidFill>
                <a:srgbClr val="000000"/>
              </a:solidFill>
              <a:latin typeface="Segoe UI Symbol" panose="020B0502040204020203" pitchFamily="34" charset="0"/>
            </a:endParaRPr>
          </a:p>
          <a:p>
            <a:r>
              <a:rPr lang="en-US" altLang="en-US" sz="1600" dirty="0">
                <a:solidFill>
                  <a:srgbClr val="000000"/>
                </a:solidFill>
                <a:latin typeface="Segoe UI Symbol" panose="020B0502040204020203" pitchFamily="34" charset="0"/>
              </a:rPr>
              <a:t>        </a:t>
            </a:r>
            <a:r>
              <a:rPr lang="en-US" altLang="en-US" sz="1600" dirty="0">
                <a:solidFill>
                  <a:srgbClr val="0000FF"/>
                </a:solidFill>
                <a:latin typeface="Segoe UI Symbol" panose="020B0502040204020203" pitchFamily="34" charset="0"/>
              </a:rPr>
              <a:t>&lt;/</a:t>
            </a:r>
            <a:r>
              <a:rPr lang="en-US" altLang="en-US" sz="1600" dirty="0" err="1">
                <a:solidFill>
                  <a:srgbClr val="A31515"/>
                </a:solidFill>
                <a:latin typeface="Segoe UI Symbol" panose="020B0502040204020203" pitchFamily="34" charset="0"/>
              </a:rPr>
              <a:t>Grid.RowDefinitions</a:t>
            </a:r>
            <a:r>
              <a:rPr lang="en-US" altLang="en-US" sz="1600" dirty="0">
                <a:solidFill>
                  <a:srgbClr val="0000FF"/>
                </a:solidFill>
                <a:latin typeface="Segoe UI Symbol" panose="020B0502040204020203" pitchFamily="34" charset="0"/>
              </a:rPr>
              <a:t>&gt;</a:t>
            </a:r>
            <a:endParaRPr lang="en-US" altLang="en-US" sz="1600" dirty="0">
              <a:solidFill>
                <a:srgbClr val="000000"/>
              </a:solidFill>
              <a:latin typeface="Segoe UI Symbol" panose="020B0502040204020203" pitchFamily="34" charset="0"/>
            </a:endParaRPr>
          </a:p>
          <a:p>
            <a:r>
              <a:rPr lang="en-US" altLang="en-US" sz="1600" dirty="0">
                <a:solidFill>
                  <a:srgbClr val="000000"/>
                </a:solidFill>
                <a:latin typeface="Segoe UI Symbol" panose="020B0502040204020203" pitchFamily="34" charset="0"/>
              </a:rPr>
              <a:t>        </a:t>
            </a:r>
            <a:r>
              <a:rPr lang="en-US" altLang="en-US" sz="1600" dirty="0">
                <a:solidFill>
                  <a:srgbClr val="008000"/>
                </a:solidFill>
                <a:latin typeface="Segoe UI Symbol" panose="020B0502040204020203" pitchFamily="34" charset="0"/>
              </a:rPr>
              <a:t>&lt;!--#</a:t>
            </a:r>
            <a:r>
              <a:rPr lang="en-US" altLang="en-US" sz="1600" dirty="0" err="1">
                <a:solidFill>
                  <a:srgbClr val="008000"/>
                </a:solidFill>
                <a:latin typeface="Segoe UI Symbol" panose="020B0502040204020203" pitchFamily="34" charset="0"/>
              </a:rPr>
              <a:t>endregion</a:t>
            </a:r>
            <a:r>
              <a:rPr lang="en-US" altLang="en-US" sz="1600" dirty="0">
                <a:solidFill>
                  <a:srgbClr val="008000"/>
                </a:solidFill>
                <a:latin typeface="Segoe UI Symbol" panose="020B0502040204020203" pitchFamily="34" charset="0"/>
              </a:rPr>
              <a:t>--&gt;</a:t>
            </a:r>
            <a:endParaRPr lang="en-US" altLang="en-US" sz="1600" dirty="0">
              <a:solidFill>
                <a:srgbClr val="000000"/>
              </a:solidFill>
              <a:latin typeface="Segoe UI Symbol" panose="020B0502040204020203" pitchFamily="34" charset="0"/>
            </a:endParaRPr>
          </a:p>
          <a:p>
            <a:r>
              <a:rPr lang="en-US" altLang="en-US" sz="1600" dirty="0">
                <a:solidFill>
                  <a:srgbClr val="000000"/>
                </a:solidFill>
                <a:latin typeface="Segoe UI Symbol" panose="020B0502040204020203" pitchFamily="34" charset="0"/>
              </a:rPr>
              <a:t>        </a:t>
            </a:r>
          </a:p>
          <a:p>
            <a:r>
              <a:rPr lang="en-US" altLang="en-US" sz="1600" dirty="0">
                <a:solidFill>
                  <a:srgbClr val="000000"/>
                </a:solidFill>
                <a:latin typeface="Segoe UI Symbol" panose="020B0502040204020203" pitchFamily="34" charset="0"/>
              </a:rPr>
              <a:t>    </a:t>
            </a:r>
            <a:r>
              <a:rPr lang="en-US" altLang="en-US" sz="1600" dirty="0">
                <a:solidFill>
                  <a:srgbClr val="0000FF"/>
                </a:solidFill>
                <a:latin typeface="Segoe UI Symbol" panose="020B0502040204020203" pitchFamily="34" charset="0"/>
              </a:rPr>
              <a:t>&lt;/</a:t>
            </a:r>
            <a:r>
              <a:rPr lang="en-US" altLang="en-US" sz="1600" dirty="0">
                <a:solidFill>
                  <a:srgbClr val="A31515"/>
                </a:solidFill>
                <a:latin typeface="Segoe UI Symbol" panose="020B0502040204020203" pitchFamily="34" charset="0"/>
              </a:rPr>
              <a:t>Grid</a:t>
            </a:r>
            <a:r>
              <a:rPr lang="en-US" altLang="en-US" sz="1600" dirty="0">
                <a:solidFill>
                  <a:srgbClr val="0000FF"/>
                </a:solidFill>
                <a:latin typeface="Segoe UI Symbol" panose="020B0502040204020203" pitchFamily="34" charset="0"/>
              </a:rPr>
              <a:t>&gt;</a:t>
            </a:r>
            <a:endParaRPr lang="en-US" altLang="en-US" sz="1600" dirty="0">
              <a:latin typeface="Segoe UI Symbol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09424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4"/>
          <p:cNvSpPr txBox="1"/>
          <p:nvPr/>
        </p:nvSpPr>
        <p:spPr>
          <a:xfrm>
            <a:off x="328613" y="641350"/>
            <a:ext cx="11149012" cy="10669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53035" eaLnBrk="1" fontAlgn="auto" hangingPunct="1">
              <a:spcBef>
                <a:spcPts val="0"/>
              </a:spcBef>
              <a:spcAft>
                <a:spcPts val="0"/>
              </a:spcAft>
              <a:tabLst>
                <a:tab pos="5998210" algn="l"/>
              </a:tabLst>
              <a:defRPr/>
            </a:pPr>
            <a:r>
              <a:rPr lang="en-US" sz="2400" u="heavy" spc="-50" dirty="0">
                <a:latin typeface="Segoe UI Symbol"/>
                <a:cs typeface="Segoe UI Symbol"/>
              </a:rPr>
              <a:t>Les snippets XAML</a:t>
            </a:r>
            <a:r>
              <a:rPr sz="2400" u="heavy" dirty="0">
                <a:latin typeface="Times New Roman"/>
                <a:cs typeface="Times New Roman"/>
              </a:rPr>
              <a:t>	</a:t>
            </a:r>
            <a:endParaRPr sz="2400" dirty="0">
              <a:latin typeface="Times New Roman"/>
              <a:cs typeface="Times New Roman"/>
            </a:endParaRPr>
          </a:p>
          <a:p>
            <a:pPr marL="256540" indent="-243840" eaLnBrk="1" fontAlgn="auto" hangingPunct="1">
              <a:spcBef>
                <a:spcPts val="1625"/>
              </a:spcBef>
              <a:spcAft>
                <a:spcPts val="0"/>
              </a:spcAft>
              <a:buClr>
                <a:srgbClr val="006498"/>
              </a:buClr>
              <a:buSzPct val="60714"/>
              <a:buFont typeface="Wingdings"/>
              <a:buChar char=""/>
              <a:tabLst>
                <a:tab pos="257175" algn="l"/>
              </a:tabLst>
              <a:defRPr/>
            </a:pPr>
            <a:r>
              <a:rPr lang="fr-FR" sz="1600" spc="-20" dirty="0" smtClean="0">
                <a:latin typeface="Segoe UI Symbol"/>
                <a:cs typeface="Segoe UI Symbol"/>
              </a:rPr>
              <a:t>Pour accélérer le développement de l’interface graphique, il est possible d’utiliser des </a:t>
            </a:r>
            <a:r>
              <a:rPr lang="fr-FR" sz="1600" spc="-20" dirty="0" err="1" smtClean="0">
                <a:latin typeface="Segoe UI Symbol"/>
                <a:cs typeface="Segoe UI Symbol"/>
              </a:rPr>
              <a:t>Snippet</a:t>
            </a:r>
            <a:r>
              <a:rPr lang="fr-FR" sz="1600" spc="-20" dirty="0" smtClean="0">
                <a:latin typeface="Segoe UI Symbol"/>
                <a:cs typeface="Segoe UI Symbol"/>
              </a:rPr>
              <a:t> de code que vous pouvez définir à partir de ce menu</a:t>
            </a:r>
            <a:endParaRPr lang="fr-FR" sz="1600" dirty="0">
              <a:latin typeface="Segoe UI Symbol"/>
              <a:cs typeface="Segoe UI Symbol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9675" y="1860709"/>
            <a:ext cx="3552825" cy="270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801387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2"/>
          <p:cNvSpPr txBox="1"/>
          <p:nvPr/>
        </p:nvSpPr>
        <p:spPr>
          <a:xfrm>
            <a:off x="236538" y="503635"/>
            <a:ext cx="11104562" cy="22185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19710" eaLnBrk="1" fontAlgn="auto" hangingPunct="1">
              <a:spcBef>
                <a:spcPts val="0"/>
              </a:spcBef>
              <a:spcAft>
                <a:spcPts val="0"/>
              </a:spcAft>
              <a:tabLst>
                <a:tab pos="5993130" algn="l"/>
              </a:tabLst>
              <a:defRPr/>
            </a:pPr>
            <a:r>
              <a:rPr lang="en-US" sz="2250" u="heavy" spc="-40" dirty="0">
                <a:latin typeface="Segoe UI Symbol"/>
                <a:cs typeface="Times New Roman"/>
              </a:rPr>
              <a:t>Le </a:t>
            </a:r>
            <a:r>
              <a:rPr lang="en-US" sz="2250" u="heavy" spc="-40" dirty="0" smtClean="0">
                <a:latin typeface="Segoe UI Symbol"/>
                <a:cs typeface="Times New Roman"/>
              </a:rPr>
              <a:t>Hot Load –</a:t>
            </a:r>
            <a:r>
              <a:rPr lang="en-US" sz="2250" u="heavy" spc="-40" dirty="0" err="1" smtClean="0">
                <a:latin typeface="Segoe UI Symbol"/>
                <a:cs typeface="Times New Roman"/>
              </a:rPr>
              <a:t>Rechargement</a:t>
            </a:r>
            <a:r>
              <a:rPr lang="en-US" sz="2250" u="heavy" spc="-40" dirty="0" smtClean="0">
                <a:latin typeface="Segoe UI Symbol"/>
                <a:cs typeface="Times New Roman"/>
              </a:rPr>
              <a:t> à </a:t>
            </a:r>
            <a:r>
              <a:rPr lang="en-US" sz="2250" u="heavy" spc="-40" dirty="0" err="1" smtClean="0">
                <a:latin typeface="Segoe UI Symbol"/>
                <a:cs typeface="Times New Roman"/>
              </a:rPr>
              <a:t>chaud</a:t>
            </a:r>
            <a:endParaRPr sz="2250" u="heavy" dirty="0">
              <a:latin typeface="Times New Roman"/>
              <a:cs typeface="Times New Roman"/>
            </a:endParaRPr>
          </a:p>
          <a:p>
            <a:pPr marL="256540" indent="-243840">
              <a:spcBef>
                <a:spcPts val="1900"/>
              </a:spcBef>
              <a:buClr>
                <a:srgbClr val="006498"/>
              </a:buClr>
              <a:buSzPct val="60000"/>
              <a:buFont typeface="Wingdings"/>
              <a:buChar char=""/>
              <a:tabLst>
                <a:tab pos="257175" algn="l"/>
              </a:tabLst>
              <a:defRPr/>
            </a:pPr>
            <a:r>
              <a:rPr lang="fr-FR" dirty="0"/>
              <a:t>Le Rechargement à chaud XAML de l’interface utilisateur d’application multiplateforme .</a:t>
            </a:r>
            <a:r>
              <a:rPr lang="fr-FR" dirty="0" smtClean="0"/>
              <a:t>NET aide à appliquer les modifications XAML sans avoir l’obligation de reconstruire l’application, il s’exécute </a:t>
            </a:r>
            <a:r>
              <a:rPr lang="fr-FR" dirty="0"/>
              <a:t>dans une configuration de débogage, avec le débogueur </a:t>
            </a:r>
            <a:r>
              <a:rPr lang="fr-FR" dirty="0" smtClean="0"/>
              <a:t>attaché</a:t>
            </a:r>
            <a:endParaRPr lang="fr-FR" sz="1600" spc="-25" dirty="0">
              <a:latin typeface="Segoe UI Symbol"/>
              <a:cs typeface="Segoe UI Symbol"/>
            </a:endParaRPr>
          </a:p>
          <a:p>
            <a:pPr marL="256540" indent="-243840">
              <a:spcBef>
                <a:spcPts val="1900"/>
              </a:spcBef>
              <a:buClr>
                <a:srgbClr val="006498"/>
              </a:buClr>
              <a:buSzPct val="60000"/>
              <a:buFont typeface="Wingdings"/>
              <a:buChar char=""/>
              <a:tabLst>
                <a:tab pos="257175" algn="l"/>
              </a:tabLst>
              <a:defRPr/>
            </a:pPr>
            <a:r>
              <a:rPr lang="fr-FR" dirty="0"/>
              <a:t>Le Rechargement à chaud XAML est activé par défaut dans Visual Studio 2022. S’il a été précédemment désactivé, vous pouvez l’activer en sélectionnant </a:t>
            </a:r>
            <a:r>
              <a:rPr lang="fr-FR" b="1" dirty="0"/>
              <a:t>Options &gt; de débogage &gt; XAML Rechargement à chaud</a:t>
            </a:r>
            <a:endParaRPr lang="fr-FR" sz="1600" spc="-25" dirty="0">
              <a:latin typeface="Segoe UI Symbol"/>
              <a:cs typeface="Segoe UI Symbol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3692" y="2845405"/>
            <a:ext cx="6380858" cy="3105646"/>
          </a:xfrm>
          <a:prstGeom prst="rect">
            <a:avLst/>
          </a:prstGeom>
        </p:spPr>
      </p:pic>
      <p:cxnSp>
        <p:nvCxnSpPr>
          <p:cNvPr id="5" name="Connecteur droit avec flèche 4"/>
          <p:cNvCxnSpPr/>
          <p:nvPr/>
        </p:nvCxnSpPr>
        <p:spPr>
          <a:xfrm flipV="1">
            <a:off x="2499783" y="4360333"/>
            <a:ext cx="2425701" cy="1291167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7"/>
          <p:cNvCxnSpPr/>
          <p:nvPr/>
        </p:nvCxnSpPr>
        <p:spPr>
          <a:xfrm flipV="1">
            <a:off x="5526616" y="4064000"/>
            <a:ext cx="664634" cy="859368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219450" y="5906185"/>
            <a:ext cx="81978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FF0000"/>
                </a:solidFill>
                <a:latin typeface="Segoe UI" panose="020B0502040204020203" pitchFamily="34" charset="0"/>
              </a:rPr>
              <a:t>S</a:t>
            </a:r>
            <a:r>
              <a:rPr lang="fr-FR" dirty="0" smtClean="0">
                <a:solidFill>
                  <a:srgbClr val="FF0000"/>
                </a:solidFill>
                <a:latin typeface="Segoe UI" panose="020B0502040204020203" pitchFamily="34" charset="0"/>
              </a:rPr>
              <a:t>ur </a:t>
            </a:r>
            <a:r>
              <a:rPr lang="fr-FR" dirty="0">
                <a:solidFill>
                  <a:srgbClr val="FF0000"/>
                </a:solidFill>
                <a:latin typeface="Segoe UI" panose="020B0502040204020203" pitchFamily="34" charset="0"/>
              </a:rPr>
              <a:t>iOS dans vos paramètres de </a:t>
            </a:r>
            <a:r>
              <a:rPr lang="fr-FR" dirty="0" err="1">
                <a:solidFill>
                  <a:srgbClr val="FF0000"/>
                </a:solidFill>
                <a:latin typeface="Segoe UI" panose="020B0502040204020203" pitchFamily="34" charset="0"/>
              </a:rPr>
              <a:t>build</a:t>
            </a:r>
            <a:r>
              <a:rPr lang="fr-FR" dirty="0">
                <a:solidFill>
                  <a:srgbClr val="FF0000"/>
                </a:solidFill>
                <a:latin typeface="Segoe UI" panose="020B0502040204020203" pitchFamily="34" charset="0"/>
              </a:rPr>
              <a:t>, vérifiez que l’éditeur de liens est défini </a:t>
            </a:r>
            <a:r>
              <a:rPr lang="fr-FR" dirty="0" smtClean="0">
                <a:solidFill>
                  <a:srgbClr val="FF0000"/>
                </a:solidFill>
                <a:latin typeface="Segoe UI" panose="020B0502040204020203" pitchFamily="34" charset="0"/>
              </a:rPr>
              <a:t>sur </a:t>
            </a:r>
            <a:r>
              <a:rPr lang="fr-FR" b="1" dirty="0" err="1" smtClean="0">
                <a:solidFill>
                  <a:srgbClr val="FF0000"/>
                </a:solidFill>
                <a:latin typeface="Segoe UI" panose="020B0502040204020203" pitchFamily="34" charset="0"/>
              </a:rPr>
              <a:t>Don’t</a:t>
            </a:r>
            <a:r>
              <a:rPr lang="fr-FR" b="1" dirty="0" smtClean="0">
                <a:solidFill>
                  <a:srgbClr val="FF0000"/>
                </a:solidFill>
                <a:latin typeface="Segoe UI" panose="020B0502040204020203" pitchFamily="34" charset="0"/>
              </a:rPr>
              <a:t> Link</a:t>
            </a:r>
            <a:endParaRPr lang="fr-FR" b="1" dirty="0">
              <a:solidFill>
                <a:srgbClr val="FF0000"/>
              </a:solidFill>
            </a:endParaRPr>
          </a:p>
        </p:txBody>
      </p:sp>
      <p:pic>
        <p:nvPicPr>
          <p:cNvPr id="7" name="Image 3"/>
          <p:cNvPicPr>
            <a:picLocks noChangeAspect="1"/>
          </p:cNvPicPr>
          <p:nvPr/>
        </p:nvPicPr>
        <p:blipFill rotWithShape="1">
          <a:blip r:embed="rId2"/>
          <a:srcRect l="57440" t="26056" r="16155" b="45046"/>
          <a:stretch/>
        </p:blipFill>
        <p:spPr>
          <a:xfrm>
            <a:off x="6493932" y="2812051"/>
            <a:ext cx="4250267" cy="22639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Rectangle 2"/>
          <p:cNvSpPr/>
          <p:nvPr/>
        </p:nvSpPr>
        <p:spPr>
          <a:xfrm>
            <a:off x="7645398" y="3705008"/>
            <a:ext cx="2286002" cy="265859"/>
          </a:xfrm>
          <a:prstGeom prst="rect">
            <a:avLst/>
          </a:prstGeom>
          <a:solidFill>
            <a:srgbClr val="FF0000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229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2"/>
          <p:cNvSpPr txBox="1"/>
          <p:nvPr/>
        </p:nvSpPr>
        <p:spPr>
          <a:xfrm>
            <a:off x="236538" y="503635"/>
            <a:ext cx="11104562" cy="16337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19710" eaLnBrk="1" fontAlgn="auto" hangingPunct="1">
              <a:spcBef>
                <a:spcPts val="0"/>
              </a:spcBef>
              <a:spcAft>
                <a:spcPts val="0"/>
              </a:spcAft>
              <a:tabLst>
                <a:tab pos="5993130" algn="l"/>
              </a:tabLst>
              <a:defRPr/>
            </a:pPr>
            <a:r>
              <a:rPr lang="en-US" sz="2250" u="heavy" spc="-40" dirty="0">
                <a:latin typeface="Segoe UI Symbol"/>
                <a:cs typeface="Times New Roman"/>
              </a:rPr>
              <a:t>Le </a:t>
            </a:r>
            <a:r>
              <a:rPr lang="en-US" sz="2250" u="heavy" spc="-40" dirty="0" smtClean="0">
                <a:latin typeface="Segoe UI Symbol"/>
                <a:cs typeface="Times New Roman"/>
              </a:rPr>
              <a:t>Hot Load –</a:t>
            </a:r>
            <a:r>
              <a:rPr lang="en-US" sz="2250" u="heavy" spc="-40" dirty="0" err="1" smtClean="0">
                <a:latin typeface="Segoe UI Symbol"/>
                <a:cs typeface="Times New Roman"/>
              </a:rPr>
              <a:t>Rechargement</a:t>
            </a:r>
            <a:r>
              <a:rPr lang="en-US" sz="2250" u="heavy" spc="-40" dirty="0" smtClean="0">
                <a:latin typeface="Segoe UI Symbol"/>
                <a:cs typeface="Times New Roman"/>
              </a:rPr>
              <a:t> à </a:t>
            </a:r>
            <a:r>
              <a:rPr lang="en-US" sz="2250" u="heavy" spc="-40" dirty="0" err="1" smtClean="0">
                <a:latin typeface="Segoe UI Symbol"/>
                <a:cs typeface="Times New Roman"/>
              </a:rPr>
              <a:t>chaud</a:t>
            </a:r>
            <a:endParaRPr sz="2250" u="heavy" dirty="0">
              <a:latin typeface="Times New Roman"/>
              <a:cs typeface="Times New Roman"/>
            </a:endParaRPr>
          </a:p>
          <a:p>
            <a:pPr marL="713740" lvl="1" indent="-243840">
              <a:spcBef>
                <a:spcPts val="1900"/>
              </a:spcBef>
              <a:buClr>
                <a:srgbClr val="006498"/>
              </a:buClr>
              <a:buSzPct val="60000"/>
              <a:buFont typeface="Wingdings"/>
              <a:buChar char=""/>
              <a:tabLst>
                <a:tab pos="257175" algn="l"/>
              </a:tabLst>
              <a:defRPr/>
            </a:pPr>
            <a:r>
              <a:rPr lang="fr-FR" dirty="0"/>
              <a:t>XAML Rechargement à chaud prend en charge le débogage simultané de plusieurs plateformes dans Visual Studio et Visual Studio pour </a:t>
            </a:r>
            <a:r>
              <a:rPr lang="fr-FR" dirty="0" smtClean="0"/>
              <a:t>Mac</a:t>
            </a:r>
          </a:p>
          <a:p>
            <a:pPr marL="713740" lvl="1" indent="-243840">
              <a:spcBef>
                <a:spcPts val="1900"/>
              </a:spcBef>
              <a:buClr>
                <a:srgbClr val="006498"/>
              </a:buClr>
              <a:buSzPct val="60000"/>
              <a:buFont typeface="Wingdings"/>
              <a:buChar char=""/>
              <a:tabLst>
                <a:tab pos="257175" algn="l"/>
              </a:tabLst>
              <a:defRPr/>
            </a:pPr>
            <a:r>
              <a:rPr lang="fr-FR" sz="1600" dirty="0">
                <a:solidFill>
                  <a:srgbClr val="FF0000"/>
                </a:solidFill>
                <a:latin typeface="Segoe UI" panose="020B0502040204020203" pitchFamily="34" charset="0"/>
              </a:rPr>
              <a:t>Sur iOS dans vos paramètres de </a:t>
            </a:r>
            <a:r>
              <a:rPr lang="fr-FR" sz="1600" dirty="0" err="1">
                <a:solidFill>
                  <a:srgbClr val="FF0000"/>
                </a:solidFill>
                <a:latin typeface="Segoe UI" panose="020B0502040204020203" pitchFamily="34" charset="0"/>
              </a:rPr>
              <a:t>build</a:t>
            </a:r>
            <a:r>
              <a:rPr lang="fr-FR" sz="1600" dirty="0">
                <a:solidFill>
                  <a:srgbClr val="FF0000"/>
                </a:solidFill>
                <a:latin typeface="Segoe UI" panose="020B0502040204020203" pitchFamily="34" charset="0"/>
              </a:rPr>
              <a:t>, vérifiez que l’éditeur de liens est défini sur </a:t>
            </a:r>
            <a:r>
              <a:rPr lang="fr-FR" sz="1600" b="1" dirty="0" err="1">
                <a:solidFill>
                  <a:srgbClr val="FF0000"/>
                </a:solidFill>
                <a:latin typeface="Segoe UI" panose="020B0502040204020203" pitchFamily="34" charset="0"/>
              </a:rPr>
              <a:t>Don’t</a:t>
            </a:r>
            <a:r>
              <a:rPr lang="fr-FR" sz="1600" b="1" dirty="0">
                <a:solidFill>
                  <a:srgbClr val="FF0000"/>
                </a:solidFill>
                <a:latin typeface="Segoe UI" panose="020B0502040204020203" pitchFamily="34" charset="0"/>
              </a:rPr>
              <a:t> </a:t>
            </a:r>
            <a:r>
              <a:rPr lang="fr-FR" sz="1600" b="1" dirty="0" smtClean="0">
                <a:solidFill>
                  <a:srgbClr val="FF0000"/>
                </a:solidFill>
                <a:latin typeface="Segoe UI" panose="020B0502040204020203" pitchFamily="34" charset="0"/>
              </a:rPr>
              <a:t>Link</a:t>
            </a:r>
          </a:p>
        </p:txBody>
      </p:sp>
    </p:spTree>
    <p:extLst>
      <p:ext uri="{BB962C8B-B14F-4D97-AF65-F5344CB8AC3E}">
        <p14:creationId xmlns:p14="http://schemas.microsoft.com/office/powerpoint/2010/main" val="3879979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2"/>
          <p:cNvSpPr txBox="1"/>
          <p:nvPr/>
        </p:nvSpPr>
        <p:spPr>
          <a:xfrm>
            <a:off x="249238" y="723900"/>
            <a:ext cx="11104562" cy="10823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19710" eaLnBrk="1" fontAlgn="auto" hangingPunct="1">
              <a:spcBef>
                <a:spcPts val="0"/>
              </a:spcBef>
              <a:spcAft>
                <a:spcPts val="0"/>
              </a:spcAft>
              <a:tabLst>
                <a:tab pos="5993130" algn="l"/>
              </a:tabLst>
              <a:defRPr/>
            </a:pPr>
            <a:r>
              <a:rPr lang="en-US" sz="2250" u="heavy" spc="-40" dirty="0">
                <a:latin typeface="Segoe UI Symbol"/>
                <a:cs typeface="Times New Roman"/>
              </a:rPr>
              <a:t>Le </a:t>
            </a:r>
            <a:r>
              <a:rPr lang="en-US" sz="2250" u="heavy" spc="-40" dirty="0" err="1">
                <a:latin typeface="Segoe UI Symbol"/>
                <a:cs typeface="Times New Roman"/>
              </a:rPr>
              <a:t>débogage</a:t>
            </a:r>
            <a:r>
              <a:rPr lang="en-US" sz="2250" u="heavy" spc="-40" dirty="0">
                <a:latin typeface="Segoe UI Symbol"/>
                <a:cs typeface="Times New Roman"/>
              </a:rPr>
              <a:t> du code XAML</a:t>
            </a:r>
            <a:r>
              <a:rPr sz="2250" u="heavy" dirty="0">
                <a:latin typeface="Times New Roman"/>
                <a:cs typeface="Times New Roman"/>
              </a:rPr>
              <a:t>	</a:t>
            </a:r>
          </a:p>
          <a:p>
            <a:pPr marL="256540" indent="-243840" eaLnBrk="1" fontAlgn="auto" hangingPunct="1">
              <a:spcBef>
                <a:spcPts val="1900"/>
              </a:spcBef>
              <a:spcAft>
                <a:spcPts val="0"/>
              </a:spcAft>
              <a:buClr>
                <a:srgbClr val="006498"/>
              </a:buClr>
              <a:buSzPct val="60000"/>
              <a:buFont typeface="Wingdings"/>
              <a:buChar char=""/>
              <a:tabLst>
                <a:tab pos="257175" algn="l"/>
              </a:tabLst>
              <a:defRPr/>
            </a:pPr>
            <a:r>
              <a:rPr lang="fr-FR" sz="1600" dirty="0"/>
              <a:t>Le débogage en XAML est quelque chose que vous faites généralement pour vérifier si vos liaisons fonctionnent, ainsi que quelques aspects à vérifier sur le plan visuel</a:t>
            </a:r>
            <a:endParaRPr lang="fr-FR" sz="1600" spc="-25" dirty="0">
              <a:latin typeface="Segoe UI Symbol"/>
              <a:cs typeface="Segoe UI Symbol"/>
            </a:endParaRPr>
          </a:p>
        </p:txBody>
      </p:sp>
      <p:pic>
        <p:nvPicPr>
          <p:cNvPr id="3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4925" y="1939597"/>
            <a:ext cx="4241800" cy="1266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46415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3016</TotalTime>
  <Words>1673</Words>
  <Application>Microsoft Office PowerPoint</Application>
  <PresentationFormat>Widescreen</PresentationFormat>
  <Paragraphs>370</Paragraphs>
  <Slides>22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6" baseType="lpstr">
      <vt:lpstr>Arial</vt:lpstr>
      <vt:lpstr>Calibri</vt:lpstr>
      <vt:lpstr>Calibri </vt:lpstr>
      <vt:lpstr>Calibri Light</vt:lpstr>
      <vt:lpstr>Cascadia Mono</vt:lpstr>
      <vt:lpstr>Comic Sans MS</vt:lpstr>
      <vt:lpstr>Consolas</vt:lpstr>
      <vt:lpstr>Courier New</vt:lpstr>
      <vt:lpstr>Segoe UI</vt:lpstr>
      <vt:lpstr>Segoe UI Symbol</vt:lpstr>
      <vt:lpstr>Times New Roman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C# les fondmentaux </dc:title>
  <dc:creator>Windows User</dc:creator>
  <cp:lastModifiedBy>DELL</cp:lastModifiedBy>
  <cp:revision>55</cp:revision>
  <dcterms:created xsi:type="dcterms:W3CDTF">2022-10-07T06:35:33Z</dcterms:created>
  <dcterms:modified xsi:type="dcterms:W3CDTF">2025-07-20T15:15:00Z</dcterms:modified>
</cp:coreProperties>
</file>