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0" r:id="rId2"/>
    <p:sldId id="257" r:id="rId3"/>
    <p:sldId id="259" r:id="rId4"/>
    <p:sldId id="291" r:id="rId5"/>
    <p:sldId id="293" r:id="rId6"/>
    <p:sldId id="295" r:id="rId7"/>
    <p:sldId id="296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40" autoAdjust="0"/>
  </p:normalViewPr>
  <p:slideViewPr>
    <p:cSldViewPr>
      <p:cViewPr varScale="1">
        <p:scale>
          <a:sx n="106" d="100"/>
          <a:sy n="106" d="100"/>
        </p:scale>
        <p:origin x="168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FBA48-6482-4940-A8BD-98D2278B94FD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9B6CC-CEC2-4BBA-B867-D80F18847B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57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59B6CC-CEC2-4BBA-B867-D80F18847B8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184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59B6CC-CEC2-4BBA-B867-D80F18847B8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757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59B6CC-CEC2-4BBA-B867-D80F18847B8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0184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20/07/2025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20/07/2025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20/07/2025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20/07/2025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20/07/2025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20/07/2025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20/07/2025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20/07/2025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20/07/2025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20/07/2025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427113"/>
            <a:ext cx="879189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dirty="0" smtClean="0"/>
              <a:t>Multi Application</a:t>
            </a:r>
            <a:r>
              <a:rPr lang="fr-FR" sz="1100" baseline="0" dirty="0" smtClean="0"/>
              <a:t> User Interface</a:t>
            </a:r>
            <a:r>
              <a:rPr lang="fr-FR" sz="1100" dirty="0" smtClean="0"/>
              <a:t>:  </a:t>
            </a:r>
          </a:p>
          <a:p>
            <a:r>
              <a:rPr lang="fr-FR" sz="1100" dirty="0" smtClean="0"/>
              <a:t>Ce support de cours est la propriété intellectuelle de Béchir </a:t>
            </a:r>
            <a:r>
              <a:rPr lang="fr-FR" sz="1100" dirty="0" err="1" smtClean="0"/>
              <a:t>Béjaoui</a:t>
            </a:r>
            <a:r>
              <a:rPr lang="fr-FR" sz="1100" dirty="0" smtClean="0"/>
              <a:t>, il n’est utilisé qu’avec l’accord du propriétaire © 2023-2024 </a:t>
            </a:r>
            <a:endParaRPr lang="en-US" sz="1100" dirty="0"/>
          </a:p>
        </p:txBody>
      </p:sp>
      <p:pic>
        <p:nvPicPr>
          <p:cNvPr id="4" name="Picture 2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6237312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32352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 smtClean="0">
                <a:solidFill>
                  <a:srgbClr val="1C3158"/>
                </a:solidFill>
                <a:latin typeface="Comic Sans MS" pitchFamily="66" charset="0"/>
              </a:rPr>
              <a:t>MAUI</a:t>
            </a:r>
            <a:endParaRPr lang="fr-FR" sz="2100" dirty="0">
              <a:solidFill>
                <a:srgbClr val="1C3158"/>
              </a:solidFill>
              <a:latin typeface="Comic Sans MS" pitchFamily="66" charset="0"/>
            </a:endParaRP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4139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795" y="4900958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3547100" y="5523433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766313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dirty="0" smtClean="0">
                <a:solidFill>
                  <a:srgbClr val="1C3158"/>
                </a:solidFill>
                <a:latin typeface="Comic Sans MS" pitchFamily="66" charset="0"/>
              </a:rPr>
              <a:t>Introduction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76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33264" y="1052739"/>
            <a:ext cx="7077472" cy="1872206"/>
          </a:xfrm>
        </p:spPr>
        <p:txBody>
          <a:bodyPr>
            <a:noAutofit/>
          </a:bodyPr>
          <a:lstStyle/>
          <a:p>
            <a:r>
              <a:rPr lang="fr-FR" sz="2400" dirty="0" smtClean="0">
                <a:latin typeface="Candara" panose="020E0502030303020204" pitchFamily="34" charset="0"/>
              </a:rPr>
              <a:t>Les types d’applications MAUI</a:t>
            </a:r>
          </a:p>
        </p:txBody>
      </p:sp>
      <p:sp>
        <p:nvSpPr>
          <p:cNvPr id="5" name="ZoneTexte 1"/>
          <p:cNvSpPr txBox="1"/>
          <p:nvPr/>
        </p:nvSpPr>
        <p:spPr>
          <a:xfrm>
            <a:off x="179512" y="467964"/>
            <a:ext cx="1375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i="1" dirty="0"/>
              <a:t>Le plan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79512" y="764704"/>
            <a:ext cx="38625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i="1" dirty="0" smtClean="0"/>
              <a:t>Les types d’application MAUI</a:t>
            </a:r>
            <a:endParaRPr lang="en-US" sz="2400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556792"/>
            <a:ext cx="8006319" cy="3312368"/>
          </a:xfrm>
          <a:prstGeom prst="rect">
            <a:avLst/>
          </a:prstGeom>
        </p:spPr>
      </p:pic>
      <p:sp>
        <p:nvSpPr>
          <p:cNvPr id="8" name="Ellipse 7"/>
          <p:cNvSpPr/>
          <p:nvPr/>
        </p:nvSpPr>
        <p:spPr>
          <a:xfrm>
            <a:off x="2339752" y="1628800"/>
            <a:ext cx="576064" cy="50405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1</a:t>
            </a:r>
            <a:endParaRPr lang="fr-FR" sz="2800" b="1" dirty="0"/>
          </a:p>
        </p:txBody>
      </p:sp>
      <p:sp>
        <p:nvSpPr>
          <p:cNvPr id="10" name="Ellipse 9"/>
          <p:cNvSpPr/>
          <p:nvPr/>
        </p:nvSpPr>
        <p:spPr>
          <a:xfrm>
            <a:off x="2915816" y="2852936"/>
            <a:ext cx="576064" cy="50405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2</a:t>
            </a:r>
            <a:endParaRPr lang="fr-FR" sz="2800" b="1" dirty="0"/>
          </a:p>
        </p:txBody>
      </p:sp>
      <p:sp>
        <p:nvSpPr>
          <p:cNvPr id="12" name="Ellipse 11"/>
          <p:cNvSpPr/>
          <p:nvPr/>
        </p:nvSpPr>
        <p:spPr>
          <a:xfrm>
            <a:off x="2902668" y="3933056"/>
            <a:ext cx="576064" cy="50405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3</a:t>
            </a:r>
            <a:endParaRPr lang="fr-FR" sz="28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2987824" y="1650866"/>
            <a:ext cx="289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Application Bureau &amp; Mobile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3491880" y="2740278"/>
            <a:ext cx="410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Application Web Hybride basée sur Blazor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3503340" y="3900782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Bibliothèque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528192"/>
            <a:ext cx="2562225" cy="3657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79512" y="764704"/>
            <a:ext cx="76463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i="1" dirty="0" smtClean="0"/>
              <a:t>Les types d’application MAUI-Application Bureau &amp; Mobile</a:t>
            </a:r>
            <a:endParaRPr lang="en-US" sz="2400" b="1" dirty="0"/>
          </a:p>
        </p:txBody>
      </p:sp>
      <p:sp>
        <p:nvSpPr>
          <p:cNvPr id="8" name="Ellipse 7"/>
          <p:cNvSpPr/>
          <p:nvPr/>
        </p:nvSpPr>
        <p:spPr>
          <a:xfrm>
            <a:off x="2123728" y="2060848"/>
            <a:ext cx="334134" cy="3208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1</a:t>
            </a:r>
            <a:endParaRPr lang="fr-FR" sz="2800" b="1" dirty="0"/>
          </a:p>
        </p:txBody>
      </p:sp>
      <p:sp>
        <p:nvSpPr>
          <p:cNvPr id="15" name="Ellipse 14"/>
          <p:cNvSpPr/>
          <p:nvPr/>
        </p:nvSpPr>
        <p:spPr>
          <a:xfrm>
            <a:off x="2086412" y="2362109"/>
            <a:ext cx="334134" cy="3208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2</a:t>
            </a:r>
            <a:endParaRPr lang="fr-FR" sz="2800" b="1" dirty="0"/>
          </a:p>
        </p:txBody>
      </p:sp>
      <p:sp>
        <p:nvSpPr>
          <p:cNvPr id="16" name="Ellipse 15"/>
          <p:cNvSpPr/>
          <p:nvPr/>
        </p:nvSpPr>
        <p:spPr>
          <a:xfrm>
            <a:off x="2086412" y="2656637"/>
            <a:ext cx="334134" cy="3208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3</a:t>
            </a:r>
            <a:endParaRPr lang="fr-FR" sz="2800" b="1" dirty="0"/>
          </a:p>
        </p:txBody>
      </p:sp>
      <p:sp>
        <p:nvSpPr>
          <p:cNvPr id="18" name="Ellipse 17"/>
          <p:cNvSpPr/>
          <p:nvPr/>
        </p:nvSpPr>
        <p:spPr>
          <a:xfrm>
            <a:off x="2039543" y="3200114"/>
            <a:ext cx="334134" cy="3208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4</a:t>
            </a:r>
            <a:endParaRPr lang="fr-FR" sz="2800" b="1" dirty="0"/>
          </a:p>
        </p:txBody>
      </p:sp>
      <p:sp>
        <p:nvSpPr>
          <p:cNvPr id="19" name="Ellipse 18"/>
          <p:cNvSpPr/>
          <p:nvPr/>
        </p:nvSpPr>
        <p:spPr>
          <a:xfrm>
            <a:off x="2419265" y="3462898"/>
            <a:ext cx="334134" cy="3208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5</a:t>
            </a:r>
            <a:endParaRPr lang="fr-FR" sz="2800" b="1" dirty="0"/>
          </a:p>
        </p:txBody>
      </p:sp>
      <p:sp>
        <p:nvSpPr>
          <p:cNvPr id="21" name="Ellipse 20"/>
          <p:cNvSpPr/>
          <p:nvPr/>
        </p:nvSpPr>
        <p:spPr>
          <a:xfrm>
            <a:off x="2456746" y="4058687"/>
            <a:ext cx="334134" cy="3208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6</a:t>
            </a:r>
            <a:endParaRPr lang="fr-FR" sz="2800" b="1" dirty="0"/>
          </a:p>
        </p:txBody>
      </p:sp>
      <p:sp>
        <p:nvSpPr>
          <p:cNvPr id="22" name="Ellipse 21"/>
          <p:cNvSpPr/>
          <p:nvPr/>
        </p:nvSpPr>
        <p:spPr>
          <a:xfrm>
            <a:off x="2555776" y="4403265"/>
            <a:ext cx="334134" cy="3208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7</a:t>
            </a:r>
            <a:endParaRPr lang="fr-FR" sz="2800" b="1" dirty="0"/>
          </a:p>
        </p:txBody>
      </p:sp>
      <p:sp>
        <p:nvSpPr>
          <p:cNvPr id="23" name="ZoneTexte 22"/>
          <p:cNvSpPr txBox="1"/>
          <p:nvPr/>
        </p:nvSpPr>
        <p:spPr>
          <a:xfrm>
            <a:off x="2722843" y="1673478"/>
            <a:ext cx="54276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1. Les paramètres globaux et les variables environnement pour chaque profil</a:t>
            </a:r>
            <a:endParaRPr lang="fr-FR" sz="1100" dirty="0"/>
          </a:p>
        </p:txBody>
      </p:sp>
      <p:sp>
        <p:nvSpPr>
          <p:cNvPr id="24" name="ZoneTexte 23"/>
          <p:cNvSpPr txBox="1"/>
          <p:nvPr/>
        </p:nvSpPr>
        <p:spPr>
          <a:xfrm>
            <a:off x="2723724" y="1967200"/>
            <a:ext cx="54276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2. Les fichiers de dépendances de chaque plateforme à savoir  </a:t>
            </a:r>
            <a:r>
              <a:rPr lang="fr-FR" sz="1100" dirty="0"/>
              <a:t>A</a:t>
            </a:r>
            <a:r>
              <a:rPr lang="fr-FR" sz="1100" dirty="0" smtClean="0"/>
              <a:t>ndroid, Windows, IOS, Catalyst et </a:t>
            </a:r>
            <a:r>
              <a:rPr lang="fr-FR" sz="1100" dirty="0" err="1" smtClean="0"/>
              <a:t>Tizen</a:t>
            </a:r>
            <a:r>
              <a:rPr lang="fr-FR" sz="1100" dirty="0" smtClean="0"/>
              <a:t>  </a:t>
            </a:r>
            <a:endParaRPr lang="fr-FR" sz="1100" dirty="0"/>
          </a:p>
        </p:txBody>
      </p:sp>
      <p:sp>
        <p:nvSpPr>
          <p:cNvPr id="25" name="ZoneTexte 24"/>
          <p:cNvSpPr txBox="1"/>
          <p:nvPr/>
        </p:nvSpPr>
        <p:spPr>
          <a:xfrm>
            <a:off x="2811427" y="2403798"/>
            <a:ext cx="54276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3. Les fichiers statiques tel que les images, les styles, les dictionnaires de ressources  </a:t>
            </a:r>
            <a:endParaRPr lang="fr-FR" sz="1100" dirty="0"/>
          </a:p>
        </p:txBody>
      </p:sp>
      <p:sp>
        <p:nvSpPr>
          <p:cNvPr id="27" name="ZoneTexte 26"/>
          <p:cNvSpPr txBox="1"/>
          <p:nvPr/>
        </p:nvSpPr>
        <p:spPr>
          <a:xfrm>
            <a:off x="2778751" y="3154500"/>
            <a:ext cx="54276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4. Le fichier à partir du quel sont appliqués les styles, thèmes et apparences de l’application</a:t>
            </a:r>
            <a:endParaRPr lang="fr-FR" sz="1100" dirty="0"/>
          </a:p>
        </p:txBody>
      </p:sp>
      <p:sp>
        <p:nvSpPr>
          <p:cNvPr id="28" name="ZoneTexte 27"/>
          <p:cNvSpPr txBox="1"/>
          <p:nvPr/>
        </p:nvSpPr>
        <p:spPr>
          <a:xfrm>
            <a:off x="2876103" y="3498306"/>
            <a:ext cx="54276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5. Le fichiers à partir du quel est définit le routage vers les divers pages de l’application </a:t>
            </a:r>
            <a:endParaRPr lang="fr-FR" sz="1100" dirty="0"/>
          </a:p>
        </p:txBody>
      </p:sp>
      <p:sp>
        <p:nvSpPr>
          <p:cNvPr id="29" name="ZoneTexte 28"/>
          <p:cNvSpPr txBox="1"/>
          <p:nvPr/>
        </p:nvSpPr>
        <p:spPr>
          <a:xfrm>
            <a:off x="2896839" y="4088303"/>
            <a:ext cx="54276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6. La page lancée  par défaut lors de la création du projet sans modification</a:t>
            </a:r>
            <a:endParaRPr lang="fr-FR" sz="1100" dirty="0"/>
          </a:p>
        </p:txBody>
      </p:sp>
      <p:sp>
        <p:nvSpPr>
          <p:cNvPr id="30" name="ZoneTexte 29"/>
          <p:cNvSpPr txBox="1"/>
          <p:nvPr/>
        </p:nvSpPr>
        <p:spPr>
          <a:xfrm>
            <a:off x="2896838" y="4462009"/>
            <a:ext cx="54276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6. La classe qui permet la création de l’environnement d’exécution ainsi que l’injection </a:t>
            </a:r>
          </a:p>
          <a:p>
            <a:r>
              <a:rPr lang="fr-FR" sz="1100" dirty="0" smtClean="0"/>
              <a:t>de services  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84382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79512" y="764704"/>
            <a:ext cx="65181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i="1" dirty="0" smtClean="0"/>
              <a:t>L’organigramme des éléments d’application MAUI</a:t>
            </a:r>
            <a:endParaRPr lang="en-US" sz="2400" b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729172"/>
            <a:ext cx="7514282" cy="380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4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79512" y="764704"/>
            <a:ext cx="4970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i="1" dirty="0" smtClean="0"/>
              <a:t>Les plateformes supportées par MAUI</a:t>
            </a:r>
            <a:endParaRPr lang="en-US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539552" y="1340768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</a:rPr>
              <a:t>Les applications .NET Multiplateforme App UI (.NET MAUI) peuvent être écrites pour les plateformes suivantes 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</a:rPr>
              <a:t>:</a:t>
            </a:r>
          </a:p>
          <a:p>
            <a:endParaRPr lang="fr-FR" dirty="0">
              <a:solidFill>
                <a:srgbClr val="161616"/>
              </a:solidFill>
              <a:latin typeface="Segoe UI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</a:rPr>
              <a:t>Android 5.0 (API 21) ou version ultérieure.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</a:rPr>
              <a:t>iOS 10 ou version ultérieure.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</a:rPr>
              <a:t>macOS 10.15 ou version ultérieure, à l’aide de Mac Catalyst.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</a:rPr>
              <a:t>Windows 11 et Windows 10 version 1809 ou 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</a:rPr>
              <a:t>ultérieure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0" i="0" dirty="0" err="1" smtClean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Tizen</a:t>
            </a:r>
            <a:endParaRPr lang="fr-FR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95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79512" y="332656"/>
            <a:ext cx="18133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i="1" dirty="0" smtClean="0"/>
              <a:t>Les langages</a:t>
            </a:r>
            <a:endParaRPr lang="en-US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759989" y="1319572"/>
            <a:ext cx="79208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</a:rPr>
              <a:t>C#: Est le principal langage utilisé pour créer la logique  </a:t>
            </a: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fr-FR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</a:rPr>
              <a:t>XAML: Un langage de balisage utilisé pour créer des UI</a:t>
            </a:r>
            <a:endParaRPr lang="fr-FR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5576" y="794321"/>
            <a:ext cx="3168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161616"/>
                </a:solidFill>
                <a:latin typeface="Segoe UI" panose="020B0502040204020203" pitchFamily="34" charset="0"/>
              </a:rPr>
              <a:t>Pour les applications MAUI:</a:t>
            </a:r>
            <a:endParaRPr lang="fr-FR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584730"/>
            <a:ext cx="3960440" cy="23909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2755"/>
          <a:stretch/>
        </p:blipFill>
        <p:spPr>
          <a:xfrm>
            <a:off x="3665343" y="3645024"/>
            <a:ext cx="3322712" cy="254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3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2656</TotalTime>
  <Words>261</Words>
  <Application>Microsoft Office PowerPoint</Application>
  <PresentationFormat>On-screen Show (4:3)</PresentationFormat>
  <Paragraphs>46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Candara</vt:lpstr>
      <vt:lpstr>Comic Sans MS</vt:lpstr>
      <vt:lpstr>Segoe UI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WCF</dc:title>
  <dc:creator>Administrator</dc:creator>
  <cp:lastModifiedBy>DELL</cp:lastModifiedBy>
  <cp:revision>100</cp:revision>
  <dcterms:created xsi:type="dcterms:W3CDTF">2014-06-23T06:00:52Z</dcterms:created>
  <dcterms:modified xsi:type="dcterms:W3CDTF">2025-07-20T14:44:48Z</dcterms:modified>
</cp:coreProperties>
</file>