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14/07/2025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87325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2023-2024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969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Les styles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83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386652" y="732028"/>
            <a:ext cx="6011862" cy="12620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8210" algn="l"/>
              </a:tabLst>
              <a:defRPr/>
            </a:pPr>
            <a:r>
              <a:rPr lang="en-US" sz="2400" u="heavy" spc="-5" dirty="0" smtClean="0">
                <a:latin typeface="Segoe UI Symbol"/>
                <a:cs typeface="Segoe UI Symbol"/>
              </a:rPr>
              <a:t>Objectifs</a:t>
            </a:r>
            <a:r>
              <a:rPr sz="2400" u="heavy" dirty="0">
                <a:latin typeface="Times New Roman"/>
                <a:cs typeface="Times New Roman"/>
              </a:rPr>
              <a:t>	</a:t>
            </a:r>
            <a:endParaRPr sz="24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52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50" spc="20" dirty="0" smtClean="0">
                <a:latin typeface="Segoe UI Symbol"/>
                <a:cs typeface="Segoe UI Symbol"/>
              </a:rPr>
              <a:t>Qu’est ce qu’un S</a:t>
            </a:r>
            <a:r>
              <a:rPr lang="fr-FR" sz="1650" spc="10" dirty="0" smtClean="0">
                <a:latin typeface="Segoe UI Symbol"/>
                <a:cs typeface="Segoe UI Symbol"/>
              </a:rPr>
              <a:t>t</a:t>
            </a:r>
            <a:r>
              <a:rPr lang="fr-FR" sz="1650" spc="5" dirty="0" smtClean="0">
                <a:latin typeface="Segoe UI Symbol"/>
                <a:cs typeface="Segoe UI Symbol"/>
              </a:rPr>
              <a:t>y</a:t>
            </a:r>
            <a:r>
              <a:rPr lang="fr-FR" sz="1650" spc="-25" dirty="0" smtClean="0">
                <a:latin typeface="Segoe UI Symbol"/>
                <a:cs typeface="Segoe UI Symbol"/>
              </a:rPr>
              <a:t>l</a:t>
            </a:r>
            <a:r>
              <a:rPr lang="fr-FR" sz="1650" spc="5" dirty="0" smtClean="0">
                <a:latin typeface="Segoe UI Symbol"/>
                <a:cs typeface="Segoe UI Symbol"/>
              </a:rPr>
              <a:t>e</a:t>
            </a:r>
          </a:p>
          <a:p>
            <a:pPr marL="256540" indent="-243840" eaLnBrk="1" fontAlgn="auto" hangingPunct="1">
              <a:spcBef>
                <a:spcPts val="152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50" spc="5" dirty="0" smtClean="0">
                <a:latin typeface="Segoe UI Symbol"/>
                <a:cs typeface="Segoe UI Symbol"/>
              </a:rPr>
              <a:t>Les techniques d’application de styles</a:t>
            </a:r>
            <a:endParaRPr lang="fr-FR" sz="1650" dirty="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6"/>
          <p:cNvSpPr txBox="1"/>
          <p:nvPr/>
        </p:nvSpPr>
        <p:spPr>
          <a:xfrm>
            <a:off x="407289" y="734060"/>
            <a:ext cx="1098613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lang="en-US" sz="2250" u="heavy" spc="-50" dirty="0">
                <a:latin typeface="Segoe UI Symbol"/>
                <a:cs typeface="Segoe UI Symbol"/>
              </a:rPr>
              <a:t>La definition d’un style</a:t>
            </a: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endParaRPr lang="fr-FR" sz="1100" spc="-50" dirty="0">
              <a:latin typeface="Segoe UI Symbol"/>
              <a:cs typeface="Times New Roman"/>
            </a:endParaRPr>
          </a:p>
          <a:p>
            <a:pPr marL="1841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tabLst>
                <a:tab pos="5852795" algn="l"/>
              </a:tabLst>
              <a:defRPr/>
            </a:pPr>
            <a:r>
              <a:rPr lang="fr-FR" sz="1600" spc="-50" dirty="0">
                <a:latin typeface="Segoe UI Symbol"/>
                <a:cs typeface="Times New Roman"/>
              </a:rPr>
              <a:t>Un style est une collection de paramètres attribués à des éléments visuels d’une fenêtre, une page ou  un contrôle pour personnaliser son apparence</a:t>
            </a:r>
            <a:r>
              <a:rPr sz="225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673" y="2108744"/>
            <a:ext cx="655320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Label.Style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="36"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="Italic"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FontFamily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="Verdana"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="Background"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="Margin"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="20,20,20,250"/&gt;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Label.Style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4" y="3428988"/>
            <a:ext cx="31" cy="2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r="2064"/>
          <a:stretch/>
        </p:blipFill>
        <p:spPr>
          <a:xfrm>
            <a:off x="7208875" y="2108744"/>
            <a:ext cx="4363630" cy="335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1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2"/>
          <p:cNvSpPr txBox="1">
            <a:spLocks noChangeArrowheads="1"/>
          </p:cNvSpPr>
          <p:nvPr/>
        </p:nvSpPr>
        <p:spPr bwMode="auto">
          <a:xfrm>
            <a:off x="443802" y="702945"/>
            <a:ext cx="60039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200" u="sng" dirty="0" smtClean="0">
                <a:latin typeface="Segoe UI Symbol" panose="020B0502040204020203" pitchFamily="34" charset="0"/>
              </a:rPr>
              <a:t>Les modes de definitions de styles </a:t>
            </a:r>
            <a:r>
              <a:rPr lang="en-US" alt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250"/>
              </a:lnSpc>
              <a:defRPr/>
            </a:pPr>
            <a:endParaRPr lang="fr-CA" altLang="en-US" sz="11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323850" indent="-171450" eaLnBrk="1" hangingPunct="1">
              <a:lnSpc>
                <a:spcPts val="1250"/>
              </a:lnSpc>
              <a:buFont typeface="Wingdings" panose="05000000000000000000" pitchFamily="2" charset="2"/>
              <a:buChar char="§"/>
              <a:defRPr/>
            </a:pPr>
            <a:r>
              <a:rPr lang="fr-FR" sz="1600" spc="-50" dirty="0">
                <a:latin typeface="Segoe UI Symbol"/>
                <a:cs typeface="Times New Roman"/>
              </a:rPr>
              <a:t>Un </a:t>
            </a:r>
            <a:r>
              <a:rPr lang="fr-FR" sz="1600" spc="-50" dirty="0" smtClean="0">
                <a:latin typeface="Segoe UI Symbol"/>
                <a:cs typeface="Times New Roman"/>
              </a:rPr>
              <a:t>style peut être définit soit implicitement soit explicitement </a:t>
            </a:r>
          </a:p>
          <a:p>
            <a:pPr eaLnBrk="1" hangingPunct="1">
              <a:lnSpc>
                <a:spcPts val="1250"/>
              </a:lnSpc>
              <a:defRPr/>
            </a:pPr>
            <a:endParaRPr lang="fr-CA" altLang="en-US" sz="11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ts val="1250"/>
              </a:lnSpc>
              <a:defRPr/>
            </a:pPr>
            <a:endParaRPr lang="fr-CA" altLang="en-US" sz="11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ts val="1250"/>
              </a:lnSpc>
              <a:defRPr/>
            </a:pPr>
            <a:endParaRPr lang="fr-CA" altLang="en-US" sz="1100" dirty="0" smtClean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244" y="1713245"/>
            <a:ext cx="589948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="36"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="Italic"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FontFamily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="Verdana"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="Background"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="Margin"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="20,20,20,250"/&gt;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&lt;!--Définition implicite--&gt;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test"/&gt;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sp>
        <p:nvSpPr>
          <p:cNvPr id="5" name="Rectangle 4"/>
          <p:cNvSpPr/>
          <p:nvPr/>
        </p:nvSpPr>
        <p:spPr>
          <a:xfrm>
            <a:off x="1969586" y="4669373"/>
            <a:ext cx="27655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spc="-50" dirty="0" smtClean="0">
                <a:latin typeface="Segoe UI Symbol"/>
                <a:cs typeface="Times New Roman"/>
              </a:rPr>
              <a:t>Exemple de définition implicite</a:t>
            </a:r>
            <a:endParaRPr lang="fr-FR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7525258" y="4619892"/>
            <a:ext cx="27446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spc="-50" dirty="0" smtClean="0">
                <a:latin typeface="Segoe UI Symbol"/>
                <a:cs typeface="Times New Roman"/>
              </a:rPr>
              <a:t>Exemple de définition explicite</a:t>
            </a:r>
            <a:endParaRPr lang="fr-FR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6096000" y="1754809"/>
            <a:ext cx="6096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en-US" sz="12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en-US" sz="1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Key</a:t>
            </a:r>
            <a:r>
              <a:rPr lang="en-US" sz="12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="style"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="36"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="Italic"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FontFamily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="Verdana"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="Background"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="Margin"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="20,20,20,250"/&gt;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&lt;!--Définition implicite-</a:t>
            </a:r>
            <a:r>
              <a:rPr lang="fr-FR" sz="12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-&gt;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Style</a:t>
            </a:r>
            <a:r>
              <a:rPr lang="en-US" sz="12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200" b="1" u="sng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en-US" sz="1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2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style</a:t>
            </a:r>
            <a:r>
              <a:rPr lang="en-US" sz="1200" b="1" u="sng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sp>
        <p:nvSpPr>
          <p:cNvPr id="3" name="Rectangle 2"/>
          <p:cNvSpPr/>
          <p:nvPr/>
        </p:nvSpPr>
        <p:spPr>
          <a:xfrm>
            <a:off x="9936867" y="1961909"/>
            <a:ext cx="1255853" cy="231494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8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404114" y="637540"/>
            <a:ext cx="10806430" cy="1043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La redefinition</a:t>
            </a:r>
            <a:r>
              <a:rPr sz="2250" u="heavy" spc="-170" dirty="0">
                <a:latin typeface="Segoe UI Symbol"/>
                <a:cs typeface="Segoe UI Symbol"/>
              </a:rPr>
              <a:t> </a:t>
            </a:r>
            <a:r>
              <a:rPr sz="2250" u="heavy" spc="-35" dirty="0">
                <a:latin typeface="Segoe UI Symbol"/>
                <a:cs typeface="Segoe UI Symbol"/>
              </a:rPr>
              <a:t>de</a:t>
            </a:r>
            <a:r>
              <a:rPr sz="2250" u="heavy" spc="-135" dirty="0">
                <a:latin typeface="Segoe UI Symbol"/>
                <a:cs typeface="Segoe UI Symbol"/>
              </a:rPr>
              <a:t> 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t</a:t>
            </a:r>
            <a:r>
              <a:rPr sz="2250" u="heavy" spc="-40" dirty="0">
                <a:latin typeface="Segoe UI Symbol"/>
                <a:cs typeface="Segoe UI Symbol"/>
              </a:rPr>
              <a:t>y</a:t>
            </a:r>
            <a:r>
              <a:rPr sz="2250" u="heavy" spc="-70" dirty="0">
                <a:latin typeface="Segoe UI Symbol"/>
                <a:cs typeface="Segoe UI Symbol"/>
              </a:rPr>
              <a:t>l</a:t>
            </a:r>
            <a:r>
              <a:rPr sz="2250" u="heavy" dirty="0">
                <a:latin typeface="Segoe UI Symbol"/>
                <a:cs typeface="Segoe UI Symbol"/>
              </a:rPr>
              <a:t>e</a:t>
            </a:r>
            <a:r>
              <a:rPr lang="en-US" sz="2250" u="heavy" dirty="0">
                <a:latin typeface="Segoe UI Symbol"/>
                <a:cs typeface="Segoe UI Symbol"/>
              </a:rPr>
              <a:t>s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 eaLnBrk="1" fontAlgn="auto" hangingPunct="1">
              <a:spcBef>
                <a:spcPts val="1605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15" dirty="0">
                <a:latin typeface="Segoe UI Symbol"/>
                <a:cs typeface="Segoe UI Symbol"/>
              </a:rPr>
              <a:t>En cas de définition implicite du style et son application sur un ensemble de contrôles de types différents, il est possible de traiter certains contrôles  comme des exceptions  </a:t>
            </a:r>
            <a:endParaRPr lang="fr-FR" sz="1600" dirty="0">
              <a:latin typeface="Segoe UI Symbol"/>
              <a:cs typeface="Segoe UI 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3240" y="1865692"/>
            <a:ext cx="69510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="36"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="Italic"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FontFamily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="Verdana"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="Background"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="Margin"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="20,20,20,250"/&gt;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&lt;!--Définition implicite--&gt;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&lt;!--Redéfinition de certaines propriétés--&gt;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 2"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="None"/&gt;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98" y="1978692"/>
            <a:ext cx="4289732" cy="28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2"/>
          <p:cNvSpPr txBox="1"/>
          <p:nvPr/>
        </p:nvSpPr>
        <p:spPr>
          <a:xfrm>
            <a:off x="404114" y="637540"/>
            <a:ext cx="10806430" cy="79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sz="2250" u="heavy" spc="-70" dirty="0">
                <a:latin typeface="Segoe UI Symbol"/>
                <a:cs typeface="Segoe UI Symbol"/>
              </a:rPr>
              <a:t>La redefinition</a:t>
            </a:r>
            <a:r>
              <a:rPr sz="2250" u="heavy" spc="-170" dirty="0">
                <a:latin typeface="Segoe UI Symbol"/>
                <a:cs typeface="Segoe UI Symbol"/>
              </a:rPr>
              <a:t> </a:t>
            </a:r>
            <a:r>
              <a:rPr sz="2250" u="heavy" spc="-35" dirty="0">
                <a:latin typeface="Segoe UI Symbol"/>
                <a:cs typeface="Segoe UI Symbol"/>
              </a:rPr>
              <a:t>de</a:t>
            </a:r>
            <a:r>
              <a:rPr sz="2250" u="heavy" spc="-135" dirty="0">
                <a:latin typeface="Segoe UI Symbol"/>
                <a:cs typeface="Segoe UI Symbol"/>
              </a:rPr>
              <a:t> 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t</a:t>
            </a:r>
            <a:r>
              <a:rPr sz="2250" u="heavy" spc="-40" dirty="0">
                <a:latin typeface="Segoe UI Symbol"/>
                <a:cs typeface="Segoe UI Symbol"/>
              </a:rPr>
              <a:t>y</a:t>
            </a:r>
            <a:r>
              <a:rPr sz="2250" u="heavy" spc="-70" dirty="0">
                <a:latin typeface="Segoe UI Symbol"/>
                <a:cs typeface="Segoe UI Symbol"/>
              </a:rPr>
              <a:t>l</a:t>
            </a:r>
            <a:r>
              <a:rPr sz="2250" u="heavy" dirty="0">
                <a:latin typeface="Segoe UI Symbol"/>
                <a:cs typeface="Segoe UI Symbol"/>
              </a:rPr>
              <a:t>e</a:t>
            </a:r>
            <a:r>
              <a:rPr lang="en-US" sz="2250" u="heavy" dirty="0" smtClean="0">
                <a:latin typeface="Segoe UI Symbol"/>
                <a:cs typeface="Segoe UI Symbol"/>
              </a:rPr>
              <a:t>s-La notion de </a:t>
            </a:r>
            <a:r>
              <a:rPr lang="en-US" sz="2250" u="heavy" dirty="0" err="1">
                <a:latin typeface="Segoe UI Symbol"/>
                <a:cs typeface="Segoe UI Symbol"/>
              </a:rPr>
              <a:t>B</a:t>
            </a:r>
            <a:r>
              <a:rPr lang="en-US" sz="2250" u="heavy" dirty="0" err="1" smtClean="0">
                <a:latin typeface="Segoe UI Symbol"/>
                <a:cs typeface="Segoe UI Symbol"/>
              </a:rPr>
              <a:t>asedOn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</a:p>
          <a:p>
            <a:pPr marL="256540" indent="-243840" eaLnBrk="1" fontAlgn="auto" hangingPunct="1">
              <a:spcBef>
                <a:spcPts val="1605"/>
              </a:spcBef>
              <a:spcAft>
                <a:spcPts val="0"/>
              </a:spcAft>
              <a:buClr>
                <a:srgbClr val="006498"/>
              </a:buClr>
              <a:buSzPct val="60714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-15" dirty="0" smtClean="0">
                <a:latin typeface="Segoe UI Symbol"/>
                <a:cs typeface="Segoe UI Symbol"/>
              </a:rPr>
              <a:t>L’héritage entre les styles est possible grâce à </a:t>
            </a:r>
            <a:r>
              <a:rPr lang="fr-FR" sz="1600" b="1" spc="-15" dirty="0" err="1" smtClean="0">
                <a:latin typeface="Segoe UI Symbol"/>
                <a:cs typeface="Segoe UI Symbol"/>
              </a:rPr>
              <a:t>BasedOn</a:t>
            </a:r>
            <a:r>
              <a:rPr lang="fr-FR" sz="1600" spc="-15" dirty="0" smtClean="0">
                <a:latin typeface="Segoe UI Symbol"/>
                <a:cs typeface="Segoe UI Symbol"/>
              </a:rPr>
              <a:t>  </a:t>
            </a:r>
            <a:endParaRPr lang="fr-FR" sz="1600" dirty="0">
              <a:latin typeface="Segoe UI Symbol"/>
              <a:cs typeface="Segoe UI Symbo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6457" y="1604711"/>
            <a:ext cx="1033549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en-US" sz="1200" b="1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en-US" sz="1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Key</a:t>
            </a:r>
            <a:r>
              <a:rPr lang="en-US" sz="1200" b="1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="basic"&gt;</a:t>
            </a:r>
            <a:endParaRPr lang="en-US" sz="1200" b="1" i="1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="36"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="Italic"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Label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i="1" u="sng" dirty="0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2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b="1" i="1" u="sng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fr-FR" sz="1200" b="1" i="1" u="sng" dirty="0">
                <a:solidFill>
                  <a:srgbClr val="0000FF"/>
                </a:solidFill>
                <a:latin typeface="Cascadia Mono" panose="020B0609020000020004" pitchFamily="49" charset="0"/>
              </a:rPr>
              <a:t>="extension"</a:t>
            </a:r>
            <a:r>
              <a:rPr lang="fr-FR" sz="1200" b="1" i="1" u="sng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BasedOn</a:t>
            </a:r>
            <a:r>
              <a:rPr lang="fr-FR" sz="1200" b="1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200" b="1" i="1" u="sng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fr-FR" sz="1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basic</a:t>
            </a:r>
            <a:r>
              <a:rPr lang="fr-FR" sz="1200" b="1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2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2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FontFamily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="Verdana"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="Background"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="Margin"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="20,20,20,250"/&gt;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&lt;!—-Application de style de base--&gt;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Style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basic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</a:t>
            </a:r>
            <a:r>
              <a:rPr lang="fr-FR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&lt;!—-Application de style </a:t>
            </a:r>
            <a:r>
              <a:rPr lang="fr-FR" sz="12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rectifié--&gt;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 test"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Style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extension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l="1301"/>
          <a:stretch/>
        </p:blipFill>
        <p:spPr>
          <a:xfrm>
            <a:off x="7570519" y="3340664"/>
            <a:ext cx="3557524" cy="201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3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640</Words>
  <Application>Microsoft Office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Cascadia Mono</vt:lpstr>
      <vt:lpstr>Comic Sans MS</vt:lpstr>
      <vt:lpstr>Consolas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10</cp:revision>
  <dcterms:created xsi:type="dcterms:W3CDTF">2022-10-07T06:51:45Z</dcterms:created>
  <dcterms:modified xsi:type="dcterms:W3CDTF">2025-07-14T17:54:40Z</dcterms:modified>
</cp:coreProperties>
</file>