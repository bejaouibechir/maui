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0"/>
  </p:notesMasterIdLst>
  <p:sldIdLst>
    <p:sldId id="283" r:id="rId2"/>
    <p:sldId id="256" r:id="rId3"/>
    <p:sldId id="288" r:id="rId4"/>
    <p:sldId id="258" r:id="rId5"/>
    <p:sldId id="262" r:id="rId6"/>
    <p:sldId id="263" r:id="rId7"/>
    <p:sldId id="284" r:id="rId8"/>
    <p:sldId id="260" r:id="rId9"/>
    <p:sldId id="275" r:id="rId10"/>
    <p:sldId id="276" r:id="rId11"/>
    <p:sldId id="277" r:id="rId12"/>
    <p:sldId id="278" r:id="rId13"/>
    <p:sldId id="279" r:id="rId14"/>
    <p:sldId id="280" r:id="rId15"/>
    <p:sldId id="281" r:id="rId16"/>
    <p:sldId id="295" r:id="rId17"/>
    <p:sldId id="294" r:id="rId18"/>
    <p:sldId id="285" r:id="rId19"/>
    <p:sldId id="286" r:id="rId20"/>
    <p:sldId id="259" r:id="rId21"/>
    <p:sldId id="268" r:id="rId22"/>
    <p:sldId id="287" r:id="rId23"/>
    <p:sldId id="296" r:id="rId24"/>
    <p:sldId id="264" r:id="rId25"/>
    <p:sldId id="265" r:id="rId26"/>
    <p:sldId id="269" r:id="rId27"/>
    <p:sldId id="270" r:id="rId28"/>
    <p:sldId id="271" r:id="rId29"/>
    <p:sldId id="272" r:id="rId30"/>
    <p:sldId id="273" r:id="rId31"/>
    <p:sldId id="261" r:id="rId32"/>
    <p:sldId id="267" r:id="rId33"/>
    <p:sldId id="290" r:id="rId34"/>
    <p:sldId id="292" r:id="rId35"/>
    <p:sldId id="293" r:id="rId36"/>
    <p:sldId id="291" r:id="rId37"/>
    <p:sldId id="289" r:id="rId38"/>
    <p:sldId id="297" r:id="rId3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3498" autoAdjust="0"/>
  </p:normalViewPr>
  <p:slideViewPr>
    <p:cSldViewPr snapToGrid="0">
      <p:cViewPr varScale="1">
        <p:scale>
          <a:sx n="106" d="100"/>
          <a:sy n="106" d="100"/>
        </p:scale>
        <p:origin x="676" y="5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82A7F4-A365-4B92-BEB0-C0D7CF65282E}" type="datetimeFigureOut">
              <a:rPr lang="fr-FR" smtClean="0"/>
              <a:t>20/07/2025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5E1AE6-1BFD-4589-9604-3D9D158FB78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732565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b="1" dirty="0" smtClean="0"/>
              <a:t>Code</a:t>
            </a:r>
            <a:r>
              <a:rPr lang="fr-FR" b="1" baseline="0" dirty="0" smtClean="0"/>
              <a:t> de </a:t>
            </a:r>
            <a:r>
              <a:rPr lang="fr-FR" b="1" baseline="0" dirty="0" err="1" smtClean="0"/>
              <a:t>FlayoutPageDemo</a:t>
            </a:r>
            <a:r>
              <a:rPr lang="fr-FR" b="1" baseline="0" dirty="0" smtClean="0"/>
              <a:t>:</a:t>
            </a:r>
          </a:p>
          <a:p>
            <a:endParaRPr lang="fr-FR" baseline="0" dirty="0" smtClean="0"/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&lt;?xml version="1.0"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encoding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="utf-8" ?&gt;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&lt;FlyoutPage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xmlns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="http://schemas.microsoft.com/dotnet/2021/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maui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xmlns:x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="http://schemas.microsoft.com/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winfx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/2009/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xaml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x:Class="FirstMauiApp.ContentPages.FlyoutPageDemo"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FlyoutLayoutBehavior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SplitOnPortrait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&lt;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FlyoutPage.Flyout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&lt;ContentPage Title="Master" Background="Bisque"&gt;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&lt;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StackLayout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&lt;Label Text="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Element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HorizontalOptions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="Center"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Margin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="10"/&gt;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&lt;/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StackLayout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&lt;/ContentPage&gt;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&lt;/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FlyoutPage.Flyout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&lt;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FlyoutPage.Detail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&lt;NavigationPage&gt;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&lt;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x:Arguments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&lt;ContentPage Background="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&lt;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VerticalStackLayout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&lt;Label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Margin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="20"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Text="Les détails de l'élément"/&gt;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&lt;/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VerticalStackLayout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&lt;/ContentPage&gt;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&lt;/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x:Arguments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&lt;/NavigationPage&gt;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&lt;/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FlyoutPage.Detail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&lt;/FlyoutPage&gt;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Au niveau de </a:t>
            </a:r>
            <a:r>
              <a:rPr lang="fr-FR" sz="1200" b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App.xaml.cs</a:t>
            </a:r>
            <a:r>
              <a:rPr lang="fr-FR" sz="1200" b="1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:</a:t>
            </a:r>
          </a:p>
          <a:p>
            <a:endParaRPr lang="fr-FR" sz="120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public partial class App : Application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{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public App()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{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InitializeComponent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();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//MainPage = new AppShell();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MainPage = new FlyoutPageDemo(); 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}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}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5E1AE6-1BFD-4589-9604-3D9D158FB781}" type="slidenum">
              <a:rPr lang="fr-FR" smtClean="0"/>
              <a:t>24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310093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b="1" baseline="0" dirty="0" smtClean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5E1AE6-1BFD-4589-9604-3D9D158FB781}" type="slidenum">
              <a:rPr lang="fr-FR" smtClean="0"/>
              <a:t>25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091121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b="1" baseline="0" dirty="0" smtClean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5E1AE6-1BFD-4589-9604-3D9D158FB781}" type="slidenum">
              <a:rPr lang="fr-FR" smtClean="0"/>
              <a:t>26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455434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b="1" baseline="0" dirty="0" smtClean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5E1AE6-1BFD-4589-9604-3D9D158FB781}" type="slidenum">
              <a:rPr lang="fr-FR" smtClean="0"/>
              <a:t>27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69357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&lt;FlyoutPage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xmlns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="http://schemas.microsoft.com/dotnet/2021/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maui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xmlns:local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clr-namespace:FlyoutPageProject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xmlns:x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="http://schemas.microsoft.com/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winfx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/2009/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xaml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x:Class="FlyoutPageProject.MainPage"&gt;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&lt;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FlyoutPage.Flyout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&lt;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local:MenuPage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x:Name="menuPage"/&gt;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&lt;/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FlyoutPage.Flyout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&lt;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FlyoutPage.Detail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&lt;NavigationPage&gt;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&lt;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x:Arguments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&lt;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local:HomePage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/&gt;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&lt;/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x:Arguments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&lt;/NavigationPage&gt;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&lt;/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FlyoutPage.Detail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&lt;/FlyoutPage&gt;</a:t>
            </a:r>
            <a:endParaRPr lang="fr-FR" b="1" baseline="0" dirty="0" smtClean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5E1AE6-1BFD-4589-9604-3D9D158FB781}" type="slidenum">
              <a:rPr lang="fr-FR" smtClean="0"/>
              <a:t>28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734124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b="1" baseline="0" dirty="0" smtClean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5E1AE6-1BFD-4589-9604-3D9D158FB781}" type="slidenum">
              <a:rPr lang="fr-FR" smtClean="0"/>
              <a:t>29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724088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b="1" baseline="0" dirty="0" smtClean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5E1AE6-1BFD-4589-9604-3D9D158FB781}" type="slidenum">
              <a:rPr lang="fr-FR" smtClean="0"/>
              <a:t>30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465632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&lt;?xml version="1.0"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encoding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="utf-8" ?&gt;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&lt;TabbedPage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xmlns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="http://schemas.microsoft.com/dotnet/2021/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maui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xmlns:x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="http://schemas.microsoft.com/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winfx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/2009/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xaml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xmlns:local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clr-namespace:TabbedPageProject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SelectedTabColor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="Red"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UnselectedTabColor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="Gray"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BackgroundColor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="Yellow"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BarTextColor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="Blue"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x:Class="TabbedPageProject.MainPage"&gt;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&lt;ContentPage Title="Home"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IconImageSource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="home.png"&gt;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&lt;Label Text="Le contenu de la page d'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acceuil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"/&gt;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&lt;/ContentPage&gt;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&lt;ContentPage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Title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="User"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IconImageSource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="user.png"&gt;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&lt;Label Text="Le contenu de la page user"/&gt;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&lt;/ContentPage&gt;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&lt;ContentPage Title="Settings"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IconImageSource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="settings.png"&gt;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&lt;Label Text="Le contenu de la page des paramètres"/&gt; 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&lt;/ContentPage&gt;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&lt;/TabbedPage&gt;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5E1AE6-1BFD-4589-9604-3D9D158FB781}" type="slidenum">
              <a:rPr lang="fr-FR" smtClean="0"/>
              <a:t>32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220163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5E1AE6-1BFD-4589-9604-3D9D158FB781}" type="slidenum">
              <a:rPr lang="fr-FR" smtClean="0"/>
              <a:t>33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703389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5E1AE6-1BFD-4589-9604-3D9D158FB781}" type="slidenum">
              <a:rPr lang="fr-FR" smtClean="0"/>
              <a:t>34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144040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5E1AE6-1BFD-4589-9604-3D9D158FB781}" type="slidenum">
              <a:rPr lang="fr-FR" smtClean="0"/>
              <a:t>35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953042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5E1AE6-1BFD-4589-9604-3D9D158FB781}" type="slidenum">
              <a:rPr lang="fr-FR" smtClean="0"/>
              <a:t>36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1879307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5E1AE6-1BFD-4589-9604-3D9D158FB781}" type="slidenum">
              <a:rPr lang="fr-FR" smtClean="0"/>
              <a:t>37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439716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5E1AE6-1BFD-4589-9604-3D9D158FB781}" type="slidenum">
              <a:rPr lang="fr-FR" smtClean="0"/>
              <a:t>38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92604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2B556CC-B3DB-497B-BE73-7E6BCECFF139}" type="datetimeFigureOut">
              <a:rPr lang="fr-FR" smtClean="0"/>
              <a:t>20/07/2025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4E7397-CDEE-49F8-B284-540E381A05A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869411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2B556CC-B3DB-497B-BE73-7E6BCECFF139}" type="datetimeFigureOut">
              <a:rPr lang="fr-FR" smtClean="0"/>
              <a:t>20/07/2025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4E7397-CDEE-49F8-B284-540E381A05A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842659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2B556CC-B3DB-497B-BE73-7E6BCECFF139}" type="datetimeFigureOut">
              <a:rPr lang="fr-FR" smtClean="0"/>
              <a:t>20/07/2025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4E7397-CDEE-49F8-B284-540E381A05A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354799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2B556CC-B3DB-497B-BE73-7E6BCECFF139}" type="datetimeFigureOut">
              <a:rPr lang="fr-FR" smtClean="0"/>
              <a:t>20/07/2025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4E7397-CDEE-49F8-B284-540E381A05A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23637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2B556CC-B3DB-497B-BE73-7E6BCECFF139}" type="datetimeFigureOut">
              <a:rPr lang="fr-FR" smtClean="0"/>
              <a:t>20/07/2025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4E7397-CDEE-49F8-B284-540E381A05A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660662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2B556CC-B3DB-497B-BE73-7E6BCECFF139}" type="datetimeFigureOut">
              <a:rPr lang="fr-FR" smtClean="0"/>
              <a:t>20/07/2025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4E7397-CDEE-49F8-B284-540E381A05A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404085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2B556CC-B3DB-497B-BE73-7E6BCECFF139}" type="datetimeFigureOut">
              <a:rPr lang="fr-FR" smtClean="0"/>
              <a:t>20/07/2025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4E7397-CDEE-49F8-B284-540E381A05A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073115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2B556CC-B3DB-497B-BE73-7E6BCECFF139}" type="datetimeFigureOut">
              <a:rPr lang="fr-FR" smtClean="0"/>
              <a:t>20/07/2025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4E7397-CDEE-49F8-B284-540E381A05A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176169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2B556CC-B3DB-497B-BE73-7E6BCECFF139}" type="datetimeFigureOut">
              <a:rPr lang="fr-FR" smtClean="0"/>
              <a:t>20/07/2025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4E7397-CDEE-49F8-B284-540E381A05A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108370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2B556CC-B3DB-497B-BE73-7E6BCECFF139}" type="datetimeFigureOut">
              <a:rPr lang="fr-FR" smtClean="0"/>
              <a:t>20/07/2025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4E7397-CDEE-49F8-B284-540E381A05A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8558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2B556CC-B3DB-497B-BE73-7E6BCECFF139}" type="datetimeFigureOut">
              <a:rPr lang="fr-FR" smtClean="0"/>
              <a:t>20/07/2025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4E7397-CDEE-49F8-B284-540E381A05A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55732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9" name="Rectangle 8"/>
          <p:cNvSpPr/>
          <p:nvPr userDrawn="1"/>
        </p:nvSpPr>
        <p:spPr>
          <a:xfrm>
            <a:off x="146050" y="6334780"/>
            <a:ext cx="1204595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b="1" dirty="0" smtClean="0"/>
              <a:t>Multi Application User Interface:  </a:t>
            </a:r>
          </a:p>
          <a:p>
            <a:r>
              <a:rPr lang="fr-FR" sz="1400" dirty="0" smtClean="0"/>
              <a:t>Ce support de cours est la propriété intellectuelle de Béchir Béjaoui, il n’est utilisé qu’avec l’accord du propriétaire © 2023-2024 </a:t>
            </a:r>
            <a:endParaRPr lang="fr-FR" sz="1400" dirty="0"/>
          </a:p>
        </p:txBody>
      </p:sp>
      <p:pic>
        <p:nvPicPr>
          <p:cNvPr id="11" name="Picture 10" descr="dotnetMAUI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98594" y="6176963"/>
            <a:ext cx="494184" cy="494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19019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bejaouibechir/PagesDemo.git" TargetMode="Externa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bejaouibechir/MAUI/blob/main/0.Pages/0.contentpage.md" TargetMode="Externa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bejaouibechir/MAUI/blob/main/0.Pages/1.naviguationpage.md" TargetMode="Externa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bejaouibechir/MAUI/blob/main/navigationpage.md" TargetMode="Externa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bejaouibechir/MAUI/blob/main/CustomINavigation%20Use.md" TargetMode="Externa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bejaouibechir/MAUI/blob/main/NavigationUnitTest.md" TargetMode="Externa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bejaouibechir/MAUI/blob/main/0.Pages/2.flayoutpage.md" TargetMode="Externa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bejaouibechir/MAUI/blob/main/FlyoutPage.md" TargetMode="Externa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bejaouibechir/MAUI/blob/main/0.Pages/3.tabbedpage.md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bejaouibechir/MAUI/blob/main/TabbedPage.md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256353" y="2274326"/>
            <a:ext cx="965329" cy="4154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sz="2100" dirty="0">
                <a:solidFill>
                  <a:srgbClr val="1C3158"/>
                </a:solidFill>
                <a:latin typeface="Comic Sans MS" pitchFamily="66" charset="0"/>
              </a:rPr>
              <a:t>MAUI</a:t>
            </a:r>
          </a:p>
        </p:txBody>
      </p:sp>
      <p:cxnSp>
        <p:nvCxnSpPr>
          <p:cNvPr id="4" name="Connecteur droit 3"/>
          <p:cNvCxnSpPr>
            <a:cxnSpLocks/>
          </p:cNvCxnSpPr>
          <p:nvPr/>
        </p:nvCxnSpPr>
        <p:spPr>
          <a:xfrm flipH="1">
            <a:off x="5663952" y="2738280"/>
            <a:ext cx="3882150" cy="13038"/>
          </a:xfrm>
          <a:prstGeom prst="line">
            <a:avLst/>
          </a:prstGeom>
          <a:ln w="22225">
            <a:solidFill>
              <a:srgbClr val="1C315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7" name="Picture 3" descr="C:\Users\bepro-17\AppData\Roaming\Skype\live#3ambenalaya.bepro\media_messaging\media_cache_v3\^2DF5C670F0A42E46084157BFD3139AC68F80CB1B7C725AE391^pimgpsh_fullsize_distr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9795" y="4900959"/>
            <a:ext cx="1164186" cy="11598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/>
          <p:cNvSpPr/>
          <p:nvPr/>
        </p:nvSpPr>
        <p:spPr>
          <a:xfrm>
            <a:off x="5071100" y="5523434"/>
            <a:ext cx="3222654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1350" b="1" i="1" dirty="0">
                <a:solidFill>
                  <a:srgbClr val="1C3158"/>
                </a:solidFill>
              </a:rPr>
              <a:t>Béchir BEJAOUI</a:t>
            </a:r>
          </a:p>
          <a:p>
            <a:pPr algn="ctr"/>
            <a:r>
              <a:rPr lang="fr-FR" sz="1350" dirty="0">
                <a:solidFill>
                  <a:srgbClr val="1C3158"/>
                </a:solidFill>
              </a:rPr>
              <a:t>Formateur et consultant indépendant</a:t>
            </a:r>
          </a:p>
        </p:txBody>
      </p:sp>
      <p:sp>
        <p:nvSpPr>
          <p:cNvPr id="3" name="Rectangle 2"/>
          <p:cNvSpPr/>
          <p:nvPr/>
        </p:nvSpPr>
        <p:spPr>
          <a:xfrm>
            <a:off x="6290314" y="2799774"/>
            <a:ext cx="301116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fr-FR" smtClean="0">
                <a:solidFill>
                  <a:srgbClr val="1C3158"/>
                </a:solidFill>
                <a:latin typeface="Comic Sans MS" pitchFamily="66" charset="0"/>
              </a:rPr>
              <a:t>Les Pages</a:t>
            </a:r>
            <a:endParaRPr lang="fr-FR" dirty="0">
              <a:solidFill>
                <a:srgbClr val="1C3158"/>
              </a:solidFill>
              <a:latin typeface="Comic Sans MS" pitchFamily="66" charset="0"/>
            </a:endParaRPr>
          </a:p>
        </p:txBody>
      </p:sp>
      <p:pic>
        <p:nvPicPr>
          <p:cNvPr id="1026" name="Picture 2" descr="dotnetMAUI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1395" y="836712"/>
            <a:ext cx="3109706" cy="31097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688239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88"/>
          <p:cNvSpPr txBox="1"/>
          <p:nvPr/>
        </p:nvSpPr>
        <p:spPr>
          <a:xfrm>
            <a:off x="185293" y="525590"/>
            <a:ext cx="4871339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z="2000" spc="-5" dirty="0" smtClean="0">
                <a:latin typeface="Segoe UI"/>
                <a:cs typeface="Segoe UI"/>
              </a:rPr>
              <a:t>Structure du projet MAUI</a:t>
            </a:r>
            <a:endParaRPr sz="2550" dirty="0">
              <a:latin typeface="Segoe UI"/>
              <a:cs typeface="Segoe UI"/>
            </a:endParaRPr>
          </a:p>
        </p:txBody>
      </p:sp>
      <p:sp>
        <p:nvSpPr>
          <p:cNvPr id="3" name="object 2"/>
          <p:cNvSpPr txBox="1">
            <a:spLocks noChangeArrowheads="1"/>
          </p:cNvSpPr>
          <p:nvPr/>
        </p:nvSpPr>
        <p:spPr bwMode="auto">
          <a:xfrm>
            <a:off x="185293" y="1090359"/>
            <a:ext cx="8830691" cy="27443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152400">
              <a:tabLst>
                <a:tab pos="599757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341313" indent="-120650">
              <a:tabLst>
                <a:tab pos="599757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599757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599757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599757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757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757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757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757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en-US" sz="2400" u="sng" dirty="0" smtClean="0">
                <a:latin typeface="Segoe UI Symbol" panose="020B0502040204020203" pitchFamily="34" charset="0"/>
              </a:rPr>
              <a:t>Objectif </a:t>
            </a:r>
            <a:r>
              <a:rPr lang="fr-FR" altLang="en-US" sz="2400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fr-FR" alt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ts val="1363"/>
              </a:spcBef>
              <a:buClr>
                <a:srgbClr val="006498"/>
              </a:buClr>
              <a:buSzPct val="85000"/>
              <a:buFont typeface="Segoe UI Symbol" panose="020B0502040204020203" pitchFamily="34" charset="0"/>
              <a:buChar char="•"/>
            </a:pPr>
            <a:r>
              <a:rPr lang="fr-FR" altLang="en-US" sz="2000" dirty="0" smtClean="0">
                <a:latin typeface="Segoe UI Symbol" panose="020B0502040204020203" pitchFamily="34" charset="0"/>
              </a:rPr>
              <a:t>  </a:t>
            </a:r>
            <a:r>
              <a:rPr lang="fr-FR" altLang="en-US" sz="2400" dirty="0" smtClean="0">
                <a:latin typeface="Segoe UI Symbol" panose="020B0502040204020203" pitchFamily="34" charset="0"/>
              </a:rPr>
              <a:t>Découvrir</a:t>
            </a:r>
            <a:r>
              <a:rPr lang="fr-FR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2400" dirty="0" smtClean="0">
                <a:latin typeface="Segoe UI Symbol" panose="020B0502040204020203" pitchFamily="34" charset="0"/>
              </a:rPr>
              <a:t>les différentes types de  pages MAUI</a:t>
            </a:r>
          </a:p>
          <a:p>
            <a:pPr marL="627063" lvl="1" indent="-285750">
              <a:spcBef>
                <a:spcPts val="1363"/>
              </a:spcBef>
              <a:buClr>
                <a:srgbClr val="006498"/>
              </a:buClr>
              <a:buSzPct val="85000"/>
              <a:buFont typeface="Wingdings" panose="05000000000000000000" pitchFamily="2" charset="2"/>
              <a:buChar char="§"/>
            </a:pPr>
            <a:r>
              <a:rPr lang="fr-FR" altLang="en-US" dirty="0" smtClean="0">
                <a:latin typeface="Segoe UI" panose="020B0502040204020203" pitchFamily="34" charset="0"/>
                <a:cs typeface="Segoe UI" panose="020B0502040204020203" pitchFamily="34" charset="0"/>
              </a:rPr>
              <a:t>Les content pages</a:t>
            </a:r>
            <a:endParaRPr lang="fr-FR" alt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627063" lvl="1" indent="-285750">
              <a:spcBef>
                <a:spcPts val="1363"/>
              </a:spcBef>
              <a:buClr>
                <a:srgbClr val="006498"/>
              </a:buClr>
              <a:buSzPct val="85000"/>
              <a:buFont typeface="Wingdings" panose="05000000000000000000" pitchFamily="2" charset="2"/>
              <a:buChar char="§"/>
            </a:pPr>
            <a:r>
              <a:rPr lang="fr-FR" altLang="en-US" dirty="0" smtClean="0">
                <a:latin typeface="Segoe UI" panose="020B0502040204020203" pitchFamily="34" charset="0"/>
                <a:cs typeface="Segoe UI" panose="020B0502040204020203" pitchFamily="34" charset="0"/>
              </a:rPr>
              <a:t>Les navigation pages</a:t>
            </a:r>
          </a:p>
          <a:p>
            <a:pPr marL="627063" lvl="1" indent="-285750">
              <a:spcBef>
                <a:spcPts val="1363"/>
              </a:spcBef>
              <a:buClr>
                <a:srgbClr val="006498"/>
              </a:buClr>
              <a:buSzPct val="85000"/>
              <a:buFont typeface="Wingdings" panose="05000000000000000000" pitchFamily="2" charset="2"/>
              <a:buChar char="§"/>
            </a:pPr>
            <a:r>
              <a:rPr lang="fr-FR" altLang="en-US" dirty="0" smtClean="0">
                <a:latin typeface="Segoe UI" panose="020B0502040204020203" pitchFamily="34" charset="0"/>
                <a:cs typeface="Segoe UI" panose="020B0502040204020203" pitchFamily="34" charset="0"/>
              </a:rPr>
              <a:t>Les Flyout pages</a:t>
            </a:r>
          </a:p>
          <a:p>
            <a:pPr marL="627063" lvl="1" indent="-285750">
              <a:spcBef>
                <a:spcPts val="1363"/>
              </a:spcBef>
              <a:buClr>
                <a:srgbClr val="006498"/>
              </a:buClr>
              <a:buSzPct val="85000"/>
              <a:buFont typeface="Wingdings" panose="05000000000000000000" pitchFamily="2" charset="2"/>
              <a:buChar char="§"/>
            </a:pPr>
            <a:r>
              <a:rPr lang="fr-FR" altLang="en-US" dirty="0" smtClean="0">
                <a:latin typeface="Segoe UI" panose="020B0502040204020203" pitchFamily="34" charset="0"/>
                <a:cs typeface="Segoe UI" panose="020B0502040204020203" pitchFamily="34" charset="0"/>
              </a:rPr>
              <a:t>Les Tabbed pages</a:t>
            </a:r>
          </a:p>
        </p:txBody>
      </p:sp>
    </p:spTree>
    <p:extLst>
      <p:ext uri="{BB962C8B-B14F-4D97-AF65-F5344CB8AC3E}">
        <p14:creationId xmlns:p14="http://schemas.microsoft.com/office/powerpoint/2010/main" val="35488745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8">
            <a:hlinkClick r:id="rId2"/>
          </p:cNvPr>
          <p:cNvSpPr txBox="1">
            <a:spLocks noChangeArrowheads="1"/>
          </p:cNvSpPr>
          <p:nvPr/>
        </p:nvSpPr>
        <p:spPr bwMode="auto">
          <a:xfrm>
            <a:off x="998142" y="2967491"/>
            <a:ext cx="10311452" cy="2371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1524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579438" indent="-242888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ts val="1488"/>
              </a:lnSpc>
              <a:spcBef>
                <a:spcPts val="1625"/>
              </a:spcBef>
              <a:buClr>
                <a:srgbClr val="006498"/>
              </a:buClr>
              <a:buSzPct val="61000"/>
            </a:pPr>
            <a:r>
              <a:rPr lang="fr-FR" altLang="en-US" sz="3200" b="1" dirty="0" smtClean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Projet de démonstration </a:t>
            </a:r>
            <a:endParaRPr lang="en-US" altLang="en-US" sz="3200" b="1" dirty="0">
              <a:solidFill>
                <a:srgbClr val="7030A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" name="object 18"/>
          <p:cNvSpPr txBox="1">
            <a:spLocks noChangeArrowheads="1"/>
          </p:cNvSpPr>
          <p:nvPr/>
        </p:nvSpPr>
        <p:spPr bwMode="auto">
          <a:xfrm>
            <a:off x="933748" y="3371029"/>
            <a:ext cx="10311452" cy="202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1524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579438" indent="-242888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ts val="1488"/>
              </a:lnSpc>
              <a:spcBef>
                <a:spcPts val="1625"/>
              </a:spcBef>
              <a:buClr>
                <a:srgbClr val="006498"/>
              </a:buClr>
              <a:buSzPct val="61000"/>
            </a:pPr>
            <a:r>
              <a:rPr lang="fr-FR" altLang="en-US" b="1" dirty="0" smtClean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Projet: </a:t>
            </a:r>
            <a:r>
              <a:rPr lang="fr-FR" altLang="en-US" b="1" dirty="0" err="1" smtClean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DemoPages</a:t>
            </a:r>
            <a:endParaRPr lang="en-US" altLang="en-US" b="1" dirty="0">
              <a:solidFill>
                <a:srgbClr val="7030A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81299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8"/>
          <p:cNvSpPr txBox="1">
            <a:spLocks noChangeArrowheads="1"/>
          </p:cNvSpPr>
          <p:nvPr/>
        </p:nvSpPr>
        <p:spPr bwMode="auto">
          <a:xfrm>
            <a:off x="251168" y="617099"/>
            <a:ext cx="10311452" cy="7402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1524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579438" indent="-242888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200" u="sng" dirty="0" smtClean="0">
                <a:latin typeface="Segoe UI Symbol" panose="020B0502040204020203" pitchFamily="34" charset="0"/>
              </a:rPr>
              <a:t>Les types de pages MAUI-ContentPage </a:t>
            </a:r>
            <a:endParaRPr lang="en-US" alt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1488"/>
              </a:lnSpc>
              <a:spcBef>
                <a:spcPts val="1625"/>
              </a:spcBef>
              <a:buClr>
                <a:srgbClr val="006498"/>
              </a:buClr>
              <a:buSzPct val="61000"/>
              <a:buFont typeface="Wingdings" panose="05000000000000000000" pitchFamily="2" charset="2"/>
              <a:buChar char=""/>
            </a:pPr>
            <a:r>
              <a:rPr lang="fr-FR" altLang="en-US" dirty="0" smtClean="0">
                <a:latin typeface="Segoe UI" panose="020B0502040204020203" pitchFamily="34" charset="0"/>
                <a:cs typeface="Segoe UI" panose="020B0502040204020203" pitchFamily="34" charset="0"/>
              </a:rPr>
              <a:t>Il y a </a:t>
            </a:r>
            <a:r>
              <a:rPr lang="fr-FR" altLang="en-US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fr-FR" altLang="en-US" dirty="0" smtClean="0">
                <a:latin typeface="Segoe UI" panose="020B0502040204020203" pitchFamily="34" charset="0"/>
                <a:cs typeface="Segoe UI" panose="020B0502040204020203" pitchFamily="34" charset="0"/>
              </a:rPr>
              <a:t>quatre types de pages MAUI</a:t>
            </a:r>
            <a:endParaRPr lang="en-US" alt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026" name="Picture 2" descr="ContentPage - .NET MAUI | Microsoft Lear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2313" y="1599998"/>
            <a:ext cx="5003283" cy="1963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12"/>
          <p:cNvSpPr/>
          <p:nvPr/>
        </p:nvSpPr>
        <p:spPr>
          <a:xfrm>
            <a:off x="422191" y="3805667"/>
            <a:ext cx="1093366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b="1" dirty="0">
                <a:latin typeface="Segoe UI" panose="020B0502040204020203" pitchFamily="34" charset="0"/>
                <a:cs typeface="Segoe UI" panose="020B0502040204020203" pitchFamily="34" charset="0"/>
              </a:rPr>
              <a:t>ContentPage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 définit une 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propriété Content 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de type 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View qui contient les éléments d’interface, cette propriété est exprimée implicitement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Une page </a:t>
            </a:r>
            <a:r>
              <a:rPr lang="fr-FR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ContentPage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 affiche une vue unique</a:t>
            </a:r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14766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8"/>
          <p:cNvSpPr txBox="1">
            <a:spLocks noChangeArrowheads="1"/>
          </p:cNvSpPr>
          <p:nvPr/>
        </p:nvSpPr>
        <p:spPr bwMode="auto">
          <a:xfrm>
            <a:off x="251168" y="617099"/>
            <a:ext cx="10311452" cy="7402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1524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579438" indent="-242888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200" u="sng" dirty="0" smtClean="0">
                <a:latin typeface="Segoe UI Symbol" panose="020B0502040204020203" pitchFamily="34" charset="0"/>
              </a:rPr>
              <a:t>Les types de pages MAUI-ContentPage </a:t>
            </a:r>
            <a:endParaRPr lang="en-US" alt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1488"/>
              </a:lnSpc>
              <a:spcBef>
                <a:spcPts val="1625"/>
              </a:spcBef>
              <a:buClr>
                <a:srgbClr val="006498"/>
              </a:buClr>
              <a:buSzPct val="61000"/>
              <a:buFont typeface="Wingdings" panose="05000000000000000000" pitchFamily="2" charset="2"/>
              <a:buChar char=""/>
            </a:pPr>
            <a:r>
              <a:rPr lang="fr-FR" altLang="en-US" dirty="0" smtClean="0">
                <a:latin typeface="Segoe UI" panose="020B0502040204020203" pitchFamily="34" charset="0"/>
                <a:cs typeface="Segoe UI" panose="020B0502040204020203" pitchFamily="34" charset="0"/>
              </a:rPr>
              <a:t>Voici les deux façons pour créer une page </a:t>
            </a:r>
            <a:r>
              <a:rPr lang="fr-FR" altLang="en-US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ContentPage</a:t>
            </a:r>
            <a:r>
              <a:rPr lang="fr-FR" altLang="en-US" dirty="0" smtClean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endParaRPr lang="en-US" alt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216936" y="1464432"/>
            <a:ext cx="4526691" cy="36009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2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CodePage</a:t>
            </a:r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: ContentPage</a:t>
            </a:r>
          </a:p>
          <a:p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pPr lvl="1"/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2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CodePage</a:t>
            </a:r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()</a:t>
            </a:r>
          </a:p>
          <a:p>
            <a:pPr lvl="1"/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pPr lvl="2"/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Content = 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VerticalStackLayout</a:t>
            </a:r>
            <a:endParaRPr lang="fr-FR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 lvl="2"/>
            <a:r>
              <a:rPr lang="fr-FR" sz="12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pPr lvl="2"/>
            <a:r>
              <a:rPr lang="fr-FR" sz="12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20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Children</a:t>
            </a:r>
            <a:r>
              <a:rPr lang="fr-FR" sz="12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= {</a:t>
            </a:r>
          </a:p>
          <a:p>
            <a:pPr lvl="4"/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Label {</a:t>
            </a:r>
          </a:p>
          <a:p>
            <a:pPr lvl="4"/>
            <a:r>
              <a:rPr lang="fr-FR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HorizontalOptions</a:t>
            </a:r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fr-FR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LayoutOptions.Center</a:t>
            </a:r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,</a:t>
            </a:r>
          </a:p>
          <a:p>
            <a:pPr lvl="4"/>
            <a:r>
              <a:rPr lang="fr-FR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VerticalOptions</a:t>
            </a:r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fr-FR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LayoutOptions.Center</a:t>
            </a:r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,</a:t>
            </a:r>
          </a:p>
          <a:p>
            <a:pPr lvl="4"/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Text = </a:t>
            </a:r>
            <a:r>
              <a:rPr lang="fr-FR" sz="1200" dirty="0">
                <a:solidFill>
                  <a:srgbClr val="A31515"/>
                </a:solidFill>
                <a:latin typeface="Cascadia Mono" panose="020B0609020000020004" pitchFamily="49" charset="0"/>
              </a:rPr>
              <a:t>"Cette page est crée avec uniquement du C# !"</a:t>
            </a:r>
            <a:endParaRPr lang="fr-FR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 lvl="3"/>
            <a:r>
              <a:rPr lang="fr-FR" sz="12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   }</a:t>
            </a:r>
            <a:endParaRPr lang="fr-FR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 lvl="3"/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</a:p>
          <a:p>
            <a:pPr lvl="2"/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};</a:t>
            </a:r>
          </a:p>
          <a:p>
            <a:pPr lvl="1"/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</a:p>
          <a:p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fr-FR" sz="1200" dirty="0"/>
          </a:p>
        </p:txBody>
      </p:sp>
      <p:sp>
        <p:nvSpPr>
          <p:cNvPr id="7" name="Rectangle 6"/>
          <p:cNvSpPr/>
          <p:nvPr/>
        </p:nvSpPr>
        <p:spPr>
          <a:xfrm>
            <a:off x="465438" y="1464432"/>
            <a:ext cx="5848865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&lt;?xml version="1.0" </a:t>
            </a:r>
            <a:r>
              <a:rPr lang="fr-FR" sz="12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encoding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="utf-8" ?&gt;</a:t>
            </a:r>
            <a:endParaRPr lang="fr-FR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200" dirty="0">
                <a:solidFill>
                  <a:srgbClr val="A31515"/>
                </a:solidFill>
                <a:latin typeface="Cascadia Mono" panose="020B0609020000020004" pitchFamily="49" charset="0"/>
              </a:rPr>
              <a:t>ContentPage</a:t>
            </a:r>
            <a:r>
              <a:rPr lang="fr-FR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sz="12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xmlns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="http://schemas.microsoft.com/dotnet/2021/</a:t>
            </a:r>
            <a:r>
              <a:rPr lang="fr-FR" sz="12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maui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"</a:t>
            </a:r>
            <a:endParaRPr lang="fr-FR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fr-FR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sz="12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xmlns</a:t>
            </a:r>
            <a:r>
              <a:rPr lang="fr-FR" sz="12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:</a:t>
            </a:r>
            <a:r>
              <a:rPr lang="fr-FR" sz="12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x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="http://schemas.microsoft.com/</a:t>
            </a:r>
            <a:r>
              <a:rPr lang="fr-FR" sz="12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winfx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/2009/</a:t>
            </a:r>
            <a:r>
              <a:rPr lang="fr-FR" sz="12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xaml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"</a:t>
            </a:r>
            <a:endParaRPr lang="fr-FR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fr-FR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x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:</a:t>
            </a:r>
            <a:r>
              <a:rPr lang="fr-FR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Class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="FirstMauiApp.ContentPages.XAMLPage"</a:t>
            </a:r>
            <a:endParaRPr lang="fr-FR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fr-FR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sz="12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Title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</a:t>
            </a:r>
            <a:r>
              <a:rPr lang="fr-FR" sz="12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XAMLPage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"&gt;</a:t>
            </a:r>
            <a:endParaRPr lang="fr-FR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2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VerticalStackLayout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200" dirty="0">
                <a:solidFill>
                  <a:srgbClr val="A31515"/>
                </a:solidFill>
                <a:latin typeface="Cascadia Mono" panose="020B0609020000020004" pitchFamily="49" charset="0"/>
              </a:rPr>
              <a:t>Label</a:t>
            </a:r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</a:p>
          <a:p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</a:t>
            </a:r>
            <a:r>
              <a:rPr lang="fr-FR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Text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="Cette page est crée à l'aide de XAML et C#!"</a:t>
            </a:r>
            <a:endParaRPr lang="fr-FR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</a:t>
            </a:r>
            <a:r>
              <a:rPr lang="fr-FR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sz="12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VerticalOptions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="Center"</a:t>
            </a:r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</a:p>
          <a:p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</a:t>
            </a:r>
            <a:r>
              <a:rPr lang="fr-FR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sz="12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HorizontalOptions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="Center" /&gt;</a:t>
            </a:r>
            <a:endParaRPr lang="fr-FR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fr-FR" sz="12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VerticalStackLayout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fr-FR" sz="1200" dirty="0" smtClean="0">
                <a:solidFill>
                  <a:srgbClr val="A31515"/>
                </a:solidFill>
                <a:latin typeface="Cascadia Mono" panose="020B0609020000020004" pitchFamily="49" charset="0"/>
              </a:rPr>
              <a:t>ContentPage</a:t>
            </a:r>
            <a:r>
              <a:rPr lang="fr-FR" sz="12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&gt;1</a:t>
            </a:r>
            <a:endParaRPr lang="fr-FR" sz="1200" dirty="0"/>
          </a:p>
        </p:txBody>
      </p:sp>
      <p:sp>
        <p:nvSpPr>
          <p:cNvPr id="8" name="Rectangle 7"/>
          <p:cNvSpPr/>
          <p:nvPr/>
        </p:nvSpPr>
        <p:spPr>
          <a:xfrm>
            <a:off x="527222" y="4527181"/>
            <a:ext cx="4279557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namespace</a:t>
            </a:r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FirstMauiApp.ContentPages</a:t>
            </a:r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partial</a:t>
            </a:r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2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XAMLPage</a:t>
            </a:r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: ContentPage</a:t>
            </a:r>
          </a:p>
          <a:p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fr-FR" sz="12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  public</a:t>
            </a:r>
            <a:r>
              <a:rPr lang="fr-FR" sz="12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2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XAMLPage</a:t>
            </a:r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()</a:t>
            </a:r>
          </a:p>
          <a:p>
            <a:r>
              <a:rPr lang="fr-FR" sz="12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{</a:t>
            </a:r>
            <a:endParaRPr lang="fr-FR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2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   </a:t>
            </a:r>
            <a:r>
              <a:rPr lang="fr-FR" sz="120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InitializeComponent</a:t>
            </a:r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fr-FR" sz="12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}		</a:t>
            </a:r>
            <a:endParaRPr lang="fr-FR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fr-FR" sz="1200" dirty="0"/>
          </a:p>
        </p:txBody>
      </p:sp>
      <p:sp>
        <p:nvSpPr>
          <p:cNvPr id="9" name="Rectangle 8"/>
          <p:cNvSpPr/>
          <p:nvPr/>
        </p:nvSpPr>
        <p:spPr>
          <a:xfrm>
            <a:off x="2875595" y="4142088"/>
            <a:ext cx="13100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altLang="en-US" sz="1200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Interface XAML</a:t>
            </a:r>
            <a:endParaRPr lang="fr-FR" sz="1200" b="1" dirty="0"/>
          </a:p>
        </p:txBody>
      </p:sp>
      <p:sp>
        <p:nvSpPr>
          <p:cNvPr id="12" name="Rectangle 11"/>
          <p:cNvSpPr/>
          <p:nvPr/>
        </p:nvSpPr>
        <p:spPr>
          <a:xfrm>
            <a:off x="2960586" y="6066435"/>
            <a:ext cx="114005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altLang="en-US" sz="1200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Code behind</a:t>
            </a:r>
            <a:endParaRPr lang="fr-FR" sz="1200" b="1" dirty="0"/>
          </a:p>
        </p:txBody>
      </p:sp>
      <p:sp>
        <p:nvSpPr>
          <p:cNvPr id="14" name="Rectangle 13"/>
          <p:cNvSpPr/>
          <p:nvPr/>
        </p:nvSpPr>
        <p:spPr>
          <a:xfrm>
            <a:off x="9028673" y="5172484"/>
            <a:ext cx="78258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altLang="en-US" sz="1200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Code C#</a:t>
            </a:r>
            <a:endParaRPr lang="fr-FR" sz="1200" b="1" dirty="0"/>
          </a:p>
        </p:txBody>
      </p:sp>
      <p:sp>
        <p:nvSpPr>
          <p:cNvPr id="15" name="Ellipse 14"/>
          <p:cNvSpPr/>
          <p:nvPr/>
        </p:nvSpPr>
        <p:spPr>
          <a:xfrm>
            <a:off x="4267459" y="4011469"/>
            <a:ext cx="539320" cy="461665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b="1" dirty="0" smtClean="0"/>
              <a:t>1</a:t>
            </a:r>
            <a:endParaRPr lang="fr-FR" sz="2800" b="1" dirty="0"/>
          </a:p>
        </p:txBody>
      </p:sp>
      <p:sp>
        <p:nvSpPr>
          <p:cNvPr id="17" name="Ellipse 16"/>
          <p:cNvSpPr/>
          <p:nvPr/>
        </p:nvSpPr>
        <p:spPr>
          <a:xfrm>
            <a:off x="10703269" y="2572427"/>
            <a:ext cx="539320" cy="461665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b="1" dirty="0" smtClean="0"/>
              <a:t>2</a:t>
            </a:r>
            <a:endParaRPr lang="fr-FR" sz="2800" b="1" dirty="0"/>
          </a:p>
        </p:txBody>
      </p:sp>
    </p:spTree>
    <p:extLst>
      <p:ext uri="{BB962C8B-B14F-4D97-AF65-F5344CB8AC3E}">
        <p14:creationId xmlns:p14="http://schemas.microsoft.com/office/powerpoint/2010/main" val="36554320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8"/>
          <p:cNvSpPr txBox="1">
            <a:spLocks noChangeArrowheads="1"/>
          </p:cNvSpPr>
          <p:nvPr/>
        </p:nvSpPr>
        <p:spPr bwMode="auto">
          <a:xfrm>
            <a:off x="251168" y="617099"/>
            <a:ext cx="10311452" cy="7402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1524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579438" indent="-242888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200" u="sng" dirty="0" smtClean="0">
                <a:latin typeface="Segoe UI Symbol" panose="020B0502040204020203" pitchFamily="34" charset="0"/>
              </a:rPr>
              <a:t>Les types de pages MAUI-ContentPage </a:t>
            </a:r>
            <a:endParaRPr lang="en-US" alt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1488"/>
              </a:lnSpc>
              <a:spcBef>
                <a:spcPts val="1625"/>
              </a:spcBef>
              <a:buClr>
                <a:srgbClr val="006498"/>
              </a:buClr>
              <a:buSzPct val="61000"/>
              <a:buFont typeface="Wingdings" panose="05000000000000000000" pitchFamily="2" charset="2"/>
              <a:buChar char=""/>
            </a:pPr>
            <a:r>
              <a:rPr lang="fr-FR" altLang="en-US" dirty="0" smtClean="0">
                <a:latin typeface="Segoe UI" panose="020B0502040204020203" pitchFamily="34" charset="0"/>
                <a:cs typeface="Segoe UI" panose="020B0502040204020203" pitchFamily="34" charset="0"/>
              </a:rPr>
              <a:t>La définition de la première page </a:t>
            </a:r>
            <a:r>
              <a:rPr lang="fr-FR" altLang="en-US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ContentPage </a:t>
            </a:r>
            <a:r>
              <a:rPr lang="fr-FR" altLang="en-US" dirty="0" smtClean="0">
                <a:latin typeface="Segoe UI" panose="020B0502040204020203" pitchFamily="34" charset="0"/>
                <a:cs typeface="Segoe UI" panose="020B0502040204020203" pitchFamily="34" charset="0"/>
              </a:rPr>
              <a:t>pourra être faite de deux façons </a:t>
            </a:r>
            <a:endParaRPr lang="en-US" alt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59259" y="1754172"/>
            <a:ext cx="4372233" cy="1785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partial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200" dirty="0">
                <a:solidFill>
                  <a:srgbClr val="2B91AF"/>
                </a:solidFill>
                <a:latin typeface="Cascadia Mono" panose="020B0609020000020004" pitchFamily="49" charset="0"/>
              </a:rPr>
              <a:t>App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: Application</a:t>
            </a:r>
          </a:p>
          <a:p>
            <a:r>
              <a:rPr lang="fr-FR" sz="12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  <a:endParaRPr lang="fr-FR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2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   public</a:t>
            </a:r>
            <a:r>
              <a:rPr lang="fr-FR" sz="12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200" dirty="0">
                <a:solidFill>
                  <a:srgbClr val="2B91AF"/>
                </a:solidFill>
                <a:latin typeface="Cascadia Mono" panose="020B0609020000020004" pitchFamily="49" charset="0"/>
              </a:rPr>
              <a:t>App</a:t>
            </a:r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()</a:t>
            </a:r>
          </a:p>
          <a:p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</a:t>
            </a:r>
            <a:r>
              <a:rPr lang="fr-FR" sz="12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  <a:endParaRPr lang="fr-FR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2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   </a:t>
            </a:r>
            <a:r>
              <a:rPr lang="fr-FR" sz="120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InitializeComponent</a:t>
            </a:r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endParaRPr lang="fr-FR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2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    </a:t>
            </a:r>
            <a:r>
              <a:rPr lang="fr-FR" sz="1400" b="1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MainPage </a:t>
            </a:r>
            <a:r>
              <a:rPr lang="fr-FR" sz="1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= </a:t>
            </a:r>
            <a:r>
              <a:rPr lang="fr-FR" sz="1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new</a:t>
            </a:r>
            <a:r>
              <a:rPr lang="fr-FR" sz="1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 AppShell();</a:t>
            </a:r>
          </a:p>
          <a:p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</a:t>
            </a:r>
            <a:r>
              <a:rPr lang="fr-FR" sz="12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}</a:t>
            </a:r>
            <a:endParaRPr lang="fr-FR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2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fr-FR" sz="1200" dirty="0"/>
          </a:p>
        </p:txBody>
      </p:sp>
      <p:sp>
        <p:nvSpPr>
          <p:cNvPr id="4" name="Rectangle 3"/>
          <p:cNvSpPr/>
          <p:nvPr/>
        </p:nvSpPr>
        <p:spPr>
          <a:xfrm>
            <a:off x="459259" y="3396718"/>
            <a:ext cx="5051855" cy="30623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&lt;?xml version="1.0" </a:t>
            </a:r>
            <a:r>
              <a:rPr lang="fr-FR" sz="11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encoding</a:t>
            </a:r>
            <a:r>
              <a:rPr lang="fr-FR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="UTF-8" ?&gt;</a:t>
            </a:r>
            <a:endParaRPr lang="fr-FR" sz="11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100" dirty="0">
                <a:solidFill>
                  <a:srgbClr val="A31515"/>
                </a:solidFill>
                <a:latin typeface="Cascadia Mono" panose="020B0609020000020004" pitchFamily="49" charset="0"/>
              </a:rPr>
              <a:t>Shell</a:t>
            </a:r>
            <a:endParaRPr lang="fr-FR" sz="11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</a:t>
            </a:r>
            <a:r>
              <a:rPr lang="fr-FR" sz="1100" dirty="0">
                <a:solidFill>
                  <a:srgbClr val="FF0000"/>
                </a:solidFill>
                <a:latin typeface="Cascadia Mono" panose="020B0609020000020004" pitchFamily="49" charset="0"/>
              </a:rPr>
              <a:t> x</a:t>
            </a:r>
            <a:r>
              <a:rPr lang="fr-FR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:</a:t>
            </a:r>
            <a:r>
              <a:rPr lang="fr-FR" sz="1100" dirty="0">
                <a:solidFill>
                  <a:srgbClr val="FF0000"/>
                </a:solidFill>
                <a:latin typeface="Cascadia Mono" panose="020B0609020000020004" pitchFamily="49" charset="0"/>
              </a:rPr>
              <a:t>Class</a:t>
            </a:r>
            <a:r>
              <a:rPr lang="fr-FR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="FirstMauiApp.AppShell"</a:t>
            </a:r>
            <a:endParaRPr lang="fr-FR" sz="11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</a:t>
            </a:r>
            <a:r>
              <a:rPr lang="fr-FR" sz="11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sz="11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xmlns</a:t>
            </a:r>
            <a:r>
              <a:rPr lang="fr-FR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="http://schemas.microsoft.com/dotnet/2021/</a:t>
            </a:r>
            <a:r>
              <a:rPr lang="fr-FR" sz="11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maui</a:t>
            </a:r>
            <a:r>
              <a:rPr lang="fr-FR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"</a:t>
            </a:r>
            <a:endParaRPr lang="fr-FR" sz="11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</a:t>
            </a:r>
            <a:r>
              <a:rPr lang="fr-FR" sz="11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sz="11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xmlns</a:t>
            </a:r>
            <a:r>
              <a:rPr lang="fr-FR" sz="11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:</a:t>
            </a:r>
            <a:r>
              <a:rPr lang="fr-FR" sz="11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x</a:t>
            </a:r>
            <a:r>
              <a:rPr lang="fr-FR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="http://schemas.microsoft.com/</a:t>
            </a:r>
            <a:r>
              <a:rPr lang="fr-FR" sz="11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winfx</a:t>
            </a:r>
            <a:r>
              <a:rPr lang="fr-FR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/2009/</a:t>
            </a:r>
            <a:r>
              <a:rPr lang="fr-FR" sz="11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xaml</a:t>
            </a:r>
            <a:r>
              <a:rPr lang="fr-FR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"</a:t>
            </a:r>
            <a:endParaRPr lang="fr-FR" sz="11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</a:t>
            </a:r>
            <a:r>
              <a:rPr lang="fr-FR" sz="11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sz="11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xmlns</a:t>
            </a:r>
            <a:r>
              <a:rPr lang="fr-FR" sz="11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:</a:t>
            </a:r>
            <a:r>
              <a:rPr lang="fr-FR" sz="11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pages</a:t>
            </a:r>
            <a:r>
              <a:rPr lang="fr-FR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 ="</a:t>
            </a:r>
            <a:r>
              <a:rPr lang="fr-FR" sz="11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clr-namespace:FirstMauiApp.Pages</a:t>
            </a:r>
            <a:r>
              <a:rPr lang="fr-FR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"</a:t>
            </a:r>
            <a:endParaRPr lang="fr-FR" sz="11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</a:t>
            </a:r>
            <a:r>
              <a:rPr lang="fr-FR" sz="11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sz="11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xmlns</a:t>
            </a:r>
            <a:r>
              <a:rPr lang="fr-FR" sz="11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:</a:t>
            </a:r>
            <a:r>
              <a:rPr lang="fr-FR" sz="11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local</a:t>
            </a:r>
            <a:r>
              <a:rPr lang="fr-FR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="</a:t>
            </a:r>
            <a:r>
              <a:rPr lang="fr-FR" sz="11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clr-namespace:FirstMauiApp</a:t>
            </a:r>
            <a:r>
              <a:rPr lang="fr-FR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"</a:t>
            </a:r>
            <a:endParaRPr lang="fr-FR" sz="11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</a:t>
            </a:r>
            <a:r>
              <a:rPr lang="fr-FR" sz="11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sz="11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Shell.FlyoutBehavior</a:t>
            </a:r>
            <a:r>
              <a:rPr lang="fr-FR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="</a:t>
            </a:r>
            <a:r>
              <a:rPr lang="fr-FR" sz="11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Disabled</a:t>
            </a:r>
            <a:r>
              <a:rPr lang="fr-FR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"&gt;</a:t>
            </a:r>
            <a:endParaRPr lang="fr-FR" sz="11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endParaRPr lang="fr-FR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&lt;</a:t>
            </a:r>
            <a:r>
              <a:rPr lang="fr-FR" sz="1400" b="1" dirty="0" err="1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ShellContent</a:t>
            </a:r>
            <a:endParaRPr lang="fr-FR" sz="1400" b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scadia Mono" panose="020B0609020000020004" pitchFamily="49" charset="0"/>
            </a:endParaRPr>
          </a:p>
          <a:p>
            <a:r>
              <a:rPr lang="fr-FR" sz="1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       </a:t>
            </a:r>
            <a:r>
              <a:rPr lang="fr-FR" sz="1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 </a:t>
            </a:r>
            <a:r>
              <a:rPr lang="fr-FR" sz="14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Title</a:t>
            </a:r>
            <a:r>
              <a:rPr lang="fr-FR" sz="1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="Home"</a:t>
            </a:r>
            <a:endParaRPr lang="fr-FR" sz="1400" b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scadia Mono" panose="020B0609020000020004" pitchFamily="49" charset="0"/>
            </a:endParaRPr>
          </a:p>
          <a:p>
            <a:r>
              <a:rPr lang="fr-FR" sz="1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       </a:t>
            </a:r>
            <a:r>
              <a:rPr lang="fr-FR" sz="1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 </a:t>
            </a:r>
            <a:r>
              <a:rPr lang="fr-FR" sz="1400" b="1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ContentTemplate</a:t>
            </a:r>
            <a:endParaRPr lang="fr-FR" sz="1400" b="1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scadia Mono" panose="020B0609020000020004" pitchFamily="49" charset="0"/>
            </a:endParaRPr>
          </a:p>
          <a:p>
            <a:r>
              <a:rPr lang="fr-FR" sz="1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        </a:t>
            </a:r>
            <a:r>
              <a:rPr lang="fr-FR" sz="1400" b="1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="{</a:t>
            </a:r>
            <a:r>
              <a:rPr lang="fr-FR" sz="1400" b="1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DataTemplate</a:t>
            </a:r>
            <a:r>
              <a:rPr lang="fr-FR" sz="1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 </a:t>
            </a:r>
            <a:r>
              <a:rPr lang="fr-FR" sz="14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pages</a:t>
            </a:r>
            <a:r>
              <a:rPr lang="fr-FR" sz="1400" b="1" dirty="0" err="1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:</a:t>
            </a:r>
            <a:r>
              <a:rPr lang="fr-FR" sz="14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MainPage</a:t>
            </a:r>
            <a:r>
              <a:rPr lang="fr-FR" sz="1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}"</a:t>
            </a:r>
            <a:endParaRPr lang="fr-FR" sz="1400" b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scadia Mono" panose="020B0609020000020004" pitchFamily="49" charset="0"/>
            </a:endParaRPr>
          </a:p>
          <a:p>
            <a:r>
              <a:rPr lang="fr-FR" sz="1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       </a:t>
            </a:r>
            <a:r>
              <a:rPr lang="fr-FR" sz="1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 Route</a:t>
            </a:r>
            <a:r>
              <a:rPr lang="fr-FR" sz="1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="Pages\</a:t>
            </a:r>
            <a:r>
              <a:rPr lang="fr-FR" sz="1400" b="1" dirty="0" err="1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MainPage</a:t>
            </a:r>
            <a:r>
              <a:rPr lang="fr-FR" sz="1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" /&gt;</a:t>
            </a:r>
            <a:endParaRPr lang="fr-FR" sz="1400" b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scadia Mono" panose="020B0609020000020004" pitchFamily="49" charset="0"/>
            </a:endParaRPr>
          </a:p>
          <a:p>
            <a:endParaRPr lang="fr-FR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fr-FR" sz="1100" dirty="0">
                <a:solidFill>
                  <a:srgbClr val="A31515"/>
                </a:solidFill>
                <a:latin typeface="Cascadia Mono" panose="020B0609020000020004" pitchFamily="49" charset="0"/>
              </a:rPr>
              <a:t>Shell</a:t>
            </a:r>
            <a:r>
              <a:rPr lang="fr-FR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100" dirty="0"/>
          </a:p>
        </p:txBody>
      </p:sp>
      <p:cxnSp>
        <p:nvCxnSpPr>
          <p:cNvPr id="10" name="Connecteur droit avec flèche 9"/>
          <p:cNvCxnSpPr/>
          <p:nvPr/>
        </p:nvCxnSpPr>
        <p:spPr>
          <a:xfrm flipH="1">
            <a:off x="1087395" y="2977978"/>
            <a:ext cx="1804086" cy="710514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6" name="Connecteur droit avec flèche 15"/>
          <p:cNvCxnSpPr/>
          <p:nvPr/>
        </p:nvCxnSpPr>
        <p:spPr>
          <a:xfrm>
            <a:off x="902043" y="3793524"/>
            <a:ext cx="2767914" cy="178555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6699421" y="1754172"/>
            <a:ext cx="5206314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200" dirty="0">
                <a:solidFill>
                  <a:srgbClr val="2B91AF"/>
                </a:solidFill>
                <a:latin typeface="Cascadia Mono" panose="020B0609020000020004" pitchFamily="49" charset="0"/>
              </a:rPr>
              <a:t>App</a:t>
            </a:r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()</a:t>
            </a:r>
          </a:p>
          <a:p>
            <a:r>
              <a:rPr lang="fr-FR" sz="12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  <a:endParaRPr lang="fr-FR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2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 </a:t>
            </a:r>
            <a:r>
              <a:rPr lang="fr-FR" sz="120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InitializeComponent</a:t>
            </a:r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endParaRPr lang="fr-FR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200" dirty="0" smtClean="0">
                <a:solidFill>
                  <a:srgbClr val="008000"/>
                </a:solidFill>
                <a:latin typeface="Cascadia Mono" panose="020B0609020000020004" pitchFamily="49" charset="0"/>
              </a:rPr>
              <a:t>    //</a:t>
            </a:r>
            <a:r>
              <a:rPr lang="fr-FR" sz="1200" dirty="0">
                <a:solidFill>
                  <a:srgbClr val="008000"/>
                </a:solidFill>
                <a:latin typeface="Cascadia Mono" panose="020B0609020000020004" pitchFamily="49" charset="0"/>
              </a:rPr>
              <a:t>MainPage = new AppShell();</a:t>
            </a:r>
            <a:endParaRPr lang="fr-FR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2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  MainPage </a:t>
            </a:r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= 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MainPage();  </a:t>
            </a:r>
          </a:p>
          <a:p>
            <a:r>
              <a:rPr lang="fr-FR" sz="12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fr-FR" sz="1200" dirty="0"/>
          </a:p>
        </p:txBody>
      </p:sp>
      <p:sp>
        <p:nvSpPr>
          <p:cNvPr id="20" name="Rectangle 19"/>
          <p:cNvSpPr/>
          <p:nvPr/>
        </p:nvSpPr>
        <p:spPr>
          <a:xfrm>
            <a:off x="1687298" y="1415618"/>
            <a:ext cx="278236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altLang="en-US" sz="1600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Définition à travers le Shell</a:t>
            </a:r>
            <a:endParaRPr lang="fr-FR" sz="1600" b="1" dirty="0"/>
          </a:p>
        </p:txBody>
      </p:sp>
      <p:sp>
        <p:nvSpPr>
          <p:cNvPr id="21" name="Rectangle 20"/>
          <p:cNvSpPr/>
          <p:nvPr/>
        </p:nvSpPr>
        <p:spPr>
          <a:xfrm>
            <a:off x="7433220" y="1415618"/>
            <a:ext cx="186935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altLang="en-US" sz="1600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Définition directe</a:t>
            </a:r>
            <a:endParaRPr lang="fr-FR" sz="1600" b="1" dirty="0"/>
          </a:p>
        </p:txBody>
      </p:sp>
    </p:spTree>
    <p:extLst>
      <p:ext uri="{BB962C8B-B14F-4D97-AF65-F5344CB8AC3E}">
        <p14:creationId xmlns:p14="http://schemas.microsoft.com/office/powerpoint/2010/main" val="25169477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hlinkClick r:id="rId2"/>
          </p:cNvPr>
          <p:cNvSpPr/>
          <p:nvPr/>
        </p:nvSpPr>
        <p:spPr>
          <a:xfrm>
            <a:off x="3712767" y="2674547"/>
            <a:ext cx="469797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2400" b="1" dirty="0" smtClean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Un premier contact avec Content Page</a:t>
            </a:r>
            <a:endParaRPr lang="fr-FR" sz="2400" b="1" dirty="0">
              <a:solidFill>
                <a:srgbClr val="7030A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70798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8"/>
          <p:cNvSpPr txBox="1">
            <a:spLocks noChangeArrowheads="1"/>
          </p:cNvSpPr>
          <p:nvPr/>
        </p:nvSpPr>
        <p:spPr bwMode="auto">
          <a:xfrm>
            <a:off x="251168" y="617099"/>
            <a:ext cx="10311452" cy="7402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1524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579438" indent="-242888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200" u="sng" dirty="0" smtClean="0">
                <a:latin typeface="Segoe UI Symbol" panose="020B0502040204020203" pitchFamily="34" charset="0"/>
              </a:rPr>
              <a:t>Les types de pages MAUI-NavigationPage </a:t>
            </a:r>
            <a:endParaRPr lang="en-US" alt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1488"/>
              </a:lnSpc>
              <a:spcBef>
                <a:spcPts val="1625"/>
              </a:spcBef>
              <a:buClr>
                <a:srgbClr val="006498"/>
              </a:buClr>
              <a:buSzPct val="61000"/>
              <a:buFont typeface="Wingdings" panose="05000000000000000000" pitchFamily="2" charset="2"/>
              <a:buChar char=""/>
            </a:pPr>
            <a:r>
              <a:rPr lang="fr-FR" altLang="en-US" dirty="0" smtClean="0">
                <a:latin typeface="Segoe UI" panose="020B0502040204020203" pitchFamily="34" charset="0"/>
                <a:cs typeface="Segoe UI" panose="020B0502040204020203" pitchFamily="34" charset="0"/>
              </a:rPr>
              <a:t>Il y a </a:t>
            </a:r>
            <a:r>
              <a:rPr lang="fr-FR" altLang="en-US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fr-FR" altLang="en-US" dirty="0" smtClean="0">
                <a:latin typeface="Segoe UI" panose="020B0502040204020203" pitchFamily="34" charset="0"/>
                <a:cs typeface="Segoe UI" panose="020B0502040204020203" pitchFamily="34" charset="0"/>
              </a:rPr>
              <a:t>quatre types de pages MAUI</a:t>
            </a:r>
            <a:endParaRPr lang="en-US" alt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07425" y="3830355"/>
            <a:ext cx="10155195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smtClean="0">
                <a:latin typeface="Segoe UI" panose="020B0502040204020203" pitchFamily="34" charset="0"/>
              </a:rPr>
              <a:t>La page de type </a:t>
            </a:r>
            <a:r>
              <a:rPr lang="fr-FR" b="1" dirty="0" smtClean="0">
                <a:latin typeface="Segoe UI" panose="020B0502040204020203" pitchFamily="34" charset="0"/>
              </a:rPr>
              <a:t>NavigationPage</a:t>
            </a:r>
            <a:r>
              <a:rPr lang="fr-FR" dirty="0">
                <a:solidFill>
                  <a:srgbClr val="161616"/>
                </a:solidFill>
                <a:latin typeface="Segoe UI" panose="020B0502040204020203" pitchFamily="34" charset="0"/>
              </a:rPr>
              <a:t> offre une expérience de navigation hiérarchique dans laquelle vous pouvez naviguer dans les pages, en avant et en </a:t>
            </a:r>
            <a:r>
              <a:rPr lang="fr-FR" dirty="0" smtClean="0">
                <a:solidFill>
                  <a:srgbClr val="161616"/>
                </a:solidFill>
                <a:latin typeface="Segoe UI" panose="020B0502040204020203" pitchFamily="34" charset="0"/>
              </a:rPr>
              <a:t>arrière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>
              <a:solidFill>
                <a:srgbClr val="161616"/>
              </a:solidFill>
              <a:latin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 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La page de type </a:t>
            </a:r>
            <a:r>
              <a:rPr lang="fr-FR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NavigationPage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 fournit la navigation sous la forme d’une pile d’objets </a:t>
            </a:r>
            <a:r>
              <a:rPr lang="fr-FR" u="sng" dirty="0">
                <a:latin typeface="Segoe UI" panose="020B0502040204020203" pitchFamily="34" charset="0"/>
                <a:cs typeface="Segoe UI" panose="020B0502040204020203" pitchFamily="34" charset="0"/>
              </a:rPr>
              <a:t>Page </a:t>
            </a:r>
            <a:r>
              <a:rPr lang="fr-FR" u="sng" dirty="0" smtClean="0">
                <a:latin typeface="Segoe UI" panose="020B0502040204020203" pitchFamily="34" charset="0"/>
                <a:cs typeface="Segoe UI" panose="020B0502040204020203" pitchFamily="34" charset="0"/>
              </a:rPr>
              <a:t>LIFO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fr-FR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Note: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 La page de type</a:t>
            </a:r>
            <a:r>
              <a:rPr lang="fr-FR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 NavigationPage 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 n’est pas compatible avec Shell, une exception sera levée si vous tentez d’utiliser </a:t>
            </a:r>
            <a:r>
              <a:rPr lang="fr-FR" b="1" dirty="0">
                <a:latin typeface="Segoe UI" panose="020B0502040204020203" pitchFamily="34" charset="0"/>
                <a:cs typeface="Segoe UI" panose="020B0502040204020203" pitchFamily="34" charset="0"/>
              </a:rPr>
              <a:t> NavigationPage 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 dans une application 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Shell</a:t>
            </a:r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6809" y="1519237"/>
            <a:ext cx="5307148" cy="206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47201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8"/>
          <p:cNvSpPr txBox="1">
            <a:spLocks noChangeArrowheads="1"/>
          </p:cNvSpPr>
          <p:nvPr/>
        </p:nvSpPr>
        <p:spPr bwMode="auto">
          <a:xfrm>
            <a:off x="251168" y="617099"/>
            <a:ext cx="10311452" cy="7402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1524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579438" indent="-242888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200" u="sng" dirty="0" smtClean="0">
                <a:latin typeface="Segoe UI Symbol" panose="020B0502040204020203" pitchFamily="34" charset="0"/>
              </a:rPr>
              <a:t>Les types de pages MAUI-NavigationPage </a:t>
            </a:r>
            <a:endParaRPr lang="en-US" alt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1488"/>
              </a:lnSpc>
              <a:spcBef>
                <a:spcPts val="1625"/>
              </a:spcBef>
              <a:buClr>
                <a:srgbClr val="006498"/>
              </a:buClr>
              <a:buSzPct val="61000"/>
              <a:buFont typeface="Wingdings" panose="05000000000000000000" pitchFamily="2" charset="2"/>
              <a:buChar char=""/>
            </a:pPr>
            <a:endParaRPr lang="en-US" alt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07425" y="1235436"/>
            <a:ext cx="1015519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Une  page de type </a:t>
            </a:r>
            <a:r>
              <a:rPr lang="fr-FR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NavigationPage</a:t>
            </a:r>
            <a:r>
              <a:rPr lang="fr-FR" dirty="0">
                <a:solidFill>
                  <a:srgbClr val="16161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 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se compose d’une barre de 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navigation et d’un contenu</a:t>
            </a:r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 rotWithShape="1">
          <a:blip r:embed="rId2"/>
          <a:srcRect t="2536" r="1988"/>
          <a:stretch/>
        </p:blipFill>
        <p:spPr>
          <a:xfrm>
            <a:off x="3702881" y="1975703"/>
            <a:ext cx="3724919" cy="266433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224680" y="1604768"/>
            <a:ext cx="22224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barre de navigation </a:t>
            </a:r>
            <a:endParaRPr lang="fr-FR" dirty="0"/>
          </a:p>
        </p:txBody>
      </p:sp>
      <p:cxnSp>
        <p:nvCxnSpPr>
          <p:cNvPr id="10" name="Connecteur droit avec flèche 9"/>
          <p:cNvCxnSpPr>
            <a:stCxn id="11" idx="3"/>
          </p:cNvCxnSpPr>
          <p:nvPr/>
        </p:nvCxnSpPr>
        <p:spPr>
          <a:xfrm>
            <a:off x="2144539" y="1962755"/>
            <a:ext cx="1661342" cy="675413"/>
          </a:xfrm>
          <a:prstGeom prst="straightConnector1">
            <a:avLst/>
          </a:prstGeom>
          <a:ln w="22225">
            <a:solidFill>
              <a:srgbClr val="00206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540189" y="1824255"/>
            <a:ext cx="160435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altLang="en-US" sz="1200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Barre de navigation</a:t>
            </a:r>
            <a:endParaRPr lang="fr-FR" sz="1200" b="1" dirty="0"/>
          </a:p>
        </p:txBody>
      </p:sp>
      <p:sp>
        <p:nvSpPr>
          <p:cNvPr id="15" name="Rectangle 14"/>
          <p:cNvSpPr/>
          <p:nvPr/>
        </p:nvSpPr>
        <p:spPr>
          <a:xfrm>
            <a:off x="540189" y="3500603"/>
            <a:ext cx="79643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altLang="en-US" sz="1200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Contenu</a:t>
            </a:r>
            <a:endParaRPr lang="fr-FR" sz="1200" b="1" dirty="0"/>
          </a:p>
        </p:txBody>
      </p:sp>
      <p:cxnSp>
        <p:nvCxnSpPr>
          <p:cNvPr id="16" name="Connecteur droit avec flèche 15"/>
          <p:cNvCxnSpPr>
            <a:stCxn id="15" idx="3"/>
          </p:cNvCxnSpPr>
          <p:nvPr/>
        </p:nvCxnSpPr>
        <p:spPr>
          <a:xfrm flipV="1">
            <a:off x="1336625" y="3219450"/>
            <a:ext cx="2714675" cy="419653"/>
          </a:xfrm>
          <a:prstGeom prst="straightConnector1">
            <a:avLst/>
          </a:prstGeom>
          <a:ln w="22225">
            <a:solidFill>
              <a:srgbClr val="00206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407424" y="4171009"/>
            <a:ext cx="937157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dirty="0">
                <a:solidFill>
                  <a:srgbClr val="161616"/>
                </a:solidFill>
                <a:latin typeface="Segoe UI" panose="020B0502040204020203" pitchFamily="34" charset="0"/>
              </a:rPr>
              <a:t>Une application structurée autour de plusieurs pages </a:t>
            </a:r>
            <a:r>
              <a:rPr lang="fr-FR" dirty="0" smtClean="0">
                <a:solidFill>
                  <a:srgbClr val="161616"/>
                </a:solidFill>
                <a:latin typeface="Segoe UI" panose="020B0502040204020203" pitchFamily="34" charset="0"/>
              </a:rPr>
              <a:t>avec une page d’</a:t>
            </a:r>
            <a:r>
              <a:rPr lang="fr-FR" dirty="0" err="1" smtClean="0">
                <a:solidFill>
                  <a:srgbClr val="161616"/>
                </a:solidFill>
                <a:latin typeface="Segoe UI" panose="020B0502040204020203" pitchFamily="34" charset="0"/>
              </a:rPr>
              <a:t>acceuil</a:t>
            </a:r>
            <a:r>
              <a:rPr lang="fr-FR" dirty="0" smtClean="0">
                <a:solidFill>
                  <a:srgbClr val="161616"/>
                </a:solidFill>
                <a:latin typeface="Segoe UI" panose="020B0502040204020203" pitchFamily="34" charset="0"/>
              </a:rPr>
              <a:t> dite page Racine</a:t>
            </a:r>
            <a:endParaRPr lang="fr-FR" dirty="0"/>
          </a:p>
        </p:txBody>
      </p:sp>
      <p:sp>
        <p:nvSpPr>
          <p:cNvPr id="19" name="Rectangle 18"/>
          <p:cNvSpPr/>
          <p:nvPr/>
        </p:nvSpPr>
        <p:spPr>
          <a:xfrm>
            <a:off x="3066615" y="4640038"/>
            <a:ext cx="4997450" cy="16158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partial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100" dirty="0">
                <a:solidFill>
                  <a:srgbClr val="2B91AF"/>
                </a:solidFill>
                <a:latin typeface="Cascadia Mono" panose="020B0609020000020004" pitchFamily="49" charset="0"/>
              </a:rPr>
              <a:t>App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: Application</a:t>
            </a:r>
          </a:p>
          <a:p>
            <a:r>
              <a:rPr lang="fr-FR" sz="11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  <a:endParaRPr lang="fr-FR" sz="11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fr-FR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fr-FR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100" dirty="0">
                <a:solidFill>
                  <a:srgbClr val="2B91AF"/>
                </a:solidFill>
                <a:latin typeface="Cascadia Mono" panose="020B0609020000020004" pitchFamily="49" charset="0"/>
              </a:rPr>
              <a:t>App</a:t>
            </a:r>
            <a:r>
              <a:rPr lang="fr-FR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()</a:t>
            </a:r>
          </a:p>
          <a:p>
            <a:r>
              <a:rPr lang="fr-FR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{</a:t>
            </a:r>
          </a:p>
          <a:p>
            <a:r>
              <a:rPr lang="fr-FR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fr-FR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InitializeComponent</a:t>
            </a:r>
            <a:r>
              <a:rPr lang="fr-FR" sz="11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  <a:endParaRPr lang="fr-FR" sz="11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fr-FR" sz="1100" dirty="0">
                <a:solidFill>
                  <a:srgbClr val="008000"/>
                </a:solidFill>
                <a:latin typeface="Cascadia Mono" panose="020B0609020000020004" pitchFamily="49" charset="0"/>
              </a:rPr>
              <a:t>//MainPage = new AppShell</a:t>
            </a:r>
            <a:r>
              <a:rPr lang="fr-FR" sz="1100" dirty="0" smtClean="0">
                <a:solidFill>
                  <a:srgbClr val="008000"/>
                </a:solidFill>
                <a:latin typeface="Cascadia Mono" panose="020B0609020000020004" pitchFamily="49" charset="0"/>
              </a:rPr>
              <a:t>();</a:t>
            </a:r>
            <a:endParaRPr lang="fr-FR" sz="11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MainPage = </a:t>
            </a:r>
            <a:r>
              <a:rPr lang="fr-FR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fr-FR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NavigationPage(</a:t>
            </a:r>
            <a:r>
              <a:rPr lang="fr-FR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fr-FR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MainPage</a:t>
            </a:r>
            <a:r>
              <a:rPr lang="fr-FR" sz="11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  <a:endParaRPr lang="fr-FR" sz="11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1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      }</a:t>
            </a:r>
            <a:endParaRPr lang="fr-FR" sz="11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1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fr-FR" sz="1100" dirty="0"/>
          </a:p>
        </p:txBody>
      </p:sp>
    </p:spTree>
    <p:extLst>
      <p:ext uri="{BB962C8B-B14F-4D97-AF65-F5344CB8AC3E}">
        <p14:creationId xmlns:p14="http://schemas.microsoft.com/office/powerpoint/2010/main" val="169003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8"/>
          <p:cNvSpPr txBox="1">
            <a:spLocks noChangeArrowheads="1"/>
          </p:cNvSpPr>
          <p:nvPr/>
        </p:nvSpPr>
        <p:spPr bwMode="auto">
          <a:xfrm>
            <a:off x="251168" y="617099"/>
            <a:ext cx="10311452" cy="7402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1524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579438" indent="-242888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200" u="sng" dirty="0" smtClean="0">
                <a:latin typeface="Segoe UI Symbol" panose="020B0502040204020203" pitchFamily="34" charset="0"/>
              </a:rPr>
              <a:t>Les types de pages MAUI-NavigationPage </a:t>
            </a:r>
            <a:endParaRPr lang="en-US" alt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1488"/>
              </a:lnSpc>
              <a:spcBef>
                <a:spcPts val="1625"/>
              </a:spcBef>
              <a:buClr>
                <a:srgbClr val="006498"/>
              </a:buClr>
              <a:buSzPct val="61000"/>
              <a:buFont typeface="Wingdings" panose="05000000000000000000" pitchFamily="2" charset="2"/>
              <a:buChar char=""/>
            </a:pPr>
            <a:endParaRPr lang="en-US" alt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07425" y="1235436"/>
            <a:ext cx="1015519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La navigation se fait en mode hiérarchique, les pages sont organisées en pile la méthode </a:t>
            </a:r>
            <a:r>
              <a:rPr lang="fr-FR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Push/</a:t>
            </a:r>
            <a:r>
              <a:rPr lang="fr-FR" b="1" dirty="0" err="1" smtClean="0">
                <a:latin typeface="Segoe UI" panose="020B0502040204020203" pitchFamily="34" charset="0"/>
                <a:cs typeface="Segoe UI" panose="020B0502040204020203" pitchFamily="34" charset="0"/>
              </a:rPr>
              <a:t>PushAsync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 de la classe </a:t>
            </a:r>
            <a:r>
              <a:rPr lang="fr-FR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Navigation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 permet de créer une nouvelle instance de la page demandée et navigue vers cette dernière</a:t>
            </a:r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2050" name="Picture 2" descr="Envoi (push) d’une page vers la pile de navigation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3105" y="2282487"/>
            <a:ext cx="5391150" cy="1095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1237736" y="3619218"/>
            <a:ext cx="950646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async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private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OnCounterClicked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object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sender, EventArgs e)</a:t>
            </a:r>
          </a:p>
          <a:p>
            <a:r>
              <a:rPr lang="fr-FR" sz="1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await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Navigation.PushAsync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NextPage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{ </a:t>
            </a:r>
            <a:r>
              <a:rPr lang="fr-FR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Title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=</a:t>
            </a:r>
            <a:r>
              <a:rPr lang="fr-FR" sz="1400" dirty="0">
                <a:solidFill>
                  <a:srgbClr val="A31515"/>
                </a:solidFill>
                <a:latin typeface="Cascadia Mono" panose="020B0609020000020004" pitchFamily="49" charset="0"/>
              </a:rPr>
              <a:t>"La page suivante"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});</a:t>
            </a:r>
          </a:p>
          <a:p>
            <a:r>
              <a:rPr lang="fr-FR" sz="1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fr-FR" sz="1400" dirty="0"/>
          </a:p>
        </p:txBody>
      </p:sp>
    </p:spTree>
    <p:extLst>
      <p:ext uri="{BB962C8B-B14F-4D97-AF65-F5344CB8AC3E}">
        <p14:creationId xmlns:p14="http://schemas.microsoft.com/office/powerpoint/2010/main" val="30219605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8"/>
          <p:cNvSpPr txBox="1">
            <a:spLocks noChangeArrowheads="1"/>
          </p:cNvSpPr>
          <p:nvPr/>
        </p:nvSpPr>
        <p:spPr bwMode="auto">
          <a:xfrm>
            <a:off x="251168" y="617099"/>
            <a:ext cx="10311452" cy="7402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1524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579438" indent="-242888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200" u="sng" dirty="0" smtClean="0">
                <a:latin typeface="Segoe UI Symbol" panose="020B0502040204020203" pitchFamily="34" charset="0"/>
              </a:rPr>
              <a:t>Les types de pages MAUI-NavigationPage </a:t>
            </a:r>
            <a:endParaRPr lang="en-US" alt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1488"/>
              </a:lnSpc>
              <a:spcBef>
                <a:spcPts val="1625"/>
              </a:spcBef>
              <a:buClr>
                <a:srgbClr val="006498"/>
              </a:buClr>
              <a:buSzPct val="61000"/>
              <a:buFont typeface="Wingdings" panose="05000000000000000000" pitchFamily="2" charset="2"/>
              <a:buChar char=""/>
            </a:pPr>
            <a:endParaRPr lang="en-US" alt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07425" y="1235436"/>
            <a:ext cx="1015519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Le retour vers la page précédente se fait avec la méthode </a:t>
            </a:r>
            <a:r>
              <a:rPr lang="fr-FR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Pop/</a:t>
            </a:r>
            <a:r>
              <a:rPr lang="fr-FR" b="1" dirty="0" err="1" smtClean="0">
                <a:latin typeface="Segoe UI" panose="020B0502040204020203" pitchFamily="34" charset="0"/>
                <a:cs typeface="Segoe UI" panose="020B0502040204020203" pitchFamily="34" charset="0"/>
              </a:rPr>
              <a:t>PopAsync</a:t>
            </a:r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3074" name="Picture 2" descr="Extraction d’une page à partir de la pile de navigation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1321" y="1912336"/>
            <a:ext cx="5391150" cy="1066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1083274" y="3286705"/>
            <a:ext cx="8073082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async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private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Button_Clicked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object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sender, EventArgs e)</a:t>
            </a:r>
          </a:p>
          <a:p>
            <a:r>
              <a:rPr lang="fr-FR" sz="16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  <a:endParaRPr lang="fr-FR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 </a:t>
            </a:r>
            <a:r>
              <a:rPr lang="fr-FR" sz="16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  await</a:t>
            </a:r>
            <a:r>
              <a:rPr lang="fr-FR" sz="16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Navigation.PopAsync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fr-FR" sz="16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fr-FR" sz="1600" dirty="0"/>
          </a:p>
        </p:txBody>
      </p:sp>
      <p:sp>
        <p:nvSpPr>
          <p:cNvPr id="8" name="Rectangle 7"/>
          <p:cNvSpPr/>
          <p:nvPr/>
        </p:nvSpPr>
        <p:spPr>
          <a:xfrm>
            <a:off x="491863" y="4443036"/>
            <a:ext cx="1015519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Le retour vers la page d’accueil se fait avec la méthode </a:t>
            </a:r>
            <a:r>
              <a:rPr lang="fr-FR" b="1" dirty="0" err="1" smtClean="0">
                <a:latin typeface="Segoe UI" panose="020B0502040204020203" pitchFamily="34" charset="0"/>
                <a:cs typeface="Segoe UI" panose="020B0502040204020203" pitchFamily="34" charset="0"/>
              </a:rPr>
              <a:t>PopToRootAsync</a:t>
            </a:r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025609" y="4968642"/>
            <a:ext cx="8073082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async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private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Button_Clicked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object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sender, EventArgs e)</a:t>
            </a:r>
          </a:p>
          <a:p>
            <a:r>
              <a:rPr lang="fr-FR" sz="16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  <a:endParaRPr lang="fr-FR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 </a:t>
            </a:r>
            <a:r>
              <a:rPr lang="fr-FR" sz="16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  await</a:t>
            </a:r>
            <a:r>
              <a:rPr lang="fr-FR" sz="16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60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Navigation.PopToRootAsync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fr-FR" sz="16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fr-FR" sz="1600" dirty="0"/>
          </a:p>
        </p:txBody>
      </p:sp>
    </p:spTree>
    <p:extLst>
      <p:ext uri="{BB962C8B-B14F-4D97-AF65-F5344CB8AC3E}">
        <p14:creationId xmlns:p14="http://schemas.microsoft.com/office/powerpoint/2010/main" val="18344359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8"/>
          <p:cNvSpPr txBox="1">
            <a:spLocks noChangeArrowheads="1"/>
          </p:cNvSpPr>
          <p:nvPr/>
        </p:nvSpPr>
        <p:spPr bwMode="auto">
          <a:xfrm>
            <a:off x="251168" y="617099"/>
            <a:ext cx="10311452" cy="7402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1524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579438" indent="-242888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200" u="sng" dirty="0" smtClean="0">
                <a:latin typeface="Segoe UI Symbol" panose="020B0502040204020203" pitchFamily="34" charset="0"/>
              </a:rPr>
              <a:t>Les types de pages MAUI-NavigationPage </a:t>
            </a:r>
            <a:endParaRPr lang="en-US" alt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1488"/>
              </a:lnSpc>
              <a:spcBef>
                <a:spcPts val="1625"/>
              </a:spcBef>
              <a:buClr>
                <a:srgbClr val="006498"/>
              </a:buClr>
              <a:buSzPct val="61000"/>
              <a:buFont typeface="Wingdings" panose="05000000000000000000" pitchFamily="2" charset="2"/>
              <a:buChar char=""/>
            </a:pPr>
            <a:endParaRPr lang="en-US" alt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07425" y="1235436"/>
            <a:ext cx="1015519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La méthode </a:t>
            </a:r>
            <a:r>
              <a:rPr lang="fr-FR" b="1" dirty="0">
                <a:latin typeface="Segoe UI" panose="020B0502040204020203" pitchFamily="34" charset="0"/>
                <a:cs typeface="Segoe UI" panose="020B0502040204020203" pitchFamily="34" charset="0"/>
              </a:rPr>
              <a:t>InsertPageBefore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 insère une page spécifiée dans la pile de navigation avant une page existante spécifiée</a:t>
            </a:r>
          </a:p>
        </p:txBody>
      </p:sp>
      <p:pic>
        <p:nvPicPr>
          <p:cNvPr id="9" name="Imag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9564" y="1975702"/>
            <a:ext cx="3989204" cy="1892295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1876855" y="4105727"/>
            <a:ext cx="764162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private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Button_Clicked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object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sender, EventArgs e)</a:t>
            </a:r>
          </a:p>
          <a:p>
            <a:r>
              <a:rPr lang="fr-FR" sz="16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  <a:endParaRPr lang="fr-FR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6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	</a:t>
            </a:r>
            <a:r>
              <a:rPr lang="fr-FR" sz="160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Navigation.InsertPageBefore</a:t>
            </a:r>
            <a:r>
              <a:rPr lang="fr-FR" sz="16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fr-FR" sz="16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fr-FR" sz="16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ContentPage(), </a:t>
            </a:r>
            <a:r>
              <a:rPr lang="fr-FR" sz="16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this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fr-FR" sz="16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fr-FR" sz="1600" dirty="0"/>
          </a:p>
        </p:txBody>
      </p:sp>
    </p:spTree>
    <p:extLst>
      <p:ext uri="{BB962C8B-B14F-4D97-AF65-F5344CB8AC3E}">
        <p14:creationId xmlns:p14="http://schemas.microsoft.com/office/powerpoint/2010/main" val="24710125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8"/>
          <p:cNvSpPr txBox="1">
            <a:spLocks noChangeArrowheads="1"/>
          </p:cNvSpPr>
          <p:nvPr/>
        </p:nvSpPr>
        <p:spPr bwMode="auto">
          <a:xfrm>
            <a:off x="251168" y="617099"/>
            <a:ext cx="10311452" cy="7402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1524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579438" indent="-242888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200" u="sng" dirty="0" smtClean="0">
                <a:latin typeface="Segoe UI Symbol" panose="020B0502040204020203" pitchFamily="34" charset="0"/>
              </a:rPr>
              <a:t>Les types de pages MAUI-NavigationPage </a:t>
            </a:r>
            <a:endParaRPr lang="en-US" alt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1488"/>
              </a:lnSpc>
              <a:spcBef>
                <a:spcPts val="1625"/>
              </a:spcBef>
              <a:buClr>
                <a:srgbClr val="006498"/>
              </a:buClr>
              <a:buSzPct val="61000"/>
              <a:buFont typeface="Wingdings" panose="05000000000000000000" pitchFamily="2" charset="2"/>
              <a:buChar char=""/>
            </a:pPr>
            <a:endParaRPr lang="en-US" alt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07425" y="1235436"/>
            <a:ext cx="1015519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La méthode </a:t>
            </a:r>
            <a:r>
              <a:rPr lang="fr-FR" b="1" dirty="0" err="1" smtClean="0">
                <a:latin typeface="Segoe UI" panose="020B0502040204020203" pitchFamily="34" charset="0"/>
                <a:cs typeface="Segoe UI" panose="020B0502040204020203" pitchFamily="34" charset="0"/>
              </a:rPr>
              <a:t>RemovePage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 supprime la 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page spécifiée de la pile de navigation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6659" y="2223105"/>
            <a:ext cx="4170935" cy="150863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293339" y="4055758"/>
            <a:ext cx="8950411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private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Button_Clicked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object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sender, EventArgs e)</a:t>
            </a:r>
          </a:p>
          <a:p>
            <a:r>
              <a:rPr lang="fr-FR" sz="16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  <a:endParaRPr lang="fr-FR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6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</a:t>
            </a:r>
            <a:r>
              <a:rPr lang="fr-FR" sz="160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Navigation.RemovePage</a:t>
            </a:r>
            <a:r>
              <a:rPr lang="fr-FR" sz="16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fr-FR" sz="1600" dirty="0" err="1" smtClean="0">
                <a:solidFill>
                  <a:srgbClr val="0000FF"/>
                </a:solidFill>
                <a:latin typeface="Cascadia Mono" panose="020B0609020000020004" pitchFamily="49" charset="0"/>
              </a:rPr>
              <a:t>this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fr-FR" sz="16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fr-FR" sz="1600" dirty="0"/>
          </a:p>
        </p:txBody>
      </p:sp>
    </p:spTree>
    <p:extLst>
      <p:ext uri="{BB962C8B-B14F-4D97-AF65-F5344CB8AC3E}">
        <p14:creationId xmlns:p14="http://schemas.microsoft.com/office/powerpoint/2010/main" val="35802762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8"/>
          <p:cNvSpPr txBox="1">
            <a:spLocks noChangeArrowheads="1"/>
          </p:cNvSpPr>
          <p:nvPr/>
        </p:nvSpPr>
        <p:spPr bwMode="auto">
          <a:xfrm>
            <a:off x="251168" y="617099"/>
            <a:ext cx="10311452" cy="7402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1524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579438" indent="-242888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200" u="sng" dirty="0" smtClean="0">
                <a:latin typeface="Segoe UI Symbol" panose="020B0502040204020203" pitchFamily="34" charset="0"/>
              </a:rPr>
              <a:t>Les types de pages MAUI-Page </a:t>
            </a:r>
            <a:r>
              <a:rPr lang="en-US" altLang="en-US" sz="2200" u="sng" dirty="0" err="1" smtClean="0">
                <a:latin typeface="Segoe UI Symbol" panose="020B0502040204020203" pitchFamily="34" charset="0"/>
              </a:rPr>
              <a:t>Modale</a:t>
            </a:r>
            <a:endParaRPr lang="en-US" alt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1488"/>
              </a:lnSpc>
              <a:spcBef>
                <a:spcPts val="1625"/>
              </a:spcBef>
              <a:buClr>
                <a:srgbClr val="006498"/>
              </a:buClr>
              <a:buSzPct val="61000"/>
              <a:buFont typeface="Wingdings" panose="05000000000000000000" pitchFamily="2" charset="2"/>
              <a:buChar char=""/>
            </a:pPr>
            <a:endParaRPr lang="en-US" alt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07425" y="1235436"/>
            <a:ext cx="1015519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.NET MAUI prend en charge la navigation de page modale. Une page modale encourage les utilisateurs à effectuer une tâche autonome et ne peut pas être quittée tant que la tâche n’est pas terminée ou annulée</a:t>
            </a:r>
          </a:p>
        </p:txBody>
      </p:sp>
      <p:sp>
        <p:nvSpPr>
          <p:cNvPr id="6" name="Rectangle 5"/>
          <p:cNvSpPr/>
          <p:nvPr/>
        </p:nvSpPr>
        <p:spPr>
          <a:xfrm>
            <a:off x="2571404" y="2407771"/>
            <a:ext cx="58272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dirty="0">
                <a:solidFill>
                  <a:srgbClr val="0101FD"/>
                </a:solidFill>
                <a:latin typeface="SFMono-Regular"/>
              </a:rPr>
              <a:t>await</a:t>
            </a:r>
            <a:r>
              <a:rPr lang="fr-FR" dirty="0">
                <a:solidFill>
                  <a:srgbClr val="161616"/>
                </a:solidFill>
                <a:latin typeface="SFMono-Regular"/>
              </a:rPr>
              <a:t> </a:t>
            </a:r>
            <a:r>
              <a:rPr lang="fr-FR" dirty="0" err="1">
                <a:solidFill>
                  <a:srgbClr val="161616"/>
                </a:solidFill>
                <a:latin typeface="SFMono-Regular"/>
              </a:rPr>
              <a:t>Navigation.PushModalAsync</a:t>
            </a:r>
            <a:r>
              <a:rPr lang="fr-FR" dirty="0">
                <a:solidFill>
                  <a:srgbClr val="161616"/>
                </a:solidFill>
                <a:latin typeface="SFMono-Regular"/>
              </a:rPr>
              <a:t>(</a:t>
            </a:r>
            <a:r>
              <a:rPr lang="fr-FR" dirty="0">
                <a:solidFill>
                  <a:srgbClr val="0101FD"/>
                </a:solidFill>
                <a:latin typeface="SFMono-Regular"/>
              </a:rPr>
              <a:t>new</a:t>
            </a:r>
            <a:r>
              <a:rPr lang="fr-FR" dirty="0">
                <a:solidFill>
                  <a:srgbClr val="161616"/>
                </a:solidFill>
                <a:latin typeface="SFMono-Regular"/>
              </a:rPr>
              <a:t> </a:t>
            </a:r>
            <a:r>
              <a:rPr lang="fr-FR" dirty="0" err="1">
                <a:solidFill>
                  <a:srgbClr val="161616"/>
                </a:solidFill>
                <a:latin typeface="SFMono-Regular"/>
              </a:rPr>
              <a:t>DetailsPage</a:t>
            </a:r>
            <a:r>
              <a:rPr lang="fr-FR" dirty="0">
                <a:solidFill>
                  <a:srgbClr val="161616"/>
                </a:solidFill>
                <a:latin typeface="SFMono-Regular"/>
              </a:rPr>
              <a:t>());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139769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8"/>
          <p:cNvSpPr txBox="1">
            <a:spLocks noChangeArrowheads="1"/>
          </p:cNvSpPr>
          <p:nvPr/>
        </p:nvSpPr>
        <p:spPr bwMode="auto">
          <a:xfrm>
            <a:off x="251168" y="617099"/>
            <a:ext cx="1031145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1524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579438" indent="-242888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200" u="sng" dirty="0" smtClean="0">
                <a:latin typeface="Segoe UI Symbol" panose="020B0502040204020203" pitchFamily="34" charset="0"/>
              </a:rPr>
              <a:t>La communication des </a:t>
            </a:r>
            <a:r>
              <a:rPr lang="en-US" altLang="en-US" sz="2200" u="sng" dirty="0" err="1" smtClean="0">
                <a:latin typeface="Segoe UI Symbol" panose="020B0502040204020203" pitchFamily="34" charset="0"/>
              </a:rPr>
              <a:t>données</a:t>
            </a:r>
            <a:r>
              <a:rPr lang="en-US" altLang="en-US" sz="2200" u="sng" dirty="0" smtClean="0">
                <a:latin typeface="Segoe UI Symbol" panose="020B0502040204020203" pitchFamily="34" charset="0"/>
              </a:rPr>
              <a:t> pendant la </a:t>
            </a:r>
            <a:r>
              <a:rPr lang="en-US" altLang="en-US" sz="2200" u="sng" dirty="0" err="1" smtClean="0">
                <a:latin typeface="Segoe UI Symbol" panose="020B0502040204020203" pitchFamily="34" charset="0"/>
              </a:rPr>
              <a:t>naviguation</a:t>
            </a:r>
            <a:endParaRPr lang="en-US" alt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07425" y="1235436"/>
            <a:ext cx="10155195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Il est parfois nécessaire pour une page de transmettre des données à une autre page lors de la 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navigation, ce là est fait suivant deux 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techniques </a:t>
            </a:r>
            <a:endParaRPr lang="fr-FR" dirty="0" smtClean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L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e 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passage de données via 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le 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constructeur de page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fr-FR" dirty="0" smtClean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 La 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définition des </a:t>
            </a:r>
            <a:r>
              <a:rPr lang="fr-FR" b="1" dirty="0" err="1">
                <a:latin typeface="Segoe UI" panose="020B0502040204020203" pitchFamily="34" charset="0"/>
                <a:cs typeface="Segoe UI" panose="020B0502040204020203" pitchFamily="34" charset="0"/>
              </a:rPr>
              <a:t>BindingContext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 données de la nouvelle page.</a:t>
            </a:r>
          </a:p>
        </p:txBody>
      </p:sp>
    </p:spTree>
    <p:extLst>
      <p:ext uri="{BB962C8B-B14F-4D97-AF65-F5344CB8AC3E}">
        <p14:creationId xmlns:p14="http://schemas.microsoft.com/office/powerpoint/2010/main" val="39944569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hlinkClick r:id="rId2"/>
          </p:cNvPr>
          <p:cNvSpPr/>
          <p:nvPr/>
        </p:nvSpPr>
        <p:spPr>
          <a:xfrm>
            <a:off x="3712767" y="2674547"/>
            <a:ext cx="469797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2400" b="1" dirty="0" smtClean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Un premier contact avec </a:t>
            </a:r>
            <a:r>
              <a:rPr lang="fr-FR" sz="2400" b="1" dirty="0" err="1" smtClean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Naviguation</a:t>
            </a:r>
            <a:r>
              <a:rPr lang="fr-FR" sz="2400" b="1" dirty="0" smtClean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Page</a:t>
            </a:r>
            <a:endParaRPr lang="fr-FR" sz="2400" b="1" dirty="0">
              <a:solidFill>
                <a:srgbClr val="7030A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48622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hlinkClick r:id="rId2"/>
          </p:cNvPr>
          <p:cNvSpPr/>
          <p:nvPr/>
        </p:nvSpPr>
        <p:spPr>
          <a:xfrm>
            <a:off x="3712767" y="2674547"/>
            <a:ext cx="469797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400" b="1" dirty="0" smtClean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Exercice 1 Essayer la navigation </a:t>
            </a:r>
            <a:endParaRPr lang="fr-FR" sz="2400" b="1" dirty="0">
              <a:solidFill>
                <a:srgbClr val="7030A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94237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hlinkClick r:id="rId2"/>
          </p:cNvPr>
          <p:cNvSpPr/>
          <p:nvPr/>
        </p:nvSpPr>
        <p:spPr>
          <a:xfrm>
            <a:off x="3658625" y="2175236"/>
            <a:ext cx="469797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400" b="1" dirty="0" smtClean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Exercice 2 La personnalisation de la navigation </a:t>
            </a:r>
            <a:endParaRPr lang="fr-FR" sz="2400" b="1" dirty="0">
              <a:solidFill>
                <a:srgbClr val="7030A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9824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hlinkClick r:id="rId2"/>
          </p:cNvPr>
          <p:cNvSpPr/>
          <p:nvPr/>
        </p:nvSpPr>
        <p:spPr>
          <a:xfrm>
            <a:off x="3658625" y="2175236"/>
            <a:ext cx="469797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400" b="1" dirty="0" smtClean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Exercice 2 La personnalisation de la navigation pour les tests unitaires</a:t>
            </a:r>
            <a:endParaRPr lang="fr-FR" sz="2400" b="1" dirty="0">
              <a:solidFill>
                <a:srgbClr val="7030A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48553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8"/>
          <p:cNvSpPr txBox="1">
            <a:spLocks noChangeArrowheads="1"/>
          </p:cNvSpPr>
          <p:nvPr/>
        </p:nvSpPr>
        <p:spPr bwMode="auto">
          <a:xfrm>
            <a:off x="251168" y="617099"/>
            <a:ext cx="1031145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1524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579438" indent="-242888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200" u="sng" dirty="0">
                <a:latin typeface="Segoe UI Symbol" panose="020B0502040204020203" pitchFamily="34" charset="0"/>
              </a:rPr>
              <a:t>Les </a:t>
            </a:r>
            <a:r>
              <a:rPr lang="en-US" altLang="en-US" sz="2200" u="sng" dirty="0" err="1">
                <a:latin typeface="Segoe UI Symbol" panose="020B0502040204020203" pitchFamily="34" charset="0"/>
              </a:rPr>
              <a:t>caractéristique</a:t>
            </a:r>
            <a:r>
              <a:rPr lang="en-US" altLang="en-US" sz="2200" u="sng" dirty="0">
                <a:latin typeface="Segoe UI Symbol" panose="020B0502040204020203" pitchFamily="34" charset="0"/>
              </a:rPr>
              <a:t> </a:t>
            </a:r>
            <a:r>
              <a:rPr lang="en-US" altLang="en-US" sz="2200" u="sng" dirty="0" smtClean="0">
                <a:latin typeface="Segoe UI Symbol" panose="020B0502040204020203" pitchFamily="34" charset="0"/>
              </a:rPr>
              <a:t>MAUI-</a:t>
            </a:r>
            <a:r>
              <a:rPr lang="en-US" altLang="en-US" sz="2200" u="sng" dirty="0" err="1" smtClean="0">
                <a:latin typeface="Segoe UI Symbol" panose="020B0502040204020203" pitchFamily="34" charset="0"/>
              </a:rPr>
              <a:t>FlyoutPage</a:t>
            </a:r>
            <a:r>
              <a:rPr lang="en-US" altLang="en-US" sz="2200" u="sng" dirty="0" smtClean="0">
                <a:latin typeface="Segoe UI Symbol" panose="020B0502040204020203" pitchFamily="34" charset="0"/>
              </a:rPr>
              <a:t> </a:t>
            </a:r>
            <a:endParaRPr lang="en-US" alt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2" descr="FlyoutPage - .NET MAUI | Microsoft Lear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0650" y="1348515"/>
            <a:ext cx="5003283" cy="1963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434548" y="3873629"/>
            <a:ext cx="10933668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La page 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 </a:t>
            </a:r>
            <a:r>
              <a:rPr lang="fr-FR" b="1" dirty="0" err="1" smtClean="0">
                <a:latin typeface="Segoe UI" panose="020B0502040204020203" pitchFamily="34" charset="0"/>
                <a:cs typeface="Segoe UI" panose="020B0502040204020203" pitchFamily="34" charset="0"/>
              </a:rPr>
              <a:t>FlyoutPage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 est une page qui gère deux pages d’informations 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associées, généralement une partie représente le master et l’autre les </a:t>
            </a:r>
            <a:r>
              <a:rPr lang="fr-FR" dirty="0" err="1" smtClean="0">
                <a:latin typeface="Segoe UI" panose="020B0502040204020203" pitchFamily="34" charset="0"/>
                <a:cs typeface="Segoe UI" panose="020B0502040204020203" pitchFamily="34" charset="0"/>
              </a:rPr>
              <a:t>details</a:t>
            </a:r>
            <a:endParaRPr lang="fr-FR" dirty="0" smtClean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b="1" dirty="0" err="1">
                <a:latin typeface="Segoe UI" panose="020B0502040204020203" pitchFamily="34" charset="0"/>
                <a:cs typeface="Segoe UI" panose="020B0502040204020203" pitchFamily="34" charset="0"/>
              </a:rPr>
              <a:t>FlyoutPage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 n’est pas compatible avec 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Shell, 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une exception sera levée si vous tentez d’utiliser </a:t>
            </a:r>
            <a:r>
              <a:rPr lang="fr-FR" b="1" dirty="0" err="1">
                <a:latin typeface="Segoe UI" panose="020B0502040204020203" pitchFamily="34" charset="0"/>
                <a:cs typeface="Segoe UI" panose="020B0502040204020203" pitchFamily="34" charset="0"/>
              </a:rPr>
              <a:t>FlyoutPage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 dans une application Shell</a:t>
            </a:r>
          </a:p>
        </p:txBody>
      </p:sp>
    </p:spTree>
    <p:extLst>
      <p:ext uri="{BB962C8B-B14F-4D97-AF65-F5344CB8AC3E}">
        <p14:creationId xmlns:p14="http://schemas.microsoft.com/office/powerpoint/2010/main" val="32248873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8"/>
          <p:cNvSpPr txBox="1">
            <a:spLocks noChangeArrowheads="1"/>
          </p:cNvSpPr>
          <p:nvPr/>
        </p:nvSpPr>
        <p:spPr bwMode="auto">
          <a:xfrm>
            <a:off x="251168" y="617099"/>
            <a:ext cx="10311452" cy="7402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1524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579438" indent="-242888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200" u="sng" dirty="0" smtClean="0">
                <a:latin typeface="Segoe UI Symbol" panose="020B0502040204020203" pitchFamily="34" charset="0"/>
              </a:rPr>
              <a:t>Les types de pages MAUI-</a:t>
            </a:r>
            <a:r>
              <a:rPr lang="en-US" altLang="en-US" sz="2200" u="sng" dirty="0" err="1" smtClean="0">
                <a:latin typeface="Segoe UI Symbol" panose="020B0502040204020203" pitchFamily="34" charset="0"/>
              </a:rPr>
              <a:t>FlyoutPage</a:t>
            </a:r>
            <a:r>
              <a:rPr lang="en-US" altLang="en-US" sz="2200" u="sng" dirty="0" smtClean="0">
                <a:latin typeface="Segoe UI Symbol" panose="020B0502040204020203" pitchFamily="34" charset="0"/>
              </a:rPr>
              <a:t> </a:t>
            </a:r>
            <a:endParaRPr lang="en-US" alt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1488"/>
              </a:lnSpc>
              <a:spcBef>
                <a:spcPts val="1625"/>
              </a:spcBef>
              <a:buClr>
                <a:srgbClr val="006498"/>
              </a:buClr>
              <a:buSzPct val="61000"/>
              <a:buFont typeface="Wingdings" panose="05000000000000000000" pitchFamily="2" charset="2"/>
              <a:buChar char=""/>
            </a:pPr>
            <a:r>
              <a:rPr lang="fr-FR" altLang="en-US" dirty="0" smtClean="0">
                <a:latin typeface="Segoe UI" panose="020B0502040204020203" pitchFamily="34" charset="0"/>
                <a:cs typeface="Segoe UI" panose="020B0502040204020203" pitchFamily="34" charset="0"/>
              </a:rPr>
              <a:t>Le mécanisme de FlyoutPage est simple une fois on comprend comment ça marche</a:t>
            </a:r>
            <a:endParaRPr lang="en-US" alt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48511" y="1641664"/>
            <a:ext cx="3735421" cy="2631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100" dirty="0">
                <a:solidFill>
                  <a:srgbClr val="A31515"/>
                </a:solidFill>
                <a:latin typeface="Cascadia Mono" panose="020B0609020000020004" pitchFamily="49" charset="0"/>
              </a:rPr>
              <a:t>FlyoutPage</a:t>
            </a:r>
            <a:r>
              <a:rPr lang="fr-FR" sz="11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sz="1100" dirty="0" smtClean="0">
                <a:solidFill>
                  <a:srgbClr val="FF0000"/>
                </a:solidFill>
                <a:latin typeface="Cascadia Mono" panose="020B0609020000020004" pitchFamily="49" charset="0"/>
              </a:rPr>
              <a:t>…</a:t>
            </a:r>
            <a:r>
              <a:rPr lang="fr-FR" sz="11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1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endParaRPr lang="fr-FR" sz="1100" dirty="0" smtClean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1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 </a:t>
            </a:r>
            <a:r>
              <a:rPr lang="fr-FR" sz="11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1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FlyoutPage.Flyout</a:t>
            </a:r>
            <a:r>
              <a:rPr lang="fr-FR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1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fr-FR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1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local</a:t>
            </a:r>
            <a:r>
              <a:rPr lang="fr-FR" sz="11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:</a:t>
            </a:r>
            <a:r>
              <a:rPr lang="fr-FR" sz="11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FlyoutLMenuPage</a:t>
            </a:r>
            <a:r>
              <a:rPr lang="fr-FR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/&gt;</a:t>
            </a:r>
            <a:endParaRPr lang="fr-FR" sz="11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fr-FR" sz="11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FlyoutPage.Flyout</a:t>
            </a:r>
            <a:r>
              <a:rPr lang="fr-FR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1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endParaRPr lang="fr-FR" sz="1100" dirty="0" smtClean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1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1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1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FlyoutPage.Detail</a:t>
            </a:r>
            <a:r>
              <a:rPr lang="fr-FR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1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fr-FR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100" dirty="0">
                <a:solidFill>
                  <a:srgbClr val="A31515"/>
                </a:solidFill>
                <a:latin typeface="Cascadia Mono" panose="020B0609020000020004" pitchFamily="49" charset="0"/>
              </a:rPr>
              <a:t>NavigationPage</a:t>
            </a:r>
            <a:r>
              <a:rPr lang="fr-FR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1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fr-FR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1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x</a:t>
            </a:r>
            <a:r>
              <a:rPr lang="fr-FR" sz="11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:</a:t>
            </a:r>
            <a:r>
              <a:rPr lang="fr-FR" sz="11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Arguments</a:t>
            </a:r>
            <a:r>
              <a:rPr lang="fr-FR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1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fr-FR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1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local</a:t>
            </a:r>
            <a:r>
              <a:rPr lang="fr-FR" sz="11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:</a:t>
            </a:r>
            <a:r>
              <a:rPr lang="fr-FR" sz="11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FlyoutDetailsPage</a:t>
            </a:r>
            <a:r>
              <a:rPr lang="fr-FR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/&gt;</a:t>
            </a:r>
            <a:endParaRPr lang="fr-FR" sz="11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fr-FR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fr-FR" sz="11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x</a:t>
            </a:r>
            <a:r>
              <a:rPr lang="fr-FR" sz="11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:</a:t>
            </a:r>
            <a:r>
              <a:rPr lang="fr-FR" sz="11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Arguments</a:t>
            </a:r>
            <a:r>
              <a:rPr lang="fr-FR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1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fr-FR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fr-FR" sz="1100" dirty="0">
                <a:solidFill>
                  <a:srgbClr val="A31515"/>
                </a:solidFill>
                <a:latin typeface="Cascadia Mono" panose="020B0609020000020004" pitchFamily="49" charset="0"/>
              </a:rPr>
              <a:t>NavigationPage</a:t>
            </a:r>
            <a:r>
              <a:rPr lang="fr-FR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1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fr-FR" sz="11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FlyoutPage.Detail</a:t>
            </a:r>
            <a:r>
              <a:rPr lang="fr-FR" sz="11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</a:p>
          <a:p>
            <a:endParaRPr lang="fr-FR" sz="11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fr-FR" sz="1100" dirty="0">
                <a:solidFill>
                  <a:srgbClr val="A31515"/>
                </a:solidFill>
                <a:latin typeface="Cascadia Mono" panose="020B0609020000020004" pitchFamily="49" charset="0"/>
              </a:rPr>
              <a:t>FlyoutPage</a:t>
            </a:r>
            <a:r>
              <a:rPr lang="fr-FR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100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8288" y="1514136"/>
            <a:ext cx="2068738" cy="193187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998706" y="1990928"/>
            <a:ext cx="2717260" cy="622570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7"/>
          <p:cNvSpPr/>
          <p:nvPr/>
        </p:nvSpPr>
        <p:spPr>
          <a:xfrm>
            <a:off x="998705" y="2706546"/>
            <a:ext cx="3513659" cy="1269106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1" name="Imag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1228" y="3752184"/>
            <a:ext cx="2057040" cy="2422962"/>
          </a:xfrm>
          <a:prstGeom prst="rect">
            <a:avLst/>
          </a:prstGeom>
        </p:spPr>
      </p:pic>
      <p:cxnSp>
        <p:nvCxnSpPr>
          <p:cNvPr id="13" name="Connecteur droit avec flèche 12"/>
          <p:cNvCxnSpPr>
            <a:stCxn id="7" idx="3"/>
            <a:endCxn id="4" idx="1"/>
          </p:cNvCxnSpPr>
          <p:nvPr/>
        </p:nvCxnSpPr>
        <p:spPr>
          <a:xfrm>
            <a:off x="3715966" y="2302213"/>
            <a:ext cx="5042322" cy="177861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 droit avec flèche 13"/>
          <p:cNvCxnSpPr>
            <a:stCxn id="8" idx="3"/>
            <a:endCxn id="11" idx="1"/>
          </p:cNvCxnSpPr>
          <p:nvPr/>
        </p:nvCxnSpPr>
        <p:spPr>
          <a:xfrm>
            <a:off x="4512364" y="3341099"/>
            <a:ext cx="1588864" cy="1622566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eur droit avec flèche 20"/>
          <p:cNvCxnSpPr>
            <a:stCxn id="22" idx="1"/>
          </p:cNvCxnSpPr>
          <p:nvPr/>
        </p:nvCxnSpPr>
        <p:spPr>
          <a:xfrm flipH="1">
            <a:off x="2819328" y="2886084"/>
            <a:ext cx="2781077" cy="75424"/>
          </a:xfrm>
          <a:prstGeom prst="straightConnector1">
            <a:avLst/>
          </a:prstGeom>
          <a:ln w="22225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5600405" y="2747584"/>
            <a:ext cx="156901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altLang="en-US" sz="1200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Page de navigation</a:t>
            </a:r>
            <a:endParaRPr lang="fr-FR" sz="1200" b="1" dirty="0"/>
          </a:p>
        </p:txBody>
      </p:sp>
      <p:sp>
        <p:nvSpPr>
          <p:cNvPr id="25" name="Rectangle 24"/>
          <p:cNvSpPr/>
          <p:nvPr/>
        </p:nvSpPr>
        <p:spPr>
          <a:xfrm>
            <a:off x="8652835" y="2085329"/>
            <a:ext cx="138730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altLang="en-US" sz="1200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Page de contenu</a:t>
            </a:r>
            <a:endParaRPr lang="fr-FR" sz="1200" b="1" dirty="0"/>
          </a:p>
        </p:txBody>
      </p:sp>
      <p:sp>
        <p:nvSpPr>
          <p:cNvPr id="26" name="Rectangle 25"/>
          <p:cNvSpPr/>
          <p:nvPr/>
        </p:nvSpPr>
        <p:spPr>
          <a:xfrm>
            <a:off x="6042454" y="4540087"/>
            <a:ext cx="138730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altLang="en-US" sz="1200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Page de contenu</a:t>
            </a:r>
            <a:endParaRPr lang="fr-FR" sz="1200" b="1" dirty="0"/>
          </a:p>
        </p:txBody>
      </p:sp>
    </p:spTree>
    <p:extLst>
      <p:ext uri="{BB962C8B-B14F-4D97-AF65-F5344CB8AC3E}">
        <p14:creationId xmlns:p14="http://schemas.microsoft.com/office/powerpoint/2010/main" val="24241495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hlinkClick r:id="rId2"/>
          </p:cNvPr>
          <p:cNvSpPr/>
          <p:nvPr/>
        </p:nvSpPr>
        <p:spPr>
          <a:xfrm>
            <a:off x="3658625" y="2175236"/>
            <a:ext cx="469797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2400" b="1" dirty="0" smtClean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Un premier contact avec </a:t>
            </a:r>
            <a:r>
              <a:rPr lang="fr-FR" sz="2400" b="1" dirty="0" err="1" smtClean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FalyoutPage</a:t>
            </a:r>
            <a:endParaRPr lang="fr-FR" sz="2400" b="1" dirty="0">
              <a:solidFill>
                <a:srgbClr val="7030A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81834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hlinkClick r:id="rId2"/>
          </p:cNvPr>
          <p:cNvSpPr/>
          <p:nvPr/>
        </p:nvSpPr>
        <p:spPr>
          <a:xfrm>
            <a:off x="3658625" y="2175236"/>
            <a:ext cx="469797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2400" b="1" dirty="0" smtClean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Exercice 3 Création de la page </a:t>
            </a:r>
            <a:r>
              <a:rPr lang="fr-FR" sz="2400" b="1" dirty="0" err="1" smtClean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Flyout</a:t>
            </a:r>
            <a:r>
              <a:rPr lang="fr-FR" sz="2400" b="1" dirty="0" smtClean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de deux manières</a:t>
            </a:r>
            <a:endParaRPr lang="fr-FR" sz="2400" b="1" dirty="0">
              <a:solidFill>
                <a:srgbClr val="7030A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685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8"/>
          <p:cNvSpPr txBox="1">
            <a:spLocks noChangeArrowheads="1"/>
          </p:cNvSpPr>
          <p:nvPr/>
        </p:nvSpPr>
        <p:spPr bwMode="auto">
          <a:xfrm>
            <a:off x="251168" y="654170"/>
            <a:ext cx="10311452" cy="4314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1524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579438" indent="-242888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200" u="sng" dirty="0" smtClean="0">
                <a:latin typeface="Segoe UI Symbol" panose="020B0502040204020203" pitchFamily="34" charset="0"/>
              </a:rPr>
              <a:t>Les types de pages MAUI</a:t>
            </a:r>
            <a:r>
              <a:rPr lang="en-US" altLang="en-US" sz="2200" u="sng" dirty="0">
                <a:latin typeface="Segoe UI Symbol" panose="020B0502040204020203" pitchFamily="34" charset="0"/>
              </a:rPr>
              <a:t>-</a:t>
            </a:r>
            <a:r>
              <a:rPr lang="en-US" altLang="en-US" sz="2200" u="sng" dirty="0" err="1">
                <a:latin typeface="Segoe UI Symbol" panose="020B0502040204020203" pitchFamily="34" charset="0"/>
              </a:rPr>
              <a:t>FlyoutPage</a:t>
            </a:r>
            <a:r>
              <a:rPr lang="en-US" altLang="en-US" sz="2200" u="sng" dirty="0">
                <a:latin typeface="Segoe UI Symbol" panose="020B0502040204020203" pitchFamily="34" charset="0"/>
              </a:rPr>
              <a:t> </a:t>
            </a:r>
            <a:endParaRPr lang="en-US" alt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1488"/>
              </a:lnSpc>
              <a:spcBef>
                <a:spcPts val="1625"/>
              </a:spcBef>
              <a:buClr>
                <a:srgbClr val="006498"/>
              </a:buClr>
              <a:buSzPct val="61000"/>
              <a:buFont typeface="Wingdings" panose="05000000000000000000" pitchFamily="2" charset="2"/>
              <a:buChar char=""/>
            </a:pPr>
            <a:r>
              <a:rPr lang="fr-FR" altLang="en-US" dirty="0" smtClean="0">
                <a:latin typeface="Segoe UI" panose="020B0502040204020203" pitchFamily="34" charset="0"/>
                <a:cs typeface="Segoe UI" panose="020B0502040204020203" pitchFamily="34" charset="0"/>
              </a:rPr>
              <a:t>La page </a:t>
            </a:r>
            <a:r>
              <a:rPr lang="fr-FR" altLang="en-US" b="1" dirty="0" err="1" smtClean="0">
                <a:latin typeface="Segoe UI" panose="020B0502040204020203" pitchFamily="34" charset="0"/>
                <a:cs typeface="Segoe UI" panose="020B0502040204020203" pitchFamily="34" charset="0"/>
              </a:rPr>
              <a:t>FlayoutPage</a:t>
            </a:r>
            <a:r>
              <a:rPr lang="fr-FR" altLang="en-US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fr-FR" altLang="en-US" dirty="0" smtClean="0">
                <a:latin typeface="Segoe UI" panose="020B0502040204020203" pitchFamily="34" charset="0"/>
                <a:cs typeface="Segoe UI" panose="020B0502040204020203" pitchFamily="34" charset="0"/>
              </a:rPr>
              <a:t>définit les mise en pages suivantes selon la valeur de la propriété</a:t>
            </a:r>
          </a:p>
          <a:p>
            <a:pPr>
              <a:lnSpc>
                <a:spcPts val="1488"/>
              </a:lnSpc>
              <a:spcBef>
                <a:spcPts val="1625"/>
              </a:spcBef>
              <a:buClr>
                <a:srgbClr val="006498"/>
              </a:buClr>
              <a:buSzPct val="61000"/>
            </a:pPr>
            <a:r>
              <a:rPr lang="fr-FR" altLang="en-US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fr-FR" altLang="en-US" dirty="0" smtClean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fr-FR" altLang="en-US" b="1" dirty="0" err="1" smtClean="0">
                <a:latin typeface="Segoe UI" panose="020B0502040204020203" pitchFamily="34" charset="0"/>
                <a:cs typeface="Segoe UI" panose="020B0502040204020203" pitchFamily="34" charset="0"/>
              </a:rPr>
              <a:t>FlyoutLayoutBehavior</a:t>
            </a:r>
            <a:r>
              <a:rPr lang="fr-FR" altLang="en-US" dirty="0" smtClean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  <a:p>
            <a:pPr>
              <a:lnSpc>
                <a:spcPts val="1488"/>
              </a:lnSpc>
              <a:spcBef>
                <a:spcPts val="1625"/>
              </a:spcBef>
              <a:buClr>
                <a:srgbClr val="006498"/>
              </a:buClr>
              <a:buSzPct val="61000"/>
              <a:buFont typeface="Wingdings" panose="05000000000000000000" pitchFamily="2" charset="2"/>
              <a:buChar char=""/>
            </a:pPr>
            <a:endParaRPr lang="fr-FR" altLang="en-US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ts val="1488"/>
              </a:lnSpc>
              <a:spcBef>
                <a:spcPts val="1625"/>
              </a:spcBef>
              <a:buClr>
                <a:srgbClr val="006498"/>
              </a:buClr>
              <a:buSzPct val="61000"/>
              <a:buFont typeface="Wingdings" panose="05000000000000000000" pitchFamily="2" charset="2"/>
              <a:buChar char=""/>
            </a:pPr>
            <a:r>
              <a:rPr lang="fr-FR" altLang="en-US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Popover</a:t>
            </a:r>
            <a:r>
              <a:rPr lang="fr-FR" altLang="en-US" dirty="0" smtClean="0">
                <a:latin typeface="Segoe UI" panose="020B0502040204020203" pitchFamily="34" charset="0"/>
                <a:cs typeface="Segoe UI" panose="020B0502040204020203" pitchFamily="34" charset="0"/>
              </a:rPr>
              <a:t>: </a:t>
            </a:r>
            <a:r>
              <a:rPr lang="fr-FR" altLang="en-US" dirty="0">
                <a:latin typeface="Segoe UI" panose="020B0502040204020203" pitchFamily="34" charset="0"/>
                <a:cs typeface="Segoe UI" panose="020B0502040204020203" pitchFamily="34" charset="0"/>
              </a:rPr>
              <a:t>L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a 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page de détails couvre ou couvre 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partiellement </a:t>
            </a:r>
          </a:p>
          <a:p>
            <a:pPr>
              <a:lnSpc>
                <a:spcPts val="1488"/>
              </a:lnSpc>
              <a:spcBef>
                <a:spcPts val="1625"/>
              </a:spcBef>
              <a:buClr>
                <a:srgbClr val="006498"/>
              </a:buClr>
              <a:buSzPct val="61000"/>
            </a:pP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la 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page 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volante,  c’est le comportement </a:t>
            </a:r>
            <a:r>
              <a:rPr lang="fr-FR" u="sng" dirty="0" smtClean="0">
                <a:latin typeface="Segoe UI" panose="020B0502040204020203" pitchFamily="34" charset="0"/>
                <a:cs typeface="Segoe UI" panose="020B0502040204020203" pitchFamily="34" charset="0"/>
              </a:rPr>
              <a:t>par défaut et unique</a:t>
            </a:r>
          </a:p>
          <a:p>
            <a:pPr>
              <a:lnSpc>
                <a:spcPts val="1488"/>
              </a:lnSpc>
              <a:spcBef>
                <a:spcPts val="1625"/>
              </a:spcBef>
              <a:buClr>
                <a:srgbClr val="006498"/>
              </a:buClr>
              <a:buSzPct val="61000"/>
            </a:pP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dans les </a:t>
            </a:r>
            <a:r>
              <a:rPr lang="fr-FR" altLang="en-US" dirty="0" smtClean="0">
                <a:latin typeface="Segoe UI" panose="020B0502040204020203" pitchFamily="34" charset="0"/>
                <a:cs typeface="Segoe UI" panose="020B0502040204020203" pitchFamily="34" charset="0"/>
              </a:rPr>
              <a:t>applications Mobile Android et iOS</a:t>
            </a:r>
          </a:p>
          <a:p>
            <a:pPr>
              <a:lnSpc>
                <a:spcPts val="1488"/>
              </a:lnSpc>
              <a:spcBef>
                <a:spcPts val="1625"/>
              </a:spcBef>
              <a:buClr>
                <a:srgbClr val="006498"/>
              </a:buClr>
              <a:buSzPct val="61000"/>
            </a:pPr>
            <a:endParaRPr lang="fr-FR" alt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ts val="1488"/>
              </a:lnSpc>
              <a:spcBef>
                <a:spcPts val="1625"/>
              </a:spcBef>
              <a:buClr>
                <a:srgbClr val="006498"/>
              </a:buClr>
              <a:buSzPct val="61000"/>
              <a:buFont typeface="Wingdings" panose="05000000000000000000" pitchFamily="2" charset="2"/>
              <a:buChar char=""/>
            </a:pPr>
            <a:r>
              <a:rPr lang="fr-FR" altLang="en-US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Split</a:t>
            </a:r>
            <a:r>
              <a:rPr lang="fr-FR" altLang="en-US" dirty="0" smtClean="0">
                <a:latin typeface="Segoe UI" panose="020B0502040204020203" pitchFamily="34" charset="0"/>
                <a:cs typeface="Segoe UI" panose="020B0502040204020203" pitchFamily="34" charset="0"/>
              </a:rPr>
              <a:t>: </a:t>
            </a:r>
            <a:r>
              <a:rPr lang="fr-FR" altLang="en-US" dirty="0">
                <a:latin typeface="Segoe UI" panose="020B0502040204020203" pitchFamily="34" charset="0"/>
                <a:cs typeface="Segoe UI" panose="020B0502040204020203" pitchFamily="34" charset="0"/>
              </a:rPr>
              <a:t>L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a 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page master  et la page des détails sont affichées</a:t>
            </a:r>
          </a:p>
          <a:p>
            <a:pPr>
              <a:lnSpc>
                <a:spcPts val="1488"/>
              </a:lnSpc>
              <a:spcBef>
                <a:spcPts val="1625"/>
              </a:spcBef>
              <a:buClr>
                <a:srgbClr val="006498"/>
              </a:buClr>
              <a:buSzPct val="61000"/>
            </a:pPr>
            <a:r>
              <a:rPr lang="fr-FR" altLang="en-US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fr-FR" altLang="en-US" dirty="0" smtClean="0">
                <a:latin typeface="Segoe UI" panose="020B0502040204020203" pitchFamily="34" charset="0"/>
                <a:cs typeface="Segoe UI" panose="020B0502040204020203" pitchFamily="34" charset="0"/>
              </a:rPr>
              <a:t> l’une à côté de l’autre, c’est le comportement par défaut</a:t>
            </a:r>
          </a:p>
          <a:p>
            <a:pPr>
              <a:lnSpc>
                <a:spcPts val="1488"/>
              </a:lnSpc>
              <a:spcBef>
                <a:spcPts val="1625"/>
              </a:spcBef>
              <a:buClr>
                <a:srgbClr val="006498"/>
              </a:buClr>
              <a:buSzPct val="61000"/>
            </a:pPr>
            <a:r>
              <a:rPr lang="fr-FR" altLang="en-US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fr-FR" altLang="en-US" dirty="0" smtClean="0">
                <a:latin typeface="Segoe UI" panose="020B0502040204020203" pitchFamily="34" charset="0"/>
                <a:cs typeface="Segoe UI" panose="020B0502040204020203" pitchFamily="34" charset="0"/>
              </a:rPr>
              <a:t> pour les applications Bureau et les applications IPad/Tablette</a:t>
            </a: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4125" y="1688314"/>
            <a:ext cx="4796916" cy="1913796"/>
          </a:xfrm>
          <a:prstGeom prst="rect">
            <a:avLst/>
          </a:prstGeom>
        </p:spPr>
      </p:pic>
      <p:pic>
        <p:nvPicPr>
          <p:cNvPr id="4" name="Imag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4125" y="3783739"/>
            <a:ext cx="4906562" cy="2429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31614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8"/>
          <p:cNvSpPr txBox="1">
            <a:spLocks noChangeArrowheads="1"/>
          </p:cNvSpPr>
          <p:nvPr/>
        </p:nvSpPr>
        <p:spPr bwMode="auto">
          <a:xfrm>
            <a:off x="251168" y="654170"/>
            <a:ext cx="10311452" cy="7360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1524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579438" indent="-242888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200" u="sng" dirty="0" smtClean="0">
                <a:latin typeface="Segoe UI Symbol" panose="020B0502040204020203" pitchFamily="34" charset="0"/>
              </a:rPr>
              <a:t>Les types de pages MAUI-FlyoutPage-Un exemple pour </a:t>
            </a:r>
            <a:r>
              <a:rPr lang="en-US" altLang="en-US" sz="2200" u="sng" dirty="0" err="1" smtClean="0">
                <a:latin typeface="Segoe UI Symbol" panose="020B0502040204020203" pitchFamily="34" charset="0"/>
              </a:rPr>
              <a:t>mieux</a:t>
            </a:r>
            <a:r>
              <a:rPr lang="en-US" altLang="en-US" sz="2200" u="sng" dirty="0" smtClean="0">
                <a:latin typeface="Segoe UI Symbol" panose="020B0502040204020203" pitchFamily="34" charset="0"/>
              </a:rPr>
              <a:t> </a:t>
            </a:r>
            <a:r>
              <a:rPr lang="en-US" altLang="en-US" sz="2200" u="sng" dirty="0" err="1" smtClean="0">
                <a:latin typeface="Segoe UI Symbol" panose="020B0502040204020203" pitchFamily="34" charset="0"/>
              </a:rPr>
              <a:t>comprendre</a:t>
            </a:r>
            <a:r>
              <a:rPr lang="en-US" altLang="en-US" sz="2200" u="sng" dirty="0" smtClean="0">
                <a:latin typeface="Segoe UI Symbol" panose="020B0502040204020203" pitchFamily="34" charset="0"/>
              </a:rPr>
              <a:t> </a:t>
            </a:r>
            <a:endParaRPr lang="en-US" alt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1488"/>
              </a:lnSpc>
              <a:spcBef>
                <a:spcPts val="1625"/>
              </a:spcBef>
              <a:buClr>
                <a:srgbClr val="006498"/>
              </a:buClr>
              <a:buSzPct val="61000"/>
              <a:buFont typeface="Wingdings" panose="05000000000000000000" pitchFamily="2" charset="2"/>
              <a:buChar char=""/>
            </a:pPr>
            <a:endParaRPr lang="fr-FR" alt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24069" y="1288786"/>
            <a:ext cx="9886122" cy="42601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488"/>
              </a:lnSpc>
              <a:spcBef>
                <a:spcPts val="1625"/>
              </a:spcBef>
              <a:buClr>
                <a:srgbClr val="006498"/>
              </a:buClr>
              <a:buSzPct val="61000"/>
              <a:buFont typeface="Wingdings" panose="05000000000000000000" pitchFamily="2" charset="2"/>
              <a:buChar char=""/>
            </a:pPr>
            <a:r>
              <a:rPr lang="fr-FR" altLang="en-US" dirty="0" smtClean="0">
                <a:latin typeface="Segoe UI" panose="020B0502040204020203" pitchFamily="34" charset="0"/>
                <a:cs typeface="Segoe UI" panose="020B0502040204020203" pitchFamily="34" charset="0"/>
              </a:rPr>
              <a:t>Dans cet exemple on va créer un user story  simple composé de quatre pages</a:t>
            </a:r>
          </a:p>
          <a:p>
            <a:pPr marL="742950" lvl="1" indent="-285750">
              <a:lnSpc>
                <a:spcPts val="1488"/>
              </a:lnSpc>
              <a:spcBef>
                <a:spcPts val="1625"/>
              </a:spcBef>
              <a:buClr>
                <a:srgbClr val="006498"/>
              </a:buClr>
              <a:buSzPct val="61000"/>
              <a:buFont typeface="Wingdings" panose="05000000000000000000" pitchFamily="2" charset="2"/>
              <a:buChar char="§"/>
            </a:pPr>
            <a:r>
              <a:rPr lang="fr-FR" altLang="en-US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fr-FR" altLang="en-US" dirty="0" smtClean="0">
                <a:latin typeface="Segoe UI" panose="020B0502040204020203" pitchFamily="34" charset="0"/>
                <a:cs typeface="Segoe UI" panose="020B0502040204020203" pitchFamily="34" charset="0"/>
              </a:rPr>
              <a:t> Une page principale </a:t>
            </a:r>
            <a:r>
              <a:rPr lang="fr-FR" altLang="en-US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MainPage</a:t>
            </a:r>
            <a:r>
              <a:rPr lang="fr-FR" altLang="en-US" dirty="0" smtClean="0">
                <a:latin typeface="Segoe UI" panose="020B0502040204020203" pitchFamily="34" charset="0"/>
                <a:cs typeface="Segoe UI" panose="020B0502040204020203" pitchFamily="34" charset="0"/>
              </a:rPr>
              <a:t> FlyoutPage </a:t>
            </a:r>
          </a:p>
          <a:p>
            <a:pPr marL="742950" lvl="1" indent="-285750">
              <a:lnSpc>
                <a:spcPts val="1488"/>
              </a:lnSpc>
              <a:spcBef>
                <a:spcPts val="1625"/>
              </a:spcBef>
              <a:buClr>
                <a:srgbClr val="006498"/>
              </a:buClr>
              <a:buSzPct val="61000"/>
              <a:buFont typeface="Wingdings" panose="05000000000000000000" pitchFamily="2" charset="2"/>
              <a:buChar char="§"/>
            </a:pPr>
            <a:r>
              <a:rPr lang="fr-FR" altLang="en-US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fr-FR" altLang="en-US" dirty="0" smtClean="0">
                <a:latin typeface="Segoe UI" panose="020B0502040204020203" pitchFamily="34" charset="0"/>
                <a:cs typeface="Segoe UI" panose="020B0502040204020203" pitchFamily="34" charset="0"/>
              </a:rPr>
              <a:t> Une page de menu </a:t>
            </a:r>
            <a:r>
              <a:rPr lang="fr-FR" altLang="en-US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MenuPage</a:t>
            </a:r>
            <a:r>
              <a:rPr lang="fr-FR" altLang="en-US" dirty="0" smtClean="0">
                <a:latin typeface="Segoe UI" panose="020B0502040204020203" pitchFamily="34" charset="0"/>
                <a:cs typeface="Segoe UI" panose="020B0502040204020203" pitchFamily="34" charset="0"/>
              </a:rPr>
              <a:t> ContentPage</a:t>
            </a:r>
          </a:p>
          <a:p>
            <a:pPr lvl="1">
              <a:lnSpc>
                <a:spcPts val="1488"/>
              </a:lnSpc>
              <a:spcBef>
                <a:spcPts val="1625"/>
              </a:spcBef>
              <a:buClr>
                <a:srgbClr val="006498"/>
              </a:buClr>
              <a:buSzPct val="61000"/>
            </a:pPr>
            <a:endParaRPr lang="fr-FR" altLang="en-US" dirty="0" smtClean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1">
              <a:lnSpc>
                <a:spcPts val="1488"/>
              </a:lnSpc>
              <a:spcBef>
                <a:spcPts val="1625"/>
              </a:spcBef>
              <a:buClr>
                <a:srgbClr val="006498"/>
              </a:buClr>
              <a:buSzPct val="61000"/>
            </a:pPr>
            <a:r>
              <a:rPr lang="fr-FR" altLang="en-US" dirty="0" smtClean="0">
                <a:latin typeface="Segoe UI" panose="020B0502040204020203" pitchFamily="34" charset="0"/>
                <a:cs typeface="Segoe UI" panose="020B0502040204020203" pitchFamily="34" charset="0"/>
              </a:rPr>
              <a:t>Les pages de détails:</a:t>
            </a:r>
          </a:p>
          <a:p>
            <a:pPr lvl="1">
              <a:lnSpc>
                <a:spcPts val="1488"/>
              </a:lnSpc>
              <a:spcBef>
                <a:spcPts val="1625"/>
              </a:spcBef>
              <a:buClr>
                <a:srgbClr val="006498"/>
              </a:buClr>
              <a:buSzPct val="61000"/>
            </a:pPr>
            <a:endParaRPr lang="fr-FR" altLang="en-US" dirty="0" smtClean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742950" lvl="1" indent="-285750">
              <a:lnSpc>
                <a:spcPts val="1488"/>
              </a:lnSpc>
              <a:spcBef>
                <a:spcPts val="1625"/>
              </a:spcBef>
              <a:buClr>
                <a:srgbClr val="006498"/>
              </a:buClr>
              <a:buSzPct val="61000"/>
              <a:buFont typeface="Wingdings" panose="05000000000000000000" pitchFamily="2" charset="2"/>
              <a:buChar char="§"/>
            </a:pPr>
            <a:r>
              <a:rPr lang="fr-FR" altLang="en-US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fr-FR" altLang="en-US" dirty="0" smtClean="0">
                <a:latin typeface="Segoe UI" panose="020B0502040204020203" pitchFamily="34" charset="0"/>
                <a:cs typeface="Segoe UI" panose="020B0502040204020203" pitchFamily="34" charset="0"/>
              </a:rPr>
              <a:t> Une page </a:t>
            </a:r>
            <a:r>
              <a:rPr lang="fr-FR" altLang="en-US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UserPage</a:t>
            </a:r>
            <a:r>
              <a:rPr lang="fr-FR" altLang="en-US" dirty="0" smtClean="0">
                <a:latin typeface="Segoe UI" panose="020B0502040204020203" pitchFamily="34" charset="0"/>
                <a:cs typeface="Segoe UI" panose="020B0502040204020203" pitchFamily="34" charset="0"/>
              </a:rPr>
              <a:t> ContentPage</a:t>
            </a:r>
          </a:p>
          <a:p>
            <a:pPr marL="742950" lvl="1" indent="-285750">
              <a:lnSpc>
                <a:spcPts val="1488"/>
              </a:lnSpc>
              <a:spcBef>
                <a:spcPts val="1625"/>
              </a:spcBef>
              <a:buClr>
                <a:srgbClr val="006498"/>
              </a:buClr>
              <a:buSzPct val="61000"/>
              <a:buFont typeface="Wingdings" panose="05000000000000000000" pitchFamily="2" charset="2"/>
              <a:buChar char="§"/>
            </a:pPr>
            <a:r>
              <a:rPr lang="fr-FR" altLang="en-US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fr-FR" altLang="en-US" dirty="0" smtClean="0">
                <a:latin typeface="Segoe UI" panose="020B0502040204020203" pitchFamily="34" charset="0"/>
                <a:cs typeface="Segoe UI" panose="020B0502040204020203" pitchFamily="34" charset="0"/>
              </a:rPr>
              <a:t> Une page </a:t>
            </a:r>
            <a:r>
              <a:rPr lang="fr-FR" altLang="en-US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HomePage</a:t>
            </a:r>
            <a:r>
              <a:rPr lang="fr-FR" altLang="en-US" dirty="0" smtClean="0">
                <a:latin typeface="Segoe UI" panose="020B0502040204020203" pitchFamily="34" charset="0"/>
                <a:cs typeface="Segoe UI" panose="020B0502040204020203" pitchFamily="34" charset="0"/>
              </a:rPr>
              <a:t> UserPage</a:t>
            </a:r>
          </a:p>
          <a:p>
            <a:pPr marL="742950" lvl="1" indent="-285750">
              <a:lnSpc>
                <a:spcPts val="1488"/>
              </a:lnSpc>
              <a:spcBef>
                <a:spcPts val="1625"/>
              </a:spcBef>
              <a:buClr>
                <a:srgbClr val="006498"/>
              </a:buClr>
              <a:buSzPct val="61000"/>
              <a:buFont typeface="Wingdings" panose="05000000000000000000" pitchFamily="2" charset="2"/>
              <a:buChar char="§"/>
            </a:pPr>
            <a:r>
              <a:rPr lang="fr-FR" altLang="en-US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fr-FR" altLang="en-US" dirty="0" smtClean="0">
                <a:latin typeface="Segoe UI" panose="020B0502040204020203" pitchFamily="34" charset="0"/>
                <a:cs typeface="Segoe UI" panose="020B0502040204020203" pitchFamily="34" charset="0"/>
              </a:rPr>
              <a:t> Une page </a:t>
            </a:r>
            <a:r>
              <a:rPr lang="fr-FR" altLang="en-US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SettingsPage</a:t>
            </a:r>
            <a:r>
              <a:rPr lang="fr-FR" altLang="en-US" dirty="0" smtClean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fr-FR" altLang="en-US" dirty="0" err="1" smtClean="0">
                <a:latin typeface="Segoe UI" panose="020B0502040204020203" pitchFamily="34" charset="0"/>
                <a:cs typeface="Segoe UI" panose="020B0502040204020203" pitchFamily="34" charset="0"/>
              </a:rPr>
              <a:t>SettingsPage</a:t>
            </a:r>
            <a:r>
              <a:rPr lang="fr-FR" altLang="en-US" dirty="0" smtClean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  <a:p>
            <a:pPr marL="742950" lvl="1" indent="-285750">
              <a:lnSpc>
                <a:spcPts val="1488"/>
              </a:lnSpc>
              <a:spcBef>
                <a:spcPts val="1625"/>
              </a:spcBef>
              <a:buClr>
                <a:srgbClr val="006498"/>
              </a:buClr>
              <a:buSzPct val="61000"/>
              <a:buFont typeface="Wingdings" panose="05000000000000000000" pitchFamily="2" charset="2"/>
              <a:buChar char="§"/>
            </a:pPr>
            <a:endParaRPr lang="fr-FR" altLang="en-US" dirty="0" smtClean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lvl="1" indent="-285750">
              <a:lnSpc>
                <a:spcPts val="1488"/>
              </a:lnSpc>
              <a:spcBef>
                <a:spcPts val="1625"/>
              </a:spcBef>
              <a:buClr>
                <a:srgbClr val="006498"/>
              </a:buClr>
              <a:buSzPct val="61000"/>
              <a:buFont typeface="Wingdings" panose="05000000000000000000" pitchFamily="2" charset="2"/>
              <a:buChar char="§"/>
            </a:pPr>
            <a:r>
              <a:rPr lang="fr-FR" altLang="en-US" dirty="0" smtClean="0">
                <a:latin typeface="Segoe UI" panose="020B0502040204020203" pitchFamily="34" charset="0"/>
                <a:cs typeface="Segoe UI" panose="020B0502040204020203" pitchFamily="34" charset="0"/>
              </a:rPr>
              <a:t>Commençons par créer les pages </a:t>
            </a:r>
            <a:endParaRPr lang="en-US" alt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912401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8"/>
          <p:cNvSpPr txBox="1">
            <a:spLocks noChangeArrowheads="1"/>
          </p:cNvSpPr>
          <p:nvPr/>
        </p:nvSpPr>
        <p:spPr bwMode="auto">
          <a:xfrm>
            <a:off x="251168" y="654170"/>
            <a:ext cx="10311452" cy="7360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1524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579438" indent="-242888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200" u="sng" dirty="0" smtClean="0">
                <a:latin typeface="Segoe UI Symbol" panose="020B0502040204020203" pitchFamily="34" charset="0"/>
              </a:rPr>
              <a:t>Les types de pages MAUI-FlyoutPage-Un exemple pour </a:t>
            </a:r>
            <a:r>
              <a:rPr lang="en-US" altLang="en-US" sz="2200" u="sng" dirty="0" err="1" smtClean="0">
                <a:latin typeface="Segoe UI Symbol" panose="020B0502040204020203" pitchFamily="34" charset="0"/>
              </a:rPr>
              <a:t>mieux</a:t>
            </a:r>
            <a:r>
              <a:rPr lang="en-US" altLang="en-US" sz="2200" u="sng" dirty="0" smtClean="0">
                <a:latin typeface="Segoe UI Symbol" panose="020B0502040204020203" pitchFamily="34" charset="0"/>
              </a:rPr>
              <a:t> </a:t>
            </a:r>
            <a:r>
              <a:rPr lang="en-US" altLang="en-US" sz="2200" u="sng" dirty="0" err="1" smtClean="0">
                <a:latin typeface="Segoe UI Symbol" panose="020B0502040204020203" pitchFamily="34" charset="0"/>
              </a:rPr>
              <a:t>comprendre</a:t>
            </a:r>
            <a:r>
              <a:rPr lang="en-US" altLang="en-US" sz="2200" u="sng" dirty="0" smtClean="0">
                <a:latin typeface="Segoe UI Symbol" panose="020B0502040204020203" pitchFamily="34" charset="0"/>
              </a:rPr>
              <a:t> </a:t>
            </a:r>
            <a:endParaRPr lang="en-US" alt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1488"/>
              </a:lnSpc>
              <a:spcBef>
                <a:spcPts val="1625"/>
              </a:spcBef>
              <a:buClr>
                <a:srgbClr val="006498"/>
              </a:buClr>
              <a:buSzPct val="61000"/>
              <a:buFont typeface="Wingdings" panose="05000000000000000000" pitchFamily="2" charset="2"/>
              <a:buChar char=""/>
            </a:pPr>
            <a:endParaRPr lang="fr-FR" alt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24069" y="1288786"/>
            <a:ext cx="9886122" cy="40267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1625"/>
              </a:spcBef>
              <a:buClr>
                <a:srgbClr val="006498"/>
              </a:buClr>
              <a:buSzPct val="61000"/>
              <a:buFont typeface="Wingdings" panose="05000000000000000000" pitchFamily="2" charset="2"/>
              <a:buChar char=""/>
            </a:pPr>
            <a:r>
              <a:rPr lang="fr-FR" altLang="en-US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Etape 1: </a:t>
            </a:r>
            <a:r>
              <a:rPr lang="fr-FR" altLang="en-US" dirty="0" smtClean="0">
                <a:latin typeface="Segoe UI" panose="020B0502040204020203" pitchFamily="34" charset="0"/>
                <a:cs typeface="Segoe UI" panose="020B0502040204020203" pitchFamily="34" charset="0"/>
              </a:rPr>
              <a:t>On commence par créer les pages de détails </a:t>
            </a:r>
            <a:r>
              <a:rPr lang="fr-FR" altLang="en-US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HomePage</a:t>
            </a:r>
            <a:r>
              <a:rPr lang="fr-FR" altLang="en-US" dirty="0" smtClean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fr-FR" altLang="en-US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UserPage</a:t>
            </a:r>
            <a:r>
              <a:rPr lang="fr-FR" altLang="en-US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fr-FR" altLang="en-US" dirty="0" smtClean="0">
                <a:latin typeface="Segoe UI" panose="020B0502040204020203" pitchFamily="34" charset="0"/>
                <a:cs typeface="Segoe UI" panose="020B0502040204020203" pitchFamily="34" charset="0"/>
              </a:rPr>
              <a:t>et </a:t>
            </a:r>
            <a:r>
              <a:rPr lang="fr-FR" altLang="en-US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SettingsPage 	</a:t>
            </a:r>
            <a:r>
              <a:rPr lang="fr-FR" altLang="en-US" dirty="0" smtClean="0">
                <a:latin typeface="Segoe UI" panose="020B0502040204020203" pitchFamily="34" charset="0"/>
                <a:cs typeface="Segoe UI" panose="020B0502040204020203" pitchFamily="34" charset="0"/>
              </a:rPr>
              <a:t>de type </a:t>
            </a:r>
            <a:r>
              <a:rPr lang="fr-FR" altLang="en-US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ContentPage</a:t>
            </a:r>
            <a:endParaRPr lang="fr-FR" altLang="en-US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150000"/>
              </a:lnSpc>
              <a:spcBef>
                <a:spcPts val="1625"/>
              </a:spcBef>
              <a:buClr>
                <a:srgbClr val="006498"/>
              </a:buClr>
              <a:buSzPct val="61000"/>
              <a:buFont typeface="Wingdings" panose="05000000000000000000" pitchFamily="2" charset="2"/>
              <a:buChar char=""/>
            </a:pPr>
            <a:r>
              <a:rPr lang="fr-FR" altLang="en-US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Etape 2: </a:t>
            </a:r>
            <a:r>
              <a:rPr lang="fr-FR" altLang="en-US" dirty="0" smtClean="0">
                <a:latin typeface="Segoe UI" panose="020B0502040204020203" pitchFamily="34" charset="0"/>
                <a:cs typeface="Segoe UI" panose="020B0502040204020203" pitchFamily="34" charset="0"/>
              </a:rPr>
              <a:t>On crée un type qui représente les éléments de </a:t>
            </a:r>
            <a:r>
              <a:rPr lang="fr-FR" altLang="en-US" dirty="0" err="1" smtClean="0">
                <a:latin typeface="Segoe UI" panose="020B0502040204020203" pitchFamily="34" charset="0"/>
                <a:cs typeface="Segoe UI" panose="020B0502040204020203" pitchFamily="34" charset="0"/>
              </a:rPr>
              <a:t>navigaltion</a:t>
            </a:r>
            <a:endParaRPr lang="fr-FR" altLang="en-US" dirty="0" smtClean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150000"/>
              </a:lnSpc>
              <a:spcBef>
                <a:spcPts val="1625"/>
              </a:spcBef>
              <a:buClr>
                <a:srgbClr val="006498"/>
              </a:buClr>
              <a:buSzPct val="61000"/>
            </a:pPr>
            <a:endParaRPr lang="fr-FR" altLang="en-US" b="1" dirty="0" smtClean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150000"/>
              </a:lnSpc>
              <a:spcBef>
                <a:spcPts val="1625"/>
              </a:spcBef>
              <a:buClr>
                <a:srgbClr val="006498"/>
              </a:buClr>
              <a:buSzPct val="61000"/>
            </a:pPr>
            <a:endParaRPr lang="fr-FR" altLang="en-US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150000"/>
              </a:lnSpc>
              <a:spcBef>
                <a:spcPts val="1625"/>
              </a:spcBef>
              <a:buClr>
                <a:srgbClr val="006498"/>
              </a:buClr>
              <a:buSzPct val="61000"/>
            </a:pPr>
            <a:endParaRPr lang="fr-FR" altLang="en-US" b="1" dirty="0" smtClean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150000"/>
              </a:lnSpc>
              <a:spcBef>
                <a:spcPts val="1625"/>
              </a:spcBef>
              <a:buClr>
                <a:srgbClr val="006498"/>
              </a:buClr>
              <a:buSzPct val="61000"/>
              <a:buFont typeface="Wingdings" panose="05000000000000000000" pitchFamily="2" charset="2"/>
              <a:buChar char=""/>
            </a:pPr>
            <a:r>
              <a:rPr lang="fr-FR" altLang="en-US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Etape 3: </a:t>
            </a:r>
            <a:r>
              <a:rPr lang="fr-FR" altLang="en-US" dirty="0" smtClean="0">
                <a:latin typeface="Segoe UI" panose="020B0502040204020203" pitchFamily="34" charset="0"/>
                <a:cs typeface="Segoe UI" panose="020B0502040204020203" pitchFamily="34" charset="0"/>
              </a:rPr>
              <a:t>On crée la page de menu </a:t>
            </a:r>
            <a:r>
              <a:rPr lang="fr-FR" altLang="en-US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MenuPage </a:t>
            </a:r>
            <a:r>
              <a:rPr lang="fr-FR" altLang="en-US" dirty="0" smtClean="0">
                <a:latin typeface="Segoe UI" panose="020B0502040204020203" pitchFamily="34" charset="0"/>
                <a:cs typeface="Segoe UI" panose="020B0502040204020203" pitchFamily="34" charset="0"/>
              </a:rPr>
              <a:t>de type </a:t>
            </a:r>
            <a:r>
              <a:rPr lang="fr-FR" altLang="en-US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ContentPage </a:t>
            </a:r>
            <a:r>
              <a:rPr lang="fr-FR" altLang="en-US" dirty="0" smtClean="0">
                <a:latin typeface="Segoe UI" panose="020B0502040204020203" pitchFamily="34" charset="0"/>
                <a:cs typeface="Segoe UI" panose="020B0502040204020203" pitchFamily="34" charset="0"/>
              </a:rPr>
              <a:t>également</a:t>
            </a:r>
            <a:endParaRPr lang="fr-FR" altLang="en-US" b="1" dirty="0" smtClean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483359" y="2861086"/>
            <a:ext cx="8114453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6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FlyoutPageItem</a:t>
            </a:r>
            <a:endParaRPr lang="fr-FR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6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  <a:endParaRPr lang="fr-FR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Title {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get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;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set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; }</a:t>
            </a: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Icon 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{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get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;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set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; }</a:t>
            </a: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</a:p>
          <a:p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fr-FR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6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override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ToString</a:t>
            </a:r>
            <a:r>
              <a:rPr lang="fr-FR" sz="16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()=&gt; </a:t>
            </a:r>
            <a:r>
              <a:rPr lang="fr-FR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Title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?? </a:t>
            </a:r>
            <a:r>
              <a:rPr lang="fr-FR" sz="16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fr-FR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.Empty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fr-FR" sz="16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fr-FR" sz="1600" dirty="0"/>
          </a:p>
        </p:txBody>
      </p:sp>
    </p:spTree>
    <p:extLst>
      <p:ext uri="{BB962C8B-B14F-4D97-AF65-F5344CB8AC3E}">
        <p14:creationId xmlns:p14="http://schemas.microsoft.com/office/powerpoint/2010/main" val="32891052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8"/>
          <p:cNvSpPr txBox="1">
            <a:spLocks noChangeArrowheads="1"/>
          </p:cNvSpPr>
          <p:nvPr/>
        </p:nvSpPr>
        <p:spPr bwMode="auto">
          <a:xfrm>
            <a:off x="251168" y="654170"/>
            <a:ext cx="10311452" cy="7360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1524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579438" indent="-242888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200" u="sng" dirty="0" smtClean="0">
                <a:latin typeface="Segoe UI Symbol" panose="020B0502040204020203" pitchFamily="34" charset="0"/>
              </a:rPr>
              <a:t>Les types de pages MAUI-FlyoutPage-Un exemple pour </a:t>
            </a:r>
            <a:r>
              <a:rPr lang="en-US" altLang="en-US" sz="2200" u="sng" dirty="0" err="1" smtClean="0">
                <a:latin typeface="Segoe UI Symbol" panose="020B0502040204020203" pitchFamily="34" charset="0"/>
              </a:rPr>
              <a:t>mieux</a:t>
            </a:r>
            <a:r>
              <a:rPr lang="en-US" altLang="en-US" sz="2200" u="sng" dirty="0" smtClean="0">
                <a:latin typeface="Segoe UI Symbol" panose="020B0502040204020203" pitchFamily="34" charset="0"/>
              </a:rPr>
              <a:t> </a:t>
            </a:r>
            <a:r>
              <a:rPr lang="en-US" altLang="en-US" sz="2200" u="sng" dirty="0" err="1" smtClean="0">
                <a:latin typeface="Segoe UI Symbol" panose="020B0502040204020203" pitchFamily="34" charset="0"/>
              </a:rPr>
              <a:t>comprendre</a:t>
            </a:r>
            <a:r>
              <a:rPr lang="en-US" altLang="en-US" sz="2200" u="sng" dirty="0" smtClean="0">
                <a:latin typeface="Segoe UI Symbol" panose="020B0502040204020203" pitchFamily="34" charset="0"/>
              </a:rPr>
              <a:t> </a:t>
            </a:r>
            <a:endParaRPr lang="en-US" alt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1488"/>
              </a:lnSpc>
              <a:spcBef>
                <a:spcPts val="1625"/>
              </a:spcBef>
              <a:buClr>
                <a:srgbClr val="006498"/>
              </a:buClr>
              <a:buSzPct val="61000"/>
              <a:buFont typeface="Wingdings" panose="05000000000000000000" pitchFamily="2" charset="2"/>
              <a:buChar char=""/>
            </a:pPr>
            <a:endParaRPr lang="fr-FR" alt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24069" y="1288786"/>
            <a:ext cx="988612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1625"/>
              </a:spcBef>
              <a:buClr>
                <a:srgbClr val="006498"/>
              </a:buClr>
              <a:buSzPct val="61000"/>
              <a:buFont typeface="Wingdings" panose="05000000000000000000" pitchFamily="2" charset="2"/>
              <a:buChar char=""/>
            </a:pPr>
            <a:r>
              <a:rPr lang="fr-FR" altLang="en-US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Etape 4: </a:t>
            </a:r>
            <a:r>
              <a:rPr lang="fr-FR" altLang="en-US" dirty="0" smtClean="0">
                <a:latin typeface="Segoe UI" panose="020B0502040204020203" pitchFamily="34" charset="0"/>
                <a:cs typeface="Segoe UI" panose="020B0502040204020203" pitchFamily="34" charset="0"/>
              </a:rPr>
              <a:t>La page </a:t>
            </a:r>
            <a:r>
              <a:rPr lang="fr-FR" altLang="en-US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MenuPage</a:t>
            </a:r>
            <a:r>
              <a:rPr lang="fr-FR" altLang="en-US" dirty="0" smtClean="0">
                <a:latin typeface="Segoe UI" panose="020B0502040204020203" pitchFamily="34" charset="0"/>
                <a:cs typeface="Segoe UI" panose="020B0502040204020203" pitchFamily="34" charset="0"/>
              </a:rPr>
              <a:t> doit définir le contenu XAML suivant, qui définit les éléments de menu:</a:t>
            </a:r>
            <a:endParaRPr lang="fr-FR" altLang="en-US" b="1" dirty="0" smtClean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435556" y="2322034"/>
            <a:ext cx="8114454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CollectionView</a:t>
            </a:r>
            <a:r>
              <a:rPr lang="fr-FR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x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:</a:t>
            </a:r>
            <a:r>
              <a:rPr lang="fr-FR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Name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="collectionView"</a:t>
            </a:r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</a:t>
            </a:r>
            <a:r>
              <a:rPr lang="fr-FR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x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:</a:t>
            </a:r>
            <a:r>
              <a:rPr lang="fr-FR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FieldModifier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="public"</a:t>
            </a:r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</a:t>
            </a:r>
            <a:r>
              <a:rPr lang="fr-FR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sz="14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SelectionMode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="Single</a:t>
            </a:r>
            <a:r>
              <a:rPr lang="fr-FR" sz="14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"&gt;</a:t>
            </a:r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 lvl="1"/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CollectionView.ItemsSource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 lvl="1"/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x</a:t>
            </a:r>
            <a:r>
              <a:rPr lang="fr-FR" sz="1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:</a:t>
            </a:r>
            <a:r>
              <a:rPr lang="fr-FR" sz="1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Array</a:t>
            </a:r>
            <a:r>
              <a:rPr lang="fr-FR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Type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="{</a:t>
            </a:r>
            <a:r>
              <a:rPr lang="fr-FR" sz="1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x</a:t>
            </a:r>
            <a:r>
              <a:rPr lang="fr-FR" sz="1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:</a:t>
            </a:r>
            <a:r>
              <a:rPr lang="fr-FR" sz="1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Type</a:t>
            </a:r>
            <a:r>
              <a:rPr lang="fr-FR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sz="14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local</a:t>
            </a:r>
            <a:r>
              <a:rPr lang="fr-FR" sz="1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:</a:t>
            </a:r>
            <a:r>
              <a:rPr lang="fr-FR" sz="14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FlyoutPageItem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}"&gt;</a:t>
            </a:r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 lvl="1"/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local</a:t>
            </a:r>
            <a:r>
              <a:rPr lang="fr-FR" sz="1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:</a:t>
            </a:r>
            <a:r>
              <a:rPr lang="fr-FR" sz="1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FlyoutPageItem</a:t>
            </a:r>
            <a:r>
              <a:rPr lang="fr-FR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sz="14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Title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="Home"</a:t>
            </a:r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 lvl="1"/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                 </a:t>
            </a:r>
            <a:r>
              <a:rPr lang="fr-FR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sz="14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IconSource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="home.png"/&gt;</a:t>
            </a:r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 lvl="1"/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local</a:t>
            </a:r>
            <a:r>
              <a:rPr lang="fr-FR" sz="1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:</a:t>
            </a:r>
            <a:r>
              <a:rPr lang="fr-FR" sz="1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FlyoutPageItem</a:t>
            </a:r>
            <a:r>
              <a:rPr lang="fr-FR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sz="14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Title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="User"</a:t>
            </a:r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 lvl="1"/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                 </a:t>
            </a:r>
            <a:r>
              <a:rPr lang="fr-FR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sz="14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IconSource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="user.png"/&gt;</a:t>
            </a:r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 lvl="1"/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local</a:t>
            </a:r>
            <a:r>
              <a:rPr lang="fr-FR" sz="1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:</a:t>
            </a:r>
            <a:r>
              <a:rPr lang="fr-FR" sz="1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FlyoutPageItem</a:t>
            </a:r>
            <a:r>
              <a:rPr lang="fr-FR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sz="14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Title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="Settings"</a:t>
            </a:r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 lvl="1"/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                 </a:t>
            </a:r>
            <a:r>
              <a:rPr lang="fr-FR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sz="14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IconSource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="settings.png"/&gt;</a:t>
            </a:r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 lvl="1"/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fr-FR" sz="1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x</a:t>
            </a:r>
            <a:r>
              <a:rPr lang="fr-FR" sz="1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:</a:t>
            </a:r>
            <a:r>
              <a:rPr lang="fr-FR" sz="1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Array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 lvl="1"/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fr-FR" sz="1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CollectionView.ItemsSource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fr-FR" sz="1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CollectionView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400" dirty="0"/>
          </a:p>
        </p:txBody>
      </p:sp>
    </p:spTree>
    <p:extLst>
      <p:ext uri="{BB962C8B-B14F-4D97-AF65-F5344CB8AC3E}">
        <p14:creationId xmlns:p14="http://schemas.microsoft.com/office/powerpoint/2010/main" val="55480876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8"/>
          <p:cNvSpPr txBox="1">
            <a:spLocks noChangeArrowheads="1"/>
          </p:cNvSpPr>
          <p:nvPr/>
        </p:nvSpPr>
        <p:spPr bwMode="auto">
          <a:xfrm>
            <a:off x="251168" y="654170"/>
            <a:ext cx="10311452" cy="7360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1524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579438" indent="-242888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200" u="sng" dirty="0" smtClean="0">
                <a:latin typeface="Segoe UI Symbol" panose="020B0502040204020203" pitchFamily="34" charset="0"/>
              </a:rPr>
              <a:t>Les types de pages MAUI-FlyoutPage-Un exemple pour </a:t>
            </a:r>
            <a:r>
              <a:rPr lang="en-US" altLang="en-US" sz="2200" u="sng" dirty="0" err="1" smtClean="0">
                <a:latin typeface="Segoe UI Symbol" panose="020B0502040204020203" pitchFamily="34" charset="0"/>
              </a:rPr>
              <a:t>mieux</a:t>
            </a:r>
            <a:r>
              <a:rPr lang="en-US" altLang="en-US" sz="2200" u="sng" dirty="0" smtClean="0">
                <a:latin typeface="Segoe UI Symbol" panose="020B0502040204020203" pitchFamily="34" charset="0"/>
              </a:rPr>
              <a:t> </a:t>
            </a:r>
            <a:r>
              <a:rPr lang="en-US" altLang="en-US" sz="2200" u="sng" dirty="0" err="1" smtClean="0">
                <a:latin typeface="Segoe UI Symbol" panose="020B0502040204020203" pitchFamily="34" charset="0"/>
              </a:rPr>
              <a:t>comprendre</a:t>
            </a:r>
            <a:r>
              <a:rPr lang="en-US" altLang="en-US" sz="2200" u="sng" dirty="0" smtClean="0">
                <a:latin typeface="Segoe UI Symbol" panose="020B0502040204020203" pitchFamily="34" charset="0"/>
              </a:rPr>
              <a:t> </a:t>
            </a:r>
            <a:endParaRPr lang="en-US" alt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1488"/>
              </a:lnSpc>
              <a:spcBef>
                <a:spcPts val="1625"/>
              </a:spcBef>
              <a:buClr>
                <a:srgbClr val="006498"/>
              </a:buClr>
              <a:buSzPct val="61000"/>
              <a:buFont typeface="Wingdings" panose="05000000000000000000" pitchFamily="2" charset="2"/>
              <a:buChar char=""/>
            </a:pPr>
            <a:endParaRPr lang="fr-FR" alt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24069" y="1288786"/>
            <a:ext cx="9886122" cy="4562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1625"/>
              </a:spcBef>
              <a:buClr>
                <a:srgbClr val="006498"/>
              </a:buClr>
              <a:buSzPct val="61000"/>
              <a:buFont typeface="Wingdings" panose="05000000000000000000" pitchFamily="2" charset="2"/>
              <a:buChar char=""/>
            </a:pPr>
            <a:r>
              <a:rPr lang="fr-FR" altLang="en-US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Etape 5: </a:t>
            </a:r>
            <a:r>
              <a:rPr lang="fr-FR" altLang="en-US" dirty="0" smtClean="0">
                <a:latin typeface="Segoe UI" panose="020B0502040204020203" pitchFamily="34" charset="0"/>
                <a:cs typeface="Segoe UI" panose="020B0502040204020203" pitchFamily="34" charset="0"/>
              </a:rPr>
              <a:t>Il faut ensuite définir la page principale </a:t>
            </a:r>
            <a:r>
              <a:rPr lang="fr-FR" altLang="en-US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MainPage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8975" y="2024885"/>
            <a:ext cx="6096000" cy="403187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fr-FR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600" dirty="0" smtClean="0">
                <a:solidFill>
                  <a:srgbClr val="A31515"/>
                </a:solidFill>
                <a:latin typeface="Cascadia Mono" panose="020B0609020000020004" pitchFamily="49" charset="0"/>
              </a:rPr>
              <a:t>FlyoutPage …</a:t>
            </a:r>
            <a:r>
              <a:rPr lang="fr-FR" sz="16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endParaRPr lang="fr-FR" sz="1600" dirty="0" smtClean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6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 </a:t>
            </a:r>
            <a:r>
              <a:rPr lang="fr-FR" sz="16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6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FlyoutPage.Flyout</a:t>
            </a:r>
            <a:r>
              <a:rPr lang="fr-FR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fr-FR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6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local</a:t>
            </a:r>
            <a:r>
              <a:rPr lang="fr-FR" sz="16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:</a:t>
            </a:r>
            <a:r>
              <a:rPr lang="fr-FR" b="1" dirty="0" err="1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MenuPage</a:t>
            </a:r>
            <a:r>
              <a:rPr lang="fr-FR" sz="1600" dirty="0">
                <a:solidFill>
                  <a:srgbClr val="FF0000"/>
                </a:solidFill>
                <a:latin typeface="Cascadia Mono" panose="020B0609020000020004" pitchFamily="49" charset="0"/>
              </a:rPr>
              <a:t> x</a:t>
            </a:r>
            <a:r>
              <a:rPr lang="fr-FR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:</a:t>
            </a:r>
            <a:r>
              <a:rPr lang="fr-FR" sz="1600" dirty="0">
                <a:solidFill>
                  <a:srgbClr val="FF0000"/>
                </a:solidFill>
                <a:latin typeface="Cascadia Mono" panose="020B0609020000020004" pitchFamily="49" charset="0"/>
              </a:rPr>
              <a:t>Name</a:t>
            </a:r>
            <a:r>
              <a:rPr lang="fr-FR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="menuPage"/&gt;</a:t>
            </a:r>
            <a:endParaRPr lang="fr-FR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fr-FR" sz="16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FlyoutPage.Flyout</a:t>
            </a:r>
            <a:r>
              <a:rPr lang="fr-FR" sz="16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</a:p>
          <a:p>
            <a:endParaRPr lang="fr-FR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&lt;</a:t>
            </a:r>
            <a:r>
              <a:rPr lang="fr-FR" b="1" dirty="0" err="1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FlyoutPage.Detail</a:t>
            </a:r>
            <a:r>
              <a:rPr lang="fr-FR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&gt;</a:t>
            </a:r>
            <a:endParaRPr lang="fr-FR" b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scadia Mono" panose="020B0609020000020004" pitchFamily="49" charset="0"/>
            </a:endParaRPr>
          </a:p>
          <a:p>
            <a:r>
              <a:rPr lang="fr-FR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        </a:t>
            </a:r>
            <a:r>
              <a:rPr lang="fr-FR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&lt;</a:t>
            </a:r>
            <a:r>
              <a:rPr lang="fr-FR" b="1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NavigationPage</a:t>
            </a:r>
            <a:r>
              <a:rPr lang="fr-FR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&gt;</a:t>
            </a:r>
            <a:endParaRPr lang="fr-FR" b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scadia Mono" panose="020B0609020000020004" pitchFamily="49" charset="0"/>
            </a:endParaRPr>
          </a:p>
          <a:p>
            <a:r>
              <a:rPr lang="fr-FR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            </a:t>
            </a:r>
            <a:r>
              <a:rPr lang="fr-FR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&lt;</a:t>
            </a:r>
            <a:r>
              <a:rPr lang="fr-FR" b="1" dirty="0" err="1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x</a:t>
            </a:r>
            <a:r>
              <a:rPr lang="fr-FR" b="1" dirty="0" err="1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:</a:t>
            </a:r>
            <a:r>
              <a:rPr lang="fr-FR" b="1" dirty="0" err="1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Arguments</a:t>
            </a:r>
            <a:r>
              <a:rPr lang="fr-FR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&gt;</a:t>
            </a:r>
            <a:endParaRPr lang="fr-FR" b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scadia Mono" panose="020B0609020000020004" pitchFamily="49" charset="0"/>
            </a:endParaRPr>
          </a:p>
          <a:p>
            <a:r>
              <a:rPr lang="fr-FR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                </a:t>
            </a:r>
            <a:r>
              <a:rPr lang="fr-FR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&lt;</a:t>
            </a:r>
            <a:r>
              <a:rPr lang="fr-FR" b="1" dirty="0" err="1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local</a:t>
            </a:r>
            <a:r>
              <a:rPr lang="fr-FR" b="1" dirty="0" err="1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:</a:t>
            </a:r>
            <a:r>
              <a:rPr lang="fr-FR" b="1" dirty="0" err="1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HomePage</a:t>
            </a:r>
            <a:r>
              <a:rPr lang="fr-FR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 /&gt;</a:t>
            </a:r>
            <a:endParaRPr lang="fr-FR" b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scadia Mono" panose="020B0609020000020004" pitchFamily="49" charset="0"/>
            </a:endParaRPr>
          </a:p>
          <a:p>
            <a:r>
              <a:rPr lang="fr-FR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            </a:t>
            </a:r>
            <a:r>
              <a:rPr lang="fr-FR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&lt;/</a:t>
            </a:r>
            <a:r>
              <a:rPr lang="fr-FR" b="1" dirty="0" err="1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x</a:t>
            </a:r>
            <a:r>
              <a:rPr lang="fr-FR" b="1" dirty="0" err="1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:</a:t>
            </a:r>
            <a:r>
              <a:rPr lang="fr-FR" b="1" dirty="0" err="1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Arguments</a:t>
            </a:r>
            <a:r>
              <a:rPr lang="fr-FR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&gt;</a:t>
            </a:r>
            <a:endParaRPr lang="fr-FR" b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scadia Mono" panose="020B0609020000020004" pitchFamily="49" charset="0"/>
            </a:endParaRPr>
          </a:p>
          <a:p>
            <a:r>
              <a:rPr lang="fr-FR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        </a:t>
            </a:r>
            <a:r>
              <a:rPr lang="fr-FR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&lt;/</a:t>
            </a:r>
            <a:r>
              <a:rPr lang="fr-FR" b="1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NavigationPage</a:t>
            </a:r>
            <a:r>
              <a:rPr lang="fr-FR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&gt;</a:t>
            </a:r>
            <a:endParaRPr lang="fr-FR" b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scadia Mono" panose="020B0609020000020004" pitchFamily="49" charset="0"/>
            </a:endParaRPr>
          </a:p>
          <a:p>
            <a:r>
              <a:rPr lang="fr-FR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    </a:t>
            </a:r>
            <a:r>
              <a:rPr lang="fr-FR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&lt;/</a:t>
            </a:r>
            <a:r>
              <a:rPr lang="fr-FR" b="1" dirty="0" err="1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FlyoutPage.Detail</a:t>
            </a:r>
            <a:r>
              <a:rPr lang="fr-FR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&gt;</a:t>
            </a:r>
            <a:endParaRPr lang="fr-FR" b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scadia Mono" panose="020B0609020000020004" pitchFamily="49" charset="0"/>
            </a:endParaRPr>
          </a:p>
          <a:p>
            <a:endParaRPr lang="fr-FR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fr-FR" sz="1600" dirty="0">
                <a:solidFill>
                  <a:srgbClr val="A31515"/>
                </a:solidFill>
                <a:latin typeface="Cascadia Mono" panose="020B0609020000020004" pitchFamily="49" charset="0"/>
              </a:rPr>
              <a:t>FlyoutPage</a:t>
            </a:r>
            <a:r>
              <a:rPr lang="fr-FR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600" dirty="0"/>
          </a:p>
        </p:txBody>
      </p:sp>
      <p:sp>
        <p:nvSpPr>
          <p:cNvPr id="6" name="Rectangle 5"/>
          <p:cNvSpPr/>
          <p:nvPr/>
        </p:nvSpPr>
        <p:spPr>
          <a:xfrm>
            <a:off x="1235528" y="2556671"/>
            <a:ext cx="5000811" cy="896997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9" name="Connecteur droit avec flèche 8"/>
          <p:cNvCxnSpPr>
            <a:stCxn id="10" idx="1"/>
          </p:cNvCxnSpPr>
          <p:nvPr/>
        </p:nvCxnSpPr>
        <p:spPr>
          <a:xfrm flipH="1">
            <a:off x="4881187" y="2198446"/>
            <a:ext cx="3488732" cy="650009"/>
          </a:xfrm>
          <a:prstGeom prst="straightConnector1">
            <a:avLst/>
          </a:prstGeom>
          <a:ln w="22225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8369919" y="1875280"/>
            <a:ext cx="156901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altLang="en-US" sz="1200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Faire une référence </a:t>
            </a:r>
          </a:p>
          <a:p>
            <a:r>
              <a:rPr lang="fr-FR" sz="1200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vers la page de menu</a:t>
            </a:r>
            <a:endParaRPr lang="fr-FR" sz="1200" b="1" dirty="0"/>
          </a:p>
        </p:txBody>
      </p:sp>
      <p:cxnSp>
        <p:nvCxnSpPr>
          <p:cNvPr id="12" name="Connecteur droit avec flèche 11"/>
          <p:cNvCxnSpPr>
            <a:stCxn id="13" idx="1"/>
          </p:cNvCxnSpPr>
          <p:nvPr/>
        </p:nvCxnSpPr>
        <p:spPr>
          <a:xfrm flipH="1">
            <a:off x="4881187" y="3696891"/>
            <a:ext cx="3488732" cy="742342"/>
          </a:xfrm>
          <a:prstGeom prst="straightConnector1">
            <a:avLst/>
          </a:prstGeom>
          <a:ln w="22225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8369919" y="3466058"/>
            <a:ext cx="156901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altLang="en-US" sz="1200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Définir la page de détails par défaut</a:t>
            </a:r>
            <a:endParaRPr lang="fr-FR" sz="1200" b="1" dirty="0"/>
          </a:p>
        </p:txBody>
      </p:sp>
    </p:spTree>
    <p:extLst>
      <p:ext uri="{BB962C8B-B14F-4D97-AF65-F5344CB8AC3E}">
        <p14:creationId xmlns:p14="http://schemas.microsoft.com/office/powerpoint/2010/main" val="147438443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8"/>
          <p:cNvSpPr txBox="1">
            <a:spLocks noChangeArrowheads="1"/>
          </p:cNvSpPr>
          <p:nvPr/>
        </p:nvSpPr>
        <p:spPr bwMode="auto">
          <a:xfrm>
            <a:off x="251168" y="654170"/>
            <a:ext cx="10311452" cy="7360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1524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579438" indent="-242888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200" u="sng" dirty="0" smtClean="0">
                <a:latin typeface="Segoe UI Symbol" panose="020B0502040204020203" pitchFamily="34" charset="0"/>
              </a:rPr>
              <a:t>Les types de pages MAUI-FlyoutPage-Un exemple pour </a:t>
            </a:r>
            <a:r>
              <a:rPr lang="en-US" altLang="en-US" sz="2200" u="sng" dirty="0" err="1" smtClean="0">
                <a:latin typeface="Segoe UI Symbol" panose="020B0502040204020203" pitchFamily="34" charset="0"/>
              </a:rPr>
              <a:t>mieux</a:t>
            </a:r>
            <a:r>
              <a:rPr lang="en-US" altLang="en-US" sz="2200" u="sng" dirty="0" smtClean="0">
                <a:latin typeface="Segoe UI Symbol" panose="020B0502040204020203" pitchFamily="34" charset="0"/>
              </a:rPr>
              <a:t> </a:t>
            </a:r>
            <a:r>
              <a:rPr lang="en-US" altLang="en-US" sz="2200" u="sng" dirty="0" err="1" smtClean="0">
                <a:latin typeface="Segoe UI Symbol" panose="020B0502040204020203" pitchFamily="34" charset="0"/>
              </a:rPr>
              <a:t>comprendre</a:t>
            </a:r>
            <a:r>
              <a:rPr lang="en-US" altLang="en-US" sz="2200" u="sng" dirty="0" smtClean="0">
                <a:latin typeface="Segoe UI Symbol" panose="020B0502040204020203" pitchFamily="34" charset="0"/>
              </a:rPr>
              <a:t> </a:t>
            </a:r>
            <a:endParaRPr lang="en-US" alt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1488"/>
              </a:lnSpc>
              <a:spcBef>
                <a:spcPts val="1625"/>
              </a:spcBef>
              <a:buClr>
                <a:srgbClr val="006498"/>
              </a:buClr>
              <a:buSzPct val="61000"/>
              <a:buFont typeface="Wingdings" panose="05000000000000000000" pitchFamily="2" charset="2"/>
              <a:buChar char=""/>
            </a:pPr>
            <a:endParaRPr lang="fr-FR" alt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04333" y="1084855"/>
            <a:ext cx="11496023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1625"/>
              </a:spcBef>
              <a:buClr>
                <a:srgbClr val="006498"/>
              </a:buClr>
              <a:buSzPct val="61000"/>
              <a:buFont typeface="Wingdings" panose="05000000000000000000" pitchFamily="2" charset="2"/>
              <a:buChar char=""/>
            </a:pPr>
            <a:r>
              <a:rPr lang="fr-FR" altLang="en-US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Etape 6: </a:t>
            </a:r>
            <a:r>
              <a:rPr lang="fr-FR" altLang="en-US" dirty="0" smtClean="0">
                <a:latin typeface="Segoe UI" panose="020B0502040204020203" pitchFamily="34" charset="0"/>
                <a:cs typeface="Segoe UI" panose="020B0502040204020203" pitchFamily="34" charset="0"/>
              </a:rPr>
              <a:t>Toujours au niveau de la page principale </a:t>
            </a:r>
            <a:r>
              <a:rPr lang="fr-FR" altLang="en-US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MainPage </a:t>
            </a:r>
            <a:r>
              <a:rPr lang="fr-FR" altLang="en-US" dirty="0" smtClean="0">
                <a:latin typeface="Segoe UI" panose="020B0502040204020203" pitchFamily="34" charset="0"/>
                <a:cs typeface="Segoe UI" panose="020B0502040204020203" pitchFamily="34" charset="0"/>
              </a:rPr>
              <a:t>on définit le mécanisme de navigation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061236" y="1696750"/>
            <a:ext cx="6589383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partial</a:t>
            </a:r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900" dirty="0">
                <a:solidFill>
                  <a:srgbClr val="2B91AF"/>
                </a:solidFill>
                <a:latin typeface="Cascadia Mono" panose="020B0609020000020004" pitchFamily="49" charset="0"/>
              </a:rPr>
              <a:t>MainPage</a:t>
            </a:r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: FlyoutPage</a:t>
            </a:r>
          </a:p>
          <a:p>
            <a:r>
              <a:rPr lang="fr-FR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r>
              <a:rPr lang="fr-FR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fr-FR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fr-FR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900" dirty="0">
                <a:solidFill>
                  <a:srgbClr val="2B91AF"/>
                </a:solidFill>
                <a:latin typeface="Cascadia Mono" panose="020B0609020000020004" pitchFamily="49" charset="0"/>
              </a:rPr>
              <a:t>MainPage</a:t>
            </a:r>
            <a:r>
              <a:rPr lang="fr-FR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()</a:t>
            </a:r>
          </a:p>
          <a:p>
            <a:r>
              <a:rPr lang="fr-FR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{</a:t>
            </a:r>
          </a:p>
          <a:p>
            <a:r>
              <a:rPr lang="fr-FR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fr-FR" sz="9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InitializeComponent</a:t>
            </a:r>
            <a:r>
              <a:rPr lang="fr-FR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fr-FR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fr-FR" sz="9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menuPage.collectionView.SelectionChanged</a:t>
            </a:r>
            <a:r>
              <a:rPr lang="fr-FR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+= </a:t>
            </a:r>
            <a:r>
              <a:rPr lang="fr-FR" sz="9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CollectionView_SelectionChanged</a:t>
            </a:r>
            <a:r>
              <a:rPr lang="fr-FR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fr-FR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}</a:t>
            </a:r>
          </a:p>
          <a:p>
            <a:endParaRPr lang="fr-FR" sz="9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private</a:t>
            </a:r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9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CollectionView_SelectionChanged</a:t>
            </a:r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object</a:t>
            </a:r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sender, </a:t>
            </a:r>
            <a:r>
              <a:rPr lang="en-US" sz="9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SelectionChangedEventArgs</a:t>
            </a:r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e)</a:t>
            </a:r>
          </a:p>
          <a:p>
            <a:r>
              <a:rPr lang="fr-FR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{</a:t>
            </a:r>
          </a:p>
          <a:p>
            <a:r>
              <a:rPr lang="fr-FR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fr-FR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fr-FR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item = </a:t>
            </a:r>
            <a:r>
              <a:rPr lang="fr-FR" sz="9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e.CurrentSelection.FirstOrDefault</a:t>
            </a:r>
            <a:r>
              <a:rPr lang="fr-FR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() </a:t>
            </a:r>
            <a:r>
              <a:rPr lang="fr-FR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as</a:t>
            </a:r>
            <a:r>
              <a:rPr lang="fr-FR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9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FlyoutPageItem</a:t>
            </a:r>
            <a:r>
              <a:rPr lang="fr-FR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fr-FR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fr-FR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if</a:t>
            </a:r>
            <a:r>
              <a:rPr lang="fr-FR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(item != </a:t>
            </a:r>
            <a:r>
              <a:rPr lang="fr-FR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null</a:t>
            </a:r>
            <a:r>
              <a:rPr lang="fr-FR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r>
              <a:rPr lang="fr-FR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{</a:t>
            </a:r>
          </a:p>
          <a:p>
            <a:r>
              <a:rPr lang="fr-FR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fr-FR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if</a:t>
            </a:r>
            <a:r>
              <a:rPr lang="fr-FR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(!((</a:t>
            </a:r>
            <a:r>
              <a:rPr lang="fr-FR" sz="9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IFlyoutPageController</a:t>
            </a:r>
            <a:r>
              <a:rPr lang="fr-FR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  <a:r>
              <a:rPr lang="fr-FR" sz="9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this</a:t>
            </a:r>
            <a:r>
              <a:rPr lang="fr-FR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).</a:t>
            </a:r>
            <a:r>
              <a:rPr lang="fr-FR" sz="9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ShouldShowSplitMode</a:t>
            </a:r>
            <a:r>
              <a:rPr lang="fr-FR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r>
              <a:rPr lang="fr-FR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</a:t>
            </a:r>
            <a:r>
              <a:rPr lang="fr-FR" sz="9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IsPresented</a:t>
            </a:r>
            <a:r>
              <a:rPr lang="fr-FR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fr-FR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false</a:t>
            </a:r>
            <a:r>
              <a:rPr lang="fr-FR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fr-FR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fr-FR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switch</a:t>
            </a:r>
            <a:r>
              <a:rPr lang="fr-FR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fr-FR" sz="9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item.Title</a:t>
            </a:r>
            <a:r>
              <a:rPr lang="fr-FR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r>
              <a:rPr lang="fr-FR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{</a:t>
            </a:r>
          </a:p>
          <a:p>
            <a:r>
              <a:rPr lang="fr-FR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</a:t>
            </a:r>
            <a:r>
              <a:rPr lang="fr-FR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case</a:t>
            </a:r>
            <a:r>
              <a:rPr lang="fr-FR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900" dirty="0">
                <a:solidFill>
                  <a:srgbClr val="A31515"/>
                </a:solidFill>
                <a:latin typeface="Cascadia Mono" panose="020B0609020000020004" pitchFamily="49" charset="0"/>
              </a:rPr>
              <a:t>"Home"</a:t>
            </a:r>
            <a:r>
              <a:rPr lang="fr-FR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:</a:t>
            </a:r>
          </a:p>
          <a:p>
            <a:r>
              <a:rPr lang="fr-FR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    </a:t>
            </a:r>
            <a:r>
              <a:rPr lang="fr-FR" sz="9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Detail</a:t>
            </a:r>
            <a:r>
              <a:rPr lang="fr-FR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fr-FR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fr-FR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NavigationPage(</a:t>
            </a:r>
            <a:r>
              <a:rPr lang="fr-FR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fr-FR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HomePage());</a:t>
            </a:r>
          </a:p>
          <a:p>
            <a:r>
              <a:rPr lang="fr-FR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    </a:t>
            </a:r>
            <a:r>
              <a:rPr lang="fr-FR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break</a:t>
            </a:r>
            <a:r>
              <a:rPr lang="fr-FR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fr-FR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</a:t>
            </a:r>
            <a:r>
              <a:rPr lang="fr-FR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case</a:t>
            </a:r>
            <a:r>
              <a:rPr lang="fr-FR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900" dirty="0">
                <a:solidFill>
                  <a:srgbClr val="A31515"/>
                </a:solidFill>
                <a:latin typeface="Cascadia Mono" panose="020B0609020000020004" pitchFamily="49" charset="0"/>
              </a:rPr>
              <a:t>"User"</a:t>
            </a:r>
            <a:r>
              <a:rPr lang="fr-FR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:</a:t>
            </a:r>
          </a:p>
          <a:p>
            <a:r>
              <a:rPr lang="fr-FR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    </a:t>
            </a:r>
            <a:r>
              <a:rPr lang="fr-FR" sz="9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Detail</a:t>
            </a:r>
            <a:r>
              <a:rPr lang="fr-FR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fr-FR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fr-FR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NavigationPage(</a:t>
            </a:r>
            <a:r>
              <a:rPr lang="fr-FR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fr-FR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UserPage());</a:t>
            </a:r>
          </a:p>
          <a:p>
            <a:r>
              <a:rPr lang="fr-FR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    </a:t>
            </a:r>
            <a:r>
              <a:rPr lang="fr-FR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break</a:t>
            </a:r>
            <a:r>
              <a:rPr lang="fr-FR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fr-FR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</a:t>
            </a:r>
            <a:r>
              <a:rPr lang="fr-FR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case</a:t>
            </a:r>
            <a:r>
              <a:rPr lang="fr-FR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900" dirty="0">
                <a:solidFill>
                  <a:srgbClr val="A31515"/>
                </a:solidFill>
                <a:latin typeface="Cascadia Mono" panose="020B0609020000020004" pitchFamily="49" charset="0"/>
              </a:rPr>
              <a:t>"Settings"</a:t>
            </a:r>
            <a:r>
              <a:rPr lang="fr-FR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:</a:t>
            </a:r>
          </a:p>
          <a:p>
            <a:r>
              <a:rPr lang="fr-FR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    </a:t>
            </a:r>
            <a:r>
              <a:rPr lang="fr-FR" sz="9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Detail</a:t>
            </a:r>
            <a:r>
              <a:rPr lang="fr-FR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fr-FR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fr-FR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NavigationPage(</a:t>
            </a:r>
            <a:r>
              <a:rPr lang="fr-FR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fr-FR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SettingsPage());</a:t>
            </a:r>
          </a:p>
          <a:p>
            <a:r>
              <a:rPr lang="fr-FR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    </a:t>
            </a:r>
            <a:r>
              <a:rPr lang="fr-FR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break</a:t>
            </a:r>
            <a:r>
              <a:rPr lang="fr-FR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endParaRPr lang="fr-FR" sz="9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</a:t>
            </a:r>
          </a:p>
          <a:p>
            <a:r>
              <a:rPr lang="fr-FR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}</a:t>
            </a:r>
          </a:p>
          <a:p>
            <a:r>
              <a:rPr lang="fr-FR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}</a:t>
            </a:r>
          </a:p>
          <a:p>
            <a:r>
              <a:rPr lang="fr-FR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}</a:t>
            </a:r>
          </a:p>
          <a:p>
            <a:r>
              <a:rPr lang="fr-FR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  <a:endParaRPr lang="fr-FR" sz="900" dirty="0"/>
          </a:p>
        </p:txBody>
      </p:sp>
    </p:spTree>
    <p:extLst>
      <p:ext uri="{BB962C8B-B14F-4D97-AF65-F5344CB8AC3E}">
        <p14:creationId xmlns:p14="http://schemas.microsoft.com/office/powerpoint/2010/main" val="279847496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8"/>
          <p:cNvSpPr txBox="1">
            <a:spLocks noChangeArrowheads="1"/>
          </p:cNvSpPr>
          <p:nvPr/>
        </p:nvSpPr>
        <p:spPr bwMode="auto">
          <a:xfrm>
            <a:off x="251168" y="654170"/>
            <a:ext cx="10311452" cy="7360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1524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579438" indent="-242888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200" u="sng" dirty="0" smtClean="0">
                <a:latin typeface="Segoe UI Symbol" panose="020B0502040204020203" pitchFamily="34" charset="0"/>
              </a:rPr>
              <a:t>Les types de pages MAUI-FlyoutPage-Un exemple pour </a:t>
            </a:r>
            <a:r>
              <a:rPr lang="fr-FR" altLang="en-US" sz="2200" u="sng" dirty="0" smtClean="0">
                <a:latin typeface="Segoe UI Symbol" panose="020B0502040204020203" pitchFamily="34" charset="0"/>
              </a:rPr>
              <a:t>mieux comprendre </a:t>
            </a:r>
            <a:endParaRPr lang="fr-FR" alt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1488"/>
              </a:lnSpc>
              <a:spcBef>
                <a:spcPts val="1625"/>
              </a:spcBef>
              <a:buClr>
                <a:srgbClr val="006498"/>
              </a:buClr>
              <a:buSzPct val="61000"/>
              <a:buFont typeface="Wingdings" panose="05000000000000000000" pitchFamily="2" charset="2"/>
              <a:buChar char=""/>
            </a:pPr>
            <a:endParaRPr lang="fr-FR" alt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04333" y="1084855"/>
            <a:ext cx="11496023" cy="4562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1625"/>
              </a:spcBef>
              <a:buClr>
                <a:srgbClr val="006498"/>
              </a:buClr>
              <a:buSzPct val="61000"/>
              <a:buFont typeface="Wingdings" panose="05000000000000000000" pitchFamily="2" charset="2"/>
              <a:buChar char=""/>
            </a:pPr>
            <a:r>
              <a:rPr lang="fr-FR" altLang="en-US" dirty="0" smtClean="0">
                <a:latin typeface="Segoe UI" panose="020B0502040204020203" pitchFamily="34" charset="0"/>
                <a:cs typeface="Segoe UI" panose="020B0502040204020203" pitchFamily="34" charset="0"/>
              </a:rPr>
              <a:t>Le gestionnaire des événements permet de lancer le contenu qui correspond à la </a:t>
            </a:r>
            <a:r>
              <a:rPr lang="fr-FR" altLang="en-US" dirty="0" err="1" smtClean="0">
                <a:latin typeface="Segoe UI" panose="020B0502040204020203" pitchFamily="34" charset="0"/>
                <a:cs typeface="Segoe UI" panose="020B0502040204020203" pitchFamily="34" charset="0"/>
              </a:rPr>
              <a:t>séléction</a:t>
            </a:r>
            <a:endParaRPr lang="fr-FR" altLang="en-US" dirty="0" smtClean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57385" y="1689384"/>
            <a:ext cx="8569487" cy="43396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private</a:t>
            </a:r>
            <a:r>
              <a:rPr lang="en-US" sz="12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CollectionView_SelectionChanged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object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sender, 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SelectionChangedEventArgs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e)</a:t>
            </a:r>
          </a:p>
          <a:p>
            <a:r>
              <a:rPr lang="fr-FR" sz="12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fr-FR" sz="12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fr-FR" sz="12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fr-FR" sz="12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item = </a:t>
            </a:r>
            <a:r>
              <a:rPr lang="fr-FR" sz="120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e.CurrentSelection.FirstOrDefault</a:t>
            </a:r>
            <a:r>
              <a:rPr lang="fr-FR" sz="12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() </a:t>
            </a:r>
            <a:r>
              <a:rPr lang="fr-FR" sz="12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as</a:t>
            </a:r>
            <a:r>
              <a:rPr lang="fr-FR" sz="12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20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FlyoutPageItem</a:t>
            </a:r>
            <a:r>
              <a:rPr lang="fr-FR" sz="12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fr-FR" sz="12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fr-FR" sz="12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if</a:t>
            </a:r>
            <a:r>
              <a:rPr lang="fr-FR" sz="12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(item != 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null</a:t>
            </a:r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2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if</a:t>
            </a:r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(!((</a:t>
            </a:r>
            <a:r>
              <a:rPr lang="fr-FR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IFlyoutPageController</a:t>
            </a:r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  <a:r>
              <a:rPr lang="fr-FR" sz="12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this</a:t>
            </a:r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).</a:t>
            </a:r>
            <a:r>
              <a:rPr lang="fr-FR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ShouldShowSplitMode</a:t>
            </a:r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</a:t>
            </a:r>
            <a:r>
              <a:rPr lang="fr-FR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IsPresented</a:t>
            </a:r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false</a:t>
            </a:r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switch</a:t>
            </a:r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fr-FR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item.Title</a:t>
            </a:r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{</a:t>
            </a:r>
          </a:p>
          <a:p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case</a:t>
            </a:r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200" dirty="0">
                <a:solidFill>
                  <a:srgbClr val="A31515"/>
                </a:solidFill>
                <a:latin typeface="Cascadia Mono" panose="020B0609020000020004" pitchFamily="49" charset="0"/>
              </a:rPr>
              <a:t>"Home"</a:t>
            </a:r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:</a:t>
            </a:r>
          </a:p>
          <a:p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    </a:t>
            </a:r>
            <a:r>
              <a:rPr lang="fr-FR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Detail</a:t>
            </a:r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NavigationPage(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HomePage());</a:t>
            </a:r>
          </a:p>
          <a:p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    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break</a:t>
            </a:r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case</a:t>
            </a:r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200" dirty="0">
                <a:solidFill>
                  <a:srgbClr val="A31515"/>
                </a:solidFill>
                <a:latin typeface="Cascadia Mono" panose="020B0609020000020004" pitchFamily="49" charset="0"/>
              </a:rPr>
              <a:t>"User"</a:t>
            </a:r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:</a:t>
            </a:r>
          </a:p>
          <a:p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    </a:t>
            </a:r>
            <a:r>
              <a:rPr lang="fr-FR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Detail</a:t>
            </a:r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NavigationPage(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UserPage());</a:t>
            </a:r>
          </a:p>
          <a:p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    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break</a:t>
            </a:r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case</a:t>
            </a:r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200" dirty="0">
                <a:solidFill>
                  <a:srgbClr val="A31515"/>
                </a:solidFill>
                <a:latin typeface="Cascadia Mono" panose="020B0609020000020004" pitchFamily="49" charset="0"/>
              </a:rPr>
              <a:t>"Settings"</a:t>
            </a:r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:</a:t>
            </a:r>
          </a:p>
          <a:p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    </a:t>
            </a:r>
            <a:r>
              <a:rPr lang="fr-FR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Detail</a:t>
            </a:r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NavigationPage(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SettingsPage());</a:t>
            </a:r>
          </a:p>
          <a:p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    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break</a:t>
            </a:r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endParaRPr lang="fr-FR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</a:t>
            </a:r>
          </a:p>
          <a:p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}</a:t>
            </a:r>
          </a:p>
          <a:p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fr-FR" sz="12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</a:p>
          <a:p>
            <a:r>
              <a:rPr lang="fr-FR" sz="12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fr-FR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156125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8"/>
          <p:cNvSpPr txBox="1">
            <a:spLocks noChangeArrowheads="1"/>
          </p:cNvSpPr>
          <p:nvPr/>
        </p:nvSpPr>
        <p:spPr bwMode="auto">
          <a:xfrm>
            <a:off x="251168" y="617099"/>
            <a:ext cx="10311452" cy="7402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1524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579438" indent="-242888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200" u="sng" dirty="0" smtClean="0">
                <a:latin typeface="Segoe UI Symbol" panose="020B0502040204020203" pitchFamily="34" charset="0"/>
              </a:rPr>
              <a:t>Les types de pages MAUI-</a:t>
            </a:r>
            <a:r>
              <a:rPr lang="en-US" altLang="en-US" sz="2200" u="sng" dirty="0" err="1" smtClean="0">
                <a:latin typeface="Segoe UI Symbol" panose="020B0502040204020203" pitchFamily="34" charset="0"/>
              </a:rPr>
              <a:t>TabbedPage</a:t>
            </a:r>
            <a:r>
              <a:rPr lang="en-US" altLang="en-US" sz="2200" u="sng" dirty="0" smtClean="0">
                <a:latin typeface="Segoe UI Symbol" panose="020B0502040204020203" pitchFamily="34" charset="0"/>
              </a:rPr>
              <a:t> </a:t>
            </a:r>
            <a:endParaRPr lang="en-US" alt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1488"/>
              </a:lnSpc>
              <a:spcBef>
                <a:spcPts val="1625"/>
              </a:spcBef>
              <a:buClr>
                <a:srgbClr val="006498"/>
              </a:buClr>
              <a:buSzPct val="61000"/>
              <a:buFont typeface="Wingdings" panose="05000000000000000000" pitchFamily="2" charset="2"/>
              <a:buChar char=""/>
            </a:pPr>
            <a:r>
              <a:rPr lang="fr-FR" altLang="en-US" dirty="0" smtClean="0">
                <a:latin typeface="Segoe UI" panose="020B0502040204020203" pitchFamily="34" charset="0"/>
                <a:cs typeface="Segoe UI" panose="020B0502040204020203" pitchFamily="34" charset="0"/>
              </a:rPr>
              <a:t>Il y a </a:t>
            </a:r>
            <a:r>
              <a:rPr lang="fr-FR" altLang="en-US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fr-FR" altLang="en-US" dirty="0" smtClean="0">
                <a:latin typeface="Segoe UI" panose="020B0502040204020203" pitchFamily="34" charset="0"/>
                <a:cs typeface="Segoe UI" panose="020B0502040204020203" pitchFamily="34" charset="0"/>
              </a:rPr>
              <a:t>quatre types de pages MAUI</a:t>
            </a:r>
            <a:endParaRPr lang="en-US" alt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2" descr=".NET MAUI TabbedPage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5816" y="1601501"/>
            <a:ext cx="5003283" cy="19630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497786" y="3808672"/>
            <a:ext cx="9233159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smtClean="0">
                <a:latin typeface="Segoe UI" panose="020B0502040204020203" pitchFamily="34" charset="0"/>
              </a:rPr>
              <a:t>La page </a:t>
            </a:r>
            <a:r>
              <a:rPr lang="fr-FR" b="1" dirty="0" err="1" smtClean="0">
                <a:latin typeface="Segoe UI" panose="020B0502040204020203" pitchFamily="34" charset="0"/>
              </a:rPr>
              <a:t>TabbedPage</a:t>
            </a:r>
            <a:r>
              <a:rPr lang="fr-FR" dirty="0">
                <a:solidFill>
                  <a:srgbClr val="161616"/>
                </a:solidFill>
                <a:latin typeface="Segoe UI" panose="020B0502040204020203" pitchFamily="34" charset="0"/>
              </a:rPr>
              <a:t> gère une collection d’enfants de type </a:t>
            </a:r>
            <a:r>
              <a:rPr lang="fr-FR" dirty="0" smtClean="0">
                <a:latin typeface="Segoe UI" panose="020B0502040204020203" pitchFamily="34" charset="0"/>
              </a:rPr>
              <a:t>Page</a:t>
            </a:r>
            <a:r>
              <a:rPr lang="fr-FR" dirty="0" smtClean="0">
                <a:solidFill>
                  <a:srgbClr val="161616"/>
                </a:solidFill>
                <a:latin typeface="Segoe UI" panose="020B0502040204020203" pitchFamily="34" charset="0"/>
              </a:rPr>
              <a:t> </a:t>
            </a:r>
            <a:r>
              <a:rPr lang="fr-FR" dirty="0">
                <a:solidFill>
                  <a:srgbClr val="161616"/>
                </a:solidFill>
                <a:latin typeface="Segoe UI" panose="020B0502040204020203" pitchFamily="34" charset="0"/>
              </a:rPr>
              <a:t>dont un seul est entièrement visible à la </a:t>
            </a:r>
            <a:r>
              <a:rPr lang="fr-FR" dirty="0" smtClean="0">
                <a:solidFill>
                  <a:srgbClr val="161616"/>
                </a:solidFill>
                <a:latin typeface="Segoe UI" panose="020B0502040204020203" pitchFamily="34" charset="0"/>
              </a:rPr>
              <a:t>fois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>
              <a:solidFill>
                <a:srgbClr val="161616"/>
              </a:solidFill>
              <a:latin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C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haque 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enfant est un </a:t>
            </a:r>
            <a:r>
              <a:rPr lang="fr-FR" b="1" dirty="0">
                <a:latin typeface="Segoe UI" panose="020B0502040204020203" pitchFamily="34" charset="0"/>
                <a:cs typeface="Segoe UI" panose="020B0502040204020203" pitchFamily="34" charset="0"/>
              </a:rPr>
              <a:t>ContentPage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 et lorsque son onglet est sélectionné, le contenu de la page 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s’affiche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La page de type</a:t>
            </a:r>
            <a:r>
              <a:rPr lang="fr-FR" b="1" dirty="0">
                <a:latin typeface="Segoe UI" panose="020B0502040204020203" pitchFamily="34" charset="0"/>
                <a:cs typeface="Segoe UI" panose="020B0502040204020203" pitchFamily="34" charset="0"/>
              </a:rPr>
              <a:t> NavigationPage 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 n’est pas compatible avec Shell, une exception sera levée si vous tentez d’utiliser </a:t>
            </a:r>
            <a:r>
              <a:rPr lang="fr-FR" b="1" dirty="0">
                <a:latin typeface="Segoe UI" panose="020B0502040204020203" pitchFamily="34" charset="0"/>
                <a:cs typeface="Segoe UI" panose="020B0502040204020203" pitchFamily="34" charset="0"/>
              </a:rPr>
              <a:t> NavigationPage 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 dans une application 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Shell</a:t>
            </a:r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553058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8"/>
          <p:cNvSpPr txBox="1">
            <a:spLocks noChangeArrowheads="1"/>
          </p:cNvSpPr>
          <p:nvPr/>
        </p:nvSpPr>
        <p:spPr bwMode="auto">
          <a:xfrm>
            <a:off x="251168" y="617099"/>
            <a:ext cx="10311452" cy="7402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1524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579438" indent="-242888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200" u="sng" dirty="0" smtClean="0">
                <a:latin typeface="Segoe UI Symbol" panose="020B0502040204020203" pitchFamily="34" charset="0"/>
              </a:rPr>
              <a:t>Les types de pages MAUI-Exemple </a:t>
            </a:r>
            <a:endParaRPr lang="en-US" alt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1488"/>
              </a:lnSpc>
              <a:spcBef>
                <a:spcPts val="1625"/>
              </a:spcBef>
              <a:buClr>
                <a:srgbClr val="006498"/>
              </a:buClr>
              <a:buSzPct val="61000"/>
              <a:buFont typeface="Wingdings" panose="05000000000000000000" pitchFamily="2" charset="2"/>
              <a:buChar char=""/>
            </a:pPr>
            <a:r>
              <a:rPr lang="fr-FR" altLang="en-US" dirty="0" smtClean="0">
                <a:latin typeface="Segoe UI" panose="020B0502040204020203" pitchFamily="34" charset="0"/>
                <a:cs typeface="Segoe UI" panose="020B0502040204020203" pitchFamily="34" charset="0"/>
              </a:rPr>
              <a:t>Voici à présent un exemple de </a:t>
            </a:r>
            <a:r>
              <a:rPr lang="fr-FR" altLang="en-US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TabbedPage</a:t>
            </a:r>
            <a:endParaRPr lang="en-US" altLang="en-US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81849" y="1509775"/>
            <a:ext cx="8706034" cy="46474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&lt;?xml version="1.0" </a:t>
            </a:r>
            <a:r>
              <a:rPr lang="fr-FR" sz="16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encoding</a:t>
            </a:r>
            <a:r>
              <a:rPr lang="fr-FR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="utf-8" ?&gt;</a:t>
            </a:r>
            <a:endParaRPr lang="fr-FR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600" dirty="0">
                <a:solidFill>
                  <a:srgbClr val="A31515"/>
                </a:solidFill>
                <a:latin typeface="Cascadia Mono" panose="020B0609020000020004" pitchFamily="49" charset="0"/>
              </a:rPr>
              <a:t>TabbedPage</a:t>
            </a:r>
            <a:r>
              <a:rPr lang="fr-FR" sz="16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sz="1600" dirty="0" smtClean="0">
                <a:solidFill>
                  <a:srgbClr val="FF0000"/>
                </a:solidFill>
                <a:latin typeface="Cascadia Mono" panose="020B0609020000020004" pitchFamily="49" charset="0"/>
              </a:rPr>
              <a:t>…</a:t>
            </a:r>
            <a:endParaRPr lang="fr-FR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fr-FR" sz="16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sz="16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SelectedTabColor</a:t>
            </a:r>
            <a:r>
              <a:rPr lang="fr-FR" sz="1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="Red"</a:t>
            </a:r>
            <a:endParaRPr lang="fr-FR" sz="1600" b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scadia Mono" panose="020B0609020000020004" pitchFamily="49" charset="0"/>
            </a:endParaRPr>
          </a:p>
          <a:p>
            <a:r>
              <a:rPr lang="fr-FR" sz="1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            </a:t>
            </a:r>
            <a:r>
              <a:rPr lang="fr-FR" sz="1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 </a:t>
            </a:r>
            <a:r>
              <a:rPr lang="fr-FR" sz="16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UnselectedTabColor</a:t>
            </a:r>
            <a:r>
              <a:rPr lang="fr-FR" sz="1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="Gray"</a:t>
            </a:r>
            <a:endParaRPr lang="fr-FR" sz="1600" b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scadia Mono" panose="020B0609020000020004" pitchFamily="49" charset="0"/>
            </a:endParaRPr>
          </a:p>
          <a:p>
            <a:r>
              <a:rPr lang="fr-FR" sz="1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            </a:t>
            </a:r>
            <a:r>
              <a:rPr lang="fr-FR" sz="1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 </a:t>
            </a:r>
            <a:r>
              <a:rPr lang="fr-FR" sz="16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BackgroundColor</a:t>
            </a:r>
            <a:r>
              <a:rPr lang="fr-FR" sz="1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="Yellow"</a:t>
            </a:r>
            <a:endParaRPr lang="fr-FR" sz="1600" b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scadia Mono" panose="020B0609020000020004" pitchFamily="49" charset="0"/>
            </a:endParaRPr>
          </a:p>
          <a:p>
            <a:r>
              <a:rPr lang="fr-FR" sz="1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            </a:t>
            </a:r>
            <a:r>
              <a:rPr lang="fr-FR" sz="1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 </a:t>
            </a:r>
            <a:r>
              <a:rPr lang="fr-FR" sz="16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BarTextColor</a:t>
            </a:r>
            <a:r>
              <a:rPr lang="fr-FR" sz="1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="Blue"</a:t>
            </a:r>
            <a:endParaRPr lang="fr-FR" sz="1600" b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scadia Mono" panose="020B0609020000020004" pitchFamily="49" charset="0"/>
            </a:endParaRPr>
          </a:p>
          <a:p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fr-FR" sz="1600" dirty="0">
                <a:solidFill>
                  <a:srgbClr val="FF0000"/>
                </a:solidFill>
                <a:latin typeface="Cascadia Mono" panose="020B0609020000020004" pitchFamily="49" charset="0"/>
              </a:rPr>
              <a:t> x</a:t>
            </a:r>
            <a:r>
              <a:rPr lang="fr-FR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:</a:t>
            </a:r>
            <a:r>
              <a:rPr lang="fr-FR" sz="1600" dirty="0">
                <a:solidFill>
                  <a:srgbClr val="FF0000"/>
                </a:solidFill>
                <a:latin typeface="Cascadia Mono" panose="020B0609020000020004" pitchFamily="49" charset="0"/>
              </a:rPr>
              <a:t>Class</a:t>
            </a:r>
            <a:r>
              <a:rPr lang="fr-FR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="TabbedPageProject.MainPage"&gt;</a:t>
            </a:r>
            <a:endParaRPr lang="fr-FR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endParaRPr lang="fr-FR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600" dirty="0">
                <a:solidFill>
                  <a:srgbClr val="A31515"/>
                </a:solidFill>
                <a:latin typeface="Cascadia Mono" panose="020B0609020000020004" pitchFamily="49" charset="0"/>
              </a:rPr>
              <a:t>ContentPage</a:t>
            </a:r>
            <a:r>
              <a:rPr lang="en-US" sz="16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Title</a:t>
            </a:r>
            <a:r>
              <a:rPr lang="en-US" sz="1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="Home"</a:t>
            </a:r>
            <a:r>
              <a:rPr lang="en-US" sz="1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 </a:t>
            </a:r>
            <a:r>
              <a:rPr lang="en-US" sz="16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IconImageSource</a:t>
            </a:r>
            <a:r>
              <a:rPr lang="en-US" sz="1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="home.png"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en-US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fr-FR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600" dirty="0">
                <a:solidFill>
                  <a:srgbClr val="A31515"/>
                </a:solidFill>
                <a:latin typeface="Cascadia Mono" panose="020B0609020000020004" pitchFamily="49" charset="0"/>
              </a:rPr>
              <a:t>Label</a:t>
            </a:r>
            <a:r>
              <a:rPr lang="fr-FR" sz="1600" dirty="0">
                <a:solidFill>
                  <a:srgbClr val="FF0000"/>
                </a:solidFill>
                <a:latin typeface="Cascadia Mono" panose="020B0609020000020004" pitchFamily="49" charset="0"/>
              </a:rPr>
              <a:t> Text</a:t>
            </a:r>
            <a:r>
              <a:rPr lang="fr-FR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="Le contenu de la page d'</a:t>
            </a:r>
            <a:r>
              <a:rPr lang="fr-FR" sz="16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acceuil</a:t>
            </a:r>
            <a:r>
              <a:rPr lang="fr-FR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"/&gt;</a:t>
            </a:r>
            <a:endParaRPr lang="fr-FR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fr-FR" sz="1600" dirty="0">
                <a:solidFill>
                  <a:srgbClr val="A31515"/>
                </a:solidFill>
                <a:latin typeface="Cascadia Mono" panose="020B0609020000020004" pitchFamily="49" charset="0"/>
              </a:rPr>
              <a:t>ContentPage</a:t>
            </a:r>
            <a:r>
              <a:rPr lang="fr-FR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600" dirty="0">
                <a:solidFill>
                  <a:srgbClr val="A31515"/>
                </a:solidFill>
                <a:latin typeface="Cascadia Mono" panose="020B0609020000020004" pitchFamily="49" charset="0"/>
              </a:rPr>
              <a:t>ContentPage</a:t>
            </a:r>
            <a:r>
              <a:rPr lang="fr-FR" sz="16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sz="16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Title</a:t>
            </a:r>
            <a:r>
              <a:rPr lang="fr-FR" sz="1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="User"</a:t>
            </a:r>
            <a:r>
              <a:rPr lang="fr-FR" sz="1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 </a:t>
            </a:r>
            <a:r>
              <a:rPr lang="fr-FR" sz="16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IconImageSource</a:t>
            </a:r>
            <a:r>
              <a:rPr lang="fr-FR" sz="1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="user.png"</a:t>
            </a:r>
            <a:r>
              <a:rPr lang="fr-FR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fr-FR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600" dirty="0">
                <a:solidFill>
                  <a:srgbClr val="A31515"/>
                </a:solidFill>
                <a:latin typeface="Cascadia Mono" panose="020B0609020000020004" pitchFamily="49" charset="0"/>
              </a:rPr>
              <a:t>Label</a:t>
            </a:r>
            <a:r>
              <a:rPr lang="fr-FR" sz="1600" dirty="0">
                <a:solidFill>
                  <a:srgbClr val="FF0000"/>
                </a:solidFill>
                <a:latin typeface="Cascadia Mono" panose="020B0609020000020004" pitchFamily="49" charset="0"/>
              </a:rPr>
              <a:t> Text</a:t>
            </a:r>
            <a:r>
              <a:rPr lang="fr-FR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="Le contenu de la page user"/&gt;</a:t>
            </a:r>
            <a:endParaRPr lang="fr-FR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fr-FR" sz="1600" dirty="0">
                <a:solidFill>
                  <a:srgbClr val="A31515"/>
                </a:solidFill>
                <a:latin typeface="Cascadia Mono" panose="020B0609020000020004" pitchFamily="49" charset="0"/>
              </a:rPr>
              <a:t>ContentPage</a:t>
            </a:r>
            <a:r>
              <a:rPr lang="fr-FR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600" dirty="0">
                <a:solidFill>
                  <a:srgbClr val="A31515"/>
                </a:solidFill>
                <a:latin typeface="Cascadia Mono" panose="020B0609020000020004" pitchFamily="49" charset="0"/>
              </a:rPr>
              <a:t>ContentPage</a:t>
            </a:r>
            <a:r>
              <a:rPr lang="en-US" sz="16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Title</a:t>
            </a:r>
            <a:r>
              <a:rPr lang="en-US" sz="1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="Settings"</a:t>
            </a:r>
            <a:r>
              <a:rPr lang="en-US" sz="1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 </a:t>
            </a:r>
            <a:r>
              <a:rPr lang="en-US" sz="16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IconImageSource</a:t>
            </a:r>
            <a:r>
              <a:rPr lang="en-US" sz="1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="settings.png"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en-US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fr-FR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600" dirty="0">
                <a:solidFill>
                  <a:srgbClr val="A31515"/>
                </a:solidFill>
                <a:latin typeface="Cascadia Mono" panose="020B0609020000020004" pitchFamily="49" charset="0"/>
              </a:rPr>
              <a:t>Label</a:t>
            </a:r>
            <a:r>
              <a:rPr lang="fr-FR" sz="1600" dirty="0">
                <a:solidFill>
                  <a:srgbClr val="FF0000"/>
                </a:solidFill>
                <a:latin typeface="Cascadia Mono" panose="020B0609020000020004" pitchFamily="49" charset="0"/>
              </a:rPr>
              <a:t> Text</a:t>
            </a:r>
            <a:r>
              <a:rPr lang="fr-FR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="Le contenu de la page des paramètres"/&gt;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</a:t>
            </a:r>
          </a:p>
          <a:p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fr-FR" sz="1600" dirty="0">
                <a:solidFill>
                  <a:srgbClr val="A31515"/>
                </a:solidFill>
                <a:latin typeface="Cascadia Mono" panose="020B0609020000020004" pitchFamily="49" charset="0"/>
              </a:rPr>
              <a:t>ContentPage</a:t>
            </a:r>
            <a:r>
              <a:rPr lang="fr-FR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fr-FR" sz="1600" dirty="0">
                <a:solidFill>
                  <a:srgbClr val="A31515"/>
                </a:solidFill>
                <a:latin typeface="Cascadia Mono" panose="020B0609020000020004" pitchFamily="49" charset="0"/>
              </a:rPr>
              <a:t>TabbedPage</a:t>
            </a:r>
            <a:r>
              <a:rPr lang="fr-FR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39886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8"/>
          <p:cNvSpPr txBox="1">
            <a:spLocks noChangeArrowheads="1"/>
          </p:cNvSpPr>
          <p:nvPr/>
        </p:nvSpPr>
        <p:spPr bwMode="auto">
          <a:xfrm>
            <a:off x="251167" y="617099"/>
            <a:ext cx="11580373" cy="10746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1524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579438" indent="-242888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en-US" sz="2200" u="sng" dirty="0" smtClean="0">
                <a:latin typeface="Segoe UI Symbol" panose="020B0502040204020203" pitchFamily="34" charset="0"/>
              </a:rPr>
              <a:t>Injection de service directement au niveau d’une page </a:t>
            </a:r>
          </a:p>
          <a:p>
            <a:pPr eaLnBrk="1" hangingPunct="1"/>
            <a:endParaRPr lang="en-US" alt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1488"/>
              </a:lnSpc>
              <a:spcBef>
                <a:spcPts val="1625"/>
              </a:spcBef>
              <a:buClr>
                <a:srgbClr val="006498"/>
              </a:buClr>
              <a:buSzPct val="61000"/>
              <a:buFont typeface="Wingdings" panose="05000000000000000000" pitchFamily="2" charset="2"/>
              <a:buChar char=""/>
            </a:pPr>
            <a:r>
              <a:rPr lang="fr-FR" altLang="en-US" dirty="0" smtClean="0">
                <a:latin typeface="Segoe UI" panose="020B0502040204020203" pitchFamily="34" charset="0"/>
                <a:cs typeface="Segoe UI" panose="020B0502040204020203" pitchFamily="34" charset="0"/>
              </a:rPr>
              <a:t> L’inversion de contrôle se fait au niveau de la classe App tout d’abord pour rendre le service disponible </a:t>
            </a:r>
            <a:endParaRPr lang="en-US" altLang="en-US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65975" y="1967331"/>
            <a:ext cx="938621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public partial class App : Application</a:t>
            </a:r>
          </a:p>
          <a:p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   public static </a:t>
            </a:r>
            <a:r>
              <a:rPr lang="en-US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IServiceProvider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Services { get; private set; }</a:t>
            </a:r>
          </a:p>
          <a:p>
            <a:endParaRPr lang="en-US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      </a:t>
            </a:r>
          </a:p>
          <a:p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   public App(</a:t>
            </a:r>
            <a:r>
              <a:rPr lang="en-US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IServiceProvider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services)</a:t>
            </a:r>
          </a:p>
          <a:p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InitializeComponent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MainPage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= new </a:t>
            </a:r>
            <a:r>
              <a:rPr lang="en-US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AppShell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       Services = services;</a:t>
            </a:r>
          </a:p>
          <a:p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</a:p>
          <a:p>
            <a:r>
              <a:rPr lang="fr-FR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12312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8"/>
          <p:cNvSpPr txBox="1">
            <a:spLocks noChangeArrowheads="1"/>
          </p:cNvSpPr>
          <p:nvPr/>
        </p:nvSpPr>
        <p:spPr bwMode="auto">
          <a:xfrm>
            <a:off x="251167" y="617099"/>
            <a:ext cx="11580373" cy="10746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1524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579438" indent="-242888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en-US" sz="2200" u="sng" dirty="0" smtClean="0">
                <a:latin typeface="Segoe UI Symbol" panose="020B0502040204020203" pitchFamily="34" charset="0"/>
              </a:rPr>
              <a:t>Injection de service directement au niveau d’une page </a:t>
            </a:r>
          </a:p>
          <a:p>
            <a:pPr eaLnBrk="1" hangingPunct="1"/>
            <a:endParaRPr lang="en-US" alt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1488"/>
              </a:lnSpc>
              <a:spcBef>
                <a:spcPts val="1625"/>
              </a:spcBef>
              <a:buClr>
                <a:srgbClr val="006498"/>
              </a:buClr>
              <a:buSzPct val="61000"/>
              <a:buFont typeface="Wingdings" panose="05000000000000000000" pitchFamily="2" charset="2"/>
              <a:buChar char=""/>
            </a:pPr>
            <a:r>
              <a:rPr lang="fr-FR" altLang="en-US" dirty="0" smtClean="0">
                <a:latin typeface="Segoe UI" panose="020B0502040204020203" pitchFamily="34" charset="0"/>
                <a:cs typeface="Segoe UI" panose="020B0502040204020203" pitchFamily="34" charset="0"/>
              </a:rPr>
              <a:t> Il faut commencer par définir le service sous forme d’interface et classe</a:t>
            </a:r>
            <a:endParaRPr lang="en-US" altLang="en-US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62608" y="1895769"/>
            <a:ext cx="6096000" cy="341632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public interface </a:t>
            </a:r>
            <a:r>
              <a:rPr lang="en-US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IService</a:t>
            </a:r>
            <a:endParaRPr lang="en-US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   void </a:t>
            </a:r>
            <a:r>
              <a:rPr lang="en-US" dirty="0" err="1">
                <a:solidFill>
                  <a:srgbClr val="000000"/>
                </a:solidFill>
                <a:latin typeface="Cascadia Mono" panose="020B0609020000020004" pitchFamily="49" charset="0"/>
              </a:rPr>
              <a:t>Fonction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</a:p>
          <a:p>
            <a:endParaRPr lang="en-US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public class Service : </a:t>
            </a:r>
            <a:r>
              <a:rPr lang="en-US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IService</a:t>
            </a:r>
            <a:endParaRPr lang="en-US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   public void </a:t>
            </a:r>
            <a:r>
              <a:rPr lang="en-US" dirty="0" err="1">
                <a:solidFill>
                  <a:srgbClr val="000000"/>
                </a:solidFill>
                <a:latin typeface="Cascadia Mono" panose="020B0609020000020004" pitchFamily="49" charset="0"/>
              </a:rPr>
              <a:t>Fonction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()</a:t>
            </a:r>
          </a:p>
          <a:p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      //</a:t>
            </a:r>
            <a:r>
              <a:rPr lang="en-US" dirty="0" err="1">
                <a:solidFill>
                  <a:srgbClr val="000000"/>
                </a:solidFill>
                <a:latin typeface="Cascadia Mono" panose="020B0609020000020004" pitchFamily="49" charset="0"/>
              </a:rPr>
              <a:t>Definir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la </a:t>
            </a:r>
            <a:r>
              <a:rPr lang="en-US" dirty="0" err="1">
                <a:solidFill>
                  <a:srgbClr val="000000"/>
                </a:solidFill>
                <a:latin typeface="Cascadia Mono" panose="020B0609020000020004" pitchFamily="49" charset="0"/>
              </a:rPr>
              <a:t>fonctionalité</a:t>
            </a:r>
            <a:endParaRPr lang="en-US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28925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8"/>
          <p:cNvSpPr txBox="1">
            <a:spLocks noChangeArrowheads="1"/>
          </p:cNvSpPr>
          <p:nvPr/>
        </p:nvSpPr>
        <p:spPr bwMode="auto">
          <a:xfrm>
            <a:off x="251167" y="617099"/>
            <a:ext cx="11580373" cy="10746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1524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579438" indent="-242888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en-US" sz="2200" u="sng" dirty="0" smtClean="0">
                <a:latin typeface="Segoe UI Symbol" panose="020B0502040204020203" pitchFamily="34" charset="0"/>
              </a:rPr>
              <a:t>Injection de service directement au niveau d’une page </a:t>
            </a:r>
          </a:p>
          <a:p>
            <a:pPr eaLnBrk="1" hangingPunct="1"/>
            <a:endParaRPr lang="en-US" alt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1488"/>
              </a:lnSpc>
              <a:spcBef>
                <a:spcPts val="1625"/>
              </a:spcBef>
              <a:buClr>
                <a:srgbClr val="006498"/>
              </a:buClr>
              <a:buSzPct val="61000"/>
              <a:buFont typeface="Wingdings" panose="05000000000000000000" pitchFamily="2" charset="2"/>
              <a:buChar char=""/>
            </a:pPr>
            <a:r>
              <a:rPr lang="fr-FR" altLang="en-US" dirty="0" smtClean="0">
                <a:latin typeface="Segoe UI" panose="020B0502040204020203" pitchFamily="34" charset="0"/>
                <a:cs typeface="Segoe UI" panose="020B0502040204020203" pitchFamily="34" charset="0"/>
              </a:rPr>
              <a:t> Ensuite, il faut instancier le service avec un cycle de vie Singleton au niveau de la classe </a:t>
            </a:r>
            <a:r>
              <a:rPr lang="fr-FR" altLang="en-US" b="1" dirty="0" err="1" smtClean="0">
                <a:latin typeface="Segoe UI" panose="020B0502040204020203" pitchFamily="34" charset="0"/>
                <a:cs typeface="Segoe UI" panose="020B0502040204020203" pitchFamily="34" charset="0"/>
              </a:rPr>
              <a:t>MauiProgram.cs</a:t>
            </a:r>
            <a:endParaRPr lang="en-US" altLang="en-US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79728" y="1870448"/>
            <a:ext cx="11248445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public static </a:t>
            </a:r>
            <a:r>
              <a:rPr lang="en-US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MauiApp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CreateMauiApp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()</a:t>
            </a:r>
          </a:p>
          <a:p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       {</a:t>
            </a:r>
          </a:p>
          <a:p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dirty="0" err="1">
                <a:solidFill>
                  <a:srgbClr val="000000"/>
                </a:solidFill>
                <a:latin typeface="Cascadia Mono" panose="020B0609020000020004" pitchFamily="49" charset="0"/>
              </a:rPr>
              <a:t>var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builder = </a:t>
            </a:r>
            <a:r>
              <a:rPr lang="en-US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MauiApp.CreateBuilder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builder</a:t>
            </a:r>
          </a:p>
          <a:p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.</a:t>
            </a:r>
            <a:r>
              <a:rPr lang="en-US" dirty="0" err="1">
                <a:solidFill>
                  <a:srgbClr val="000000"/>
                </a:solidFill>
                <a:latin typeface="Cascadia Mono" panose="020B0609020000020004" pitchFamily="49" charset="0"/>
              </a:rPr>
              <a:t>UseMauiApp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&lt;App&gt;()</a:t>
            </a:r>
          </a:p>
          <a:p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.</a:t>
            </a:r>
            <a:r>
              <a:rPr lang="en-US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ConfigureFonts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(fonts =&gt;</a:t>
            </a:r>
          </a:p>
          <a:p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{</a:t>
            </a:r>
          </a:p>
          <a:p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</a:t>
            </a:r>
            <a:r>
              <a:rPr lang="en-US" dirty="0" err="1">
                <a:solidFill>
                  <a:srgbClr val="000000"/>
                </a:solidFill>
                <a:latin typeface="Cascadia Mono" panose="020B0609020000020004" pitchFamily="49" charset="0"/>
              </a:rPr>
              <a:t>fonts.AddFont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("OpenSans-Regular.ttf", "</a:t>
            </a:r>
            <a:r>
              <a:rPr lang="en-US" dirty="0" err="1">
                <a:solidFill>
                  <a:srgbClr val="000000"/>
                </a:solidFill>
                <a:latin typeface="Cascadia Mono" panose="020B0609020000020004" pitchFamily="49" charset="0"/>
              </a:rPr>
              <a:t>OpenSansRegular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");</a:t>
            </a:r>
          </a:p>
          <a:p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</a:t>
            </a:r>
            <a:r>
              <a:rPr lang="en-US" dirty="0" err="1">
                <a:solidFill>
                  <a:srgbClr val="000000"/>
                </a:solidFill>
                <a:latin typeface="Cascadia Mono" panose="020B0609020000020004" pitchFamily="49" charset="0"/>
              </a:rPr>
              <a:t>fonts.AddFont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("OpenSans-Semibold.ttf", "</a:t>
            </a:r>
            <a:r>
              <a:rPr lang="en-US" dirty="0" err="1">
                <a:solidFill>
                  <a:srgbClr val="000000"/>
                </a:solidFill>
                <a:latin typeface="Cascadia Mono" panose="020B0609020000020004" pitchFamily="49" charset="0"/>
              </a:rPr>
              <a:t>OpenSansSemibold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");</a:t>
            </a:r>
          </a:p>
          <a:p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});</a:t>
            </a:r>
          </a:p>
          <a:p>
            <a:endParaRPr lang="en-US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b="1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builder.Services.AddSingleton</a:t>
            </a:r>
            <a:r>
              <a:rPr lang="en-US" b="1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en-US" b="1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IService,Service</a:t>
            </a:r>
            <a:r>
              <a:rPr lang="en-US" b="1" dirty="0">
                <a:solidFill>
                  <a:srgbClr val="000000"/>
                </a:solidFill>
                <a:latin typeface="Cascadia Mono" panose="020B0609020000020004" pitchFamily="49" charset="0"/>
              </a:rPr>
              <a:t>&gt;();</a:t>
            </a:r>
          </a:p>
          <a:p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return </a:t>
            </a:r>
            <a:r>
              <a:rPr lang="en-US" dirty="0" err="1">
                <a:solidFill>
                  <a:srgbClr val="000000"/>
                </a:solidFill>
                <a:latin typeface="Cascadia Mono" panose="020B0609020000020004" pitchFamily="49" charset="0"/>
              </a:rPr>
              <a:t>builder.Build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       }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166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8"/>
          <p:cNvSpPr txBox="1">
            <a:spLocks noChangeArrowheads="1"/>
          </p:cNvSpPr>
          <p:nvPr/>
        </p:nvSpPr>
        <p:spPr bwMode="auto">
          <a:xfrm>
            <a:off x="251167" y="617099"/>
            <a:ext cx="11580373" cy="36881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1524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579438" indent="-242888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en-US" sz="2200" u="sng" dirty="0" smtClean="0">
                <a:latin typeface="Segoe UI Symbol" panose="020B0502040204020203" pitchFamily="34" charset="0"/>
              </a:rPr>
              <a:t>Injection de service directement au niveau d’une page </a:t>
            </a:r>
          </a:p>
          <a:p>
            <a:pPr eaLnBrk="1" hangingPunct="1"/>
            <a:endParaRPr lang="en-US" alt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1488"/>
              </a:lnSpc>
              <a:spcBef>
                <a:spcPts val="1625"/>
              </a:spcBef>
              <a:buClr>
                <a:srgbClr val="006498"/>
              </a:buClr>
              <a:buSzPct val="61000"/>
              <a:buFont typeface="Wingdings" panose="05000000000000000000" pitchFamily="2" charset="2"/>
              <a:buChar char=""/>
            </a:pPr>
            <a:r>
              <a:rPr lang="fr-FR" altLang="en-US" dirty="0" smtClean="0">
                <a:latin typeface="Segoe UI" panose="020B0502040204020203" pitchFamily="34" charset="0"/>
                <a:cs typeface="Segoe UI" panose="020B0502040204020203" pitchFamily="34" charset="0"/>
              </a:rPr>
              <a:t>Ensuite, il faut définir le service comme un champs privée au niveau de la page cible </a:t>
            </a:r>
          </a:p>
          <a:p>
            <a:pPr>
              <a:lnSpc>
                <a:spcPts val="1488"/>
              </a:lnSpc>
              <a:spcBef>
                <a:spcPts val="1625"/>
              </a:spcBef>
              <a:buClr>
                <a:srgbClr val="006498"/>
              </a:buClr>
              <a:buSzPct val="61000"/>
              <a:buFont typeface="Wingdings" panose="05000000000000000000" pitchFamily="2" charset="2"/>
              <a:buChar char=""/>
            </a:pPr>
            <a:endParaRPr lang="fr-FR" altLang="en-US" dirty="0" smtClean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dirty="0"/>
              <a:t>public partial class </a:t>
            </a:r>
            <a:r>
              <a:rPr lang="en-US" dirty="0" err="1"/>
              <a:t>MainPage</a:t>
            </a:r>
            <a:r>
              <a:rPr lang="en-US" dirty="0"/>
              <a:t> : </a:t>
            </a:r>
            <a:r>
              <a:rPr lang="en-US" dirty="0" err="1"/>
              <a:t>ContentPage</a:t>
            </a:r>
            <a:endParaRPr lang="en-US" dirty="0"/>
          </a:p>
          <a:p>
            <a:r>
              <a:rPr lang="en-US" dirty="0"/>
              <a:t>{</a:t>
            </a:r>
          </a:p>
          <a:p>
            <a:r>
              <a:rPr lang="en-US" dirty="0"/>
              <a:t>    </a:t>
            </a:r>
            <a:r>
              <a:rPr lang="en-US" dirty="0" smtClean="0"/>
              <a:t> private </a:t>
            </a:r>
            <a:r>
              <a:rPr lang="en-US" dirty="0" err="1"/>
              <a:t>IService</a:t>
            </a:r>
            <a:r>
              <a:rPr lang="en-US" dirty="0"/>
              <a:t> _service</a:t>
            </a:r>
            <a:r>
              <a:rPr lang="en-US" dirty="0" smtClean="0"/>
              <a:t>;</a:t>
            </a:r>
          </a:p>
          <a:p>
            <a:endParaRPr lang="fr-FR" altLang="en-US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438150" indent="-285750">
              <a:buFont typeface="Wingdings" panose="05000000000000000000" pitchFamily="2" charset="2"/>
              <a:buChar char="§"/>
            </a:pPr>
            <a:r>
              <a:rPr lang="fr-FR" altLang="en-US" dirty="0" smtClean="0">
                <a:latin typeface="Segoe UI" panose="020B0502040204020203" pitchFamily="34" charset="0"/>
                <a:cs typeface="Segoe UI" panose="020B0502040204020203" pitchFamily="34" charset="0"/>
              </a:rPr>
              <a:t>Et puis invoquer le service </a:t>
            </a:r>
          </a:p>
          <a:p>
            <a:pPr marL="438150" indent="-285750">
              <a:buFont typeface="Wingdings" panose="05000000000000000000" pitchFamily="2" charset="2"/>
              <a:buChar char="§"/>
            </a:pPr>
            <a:endParaRPr lang="fr-FR" altLang="en-US" dirty="0" smtClean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dirty="0"/>
              <a:t>_service=</a:t>
            </a:r>
            <a:r>
              <a:rPr lang="en-US" dirty="0" err="1"/>
              <a:t>App.Services.GetService</a:t>
            </a:r>
            <a:r>
              <a:rPr lang="en-US" dirty="0"/>
              <a:t>&lt;</a:t>
            </a:r>
            <a:r>
              <a:rPr lang="en-US" dirty="0" err="1"/>
              <a:t>IService</a:t>
            </a:r>
            <a:r>
              <a:rPr lang="en-US" dirty="0"/>
              <a:t>&gt;();</a:t>
            </a:r>
            <a:r>
              <a:rPr lang="fr-FR" altLang="en-US" dirty="0" smtClean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endParaRPr lang="fr-FR" alt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US" altLang="en-US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44700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hlinkClick r:id="rId3"/>
          </p:cNvPr>
          <p:cNvSpPr/>
          <p:nvPr/>
        </p:nvSpPr>
        <p:spPr>
          <a:xfrm>
            <a:off x="3658625" y="2175236"/>
            <a:ext cx="469797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2400" b="1" dirty="0" smtClean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Un premier contact avec Tabbed Page</a:t>
            </a:r>
            <a:endParaRPr lang="fr-FR" sz="2400" b="1" dirty="0">
              <a:solidFill>
                <a:srgbClr val="7030A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94561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hlinkClick r:id="rId3"/>
          </p:cNvPr>
          <p:cNvSpPr/>
          <p:nvPr/>
        </p:nvSpPr>
        <p:spPr>
          <a:xfrm>
            <a:off x="3658625" y="2175236"/>
            <a:ext cx="469797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400" b="1" dirty="0" smtClean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Exercice  Exploration des membres de </a:t>
            </a:r>
            <a:r>
              <a:rPr lang="fr-FR" sz="2400" b="1" dirty="0" err="1" smtClean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TabbedPage</a:t>
            </a:r>
            <a:endParaRPr lang="fr-FR" sz="2400" b="1" dirty="0">
              <a:solidFill>
                <a:srgbClr val="7030A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06165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7025</TotalTime>
  <Words>2365</Words>
  <Application>Microsoft Office PowerPoint</Application>
  <PresentationFormat>Widescreen</PresentationFormat>
  <Paragraphs>504</Paragraphs>
  <Slides>38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9" baseType="lpstr">
      <vt:lpstr>Arial</vt:lpstr>
      <vt:lpstr>Calibri</vt:lpstr>
      <vt:lpstr>Calibri Light</vt:lpstr>
      <vt:lpstr>Cascadia Mono</vt:lpstr>
      <vt:lpstr>Comic Sans MS</vt:lpstr>
      <vt:lpstr>Segoe UI</vt:lpstr>
      <vt:lpstr>Segoe UI Symbol</vt:lpstr>
      <vt:lpstr>SFMono-Regular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C# les fondmentaux </dc:title>
  <dc:creator>Windows User</dc:creator>
  <cp:lastModifiedBy>DELL</cp:lastModifiedBy>
  <cp:revision>108</cp:revision>
  <dcterms:created xsi:type="dcterms:W3CDTF">2022-10-07T06:35:33Z</dcterms:created>
  <dcterms:modified xsi:type="dcterms:W3CDTF">2025-07-20T15:44:57Z</dcterms:modified>
</cp:coreProperties>
</file>