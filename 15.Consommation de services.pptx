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9" r:id="rId2"/>
    <p:sldId id="259" r:id="rId3"/>
    <p:sldId id="271" r:id="rId4"/>
    <p:sldId id="272" r:id="rId5"/>
    <p:sldId id="273" r:id="rId6"/>
    <p:sldId id="275" r:id="rId7"/>
    <p:sldId id="276" r:id="rId8"/>
    <p:sldId id="284" r:id="rId9"/>
    <p:sldId id="285" r:id="rId10"/>
    <p:sldId id="286" r:id="rId11"/>
    <p:sldId id="287" r:id="rId12"/>
    <p:sldId id="278" r:id="rId13"/>
    <p:sldId id="288" r:id="rId14"/>
    <p:sldId id="289" r:id="rId15"/>
    <p:sldId id="280" r:id="rId16"/>
    <p:sldId id="281" r:id="rId17"/>
    <p:sldId id="282" r:id="rId18"/>
    <p:sldId id="283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EE2887-6C7E-48F8-8DD5-0DCF4DDCBA3D}">
          <p14:sldIdLst>
            <p14:sldId id="269"/>
            <p14:sldId id="259"/>
          </p14:sldIdLst>
        </p14:section>
        <p14:section name="Présentation de Swagger" id="{73F2A868-86C1-404A-AA9F-8EE169BCE666}">
          <p14:sldIdLst>
            <p14:sldId id="271"/>
            <p14:sldId id="272"/>
            <p14:sldId id="273"/>
          </p14:sldIdLst>
        </p14:section>
        <p14:section name="Integration de Swagger" id="{16123FBD-B512-4963-B9B0-AAEBE38984FA}">
          <p14:sldIdLst>
            <p14:sldId id="275"/>
            <p14:sldId id="276"/>
            <p14:sldId id="284"/>
            <p14:sldId id="285"/>
            <p14:sldId id="286"/>
            <p14:sldId id="287"/>
          </p14:sldIdLst>
        </p14:section>
        <p14:section name="Swagger Editor" id="{18CAF077-2B80-45E6-88BC-B7A9C297B45F}">
          <p14:sldIdLst>
            <p14:sldId id="278"/>
            <p14:sldId id="288"/>
            <p14:sldId id="289"/>
          </p14:sldIdLst>
        </p14:section>
        <p14:section name="Open AI" id="{B0E43F8B-1354-4146-8A53-1609656AF1FD}">
          <p14:sldIdLst>
            <p14:sldId id="280"/>
            <p14:sldId id="281"/>
            <p14:sldId id="282"/>
            <p14:sldId id="283"/>
          </p14:sldIdLst>
        </p14:section>
        <p14:section name="Exemple de client Http" id="{24EE7D2E-EEC3-449E-9B9C-3FC1AB9D92D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44" autoAdjust="0"/>
  </p:normalViewPr>
  <p:slideViewPr>
    <p:cSldViewPr snapToGrid="0">
      <p:cViewPr varScale="1">
        <p:scale>
          <a:sx n="106" d="100"/>
          <a:sy n="106" d="100"/>
        </p:scale>
        <p:origin x="6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CF081-8790-4A80-9C37-E5117570BB4E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9511D-55B6-47A0-A300-F7570D0967C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94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3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3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899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4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4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26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5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5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482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6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fr-FR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dotnet</a:t>
            </a:r>
            <a:r>
              <a:rPr lang="fr-FR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fr-FR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add</a:t>
            </a:r>
            <a:r>
              <a:rPr lang="fr-FR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package </a:t>
            </a:r>
            <a:r>
              <a:rPr lang="fr-FR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Swashbuckle.AspNetCore</a:t>
            </a: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6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736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7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7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692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8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8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105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9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9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65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10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10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777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11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11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150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12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12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953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13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13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842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14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14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123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15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https://localhost:7187/swagger/v1/swagger.json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app.UseSwaggerUI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 =&gt;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c.SwaggerEndpoint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swagger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/v1/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swagger.json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JWTService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 V1");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c.RoutePrefix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"docs";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c.DocumentTitle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JWTService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API";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});</a:t>
            </a: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15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823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16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app.UseSwaggerUI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 =&gt;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c.SwaggerEndpoint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swagger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/v1/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swagger.json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JWTService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 V1");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c.RoutePrefix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"docs";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c.DocumentTitle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JWTService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API";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});</a:t>
            </a: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16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547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17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17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406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18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18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412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89353" y="6243334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</a:t>
            </a:r>
            <a:r>
              <a:rPr lang="fr-FR" sz="1400" dirty="0" smtClean="0"/>
              <a:t>2025-2026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9997" y="6133019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github.com/RicoSuter/NSwag/releases/latest" TargetMode="External"/><Relationship Id="rId4" Type="http://schemas.openxmlformats.org/officeDocument/2006/relationships/hyperlink" Target="https://github.com/RicoSuter/NSwag/wiki/NSwagStudio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../labs/securit&#233;%20reseau/vlans" TargetMode="Externa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../labs/securit&#233;%20reseau/vlans" TargetMode="Externa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-REST-Demo" TargetMode="External"/><Relationship Id="rId2" Type="http://schemas.openxmlformats.org/officeDocument/2006/relationships/hyperlink" Target="https://github.com/bejaouibechir/MVVMProjectSolution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-Weather-Demo" TargetMode="External"/><Relationship Id="rId2" Type="http://schemas.openxmlformats.org/officeDocument/2006/relationships/hyperlink" Target="https://github.com/bejaouibechir/MVVMProjectSolutio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Consommation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de Service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27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/>
          <p:cNvSpPr txBox="1">
            <a:spLocks/>
          </p:cNvSpPr>
          <p:nvPr/>
        </p:nvSpPr>
        <p:spPr>
          <a:xfrm>
            <a:off x="447336" y="1282559"/>
            <a:ext cx="8276040" cy="3114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Comment créer des </a:t>
            </a:r>
            <a:r>
              <a:rPr lang="fr-FR" sz="2000" dirty="0">
                <a:latin typeface="Candara" panose="020E0502030303020204" pitchFamily="34" charset="0"/>
              </a:rPr>
              <a:t>M</a:t>
            </a:r>
            <a:r>
              <a:rPr lang="fr-FR" sz="2000" dirty="0" smtClean="0">
                <a:latin typeface="Candara" panose="020E0502030303020204" pitchFamily="34" charset="0"/>
              </a:rPr>
              <a:t>ocks pour le test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Créer un Client  REST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Tester le client </a:t>
            </a:r>
            <a:r>
              <a:rPr lang="fr-FR" sz="2000" dirty="0">
                <a:latin typeface="Candara" panose="020E0502030303020204" pitchFamily="34" charset="0"/>
              </a:rPr>
              <a:t>REST</a:t>
            </a:r>
            <a:endParaRPr lang="fr-FR" sz="2000" dirty="0" smtClean="0">
              <a:latin typeface="Candara" panose="020E0502030303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Intégrer le client </a:t>
            </a:r>
            <a:r>
              <a:rPr lang="fr-FR" sz="2000" dirty="0">
                <a:latin typeface="Candara" panose="020E0502030303020204" pitchFamily="34" charset="0"/>
              </a:rPr>
              <a:t>REST</a:t>
            </a:r>
            <a:endParaRPr lang="fr-FR" sz="2000" dirty="0" smtClean="0">
              <a:latin typeface="Candara" panose="020E0502030303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 smtClean="0">
              <a:latin typeface="Candara" panose="020E0502030303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940730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1"/>
          <p:cNvSpPr txBox="1"/>
          <p:nvPr/>
        </p:nvSpPr>
        <p:spPr>
          <a:xfrm>
            <a:off x="228600" y="447859"/>
            <a:ext cx="204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Objectifs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</a:t>
            </a:r>
            <a:r>
              <a:rPr lang="fr-F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Swagger (Les composants)</a:t>
            </a:r>
          </a:p>
          <a:p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1475" y="703999"/>
            <a:ext cx="112786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Exécution de collections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Swagger est un ensemble d’outils open-source qui aident les développeurs à concevoir, construire, documenter et tester des API RESTful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Chacun de ces outils joue un rôle clé dans le cycle de vie du développement d’une API, de la conception à la documentation, en passant par le test et la génération de code. </a:t>
            </a:r>
          </a:p>
        </p:txBody>
      </p:sp>
      <p:sp>
        <p:nvSpPr>
          <p:cNvPr id="2" name="Rectangle 1"/>
          <p:cNvSpPr/>
          <p:nvPr/>
        </p:nvSpPr>
        <p:spPr>
          <a:xfrm>
            <a:off x="412044" y="2885285"/>
            <a:ext cx="64007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Swagger UI :</a:t>
            </a:r>
            <a:endParaRPr lang="fr-FR" dirty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fr-FR" dirty="0" smtClean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 utilisateur graphique qui permet de visualiser et d’interagir avec l’API en utilisant la spécification 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OpenAPI</a:t>
            </a: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Elle offre une documentation en direct, interactive et visuellement attrayante.</a:t>
            </a:r>
            <a:endParaRPr lang="fr-FR" b="0" i="0" dirty="0">
              <a:solidFill>
                <a:srgbClr val="11111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787" y="3094662"/>
            <a:ext cx="4774847" cy="230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990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Swagger (Les composants)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71475" y="683952"/>
            <a:ext cx="115274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Swagger </a:t>
            </a:r>
            <a:r>
              <a:rPr lang="fr-FR" b="1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Editor 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fr-FR" dirty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fr-FR" dirty="0" smtClean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 éditeur en ligne pour écrire des fichiers OpenAPI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fournit une validation en temps réel et des suggestions pour aider à la création de spécifications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conformes aux exigences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7692" y="2776521"/>
            <a:ext cx="115626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Swagger Codegen :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outil qui permet de générer du code client, du code serveur et de la documentation pour n’importe quelle API décrite par une spécification OpenAPI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Il prend en charge de nombreux langages de programmation et frameworks.</a:t>
            </a:r>
          </a:p>
        </p:txBody>
      </p:sp>
    </p:spTree>
    <p:extLst>
      <p:ext uri="{BB962C8B-B14F-4D97-AF65-F5344CB8AC3E}">
        <p14:creationId xmlns:p14="http://schemas.microsoft.com/office/powerpoint/2010/main" val="9753920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</a:t>
            </a:r>
            <a:r>
              <a:rPr lang="fr-F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Swagger (Les composants)</a:t>
            </a:r>
          </a:p>
          <a:p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2044" y="785126"/>
            <a:ext cx="11117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111111"/>
                </a:solidFill>
                <a:latin typeface="-apple-system"/>
              </a:rPr>
              <a:t>Swagger Inspector </a:t>
            </a:r>
            <a:r>
              <a:rPr lang="fr-FR" b="1" dirty="0" smtClean="0">
                <a:solidFill>
                  <a:srgbClr val="111111"/>
                </a:solidFill>
                <a:latin typeface="-apple-system"/>
              </a:rPr>
              <a:t>:</a:t>
            </a:r>
          </a:p>
          <a:p>
            <a:pPr>
              <a:buFont typeface="+mj-lt"/>
              <a:buAutoNum type="arabicPeriod"/>
            </a:pPr>
            <a:endParaRPr lang="fr-FR" dirty="0">
              <a:solidFill>
                <a:srgbClr val="111111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11111"/>
                </a:solidFill>
                <a:latin typeface="-apple-system"/>
              </a:rPr>
              <a:t>Un outil de test d’API en ligne pour valider et tester les API RESTful</a:t>
            </a:r>
            <a:r>
              <a:rPr lang="fr-FR" dirty="0" smtClean="0">
                <a:solidFill>
                  <a:srgbClr val="111111"/>
                </a:solidFill>
                <a:latin typeface="-apple-system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b="1" dirty="0">
              <a:solidFill>
                <a:srgbClr val="111111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11111"/>
                </a:solidFill>
                <a:latin typeface="-apple-system"/>
              </a:rPr>
              <a:t>Il permet également de générer automatiquement une </a:t>
            </a:r>
            <a:r>
              <a:rPr lang="fr-FR" dirty="0">
                <a:solidFill>
                  <a:srgbClr val="111111"/>
                </a:solidFill>
              </a:rPr>
              <a:t>spécification</a:t>
            </a:r>
            <a:r>
              <a:rPr lang="fr-FR" dirty="0">
                <a:solidFill>
                  <a:srgbClr val="111111"/>
                </a:solidFill>
                <a:latin typeface="-apple-system"/>
              </a:rPr>
              <a:t> OpenAPI pour toute API existante.</a:t>
            </a:r>
            <a:endParaRPr lang="fr-FR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7030781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Swagger (ASP.NET Core)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65" y="1191343"/>
            <a:ext cx="4829849" cy="235300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19" y="3744199"/>
            <a:ext cx="4717942" cy="251871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1356" y="1191343"/>
            <a:ext cx="5175761" cy="45391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1475" y="671989"/>
            <a:ext cx="460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Installez les packages </a:t>
            </a:r>
            <a:r>
              <a:rPr lang="fr-FR" b="1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NuGet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nécessaires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553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Swagger (ASP.NET Core)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71475" y="671989"/>
            <a:ext cx="8353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Pour .Net 8, vous devez intégrer Swagger dans l'application sur deux niveaux: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1475" y="1029455"/>
            <a:ext cx="2127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Niveau 1 (Services):</a:t>
            </a:r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482599" y="1550244"/>
            <a:ext cx="905086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//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Ajouter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les services Swagger/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builder.Services.AddEndpointsApiExplorer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builder.Services.AddSwaggerGen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options.SwaggerDoc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("v1", new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OpenApiInfo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Title = "Mon API",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Version = "v1",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Description = "Documentation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Swagger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pour mon Web API",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Contact = new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OpenApiContact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Name = "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Bechir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Bejaoui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",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Email = "bechir@example.com"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});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});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095572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Swagger (ASP.NET Core)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71475" y="671989"/>
            <a:ext cx="8353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Pour .Net 8, vous devez intégrer Swagger dans l'application sur deux niveaux: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1020" y="1159272"/>
            <a:ext cx="2617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Niveau 2 (Middlewares):</a:t>
            </a:r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609600" y="1717808"/>
            <a:ext cx="106046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//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Activer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Swagger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développement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if 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app.Environment.IsDevelopment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app.UseSwagger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app.UseSwaggerUI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options.SwaggerEndpoint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("/swagger/v1/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swagger.json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", "Mon API v1");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options.RoutePrefix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= ""; // </a:t>
            </a:r>
            <a:r>
              <a:rPr lang="fr-F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Swagger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UI accessible à la racine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4744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Swagger (ASP.NET Core)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71475" y="671989"/>
            <a:ext cx="5815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Ajouter ce profil au niveau du </a:t>
            </a:r>
            <a:r>
              <a:rPr lang="fr-FR" b="1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fr-FR" b="1" dirty="0" err="1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aunchSettings.json</a:t>
            </a:r>
            <a:r>
              <a:rPr lang="fr-FR" b="1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7334" y="133440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"swagger"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2E75B6"/>
                </a:solidFill>
                <a:latin typeface="Cascadia Mono" panose="020B0609020000020004" pitchFamily="49" charset="0"/>
              </a:rPr>
              <a:t>commandName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"Project"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2E75B6"/>
                </a:solidFill>
                <a:latin typeface="Cascadia Mono" panose="020B0609020000020004" pitchFamily="49" charset="0"/>
              </a:rPr>
              <a:t>dotnetRunMessages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2E75B6"/>
                </a:solidFill>
                <a:latin typeface="Cascadia Mono" panose="020B0609020000020004" pitchFamily="49" charset="0"/>
              </a:rPr>
              <a:t>launchBrowser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2E75B6"/>
                </a:solidFill>
                <a:latin typeface="Cascadia Mono" panose="020B0609020000020004" pitchFamily="49" charset="0"/>
              </a:rPr>
              <a:t>launchUrl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2E75B6"/>
                </a:solidFill>
                <a:latin typeface="Cascadia Mono" panose="020B0609020000020004" pitchFamily="49" charset="0"/>
              </a:rPr>
              <a:t>applicationUrl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"https://localhost:7065/"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2E75B6"/>
                </a:solidFill>
                <a:latin typeface="Cascadia Mono" panose="020B0609020000020004" pitchFamily="49" charset="0"/>
              </a:rPr>
              <a:t>environmentVariables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2E75B6"/>
                </a:solidFill>
                <a:latin typeface="Cascadia Mono" panose="020B0609020000020004" pitchFamily="49" charset="0"/>
              </a:rPr>
              <a:t>"ASPNETCORE_ENVIRONMENT"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"Development"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7856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Swagger (ASP.NET Core)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5733" y="735168"/>
            <a:ext cx="8051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Si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vous voulez ajouter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des descriptions personnalisées par attributs 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7857" y="1285630"/>
            <a:ext cx="2467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Ajoutez une référence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5007" y="1836092"/>
            <a:ext cx="5794471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dotnet</a:t>
            </a:r>
            <a:r>
              <a:rPr lang="en-US" b="1" dirty="0">
                <a:solidFill>
                  <a:schemeClr val="bg1"/>
                </a:solidFill>
              </a:rPr>
              <a:t> add package </a:t>
            </a:r>
            <a:r>
              <a:rPr lang="en-US" b="1" dirty="0" err="1">
                <a:solidFill>
                  <a:schemeClr val="bg1"/>
                </a:solidFill>
              </a:rPr>
              <a:t>Swashbuckle.AspNetCore.Annotations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75733" y="2634734"/>
            <a:ext cx="23457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Dans Program.cs : 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5266" y="324517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//Ajouter les annotation (en option)</a:t>
            </a:r>
          </a:p>
          <a:p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builder.Services.AddSwaggerGen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options.EnableAnnotations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467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Swagger (ASP.NET Core)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5733" y="735168"/>
            <a:ext cx="80517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Ajoutez cet attribut dans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 contrôleur </a:t>
            </a:r>
            <a:r>
              <a:rPr lang="fr-FR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SwaggerOperation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7332" y="1285630"/>
            <a:ext cx="982133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fr-FR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[</a:t>
            </a:r>
            <a:r>
              <a:rPr lang="fr-FR" sz="2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SwaggerOperation</a:t>
            </a:r>
            <a:r>
              <a:rPr lang="fr-FR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</a:t>
            </a:r>
            <a:r>
              <a:rPr lang="fr-FR" sz="2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Summary</a:t>
            </a:r>
            <a:r>
              <a:rPr lang="fr-FR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="Récupère toutes  les valeurs")]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public List&lt;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WeatherForecast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&gt; Get()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item in data)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list.Add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(new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WeatherForecast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{Summary=item,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TemperatureC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=12});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return _list;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114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40631" y="245113"/>
            <a:ext cx="8896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Étapes pour générer un client HttpClient à partir de Swagger (OpenAPI) 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989" y="737556"/>
            <a:ext cx="88331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Téléchargez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NSwagStudio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Site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officiel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https://github.com/RicoSuter/NSwag/wiki/NSwagStudio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Lien direct :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NSwagStudio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 installer (.exe)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6989" y="166088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Ouvre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NSwagStudio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Onglet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"Swagger Specification URL"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Collez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646" y="2214884"/>
            <a:ext cx="4898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smtClean="0"/>
              <a:t>localhost:&lt;port&gt;/swagger/v1/swagger.json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758" y="2584215"/>
            <a:ext cx="5593226" cy="35968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84421" y="4553953"/>
            <a:ext cx="1509963" cy="144379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534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806" y="1028313"/>
            <a:ext cx="4791744" cy="5039428"/>
          </a:xfrm>
          <a:prstGeom prst="rect">
            <a:avLst/>
          </a:prstGeom>
        </p:spPr>
      </p:pic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40631" y="245113"/>
            <a:ext cx="8896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Étapes pour générer un client HttpClient à partir de Swagger (OpenAPI)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8420" y="1395662"/>
            <a:ext cx="925876" cy="180087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0948" y="794956"/>
            <a:ext cx="51100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Paramètre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le client 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Onglet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CSharp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Client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Class Name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MyApiClient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Generate Client Classes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Generate DTO Classes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HttpClient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Creation Method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System.Text.Json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Newtonsoft.Json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60947" y="3044514"/>
            <a:ext cx="51555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Clique sur "Generate Outputs"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Vous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obtenez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fichier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.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avec 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client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complet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modèles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(DTO)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prêt à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intégrer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projet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6281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40631" y="245113"/>
            <a:ext cx="8896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Étapes pour générer un client HttpClient à partir de Swagger (OpenAPI)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538" y="795908"/>
            <a:ext cx="4222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Exemple d’utilisation dans un projet :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3004" y="1315925"/>
            <a:ext cx="103010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client = new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MyApiClient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("https://localhost:7065", new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HttpClient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produits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await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client.GetAllProduitsAsync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ascadia Mono" panose="020B0609020000020004" pitchFamily="49" charset="0"/>
              </a:rPr>
              <a:t>foreach (var p in </a:t>
            </a:r>
            <a:r>
              <a:rPr lang="sv-SE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items)</a:t>
            </a:r>
            <a:endParaRPr lang="sv-SE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($"{p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.&lt;attribute&gt; …..}");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2553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lvl="1"/>
            <a:r>
              <a:rPr lang="fr-FR" altLang="en-US" sz="2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Présentation de Open API</a:t>
            </a:r>
            <a:endParaRPr lang="fr-FR" alt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1474" y="761137"/>
            <a:ext cx="80867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OpenAPI: </a:t>
            </a:r>
            <a:r>
              <a:rPr lang="fr-FR" dirty="0"/>
              <a:t>C'est une spécification standard pour définir des API RESTful. Elle permet de décrire les </a:t>
            </a:r>
            <a:r>
              <a:rPr lang="fr-FR" dirty="0" err="1"/>
              <a:t>endpoints</a:t>
            </a:r>
            <a:r>
              <a:rPr lang="fr-FR" dirty="0"/>
              <a:t>, les méthodes HTTP, les paramètres, les réponses, etc</a:t>
            </a:r>
            <a:r>
              <a:rPr lang="fr-FR" dirty="0" smtClean="0"/>
              <a:t>.</a:t>
            </a:r>
          </a:p>
          <a:p>
            <a:endParaRPr lang="fr-FR" dirty="0"/>
          </a:p>
          <a:p>
            <a:r>
              <a:rPr lang="fr-FR" b="1" dirty="0"/>
              <a:t>Avantages: </a:t>
            </a:r>
            <a:r>
              <a:rPr lang="fr-FR" dirty="0"/>
              <a:t>Améliore la communication, permet la génération automatique de documentation, facilite les tests et le développement.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5924" y="232683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>
                <a:solidFill>
                  <a:srgbClr val="111111"/>
                </a:solidFill>
                <a:latin typeface="-apple-system"/>
              </a:rPr>
              <a:t>Rôle dans la conception d’API </a:t>
            </a:r>
            <a:r>
              <a:rPr lang="fr-FR" b="1" dirty="0" smtClean="0">
                <a:solidFill>
                  <a:srgbClr val="111111"/>
                </a:solidFill>
                <a:latin typeface="-apple-system"/>
              </a:rPr>
              <a:t>RESTful</a:t>
            </a:r>
          </a:p>
          <a:p>
            <a:endParaRPr lang="fr-FR" dirty="0">
              <a:solidFill>
                <a:srgbClr val="111111"/>
              </a:solidFill>
              <a:latin typeface="-apple-system"/>
            </a:endParaRPr>
          </a:p>
          <a:p>
            <a:pPr lvl="1"/>
            <a:r>
              <a:rPr lang="fr-FR" b="1" dirty="0">
                <a:solidFill>
                  <a:srgbClr val="111111"/>
                </a:solidFill>
                <a:latin typeface="-apple-system"/>
              </a:rPr>
              <a:t>Documentation claire :</a:t>
            </a:r>
            <a:r>
              <a:rPr lang="fr-FR" dirty="0">
                <a:solidFill>
                  <a:srgbClr val="111111"/>
                </a:solidFill>
                <a:latin typeface="-apple-system"/>
              </a:rPr>
              <a:t> Aide à créer une documentation interactive et facile à comprendre pour les développeurs</a:t>
            </a:r>
            <a:r>
              <a:rPr lang="fr-FR" dirty="0" smtClean="0">
                <a:solidFill>
                  <a:srgbClr val="111111"/>
                </a:solidFill>
                <a:latin typeface="-apple-system"/>
              </a:rPr>
              <a:t>.</a:t>
            </a:r>
          </a:p>
          <a:p>
            <a:pPr lvl="1"/>
            <a:endParaRPr lang="fr-FR" dirty="0">
              <a:solidFill>
                <a:srgbClr val="111111"/>
              </a:solidFill>
              <a:latin typeface="-apple-system"/>
            </a:endParaRPr>
          </a:p>
          <a:p>
            <a:pPr lvl="1"/>
            <a:r>
              <a:rPr lang="fr-FR" b="1" dirty="0">
                <a:solidFill>
                  <a:srgbClr val="111111"/>
                </a:solidFill>
                <a:latin typeface="-apple-system"/>
              </a:rPr>
              <a:t>Génération de code :</a:t>
            </a:r>
            <a:r>
              <a:rPr lang="fr-FR" dirty="0">
                <a:solidFill>
                  <a:srgbClr val="111111"/>
                </a:solidFill>
                <a:latin typeface="-apple-system"/>
              </a:rPr>
              <a:t> Permet la génération automatique de code côté client et serveur</a:t>
            </a:r>
            <a:r>
              <a:rPr lang="fr-FR" dirty="0" smtClean="0">
                <a:solidFill>
                  <a:srgbClr val="111111"/>
                </a:solidFill>
                <a:latin typeface="-apple-system"/>
              </a:rPr>
              <a:t>.</a:t>
            </a:r>
          </a:p>
          <a:p>
            <a:pPr lvl="1"/>
            <a:endParaRPr lang="fr-FR" dirty="0">
              <a:solidFill>
                <a:srgbClr val="111111"/>
              </a:solidFill>
              <a:latin typeface="-apple-system"/>
            </a:endParaRPr>
          </a:p>
          <a:p>
            <a:pPr lvl="1"/>
            <a:r>
              <a:rPr lang="fr-FR" b="1" dirty="0">
                <a:solidFill>
                  <a:srgbClr val="111111"/>
                </a:solidFill>
                <a:latin typeface="-apple-system"/>
              </a:rPr>
              <a:t>Tests :</a:t>
            </a:r>
            <a:r>
              <a:rPr lang="fr-FR" dirty="0">
                <a:solidFill>
                  <a:srgbClr val="111111"/>
                </a:solidFill>
                <a:latin typeface="-apple-system"/>
              </a:rPr>
              <a:t> Facilite les tests d’intégration et le développement piloté par les tests (TDD</a:t>
            </a:r>
            <a:r>
              <a:rPr lang="fr-FR" dirty="0" smtClean="0">
                <a:solidFill>
                  <a:srgbClr val="111111"/>
                </a:solidFill>
                <a:latin typeface="-apple-system"/>
              </a:rPr>
              <a:t>).</a:t>
            </a:r>
          </a:p>
          <a:p>
            <a:pPr lvl="1"/>
            <a:endParaRPr lang="fr-FR" dirty="0">
              <a:solidFill>
                <a:srgbClr val="111111"/>
              </a:solidFill>
              <a:latin typeface="-apple-system"/>
            </a:endParaRPr>
          </a:p>
          <a:p>
            <a:pPr lvl="1"/>
            <a:r>
              <a:rPr lang="fr-FR" b="1" dirty="0">
                <a:solidFill>
                  <a:srgbClr val="111111"/>
                </a:solidFill>
                <a:latin typeface="-apple-system"/>
              </a:rPr>
              <a:t>Interopérabilité :</a:t>
            </a:r>
            <a:r>
              <a:rPr lang="fr-FR" dirty="0">
                <a:solidFill>
                  <a:srgbClr val="111111"/>
                </a:solidFill>
                <a:latin typeface="-apple-system"/>
              </a:rPr>
              <a:t> Assure la compatibilité entre les outils et les langages grâce à un format standard.</a:t>
            </a:r>
            <a:endParaRPr lang="fr-FR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  <p:pic>
        <p:nvPicPr>
          <p:cNvPr id="9" name="Picture 3" descr="undefine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014" y="2441953"/>
            <a:ext cx="5324006" cy="298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3076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lvl="1"/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Open API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ttps://static1.smartbear.co/swagger/media/blog/wp-hub/openapidrivendevelopmen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650" y="1094427"/>
            <a:ext cx="8267700" cy="523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41821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570" y="805158"/>
            <a:ext cx="4715660" cy="22872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1475" y="80515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Voici 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aperçu des fonctionnalités des menus dans Swagger Editor :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2736" y="151442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: Ce menu contient des options pour créer un nouveau fichier API, ouvrir un fichier existant, enregistrer vos modifications, etc.</a:t>
            </a:r>
          </a:p>
          <a:p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Edit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: Ici, vous trouverez des commandes d’édition standard telles que annuler, refaire, couper, copier, coller et trouver.</a:t>
            </a:r>
          </a:p>
          <a:p>
            <a:r>
              <a:rPr lang="fr-FR" b="1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Insert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: Ce menu permet d’insérer des modèles ou des extraits de code prédéfinis pour enrichir votre spécification API.</a:t>
            </a:r>
          </a:p>
          <a:p>
            <a:r>
              <a:rPr lang="fr-FR" b="1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Server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: Utilisez cette option pour générer des squelettes de serveur dans divers langages de programmation à partir de votre spécification API.</a:t>
            </a:r>
          </a:p>
          <a:p>
            <a:r>
              <a:rPr lang="fr-FR" b="1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Client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: Semblable au menu </a:t>
            </a:r>
            <a:r>
              <a:rPr lang="fr-FR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Server, mais pour générer des bibliothèques clientes</a:t>
            </a:r>
            <a:endParaRPr lang="fr-FR" b="0" i="0" dirty="0">
              <a:solidFill>
                <a:srgbClr val="11111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1">
            <a:hlinkClick r:id="rId5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Présentation et intégration de  Swagger Editor pour OPEN API </a:t>
            </a:r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41431" y="3158908"/>
            <a:ext cx="2579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https://editor.swagger.io/</a:t>
            </a:r>
          </a:p>
        </p:txBody>
      </p:sp>
    </p:spTree>
    <p:extLst>
      <p:ext uri="{BB962C8B-B14F-4D97-AF65-F5344CB8AC3E}">
        <p14:creationId xmlns:p14="http://schemas.microsoft.com/office/powerpoint/2010/main" val="4147899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lc.tomsguide.fr/t/p/o/postman-spam-blocker-premium-DqJb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77" y="6067741"/>
            <a:ext cx="597993" cy="59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9900" y="805240"/>
            <a:ext cx="47815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Paths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Représentent les différentes routes de l’API</a:t>
            </a: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Components :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Permettent de réutiliser des modèles et des paramètres dans la spécification.</a:t>
            </a:r>
          </a:p>
          <a:p>
            <a:endParaRPr lang="fr-FR" b="1" dirty="0" smtClean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Operations 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Définissent les méthodes HTTP (GET, POST, etc.) disponibles pour chaque </a:t>
            </a:r>
            <a:r>
              <a:rPr lang="fr-FR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fr-FR" dirty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Parameters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Spécifient les paramètres d’entrée pour les opérations (</a:t>
            </a:r>
            <a:r>
              <a:rPr lang="fr-FR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header, </a:t>
            </a:r>
            <a:r>
              <a:rPr lang="fr-FR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cookie</a:t>
            </a: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endParaRPr lang="fr-FR" dirty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err="1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Responses</a:t>
            </a:r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Décrivent les réponses possibles de l’API pour chaque opération</a:t>
            </a:r>
            <a:r>
              <a:rPr lang="fr-FR" dirty="0" smtClean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fr-FR" dirty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solidFill>
                <a:srgbClr val="11111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:</a:t>
            </a:r>
            <a:r>
              <a:rPr lang="fr-FR" dirty="0">
                <a:solidFill>
                  <a:srgbClr val="11111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Définit les schémas de sécurité utilisés par l’API (comme JWT).</a:t>
            </a:r>
            <a:endParaRPr lang="fr-FR" b="0" i="0" dirty="0">
              <a:solidFill>
                <a:srgbClr val="11111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4"/>
          <a:srcRect t="498" r="18182" b="4225"/>
          <a:stretch/>
        </p:blipFill>
        <p:spPr>
          <a:xfrm>
            <a:off x="5516088" y="996950"/>
            <a:ext cx="5619750" cy="4847764"/>
          </a:xfrm>
          <a:prstGeom prst="rect">
            <a:avLst/>
          </a:prstGeom>
        </p:spPr>
      </p:pic>
      <p:sp>
        <p:nvSpPr>
          <p:cNvPr id="7" name="Rectangle 1">
            <a:hlinkClick r:id="rId5" action="ppaction://hlinkfile"/>
          </p:cNvPr>
          <p:cNvSpPr>
            <a:spLocks noChangeArrowheads="1"/>
          </p:cNvSpPr>
          <p:nvPr/>
        </p:nvSpPr>
        <p:spPr bwMode="auto">
          <a:xfrm>
            <a:off x="371475" y="184150"/>
            <a:ext cx="94980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altLang="en-US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Présentation et intégration de  Swagger Editor pour OPEN API </a:t>
            </a:r>
            <a:endParaRPr lang="fr-FR" alt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5950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41415" y="144260"/>
            <a:ext cx="315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client Http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395100" y="620562"/>
            <a:ext cx="10682311" cy="916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plateforme qu’on essayera d’utiliser s’appelle </a:t>
            </a:r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mokapi.io </a:t>
            </a: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créer un service de test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définir un model qui recevra les données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2732" y="1536807"/>
            <a:ext cx="798155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User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public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DateTime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createdAt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public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public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avatar {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public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304732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503385" y="710798"/>
            <a:ext cx="10682311" cy="49588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ensuite définir un HttpClient qui interrogera le service </a:t>
            </a:r>
            <a:endParaRPr lang="fr-FR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9325" y="1128579"/>
            <a:ext cx="902208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HttpClient client;</a:t>
            </a:r>
          </a:p>
          <a:p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JsonSerializerOptions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serializerOptions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baseUrl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"https://62e1401cfa99731d75d247cc.mockapi.io"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List&lt;User&gt; Users;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MainViewModel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client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HttpClient();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_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serializerOptions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JsonSerializerOptions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WriteIndented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};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}</a:t>
            </a:r>
            <a:endParaRPr lang="fr-FR" sz="1400" dirty="0"/>
          </a:p>
        </p:txBody>
      </p:sp>
      <p:sp>
        <p:nvSpPr>
          <p:cNvPr id="6" name="ZoneTexte 1"/>
          <p:cNvSpPr txBox="1"/>
          <p:nvPr/>
        </p:nvSpPr>
        <p:spPr>
          <a:xfrm>
            <a:off x="341415" y="144260"/>
            <a:ext cx="315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client Http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909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545494" y="626579"/>
            <a:ext cx="10682311" cy="462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exemple de code pour récupérer toutes les entités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086" y="1088777"/>
            <a:ext cx="1076184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url 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baseUrl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users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response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client.GetAsync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(url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//au lieu de la ligne commentée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response.IsSuccessStatusCode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//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var content = await </a:t>
            </a:r>
            <a:r>
              <a:rPr lang="fr-FR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response.Content.ReadAsStringAsync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();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</a:t>
            </a:r>
            <a:r>
              <a:rPr lang="fr-FR" sz="1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responseStream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response.Content.ReadAsStreamAsync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var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data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JsonSerializer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DeserializeAsync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&lt;List&lt;User&gt;&gt;(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responseStream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,_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serializerOptions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Users = data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  <p:sp>
        <p:nvSpPr>
          <p:cNvPr id="7" name="ZoneTexte 1"/>
          <p:cNvSpPr txBox="1"/>
          <p:nvPr/>
        </p:nvSpPr>
        <p:spPr>
          <a:xfrm>
            <a:off x="341415" y="144260"/>
            <a:ext cx="315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client Http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05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341415" y="632594"/>
            <a:ext cx="10682311" cy="462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exemple de code pour récupérer une entité sur la base de l’identifiant</a:t>
            </a:r>
            <a:endParaRPr lang="fr-FR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890" y="1094792"/>
            <a:ext cx="84923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url = </a:t>
            </a:r>
            <a:r>
              <a:rPr lang="fr-FR" sz="16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baseUrl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fr-FR" sz="16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users</a:t>
            </a:r>
            <a:r>
              <a:rPr lang="fr-FR" sz="16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/25"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var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response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fr-FR" sz="16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client.GetStringAsync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(url);</a:t>
            </a:r>
            <a:endParaRPr lang="fr-FR" sz="1600" dirty="0"/>
          </a:p>
        </p:txBody>
      </p:sp>
      <p:sp>
        <p:nvSpPr>
          <p:cNvPr id="6" name="ZoneTexte 1"/>
          <p:cNvSpPr txBox="1"/>
          <p:nvPr/>
        </p:nvSpPr>
        <p:spPr>
          <a:xfrm>
            <a:off x="341415" y="144260"/>
            <a:ext cx="315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client Http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644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341415" y="632594"/>
            <a:ext cx="10682311" cy="462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exemple de code d’ajout d’une entité dans la base distante</a:t>
            </a:r>
            <a:endParaRPr lang="fr-FR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3130" y="1094792"/>
            <a:ext cx="971576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url 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baseUrl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users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user =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User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createdAt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DateTime.Now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name = 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« Bechir"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avatar 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https…."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json =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JsonSerializer.Serialize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&lt;User&gt;(user, _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serializerOptions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StringContent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 =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StringContent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(json, Encoding.UTF8,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"application/json"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response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client.PostAsync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(url, content);</a:t>
            </a:r>
          </a:p>
        </p:txBody>
      </p:sp>
      <p:sp>
        <p:nvSpPr>
          <p:cNvPr id="7" name="ZoneTexte 1"/>
          <p:cNvSpPr txBox="1"/>
          <p:nvPr/>
        </p:nvSpPr>
        <p:spPr>
          <a:xfrm>
            <a:off x="341415" y="144260"/>
            <a:ext cx="315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client Http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31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341415" y="746894"/>
            <a:ext cx="10682311" cy="462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exemple de code de mise à jour d’une entité dans la base distante</a:t>
            </a:r>
            <a:endParaRPr lang="fr-FR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817" y="1209092"/>
            <a:ext cx="942727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user 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Users.FirstOrDefault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x.id ==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"1"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url 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baseUrl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users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/1"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user.name = 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"Bechir"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json =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JsonSerializer.Serialize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&lt;User&gt;(user, _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serializerOptions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StringContent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 =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StringContent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(json, Encoding.UTF8,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"application/json"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response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client.PutAsync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(url, content);</a:t>
            </a:r>
            <a:endParaRPr lang="fr-FR" sz="1400" dirty="0"/>
          </a:p>
        </p:txBody>
      </p:sp>
      <p:sp>
        <p:nvSpPr>
          <p:cNvPr id="6" name="ZoneTexte 1"/>
          <p:cNvSpPr txBox="1"/>
          <p:nvPr/>
        </p:nvSpPr>
        <p:spPr>
          <a:xfrm>
            <a:off x="341415" y="144260"/>
            <a:ext cx="315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client Http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393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341415" y="644626"/>
            <a:ext cx="10682311" cy="462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exemple de code de </a:t>
            </a:r>
            <a:r>
              <a:rPr lang="fr-FR" sz="20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supression</a:t>
            </a: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d’une entité dans la base distante</a:t>
            </a:r>
            <a:endParaRPr lang="fr-FR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6741" y="1207080"/>
            <a:ext cx="85365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url 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baseUrl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users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/10"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var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response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client.DeleteAsync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(url);</a:t>
            </a:r>
            <a:endParaRPr lang="fr-FR" sz="1400" dirty="0"/>
          </a:p>
        </p:txBody>
      </p:sp>
      <p:sp>
        <p:nvSpPr>
          <p:cNvPr id="7" name="ZoneTexte 1"/>
          <p:cNvSpPr txBox="1"/>
          <p:nvPr/>
        </p:nvSpPr>
        <p:spPr>
          <a:xfrm>
            <a:off x="341415" y="144260"/>
            <a:ext cx="315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client Http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42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Projet: Premier projet REST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323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Premier projet MAUI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Wheater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344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1386</Words>
  <Application>Microsoft Office PowerPoint</Application>
  <PresentationFormat>Widescreen</PresentationFormat>
  <Paragraphs>305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-apple-system</vt:lpstr>
      <vt:lpstr>Arial</vt:lpstr>
      <vt:lpstr>Calibri</vt:lpstr>
      <vt:lpstr>Calibri Light</vt:lpstr>
      <vt:lpstr>Candara</vt:lpstr>
      <vt:lpstr>Cascadia Mono</vt:lpstr>
      <vt:lpstr>Comic Sans MS</vt:lpstr>
      <vt:lpstr>DejaVu Sans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46</cp:revision>
  <dcterms:created xsi:type="dcterms:W3CDTF">2022-10-07T06:51:45Z</dcterms:created>
  <dcterms:modified xsi:type="dcterms:W3CDTF">2025-07-18T17:31:14Z</dcterms:modified>
</cp:coreProperties>
</file>