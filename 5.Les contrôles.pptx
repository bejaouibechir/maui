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2"/>
  </p:notesMasterIdLst>
  <p:sldIdLst>
    <p:sldId id="336" r:id="rId2"/>
    <p:sldId id="256" r:id="rId3"/>
    <p:sldId id="335" r:id="rId4"/>
    <p:sldId id="287" r:id="rId5"/>
    <p:sldId id="337" r:id="rId6"/>
    <p:sldId id="284" r:id="rId7"/>
    <p:sldId id="285" r:id="rId8"/>
    <p:sldId id="286" r:id="rId9"/>
    <p:sldId id="288" r:id="rId10"/>
    <p:sldId id="289" r:id="rId11"/>
    <p:sldId id="290" r:id="rId12"/>
    <p:sldId id="338" r:id="rId13"/>
    <p:sldId id="291" r:id="rId14"/>
    <p:sldId id="292" r:id="rId15"/>
    <p:sldId id="293" r:id="rId16"/>
    <p:sldId id="294" r:id="rId17"/>
    <p:sldId id="340" r:id="rId18"/>
    <p:sldId id="339" r:id="rId19"/>
    <p:sldId id="295" r:id="rId20"/>
    <p:sldId id="296" r:id="rId21"/>
    <p:sldId id="283" r:id="rId22"/>
    <p:sldId id="299" r:id="rId23"/>
    <p:sldId id="300" r:id="rId24"/>
    <p:sldId id="301" r:id="rId25"/>
    <p:sldId id="302" r:id="rId26"/>
    <p:sldId id="303" r:id="rId27"/>
    <p:sldId id="304" r:id="rId28"/>
    <p:sldId id="305" r:id="rId29"/>
    <p:sldId id="341" r:id="rId30"/>
    <p:sldId id="306" r:id="rId31"/>
    <p:sldId id="342" r:id="rId32"/>
    <p:sldId id="307" r:id="rId33"/>
    <p:sldId id="308" r:id="rId34"/>
    <p:sldId id="319" r:id="rId35"/>
    <p:sldId id="309" r:id="rId36"/>
    <p:sldId id="310" r:id="rId37"/>
    <p:sldId id="311" r:id="rId38"/>
    <p:sldId id="312" r:id="rId39"/>
    <p:sldId id="313" r:id="rId40"/>
    <p:sldId id="314" r:id="rId41"/>
    <p:sldId id="343" r:id="rId42"/>
    <p:sldId id="315" r:id="rId43"/>
    <p:sldId id="316" r:id="rId44"/>
    <p:sldId id="317" r:id="rId45"/>
    <p:sldId id="318" r:id="rId46"/>
    <p:sldId id="320" r:id="rId47"/>
    <p:sldId id="321" r:id="rId48"/>
    <p:sldId id="323" r:id="rId49"/>
    <p:sldId id="324" r:id="rId50"/>
    <p:sldId id="322" r:id="rId51"/>
    <p:sldId id="325" r:id="rId52"/>
    <p:sldId id="326" r:id="rId53"/>
    <p:sldId id="327" r:id="rId54"/>
    <p:sldId id="329" r:id="rId55"/>
    <p:sldId id="332" r:id="rId56"/>
    <p:sldId id="328" r:id="rId57"/>
    <p:sldId id="331" r:id="rId58"/>
    <p:sldId id="330" r:id="rId59"/>
    <p:sldId id="333" r:id="rId60"/>
    <p:sldId id="334" r:id="rId6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52579A1-0BAE-47D2-942F-5C25E8BAB18A}">
          <p14:sldIdLst>
            <p14:sldId id="336"/>
            <p14:sldId id="256"/>
            <p14:sldId id="335"/>
          </p14:sldIdLst>
        </p14:section>
        <p14:section name="Contrôles de Presentation" id="{C6C1D0C3-527F-4616-A6D0-59253EA61A88}">
          <p14:sldIdLst>
            <p14:sldId id="287"/>
            <p14:sldId id="337"/>
            <p14:sldId id="284"/>
            <p14:sldId id="285"/>
            <p14:sldId id="286"/>
            <p14:sldId id="288"/>
            <p14:sldId id="289"/>
            <p14:sldId id="290"/>
            <p14:sldId id="338"/>
            <p14:sldId id="291"/>
            <p14:sldId id="292"/>
            <p14:sldId id="293"/>
            <p14:sldId id="294"/>
            <p14:sldId id="340"/>
            <p14:sldId id="339"/>
            <p14:sldId id="295"/>
            <p14:sldId id="296"/>
            <p14:sldId id="283"/>
          </p14:sldIdLst>
        </p14:section>
        <p14:section name="Les contrôles de commande" id="{B961FA7E-806F-4103-AC93-35A60A492120}">
          <p14:sldIdLst>
            <p14:sldId id="299"/>
            <p14:sldId id="300"/>
            <p14:sldId id="301"/>
            <p14:sldId id="302"/>
            <p14:sldId id="303"/>
            <p14:sldId id="304"/>
            <p14:sldId id="305"/>
            <p14:sldId id="341"/>
            <p14:sldId id="306"/>
            <p14:sldId id="342"/>
            <p14:sldId id="307"/>
            <p14:sldId id="308"/>
            <p14:sldId id="319"/>
          </p14:sldIdLst>
        </p14:section>
        <p14:section name="Les contrôles d'entrées" id="{9B583E42-6E7B-4AF3-B9FE-8DDD3E574CA5}">
          <p14:sldIdLst>
            <p14:sldId id="309"/>
            <p14:sldId id="310"/>
            <p14:sldId id="311"/>
            <p14:sldId id="312"/>
            <p14:sldId id="313"/>
            <p14:sldId id="314"/>
            <p14:sldId id="343"/>
            <p14:sldId id="315"/>
            <p14:sldId id="316"/>
            <p14:sldId id="317"/>
            <p14:sldId id="318"/>
          </p14:sldIdLst>
        </p14:section>
        <p14:section name="Les contrôles items" id="{501D13FD-ED6E-4625-AC4E-D48B38C401F7}">
          <p14:sldIdLst>
            <p14:sldId id="320"/>
            <p14:sldId id="321"/>
            <p14:sldId id="323"/>
            <p14:sldId id="324"/>
            <p14:sldId id="322"/>
            <p14:sldId id="325"/>
            <p14:sldId id="326"/>
            <p14:sldId id="327"/>
            <p14:sldId id="329"/>
            <p14:sldId id="332"/>
            <p14:sldId id="328"/>
            <p14:sldId id="331"/>
            <p14:sldId id="330"/>
          </p14:sldIdLst>
        </p14:section>
        <p14:section name="Les contrôles menu" id="{661D22F8-3F6B-4F76-B566-FC45A1F09AEC}">
          <p14:sldIdLst>
            <p14:sldId id="333"/>
            <p14:sldId id="33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C2FFA5D-87B4-456A-9821-1D502468CF0F}" styleName="Style à thème 1 - Accentuation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6130" autoAdjust="0"/>
  </p:normalViewPr>
  <p:slideViewPr>
    <p:cSldViewPr snapToGrid="0">
      <p:cViewPr varScale="1">
        <p:scale>
          <a:sx n="109" d="100"/>
          <a:sy n="109" d="100"/>
        </p:scale>
        <p:origin x="568" y="76"/>
      </p:cViewPr>
      <p:guideLst/>
    </p:cSldViewPr>
  </p:slideViewPr>
  <p:notesTextViewPr>
    <p:cViewPr>
      <p:scale>
        <a:sx n="150" d="100"/>
        <a:sy n="15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082A7F4-A365-4B92-BEB0-C0D7CF65282E}" type="datetimeFigureOut">
              <a:rPr lang="fr-FR" smtClean="0"/>
              <a:t>14/07/2025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05E1AE6-1BFD-4589-9604-3D9D158FB781}" type="slidenum">
              <a:rPr lang="fr-FR" smtClean="0"/>
              <a:t>‹#›</a:t>
            </a:fld>
            <a:endParaRPr lang="fr-FR"/>
          </a:p>
        </p:txBody>
      </p:sp>
    </p:spTree>
    <p:extLst>
      <p:ext uri="{BB962C8B-B14F-4D97-AF65-F5344CB8AC3E}">
        <p14:creationId xmlns:p14="http://schemas.microsoft.com/office/powerpoint/2010/main" val="6732565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b="1" dirty="0" smtClean="0"/>
              <a:t>Exemple de code</a:t>
            </a:r>
            <a:r>
              <a:rPr lang="fr-FR" b="1" baseline="0" dirty="0" smtClean="0"/>
              <a:t> pour charger les images via le code:</a:t>
            </a:r>
          </a:p>
          <a:p>
            <a:endParaRPr lang="fr-FR" baseline="0" dirty="0" smtClean="0"/>
          </a:p>
          <a:p>
            <a:r>
              <a:rPr lang="fr-FR" baseline="0" dirty="0" smtClean="0"/>
              <a:t>XAML:</a:t>
            </a:r>
          </a:p>
          <a:p>
            <a:r>
              <a:rPr lang="fr-FR" sz="1200" kern="1200" dirty="0" smtClean="0">
                <a:solidFill>
                  <a:schemeClr val="tx1"/>
                </a:solidFill>
                <a:latin typeface="+mn-lt"/>
                <a:ea typeface="+mn-ea"/>
                <a:cs typeface="+mn-cs"/>
              </a:rPr>
              <a:t> &lt;Grid&gt;</a:t>
            </a:r>
          </a:p>
          <a:p>
            <a:r>
              <a:rPr lang="fr-FR" sz="1200" kern="1200" dirty="0" smtClean="0">
                <a:solidFill>
                  <a:schemeClr val="tx1"/>
                </a:solidFill>
                <a:latin typeface="+mn-lt"/>
                <a:ea typeface="+mn-ea"/>
                <a:cs typeface="+mn-cs"/>
              </a:rPr>
              <a:t>        &lt;Image x:Name="image"/&gt;</a:t>
            </a:r>
          </a:p>
          <a:p>
            <a:r>
              <a:rPr lang="fr-FR" sz="1200" kern="1200" dirty="0" smtClean="0">
                <a:solidFill>
                  <a:schemeClr val="tx1"/>
                </a:solidFill>
                <a:latin typeface="+mn-lt"/>
                <a:ea typeface="+mn-ea"/>
                <a:cs typeface="+mn-cs"/>
              </a:rPr>
              <a:t>&lt;/Grid&gt;</a:t>
            </a:r>
            <a:endParaRPr lang="fr-FR" baseline="0" dirty="0" smtClean="0"/>
          </a:p>
          <a:p>
            <a:endParaRPr lang="fr-FR" baseline="0" dirty="0" smtClean="0"/>
          </a:p>
          <a:p>
            <a:r>
              <a:rPr lang="fr-FR" baseline="0" dirty="0" smtClean="0"/>
              <a:t>C#: </a:t>
            </a:r>
          </a:p>
          <a:p>
            <a:r>
              <a:rPr lang="fr-FR" sz="1200" kern="1200" dirty="0" err="1" smtClean="0">
                <a:solidFill>
                  <a:schemeClr val="tx1"/>
                </a:solidFill>
                <a:latin typeface="+mn-lt"/>
                <a:ea typeface="+mn-ea"/>
                <a:cs typeface="+mn-cs"/>
              </a:rPr>
              <a:t>image.Source</a:t>
            </a:r>
            <a:r>
              <a:rPr lang="fr-FR" sz="1200" kern="1200" dirty="0" smtClean="0">
                <a:solidFill>
                  <a:schemeClr val="tx1"/>
                </a:solidFill>
                <a:latin typeface="+mn-lt"/>
                <a:ea typeface="+mn-ea"/>
                <a:cs typeface="+mn-cs"/>
              </a:rPr>
              <a:t> = </a:t>
            </a:r>
            <a:r>
              <a:rPr lang="fr-FR" sz="1200" kern="1200" dirty="0" err="1" smtClean="0">
                <a:solidFill>
                  <a:schemeClr val="tx1"/>
                </a:solidFill>
                <a:latin typeface="+mn-lt"/>
                <a:ea typeface="+mn-ea"/>
                <a:cs typeface="+mn-cs"/>
              </a:rPr>
              <a:t>ImageSource.FromFile</a:t>
            </a:r>
            <a:r>
              <a:rPr lang="fr-FR" sz="1200" kern="1200" dirty="0" smtClean="0">
                <a:solidFill>
                  <a:schemeClr val="tx1"/>
                </a:solidFill>
                <a:latin typeface="+mn-lt"/>
                <a:ea typeface="+mn-ea"/>
                <a:cs typeface="+mn-cs"/>
              </a:rPr>
              <a:t>("dotnet_bot.png");</a:t>
            </a:r>
          </a:p>
          <a:p>
            <a:r>
              <a:rPr lang="fr-FR" sz="1200" kern="1200" dirty="0" err="1" smtClean="0">
                <a:solidFill>
                  <a:schemeClr val="tx1"/>
                </a:solidFill>
                <a:latin typeface="+mn-lt"/>
                <a:ea typeface="+mn-ea"/>
                <a:cs typeface="+mn-cs"/>
              </a:rPr>
              <a:t>image.Source</a:t>
            </a:r>
            <a:r>
              <a:rPr lang="fr-FR" sz="1200" kern="1200" dirty="0" smtClean="0">
                <a:solidFill>
                  <a:schemeClr val="tx1"/>
                </a:solidFill>
                <a:latin typeface="+mn-lt"/>
                <a:ea typeface="+mn-ea"/>
                <a:cs typeface="+mn-cs"/>
              </a:rPr>
              <a:t> </a:t>
            </a:r>
            <a:r>
              <a:rPr lang="fr-FR" sz="1200" b="0" i="0" kern="1200" dirty="0" smtClean="0">
                <a:solidFill>
                  <a:schemeClr val="tx1"/>
                </a:solidFill>
                <a:effectLst/>
                <a:latin typeface="+mn-lt"/>
                <a:ea typeface="+mn-ea"/>
                <a:cs typeface="+mn-cs"/>
              </a:rPr>
              <a:t> = </a:t>
            </a:r>
            <a:r>
              <a:rPr lang="fr-FR" sz="1200" b="0" i="0" kern="1200" dirty="0" err="1" smtClean="0">
                <a:solidFill>
                  <a:schemeClr val="tx1"/>
                </a:solidFill>
                <a:effectLst/>
                <a:latin typeface="+mn-lt"/>
                <a:ea typeface="+mn-ea"/>
                <a:cs typeface="+mn-cs"/>
              </a:rPr>
              <a:t>ImageSource.FromUri</a:t>
            </a:r>
            <a:r>
              <a:rPr lang="fr-FR" sz="1200" b="0" i="0" kern="1200" dirty="0" smtClean="0">
                <a:solidFill>
                  <a:schemeClr val="tx1"/>
                </a:solidFill>
                <a:effectLst/>
                <a:latin typeface="+mn-lt"/>
                <a:ea typeface="+mn-ea"/>
                <a:cs typeface="+mn-cs"/>
              </a:rPr>
              <a:t>(new Uri("https://aka.ms/campus.jpg"));</a:t>
            </a:r>
          </a:p>
          <a:p>
            <a:endParaRPr lang="fr-FR" sz="1200" b="0" i="0" kern="1200" dirty="0" smtClean="0">
              <a:solidFill>
                <a:schemeClr val="tx1"/>
              </a:solidFill>
              <a:effectLst/>
              <a:latin typeface="+mn-lt"/>
              <a:ea typeface="+mn-ea"/>
              <a:cs typeface="+mn-cs"/>
            </a:endParaRPr>
          </a:p>
          <a:p>
            <a:r>
              <a:rPr lang="fr-FR" sz="1200" kern="1200" dirty="0" smtClean="0">
                <a:solidFill>
                  <a:schemeClr val="tx1"/>
                </a:solidFill>
                <a:latin typeface="+mn-lt"/>
                <a:ea typeface="+mn-ea"/>
                <a:cs typeface="+mn-cs"/>
              </a:rPr>
              <a:t>private string _</a:t>
            </a:r>
            <a:r>
              <a:rPr lang="fr-FR" sz="1200" kern="1200" dirty="0" err="1" smtClean="0">
                <a:solidFill>
                  <a:schemeClr val="tx1"/>
                </a:solidFill>
                <a:latin typeface="+mn-lt"/>
                <a:ea typeface="+mn-ea"/>
                <a:cs typeface="+mn-cs"/>
              </a:rPr>
              <a:t>imagepath</a:t>
            </a:r>
            <a:r>
              <a:rPr lang="fr-FR" sz="1200" kern="1200" dirty="0" smtClean="0">
                <a:solidFill>
                  <a:schemeClr val="tx1"/>
                </a:solidFill>
                <a:latin typeface="+mn-lt"/>
                <a:ea typeface="+mn-ea"/>
                <a:cs typeface="+mn-cs"/>
              </a:rPr>
              <a:t>="c:\\temp\\dotnet_bot.svg";</a:t>
            </a:r>
          </a:p>
          <a:p>
            <a:r>
              <a:rPr lang="fr-FR" sz="1200" kern="1200" dirty="0" smtClean="0">
                <a:solidFill>
                  <a:schemeClr val="tx1"/>
                </a:solidFill>
                <a:latin typeface="+mn-lt"/>
                <a:ea typeface="+mn-ea"/>
                <a:cs typeface="+mn-cs"/>
              </a:rPr>
              <a:t>    public MainPage()</a:t>
            </a:r>
          </a:p>
          <a:p>
            <a:r>
              <a:rPr lang="fr-FR" sz="1200" kern="1200" dirty="0" smtClean="0">
                <a:solidFill>
                  <a:schemeClr val="tx1"/>
                </a:solidFill>
                <a:latin typeface="+mn-lt"/>
                <a:ea typeface="+mn-ea"/>
                <a:cs typeface="+mn-cs"/>
              </a:rPr>
              <a:t>{</a:t>
            </a:r>
          </a:p>
          <a:p>
            <a:r>
              <a:rPr lang="fr-FR" sz="1200" kern="1200" dirty="0" err="1" smtClean="0">
                <a:solidFill>
                  <a:schemeClr val="tx1"/>
                </a:solidFill>
                <a:latin typeface="+mn-lt"/>
                <a:ea typeface="+mn-ea"/>
                <a:cs typeface="+mn-cs"/>
              </a:rPr>
              <a:t>InitializeComponent</a:t>
            </a:r>
            <a:r>
              <a:rPr lang="fr-FR" sz="1200" kern="1200" dirty="0" smtClean="0">
                <a:solidFill>
                  <a:schemeClr val="tx1"/>
                </a:solidFill>
                <a:latin typeface="+mn-lt"/>
                <a:ea typeface="+mn-ea"/>
                <a:cs typeface="+mn-cs"/>
              </a:rPr>
              <a:t>();</a:t>
            </a:r>
          </a:p>
          <a:p>
            <a:endParaRPr lang="fr-FR" sz="1200" kern="1200" dirty="0" smtClean="0">
              <a:solidFill>
                <a:schemeClr val="tx1"/>
              </a:solidFill>
              <a:latin typeface="+mn-lt"/>
              <a:ea typeface="+mn-ea"/>
              <a:cs typeface="+mn-cs"/>
            </a:endParaRPr>
          </a:p>
          <a:p>
            <a:r>
              <a:rPr lang="fr-FR" sz="1200" kern="1200" dirty="0" err="1" smtClean="0">
                <a:solidFill>
                  <a:schemeClr val="tx1"/>
                </a:solidFill>
                <a:latin typeface="+mn-lt"/>
                <a:ea typeface="+mn-ea"/>
                <a:cs typeface="+mn-cs"/>
              </a:rPr>
              <a:t>image.Source</a:t>
            </a:r>
            <a:r>
              <a:rPr lang="fr-FR" sz="1200" kern="1200" dirty="0" smtClean="0">
                <a:solidFill>
                  <a:schemeClr val="tx1"/>
                </a:solidFill>
                <a:latin typeface="+mn-lt"/>
                <a:ea typeface="+mn-ea"/>
                <a:cs typeface="+mn-cs"/>
              </a:rPr>
              <a:t> = </a:t>
            </a:r>
            <a:r>
              <a:rPr lang="fr-FR" sz="1200" kern="1200" dirty="0" err="1" smtClean="0">
                <a:solidFill>
                  <a:schemeClr val="tx1"/>
                </a:solidFill>
                <a:latin typeface="+mn-lt"/>
                <a:ea typeface="+mn-ea"/>
                <a:cs typeface="+mn-cs"/>
              </a:rPr>
              <a:t>ImageSource.FromStream</a:t>
            </a:r>
            <a:r>
              <a:rPr lang="fr-FR" sz="1200" kern="1200" dirty="0" smtClean="0">
                <a:solidFill>
                  <a:schemeClr val="tx1"/>
                </a:solidFill>
                <a:latin typeface="+mn-lt"/>
                <a:ea typeface="+mn-ea"/>
                <a:cs typeface="+mn-cs"/>
              </a:rPr>
              <a:t>(</a:t>
            </a:r>
            <a:r>
              <a:rPr lang="fr-FR" sz="1200" kern="1200" dirty="0" err="1" smtClean="0">
                <a:solidFill>
                  <a:schemeClr val="tx1"/>
                </a:solidFill>
                <a:latin typeface="+mn-lt"/>
                <a:ea typeface="+mn-ea"/>
                <a:cs typeface="+mn-cs"/>
              </a:rPr>
              <a:t>getimage</a:t>
            </a:r>
            <a:r>
              <a:rPr lang="fr-FR" sz="1200" kern="1200" dirty="0" smtClean="0">
                <a:solidFill>
                  <a:schemeClr val="tx1"/>
                </a:solidFill>
                <a:latin typeface="+mn-lt"/>
                <a:ea typeface="+mn-ea"/>
                <a:cs typeface="+mn-cs"/>
              </a:rPr>
              <a:t>);</a:t>
            </a:r>
          </a:p>
          <a:p>
            <a:r>
              <a:rPr lang="fr-FR" sz="1200" kern="1200" dirty="0" smtClean="0">
                <a:solidFill>
                  <a:schemeClr val="tx1"/>
                </a:solidFill>
                <a:latin typeface="+mn-lt"/>
                <a:ea typeface="+mn-ea"/>
                <a:cs typeface="+mn-cs"/>
              </a:rPr>
              <a:t>}</a:t>
            </a:r>
          </a:p>
          <a:p>
            <a:endParaRPr lang="fr-FR" sz="1200" kern="1200" dirty="0" smtClean="0">
              <a:solidFill>
                <a:schemeClr val="tx1"/>
              </a:solidFill>
              <a:latin typeface="+mn-lt"/>
              <a:ea typeface="+mn-ea"/>
              <a:cs typeface="+mn-cs"/>
            </a:endParaRPr>
          </a:p>
          <a:p>
            <a:r>
              <a:rPr lang="fr-FR" sz="1200" kern="1200" dirty="0" smtClean="0">
                <a:solidFill>
                  <a:schemeClr val="tx1"/>
                </a:solidFill>
                <a:latin typeface="+mn-lt"/>
                <a:ea typeface="+mn-ea"/>
                <a:cs typeface="+mn-cs"/>
              </a:rPr>
              <a:t>    private Stream </a:t>
            </a:r>
            <a:r>
              <a:rPr lang="fr-FR" sz="1200" kern="1200" dirty="0" err="1" smtClean="0">
                <a:solidFill>
                  <a:schemeClr val="tx1"/>
                </a:solidFill>
                <a:latin typeface="+mn-lt"/>
                <a:ea typeface="+mn-ea"/>
                <a:cs typeface="+mn-cs"/>
              </a:rPr>
              <a:t>getimage</a:t>
            </a:r>
            <a:r>
              <a:rPr lang="fr-FR" sz="1200" kern="1200" dirty="0" smtClean="0">
                <a:solidFill>
                  <a:schemeClr val="tx1"/>
                </a:solidFill>
                <a:latin typeface="+mn-lt"/>
                <a:ea typeface="+mn-ea"/>
                <a:cs typeface="+mn-cs"/>
              </a:rPr>
              <a:t>()</a:t>
            </a:r>
          </a:p>
          <a:p>
            <a:r>
              <a:rPr lang="fr-FR" sz="1200" kern="1200" dirty="0" smtClean="0">
                <a:solidFill>
                  <a:schemeClr val="tx1"/>
                </a:solidFill>
                <a:latin typeface="+mn-lt"/>
                <a:ea typeface="+mn-ea"/>
                <a:cs typeface="+mn-cs"/>
              </a:rPr>
              <a:t>    {</a:t>
            </a:r>
          </a:p>
          <a:p>
            <a:r>
              <a:rPr lang="en-US" sz="1200" kern="1200" dirty="0" smtClean="0">
                <a:solidFill>
                  <a:schemeClr val="tx1"/>
                </a:solidFill>
                <a:latin typeface="+mn-lt"/>
                <a:ea typeface="+mn-ea"/>
                <a:cs typeface="+mn-cs"/>
              </a:rPr>
              <a:t>return new FileStream(_</a:t>
            </a:r>
            <a:r>
              <a:rPr lang="en-US" sz="1200" kern="1200" dirty="0" err="1" smtClean="0">
                <a:solidFill>
                  <a:schemeClr val="tx1"/>
                </a:solidFill>
                <a:latin typeface="+mn-lt"/>
                <a:ea typeface="+mn-ea"/>
                <a:cs typeface="+mn-cs"/>
              </a:rPr>
              <a:t>imagepath</a:t>
            </a:r>
            <a:r>
              <a:rPr lang="en-US" sz="1200" kern="1200" dirty="0" smtClean="0">
                <a:solidFill>
                  <a:schemeClr val="tx1"/>
                </a:solidFill>
                <a:latin typeface="+mn-lt"/>
                <a:ea typeface="+mn-ea"/>
                <a:cs typeface="+mn-cs"/>
              </a:rPr>
              <a:t>, </a:t>
            </a:r>
            <a:r>
              <a:rPr lang="en-US" sz="1200" kern="1200" dirty="0" err="1" smtClean="0">
                <a:solidFill>
                  <a:schemeClr val="tx1"/>
                </a:solidFill>
                <a:latin typeface="+mn-lt"/>
                <a:ea typeface="+mn-ea"/>
                <a:cs typeface="+mn-cs"/>
              </a:rPr>
              <a:t>FileMode.Open</a:t>
            </a:r>
            <a:r>
              <a:rPr lang="en-US" sz="1200" kern="1200" dirty="0" smtClean="0">
                <a:solidFill>
                  <a:schemeClr val="tx1"/>
                </a:solidFill>
                <a:latin typeface="+mn-lt"/>
                <a:ea typeface="+mn-ea"/>
                <a:cs typeface="+mn-cs"/>
              </a:rPr>
              <a:t>);</a:t>
            </a:r>
          </a:p>
          <a:p>
            <a:r>
              <a:rPr lang="fr-FR" sz="1200" kern="1200" dirty="0" smtClean="0">
                <a:solidFill>
                  <a:schemeClr val="tx1"/>
                </a:solidFill>
                <a:latin typeface="+mn-lt"/>
                <a:ea typeface="+mn-ea"/>
                <a:cs typeface="+mn-cs"/>
              </a:rPr>
              <a:t>    }</a:t>
            </a:r>
            <a:endParaRPr lang="fr-FR" sz="1200" b="0" i="0" kern="1200" dirty="0" smtClean="0">
              <a:solidFill>
                <a:schemeClr val="tx1"/>
              </a:solidFill>
              <a:effectLst/>
              <a:latin typeface="+mn-lt"/>
              <a:ea typeface="+mn-ea"/>
              <a:cs typeface="+mn-cs"/>
            </a:endParaRPr>
          </a:p>
          <a:p>
            <a:endParaRPr lang="fr-FR" sz="1200" b="0" i="0" kern="1200" dirty="0" smtClean="0">
              <a:solidFill>
                <a:schemeClr val="tx1"/>
              </a:solidFill>
              <a:effectLst/>
              <a:latin typeface="+mn-lt"/>
              <a:ea typeface="+mn-ea"/>
              <a:cs typeface="+mn-cs"/>
            </a:endParaRPr>
          </a:p>
          <a:p>
            <a:endParaRPr lang="fr-FR" sz="1200" b="0" i="0" kern="1200" dirty="0" smtClean="0">
              <a:solidFill>
                <a:schemeClr val="tx1"/>
              </a:solidFill>
              <a:effectLst/>
              <a:latin typeface="+mn-lt"/>
              <a:ea typeface="+mn-ea"/>
              <a:cs typeface="+mn-cs"/>
            </a:endParaRPr>
          </a:p>
          <a:p>
            <a:endParaRPr lang="fr-FR" dirty="0"/>
          </a:p>
        </p:txBody>
      </p:sp>
      <p:sp>
        <p:nvSpPr>
          <p:cNvPr id="4" name="Espace réservé du numéro de diapositive 3"/>
          <p:cNvSpPr>
            <a:spLocks noGrp="1"/>
          </p:cNvSpPr>
          <p:nvPr>
            <p:ph type="sldNum" sz="quarter" idx="10"/>
          </p:nvPr>
        </p:nvSpPr>
        <p:spPr/>
        <p:txBody>
          <a:bodyPr/>
          <a:lstStyle/>
          <a:p>
            <a:fld id="{C05E1AE6-1BFD-4589-9604-3D9D158FB781}" type="slidenum">
              <a:rPr lang="fr-FR" smtClean="0"/>
              <a:t>10</a:t>
            </a:fld>
            <a:endParaRPr lang="fr-FR"/>
          </a:p>
        </p:txBody>
      </p:sp>
    </p:spTree>
    <p:extLst>
      <p:ext uri="{BB962C8B-B14F-4D97-AF65-F5344CB8AC3E}">
        <p14:creationId xmlns:p14="http://schemas.microsoft.com/office/powerpoint/2010/main" val="18402411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b="1" i="0" kern="1200" dirty="0" smtClean="0">
                <a:solidFill>
                  <a:schemeClr val="tx1"/>
                </a:solidFill>
                <a:effectLst/>
                <a:latin typeface="+mn-lt"/>
                <a:ea typeface="+mn-ea"/>
                <a:cs typeface="+mn-cs"/>
              </a:rPr>
              <a:t>Exemple de propriétés du label</a:t>
            </a:r>
          </a:p>
          <a:p>
            <a:endParaRPr lang="fr-FR" sz="1200" b="1" i="0" kern="1200" dirty="0" smtClean="0">
              <a:solidFill>
                <a:schemeClr val="tx1"/>
              </a:solidFill>
              <a:effectLst/>
              <a:latin typeface="+mn-lt"/>
              <a:ea typeface="+mn-ea"/>
              <a:cs typeface="+mn-cs"/>
            </a:endParaRPr>
          </a:p>
          <a:p>
            <a:r>
              <a:rPr lang="fr-FR" sz="1200" b="1" i="0" kern="1200" dirty="0" smtClean="0">
                <a:solidFill>
                  <a:schemeClr val="tx1"/>
                </a:solidFill>
                <a:effectLst/>
                <a:latin typeface="+mn-lt"/>
                <a:ea typeface="+mn-ea"/>
                <a:cs typeface="+mn-cs"/>
              </a:rPr>
              <a:t>1️ </a:t>
            </a:r>
            <a:r>
              <a:rPr lang="fr-FR" sz="1200" b="1" i="0" kern="1200" dirty="0" err="1" smtClean="0">
                <a:solidFill>
                  <a:schemeClr val="tx1"/>
                </a:solidFill>
                <a:effectLst/>
                <a:latin typeface="+mn-lt"/>
                <a:ea typeface="+mn-ea"/>
                <a:cs typeface="+mn-cs"/>
              </a:rPr>
              <a:t>FormattedText</a:t>
            </a:r>
            <a:endParaRPr lang="en-US" sz="1200" b="0" i="0" kern="1200" dirty="0" smtClean="0">
              <a:solidFill>
                <a:schemeClr val="tx1"/>
              </a:solidFill>
              <a:effectLst/>
              <a:latin typeface="+mn-lt"/>
              <a:ea typeface="+mn-ea"/>
              <a:cs typeface="+mn-cs"/>
            </a:endParaRPr>
          </a:p>
          <a:p>
            <a:r>
              <a:rPr lang="en-US" sz="1200" b="0" i="0" kern="1200" dirty="0" err="1" smtClean="0">
                <a:solidFill>
                  <a:schemeClr val="tx1"/>
                </a:solidFill>
                <a:effectLst/>
                <a:latin typeface="+mn-lt"/>
                <a:ea typeface="+mn-ea"/>
                <a:cs typeface="+mn-cs"/>
              </a:rPr>
              <a:t>Permet</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d’avoir</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plusieurs</a:t>
            </a:r>
            <a:r>
              <a:rPr lang="en-US" sz="1200" b="0" i="0" kern="1200" dirty="0" smtClean="0">
                <a:solidFill>
                  <a:schemeClr val="tx1"/>
                </a:solidFill>
                <a:effectLst/>
                <a:latin typeface="+mn-lt"/>
                <a:ea typeface="+mn-ea"/>
                <a:cs typeface="+mn-cs"/>
              </a:rPr>
              <a:t> styles </a:t>
            </a:r>
            <a:r>
              <a:rPr lang="en-US" sz="1200" b="0" i="0" kern="1200" dirty="0" err="1" smtClean="0">
                <a:solidFill>
                  <a:schemeClr val="tx1"/>
                </a:solidFill>
                <a:effectLst/>
                <a:latin typeface="+mn-lt"/>
                <a:ea typeface="+mn-ea"/>
                <a:cs typeface="+mn-cs"/>
              </a:rPr>
              <a:t>dans</a:t>
            </a:r>
            <a:r>
              <a:rPr lang="en-US" sz="1200" b="0" i="0" kern="1200" dirty="0" smtClean="0">
                <a:solidFill>
                  <a:schemeClr val="tx1"/>
                </a:solidFill>
                <a:effectLst/>
                <a:latin typeface="+mn-lt"/>
                <a:ea typeface="+mn-ea"/>
                <a:cs typeface="+mn-cs"/>
              </a:rPr>
              <a:t> un </a:t>
            </a:r>
            <a:r>
              <a:rPr lang="en-US" sz="1200" b="0" i="0" kern="1200" dirty="0" err="1" smtClean="0">
                <a:solidFill>
                  <a:schemeClr val="tx1"/>
                </a:solidFill>
                <a:effectLst/>
                <a:latin typeface="+mn-lt"/>
                <a:ea typeface="+mn-ea"/>
                <a:cs typeface="+mn-cs"/>
              </a:rPr>
              <a:t>même</a:t>
            </a:r>
            <a:r>
              <a:rPr lang="en-US" sz="1200" b="0" i="0" kern="1200" dirty="0" smtClean="0">
                <a:solidFill>
                  <a:schemeClr val="tx1"/>
                </a:solidFill>
                <a:effectLst/>
                <a:latin typeface="+mn-lt"/>
                <a:ea typeface="+mn-ea"/>
                <a:cs typeface="+mn-cs"/>
              </a:rPr>
              <a:t> Label.</a:t>
            </a:r>
          </a:p>
          <a:p>
            <a:r>
              <a:rPr lang="en-US" sz="1200" kern="1200" dirty="0" smtClean="0">
                <a:solidFill>
                  <a:schemeClr val="tx1"/>
                </a:solidFill>
                <a:effectLst/>
                <a:latin typeface="+mn-lt"/>
                <a:ea typeface="+mn-ea"/>
                <a:cs typeface="+mn-cs"/>
              </a:rPr>
              <a:t>&lt;Label&gt;</a:t>
            </a:r>
            <a:r>
              <a:rPr lang="en-US" dirty="0" smtClean="0"/>
              <a:t> </a:t>
            </a:r>
            <a:r>
              <a:rPr lang="en-US" sz="1200" kern="1200" dirty="0" smtClean="0">
                <a:solidFill>
                  <a:schemeClr val="tx1"/>
                </a:solidFill>
                <a:effectLst/>
                <a:latin typeface="+mn-lt"/>
                <a:ea typeface="+mn-ea"/>
                <a:cs typeface="+mn-cs"/>
              </a:rPr>
              <a:t>&lt;</a:t>
            </a:r>
            <a:r>
              <a:rPr lang="en-US" sz="1200" kern="1200" dirty="0" err="1" smtClean="0">
                <a:solidFill>
                  <a:schemeClr val="tx1"/>
                </a:solidFill>
                <a:effectLst/>
                <a:latin typeface="+mn-lt"/>
                <a:ea typeface="+mn-ea"/>
                <a:cs typeface="+mn-cs"/>
              </a:rPr>
              <a:t>Label.FormattedText</a:t>
            </a:r>
            <a:r>
              <a:rPr lang="en-US" sz="1200" kern="1200" dirty="0" smtClean="0">
                <a:solidFill>
                  <a:schemeClr val="tx1"/>
                </a:solidFill>
                <a:effectLst/>
                <a:latin typeface="+mn-lt"/>
                <a:ea typeface="+mn-ea"/>
                <a:cs typeface="+mn-cs"/>
              </a:rPr>
              <a:t>&gt;</a:t>
            </a:r>
            <a:r>
              <a:rPr lang="en-US" dirty="0" smtClean="0"/>
              <a:t> </a:t>
            </a:r>
            <a:r>
              <a:rPr lang="en-US" sz="1200" kern="1200" dirty="0" smtClean="0">
                <a:solidFill>
                  <a:schemeClr val="tx1"/>
                </a:solidFill>
                <a:effectLst/>
                <a:latin typeface="+mn-lt"/>
                <a:ea typeface="+mn-ea"/>
                <a:cs typeface="+mn-cs"/>
              </a:rPr>
              <a:t>&lt;</a:t>
            </a:r>
            <a:r>
              <a:rPr lang="en-US" sz="1200" kern="1200" dirty="0" err="1" smtClean="0">
                <a:solidFill>
                  <a:schemeClr val="tx1"/>
                </a:solidFill>
                <a:effectLst/>
                <a:latin typeface="+mn-lt"/>
                <a:ea typeface="+mn-ea"/>
                <a:cs typeface="+mn-cs"/>
              </a:rPr>
              <a:t>FormattedString</a:t>
            </a:r>
            <a:r>
              <a:rPr lang="en-US" sz="1200" kern="1200" dirty="0" smtClean="0">
                <a:solidFill>
                  <a:schemeClr val="tx1"/>
                </a:solidFill>
                <a:effectLst/>
                <a:latin typeface="+mn-lt"/>
                <a:ea typeface="+mn-ea"/>
                <a:cs typeface="+mn-cs"/>
              </a:rPr>
              <a:t>&gt;</a:t>
            </a:r>
            <a:r>
              <a:rPr lang="en-US" dirty="0" smtClean="0"/>
              <a:t> </a:t>
            </a:r>
            <a:r>
              <a:rPr lang="en-US" sz="1200" kern="1200" dirty="0" smtClean="0">
                <a:solidFill>
                  <a:schemeClr val="tx1"/>
                </a:solidFill>
                <a:effectLst/>
                <a:latin typeface="+mn-lt"/>
                <a:ea typeface="+mn-ea"/>
                <a:cs typeface="+mn-cs"/>
              </a:rPr>
              <a:t>&lt;Span Text="Bonjour " </a:t>
            </a:r>
            <a:r>
              <a:rPr lang="en-US" sz="1200" kern="1200" dirty="0" err="1" smtClean="0">
                <a:solidFill>
                  <a:schemeClr val="tx1"/>
                </a:solidFill>
                <a:effectLst/>
                <a:latin typeface="+mn-lt"/>
                <a:ea typeface="+mn-ea"/>
                <a:cs typeface="+mn-cs"/>
              </a:rPr>
              <a:t>FontAttributes</a:t>
            </a:r>
            <a:r>
              <a:rPr lang="en-US" sz="1200" kern="1200" dirty="0" smtClean="0">
                <a:solidFill>
                  <a:schemeClr val="tx1"/>
                </a:solidFill>
                <a:effectLst/>
                <a:latin typeface="+mn-lt"/>
                <a:ea typeface="+mn-ea"/>
                <a:cs typeface="+mn-cs"/>
              </a:rPr>
              <a:t>="Bold" </a:t>
            </a:r>
            <a:r>
              <a:rPr lang="en-US" sz="1200" kern="1200" dirty="0" err="1" smtClean="0">
                <a:solidFill>
                  <a:schemeClr val="tx1"/>
                </a:solidFill>
                <a:effectLst/>
                <a:latin typeface="+mn-lt"/>
                <a:ea typeface="+mn-ea"/>
                <a:cs typeface="+mn-cs"/>
              </a:rPr>
              <a:t>FontSize</a:t>
            </a:r>
            <a:r>
              <a:rPr lang="en-US" sz="1200" kern="1200" dirty="0" smtClean="0">
                <a:solidFill>
                  <a:schemeClr val="tx1"/>
                </a:solidFill>
                <a:effectLst/>
                <a:latin typeface="+mn-lt"/>
                <a:ea typeface="+mn-ea"/>
                <a:cs typeface="+mn-cs"/>
              </a:rPr>
              <a:t>="20" /&gt;</a:t>
            </a:r>
            <a:r>
              <a:rPr lang="en-US" dirty="0" smtClean="0"/>
              <a:t> </a:t>
            </a:r>
            <a:r>
              <a:rPr lang="en-US" sz="1200" kern="1200" dirty="0" smtClean="0">
                <a:solidFill>
                  <a:schemeClr val="tx1"/>
                </a:solidFill>
                <a:effectLst/>
                <a:latin typeface="+mn-lt"/>
                <a:ea typeface="+mn-ea"/>
                <a:cs typeface="+mn-cs"/>
              </a:rPr>
              <a:t>&lt;Span Text="MAUI" </a:t>
            </a:r>
            <a:r>
              <a:rPr lang="en-US" sz="1200" kern="1200" dirty="0" err="1" smtClean="0">
                <a:solidFill>
                  <a:schemeClr val="tx1"/>
                </a:solidFill>
                <a:effectLst/>
                <a:latin typeface="+mn-lt"/>
                <a:ea typeface="+mn-ea"/>
                <a:cs typeface="+mn-cs"/>
              </a:rPr>
              <a:t>TextColor</a:t>
            </a:r>
            <a:r>
              <a:rPr lang="en-US" sz="1200" kern="1200" dirty="0" smtClean="0">
                <a:solidFill>
                  <a:schemeClr val="tx1"/>
                </a:solidFill>
                <a:effectLst/>
                <a:latin typeface="+mn-lt"/>
                <a:ea typeface="+mn-ea"/>
                <a:cs typeface="+mn-cs"/>
              </a:rPr>
              <a:t>="</a:t>
            </a:r>
            <a:r>
              <a:rPr lang="en-US" sz="1200" kern="1200" dirty="0" err="1" smtClean="0">
                <a:solidFill>
                  <a:schemeClr val="tx1"/>
                </a:solidFill>
                <a:effectLst/>
                <a:latin typeface="+mn-lt"/>
                <a:ea typeface="+mn-ea"/>
                <a:cs typeface="+mn-cs"/>
              </a:rPr>
              <a:t>DarkOrange</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FontAttributes</a:t>
            </a:r>
            <a:r>
              <a:rPr lang="en-US" sz="1200" kern="1200" dirty="0" smtClean="0">
                <a:solidFill>
                  <a:schemeClr val="tx1"/>
                </a:solidFill>
                <a:effectLst/>
                <a:latin typeface="+mn-lt"/>
                <a:ea typeface="+mn-ea"/>
                <a:cs typeface="+mn-cs"/>
              </a:rPr>
              <a:t>="Italic" /&gt;</a:t>
            </a:r>
            <a:r>
              <a:rPr lang="en-US" dirty="0" smtClean="0"/>
              <a:t> </a:t>
            </a:r>
            <a:r>
              <a:rPr lang="en-US" sz="1200" kern="1200" dirty="0" smtClean="0">
                <a:solidFill>
                  <a:schemeClr val="tx1"/>
                </a:solidFill>
                <a:effectLst/>
                <a:latin typeface="+mn-lt"/>
                <a:ea typeface="+mn-ea"/>
                <a:cs typeface="+mn-cs"/>
              </a:rPr>
              <a:t>&lt;Span Text=" !" </a:t>
            </a:r>
            <a:r>
              <a:rPr lang="en-US" sz="1200" kern="1200" dirty="0" err="1" smtClean="0">
                <a:solidFill>
                  <a:schemeClr val="tx1"/>
                </a:solidFill>
                <a:effectLst/>
                <a:latin typeface="+mn-lt"/>
                <a:ea typeface="+mn-ea"/>
                <a:cs typeface="+mn-cs"/>
              </a:rPr>
              <a:t>FontSize</a:t>
            </a:r>
            <a:r>
              <a:rPr lang="en-US" sz="1200" kern="1200" dirty="0" smtClean="0">
                <a:solidFill>
                  <a:schemeClr val="tx1"/>
                </a:solidFill>
                <a:effectLst/>
                <a:latin typeface="+mn-lt"/>
                <a:ea typeface="+mn-ea"/>
                <a:cs typeface="+mn-cs"/>
              </a:rPr>
              <a:t>="24" </a:t>
            </a:r>
            <a:r>
              <a:rPr lang="en-US" sz="1200" kern="1200" dirty="0" err="1" smtClean="0">
                <a:solidFill>
                  <a:schemeClr val="tx1"/>
                </a:solidFill>
                <a:effectLst/>
                <a:latin typeface="+mn-lt"/>
                <a:ea typeface="+mn-ea"/>
                <a:cs typeface="+mn-cs"/>
              </a:rPr>
              <a:t>TextColor</a:t>
            </a:r>
            <a:r>
              <a:rPr lang="en-US" sz="1200" kern="1200" dirty="0" smtClean="0">
                <a:solidFill>
                  <a:schemeClr val="tx1"/>
                </a:solidFill>
                <a:effectLst/>
                <a:latin typeface="+mn-lt"/>
                <a:ea typeface="+mn-ea"/>
                <a:cs typeface="+mn-cs"/>
              </a:rPr>
              <a:t>="Green"/&gt;</a:t>
            </a:r>
            <a:r>
              <a:rPr lang="en-US" dirty="0" smtClean="0"/>
              <a:t> </a:t>
            </a:r>
            <a:r>
              <a:rPr lang="en-US" sz="1200" kern="1200" dirty="0" smtClean="0">
                <a:solidFill>
                  <a:schemeClr val="tx1"/>
                </a:solidFill>
                <a:effectLst/>
                <a:latin typeface="+mn-lt"/>
                <a:ea typeface="+mn-ea"/>
                <a:cs typeface="+mn-cs"/>
              </a:rPr>
              <a:t>&lt;/</a:t>
            </a:r>
            <a:r>
              <a:rPr lang="en-US" sz="1200" kern="1200" dirty="0" err="1" smtClean="0">
                <a:solidFill>
                  <a:schemeClr val="tx1"/>
                </a:solidFill>
                <a:effectLst/>
                <a:latin typeface="+mn-lt"/>
                <a:ea typeface="+mn-ea"/>
                <a:cs typeface="+mn-cs"/>
              </a:rPr>
              <a:t>FormattedString</a:t>
            </a:r>
            <a:r>
              <a:rPr lang="en-US" sz="1200" kern="1200" dirty="0" smtClean="0">
                <a:solidFill>
                  <a:schemeClr val="tx1"/>
                </a:solidFill>
                <a:effectLst/>
                <a:latin typeface="+mn-lt"/>
                <a:ea typeface="+mn-ea"/>
                <a:cs typeface="+mn-cs"/>
              </a:rPr>
              <a:t>&gt;</a:t>
            </a:r>
            <a:r>
              <a:rPr lang="en-US" dirty="0" smtClean="0"/>
              <a:t> </a:t>
            </a:r>
            <a:r>
              <a:rPr lang="en-US" sz="1200" kern="1200" dirty="0" smtClean="0">
                <a:solidFill>
                  <a:schemeClr val="tx1"/>
                </a:solidFill>
                <a:effectLst/>
                <a:latin typeface="+mn-lt"/>
                <a:ea typeface="+mn-ea"/>
                <a:cs typeface="+mn-cs"/>
              </a:rPr>
              <a:t>&lt;/</a:t>
            </a:r>
            <a:r>
              <a:rPr lang="en-US" sz="1200" kern="1200" dirty="0" err="1" smtClean="0">
                <a:solidFill>
                  <a:schemeClr val="tx1"/>
                </a:solidFill>
                <a:effectLst/>
                <a:latin typeface="+mn-lt"/>
                <a:ea typeface="+mn-ea"/>
                <a:cs typeface="+mn-cs"/>
              </a:rPr>
              <a:t>Label.FormattedText</a:t>
            </a:r>
            <a:r>
              <a:rPr lang="en-US" sz="1200" kern="1200" dirty="0" smtClean="0">
                <a:solidFill>
                  <a:schemeClr val="tx1"/>
                </a:solidFill>
                <a:effectLst/>
                <a:latin typeface="+mn-lt"/>
                <a:ea typeface="+mn-ea"/>
                <a:cs typeface="+mn-cs"/>
              </a:rPr>
              <a:t>&gt;</a:t>
            </a:r>
            <a:r>
              <a:rPr lang="en-US" dirty="0" smtClean="0"/>
              <a:t> </a:t>
            </a:r>
            <a:r>
              <a:rPr lang="en-US" sz="1200" kern="1200" dirty="0" smtClean="0">
                <a:solidFill>
                  <a:schemeClr val="tx1"/>
                </a:solidFill>
                <a:effectLst/>
                <a:latin typeface="+mn-lt"/>
                <a:ea typeface="+mn-ea"/>
                <a:cs typeface="+mn-cs"/>
              </a:rPr>
              <a:t>&lt;/Label&gt;</a:t>
            </a:r>
            <a:r>
              <a:rPr lang="en-US" dirty="0" smtClean="0"/>
              <a:t> </a:t>
            </a:r>
          </a:p>
          <a:p>
            <a:endParaRPr lang="en-US" sz="1200" b="1" i="0" kern="1200" dirty="0" smtClean="0">
              <a:solidFill>
                <a:schemeClr val="tx1"/>
              </a:solidFill>
              <a:effectLst/>
              <a:latin typeface="+mn-lt"/>
              <a:ea typeface="+mn-ea"/>
              <a:cs typeface="+mn-cs"/>
            </a:endParaRPr>
          </a:p>
          <a:p>
            <a:r>
              <a:rPr lang="en-US" sz="1200" b="1" i="0" kern="1200" dirty="0" smtClean="0">
                <a:solidFill>
                  <a:schemeClr val="tx1"/>
                </a:solidFill>
                <a:effectLst/>
                <a:latin typeface="+mn-lt"/>
                <a:ea typeface="+mn-ea"/>
                <a:cs typeface="+mn-cs"/>
              </a:rPr>
              <a:t>2️ </a:t>
            </a:r>
            <a:r>
              <a:rPr lang="en-US" sz="1200" b="1" i="0" kern="1200" dirty="0" err="1" smtClean="0">
                <a:solidFill>
                  <a:schemeClr val="tx1"/>
                </a:solidFill>
                <a:effectLst/>
                <a:latin typeface="+mn-lt"/>
                <a:ea typeface="+mn-ea"/>
                <a:cs typeface="+mn-cs"/>
              </a:rPr>
              <a:t>HorizontalTextAlignment</a:t>
            </a:r>
            <a:endParaRPr lang="en-US" sz="1200" b="1"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Aligner le </a:t>
            </a:r>
            <a:r>
              <a:rPr lang="en-US" sz="1200" b="0" i="0" kern="1200" dirty="0" err="1" smtClean="0">
                <a:solidFill>
                  <a:schemeClr val="tx1"/>
                </a:solidFill>
                <a:effectLst/>
                <a:latin typeface="+mn-lt"/>
                <a:ea typeface="+mn-ea"/>
                <a:cs typeface="+mn-cs"/>
              </a:rPr>
              <a:t>texte</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horizontalement</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dans</a:t>
            </a:r>
            <a:r>
              <a:rPr lang="en-US" sz="1200" b="0" i="0" kern="1200" dirty="0" smtClean="0">
                <a:solidFill>
                  <a:schemeClr val="tx1"/>
                </a:solidFill>
                <a:effectLst/>
                <a:latin typeface="+mn-lt"/>
                <a:ea typeface="+mn-ea"/>
                <a:cs typeface="+mn-cs"/>
              </a:rPr>
              <a:t> son </a:t>
            </a:r>
            <a:r>
              <a:rPr lang="en-US" sz="1200" b="0" i="0" kern="1200" dirty="0" err="1" smtClean="0">
                <a:solidFill>
                  <a:schemeClr val="tx1"/>
                </a:solidFill>
                <a:effectLst/>
                <a:latin typeface="+mn-lt"/>
                <a:ea typeface="+mn-ea"/>
                <a:cs typeface="+mn-cs"/>
              </a:rPr>
              <a:t>conteneur</a:t>
            </a:r>
            <a:r>
              <a:rPr lang="en-US" sz="1200" b="0" i="0" kern="1200" dirty="0" smtClean="0">
                <a:solidFill>
                  <a:schemeClr val="tx1"/>
                </a:solidFill>
                <a:effectLst/>
                <a:latin typeface="+mn-lt"/>
                <a:ea typeface="+mn-ea"/>
                <a:cs typeface="+mn-cs"/>
              </a:rPr>
              <a:t>.</a:t>
            </a:r>
          </a:p>
          <a:p>
            <a:r>
              <a:rPr lang="en-US" sz="1200" kern="1200" dirty="0" smtClean="0">
                <a:solidFill>
                  <a:schemeClr val="tx1"/>
                </a:solidFill>
                <a:effectLst/>
                <a:latin typeface="+mn-lt"/>
                <a:ea typeface="+mn-ea"/>
                <a:cs typeface="+mn-cs"/>
              </a:rPr>
              <a:t>&lt;Label Text="</a:t>
            </a:r>
            <a:r>
              <a:rPr lang="en-US" sz="1200" kern="1200" dirty="0" err="1" smtClean="0">
                <a:solidFill>
                  <a:schemeClr val="tx1"/>
                </a:solidFill>
                <a:effectLst/>
                <a:latin typeface="+mn-lt"/>
                <a:ea typeface="+mn-ea"/>
                <a:cs typeface="+mn-cs"/>
              </a:rPr>
              <a:t>Texte</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aligné</a:t>
            </a:r>
            <a:r>
              <a:rPr lang="en-US" sz="1200" kern="1200" dirty="0" smtClean="0">
                <a:solidFill>
                  <a:schemeClr val="tx1"/>
                </a:solidFill>
                <a:effectLst/>
                <a:latin typeface="+mn-lt"/>
                <a:ea typeface="+mn-ea"/>
                <a:cs typeface="+mn-cs"/>
              </a:rPr>
              <a:t> à </a:t>
            </a:r>
            <a:r>
              <a:rPr lang="en-US" sz="1200" kern="1200" dirty="0" err="1" smtClean="0">
                <a:solidFill>
                  <a:schemeClr val="tx1"/>
                </a:solidFill>
                <a:effectLst/>
                <a:latin typeface="+mn-lt"/>
                <a:ea typeface="+mn-ea"/>
                <a:cs typeface="+mn-cs"/>
              </a:rPr>
              <a:t>droite</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HorizontalTextAlignment</a:t>
            </a:r>
            <a:r>
              <a:rPr lang="en-US" sz="1200" kern="1200" dirty="0" smtClean="0">
                <a:solidFill>
                  <a:schemeClr val="tx1"/>
                </a:solidFill>
                <a:effectLst/>
                <a:latin typeface="+mn-lt"/>
                <a:ea typeface="+mn-ea"/>
                <a:cs typeface="+mn-cs"/>
              </a:rPr>
              <a:t>="End" </a:t>
            </a:r>
            <a:r>
              <a:rPr lang="en-US" sz="1200" kern="1200" dirty="0" err="1" smtClean="0">
                <a:solidFill>
                  <a:schemeClr val="tx1"/>
                </a:solidFill>
                <a:effectLst/>
                <a:latin typeface="+mn-lt"/>
                <a:ea typeface="+mn-ea"/>
                <a:cs typeface="+mn-cs"/>
              </a:rPr>
              <a:t>BackgroundColor</a:t>
            </a:r>
            <a:r>
              <a:rPr lang="en-US" sz="1200" kern="1200" dirty="0" smtClean="0">
                <a:solidFill>
                  <a:schemeClr val="tx1"/>
                </a:solidFill>
                <a:effectLst/>
                <a:latin typeface="+mn-lt"/>
                <a:ea typeface="+mn-ea"/>
                <a:cs typeface="+mn-cs"/>
              </a:rPr>
              <a:t>="</a:t>
            </a:r>
            <a:r>
              <a:rPr lang="en-US" sz="1200" kern="1200" dirty="0" err="1" smtClean="0">
                <a:solidFill>
                  <a:schemeClr val="tx1"/>
                </a:solidFill>
                <a:effectLst/>
                <a:latin typeface="+mn-lt"/>
                <a:ea typeface="+mn-ea"/>
                <a:cs typeface="+mn-cs"/>
              </a:rPr>
              <a:t>LightGray</a:t>
            </a:r>
            <a:r>
              <a:rPr lang="en-US" sz="1200" kern="1200" dirty="0" smtClean="0">
                <a:solidFill>
                  <a:schemeClr val="tx1"/>
                </a:solidFill>
                <a:effectLst/>
                <a:latin typeface="+mn-lt"/>
                <a:ea typeface="+mn-ea"/>
                <a:cs typeface="+mn-cs"/>
              </a:rPr>
              <a:t>"/&gt;</a:t>
            </a:r>
            <a:r>
              <a:rPr lang="en-US" dirty="0" smtClean="0"/>
              <a:t> </a:t>
            </a:r>
            <a:r>
              <a:rPr lang="en-US" sz="1200" b="1" i="0" kern="1200" dirty="0" smtClean="0">
                <a:solidFill>
                  <a:schemeClr val="tx1"/>
                </a:solidFill>
                <a:effectLst/>
                <a:latin typeface="+mn-lt"/>
                <a:ea typeface="+mn-ea"/>
                <a:cs typeface="+mn-cs"/>
              </a:rPr>
              <a:t>3️ </a:t>
            </a:r>
            <a:r>
              <a:rPr lang="en-US" sz="1200" b="1" i="0" kern="1200" dirty="0" err="1" smtClean="0">
                <a:solidFill>
                  <a:schemeClr val="tx1"/>
                </a:solidFill>
                <a:effectLst/>
                <a:latin typeface="+mn-lt"/>
                <a:ea typeface="+mn-ea"/>
                <a:cs typeface="+mn-cs"/>
              </a:rPr>
              <a:t>LineBreakMode</a:t>
            </a:r>
            <a:r>
              <a:rPr lang="en-US" sz="1200" b="1" i="0" kern="1200" dirty="0" smtClean="0">
                <a:solidFill>
                  <a:schemeClr val="tx1"/>
                </a:solidFill>
                <a:effectLst/>
                <a:latin typeface="+mn-lt"/>
                <a:ea typeface="+mn-ea"/>
                <a:cs typeface="+mn-cs"/>
              </a:rPr>
              <a:t>**</a:t>
            </a:r>
          </a:p>
          <a:p>
            <a:r>
              <a:rPr lang="en-US" sz="1200" b="0" i="0" kern="1200" dirty="0" err="1" smtClean="0">
                <a:solidFill>
                  <a:schemeClr val="tx1"/>
                </a:solidFill>
                <a:effectLst/>
                <a:latin typeface="+mn-lt"/>
                <a:ea typeface="+mn-ea"/>
                <a:cs typeface="+mn-cs"/>
              </a:rPr>
              <a:t>Gérer</a:t>
            </a:r>
            <a:r>
              <a:rPr lang="en-US" sz="1200" b="0" i="0" kern="1200" dirty="0" smtClean="0">
                <a:solidFill>
                  <a:schemeClr val="tx1"/>
                </a:solidFill>
                <a:effectLst/>
                <a:latin typeface="+mn-lt"/>
                <a:ea typeface="+mn-ea"/>
                <a:cs typeface="+mn-cs"/>
              </a:rPr>
              <a:t> comment le </a:t>
            </a:r>
            <a:r>
              <a:rPr lang="en-US" sz="1200" b="0" i="0" kern="1200" dirty="0" err="1" smtClean="0">
                <a:solidFill>
                  <a:schemeClr val="tx1"/>
                </a:solidFill>
                <a:effectLst/>
                <a:latin typeface="+mn-lt"/>
                <a:ea typeface="+mn-ea"/>
                <a:cs typeface="+mn-cs"/>
              </a:rPr>
              <a:t>texte</a:t>
            </a:r>
            <a:r>
              <a:rPr lang="en-US" sz="1200" b="0" i="0" kern="1200" dirty="0" smtClean="0">
                <a:solidFill>
                  <a:schemeClr val="tx1"/>
                </a:solidFill>
                <a:effectLst/>
                <a:latin typeface="+mn-lt"/>
                <a:ea typeface="+mn-ea"/>
                <a:cs typeface="+mn-cs"/>
              </a:rPr>
              <a:t> coupe </a:t>
            </a:r>
            <a:r>
              <a:rPr lang="en-US" sz="1200" b="0" i="0" kern="1200" dirty="0" err="1" smtClean="0">
                <a:solidFill>
                  <a:schemeClr val="tx1"/>
                </a:solidFill>
                <a:effectLst/>
                <a:latin typeface="+mn-lt"/>
                <a:ea typeface="+mn-ea"/>
                <a:cs typeface="+mn-cs"/>
              </a:rPr>
              <a:t>ou</a:t>
            </a:r>
            <a:r>
              <a:rPr lang="en-US" sz="1200" b="0" i="0" kern="1200" dirty="0" smtClean="0">
                <a:solidFill>
                  <a:schemeClr val="tx1"/>
                </a:solidFill>
                <a:effectLst/>
                <a:latin typeface="+mn-lt"/>
                <a:ea typeface="+mn-ea"/>
                <a:cs typeface="+mn-cs"/>
              </a:rPr>
              <a:t> pas.</a:t>
            </a:r>
          </a:p>
          <a:p>
            <a:r>
              <a:rPr lang="en-US" sz="1200" kern="1200" dirty="0" smtClean="0">
                <a:solidFill>
                  <a:schemeClr val="tx1"/>
                </a:solidFill>
                <a:effectLst/>
                <a:latin typeface="+mn-lt"/>
                <a:ea typeface="+mn-ea"/>
                <a:cs typeface="+mn-cs"/>
              </a:rPr>
              <a:t>&lt;Label Text="</a:t>
            </a:r>
            <a:r>
              <a:rPr lang="en-US" sz="1200" kern="1200" dirty="0" err="1" smtClean="0">
                <a:solidFill>
                  <a:schemeClr val="tx1"/>
                </a:solidFill>
                <a:effectLst/>
                <a:latin typeface="+mn-lt"/>
                <a:ea typeface="+mn-ea"/>
                <a:cs typeface="+mn-cs"/>
              </a:rPr>
              <a:t>Ceci</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est</a:t>
            </a:r>
            <a:r>
              <a:rPr lang="en-US" sz="1200" kern="1200" dirty="0" smtClean="0">
                <a:solidFill>
                  <a:schemeClr val="tx1"/>
                </a:solidFill>
                <a:effectLst/>
                <a:latin typeface="+mn-lt"/>
                <a:ea typeface="+mn-ea"/>
                <a:cs typeface="+mn-cs"/>
              </a:rPr>
              <a:t> un </a:t>
            </a:r>
            <a:r>
              <a:rPr lang="en-US" sz="1200" kern="1200" dirty="0" err="1" smtClean="0">
                <a:solidFill>
                  <a:schemeClr val="tx1"/>
                </a:solidFill>
                <a:effectLst/>
                <a:latin typeface="+mn-lt"/>
                <a:ea typeface="+mn-ea"/>
                <a:cs typeface="+mn-cs"/>
              </a:rPr>
              <a:t>texte</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très</a:t>
            </a:r>
            <a:r>
              <a:rPr lang="en-US" sz="1200" kern="1200" dirty="0" smtClean="0">
                <a:solidFill>
                  <a:schemeClr val="tx1"/>
                </a:solidFill>
                <a:effectLst/>
                <a:latin typeface="+mn-lt"/>
                <a:ea typeface="+mn-ea"/>
                <a:cs typeface="+mn-cs"/>
              </a:rPr>
              <a:t> long qui </a:t>
            </a:r>
            <a:r>
              <a:rPr lang="en-US" sz="1200" kern="1200" dirty="0" err="1" smtClean="0">
                <a:solidFill>
                  <a:schemeClr val="tx1"/>
                </a:solidFill>
                <a:effectLst/>
                <a:latin typeface="+mn-lt"/>
                <a:ea typeface="+mn-ea"/>
                <a:cs typeface="+mn-cs"/>
              </a:rPr>
              <a:t>devrait</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normalement</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dépasser</a:t>
            </a:r>
            <a:r>
              <a:rPr lang="en-US" sz="1200" kern="1200" dirty="0" smtClean="0">
                <a:solidFill>
                  <a:schemeClr val="tx1"/>
                </a:solidFill>
                <a:effectLst/>
                <a:latin typeface="+mn-lt"/>
                <a:ea typeface="+mn-ea"/>
                <a:cs typeface="+mn-cs"/>
              </a:rPr>
              <a:t> la </a:t>
            </a:r>
            <a:r>
              <a:rPr lang="en-US" sz="1200" kern="1200" dirty="0" err="1" smtClean="0">
                <a:solidFill>
                  <a:schemeClr val="tx1"/>
                </a:solidFill>
                <a:effectLst/>
                <a:latin typeface="+mn-lt"/>
                <a:ea typeface="+mn-ea"/>
                <a:cs typeface="+mn-cs"/>
              </a:rPr>
              <a:t>largeur</a:t>
            </a:r>
            <a:r>
              <a:rPr lang="en-US" sz="1200" kern="1200" dirty="0" smtClean="0">
                <a:solidFill>
                  <a:schemeClr val="tx1"/>
                </a:solidFill>
                <a:effectLst/>
                <a:latin typeface="+mn-lt"/>
                <a:ea typeface="+mn-ea"/>
                <a:cs typeface="+mn-cs"/>
              </a:rPr>
              <a:t> du label, </a:t>
            </a:r>
            <a:r>
              <a:rPr lang="en-US" sz="1200" kern="1200" dirty="0" err="1" smtClean="0">
                <a:solidFill>
                  <a:schemeClr val="tx1"/>
                </a:solidFill>
                <a:effectLst/>
                <a:latin typeface="+mn-lt"/>
                <a:ea typeface="+mn-ea"/>
                <a:cs typeface="+mn-cs"/>
              </a:rPr>
              <a:t>mais</a:t>
            </a:r>
            <a:r>
              <a:rPr lang="en-US" sz="1200" kern="1200" dirty="0" smtClean="0">
                <a:solidFill>
                  <a:schemeClr val="tx1"/>
                </a:solidFill>
                <a:effectLst/>
                <a:latin typeface="+mn-lt"/>
                <a:ea typeface="+mn-ea"/>
                <a:cs typeface="+mn-cs"/>
              </a:rPr>
              <a:t> on </a:t>
            </a:r>
            <a:r>
              <a:rPr lang="en-US" sz="1200" kern="1200" dirty="0" err="1" smtClean="0">
                <a:solidFill>
                  <a:schemeClr val="tx1"/>
                </a:solidFill>
                <a:effectLst/>
                <a:latin typeface="+mn-lt"/>
                <a:ea typeface="+mn-ea"/>
                <a:cs typeface="+mn-cs"/>
              </a:rPr>
              <a:t>va</a:t>
            </a:r>
            <a:r>
              <a:rPr lang="en-US" sz="1200" kern="1200" dirty="0" smtClean="0">
                <a:solidFill>
                  <a:schemeClr val="tx1"/>
                </a:solidFill>
                <a:effectLst/>
                <a:latin typeface="+mn-lt"/>
                <a:ea typeface="+mn-ea"/>
                <a:cs typeface="+mn-cs"/>
              </a:rPr>
              <a:t> forcer un ellipsis." </a:t>
            </a:r>
            <a:r>
              <a:rPr lang="en-US" sz="1200" kern="1200" dirty="0" err="1" smtClean="0">
                <a:solidFill>
                  <a:schemeClr val="tx1"/>
                </a:solidFill>
                <a:effectLst/>
                <a:latin typeface="+mn-lt"/>
                <a:ea typeface="+mn-ea"/>
                <a:cs typeface="+mn-cs"/>
              </a:rPr>
              <a:t>LineBreakMode</a:t>
            </a:r>
            <a:r>
              <a:rPr lang="en-US" sz="1200" kern="1200" dirty="0" smtClean="0">
                <a:solidFill>
                  <a:schemeClr val="tx1"/>
                </a:solidFill>
                <a:effectLst/>
                <a:latin typeface="+mn-lt"/>
                <a:ea typeface="+mn-ea"/>
                <a:cs typeface="+mn-cs"/>
              </a:rPr>
              <a:t>="</a:t>
            </a:r>
            <a:r>
              <a:rPr lang="en-US" sz="1200" kern="1200" dirty="0" err="1" smtClean="0">
                <a:solidFill>
                  <a:schemeClr val="tx1"/>
                </a:solidFill>
                <a:effectLst/>
                <a:latin typeface="+mn-lt"/>
                <a:ea typeface="+mn-ea"/>
                <a:cs typeface="+mn-cs"/>
              </a:rPr>
              <a:t>TailTruncation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WidthRequest</a:t>
            </a:r>
            <a:r>
              <a:rPr lang="en-US" sz="1200" kern="1200" dirty="0" smtClean="0">
                <a:solidFill>
                  <a:schemeClr val="tx1"/>
                </a:solidFill>
                <a:effectLst/>
                <a:latin typeface="+mn-lt"/>
                <a:ea typeface="+mn-ea"/>
                <a:cs typeface="+mn-cs"/>
              </a:rPr>
              <a:t>="200" </a:t>
            </a:r>
            <a:r>
              <a:rPr lang="en-US" sz="1200" kern="1200" dirty="0" err="1" smtClean="0">
                <a:solidFill>
                  <a:schemeClr val="tx1"/>
                </a:solidFill>
                <a:effectLst/>
                <a:latin typeface="+mn-lt"/>
                <a:ea typeface="+mn-ea"/>
                <a:cs typeface="+mn-cs"/>
              </a:rPr>
              <a:t>BackgroundColor</a:t>
            </a:r>
            <a:r>
              <a:rPr lang="en-US" sz="1200" kern="1200" dirty="0" smtClean="0">
                <a:solidFill>
                  <a:schemeClr val="tx1"/>
                </a:solidFill>
                <a:effectLst/>
                <a:latin typeface="+mn-lt"/>
                <a:ea typeface="+mn-ea"/>
                <a:cs typeface="+mn-cs"/>
              </a:rPr>
              <a:t>="</a:t>
            </a:r>
            <a:r>
              <a:rPr lang="en-US" sz="1200" kern="1200" dirty="0" err="1" smtClean="0">
                <a:solidFill>
                  <a:schemeClr val="tx1"/>
                </a:solidFill>
                <a:effectLst/>
                <a:latin typeface="+mn-lt"/>
                <a:ea typeface="+mn-ea"/>
                <a:cs typeface="+mn-cs"/>
              </a:rPr>
              <a:t>LightBlue</a:t>
            </a:r>
            <a:r>
              <a:rPr lang="en-US" sz="1200" kern="1200" dirty="0" smtClean="0">
                <a:solidFill>
                  <a:schemeClr val="tx1"/>
                </a:solidFill>
                <a:effectLst/>
                <a:latin typeface="+mn-lt"/>
                <a:ea typeface="+mn-ea"/>
                <a:cs typeface="+mn-cs"/>
              </a:rPr>
              <a:t>"/&gt;</a:t>
            </a:r>
            <a:r>
              <a:rPr lang="en-US" dirty="0" smtClean="0"/>
              <a:t> </a:t>
            </a:r>
          </a:p>
          <a:p>
            <a:endParaRPr lang="en-US" sz="1200" b="1" i="0" kern="1200" dirty="0" smtClean="0">
              <a:solidFill>
                <a:schemeClr val="tx1"/>
              </a:solidFill>
              <a:effectLst/>
              <a:latin typeface="+mn-lt"/>
              <a:ea typeface="+mn-ea"/>
              <a:cs typeface="+mn-cs"/>
            </a:endParaRPr>
          </a:p>
          <a:p>
            <a:r>
              <a:rPr lang="en-US" sz="1200" b="1" i="0" kern="1200" dirty="0" err="1" smtClean="0">
                <a:solidFill>
                  <a:schemeClr val="tx1"/>
                </a:solidFill>
                <a:effectLst/>
                <a:latin typeface="+mn-lt"/>
                <a:ea typeface="+mn-ea"/>
                <a:cs typeface="+mn-cs"/>
              </a:rPr>
              <a:t>Astuce</a:t>
            </a:r>
            <a:r>
              <a:rPr lang="en-US" sz="1200" b="0" i="0" kern="1200" dirty="0" smtClean="0">
                <a:solidFill>
                  <a:schemeClr val="tx1"/>
                </a:solidFill>
                <a:effectLst/>
                <a:latin typeface="+mn-lt"/>
                <a:ea typeface="+mn-ea"/>
                <a:cs typeface="+mn-cs"/>
              </a:rPr>
              <a:t> : </a:t>
            </a:r>
            <a:r>
              <a:rPr lang="en-US" sz="1200" b="0" i="0" kern="1200" dirty="0" err="1" smtClean="0">
                <a:solidFill>
                  <a:schemeClr val="tx1"/>
                </a:solidFill>
                <a:effectLst/>
                <a:latin typeface="+mn-lt"/>
                <a:ea typeface="+mn-ea"/>
                <a:cs typeface="+mn-cs"/>
              </a:rPr>
              <a:t>Utiliser</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HeadTruncation</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MiddleTruncation</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ou</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WordWrap</a:t>
            </a:r>
            <a:r>
              <a:rPr lang="en-US" sz="1200" b="0" i="0" kern="1200" dirty="0" smtClean="0">
                <a:solidFill>
                  <a:schemeClr val="tx1"/>
                </a:solidFill>
                <a:effectLst/>
                <a:latin typeface="+mn-lt"/>
                <a:ea typeface="+mn-ea"/>
                <a:cs typeface="+mn-cs"/>
              </a:rPr>
              <a:t> pour comparer.</a:t>
            </a:r>
          </a:p>
          <a:p>
            <a:endParaRPr lang="en-US" sz="1200" b="0" i="0" kern="1200" dirty="0" smtClean="0">
              <a:solidFill>
                <a:schemeClr val="tx1"/>
              </a:solidFill>
              <a:effectLst/>
              <a:latin typeface="+mn-lt"/>
              <a:ea typeface="+mn-ea"/>
              <a:cs typeface="+mn-cs"/>
            </a:endParaRPr>
          </a:p>
          <a:p>
            <a:r>
              <a:rPr lang="en-US" sz="1200" b="1" i="0" kern="1200" dirty="0" smtClean="0">
                <a:solidFill>
                  <a:schemeClr val="tx1"/>
                </a:solidFill>
                <a:effectLst/>
                <a:latin typeface="+mn-lt"/>
                <a:ea typeface="+mn-ea"/>
                <a:cs typeface="+mn-cs"/>
              </a:rPr>
              <a:t>4️ </a:t>
            </a:r>
            <a:r>
              <a:rPr lang="en-US" sz="1200" b="1" i="0" kern="1200" dirty="0" err="1" smtClean="0">
                <a:solidFill>
                  <a:schemeClr val="tx1"/>
                </a:solidFill>
                <a:effectLst/>
                <a:latin typeface="+mn-lt"/>
                <a:ea typeface="+mn-ea"/>
                <a:cs typeface="+mn-cs"/>
              </a:rPr>
              <a:t>LineHeight</a:t>
            </a:r>
            <a:endParaRPr lang="en-US" sz="1200" b="1"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Changer la hauteur des </a:t>
            </a:r>
            <a:r>
              <a:rPr lang="en-US" sz="1200" b="0" i="0" kern="1200" dirty="0" err="1" smtClean="0">
                <a:solidFill>
                  <a:schemeClr val="tx1"/>
                </a:solidFill>
                <a:effectLst/>
                <a:latin typeface="+mn-lt"/>
                <a:ea typeface="+mn-ea"/>
                <a:cs typeface="+mn-cs"/>
              </a:rPr>
              <a:t>lignes</a:t>
            </a:r>
            <a:r>
              <a:rPr lang="en-US" sz="1200" b="0" i="0" kern="1200" dirty="0" smtClean="0">
                <a:solidFill>
                  <a:schemeClr val="tx1"/>
                </a:solidFill>
                <a:effectLst/>
                <a:latin typeface="+mn-lt"/>
                <a:ea typeface="+mn-ea"/>
                <a:cs typeface="+mn-cs"/>
              </a:rPr>
              <a:t> (utile pour </a:t>
            </a:r>
            <a:r>
              <a:rPr lang="en-US" sz="1200" b="0" i="0" kern="1200" dirty="0" err="1" smtClean="0">
                <a:solidFill>
                  <a:schemeClr val="tx1"/>
                </a:solidFill>
                <a:effectLst/>
                <a:latin typeface="+mn-lt"/>
                <a:ea typeface="+mn-ea"/>
                <a:cs typeface="+mn-cs"/>
              </a:rPr>
              <a:t>paragraphes</a:t>
            </a:r>
            <a:r>
              <a:rPr lang="en-US" sz="1200" b="0" i="0" kern="1200" dirty="0" smtClean="0">
                <a:solidFill>
                  <a:schemeClr val="tx1"/>
                </a:solidFill>
                <a:effectLst/>
                <a:latin typeface="+mn-lt"/>
                <a:ea typeface="+mn-ea"/>
                <a:cs typeface="+mn-cs"/>
              </a:rPr>
              <a:t> longs).</a:t>
            </a:r>
          </a:p>
          <a:p>
            <a:r>
              <a:rPr lang="en-US" sz="1200" kern="1200" dirty="0" smtClean="0">
                <a:solidFill>
                  <a:schemeClr val="tx1"/>
                </a:solidFill>
                <a:effectLst/>
                <a:latin typeface="+mn-lt"/>
                <a:ea typeface="+mn-ea"/>
                <a:cs typeface="+mn-cs"/>
              </a:rPr>
              <a:t>&lt;Label Text="</a:t>
            </a:r>
            <a:r>
              <a:rPr lang="en-US" sz="1200" kern="1200" dirty="0" err="1" smtClean="0">
                <a:solidFill>
                  <a:schemeClr val="tx1"/>
                </a:solidFill>
                <a:effectLst/>
                <a:latin typeface="+mn-lt"/>
                <a:ea typeface="+mn-ea"/>
                <a:cs typeface="+mn-cs"/>
              </a:rPr>
              <a:t>Ligne</a:t>
            </a:r>
            <a:r>
              <a:rPr lang="en-US" sz="1200" kern="1200" dirty="0" smtClean="0">
                <a:solidFill>
                  <a:schemeClr val="tx1"/>
                </a:solidFill>
                <a:effectLst/>
                <a:latin typeface="+mn-lt"/>
                <a:ea typeface="+mn-ea"/>
                <a:cs typeface="+mn-cs"/>
              </a:rPr>
              <a:t> 1\</a:t>
            </a:r>
            <a:r>
              <a:rPr lang="en-US" sz="1200" kern="1200" dirty="0" err="1" smtClean="0">
                <a:solidFill>
                  <a:schemeClr val="tx1"/>
                </a:solidFill>
                <a:effectLst/>
                <a:latin typeface="+mn-lt"/>
                <a:ea typeface="+mn-ea"/>
                <a:cs typeface="+mn-cs"/>
              </a:rPr>
              <a:t>nLigne</a:t>
            </a:r>
            <a:r>
              <a:rPr lang="en-US" sz="1200" kern="1200" dirty="0" smtClean="0">
                <a:solidFill>
                  <a:schemeClr val="tx1"/>
                </a:solidFill>
                <a:effectLst/>
                <a:latin typeface="+mn-lt"/>
                <a:ea typeface="+mn-ea"/>
                <a:cs typeface="+mn-cs"/>
              </a:rPr>
              <a:t> 2\</a:t>
            </a:r>
            <a:r>
              <a:rPr lang="en-US" sz="1200" kern="1200" dirty="0" err="1" smtClean="0">
                <a:solidFill>
                  <a:schemeClr val="tx1"/>
                </a:solidFill>
                <a:effectLst/>
                <a:latin typeface="+mn-lt"/>
                <a:ea typeface="+mn-ea"/>
                <a:cs typeface="+mn-cs"/>
              </a:rPr>
              <a:t>nLigne</a:t>
            </a:r>
            <a:r>
              <a:rPr lang="en-US" sz="1200" kern="1200" dirty="0" smtClean="0">
                <a:solidFill>
                  <a:schemeClr val="tx1"/>
                </a:solidFill>
                <a:effectLst/>
                <a:latin typeface="+mn-lt"/>
                <a:ea typeface="+mn-ea"/>
                <a:cs typeface="+mn-cs"/>
              </a:rPr>
              <a:t> 3" </a:t>
            </a:r>
            <a:r>
              <a:rPr lang="en-US" sz="1200" kern="1200" dirty="0" err="1" smtClean="0">
                <a:solidFill>
                  <a:schemeClr val="tx1"/>
                </a:solidFill>
                <a:effectLst/>
                <a:latin typeface="+mn-lt"/>
                <a:ea typeface="+mn-ea"/>
                <a:cs typeface="+mn-cs"/>
              </a:rPr>
              <a:t>LineHeight</a:t>
            </a:r>
            <a:r>
              <a:rPr lang="en-US" sz="1200" kern="1200" dirty="0" smtClean="0">
                <a:solidFill>
                  <a:schemeClr val="tx1"/>
                </a:solidFill>
                <a:effectLst/>
                <a:latin typeface="+mn-lt"/>
                <a:ea typeface="+mn-ea"/>
                <a:cs typeface="+mn-cs"/>
              </a:rPr>
              <a:t>="2" </a:t>
            </a:r>
            <a:r>
              <a:rPr lang="en-US" sz="1200" kern="1200" dirty="0" err="1" smtClean="0">
                <a:solidFill>
                  <a:schemeClr val="tx1"/>
                </a:solidFill>
                <a:effectLst/>
                <a:latin typeface="+mn-lt"/>
                <a:ea typeface="+mn-ea"/>
                <a:cs typeface="+mn-cs"/>
              </a:rPr>
              <a:t>BackgroundColor</a:t>
            </a:r>
            <a:r>
              <a:rPr lang="en-US" sz="1200" kern="1200" dirty="0" smtClean="0">
                <a:solidFill>
                  <a:schemeClr val="tx1"/>
                </a:solidFill>
                <a:effectLst/>
                <a:latin typeface="+mn-lt"/>
                <a:ea typeface="+mn-ea"/>
                <a:cs typeface="+mn-cs"/>
              </a:rPr>
              <a:t>="Beige"/&gt;</a:t>
            </a:r>
            <a:r>
              <a:rPr lang="en-US" dirty="0" smtClean="0"/>
              <a:t> </a:t>
            </a:r>
          </a:p>
          <a:p>
            <a:endParaRPr lang="en-US" sz="1200" b="1" i="0" kern="1200" dirty="0" smtClean="0">
              <a:solidFill>
                <a:schemeClr val="tx1"/>
              </a:solidFill>
              <a:effectLst/>
              <a:latin typeface="+mn-lt"/>
              <a:ea typeface="+mn-ea"/>
              <a:cs typeface="+mn-cs"/>
            </a:endParaRPr>
          </a:p>
          <a:p>
            <a:r>
              <a:rPr lang="en-US" sz="1200" b="1" i="0" kern="1200" dirty="0" err="1" smtClean="0">
                <a:solidFill>
                  <a:schemeClr val="tx1"/>
                </a:solidFill>
                <a:effectLst/>
                <a:latin typeface="+mn-lt"/>
                <a:ea typeface="+mn-ea"/>
                <a:cs typeface="+mn-cs"/>
              </a:rPr>
              <a:t>Astuce</a:t>
            </a:r>
            <a:r>
              <a:rPr lang="en-US" sz="1200" b="0" i="0" kern="1200" dirty="0" smtClean="0">
                <a:solidFill>
                  <a:schemeClr val="tx1"/>
                </a:solidFill>
                <a:effectLst/>
                <a:latin typeface="+mn-lt"/>
                <a:ea typeface="+mn-ea"/>
                <a:cs typeface="+mn-cs"/>
              </a:rPr>
              <a:t> : Augmenter à 2 </a:t>
            </a:r>
            <a:r>
              <a:rPr lang="en-US" sz="1200" b="0" i="0" kern="1200" dirty="0" err="1" smtClean="0">
                <a:solidFill>
                  <a:schemeClr val="tx1"/>
                </a:solidFill>
                <a:effectLst/>
                <a:latin typeface="+mn-lt"/>
                <a:ea typeface="+mn-ea"/>
                <a:cs typeface="+mn-cs"/>
              </a:rPr>
              <a:t>ou</a:t>
            </a:r>
            <a:r>
              <a:rPr lang="en-US" sz="1200" b="0" i="0" kern="1200" dirty="0" smtClean="0">
                <a:solidFill>
                  <a:schemeClr val="tx1"/>
                </a:solidFill>
                <a:effectLst/>
                <a:latin typeface="+mn-lt"/>
                <a:ea typeface="+mn-ea"/>
                <a:cs typeface="+mn-cs"/>
              </a:rPr>
              <a:t> 3 pour </a:t>
            </a:r>
            <a:r>
              <a:rPr lang="en-US" sz="1200" b="0" i="0" kern="1200" dirty="0" err="1" smtClean="0">
                <a:solidFill>
                  <a:schemeClr val="tx1"/>
                </a:solidFill>
                <a:effectLst/>
                <a:latin typeface="+mn-lt"/>
                <a:ea typeface="+mn-ea"/>
                <a:cs typeface="+mn-cs"/>
              </a:rPr>
              <a:t>créer</a:t>
            </a:r>
            <a:r>
              <a:rPr lang="en-US" sz="1200" b="0" i="0" kern="1200" dirty="0" smtClean="0">
                <a:solidFill>
                  <a:schemeClr val="tx1"/>
                </a:solidFill>
                <a:effectLst/>
                <a:latin typeface="+mn-lt"/>
                <a:ea typeface="+mn-ea"/>
                <a:cs typeface="+mn-cs"/>
              </a:rPr>
              <a:t> un </a:t>
            </a:r>
            <a:r>
              <a:rPr lang="en-US" sz="1200" b="0" i="0" kern="1200" dirty="0" err="1" smtClean="0">
                <a:solidFill>
                  <a:schemeClr val="tx1"/>
                </a:solidFill>
                <a:effectLst/>
                <a:latin typeface="+mn-lt"/>
                <a:ea typeface="+mn-ea"/>
                <a:cs typeface="+mn-cs"/>
              </a:rPr>
              <a:t>effet</a:t>
            </a:r>
            <a:r>
              <a:rPr lang="en-US" sz="1200" b="0" i="0" kern="1200" dirty="0" smtClean="0">
                <a:solidFill>
                  <a:schemeClr val="tx1"/>
                </a:solidFill>
                <a:effectLst/>
                <a:latin typeface="+mn-lt"/>
                <a:ea typeface="+mn-ea"/>
                <a:cs typeface="+mn-cs"/>
              </a:rPr>
              <a:t> « </a:t>
            </a:r>
            <a:r>
              <a:rPr lang="en-US" sz="1200" b="0" i="0" kern="1200" dirty="0" err="1" smtClean="0">
                <a:solidFill>
                  <a:schemeClr val="tx1"/>
                </a:solidFill>
                <a:effectLst/>
                <a:latin typeface="+mn-lt"/>
                <a:ea typeface="+mn-ea"/>
                <a:cs typeface="+mn-cs"/>
              </a:rPr>
              <a:t>espacé</a:t>
            </a:r>
            <a:r>
              <a:rPr lang="en-US" sz="1200" b="0" i="0" kern="1200" dirty="0" smtClean="0">
                <a:solidFill>
                  <a:schemeClr val="tx1"/>
                </a:solidFill>
                <a:effectLst/>
                <a:latin typeface="+mn-lt"/>
                <a:ea typeface="+mn-ea"/>
                <a:cs typeface="+mn-cs"/>
              </a:rPr>
              <a:t> ».</a:t>
            </a:r>
          </a:p>
          <a:p>
            <a:endParaRPr lang="en-US" sz="1200" b="0" i="0" kern="1200" dirty="0" smtClean="0">
              <a:solidFill>
                <a:schemeClr val="tx1"/>
              </a:solidFill>
              <a:effectLst/>
              <a:latin typeface="+mn-lt"/>
              <a:ea typeface="+mn-ea"/>
              <a:cs typeface="+mn-cs"/>
            </a:endParaRPr>
          </a:p>
          <a:p>
            <a:r>
              <a:rPr lang="en-US" sz="1200" b="1" i="0" kern="1200" dirty="0" smtClean="0">
                <a:solidFill>
                  <a:schemeClr val="tx1"/>
                </a:solidFill>
                <a:effectLst/>
                <a:latin typeface="+mn-lt"/>
                <a:ea typeface="+mn-ea"/>
                <a:cs typeface="+mn-cs"/>
              </a:rPr>
              <a:t>5️ </a:t>
            </a:r>
            <a:r>
              <a:rPr lang="en-US" sz="1200" b="1" i="0" kern="1200" dirty="0" err="1" smtClean="0">
                <a:solidFill>
                  <a:schemeClr val="tx1"/>
                </a:solidFill>
                <a:effectLst/>
                <a:latin typeface="+mn-lt"/>
                <a:ea typeface="+mn-ea"/>
                <a:cs typeface="+mn-cs"/>
              </a:rPr>
              <a:t>TextDecorations</a:t>
            </a:r>
            <a:endParaRPr lang="en-US" sz="1200" b="1" i="0" kern="1200" dirty="0" smtClean="0">
              <a:solidFill>
                <a:schemeClr val="tx1"/>
              </a:solidFill>
              <a:effectLst/>
              <a:latin typeface="+mn-lt"/>
              <a:ea typeface="+mn-ea"/>
              <a:cs typeface="+mn-cs"/>
            </a:endParaRPr>
          </a:p>
          <a:p>
            <a:r>
              <a:rPr lang="en-US" sz="1200" b="0" i="0" kern="1200" dirty="0" err="1" smtClean="0">
                <a:solidFill>
                  <a:schemeClr val="tx1"/>
                </a:solidFill>
                <a:effectLst/>
                <a:latin typeface="+mn-lt"/>
                <a:ea typeface="+mn-ea"/>
                <a:cs typeface="+mn-cs"/>
              </a:rPr>
              <a:t>Appliquer</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souligné</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ou</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barré</a:t>
            </a:r>
            <a:r>
              <a:rPr lang="en-US" sz="1200" b="0" i="0" kern="1200" dirty="0" smtClean="0">
                <a:solidFill>
                  <a:schemeClr val="tx1"/>
                </a:solidFill>
                <a:effectLst/>
                <a:latin typeface="+mn-lt"/>
                <a:ea typeface="+mn-ea"/>
                <a:cs typeface="+mn-cs"/>
              </a:rPr>
              <a:t>.</a:t>
            </a:r>
          </a:p>
          <a:p>
            <a:r>
              <a:rPr lang="en-US" sz="1200" kern="1200" dirty="0" smtClean="0">
                <a:solidFill>
                  <a:schemeClr val="tx1"/>
                </a:solidFill>
                <a:effectLst/>
                <a:latin typeface="+mn-lt"/>
                <a:ea typeface="+mn-ea"/>
                <a:cs typeface="+mn-cs"/>
              </a:rPr>
              <a:t>&lt;Label Text="</a:t>
            </a:r>
            <a:r>
              <a:rPr lang="en-US" sz="1200" kern="1200" dirty="0" err="1" smtClean="0">
                <a:solidFill>
                  <a:schemeClr val="tx1"/>
                </a:solidFill>
                <a:effectLst/>
                <a:latin typeface="+mn-lt"/>
                <a:ea typeface="+mn-ea"/>
                <a:cs typeface="+mn-cs"/>
              </a:rPr>
              <a:t>Texte</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souligné</a:t>
            </a:r>
            <a:r>
              <a:rPr lang="en-US" sz="1200" kern="1200" dirty="0" smtClean="0">
                <a:solidFill>
                  <a:schemeClr val="tx1"/>
                </a:solidFill>
                <a:effectLst/>
                <a:latin typeface="+mn-lt"/>
                <a:ea typeface="+mn-ea"/>
                <a:cs typeface="+mn-cs"/>
              </a:rPr>
              <a:t> et </a:t>
            </a:r>
            <a:r>
              <a:rPr lang="en-US" sz="1200" kern="1200" dirty="0" err="1" smtClean="0">
                <a:solidFill>
                  <a:schemeClr val="tx1"/>
                </a:solidFill>
                <a:effectLst/>
                <a:latin typeface="+mn-lt"/>
                <a:ea typeface="+mn-ea"/>
                <a:cs typeface="+mn-cs"/>
              </a:rPr>
              <a:t>barré</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TextDecorations</a:t>
            </a:r>
            <a:r>
              <a:rPr lang="en-US" sz="1200" kern="1200" dirty="0" smtClean="0">
                <a:solidFill>
                  <a:schemeClr val="tx1"/>
                </a:solidFill>
                <a:effectLst/>
                <a:latin typeface="+mn-lt"/>
                <a:ea typeface="+mn-ea"/>
                <a:cs typeface="+mn-cs"/>
              </a:rPr>
              <a:t>="Underline, Strikethrough" </a:t>
            </a:r>
            <a:r>
              <a:rPr lang="en-US" sz="1200" kern="1200" dirty="0" err="1" smtClean="0">
                <a:solidFill>
                  <a:schemeClr val="tx1"/>
                </a:solidFill>
                <a:effectLst/>
                <a:latin typeface="+mn-lt"/>
                <a:ea typeface="+mn-ea"/>
                <a:cs typeface="+mn-cs"/>
              </a:rPr>
              <a:t>FontSize</a:t>
            </a:r>
            <a:r>
              <a:rPr lang="en-US" sz="1200" kern="1200" dirty="0" smtClean="0">
                <a:solidFill>
                  <a:schemeClr val="tx1"/>
                </a:solidFill>
                <a:effectLst/>
                <a:latin typeface="+mn-lt"/>
                <a:ea typeface="+mn-ea"/>
                <a:cs typeface="+mn-cs"/>
              </a:rPr>
              <a:t>="18"/&gt;</a:t>
            </a:r>
            <a:r>
              <a:rPr lang="en-US" dirty="0" smtClean="0"/>
              <a:t> </a:t>
            </a:r>
          </a:p>
          <a:p>
            <a:endParaRPr lang="en-US" dirty="0" smtClean="0"/>
          </a:p>
          <a:p>
            <a:r>
              <a:rPr lang="en-US" sz="1200" b="1" i="0" kern="1200" dirty="0" err="1" smtClean="0">
                <a:solidFill>
                  <a:schemeClr val="tx1"/>
                </a:solidFill>
                <a:effectLst/>
                <a:latin typeface="+mn-lt"/>
                <a:ea typeface="+mn-ea"/>
                <a:cs typeface="+mn-cs"/>
              </a:rPr>
              <a:t>Astuce</a:t>
            </a:r>
            <a:r>
              <a:rPr lang="en-US" sz="1200" b="0" i="0" kern="1200" dirty="0" smtClean="0">
                <a:solidFill>
                  <a:schemeClr val="tx1"/>
                </a:solidFill>
                <a:effectLst/>
                <a:latin typeface="+mn-lt"/>
                <a:ea typeface="+mn-ea"/>
                <a:cs typeface="+mn-cs"/>
              </a:rPr>
              <a:t> : </a:t>
            </a:r>
            <a:r>
              <a:rPr lang="en-US" sz="1200" b="0" i="0" kern="1200" dirty="0" err="1" smtClean="0">
                <a:solidFill>
                  <a:schemeClr val="tx1"/>
                </a:solidFill>
                <a:effectLst/>
                <a:latin typeface="+mn-lt"/>
                <a:ea typeface="+mn-ea"/>
                <a:cs typeface="+mn-cs"/>
              </a:rPr>
              <a:t>Souligne</a:t>
            </a:r>
            <a:r>
              <a:rPr lang="en-US" sz="1200" b="0" i="0" kern="1200" dirty="0" smtClean="0">
                <a:solidFill>
                  <a:schemeClr val="tx1"/>
                </a:solidFill>
                <a:effectLst/>
                <a:latin typeface="+mn-lt"/>
                <a:ea typeface="+mn-ea"/>
                <a:cs typeface="+mn-cs"/>
              </a:rPr>
              <a:t> un prix original pour </a:t>
            </a:r>
            <a:r>
              <a:rPr lang="en-US" sz="1200" b="0" i="0" kern="1200" dirty="0" err="1" smtClean="0">
                <a:solidFill>
                  <a:schemeClr val="tx1"/>
                </a:solidFill>
                <a:effectLst/>
                <a:latin typeface="+mn-lt"/>
                <a:ea typeface="+mn-ea"/>
                <a:cs typeface="+mn-cs"/>
              </a:rPr>
              <a:t>une</a:t>
            </a:r>
            <a:r>
              <a:rPr lang="en-US" sz="1200" b="0" i="0" kern="1200" dirty="0" smtClean="0">
                <a:solidFill>
                  <a:schemeClr val="tx1"/>
                </a:solidFill>
                <a:effectLst/>
                <a:latin typeface="+mn-lt"/>
                <a:ea typeface="+mn-ea"/>
                <a:cs typeface="+mn-cs"/>
              </a:rPr>
              <a:t> promo.</a:t>
            </a:r>
          </a:p>
          <a:p>
            <a:endParaRPr lang="en-US" sz="1200" b="0" i="0" kern="1200" dirty="0" smtClean="0">
              <a:solidFill>
                <a:schemeClr val="tx1"/>
              </a:solidFill>
              <a:effectLst/>
              <a:latin typeface="+mn-lt"/>
              <a:ea typeface="+mn-ea"/>
              <a:cs typeface="+mn-cs"/>
            </a:endParaRPr>
          </a:p>
          <a:p>
            <a:r>
              <a:rPr lang="en-US" sz="1200" b="1" i="0" kern="1200" dirty="0" smtClean="0">
                <a:solidFill>
                  <a:schemeClr val="tx1"/>
                </a:solidFill>
                <a:effectLst/>
                <a:latin typeface="+mn-lt"/>
                <a:ea typeface="+mn-ea"/>
                <a:cs typeface="+mn-cs"/>
              </a:rPr>
              <a:t>6️ </a:t>
            </a:r>
            <a:r>
              <a:rPr lang="en-US" sz="1200" b="1" i="0" kern="1200" dirty="0" err="1" smtClean="0">
                <a:solidFill>
                  <a:schemeClr val="tx1"/>
                </a:solidFill>
                <a:effectLst/>
                <a:latin typeface="+mn-lt"/>
                <a:ea typeface="+mn-ea"/>
                <a:cs typeface="+mn-cs"/>
              </a:rPr>
              <a:t>TextTransform</a:t>
            </a:r>
            <a:endParaRPr lang="en-US" sz="1200" b="1"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Changer la </a:t>
            </a:r>
            <a:r>
              <a:rPr lang="en-US" sz="1200" b="0" i="0" kern="1200" dirty="0" err="1" smtClean="0">
                <a:solidFill>
                  <a:schemeClr val="tx1"/>
                </a:solidFill>
                <a:effectLst/>
                <a:latin typeface="+mn-lt"/>
                <a:ea typeface="+mn-ea"/>
                <a:cs typeface="+mn-cs"/>
              </a:rPr>
              <a:t>casse</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automatiquement</a:t>
            </a:r>
            <a:r>
              <a:rPr lang="en-US" sz="1200" b="0" i="0" kern="1200" dirty="0" smtClean="0">
                <a:solidFill>
                  <a:schemeClr val="tx1"/>
                </a:solidFill>
                <a:effectLst/>
                <a:latin typeface="+mn-lt"/>
                <a:ea typeface="+mn-ea"/>
                <a:cs typeface="+mn-cs"/>
              </a:rPr>
              <a:t>.</a:t>
            </a:r>
          </a:p>
          <a:p>
            <a:r>
              <a:rPr lang="en-US" sz="1200" kern="1200" dirty="0" smtClean="0">
                <a:solidFill>
                  <a:schemeClr val="tx1"/>
                </a:solidFill>
                <a:effectLst/>
                <a:latin typeface="+mn-lt"/>
                <a:ea typeface="+mn-ea"/>
                <a:cs typeface="+mn-cs"/>
              </a:rPr>
              <a:t>&lt;Label Text="</a:t>
            </a:r>
            <a:r>
              <a:rPr lang="en-US" sz="1200" kern="1200" dirty="0" err="1" smtClean="0">
                <a:solidFill>
                  <a:schemeClr val="tx1"/>
                </a:solidFill>
                <a:effectLst/>
                <a:latin typeface="+mn-lt"/>
                <a:ea typeface="+mn-ea"/>
                <a:cs typeface="+mn-cs"/>
              </a:rPr>
              <a:t>Transformé</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en</a:t>
            </a:r>
            <a:r>
              <a:rPr lang="en-US" sz="1200" kern="1200" dirty="0" smtClean="0">
                <a:solidFill>
                  <a:schemeClr val="tx1"/>
                </a:solidFill>
                <a:effectLst/>
                <a:latin typeface="+mn-lt"/>
                <a:ea typeface="+mn-ea"/>
                <a:cs typeface="+mn-cs"/>
              </a:rPr>
              <a:t> majuscules" </a:t>
            </a:r>
            <a:r>
              <a:rPr lang="en-US" sz="1200" kern="1200" dirty="0" err="1" smtClean="0">
                <a:solidFill>
                  <a:schemeClr val="tx1"/>
                </a:solidFill>
                <a:effectLst/>
                <a:latin typeface="+mn-lt"/>
                <a:ea typeface="+mn-ea"/>
                <a:cs typeface="+mn-cs"/>
              </a:rPr>
              <a:t>TextTransform</a:t>
            </a:r>
            <a:r>
              <a:rPr lang="en-US" sz="1200" kern="1200" dirty="0" smtClean="0">
                <a:solidFill>
                  <a:schemeClr val="tx1"/>
                </a:solidFill>
                <a:effectLst/>
                <a:latin typeface="+mn-lt"/>
                <a:ea typeface="+mn-ea"/>
                <a:cs typeface="+mn-cs"/>
              </a:rPr>
              <a:t>="Uppercase"/&gt;</a:t>
            </a:r>
            <a:r>
              <a:rPr lang="en-US" dirty="0" smtClean="0"/>
              <a:t> </a:t>
            </a:r>
          </a:p>
          <a:p>
            <a:endParaRPr lang="en-US" sz="1200" b="1" i="0" kern="1200" dirty="0" smtClean="0">
              <a:solidFill>
                <a:schemeClr val="tx1"/>
              </a:solidFill>
              <a:effectLst/>
              <a:latin typeface="+mn-lt"/>
              <a:ea typeface="+mn-ea"/>
              <a:cs typeface="+mn-cs"/>
            </a:endParaRPr>
          </a:p>
          <a:p>
            <a:r>
              <a:rPr lang="en-US" sz="1200" b="1" i="0" kern="1200" dirty="0" err="1" smtClean="0">
                <a:solidFill>
                  <a:schemeClr val="tx1"/>
                </a:solidFill>
                <a:effectLst/>
                <a:latin typeface="+mn-lt"/>
                <a:ea typeface="+mn-ea"/>
                <a:cs typeface="+mn-cs"/>
              </a:rPr>
              <a:t>Astuce</a:t>
            </a:r>
            <a:r>
              <a:rPr lang="en-US" sz="1200" b="0" i="0" kern="1200" dirty="0" smtClean="0">
                <a:solidFill>
                  <a:schemeClr val="tx1"/>
                </a:solidFill>
                <a:effectLst/>
                <a:latin typeface="+mn-lt"/>
                <a:ea typeface="+mn-ea"/>
                <a:cs typeface="+mn-cs"/>
              </a:rPr>
              <a:t> : Transformer </a:t>
            </a:r>
            <a:r>
              <a:rPr lang="en-US" sz="1200" b="0" i="0" kern="1200" dirty="0" err="1" smtClean="0">
                <a:solidFill>
                  <a:schemeClr val="tx1"/>
                </a:solidFill>
                <a:effectLst/>
                <a:latin typeface="+mn-lt"/>
                <a:ea typeface="+mn-ea"/>
                <a:cs typeface="+mn-cs"/>
              </a:rPr>
              <a:t>dynamiquement</a:t>
            </a:r>
            <a:r>
              <a:rPr lang="en-US" sz="1200" b="0" i="0" kern="1200" dirty="0" smtClean="0">
                <a:solidFill>
                  <a:schemeClr val="tx1"/>
                </a:solidFill>
                <a:effectLst/>
                <a:latin typeface="+mn-lt"/>
                <a:ea typeface="+mn-ea"/>
                <a:cs typeface="+mn-cs"/>
              </a:rPr>
              <a:t> du </a:t>
            </a:r>
            <a:r>
              <a:rPr lang="en-US" sz="1200" b="0" i="0" kern="1200" dirty="0" err="1" smtClean="0">
                <a:solidFill>
                  <a:schemeClr val="tx1"/>
                </a:solidFill>
                <a:effectLst/>
                <a:latin typeface="+mn-lt"/>
                <a:ea typeface="+mn-ea"/>
                <a:cs typeface="+mn-cs"/>
              </a:rPr>
              <a:t>texte</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entré</a:t>
            </a:r>
            <a:r>
              <a:rPr lang="en-US" sz="1200" b="0" i="0" kern="1200" dirty="0" smtClean="0">
                <a:solidFill>
                  <a:schemeClr val="tx1"/>
                </a:solidFill>
                <a:effectLst/>
                <a:latin typeface="+mn-lt"/>
                <a:ea typeface="+mn-ea"/>
                <a:cs typeface="+mn-cs"/>
              </a:rPr>
              <a:t> par </a:t>
            </a:r>
            <a:r>
              <a:rPr lang="en-US" sz="1200" b="0" i="0" kern="1200" dirty="0" err="1" smtClean="0">
                <a:solidFill>
                  <a:schemeClr val="tx1"/>
                </a:solidFill>
                <a:effectLst/>
                <a:latin typeface="+mn-lt"/>
                <a:ea typeface="+mn-ea"/>
                <a:cs typeface="+mn-cs"/>
              </a:rPr>
              <a:t>l’utilisateur</a:t>
            </a:r>
            <a:r>
              <a:rPr lang="en-US" sz="1200" b="0" i="0" kern="1200" dirty="0" smtClean="0">
                <a:solidFill>
                  <a:schemeClr val="tx1"/>
                </a:solidFill>
                <a:effectLst/>
                <a:latin typeface="+mn-lt"/>
                <a:ea typeface="+mn-ea"/>
                <a:cs typeface="+mn-cs"/>
              </a:rPr>
              <a:t>.</a:t>
            </a:r>
          </a:p>
          <a:p>
            <a:endParaRPr lang="en-US" sz="1200" b="0" i="0" kern="1200" dirty="0" smtClean="0">
              <a:solidFill>
                <a:schemeClr val="tx1"/>
              </a:solidFill>
              <a:effectLst/>
              <a:latin typeface="+mn-lt"/>
              <a:ea typeface="+mn-ea"/>
              <a:cs typeface="+mn-cs"/>
            </a:endParaRPr>
          </a:p>
          <a:p>
            <a:r>
              <a:rPr lang="en-US" sz="1200" b="1" i="0" kern="1200" dirty="0" smtClean="0">
                <a:solidFill>
                  <a:schemeClr val="tx1"/>
                </a:solidFill>
                <a:effectLst/>
                <a:latin typeface="+mn-lt"/>
                <a:ea typeface="+mn-ea"/>
                <a:cs typeface="+mn-cs"/>
              </a:rPr>
              <a:t>7️ </a:t>
            </a:r>
            <a:r>
              <a:rPr lang="en-US" sz="1200" b="1" i="0" kern="1200" dirty="0" err="1" smtClean="0">
                <a:solidFill>
                  <a:schemeClr val="tx1"/>
                </a:solidFill>
                <a:effectLst/>
                <a:latin typeface="+mn-lt"/>
                <a:ea typeface="+mn-ea"/>
                <a:cs typeface="+mn-cs"/>
              </a:rPr>
              <a:t>TextType</a:t>
            </a:r>
            <a:endParaRPr lang="en-US" sz="1200" b="1" i="0" kern="1200" dirty="0" smtClean="0">
              <a:solidFill>
                <a:schemeClr val="tx1"/>
              </a:solidFill>
              <a:effectLst/>
              <a:latin typeface="+mn-lt"/>
              <a:ea typeface="+mn-ea"/>
              <a:cs typeface="+mn-cs"/>
            </a:endParaRPr>
          </a:p>
          <a:p>
            <a:r>
              <a:rPr lang="en-US" sz="1200" b="0" i="0" kern="1200" dirty="0" err="1" smtClean="0">
                <a:solidFill>
                  <a:schemeClr val="tx1"/>
                </a:solidFill>
                <a:effectLst/>
                <a:latin typeface="+mn-lt"/>
                <a:ea typeface="+mn-ea"/>
                <a:cs typeface="+mn-cs"/>
              </a:rPr>
              <a:t>Afficher</a:t>
            </a:r>
            <a:r>
              <a:rPr lang="en-US" sz="1200" b="0" i="0" kern="1200" dirty="0" smtClean="0">
                <a:solidFill>
                  <a:schemeClr val="tx1"/>
                </a:solidFill>
                <a:effectLst/>
                <a:latin typeface="+mn-lt"/>
                <a:ea typeface="+mn-ea"/>
                <a:cs typeface="+mn-cs"/>
              </a:rPr>
              <a:t> du </a:t>
            </a:r>
            <a:r>
              <a:rPr lang="en-US" sz="1200" b="0" i="0" kern="1200" dirty="0" err="1" smtClean="0">
                <a:solidFill>
                  <a:schemeClr val="tx1"/>
                </a:solidFill>
                <a:effectLst/>
                <a:latin typeface="+mn-lt"/>
                <a:ea typeface="+mn-ea"/>
                <a:cs typeface="+mn-cs"/>
              </a:rPr>
              <a:t>texte</a:t>
            </a:r>
            <a:r>
              <a:rPr lang="en-US" sz="1200" b="0" i="0" kern="1200" dirty="0" smtClean="0">
                <a:solidFill>
                  <a:schemeClr val="tx1"/>
                </a:solidFill>
                <a:effectLst/>
                <a:latin typeface="+mn-lt"/>
                <a:ea typeface="+mn-ea"/>
                <a:cs typeface="+mn-cs"/>
              </a:rPr>
              <a:t> brut </a:t>
            </a:r>
            <a:r>
              <a:rPr lang="en-US" sz="1200" b="0" i="0" kern="1200" dirty="0" err="1" smtClean="0">
                <a:solidFill>
                  <a:schemeClr val="tx1"/>
                </a:solidFill>
                <a:effectLst/>
                <a:latin typeface="+mn-lt"/>
                <a:ea typeface="+mn-ea"/>
                <a:cs typeface="+mn-cs"/>
              </a:rPr>
              <a:t>ou</a:t>
            </a:r>
            <a:r>
              <a:rPr lang="en-US" sz="1200" b="0" i="0" kern="1200" dirty="0" smtClean="0">
                <a:solidFill>
                  <a:schemeClr val="tx1"/>
                </a:solidFill>
                <a:effectLst/>
                <a:latin typeface="+mn-lt"/>
                <a:ea typeface="+mn-ea"/>
                <a:cs typeface="+mn-cs"/>
              </a:rPr>
              <a:t> HTML.</a:t>
            </a:r>
          </a:p>
          <a:p>
            <a:r>
              <a:rPr lang="en-US" sz="1200" kern="1200" dirty="0" smtClean="0">
                <a:solidFill>
                  <a:schemeClr val="tx1"/>
                </a:solidFill>
                <a:effectLst/>
                <a:latin typeface="+mn-lt"/>
                <a:ea typeface="+mn-ea"/>
                <a:cs typeface="+mn-cs"/>
              </a:rPr>
              <a:t>&lt;Label Text="&lt;b&gt;</a:t>
            </a:r>
            <a:r>
              <a:rPr lang="en-US" sz="1200" kern="1200" dirty="0" err="1" smtClean="0">
                <a:solidFill>
                  <a:schemeClr val="tx1"/>
                </a:solidFill>
                <a:effectLst/>
                <a:latin typeface="+mn-lt"/>
                <a:ea typeface="+mn-ea"/>
                <a:cs typeface="+mn-cs"/>
              </a:rPr>
              <a:t>Texte</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en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gras</a:t>
            </a:r>
            <a:r>
              <a:rPr lang="en-US" sz="1200" kern="1200" dirty="0" smtClean="0">
                <a:solidFill>
                  <a:schemeClr val="tx1"/>
                </a:solidFill>
                <a:effectLst/>
                <a:latin typeface="+mn-lt"/>
                <a:ea typeface="+mn-ea"/>
                <a:cs typeface="+mn-cs"/>
              </a:rPr>
              <a:t>&lt;/b&gt; et normal" </a:t>
            </a:r>
            <a:r>
              <a:rPr lang="en-US" sz="1200" kern="1200" dirty="0" err="1" smtClean="0">
                <a:solidFill>
                  <a:schemeClr val="tx1"/>
                </a:solidFill>
                <a:effectLst/>
                <a:latin typeface="+mn-lt"/>
                <a:ea typeface="+mn-ea"/>
                <a:cs typeface="+mn-cs"/>
              </a:rPr>
              <a:t>TextType</a:t>
            </a:r>
            <a:r>
              <a:rPr lang="en-US" sz="1200" kern="1200" dirty="0" smtClean="0">
                <a:solidFill>
                  <a:schemeClr val="tx1"/>
                </a:solidFill>
                <a:effectLst/>
                <a:latin typeface="+mn-lt"/>
                <a:ea typeface="+mn-ea"/>
                <a:cs typeface="+mn-cs"/>
              </a:rPr>
              <a:t>="Html"/&gt;</a:t>
            </a:r>
            <a:r>
              <a:rPr lang="en-US" dirty="0" smtClean="0"/>
              <a:t> </a:t>
            </a:r>
          </a:p>
          <a:p>
            <a:endParaRPr lang="en-US" sz="1200" b="1" i="0" kern="1200" dirty="0" smtClean="0">
              <a:solidFill>
                <a:schemeClr val="tx1"/>
              </a:solidFill>
              <a:effectLst/>
              <a:latin typeface="+mn-lt"/>
              <a:ea typeface="+mn-ea"/>
              <a:cs typeface="+mn-cs"/>
            </a:endParaRPr>
          </a:p>
          <a:p>
            <a:r>
              <a:rPr lang="en-US" sz="1200" b="1" i="0" kern="1200" dirty="0" err="1" smtClean="0">
                <a:solidFill>
                  <a:schemeClr val="tx1"/>
                </a:solidFill>
                <a:effectLst/>
                <a:latin typeface="+mn-lt"/>
                <a:ea typeface="+mn-ea"/>
                <a:cs typeface="+mn-cs"/>
              </a:rPr>
              <a:t>Astuce</a:t>
            </a:r>
            <a:r>
              <a:rPr lang="en-US" sz="1200" b="0" i="0" kern="1200" dirty="0" smtClean="0">
                <a:solidFill>
                  <a:schemeClr val="tx1"/>
                </a:solidFill>
                <a:effectLst/>
                <a:latin typeface="+mn-lt"/>
                <a:ea typeface="+mn-ea"/>
                <a:cs typeface="+mn-cs"/>
              </a:rPr>
              <a:t> : </a:t>
            </a:r>
            <a:r>
              <a:rPr lang="en-US" sz="1200" b="0" i="0" kern="1200" dirty="0" err="1" smtClean="0">
                <a:solidFill>
                  <a:schemeClr val="tx1"/>
                </a:solidFill>
                <a:effectLst/>
                <a:latin typeface="+mn-lt"/>
                <a:ea typeface="+mn-ea"/>
                <a:cs typeface="+mn-cs"/>
              </a:rPr>
              <a:t>Afficher</a:t>
            </a:r>
            <a:r>
              <a:rPr lang="en-US" sz="1200" b="0" i="0" kern="1200" dirty="0" smtClean="0">
                <a:solidFill>
                  <a:schemeClr val="tx1"/>
                </a:solidFill>
                <a:effectLst/>
                <a:latin typeface="+mn-lt"/>
                <a:ea typeface="+mn-ea"/>
                <a:cs typeface="+mn-cs"/>
              </a:rPr>
              <a:t> un petit </a:t>
            </a:r>
            <a:r>
              <a:rPr lang="en-US" sz="1200" b="0" i="0" kern="1200" dirty="0" err="1" smtClean="0">
                <a:solidFill>
                  <a:schemeClr val="tx1"/>
                </a:solidFill>
                <a:effectLst/>
                <a:latin typeface="+mn-lt"/>
                <a:ea typeface="+mn-ea"/>
                <a:cs typeface="+mn-cs"/>
              </a:rPr>
              <a:t>texte</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formaté</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reçu</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depuis</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une</a:t>
            </a:r>
            <a:r>
              <a:rPr lang="en-US" sz="1200" b="0" i="0" kern="1200" dirty="0" smtClean="0">
                <a:solidFill>
                  <a:schemeClr val="tx1"/>
                </a:solidFill>
                <a:effectLst/>
                <a:latin typeface="+mn-lt"/>
                <a:ea typeface="+mn-ea"/>
                <a:cs typeface="+mn-cs"/>
              </a:rPr>
              <a:t> API HTML.</a:t>
            </a:r>
          </a:p>
          <a:p>
            <a:endParaRPr lang="en-US" sz="1200" b="0" i="0" kern="1200" dirty="0" smtClean="0">
              <a:solidFill>
                <a:schemeClr val="tx1"/>
              </a:solidFill>
              <a:effectLst/>
              <a:latin typeface="+mn-lt"/>
              <a:ea typeface="+mn-ea"/>
              <a:cs typeface="+mn-cs"/>
            </a:endParaRPr>
          </a:p>
          <a:p>
            <a:r>
              <a:rPr lang="en-US" sz="1200" b="1" i="0" kern="1200" dirty="0" smtClean="0">
                <a:solidFill>
                  <a:schemeClr val="tx1"/>
                </a:solidFill>
                <a:effectLst/>
                <a:latin typeface="+mn-lt"/>
                <a:ea typeface="+mn-ea"/>
                <a:cs typeface="+mn-cs"/>
              </a:rPr>
              <a:t>8️</a:t>
            </a:r>
            <a:r>
              <a:rPr lang="en-US" sz="1200" b="1" i="0" kern="1200" baseline="0" dirty="0" smtClean="0">
                <a:solidFill>
                  <a:schemeClr val="tx1"/>
                </a:solidFill>
                <a:effectLst/>
                <a:latin typeface="+mn-lt"/>
                <a:ea typeface="+mn-ea"/>
                <a:cs typeface="+mn-cs"/>
              </a:rPr>
              <a:t> </a:t>
            </a:r>
            <a:r>
              <a:rPr lang="en-US" sz="1200" b="1" i="0" kern="1200" dirty="0" err="1" smtClean="0">
                <a:solidFill>
                  <a:schemeClr val="tx1"/>
                </a:solidFill>
                <a:effectLst/>
                <a:latin typeface="+mn-lt"/>
                <a:ea typeface="+mn-ea"/>
                <a:cs typeface="+mn-cs"/>
              </a:rPr>
              <a:t>VerticalTextAlignment</a:t>
            </a:r>
            <a:endParaRPr lang="en-US" sz="1200" b="1" i="0" kern="1200" dirty="0" smtClean="0">
              <a:solidFill>
                <a:schemeClr val="tx1"/>
              </a:solidFill>
              <a:effectLst/>
              <a:latin typeface="+mn-lt"/>
              <a:ea typeface="+mn-ea"/>
              <a:cs typeface="+mn-cs"/>
            </a:endParaRPr>
          </a:p>
          <a:p>
            <a:endParaRPr lang="en-US" sz="1200" b="1"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Aligner </a:t>
            </a:r>
            <a:r>
              <a:rPr lang="en-US" sz="1200" b="0" i="0" kern="1200" dirty="0" err="1" smtClean="0">
                <a:solidFill>
                  <a:schemeClr val="tx1"/>
                </a:solidFill>
                <a:effectLst/>
                <a:latin typeface="+mn-lt"/>
                <a:ea typeface="+mn-ea"/>
                <a:cs typeface="+mn-cs"/>
              </a:rPr>
              <a:t>verticalement</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dans</a:t>
            </a:r>
            <a:r>
              <a:rPr lang="en-US" sz="1200" b="0" i="0" kern="1200" dirty="0" smtClean="0">
                <a:solidFill>
                  <a:schemeClr val="tx1"/>
                </a:solidFill>
                <a:effectLst/>
                <a:latin typeface="+mn-lt"/>
                <a:ea typeface="+mn-ea"/>
                <a:cs typeface="+mn-cs"/>
              </a:rPr>
              <a:t> un </a:t>
            </a:r>
            <a:r>
              <a:rPr lang="en-US" sz="1200" b="0" i="0" kern="1200" dirty="0" err="1" smtClean="0">
                <a:solidFill>
                  <a:schemeClr val="tx1"/>
                </a:solidFill>
                <a:effectLst/>
                <a:latin typeface="+mn-lt"/>
                <a:ea typeface="+mn-ea"/>
                <a:cs typeface="+mn-cs"/>
              </a:rPr>
              <a:t>conteneur</a:t>
            </a:r>
            <a:r>
              <a:rPr lang="en-US" sz="1200" b="0" i="0" kern="1200" dirty="0" smtClean="0">
                <a:solidFill>
                  <a:schemeClr val="tx1"/>
                </a:solidFill>
                <a:effectLst/>
                <a:latin typeface="+mn-lt"/>
                <a:ea typeface="+mn-ea"/>
                <a:cs typeface="+mn-cs"/>
              </a:rPr>
              <a:t> plus grand.</a:t>
            </a:r>
          </a:p>
          <a:p>
            <a:r>
              <a:rPr lang="en-US" sz="1200" kern="1200" dirty="0" smtClean="0">
                <a:solidFill>
                  <a:schemeClr val="tx1"/>
                </a:solidFill>
                <a:effectLst/>
                <a:latin typeface="+mn-lt"/>
                <a:ea typeface="+mn-ea"/>
                <a:cs typeface="+mn-cs"/>
              </a:rPr>
              <a:t>&lt;Frame </a:t>
            </a:r>
            <a:r>
              <a:rPr lang="en-US" sz="1200" kern="1200" dirty="0" err="1" smtClean="0">
                <a:solidFill>
                  <a:schemeClr val="tx1"/>
                </a:solidFill>
                <a:effectLst/>
                <a:latin typeface="+mn-lt"/>
                <a:ea typeface="+mn-ea"/>
                <a:cs typeface="+mn-cs"/>
              </a:rPr>
              <a:t>HeightRequest</a:t>
            </a:r>
            <a:r>
              <a:rPr lang="en-US" sz="1200" kern="1200" dirty="0" smtClean="0">
                <a:solidFill>
                  <a:schemeClr val="tx1"/>
                </a:solidFill>
                <a:effectLst/>
                <a:latin typeface="+mn-lt"/>
                <a:ea typeface="+mn-ea"/>
                <a:cs typeface="+mn-cs"/>
              </a:rPr>
              <a:t>="100" </a:t>
            </a:r>
            <a:r>
              <a:rPr lang="en-US" sz="1200" kern="1200" dirty="0" err="1" smtClean="0">
                <a:solidFill>
                  <a:schemeClr val="tx1"/>
                </a:solidFill>
                <a:effectLst/>
                <a:latin typeface="+mn-lt"/>
                <a:ea typeface="+mn-ea"/>
                <a:cs typeface="+mn-cs"/>
              </a:rPr>
              <a:t>BackgroundColor</a:t>
            </a:r>
            <a:r>
              <a:rPr lang="en-US" sz="1200" kern="1200" dirty="0" smtClean="0">
                <a:solidFill>
                  <a:schemeClr val="tx1"/>
                </a:solidFill>
                <a:effectLst/>
                <a:latin typeface="+mn-lt"/>
                <a:ea typeface="+mn-ea"/>
                <a:cs typeface="+mn-cs"/>
              </a:rPr>
              <a:t>="</a:t>
            </a:r>
            <a:r>
              <a:rPr lang="en-US" sz="1200" kern="1200" dirty="0" err="1" smtClean="0">
                <a:solidFill>
                  <a:schemeClr val="tx1"/>
                </a:solidFill>
                <a:effectLst/>
                <a:latin typeface="+mn-lt"/>
                <a:ea typeface="+mn-ea"/>
                <a:cs typeface="+mn-cs"/>
              </a:rPr>
              <a:t>LightGray</a:t>
            </a:r>
            <a:r>
              <a:rPr lang="en-US" sz="1200" kern="1200" dirty="0" smtClean="0">
                <a:solidFill>
                  <a:schemeClr val="tx1"/>
                </a:solidFill>
                <a:effectLst/>
                <a:latin typeface="+mn-lt"/>
                <a:ea typeface="+mn-ea"/>
                <a:cs typeface="+mn-cs"/>
              </a:rPr>
              <a:t>"&gt;</a:t>
            </a:r>
            <a:r>
              <a:rPr lang="en-US" dirty="0" smtClean="0"/>
              <a:t> </a:t>
            </a:r>
            <a:r>
              <a:rPr lang="en-US" sz="1200" kern="1200" dirty="0" smtClean="0">
                <a:solidFill>
                  <a:schemeClr val="tx1"/>
                </a:solidFill>
                <a:effectLst/>
                <a:latin typeface="+mn-lt"/>
                <a:ea typeface="+mn-ea"/>
                <a:cs typeface="+mn-cs"/>
              </a:rPr>
              <a:t>&lt;Label Text="</a:t>
            </a:r>
            <a:r>
              <a:rPr lang="en-US" sz="1200" kern="1200" dirty="0" err="1" smtClean="0">
                <a:solidFill>
                  <a:schemeClr val="tx1"/>
                </a:solidFill>
                <a:effectLst/>
                <a:latin typeface="+mn-lt"/>
                <a:ea typeface="+mn-ea"/>
                <a:cs typeface="+mn-cs"/>
              </a:rPr>
              <a:t>Texte</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centré</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verticalement</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VerticalTextAlignment</a:t>
            </a:r>
            <a:r>
              <a:rPr lang="en-US" sz="1200" kern="1200" dirty="0" smtClean="0">
                <a:solidFill>
                  <a:schemeClr val="tx1"/>
                </a:solidFill>
                <a:effectLst/>
                <a:latin typeface="+mn-lt"/>
                <a:ea typeface="+mn-ea"/>
                <a:cs typeface="+mn-cs"/>
              </a:rPr>
              <a:t>="Center" </a:t>
            </a:r>
            <a:r>
              <a:rPr lang="en-US" sz="1200" kern="1200" dirty="0" err="1" smtClean="0">
                <a:solidFill>
                  <a:schemeClr val="tx1"/>
                </a:solidFill>
                <a:effectLst/>
                <a:latin typeface="+mn-lt"/>
                <a:ea typeface="+mn-ea"/>
                <a:cs typeface="+mn-cs"/>
              </a:rPr>
              <a:t>HorizontalTextAlignment</a:t>
            </a:r>
            <a:r>
              <a:rPr lang="en-US" sz="1200" kern="1200" dirty="0" smtClean="0">
                <a:solidFill>
                  <a:schemeClr val="tx1"/>
                </a:solidFill>
                <a:effectLst/>
                <a:latin typeface="+mn-lt"/>
                <a:ea typeface="+mn-ea"/>
                <a:cs typeface="+mn-cs"/>
              </a:rPr>
              <a:t>="Center"/&gt;</a:t>
            </a:r>
            <a:r>
              <a:rPr lang="en-US" dirty="0" smtClean="0"/>
              <a:t> </a:t>
            </a:r>
            <a:r>
              <a:rPr lang="en-US" sz="1200" kern="1200" dirty="0" smtClean="0">
                <a:solidFill>
                  <a:schemeClr val="tx1"/>
                </a:solidFill>
                <a:effectLst/>
                <a:latin typeface="+mn-lt"/>
                <a:ea typeface="+mn-ea"/>
                <a:cs typeface="+mn-cs"/>
              </a:rPr>
              <a:t>&lt;/Frame&gt;</a:t>
            </a:r>
            <a:r>
              <a:rPr lang="en-US" dirty="0" smtClean="0"/>
              <a:t> </a:t>
            </a:r>
          </a:p>
          <a:p>
            <a:endParaRPr lang="en-US" sz="1200" b="1" i="0" kern="1200" dirty="0" smtClean="0">
              <a:solidFill>
                <a:schemeClr val="tx1"/>
              </a:solidFill>
              <a:effectLst/>
              <a:latin typeface="+mn-lt"/>
              <a:ea typeface="+mn-ea"/>
              <a:cs typeface="+mn-cs"/>
            </a:endParaRPr>
          </a:p>
          <a:p>
            <a:r>
              <a:rPr lang="en-US" sz="1200" b="1" i="0" kern="1200" dirty="0" err="1" smtClean="0">
                <a:solidFill>
                  <a:schemeClr val="tx1"/>
                </a:solidFill>
                <a:effectLst/>
                <a:latin typeface="+mn-lt"/>
                <a:ea typeface="+mn-ea"/>
                <a:cs typeface="+mn-cs"/>
              </a:rPr>
              <a:t>Astuce</a:t>
            </a:r>
            <a:r>
              <a:rPr lang="en-US" sz="1200" b="0" i="0" kern="1200" dirty="0" smtClean="0">
                <a:solidFill>
                  <a:schemeClr val="tx1"/>
                </a:solidFill>
                <a:effectLst/>
                <a:latin typeface="+mn-lt"/>
                <a:ea typeface="+mn-ea"/>
                <a:cs typeface="+mn-cs"/>
              </a:rPr>
              <a:t> : </a:t>
            </a:r>
            <a:r>
              <a:rPr lang="en-US" sz="1200" b="0" i="0" kern="1200" dirty="0" err="1" smtClean="0">
                <a:solidFill>
                  <a:schemeClr val="tx1"/>
                </a:solidFill>
                <a:effectLst/>
                <a:latin typeface="+mn-lt"/>
                <a:ea typeface="+mn-ea"/>
                <a:cs typeface="+mn-cs"/>
              </a:rPr>
              <a:t>Créer</a:t>
            </a:r>
            <a:r>
              <a:rPr lang="en-US" sz="1200" b="0" i="0" kern="1200" dirty="0" smtClean="0">
                <a:solidFill>
                  <a:schemeClr val="tx1"/>
                </a:solidFill>
                <a:effectLst/>
                <a:latin typeface="+mn-lt"/>
                <a:ea typeface="+mn-ea"/>
                <a:cs typeface="+mn-cs"/>
              </a:rPr>
              <a:t> des badges </a:t>
            </a:r>
            <a:r>
              <a:rPr lang="en-US" sz="1200" b="0" i="0" kern="1200" dirty="0" err="1" smtClean="0">
                <a:solidFill>
                  <a:schemeClr val="tx1"/>
                </a:solidFill>
                <a:effectLst/>
                <a:latin typeface="+mn-lt"/>
                <a:ea typeface="+mn-ea"/>
                <a:cs typeface="+mn-cs"/>
              </a:rPr>
              <a:t>ou</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étiquettes</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visuelles</a:t>
            </a:r>
            <a:r>
              <a:rPr lang="en-US" sz="1200" b="0" i="0" kern="1200" dirty="0" smtClean="0">
                <a:solidFill>
                  <a:schemeClr val="tx1"/>
                </a:solidFill>
                <a:effectLst/>
                <a:latin typeface="+mn-lt"/>
                <a:ea typeface="+mn-ea"/>
                <a:cs typeface="+mn-cs"/>
              </a:rPr>
              <a:t>.</a:t>
            </a:r>
          </a:p>
          <a:p>
            <a:endParaRPr lang="fr-FR" dirty="0"/>
          </a:p>
        </p:txBody>
      </p:sp>
      <p:sp>
        <p:nvSpPr>
          <p:cNvPr id="4" name="Espace réservé du numéro de diapositive 3"/>
          <p:cNvSpPr>
            <a:spLocks noGrp="1"/>
          </p:cNvSpPr>
          <p:nvPr>
            <p:ph type="sldNum" sz="quarter" idx="10"/>
          </p:nvPr>
        </p:nvSpPr>
        <p:spPr/>
        <p:txBody>
          <a:bodyPr/>
          <a:lstStyle/>
          <a:p>
            <a:fld id="{C05E1AE6-1BFD-4589-9604-3D9D158FB781}" type="slidenum">
              <a:rPr lang="fr-FR" smtClean="0"/>
              <a:t>11</a:t>
            </a:fld>
            <a:endParaRPr lang="fr-FR"/>
          </a:p>
        </p:txBody>
      </p:sp>
    </p:spTree>
    <p:extLst>
      <p:ext uri="{BB962C8B-B14F-4D97-AF65-F5344CB8AC3E}">
        <p14:creationId xmlns:p14="http://schemas.microsoft.com/office/powerpoint/2010/main" val="37399010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C05E1AE6-1BFD-4589-9604-3D9D158FB781}" type="slidenum">
              <a:rPr lang="fr-FR" smtClean="0"/>
              <a:t>12</a:t>
            </a:fld>
            <a:endParaRPr lang="fr-FR"/>
          </a:p>
        </p:txBody>
      </p:sp>
    </p:spTree>
    <p:extLst>
      <p:ext uri="{BB962C8B-B14F-4D97-AF65-F5344CB8AC3E}">
        <p14:creationId xmlns:p14="http://schemas.microsoft.com/office/powerpoint/2010/main" val="1126194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smtClean="0"/>
          </a:p>
          <a:p>
            <a:r>
              <a:rPr lang="fr-FR" sz="1200" kern="1200" dirty="0" smtClean="0">
                <a:solidFill>
                  <a:schemeClr val="tx1"/>
                </a:solidFill>
                <a:latin typeface="+mn-lt"/>
                <a:ea typeface="+mn-ea"/>
                <a:cs typeface="+mn-cs"/>
              </a:rPr>
              <a:t>&lt;Label Text="Ce ci est un contenu"</a:t>
            </a:r>
          </a:p>
          <a:p>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FontAttributes</a:t>
            </a:r>
            <a:r>
              <a:rPr lang="fr-FR" sz="1200" kern="1200" dirty="0" smtClean="0">
                <a:solidFill>
                  <a:schemeClr val="tx1"/>
                </a:solidFill>
                <a:latin typeface="+mn-lt"/>
                <a:ea typeface="+mn-ea"/>
                <a:cs typeface="+mn-cs"/>
              </a:rPr>
              <a:t>="Bold"</a:t>
            </a:r>
          </a:p>
          <a:p>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CharacterSpacing</a:t>
            </a:r>
            <a:r>
              <a:rPr lang="fr-FR" sz="1200" kern="1200" dirty="0" smtClean="0">
                <a:solidFill>
                  <a:schemeClr val="tx1"/>
                </a:solidFill>
                <a:latin typeface="+mn-lt"/>
                <a:ea typeface="+mn-ea"/>
                <a:cs typeface="+mn-cs"/>
              </a:rPr>
              <a:t>="2"</a:t>
            </a:r>
          </a:p>
          <a:p>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FontFamily</a:t>
            </a:r>
            <a:r>
              <a:rPr lang="fr-FR" sz="1200" kern="1200" dirty="0" smtClean="0">
                <a:solidFill>
                  <a:schemeClr val="tx1"/>
                </a:solidFill>
                <a:latin typeface="+mn-lt"/>
                <a:ea typeface="+mn-ea"/>
                <a:cs typeface="+mn-cs"/>
              </a:rPr>
              <a:t>="Segoe UI"</a:t>
            </a:r>
          </a:p>
          <a:p>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FontSize</a:t>
            </a:r>
            <a:r>
              <a:rPr lang="fr-FR" sz="1200" kern="1200" dirty="0" smtClean="0">
                <a:solidFill>
                  <a:schemeClr val="tx1"/>
                </a:solidFill>
                <a:latin typeface="+mn-lt"/>
                <a:ea typeface="+mn-ea"/>
                <a:cs typeface="+mn-cs"/>
              </a:rPr>
              <a:t>="30"/&gt;</a:t>
            </a:r>
            <a:endParaRPr lang="fr-FR" dirty="0"/>
          </a:p>
        </p:txBody>
      </p:sp>
      <p:sp>
        <p:nvSpPr>
          <p:cNvPr id="4" name="Espace réservé du numéro de diapositive 3"/>
          <p:cNvSpPr>
            <a:spLocks noGrp="1"/>
          </p:cNvSpPr>
          <p:nvPr>
            <p:ph type="sldNum" sz="quarter" idx="10"/>
          </p:nvPr>
        </p:nvSpPr>
        <p:spPr/>
        <p:txBody>
          <a:bodyPr/>
          <a:lstStyle/>
          <a:p>
            <a:fld id="{C05E1AE6-1BFD-4589-9604-3D9D158FB781}" type="slidenum">
              <a:rPr lang="fr-FR" smtClean="0"/>
              <a:t>13</a:t>
            </a:fld>
            <a:endParaRPr lang="fr-FR"/>
          </a:p>
        </p:txBody>
      </p:sp>
    </p:spTree>
    <p:extLst>
      <p:ext uri="{BB962C8B-B14F-4D97-AF65-F5344CB8AC3E}">
        <p14:creationId xmlns:p14="http://schemas.microsoft.com/office/powerpoint/2010/main" val="9096520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b="1" dirty="0" smtClean="0"/>
              <a:t>Exemple</a:t>
            </a:r>
            <a:r>
              <a:rPr lang="fr-FR" b="1" baseline="0" dirty="0" smtClean="0"/>
              <a:t> de </a:t>
            </a:r>
            <a:r>
              <a:rPr lang="fr-FR" b="1" baseline="0" dirty="0" err="1" smtClean="0"/>
              <a:t>TextType</a:t>
            </a:r>
            <a:r>
              <a:rPr lang="fr-FR" b="1" baseline="0" dirty="0" smtClean="0"/>
              <a:t>: </a:t>
            </a:r>
          </a:p>
          <a:p>
            <a:endParaRPr lang="fr-FR" b="1" baseline="0" dirty="0" smtClean="0"/>
          </a:p>
          <a:p>
            <a:r>
              <a:rPr lang="fr-FR" sz="1200" kern="1200" dirty="0" smtClean="0">
                <a:solidFill>
                  <a:schemeClr val="tx1"/>
                </a:solidFill>
                <a:latin typeface="+mn-lt"/>
                <a:ea typeface="+mn-ea"/>
                <a:cs typeface="+mn-cs"/>
              </a:rPr>
              <a:t>&lt;Grid VerticalOptions="Center" </a:t>
            </a:r>
            <a:r>
              <a:rPr lang="fr-FR" sz="1200" kern="1200" dirty="0" err="1" smtClean="0">
                <a:solidFill>
                  <a:schemeClr val="tx1"/>
                </a:solidFill>
                <a:latin typeface="+mn-lt"/>
                <a:ea typeface="+mn-ea"/>
                <a:cs typeface="+mn-cs"/>
              </a:rPr>
              <a:t>HorizontalOptions</a:t>
            </a:r>
            <a:r>
              <a:rPr lang="fr-FR" sz="1200" kern="1200" dirty="0" smtClean="0">
                <a:solidFill>
                  <a:schemeClr val="tx1"/>
                </a:solidFill>
                <a:latin typeface="+mn-lt"/>
                <a:ea typeface="+mn-ea"/>
                <a:cs typeface="+mn-cs"/>
              </a:rPr>
              <a:t>="Center"&gt;</a:t>
            </a:r>
          </a:p>
          <a:p>
            <a:r>
              <a:rPr lang="fr-FR" sz="1200" kern="1200" dirty="0" smtClean="0">
                <a:solidFill>
                  <a:schemeClr val="tx1"/>
                </a:solidFill>
                <a:latin typeface="+mn-lt"/>
                <a:ea typeface="+mn-ea"/>
                <a:cs typeface="+mn-cs"/>
              </a:rPr>
              <a:t>        &lt;Label x:Name="lblHtml" </a:t>
            </a:r>
            <a:r>
              <a:rPr lang="fr-FR" sz="1200" kern="1200" dirty="0" err="1" smtClean="0">
                <a:solidFill>
                  <a:schemeClr val="tx1"/>
                </a:solidFill>
                <a:latin typeface="+mn-lt"/>
                <a:ea typeface="+mn-ea"/>
                <a:cs typeface="+mn-cs"/>
              </a:rPr>
              <a:t>TextType</a:t>
            </a:r>
            <a:r>
              <a:rPr lang="fr-FR" sz="1200" kern="1200" dirty="0" smtClean="0">
                <a:solidFill>
                  <a:schemeClr val="tx1"/>
                </a:solidFill>
                <a:latin typeface="+mn-lt"/>
                <a:ea typeface="+mn-ea"/>
                <a:cs typeface="+mn-cs"/>
              </a:rPr>
              <a:t>="Html"&gt;</a:t>
            </a:r>
          </a:p>
          <a:p>
            <a:r>
              <a:rPr lang="fr-FR" sz="1200" kern="1200" dirty="0" smtClean="0">
                <a:solidFill>
                  <a:schemeClr val="tx1"/>
                </a:solidFill>
                <a:latin typeface="+mn-lt"/>
                <a:ea typeface="+mn-ea"/>
                <a:cs typeface="+mn-cs"/>
              </a:rPr>
              <a:t>        &lt;/Label&gt;</a:t>
            </a:r>
          </a:p>
          <a:p>
            <a:r>
              <a:rPr lang="fr-FR" sz="1200" kern="1200" dirty="0" smtClean="0">
                <a:solidFill>
                  <a:schemeClr val="tx1"/>
                </a:solidFill>
                <a:latin typeface="+mn-lt"/>
                <a:ea typeface="+mn-ea"/>
                <a:cs typeface="+mn-cs"/>
              </a:rPr>
              <a:t>    &lt;/Grid&gt;</a:t>
            </a:r>
          </a:p>
          <a:p>
            <a:endParaRPr lang="fr-FR" sz="1200" b="1" kern="1200" baseline="0" dirty="0" smtClean="0">
              <a:solidFill>
                <a:schemeClr val="tx1"/>
              </a:solidFill>
              <a:latin typeface="+mn-lt"/>
              <a:ea typeface="+mn-ea"/>
              <a:cs typeface="+mn-cs"/>
            </a:endParaRPr>
          </a:p>
          <a:p>
            <a:r>
              <a:rPr lang="fr-FR" sz="1200" b="1" kern="1200" baseline="0" dirty="0" smtClean="0">
                <a:solidFill>
                  <a:schemeClr val="tx1"/>
                </a:solidFill>
                <a:latin typeface="+mn-lt"/>
                <a:ea typeface="+mn-ea"/>
                <a:cs typeface="+mn-cs"/>
              </a:rPr>
              <a:t>C# code</a:t>
            </a:r>
          </a:p>
          <a:p>
            <a:r>
              <a:rPr lang="en-US" sz="1200" kern="1200" dirty="0" smtClean="0">
                <a:solidFill>
                  <a:schemeClr val="tx1"/>
                </a:solidFill>
                <a:latin typeface="+mn-lt"/>
                <a:ea typeface="+mn-ea"/>
                <a:cs typeface="+mn-cs"/>
              </a:rPr>
              <a:t> </a:t>
            </a:r>
            <a:r>
              <a:rPr lang="en-US" sz="1200" kern="1200" dirty="0" err="1" smtClean="0">
                <a:solidFill>
                  <a:schemeClr val="tx1"/>
                </a:solidFill>
                <a:latin typeface="+mn-lt"/>
                <a:ea typeface="+mn-ea"/>
                <a:cs typeface="+mn-cs"/>
              </a:rPr>
              <a:t>lblHtml.Text</a:t>
            </a:r>
            <a:r>
              <a:rPr lang="en-US" sz="1200" kern="1200" dirty="0" smtClean="0">
                <a:solidFill>
                  <a:schemeClr val="tx1"/>
                </a:solidFill>
                <a:latin typeface="+mn-lt"/>
                <a:ea typeface="+mn-ea"/>
                <a:cs typeface="+mn-cs"/>
              </a:rPr>
              <a:t> = "This is &lt;strong&gt;HTML&lt;/strong&gt; text.";</a:t>
            </a:r>
            <a:endParaRPr lang="fr-FR" b="1" baseline="0" dirty="0" smtClean="0"/>
          </a:p>
          <a:p>
            <a:endParaRPr lang="fr-FR" dirty="0"/>
          </a:p>
        </p:txBody>
      </p:sp>
      <p:sp>
        <p:nvSpPr>
          <p:cNvPr id="4" name="Espace réservé du numéro de diapositive 3"/>
          <p:cNvSpPr>
            <a:spLocks noGrp="1"/>
          </p:cNvSpPr>
          <p:nvPr>
            <p:ph type="sldNum" sz="quarter" idx="10"/>
          </p:nvPr>
        </p:nvSpPr>
        <p:spPr/>
        <p:txBody>
          <a:bodyPr/>
          <a:lstStyle/>
          <a:p>
            <a:fld id="{C05E1AE6-1BFD-4589-9604-3D9D158FB781}" type="slidenum">
              <a:rPr lang="fr-FR" smtClean="0"/>
              <a:t>14</a:t>
            </a:fld>
            <a:endParaRPr lang="fr-FR"/>
          </a:p>
        </p:txBody>
      </p:sp>
    </p:spTree>
    <p:extLst>
      <p:ext uri="{BB962C8B-B14F-4D97-AF65-F5344CB8AC3E}">
        <p14:creationId xmlns:p14="http://schemas.microsoft.com/office/powerpoint/2010/main" val="12373880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C05E1AE6-1BFD-4589-9604-3D9D158FB781}" type="slidenum">
              <a:rPr lang="fr-FR" smtClean="0"/>
              <a:t>15</a:t>
            </a:fld>
            <a:endParaRPr lang="fr-FR"/>
          </a:p>
        </p:txBody>
      </p:sp>
    </p:spTree>
    <p:extLst>
      <p:ext uri="{BB962C8B-B14F-4D97-AF65-F5344CB8AC3E}">
        <p14:creationId xmlns:p14="http://schemas.microsoft.com/office/powerpoint/2010/main" val="5168368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C05E1AE6-1BFD-4589-9604-3D9D158FB781}" type="slidenum">
              <a:rPr lang="fr-FR" smtClean="0"/>
              <a:t>16</a:t>
            </a:fld>
            <a:endParaRPr lang="fr-FR"/>
          </a:p>
        </p:txBody>
      </p:sp>
    </p:spTree>
    <p:extLst>
      <p:ext uri="{BB962C8B-B14F-4D97-AF65-F5344CB8AC3E}">
        <p14:creationId xmlns:p14="http://schemas.microsoft.com/office/powerpoint/2010/main" val="38814522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C05E1AE6-1BFD-4589-9604-3D9D158FB781}" type="slidenum">
              <a:rPr lang="fr-FR" smtClean="0"/>
              <a:t>17</a:t>
            </a:fld>
            <a:endParaRPr lang="fr-FR"/>
          </a:p>
        </p:txBody>
      </p:sp>
    </p:spTree>
    <p:extLst>
      <p:ext uri="{BB962C8B-B14F-4D97-AF65-F5344CB8AC3E}">
        <p14:creationId xmlns:p14="http://schemas.microsoft.com/office/powerpoint/2010/main" val="41967350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C05E1AE6-1BFD-4589-9604-3D9D158FB781}" type="slidenum">
              <a:rPr lang="fr-FR" smtClean="0"/>
              <a:t>18</a:t>
            </a:fld>
            <a:endParaRPr lang="fr-FR"/>
          </a:p>
        </p:txBody>
      </p:sp>
    </p:spTree>
    <p:extLst>
      <p:ext uri="{BB962C8B-B14F-4D97-AF65-F5344CB8AC3E}">
        <p14:creationId xmlns:p14="http://schemas.microsoft.com/office/powerpoint/2010/main" val="19161912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C05E1AE6-1BFD-4589-9604-3D9D158FB781}" type="slidenum">
              <a:rPr lang="fr-FR" smtClean="0"/>
              <a:t>19</a:t>
            </a:fld>
            <a:endParaRPr lang="fr-FR"/>
          </a:p>
        </p:txBody>
      </p:sp>
    </p:spTree>
    <p:extLst>
      <p:ext uri="{BB962C8B-B14F-4D97-AF65-F5344CB8AC3E}">
        <p14:creationId xmlns:p14="http://schemas.microsoft.com/office/powerpoint/2010/main" val="29378607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C05E1AE6-1BFD-4589-9604-3D9D158FB781}" type="slidenum">
              <a:rPr lang="fr-FR" smtClean="0"/>
              <a:t>20</a:t>
            </a:fld>
            <a:endParaRPr lang="fr-FR"/>
          </a:p>
        </p:txBody>
      </p:sp>
    </p:spTree>
    <p:extLst>
      <p:ext uri="{BB962C8B-B14F-4D97-AF65-F5344CB8AC3E}">
        <p14:creationId xmlns:p14="http://schemas.microsoft.com/office/powerpoint/2010/main" val="28208080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b="1" dirty="0" smtClean="0"/>
              <a:t>La</a:t>
            </a:r>
            <a:r>
              <a:rPr lang="fr-FR" b="1" baseline="0" dirty="0" smtClean="0"/>
              <a:t> partie XAML(Complete):</a:t>
            </a:r>
            <a:br>
              <a:rPr lang="fr-FR" b="1" baseline="0" dirty="0" smtClean="0"/>
            </a:br>
            <a:r>
              <a:rPr lang="fr-FR" b="1" baseline="0" dirty="0" smtClean="0"/>
              <a:t/>
            </a:r>
            <a:br>
              <a:rPr lang="fr-FR" b="1" baseline="0" dirty="0" smtClean="0"/>
            </a:br>
            <a:r>
              <a:rPr lang="en-US" sz="1200" kern="1200" dirty="0" smtClean="0">
                <a:solidFill>
                  <a:schemeClr val="tx1"/>
                </a:solidFill>
                <a:latin typeface="+mn-lt"/>
                <a:ea typeface="+mn-ea"/>
                <a:cs typeface="+mn-cs"/>
              </a:rPr>
              <a:t> &lt;</a:t>
            </a:r>
            <a:r>
              <a:rPr lang="en-US" sz="1200" kern="1200" dirty="0" err="1" smtClean="0">
                <a:solidFill>
                  <a:schemeClr val="tx1"/>
                </a:solidFill>
                <a:latin typeface="+mn-lt"/>
                <a:ea typeface="+mn-ea"/>
                <a:cs typeface="+mn-cs"/>
              </a:rPr>
              <a:t>ContentPage.BindingContext</a:t>
            </a:r>
            <a:r>
              <a:rPr lang="en-US" sz="1200" kern="1200" dirty="0" smtClean="0">
                <a:solidFill>
                  <a:schemeClr val="tx1"/>
                </a:solidFill>
                <a:latin typeface="+mn-lt"/>
                <a:ea typeface="+mn-ea"/>
                <a:cs typeface="+mn-cs"/>
              </a:rPr>
              <a:t>&gt;</a:t>
            </a:r>
          </a:p>
          <a:p>
            <a:r>
              <a:rPr lang="en-US" sz="1200" kern="1200" dirty="0" smtClean="0">
                <a:solidFill>
                  <a:schemeClr val="tx1"/>
                </a:solidFill>
                <a:latin typeface="+mn-lt"/>
                <a:ea typeface="+mn-ea"/>
                <a:cs typeface="+mn-cs"/>
              </a:rPr>
              <a:t>        &lt;</a:t>
            </a:r>
            <a:r>
              <a:rPr lang="en-US" sz="1200" kern="1200" dirty="0" err="1" smtClean="0">
                <a:solidFill>
                  <a:schemeClr val="tx1"/>
                </a:solidFill>
                <a:latin typeface="+mn-lt"/>
                <a:ea typeface="+mn-ea"/>
                <a:cs typeface="+mn-cs"/>
              </a:rPr>
              <a:t>local:RefreshDemoViewModel</a:t>
            </a:r>
            <a:r>
              <a:rPr lang="en-US" sz="1200" kern="1200" dirty="0" smtClean="0">
                <a:solidFill>
                  <a:schemeClr val="tx1"/>
                </a:solidFill>
                <a:latin typeface="+mn-lt"/>
                <a:ea typeface="+mn-ea"/>
                <a:cs typeface="+mn-cs"/>
              </a:rPr>
              <a:t> /&gt;</a:t>
            </a:r>
          </a:p>
          <a:p>
            <a:r>
              <a:rPr lang="en-US" sz="1200" kern="1200" dirty="0" smtClean="0">
                <a:solidFill>
                  <a:schemeClr val="tx1"/>
                </a:solidFill>
                <a:latin typeface="+mn-lt"/>
                <a:ea typeface="+mn-ea"/>
                <a:cs typeface="+mn-cs"/>
              </a:rPr>
              <a:t>    &lt;/</a:t>
            </a:r>
            <a:r>
              <a:rPr lang="en-US" sz="1200" kern="1200" dirty="0" err="1" smtClean="0">
                <a:solidFill>
                  <a:schemeClr val="tx1"/>
                </a:solidFill>
                <a:latin typeface="+mn-lt"/>
                <a:ea typeface="+mn-ea"/>
                <a:cs typeface="+mn-cs"/>
              </a:rPr>
              <a:t>ContentPage.BindingContext</a:t>
            </a:r>
            <a:r>
              <a:rPr lang="en-US" sz="1200" kern="1200" dirty="0" smtClean="0">
                <a:solidFill>
                  <a:schemeClr val="tx1"/>
                </a:solidFill>
                <a:latin typeface="+mn-lt"/>
                <a:ea typeface="+mn-ea"/>
                <a:cs typeface="+mn-cs"/>
              </a:rPr>
              <a:t>&gt;</a:t>
            </a:r>
          </a:p>
          <a:p>
            <a:endParaRPr lang="en-US" sz="1200" kern="1200" dirty="0" smtClean="0">
              <a:solidFill>
                <a:schemeClr val="tx1"/>
              </a:solidFill>
              <a:latin typeface="+mn-lt"/>
              <a:ea typeface="+mn-ea"/>
              <a:cs typeface="+mn-cs"/>
            </a:endParaRPr>
          </a:p>
          <a:p>
            <a:r>
              <a:rPr lang="en-US" sz="1200" kern="1200" dirty="0" smtClean="0">
                <a:solidFill>
                  <a:schemeClr val="tx1"/>
                </a:solidFill>
                <a:latin typeface="+mn-lt"/>
                <a:ea typeface="+mn-ea"/>
                <a:cs typeface="+mn-cs"/>
              </a:rPr>
              <a:t>    &lt;</a:t>
            </a:r>
            <a:r>
              <a:rPr lang="en-US" sz="1200" kern="1200" dirty="0" err="1" smtClean="0">
                <a:solidFill>
                  <a:schemeClr val="tx1"/>
                </a:solidFill>
                <a:latin typeface="+mn-lt"/>
                <a:ea typeface="+mn-ea"/>
                <a:cs typeface="+mn-cs"/>
              </a:rPr>
              <a:t>RefreshView</a:t>
            </a:r>
            <a:r>
              <a:rPr lang="en-US" sz="1200" kern="1200" dirty="0" smtClean="0">
                <a:solidFill>
                  <a:schemeClr val="tx1"/>
                </a:solidFill>
                <a:latin typeface="+mn-lt"/>
                <a:ea typeface="+mn-ea"/>
                <a:cs typeface="+mn-cs"/>
              </a:rPr>
              <a:t> </a:t>
            </a:r>
            <a:r>
              <a:rPr lang="en-US" sz="1200" kern="1200" dirty="0" err="1" smtClean="0">
                <a:solidFill>
                  <a:schemeClr val="tx1"/>
                </a:solidFill>
                <a:latin typeface="+mn-lt"/>
                <a:ea typeface="+mn-ea"/>
                <a:cs typeface="+mn-cs"/>
              </a:rPr>
              <a:t>IsRefreshing</a:t>
            </a:r>
            <a:r>
              <a:rPr lang="en-US" sz="1200" kern="1200" dirty="0" smtClean="0">
                <a:solidFill>
                  <a:schemeClr val="tx1"/>
                </a:solidFill>
                <a:latin typeface="+mn-lt"/>
                <a:ea typeface="+mn-ea"/>
                <a:cs typeface="+mn-cs"/>
              </a:rPr>
              <a:t>="{Binding </a:t>
            </a:r>
            <a:r>
              <a:rPr lang="en-US" sz="1200" kern="1200" dirty="0" err="1" smtClean="0">
                <a:solidFill>
                  <a:schemeClr val="tx1"/>
                </a:solidFill>
                <a:latin typeface="+mn-lt"/>
                <a:ea typeface="+mn-ea"/>
                <a:cs typeface="+mn-cs"/>
              </a:rPr>
              <a:t>IsRefreshing</a:t>
            </a:r>
            <a:r>
              <a:rPr lang="en-US" sz="1200" kern="1200" dirty="0" smtClean="0">
                <a:solidFill>
                  <a:schemeClr val="tx1"/>
                </a:solidFill>
                <a:latin typeface="+mn-lt"/>
                <a:ea typeface="+mn-ea"/>
                <a:cs typeface="+mn-cs"/>
              </a:rPr>
              <a:t>}"</a:t>
            </a:r>
          </a:p>
          <a:p>
            <a:r>
              <a:rPr lang="en-US" sz="1200" kern="1200" dirty="0" smtClean="0">
                <a:solidFill>
                  <a:schemeClr val="tx1"/>
                </a:solidFill>
                <a:latin typeface="+mn-lt"/>
                <a:ea typeface="+mn-ea"/>
                <a:cs typeface="+mn-cs"/>
              </a:rPr>
              <a:t>     Command="{Binding </a:t>
            </a:r>
            <a:r>
              <a:rPr lang="en-US" sz="1200" kern="1200" dirty="0" err="1" smtClean="0">
                <a:solidFill>
                  <a:schemeClr val="tx1"/>
                </a:solidFill>
                <a:latin typeface="+mn-lt"/>
                <a:ea typeface="+mn-ea"/>
                <a:cs typeface="+mn-cs"/>
              </a:rPr>
              <a:t>RefreshCommand</a:t>
            </a:r>
            <a:r>
              <a:rPr lang="en-US" sz="1200" kern="1200" dirty="0" smtClean="0">
                <a:solidFill>
                  <a:schemeClr val="tx1"/>
                </a:solidFill>
                <a:latin typeface="+mn-lt"/>
                <a:ea typeface="+mn-ea"/>
                <a:cs typeface="+mn-cs"/>
              </a:rPr>
              <a:t>}"&gt;</a:t>
            </a:r>
          </a:p>
          <a:p>
            <a:r>
              <a:rPr lang="en-US" sz="1200" kern="1200" dirty="0" smtClean="0">
                <a:solidFill>
                  <a:schemeClr val="tx1"/>
                </a:solidFill>
                <a:latin typeface="+mn-lt"/>
                <a:ea typeface="+mn-ea"/>
                <a:cs typeface="+mn-cs"/>
              </a:rPr>
              <a:t>        &lt;</a:t>
            </a:r>
            <a:r>
              <a:rPr lang="en-US" sz="1200" kern="1200" dirty="0" err="1" smtClean="0">
                <a:solidFill>
                  <a:schemeClr val="tx1"/>
                </a:solidFill>
                <a:latin typeface="+mn-lt"/>
                <a:ea typeface="+mn-ea"/>
                <a:cs typeface="+mn-cs"/>
              </a:rPr>
              <a:t>ScrollView</a:t>
            </a:r>
            <a:r>
              <a:rPr lang="en-US" sz="1200" kern="1200" dirty="0" smtClean="0">
                <a:solidFill>
                  <a:schemeClr val="tx1"/>
                </a:solidFill>
                <a:latin typeface="+mn-lt"/>
                <a:ea typeface="+mn-ea"/>
                <a:cs typeface="+mn-cs"/>
              </a:rPr>
              <a:t>&gt;</a:t>
            </a:r>
          </a:p>
          <a:p>
            <a:r>
              <a:rPr lang="en-US" sz="1200" kern="1200" dirty="0" smtClean="0">
                <a:solidFill>
                  <a:schemeClr val="tx1"/>
                </a:solidFill>
                <a:latin typeface="+mn-lt"/>
                <a:ea typeface="+mn-ea"/>
                <a:cs typeface="+mn-cs"/>
              </a:rPr>
              <a:t>            &lt;</a:t>
            </a:r>
            <a:r>
              <a:rPr lang="en-US" sz="1200" kern="1200" dirty="0" err="1" smtClean="0">
                <a:solidFill>
                  <a:schemeClr val="tx1"/>
                </a:solidFill>
                <a:latin typeface="+mn-lt"/>
                <a:ea typeface="+mn-ea"/>
                <a:cs typeface="+mn-cs"/>
              </a:rPr>
              <a:t>FlexLayout</a:t>
            </a:r>
            <a:r>
              <a:rPr lang="en-US" sz="1200" kern="1200" dirty="0" smtClean="0">
                <a:solidFill>
                  <a:schemeClr val="tx1"/>
                </a:solidFill>
                <a:latin typeface="+mn-lt"/>
                <a:ea typeface="+mn-ea"/>
                <a:cs typeface="+mn-cs"/>
              </a:rPr>
              <a:t> Direction="Row"</a:t>
            </a:r>
          </a:p>
          <a:p>
            <a:r>
              <a:rPr lang="en-US" sz="1200" kern="1200" dirty="0" smtClean="0">
                <a:solidFill>
                  <a:schemeClr val="tx1"/>
                </a:solidFill>
                <a:latin typeface="+mn-lt"/>
                <a:ea typeface="+mn-ea"/>
                <a:cs typeface="+mn-cs"/>
              </a:rPr>
              <a:t>            Wrap="Wrap"</a:t>
            </a:r>
          </a:p>
          <a:p>
            <a:r>
              <a:rPr lang="en-US" sz="1200" kern="1200" dirty="0" smtClean="0">
                <a:solidFill>
                  <a:schemeClr val="tx1"/>
                </a:solidFill>
                <a:latin typeface="+mn-lt"/>
                <a:ea typeface="+mn-ea"/>
                <a:cs typeface="+mn-cs"/>
              </a:rPr>
              <a:t>            </a:t>
            </a:r>
            <a:r>
              <a:rPr lang="en-US" sz="1200" kern="1200" dirty="0" err="1" smtClean="0">
                <a:solidFill>
                  <a:schemeClr val="tx1"/>
                </a:solidFill>
                <a:latin typeface="+mn-lt"/>
                <a:ea typeface="+mn-ea"/>
                <a:cs typeface="+mn-cs"/>
              </a:rPr>
              <a:t>AlignItems</a:t>
            </a:r>
            <a:r>
              <a:rPr lang="en-US" sz="1200" kern="1200" dirty="0" smtClean="0">
                <a:solidFill>
                  <a:schemeClr val="tx1"/>
                </a:solidFill>
                <a:latin typeface="+mn-lt"/>
                <a:ea typeface="+mn-ea"/>
                <a:cs typeface="+mn-cs"/>
              </a:rPr>
              <a:t>="Center"</a:t>
            </a:r>
          </a:p>
          <a:p>
            <a:r>
              <a:rPr lang="en-US" sz="1200" kern="1200" dirty="0" smtClean="0">
                <a:solidFill>
                  <a:schemeClr val="tx1"/>
                </a:solidFill>
                <a:latin typeface="+mn-lt"/>
                <a:ea typeface="+mn-ea"/>
                <a:cs typeface="+mn-cs"/>
              </a:rPr>
              <a:t>            </a:t>
            </a:r>
            <a:r>
              <a:rPr lang="en-US" sz="1200" kern="1200" dirty="0" err="1" smtClean="0">
                <a:solidFill>
                  <a:schemeClr val="tx1"/>
                </a:solidFill>
                <a:latin typeface="+mn-lt"/>
                <a:ea typeface="+mn-ea"/>
                <a:cs typeface="+mn-cs"/>
              </a:rPr>
              <a:t>AlignContent</a:t>
            </a:r>
            <a:r>
              <a:rPr lang="en-US" sz="1200" kern="1200" dirty="0" smtClean="0">
                <a:solidFill>
                  <a:schemeClr val="tx1"/>
                </a:solidFill>
                <a:latin typeface="+mn-lt"/>
                <a:ea typeface="+mn-ea"/>
                <a:cs typeface="+mn-cs"/>
              </a:rPr>
              <a:t>="Center"</a:t>
            </a:r>
          </a:p>
          <a:p>
            <a:r>
              <a:rPr lang="en-US" sz="1200" kern="1200" dirty="0" smtClean="0">
                <a:solidFill>
                  <a:schemeClr val="tx1"/>
                </a:solidFill>
                <a:latin typeface="+mn-lt"/>
                <a:ea typeface="+mn-ea"/>
                <a:cs typeface="+mn-cs"/>
              </a:rPr>
              <a:t>            </a:t>
            </a:r>
            <a:r>
              <a:rPr lang="en-US" sz="1200" kern="1200" dirty="0" err="1" smtClean="0">
                <a:solidFill>
                  <a:schemeClr val="tx1"/>
                </a:solidFill>
                <a:latin typeface="+mn-lt"/>
                <a:ea typeface="+mn-ea"/>
                <a:cs typeface="+mn-cs"/>
              </a:rPr>
              <a:t>BindableLayout.ItemsSource</a:t>
            </a:r>
            <a:r>
              <a:rPr lang="en-US" sz="1200" kern="1200" dirty="0" smtClean="0">
                <a:solidFill>
                  <a:schemeClr val="tx1"/>
                </a:solidFill>
                <a:latin typeface="+mn-lt"/>
                <a:ea typeface="+mn-ea"/>
                <a:cs typeface="+mn-cs"/>
              </a:rPr>
              <a:t>="{Binding Items}"&gt;</a:t>
            </a:r>
          </a:p>
          <a:p>
            <a:r>
              <a:rPr lang="en-US" sz="1200" kern="1200" dirty="0" smtClean="0">
                <a:solidFill>
                  <a:schemeClr val="tx1"/>
                </a:solidFill>
                <a:latin typeface="+mn-lt"/>
                <a:ea typeface="+mn-ea"/>
                <a:cs typeface="+mn-cs"/>
              </a:rPr>
              <a:t>                &lt;</a:t>
            </a:r>
            <a:r>
              <a:rPr lang="en-US" sz="1200" kern="1200" dirty="0" err="1" smtClean="0">
                <a:solidFill>
                  <a:schemeClr val="tx1"/>
                </a:solidFill>
                <a:latin typeface="+mn-lt"/>
                <a:ea typeface="+mn-ea"/>
                <a:cs typeface="+mn-cs"/>
              </a:rPr>
              <a:t>BindableLayout.ItemTemplate</a:t>
            </a:r>
            <a:r>
              <a:rPr lang="en-US" sz="1200" kern="1200" dirty="0" smtClean="0">
                <a:solidFill>
                  <a:schemeClr val="tx1"/>
                </a:solidFill>
                <a:latin typeface="+mn-lt"/>
                <a:ea typeface="+mn-ea"/>
                <a:cs typeface="+mn-cs"/>
              </a:rPr>
              <a:t>&gt;</a:t>
            </a:r>
          </a:p>
          <a:p>
            <a:r>
              <a:rPr lang="en-US" sz="1200" kern="1200" dirty="0" smtClean="0">
                <a:solidFill>
                  <a:schemeClr val="tx1"/>
                </a:solidFill>
                <a:latin typeface="+mn-lt"/>
                <a:ea typeface="+mn-ea"/>
                <a:cs typeface="+mn-cs"/>
              </a:rPr>
              <a:t>                    &lt;</a:t>
            </a:r>
            <a:r>
              <a:rPr lang="en-US" sz="1200" kern="1200" dirty="0" err="1" smtClean="0">
                <a:solidFill>
                  <a:schemeClr val="tx1"/>
                </a:solidFill>
                <a:latin typeface="+mn-lt"/>
                <a:ea typeface="+mn-ea"/>
                <a:cs typeface="+mn-cs"/>
              </a:rPr>
              <a:t>DataTemplate</a:t>
            </a:r>
            <a:r>
              <a:rPr lang="en-US" sz="1200" kern="1200" dirty="0" smtClean="0">
                <a:solidFill>
                  <a:schemeClr val="tx1"/>
                </a:solidFill>
                <a:latin typeface="+mn-lt"/>
                <a:ea typeface="+mn-ea"/>
                <a:cs typeface="+mn-cs"/>
              </a:rPr>
              <a:t>&gt;</a:t>
            </a:r>
          </a:p>
          <a:p>
            <a:r>
              <a:rPr lang="en-US" sz="1200" kern="1200" dirty="0" smtClean="0">
                <a:solidFill>
                  <a:schemeClr val="tx1"/>
                </a:solidFill>
                <a:latin typeface="+mn-lt"/>
                <a:ea typeface="+mn-ea"/>
                <a:cs typeface="+mn-cs"/>
              </a:rPr>
              <a:t>                        &lt;Frame </a:t>
            </a:r>
            <a:r>
              <a:rPr lang="en-US" sz="1200" kern="1200" dirty="0" err="1" smtClean="0">
                <a:solidFill>
                  <a:schemeClr val="tx1"/>
                </a:solidFill>
                <a:latin typeface="+mn-lt"/>
                <a:ea typeface="+mn-ea"/>
                <a:cs typeface="+mn-cs"/>
              </a:rPr>
              <a:t>BackgroundColor</a:t>
            </a:r>
            <a:r>
              <a:rPr lang="en-US" sz="1200" kern="1200" dirty="0" smtClean="0">
                <a:solidFill>
                  <a:schemeClr val="tx1"/>
                </a:solidFill>
                <a:latin typeface="+mn-lt"/>
                <a:ea typeface="+mn-ea"/>
                <a:cs typeface="+mn-cs"/>
              </a:rPr>
              <a:t>="{Binding Color}"</a:t>
            </a:r>
          </a:p>
          <a:p>
            <a:r>
              <a:rPr lang="en-US" sz="1200" kern="1200" dirty="0" smtClean="0">
                <a:solidFill>
                  <a:schemeClr val="tx1"/>
                </a:solidFill>
                <a:latin typeface="+mn-lt"/>
                <a:ea typeface="+mn-ea"/>
                <a:cs typeface="+mn-cs"/>
              </a:rPr>
              <a:t>                   </a:t>
            </a:r>
            <a:r>
              <a:rPr lang="en-US" sz="1200" kern="1200" dirty="0" err="1" smtClean="0">
                <a:solidFill>
                  <a:schemeClr val="tx1"/>
                </a:solidFill>
                <a:latin typeface="+mn-lt"/>
                <a:ea typeface="+mn-ea"/>
                <a:cs typeface="+mn-cs"/>
              </a:rPr>
              <a:t>HeightRequest</a:t>
            </a:r>
            <a:r>
              <a:rPr lang="en-US" sz="1200" kern="1200" dirty="0" smtClean="0">
                <a:solidFill>
                  <a:schemeClr val="tx1"/>
                </a:solidFill>
                <a:latin typeface="+mn-lt"/>
                <a:ea typeface="+mn-ea"/>
                <a:cs typeface="+mn-cs"/>
              </a:rPr>
              <a:t>="100"</a:t>
            </a:r>
          </a:p>
          <a:p>
            <a:r>
              <a:rPr lang="en-US" sz="1200" kern="1200" dirty="0" smtClean="0">
                <a:solidFill>
                  <a:schemeClr val="tx1"/>
                </a:solidFill>
                <a:latin typeface="+mn-lt"/>
                <a:ea typeface="+mn-ea"/>
                <a:cs typeface="+mn-cs"/>
              </a:rPr>
              <a:t>                   </a:t>
            </a:r>
            <a:r>
              <a:rPr lang="en-US" sz="1200" kern="1200" dirty="0" err="1" smtClean="0">
                <a:solidFill>
                  <a:schemeClr val="tx1"/>
                </a:solidFill>
                <a:latin typeface="+mn-lt"/>
                <a:ea typeface="+mn-ea"/>
                <a:cs typeface="+mn-cs"/>
              </a:rPr>
              <a:t>WidthRequest</a:t>
            </a:r>
            <a:r>
              <a:rPr lang="en-US" sz="1200" kern="1200" dirty="0" smtClean="0">
                <a:solidFill>
                  <a:schemeClr val="tx1"/>
                </a:solidFill>
                <a:latin typeface="+mn-lt"/>
                <a:ea typeface="+mn-ea"/>
                <a:cs typeface="+mn-cs"/>
              </a:rPr>
              <a:t>="100"</a:t>
            </a:r>
          </a:p>
          <a:p>
            <a:r>
              <a:rPr lang="en-US" sz="1200" kern="1200" dirty="0" smtClean="0">
                <a:solidFill>
                  <a:schemeClr val="tx1"/>
                </a:solidFill>
                <a:latin typeface="+mn-lt"/>
                <a:ea typeface="+mn-ea"/>
                <a:cs typeface="+mn-cs"/>
              </a:rPr>
              <a:t>                   </a:t>
            </a:r>
            <a:r>
              <a:rPr lang="en-US" sz="1200" kern="1200" dirty="0" err="1" smtClean="0">
                <a:solidFill>
                  <a:schemeClr val="tx1"/>
                </a:solidFill>
                <a:latin typeface="+mn-lt"/>
                <a:ea typeface="+mn-ea"/>
                <a:cs typeface="+mn-cs"/>
              </a:rPr>
              <a:t>CornerRadius</a:t>
            </a:r>
            <a:r>
              <a:rPr lang="en-US" sz="1200" kern="1200" dirty="0" smtClean="0">
                <a:solidFill>
                  <a:schemeClr val="tx1"/>
                </a:solidFill>
                <a:latin typeface="+mn-lt"/>
                <a:ea typeface="+mn-ea"/>
                <a:cs typeface="+mn-cs"/>
              </a:rPr>
              <a:t>="10"</a:t>
            </a:r>
          </a:p>
          <a:p>
            <a:r>
              <a:rPr lang="en-US" sz="1200" kern="1200" dirty="0" smtClean="0">
                <a:solidFill>
                  <a:schemeClr val="tx1"/>
                </a:solidFill>
                <a:latin typeface="+mn-lt"/>
                <a:ea typeface="+mn-ea"/>
                <a:cs typeface="+mn-cs"/>
              </a:rPr>
              <a:t>                   Margin="5"</a:t>
            </a:r>
          </a:p>
          <a:p>
            <a:r>
              <a:rPr lang="en-US" sz="1200" kern="1200" dirty="0" smtClean="0">
                <a:solidFill>
                  <a:schemeClr val="tx1"/>
                </a:solidFill>
                <a:latin typeface="+mn-lt"/>
                <a:ea typeface="+mn-ea"/>
                <a:cs typeface="+mn-cs"/>
              </a:rPr>
              <a:t>                   </a:t>
            </a:r>
            <a:r>
              <a:rPr lang="en-US" sz="1200" kern="1200" dirty="0" err="1" smtClean="0">
                <a:solidFill>
                  <a:schemeClr val="tx1"/>
                </a:solidFill>
                <a:latin typeface="+mn-lt"/>
                <a:ea typeface="+mn-ea"/>
                <a:cs typeface="+mn-cs"/>
              </a:rPr>
              <a:t>HasShadow</a:t>
            </a:r>
            <a:r>
              <a:rPr lang="en-US" sz="1200" kern="1200" dirty="0" smtClean="0">
                <a:solidFill>
                  <a:schemeClr val="tx1"/>
                </a:solidFill>
                <a:latin typeface="+mn-lt"/>
                <a:ea typeface="+mn-ea"/>
                <a:cs typeface="+mn-cs"/>
              </a:rPr>
              <a:t>="True"&gt;</a:t>
            </a:r>
          </a:p>
          <a:p>
            <a:r>
              <a:rPr lang="en-US" sz="1200" kern="1200" dirty="0" smtClean="0">
                <a:solidFill>
                  <a:schemeClr val="tx1"/>
                </a:solidFill>
                <a:latin typeface="+mn-lt"/>
                <a:ea typeface="+mn-ea"/>
                <a:cs typeface="+mn-cs"/>
              </a:rPr>
              <a:t>                            &lt;Label Text="{Binding Name}"</a:t>
            </a:r>
          </a:p>
          <a:p>
            <a:r>
              <a:rPr lang="en-US" sz="1200" kern="1200" dirty="0" smtClean="0">
                <a:solidFill>
                  <a:schemeClr val="tx1"/>
                </a:solidFill>
                <a:latin typeface="+mn-lt"/>
                <a:ea typeface="+mn-ea"/>
                <a:cs typeface="+mn-cs"/>
              </a:rPr>
              <a:t>                       </a:t>
            </a:r>
            <a:r>
              <a:rPr lang="en-US" sz="1200" kern="1200" dirty="0" err="1" smtClean="0">
                <a:solidFill>
                  <a:schemeClr val="tx1"/>
                </a:solidFill>
                <a:latin typeface="+mn-lt"/>
                <a:ea typeface="+mn-ea"/>
                <a:cs typeface="+mn-cs"/>
              </a:rPr>
              <a:t>TextColor</a:t>
            </a:r>
            <a:r>
              <a:rPr lang="en-US" sz="1200" kern="1200" dirty="0" smtClean="0">
                <a:solidFill>
                  <a:schemeClr val="tx1"/>
                </a:solidFill>
                <a:latin typeface="+mn-lt"/>
                <a:ea typeface="+mn-ea"/>
                <a:cs typeface="+mn-cs"/>
              </a:rPr>
              <a:t>="White"</a:t>
            </a:r>
          </a:p>
          <a:p>
            <a:r>
              <a:rPr lang="en-US" sz="1200" kern="1200" dirty="0" smtClean="0">
                <a:solidFill>
                  <a:schemeClr val="tx1"/>
                </a:solidFill>
                <a:latin typeface="+mn-lt"/>
                <a:ea typeface="+mn-ea"/>
                <a:cs typeface="+mn-cs"/>
              </a:rPr>
              <a:t>                       </a:t>
            </a:r>
            <a:r>
              <a:rPr lang="en-US" sz="1200" kern="1200" dirty="0" err="1" smtClean="0">
                <a:solidFill>
                  <a:schemeClr val="tx1"/>
                </a:solidFill>
                <a:latin typeface="+mn-lt"/>
                <a:ea typeface="+mn-ea"/>
                <a:cs typeface="+mn-cs"/>
              </a:rPr>
              <a:t>HorizontalOptions</a:t>
            </a:r>
            <a:r>
              <a:rPr lang="en-US" sz="1200" kern="1200" dirty="0" smtClean="0">
                <a:solidFill>
                  <a:schemeClr val="tx1"/>
                </a:solidFill>
                <a:latin typeface="+mn-lt"/>
                <a:ea typeface="+mn-ea"/>
                <a:cs typeface="+mn-cs"/>
              </a:rPr>
              <a:t>="Center"</a:t>
            </a:r>
          </a:p>
          <a:p>
            <a:r>
              <a:rPr lang="en-US" sz="1200" kern="1200" dirty="0" smtClean="0">
                <a:solidFill>
                  <a:schemeClr val="tx1"/>
                </a:solidFill>
                <a:latin typeface="+mn-lt"/>
                <a:ea typeface="+mn-ea"/>
                <a:cs typeface="+mn-cs"/>
              </a:rPr>
              <a:t>                       </a:t>
            </a:r>
            <a:r>
              <a:rPr lang="en-US" sz="1200" kern="1200" dirty="0" err="1" smtClean="0">
                <a:solidFill>
                  <a:schemeClr val="tx1"/>
                </a:solidFill>
                <a:latin typeface="+mn-lt"/>
                <a:ea typeface="+mn-ea"/>
                <a:cs typeface="+mn-cs"/>
              </a:rPr>
              <a:t>VerticalOptions</a:t>
            </a:r>
            <a:r>
              <a:rPr lang="en-US" sz="1200" kern="1200" dirty="0" smtClean="0">
                <a:solidFill>
                  <a:schemeClr val="tx1"/>
                </a:solidFill>
                <a:latin typeface="+mn-lt"/>
                <a:ea typeface="+mn-ea"/>
                <a:cs typeface="+mn-cs"/>
              </a:rPr>
              <a:t>="Center"/&gt;</a:t>
            </a:r>
          </a:p>
          <a:p>
            <a:r>
              <a:rPr lang="en-US" sz="1200" kern="1200" dirty="0" smtClean="0">
                <a:solidFill>
                  <a:schemeClr val="tx1"/>
                </a:solidFill>
                <a:latin typeface="+mn-lt"/>
                <a:ea typeface="+mn-ea"/>
                <a:cs typeface="+mn-cs"/>
              </a:rPr>
              <a:t>                        &lt;/Frame&gt;</a:t>
            </a:r>
          </a:p>
          <a:p>
            <a:r>
              <a:rPr lang="en-US" sz="1200" kern="1200" dirty="0" smtClean="0">
                <a:solidFill>
                  <a:schemeClr val="tx1"/>
                </a:solidFill>
                <a:latin typeface="+mn-lt"/>
                <a:ea typeface="+mn-ea"/>
                <a:cs typeface="+mn-cs"/>
              </a:rPr>
              <a:t>                    &lt;/</a:t>
            </a:r>
            <a:r>
              <a:rPr lang="en-US" sz="1200" kern="1200" dirty="0" err="1" smtClean="0">
                <a:solidFill>
                  <a:schemeClr val="tx1"/>
                </a:solidFill>
                <a:latin typeface="+mn-lt"/>
                <a:ea typeface="+mn-ea"/>
                <a:cs typeface="+mn-cs"/>
              </a:rPr>
              <a:t>DataTemplate</a:t>
            </a:r>
            <a:r>
              <a:rPr lang="en-US" sz="1200" kern="1200" dirty="0" smtClean="0">
                <a:solidFill>
                  <a:schemeClr val="tx1"/>
                </a:solidFill>
                <a:latin typeface="+mn-lt"/>
                <a:ea typeface="+mn-ea"/>
                <a:cs typeface="+mn-cs"/>
              </a:rPr>
              <a:t>&gt;</a:t>
            </a:r>
          </a:p>
          <a:p>
            <a:r>
              <a:rPr lang="en-US" sz="1200" kern="1200" dirty="0" smtClean="0">
                <a:solidFill>
                  <a:schemeClr val="tx1"/>
                </a:solidFill>
                <a:latin typeface="+mn-lt"/>
                <a:ea typeface="+mn-ea"/>
                <a:cs typeface="+mn-cs"/>
              </a:rPr>
              <a:t>                &lt;/</a:t>
            </a:r>
            <a:r>
              <a:rPr lang="en-US" sz="1200" kern="1200" dirty="0" err="1" smtClean="0">
                <a:solidFill>
                  <a:schemeClr val="tx1"/>
                </a:solidFill>
                <a:latin typeface="+mn-lt"/>
                <a:ea typeface="+mn-ea"/>
                <a:cs typeface="+mn-cs"/>
              </a:rPr>
              <a:t>BindableLayout.ItemTemplate</a:t>
            </a:r>
            <a:r>
              <a:rPr lang="en-US" sz="1200" kern="1200" dirty="0" smtClean="0">
                <a:solidFill>
                  <a:schemeClr val="tx1"/>
                </a:solidFill>
                <a:latin typeface="+mn-lt"/>
                <a:ea typeface="+mn-ea"/>
                <a:cs typeface="+mn-cs"/>
              </a:rPr>
              <a:t>&gt;</a:t>
            </a:r>
          </a:p>
          <a:p>
            <a:r>
              <a:rPr lang="en-US" sz="1200" kern="1200" dirty="0" smtClean="0">
                <a:solidFill>
                  <a:schemeClr val="tx1"/>
                </a:solidFill>
                <a:latin typeface="+mn-lt"/>
                <a:ea typeface="+mn-ea"/>
                <a:cs typeface="+mn-cs"/>
              </a:rPr>
              <a:t>            &lt;/</a:t>
            </a:r>
            <a:r>
              <a:rPr lang="en-US" sz="1200" kern="1200" dirty="0" err="1" smtClean="0">
                <a:solidFill>
                  <a:schemeClr val="tx1"/>
                </a:solidFill>
                <a:latin typeface="+mn-lt"/>
                <a:ea typeface="+mn-ea"/>
                <a:cs typeface="+mn-cs"/>
              </a:rPr>
              <a:t>FlexLayout</a:t>
            </a:r>
            <a:r>
              <a:rPr lang="en-US" sz="1200" kern="1200" dirty="0" smtClean="0">
                <a:solidFill>
                  <a:schemeClr val="tx1"/>
                </a:solidFill>
                <a:latin typeface="+mn-lt"/>
                <a:ea typeface="+mn-ea"/>
                <a:cs typeface="+mn-cs"/>
              </a:rPr>
              <a:t>&gt;</a:t>
            </a:r>
          </a:p>
          <a:p>
            <a:r>
              <a:rPr lang="en-US" sz="1200" kern="1200" dirty="0" smtClean="0">
                <a:solidFill>
                  <a:schemeClr val="tx1"/>
                </a:solidFill>
                <a:latin typeface="+mn-lt"/>
                <a:ea typeface="+mn-ea"/>
                <a:cs typeface="+mn-cs"/>
              </a:rPr>
              <a:t>        &lt;/</a:t>
            </a:r>
            <a:r>
              <a:rPr lang="en-US" sz="1200" kern="1200" dirty="0" err="1" smtClean="0">
                <a:solidFill>
                  <a:schemeClr val="tx1"/>
                </a:solidFill>
                <a:latin typeface="+mn-lt"/>
                <a:ea typeface="+mn-ea"/>
                <a:cs typeface="+mn-cs"/>
              </a:rPr>
              <a:t>ScrollView</a:t>
            </a:r>
            <a:r>
              <a:rPr lang="en-US" sz="1200" kern="1200" dirty="0" smtClean="0">
                <a:solidFill>
                  <a:schemeClr val="tx1"/>
                </a:solidFill>
                <a:latin typeface="+mn-lt"/>
                <a:ea typeface="+mn-ea"/>
                <a:cs typeface="+mn-cs"/>
              </a:rPr>
              <a:t>&gt;</a:t>
            </a:r>
          </a:p>
          <a:p>
            <a:r>
              <a:rPr lang="en-US" sz="1200" kern="1200" dirty="0" smtClean="0">
                <a:solidFill>
                  <a:schemeClr val="tx1"/>
                </a:solidFill>
                <a:latin typeface="+mn-lt"/>
                <a:ea typeface="+mn-ea"/>
                <a:cs typeface="+mn-cs"/>
              </a:rPr>
              <a:t>    &lt;/</a:t>
            </a:r>
            <a:r>
              <a:rPr lang="en-US" sz="1200" kern="1200" dirty="0" err="1" smtClean="0">
                <a:solidFill>
                  <a:schemeClr val="tx1"/>
                </a:solidFill>
                <a:latin typeface="+mn-lt"/>
                <a:ea typeface="+mn-ea"/>
                <a:cs typeface="+mn-cs"/>
              </a:rPr>
              <a:t>RefreshView</a:t>
            </a:r>
            <a:r>
              <a:rPr lang="en-US" sz="1200" kern="1200" dirty="0" smtClean="0">
                <a:solidFill>
                  <a:schemeClr val="tx1"/>
                </a:solidFill>
                <a:latin typeface="+mn-lt"/>
                <a:ea typeface="+mn-ea"/>
                <a:cs typeface="+mn-cs"/>
              </a:rPr>
              <a:t>&gt;</a:t>
            </a:r>
          </a:p>
          <a:p>
            <a:r>
              <a:rPr lang="en-US" sz="1200" kern="1200" dirty="0" smtClean="0">
                <a:solidFill>
                  <a:schemeClr val="tx1"/>
                </a:solidFill>
                <a:latin typeface="+mn-lt"/>
                <a:ea typeface="+mn-ea"/>
                <a:cs typeface="+mn-cs"/>
              </a:rPr>
              <a:t>&lt;/</a:t>
            </a:r>
            <a:r>
              <a:rPr lang="en-US" sz="1200" kern="1200" dirty="0" err="1" smtClean="0">
                <a:solidFill>
                  <a:schemeClr val="tx1"/>
                </a:solidFill>
                <a:latin typeface="+mn-lt"/>
                <a:ea typeface="+mn-ea"/>
                <a:cs typeface="+mn-cs"/>
              </a:rPr>
              <a:t>ContentPage</a:t>
            </a:r>
            <a:r>
              <a:rPr lang="en-US" sz="1200" kern="1200" dirty="0" smtClean="0">
                <a:solidFill>
                  <a:schemeClr val="tx1"/>
                </a:solidFill>
                <a:latin typeface="+mn-lt"/>
                <a:ea typeface="+mn-ea"/>
                <a:cs typeface="+mn-cs"/>
              </a:rPr>
              <a:t>&gt;</a:t>
            </a:r>
            <a:br>
              <a:rPr lang="en-US" sz="1200" kern="1200" dirty="0" smtClean="0">
                <a:solidFill>
                  <a:schemeClr val="tx1"/>
                </a:solidFill>
                <a:latin typeface="+mn-lt"/>
                <a:ea typeface="+mn-ea"/>
                <a:cs typeface="+mn-cs"/>
              </a:rPr>
            </a:br>
            <a:r>
              <a:rPr lang="en-US" sz="1200" kern="1200" dirty="0" smtClean="0">
                <a:solidFill>
                  <a:schemeClr val="tx1"/>
                </a:solidFill>
                <a:latin typeface="+mn-lt"/>
                <a:ea typeface="+mn-ea"/>
                <a:cs typeface="+mn-cs"/>
              </a:rPr>
              <a:t/>
            </a:r>
            <a:br>
              <a:rPr lang="en-US" sz="1200" kern="1200" dirty="0" smtClean="0">
                <a:solidFill>
                  <a:schemeClr val="tx1"/>
                </a:solidFill>
                <a:latin typeface="+mn-lt"/>
                <a:ea typeface="+mn-ea"/>
                <a:cs typeface="+mn-cs"/>
              </a:rPr>
            </a:br>
            <a:r>
              <a:rPr lang="en-US" b="1" dirty="0" err="1" smtClean="0"/>
              <a:t>Fichier</a:t>
            </a:r>
            <a:r>
              <a:rPr lang="en-US" b="1" dirty="0" smtClean="0"/>
              <a:t> </a:t>
            </a:r>
            <a:r>
              <a:rPr lang="en-US" b="1" dirty="0" err="1" smtClean="0"/>
              <a:t>ViewModel</a:t>
            </a:r>
            <a:r>
              <a:rPr lang="en-US" b="1" dirty="0" smtClean="0"/>
              <a:t> (</a:t>
            </a:r>
            <a:r>
              <a:rPr lang="en-US" b="1" dirty="0" err="1" smtClean="0"/>
              <a:t>RefreshDemoViewModel.cs</a:t>
            </a:r>
            <a:r>
              <a:rPr lang="en-US" b="1" dirty="0" smtClean="0"/>
              <a:t>):</a:t>
            </a:r>
          </a:p>
          <a:p>
            <a:endParaRPr lang="en-US" b="1" baseline="0" dirty="0" smtClean="0"/>
          </a:p>
          <a:p>
            <a:r>
              <a:rPr lang="en-US" sz="1200" kern="1200" dirty="0" smtClean="0">
                <a:solidFill>
                  <a:schemeClr val="tx1"/>
                </a:solidFill>
                <a:latin typeface="+mn-lt"/>
                <a:ea typeface="+mn-ea"/>
                <a:cs typeface="+mn-cs"/>
              </a:rPr>
              <a:t>using </a:t>
            </a:r>
            <a:r>
              <a:rPr lang="en-US" sz="1200" kern="1200" dirty="0" err="1" smtClean="0">
                <a:solidFill>
                  <a:schemeClr val="tx1"/>
                </a:solidFill>
                <a:latin typeface="+mn-lt"/>
                <a:ea typeface="+mn-ea"/>
                <a:cs typeface="+mn-cs"/>
              </a:rPr>
              <a:t>System.Collections.ObjectModel</a:t>
            </a:r>
            <a:r>
              <a:rPr lang="en-US" sz="1200" kern="1200" dirty="0" smtClean="0">
                <a:solidFill>
                  <a:schemeClr val="tx1"/>
                </a:solidFill>
                <a:latin typeface="+mn-lt"/>
                <a:ea typeface="+mn-ea"/>
                <a:cs typeface="+mn-cs"/>
              </a:rPr>
              <a:t>;</a:t>
            </a:r>
          </a:p>
          <a:p>
            <a:r>
              <a:rPr lang="en-US" sz="1200" kern="1200" dirty="0" smtClean="0">
                <a:solidFill>
                  <a:schemeClr val="tx1"/>
                </a:solidFill>
                <a:latin typeface="+mn-lt"/>
                <a:ea typeface="+mn-ea"/>
                <a:cs typeface="+mn-cs"/>
              </a:rPr>
              <a:t>using </a:t>
            </a:r>
            <a:r>
              <a:rPr lang="en-US" sz="1200" kern="1200" dirty="0" err="1" smtClean="0">
                <a:solidFill>
                  <a:schemeClr val="tx1"/>
                </a:solidFill>
                <a:latin typeface="+mn-lt"/>
                <a:ea typeface="+mn-ea"/>
                <a:cs typeface="+mn-cs"/>
              </a:rPr>
              <a:t>System.Threading.Tasks</a:t>
            </a:r>
            <a:r>
              <a:rPr lang="en-US" sz="1200" kern="1200" dirty="0" smtClean="0">
                <a:solidFill>
                  <a:schemeClr val="tx1"/>
                </a:solidFill>
                <a:latin typeface="+mn-lt"/>
                <a:ea typeface="+mn-ea"/>
                <a:cs typeface="+mn-cs"/>
              </a:rPr>
              <a:t>;</a:t>
            </a:r>
          </a:p>
          <a:p>
            <a:r>
              <a:rPr lang="en-US" sz="1200" kern="1200" dirty="0" smtClean="0">
                <a:solidFill>
                  <a:schemeClr val="tx1"/>
                </a:solidFill>
                <a:latin typeface="+mn-lt"/>
                <a:ea typeface="+mn-ea"/>
                <a:cs typeface="+mn-cs"/>
              </a:rPr>
              <a:t>using </a:t>
            </a:r>
            <a:r>
              <a:rPr lang="en-US" sz="1200" kern="1200" dirty="0" err="1" smtClean="0">
                <a:solidFill>
                  <a:schemeClr val="tx1"/>
                </a:solidFill>
                <a:latin typeface="+mn-lt"/>
                <a:ea typeface="+mn-ea"/>
                <a:cs typeface="+mn-cs"/>
              </a:rPr>
              <a:t>System.Windows.Input</a:t>
            </a:r>
            <a:r>
              <a:rPr lang="en-US" sz="1200" kern="1200" dirty="0" smtClean="0">
                <a:solidFill>
                  <a:schemeClr val="tx1"/>
                </a:solidFill>
                <a:latin typeface="+mn-lt"/>
                <a:ea typeface="+mn-ea"/>
                <a:cs typeface="+mn-cs"/>
              </a:rPr>
              <a:t>;</a:t>
            </a:r>
          </a:p>
          <a:p>
            <a:r>
              <a:rPr lang="en-US" sz="1200" kern="1200" dirty="0" smtClean="0">
                <a:solidFill>
                  <a:schemeClr val="tx1"/>
                </a:solidFill>
                <a:latin typeface="+mn-lt"/>
                <a:ea typeface="+mn-ea"/>
                <a:cs typeface="+mn-cs"/>
              </a:rPr>
              <a:t>using </a:t>
            </a:r>
            <a:r>
              <a:rPr lang="en-US" sz="1200" kern="1200" dirty="0" err="1" smtClean="0">
                <a:solidFill>
                  <a:schemeClr val="tx1"/>
                </a:solidFill>
                <a:latin typeface="+mn-lt"/>
                <a:ea typeface="+mn-ea"/>
                <a:cs typeface="+mn-cs"/>
              </a:rPr>
              <a:t>Microsoft.Maui.Controls</a:t>
            </a:r>
            <a:r>
              <a:rPr lang="en-US" sz="1200" kern="1200" dirty="0" smtClean="0">
                <a:solidFill>
                  <a:schemeClr val="tx1"/>
                </a:solidFill>
                <a:latin typeface="+mn-lt"/>
                <a:ea typeface="+mn-ea"/>
                <a:cs typeface="+mn-cs"/>
              </a:rPr>
              <a:t>;</a:t>
            </a:r>
          </a:p>
          <a:p>
            <a:r>
              <a:rPr lang="en-US" sz="1200" kern="1200" dirty="0" smtClean="0">
                <a:solidFill>
                  <a:schemeClr val="tx1"/>
                </a:solidFill>
                <a:latin typeface="+mn-lt"/>
                <a:ea typeface="+mn-ea"/>
                <a:cs typeface="+mn-cs"/>
              </a:rPr>
              <a:t>using System;</a:t>
            </a:r>
          </a:p>
          <a:p>
            <a:endParaRPr lang="en-US" sz="1200" kern="1200" dirty="0" smtClean="0">
              <a:solidFill>
                <a:schemeClr val="tx1"/>
              </a:solidFill>
              <a:latin typeface="+mn-lt"/>
              <a:ea typeface="+mn-ea"/>
              <a:cs typeface="+mn-cs"/>
            </a:endParaRPr>
          </a:p>
          <a:p>
            <a:r>
              <a:rPr lang="en-US" sz="1200" kern="1200" dirty="0" smtClean="0">
                <a:solidFill>
                  <a:schemeClr val="tx1"/>
                </a:solidFill>
                <a:latin typeface="+mn-lt"/>
                <a:ea typeface="+mn-ea"/>
                <a:cs typeface="+mn-cs"/>
              </a:rPr>
              <a:t>namespace </a:t>
            </a:r>
            <a:r>
              <a:rPr lang="en-US" sz="1200" kern="1200" dirty="0" err="1" smtClean="0">
                <a:solidFill>
                  <a:schemeClr val="tx1"/>
                </a:solidFill>
                <a:latin typeface="+mn-lt"/>
                <a:ea typeface="+mn-ea"/>
                <a:cs typeface="+mn-cs"/>
              </a:rPr>
              <a:t>TonNamespace</a:t>
            </a:r>
            <a:endParaRPr lang="en-US" sz="1200" kern="1200" dirty="0" smtClean="0">
              <a:solidFill>
                <a:schemeClr val="tx1"/>
              </a:solidFill>
              <a:latin typeface="+mn-lt"/>
              <a:ea typeface="+mn-ea"/>
              <a:cs typeface="+mn-cs"/>
            </a:endParaRPr>
          </a:p>
          <a:p>
            <a:r>
              <a:rPr lang="en-US" sz="1200" kern="1200" dirty="0" smtClean="0">
                <a:solidFill>
                  <a:schemeClr val="tx1"/>
                </a:solidFill>
                <a:latin typeface="+mn-lt"/>
                <a:ea typeface="+mn-ea"/>
                <a:cs typeface="+mn-cs"/>
              </a:rPr>
              <a:t>{</a:t>
            </a:r>
          </a:p>
          <a:p>
            <a:r>
              <a:rPr lang="en-US" sz="1200" kern="1200" dirty="0" smtClean="0">
                <a:solidFill>
                  <a:schemeClr val="tx1"/>
                </a:solidFill>
                <a:latin typeface="+mn-lt"/>
                <a:ea typeface="+mn-ea"/>
                <a:cs typeface="+mn-cs"/>
              </a:rPr>
              <a:t>    public class </a:t>
            </a:r>
            <a:r>
              <a:rPr lang="en-US" sz="1200" kern="1200" dirty="0" err="1" smtClean="0">
                <a:solidFill>
                  <a:schemeClr val="tx1"/>
                </a:solidFill>
                <a:latin typeface="+mn-lt"/>
                <a:ea typeface="+mn-ea"/>
                <a:cs typeface="+mn-cs"/>
              </a:rPr>
              <a:t>ColorItem</a:t>
            </a:r>
            <a:endParaRPr lang="en-US" sz="1200" kern="1200" dirty="0" smtClean="0">
              <a:solidFill>
                <a:schemeClr val="tx1"/>
              </a:solidFill>
              <a:latin typeface="+mn-lt"/>
              <a:ea typeface="+mn-ea"/>
              <a:cs typeface="+mn-cs"/>
            </a:endParaRPr>
          </a:p>
          <a:p>
            <a:r>
              <a:rPr lang="en-US" sz="1200" kern="1200" dirty="0" smtClean="0">
                <a:solidFill>
                  <a:schemeClr val="tx1"/>
                </a:solidFill>
                <a:latin typeface="+mn-lt"/>
                <a:ea typeface="+mn-ea"/>
                <a:cs typeface="+mn-cs"/>
              </a:rPr>
              <a:t>    {</a:t>
            </a:r>
          </a:p>
          <a:p>
            <a:r>
              <a:rPr lang="en-US" sz="1200" kern="1200" dirty="0" smtClean="0">
                <a:solidFill>
                  <a:schemeClr val="tx1"/>
                </a:solidFill>
                <a:latin typeface="+mn-lt"/>
                <a:ea typeface="+mn-ea"/>
                <a:cs typeface="+mn-cs"/>
              </a:rPr>
              <a:t>        public string Name { get; set; }</a:t>
            </a:r>
          </a:p>
          <a:p>
            <a:r>
              <a:rPr lang="en-US" sz="1200" kern="1200" dirty="0" smtClean="0">
                <a:solidFill>
                  <a:schemeClr val="tx1"/>
                </a:solidFill>
                <a:latin typeface="+mn-lt"/>
                <a:ea typeface="+mn-ea"/>
                <a:cs typeface="+mn-cs"/>
              </a:rPr>
              <a:t>        public Color </a:t>
            </a:r>
            <a:r>
              <a:rPr lang="en-US" sz="1200" kern="1200" dirty="0" err="1" smtClean="0">
                <a:solidFill>
                  <a:schemeClr val="tx1"/>
                </a:solidFill>
                <a:latin typeface="+mn-lt"/>
                <a:ea typeface="+mn-ea"/>
                <a:cs typeface="+mn-cs"/>
              </a:rPr>
              <a:t>Color</a:t>
            </a:r>
            <a:r>
              <a:rPr lang="en-US" sz="1200" kern="1200" dirty="0" smtClean="0">
                <a:solidFill>
                  <a:schemeClr val="tx1"/>
                </a:solidFill>
                <a:latin typeface="+mn-lt"/>
                <a:ea typeface="+mn-ea"/>
                <a:cs typeface="+mn-cs"/>
              </a:rPr>
              <a:t> { get; set; }</a:t>
            </a:r>
          </a:p>
          <a:p>
            <a:r>
              <a:rPr lang="en-US" sz="1200" kern="1200" dirty="0" smtClean="0">
                <a:solidFill>
                  <a:schemeClr val="tx1"/>
                </a:solidFill>
                <a:latin typeface="+mn-lt"/>
                <a:ea typeface="+mn-ea"/>
                <a:cs typeface="+mn-cs"/>
              </a:rPr>
              <a:t>    }</a:t>
            </a:r>
          </a:p>
          <a:p>
            <a:endParaRPr lang="en-US" sz="1200" kern="1200" dirty="0" smtClean="0">
              <a:solidFill>
                <a:schemeClr val="tx1"/>
              </a:solidFill>
              <a:latin typeface="+mn-lt"/>
              <a:ea typeface="+mn-ea"/>
              <a:cs typeface="+mn-cs"/>
            </a:endParaRPr>
          </a:p>
          <a:p>
            <a:r>
              <a:rPr lang="en-US" sz="1200" kern="1200" dirty="0" smtClean="0">
                <a:solidFill>
                  <a:schemeClr val="tx1"/>
                </a:solidFill>
                <a:latin typeface="+mn-lt"/>
                <a:ea typeface="+mn-ea"/>
                <a:cs typeface="+mn-cs"/>
              </a:rPr>
              <a:t>    public class </a:t>
            </a:r>
            <a:r>
              <a:rPr lang="en-US" sz="1200" kern="1200" dirty="0" err="1" smtClean="0">
                <a:solidFill>
                  <a:schemeClr val="tx1"/>
                </a:solidFill>
                <a:latin typeface="+mn-lt"/>
                <a:ea typeface="+mn-ea"/>
                <a:cs typeface="+mn-cs"/>
              </a:rPr>
              <a:t>RefreshDemoViewModel</a:t>
            </a:r>
            <a:r>
              <a:rPr lang="en-US" sz="1200" kern="1200" dirty="0" smtClean="0">
                <a:solidFill>
                  <a:schemeClr val="tx1"/>
                </a:solidFill>
                <a:latin typeface="+mn-lt"/>
                <a:ea typeface="+mn-ea"/>
                <a:cs typeface="+mn-cs"/>
              </a:rPr>
              <a:t> : </a:t>
            </a:r>
            <a:r>
              <a:rPr lang="en-US" sz="1200" kern="1200" dirty="0" err="1" smtClean="0">
                <a:solidFill>
                  <a:schemeClr val="tx1"/>
                </a:solidFill>
                <a:latin typeface="+mn-lt"/>
                <a:ea typeface="+mn-ea"/>
                <a:cs typeface="+mn-cs"/>
              </a:rPr>
              <a:t>BindableObject</a:t>
            </a:r>
            <a:endParaRPr lang="en-US" sz="1200" kern="1200" dirty="0" smtClean="0">
              <a:solidFill>
                <a:schemeClr val="tx1"/>
              </a:solidFill>
              <a:latin typeface="+mn-lt"/>
              <a:ea typeface="+mn-ea"/>
              <a:cs typeface="+mn-cs"/>
            </a:endParaRPr>
          </a:p>
          <a:p>
            <a:r>
              <a:rPr lang="en-US" sz="1200" kern="1200" dirty="0" smtClean="0">
                <a:solidFill>
                  <a:schemeClr val="tx1"/>
                </a:solidFill>
                <a:latin typeface="+mn-lt"/>
                <a:ea typeface="+mn-ea"/>
                <a:cs typeface="+mn-cs"/>
              </a:rPr>
              <a:t>    {</a:t>
            </a:r>
          </a:p>
          <a:p>
            <a:r>
              <a:rPr lang="en-US" sz="1200" kern="1200" dirty="0" smtClean="0">
                <a:solidFill>
                  <a:schemeClr val="tx1"/>
                </a:solidFill>
                <a:latin typeface="+mn-lt"/>
                <a:ea typeface="+mn-ea"/>
                <a:cs typeface="+mn-cs"/>
              </a:rPr>
              <a:t>        public </a:t>
            </a:r>
            <a:r>
              <a:rPr lang="en-US" sz="1200" kern="1200" dirty="0" err="1" smtClean="0">
                <a:solidFill>
                  <a:schemeClr val="tx1"/>
                </a:solidFill>
                <a:latin typeface="+mn-lt"/>
                <a:ea typeface="+mn-ea"/>
                <a:cs typeface="+mn-cs"/>
              </a:rPr>
              <a:t>ObservableCollection</a:t>
            </a:r>
            <a:r>
              <a:rPr lang="en-US" sz="1200" kern="1200" dirty="0" smtClean="0">
                <a:solidFill>
                  <a:schemeClr val="tx1"/>
                </a:solidFill>
                <a:latin typeface="+mn-lt"/>
                <a:ea typeface="+mn-ea"/>
                <a:cs typeface="+mn-cs"/>
              </a:rPr>
              <a:t>&lt;</a:t>
            </a:r>
            <a:r>
              <a:rPr lang="en-US" sz="1200" kern="1200" dirty="0" err="1" smtClean="0">
                <a:solidFill>
                  <a:schemeClr val="tx1"/>
                </a:solidFill>
                <a:latin typeface="+mn-lt"/>
                <a:ea typeface="+mn-ea"/>
                <a:cs typeface="+mn-cs"/>
              </a:rPr>
              <a:t>ColorItem</a:t>
            </a:r>
            <a:r>
              <a:rPr lang="en-US" sz="1200" kern="1200" dirty="0" smtClean="0">
                <a:solidFill>
                  <a:schemeClr val="tx1"/>
                </a:solidFill>
                <a:latin typeface="+mn-lt"/>
                <a:ea typeface="+mn-ea"/>
                <a:cs typeface="+mn-cs"/>
              </a:rPr>
              <a:t>&gt; Items { get; set; }</a:t>
            </a:r>
          </a:p>
          <a:p>
            <a:r>
              <a:rPr lang="en-US" sz="1200" kern="1200" dirty="0" smtClean="0">
                <a:solidFill>
                  <a:schemeClr val="tx1"/>
                </a:solidFill>
                <a:latin typeface="+mn-lt"/>
                <a:ea typeface="+mn-ea"/>
                <a:cs typeface="+mn-cs"/>
              </a:rPr>
              <a:t>        public </a:t>
            </a:r>
            <a:r>
              <a:rPr lang="en-US" sz="1200" kern="1200" dirty="0" err="1" smtClean="0">
                <a:solidFill>
                  <a:schemeClr val="tx1"/>
                </a:solidFill>
                <a:latin typeface="+mn-lt"/>
                <a:ea typeface="+mn-ea"/>
                <a:cs typeface="+mn-cs"/>
              </a:rPr>
              <a:t>ICommand</a:t>
            </a:r>
            <a:r>
              <a:rPr lang="en-US" sz="1200" kern="1200" dirty="0" smtClean="0">
                <a:solidFill>
                  <a:schemeClr val="tx1"/>
                </a:solidFill>
                <a:latin typeface="+mn-lt"/>
                <a:ea typeface="+mn-ea"/>
                <a:cs typeface="+mn-cs"/>
              </a:rPr>
              <a:t> </a:t>
            </a:r>
            <a:r>
              <a:rPr lang="en-US" sz="1200" kern="1200" dirty="0" err="1" smtClean="0">
                <a:solidFill>
                  <a:schemeClr val="tx1"/>
                </a:solidFill>
                <a:latin typeface="+mn-lt"/>
                <a:ea typeface="+mn-ea"/>
                <a:cs typeface="+mn-cs"/>
              </a:rPr>
              <a:t>RefreshCommand</a:t>
            </a:r>
            <a:r>
              <a:rPr lang="en-US" sz="1200" kern="1200" dirty="0" smtClean="0">
                <a:solidFill>
                  <a:schemeClr val="tx1"/>
                </a:solidFill>
                <a:latin typeface="+mn-lt"/>
                <a:ea typeface="+mn-ea"/>
                <a:cs typeface="+mn-cs"/>
              </a:rPr>
              <a:t> { get; }</a:t>
            </a:r>
          </a:p>
          <a:p>
            <a:r>
              <a:rPr lang="en-US" sz="1200" kern="1200" dirty="0" smtClean="0">
                <a:solidFill>
                  <a:schemeClr val="tx1"/>
                </a:solidFill>
                <a:latin typeface="+mn-lt"/>
                <a:ea typeface="+mn-ea"/>
                <a:cs typeface="+mn-cs"/>
              </a:rPr>
              <a:t>        private bool </a:t>
            </a:r>
            <a:r>
              <a:rPr lang="en-US" sz="1200" kern="1200" dirty="0" err="1" smtClean="0">
                <a:solidFill>
                  <a:schemeClr val="tx1"/>
                </a:solidFill>
                <a:latin typeface="+mn-lt"/>
                <a:ea typeface="+mn-ea"/>
                <a:cs typeface="+mn-cs"/>
              </a:rPr>
              <a:t>isRefreshing</a:t>
            </a:r>
            <a:r>
              <a:rPr lang="en-US" sz="1200" kern="1200" dirty="0" smtClean="0">
                <a:solidFill>
                  <a:schemeClr val="tx1"/>
                </a:solidFill>
                <a:latin typeface="+mn-lt"/>
                <a:ea typeface="+mn-ea"/>
                <a:cs typeface="+mn-cs"/>
              </a:rPr>
              <a:t>;</a:t>
            </a:r>
          </a:p>
          <a:p>
            <a:endParaRPr lang="en-US" sz="1200" kern="1200" dirty="0" smtClean="0">
              <a:solidFill>
                <a:schemeClr val="tx1"/>
              </a:solidFill>
              <a:latin typeface="+mn-lt"/>
              <a:ea typeface="+mn-ea"/>
              <a:cs typeface="+mn-cs"/>
            </a:endParaRPr>
          </a:p>
          <a:p>
            <a:r>
              <a:rPr lang="en-US" sz="1200" kern="1200" dirty="0" smtClean="0">
                <a:solidFill>
                  <a:schemeClr val="tx1"/>
                </a:solidFill>
                <a:latin typeface="+mn-lt"/>
                <a:ea typeface="+mn-ea"/>
                <a:cs typeface="+mn-cs"/>
              </a:rPr>
              <a:t>        public bool </a:t>
            </a:r>
            <a:r>
              <a:rPr lang="en-US" sz="1200" kern="1200" dirty="0" err="1" smtClean="0">
                <a:solidFill>
                  <a:schemeClr val="tx1"/>
                </a:solidFill>
                <a:latin typeface="+mn-lt"/>
                <a:ea typeface="+mn-ea"/>
                <a:cs typeface="+mn-cs"/>
              </a:rPr>
              <a:t>IsRefreshing</a:t>
            </a:r>
            <a:endParaRPr lang="en-US" sz="1200" kern="1200" dirty="0" smtClean="0">
              <a:solidFill>
                <a:schemeClr val="tx1"/>
              </a:solidFill>
              <a:latin typeface="+mn-lt"/>
              <a:ea typeface="+mn-ea"/>
              <a:cs typeface="+mn-cs"/>
            </a:endParaRPr>
          </a:p>
          <a:p>
            <a:r>
              <a:rPr lang="en-US" sz="1200" kern="1200" dirty="0" smtClean="0">
                <a:solidFill>
                  <a:schemeClr val="tx1"/>
                </a:solidFill>
                <a:latin typeface="+mn-lt"/>
                <a:ea typeface="+mn-ea"/>
                <a:cs typeface="+mn-cs"/>
              </a:rPr>
              <a:t>        {</a:t>
            </a:r>
          </a:p>
          <a:p>
            <a:r>
              <a:rPr lang="en-US" sz="1200" kern="1200" dirty="0" smtClean="0">
                <a:solidFill>
                  <a:schemeClr val="tx1"/>
                </a:solidFill>
                <a:latin typeface="+mn-lt"/>
                <a:ea typeface="+mn-ea"/>
                <a:cs typeface="+mn-cs"/>
              </a:rPr>
              <a:t>            get =&gt; </a:t>
            </a:r>
            <a:r>
              <a:rPr lang="en-US" sz="1200" kern="1200" dirty="0" err="1" smtClean="0">
                <a:solidFill>
                  <a:schemeClr val="tx1"/>
                </a:solidFill>
                <a:latin typeface="+mn-lt"/>
                <a:ea typeface="+mn-ea"/>
                <a:cs typeface="+mn-cs"/>
              </a:rPr>
              <a:t>isRefreshing</a:t>
            </a:r>
            <a:r>
              <a:rPr lang="en-US" sz="1200" kern="1200" dirty="0" smtClean="0">
                <a:solidFill>
                  <a:schemeClr val="tx1"/>
                </a:solidFill>
                <a:latin typeface="+mn-lt"/>
                <a:ea typeface="+mn-ea"/>
                <a:cs typeface="+mn-cs"/>
              </a:rPr>
              <a:t>;</a:t>
            </a:r>
          </a:p>
          <a:p>
            <a:r>
              <a:rPr lang="en-US" sz="1200" kern="1200" dirty="0" smtClean="0">
                <a:solidFill>
                  <a:schemeClr val="tx1"/>
                </a:solidFill>
                <a:latin typeface="+mn-lt"/>
                <a:ea typeface="+mn-ea"/>
                <a:cs typeface="+mn-cs"/>
              </a:rPr>
              <a:t>            set</a:t>
            </a:r>
          </a:p>
          <a:p>
            <a:r>
              <a:rPr lang="en-US" sz="1200" kern="1200" dirty="0" smtClean="0">
                <a:solidFill>
                  <a:schemeClr val="tx1"/>
                </a:solidFill>
                <a:latin typeface="+mn-lt"/>
                <a:ea typeface="+mn-ea"/>
                <a:cs typeface="+mn-cs"/>
              </a:rPr>
              <a:t>            {</a:t>
            </a:r>
          </a:p>
          <a:p>
            <a:r>
              <a:rPr lang="en-US" sz="1200" kern="1200" dirty="0" smtClean="0">
                <a:solidFill>
                  <a:schemeClr val="tx1"/>
                </a:solidFill>
                <a:latin typeface="+mn-lt"/>
                <a:ea typeface="+mn-ea"/>
                <a:cs typeface="+mn-cs"/>
              </a:rPr>
              <a:t>                </a:t>
            </a:r>
            <a:r>
              <a:rPr lang="en-US" sz="1200" kern="1200" dirty="0" err="1" smtClean="0">
                <a:solidFill>
                  <a:schemeClr val="tx1"/>
                </a:solidFill>
                <a:latin typeface="+mn-lt"/>
                <a:ea typeface="+mn-ea"/>
                <a:cs typeface="+mn-cs"/>
              </a:rPr>
              <a:t>isRefreshing</a:t>
            </a:r>
            <a:r>
              <a:rPr lang="en-US" sz="1200" kern="1200" dirty="0" smtClean="0">
                <a:solidFill>
                  <a:schemeClr val="tx1"/>
                </a:solidFill>
                <a:latin typeface="+mn-lt"/>
                <a:ea typeface="+mn-ea"/>
                <a:cs typeface="+mn-cs"/>
              </a:rPr>
              <a:t> = value;</a:t>
            </a:r>
          </a:p>
          <a:p>
            <a:r>
              <a:rPr lang="en-US" sz="1200" kern="1200" dirty="0" smtClean="0">
                <a:solidFill>
                  <a:schemeClr val="tx1"/>
                </a:solidFill>
                <a:latin typeface="+mn-lt"/>
                <a:ea typeface="+mn-ea"/>
                <a:cs typeface="+mn-cs"/>
              </a:rPr>
              <a:t>                </a:t>
            </a:r>
            <a:r>
              <a:rPr lang="en-US" sz="1200" kern="1200" dirty="0" err="1" smtClean="0">
                <a:solidFill>
                  <a:schemeClr val="tx1"/>
                </a:solidFill>
                <a:latin typeface="+mn-lt"/>
                <a:ea typeface="+mn-ea"/>
                <a:cs typeface="+mn-cs"/>
              </a:rPr>
              <a:t>OnPropertyChanged</a:t>
            </a:r>
            <a:r>
              <a:rPr lang="en-US" sz="1200" kern="1200" dirty="0" smtClean="0">
                <a:solidFill>
                  <a:schemeClr val="tx1"/>
                </a:solidFill>
                <a:latin typeface="+mn-lt"/>
                <a:ea typeface="+mn-ea"/>
                <a:cs typeface="+mn-cs"/>
              </a:rPr>
              <a:t>();</a:t>
            </a:r>
          </a:p>
          <a:p>
            <a:r>
              <a:rPr lang="en-US" sz="1200" kern="1200" dirty="0" smtClean="0">
                <a:solidFill>
                  <a:schemeClr val="tx1"/>
                </a:solidFill>
                <a:latin typeface="+mn-lt"/>
                <a:ea typeface="+mn-ea"/>
                <a:cs typeface="+mn-cs"/>
              </a:rPr>
              <a:t>            }</a:t>
            </a:r>
          </a:p>
          <a:p>
            <a:r>
              <a:rPr lang="en-US" sz="1200" kern="1200" dirty="0" smtClean="0">
                <a:solidFill>
                  <a:schemeClr val="tx1"/>
                </a:solidFill>
                <a:latin typeface="+mn-lt"/>
                <a:ea typeface="+mn-ea"/>
                <a:cs typeface="+mn-cs"/>
              </a:rPr>
              <a:t>        }</a:t>
            </a:r>
          </a:p>
          <a:p>
            <a:endParaRPr lang="en-US" sz="1200" kern="1200" dirty="0" smtClean="0">
              <a:solidFill>
                <a:schemeClr val="tx1"/>
              </a:solidFill>
              <a:latin typeface="+mn-lt"/>
              <a:ea typeface="+mn-ea"/>
              <a:cs typeface="+mn-cs"/>
            </a:endParaRPr>
          </a:p>
          <a:p>
            <a:r>
              <a:rPr lang="en-US" sz="1200" kern="1200" dirty="0" smtClean="0">
                <a:solidFill>
                  <a:schemeClr val="tx1"/>
                </a:solidFill>
                <a:latin typeface="+mn-lt"/>
                <a:ea typeface="+mn-ea"/>
                <a:cs typeface="+mn-cs"/>
              </a:rPr>
              <a:t>        public </a:t>
            </a:r>
            <a:r>
              <a:rPr lang="en-US" sz="1200" kern="1200" dirty="0" err="1" smtClean="0">
                <a:solidFill>
                  <a:schemeClr val="tx1"/>
                </a:solidFill>
                <a:latin typeface="+mn-lt"/>
                <a:ea typeface="+mn-ea"/>
                <a:cs typeface="+mn-cs"/>
              </a:rPr>
              <a:t>RefreshDemoViewModel</a:t>
            </a:r>
            <a:r>
              <a:rPr lang="en-US" sz="1200" kern="1200" dirty="0" smtClean="0">
                <a:solidFill>
                  <a:schemeClr val="tx1"/>
                </a:solidFill>
                <a:latin typeface="+mn-lt"/>
                <a:ea typeface="+mn-ea"/>
                <a:cs typeface="+mn-cs"/>
              </a:rPr>
              <a:t>()</a:t>
            </a:r>
          </a:p>
          <a:p>
            <a:r>
              <a:rPr lang="en-US" sz="1200" kern="1200" dirty="0" smtClean="0">
                <a:solidFill>
                  <a:schemeClr val="tx1"/>
                </a:solidFill>
                <a:latin typeface="+mn-lt"/>
                <a:ea typeface="+mn-ea"/>
                <a:cs typeface="+mn-cs"/>
              </a:rPr>
              <a:t>        {</a:t>
            </a:r>
          </a:p>
          <a:p>
            <a:r>
              <a:rPr lang="en-US" sz="1200" kern="1200" dirty="0" smtClean="0">
                <a:solidFill>
                  <a:schemeClr val="tx1"/>
                </a:solidFill>
                <a:latin typeface="+mn-lt"/>
                <a:ea typeface="+mn-ea"/>
                <a:cs typeface="+mn-cs"/>
              </a:rPr>
              <a:t>            Items = new </a:t>
            </a:r>
            <a:r>
              <a:rPr lang="en-US" sz="1200" kern="1200" dirty="0" err="1" smtClean="0">
                <a:solidFill>
                  <a:schemeClr val="tx1"/>
                </a:solidFill>
                <a:latin typeface="+mn-lt"/>
                <a:ea typeface="+mn-ea"/>
                <a:cs typeface="+mn-cs"/>
              </a:rPr>
              <a:t>ObservableCollection</a:t>
            </a:r>
            <a:r>
              <a:rPr lang="en-US" sz="1200" kern="1200" dirty="0" smtClean="0">
                <a:solidFill>
                  <a:schemeClr val="tx1"/>
                </a:solidFill>
                <a:latin typeface="+mn-lt"/>
                <a:ea typeface="+mn-ea"/>
                <a:cs typeface="+mn-cs"/>
              </a:rPr>
              <a:t>&lt;</a:t>
            </a:r>
            <a:r>
              <a:rPr lang="en-US" sz="1200" kern="1200" dirty="0" err="1" smtClean="0">
                <a:solidFill>
                  <a:schemeClr val="tx1"/>
                </a:solidFill>
                <a:latin typeface="+mn-lt"/>
                <a:ea typeface="+mn-ea"/>
                <a:cs typeface="+mn-cs"/>
              </a:rPr>
              <a:t>ColorItem</a:t>
            </a:r>
            <a:r>
              <a:rPr lang="en-US" sz="1200" kern="1200" dirty="0" smtClean="0">
                <a:solidFill>
                  <a:schemeClr val="tx1"/>
                </a:solidFill>
                <a:latin typeface="+mn-lt"/>
                <a:ea typeface="+mn-ea"/>
                <a:cs typeface="+mn-cs"/>
              </a:rPr>
              <a:t>&gt;();</a:t>
            </a:r>
          </a:p>
          <a:p>
            <a:r>
              <a:rPr lang="en-US" sz="1200" kern="1200" dirty="0" smtClean="0">
                <a:solidFill>
                  <a:schemeClr val="tx1"/>
                </a:solidFill>
                <a:latin typeface="+mn-lt"/>
                <a:ea typeface="+mn-ea"/>
                <a:cs typeface="+mn-cs"/>
              </a:rPr>
              <a:t>            </a:t>
            </a:r>
            <a:r>
              <a:rPr lang="en-US" sz="1200" kern="1200" dirty="0" err="1" smtClean="0">
                <a:solidFill>
                  <a:schemeClr val="tx1"/>
                </a:solidFill>
                <a:latin typeface="+mn-lt"/>
                <a:ea typeface="+mn-ea"/>
                <a:cs typeface="+mn-cs"/>
              </a:rPr>
              <a:t>LoadItems</a:t>
            </a:r>
            <a:r>
              <a:rPr lang="en-US" sz="1200" kern="1200" dirty="0" smtClean="0">
                <a:solidFill>
                  <a:schemeClr val="tx1"/>
                </a:solidFill>
                <a:latin typeface="+mn-lt"/>
                <a:ea typeface="+mn-ea"/>
                <a:cs typeface="+mn-cs"/>
              </a:rPr>
              <a:t>();</a:t>
            </a:r>
          </a:p>
          <a:p>
            <a:endParaRPr lang="en-US" sz="1200" kern="1200" dirty="0" smtClean="0">
              <a:solidFill>
                <a:schemeClr val="tx1"/>
              </a:solidFill>
              <a:latin typeface="+mn-lt"/>
              <a:ea typeface="+mn-ea"/>
              <a:cs typeface="+mn-cs"/>
            </a:endParaRPr>
          </a:p>
          <a:p>
            <a:r>
              <a:rPr lang="en-US" sz="1200" kern="1200" dirty="0" smtClean="0">
                <a:solidFill>
                  <a:schemeClr val="tx1"/>
                </a:solidFill>
                <a:latin typeface="+mn-lt"/>
                <a:ea typeface="+mn-ea"/>
                <a:cs typeface="+mn-cs"/>
              </a:rPr>
              <a:t>            </a:t>
            </a:r>
            <a:r>
              <a:rPr lang="en-US" sz="1200" kern="1200" dirty="0" err="1" smtClean="0">
                <a:solidFill>
                  <a:schemeClr val="tx1"/>
                </a:solidFill>
                <a:latin typeface="+mn-lt"/>
                <a:ea typeface="+mn-ea"/>
                <a:cs typeface="+mn-cs"/>
              </a:rPr>
              <a:t>RefreshCommand</a:t>
            </a:r>
            <a:r>
              <a:rPr lang="en-US" sz="1200" kern="1200" dirty="0" smtClean="0">
                <a:solidFill>
                  <a:schemeClr val="tx1"/>
                </a:solidFill>
                <a:latin typeface="+mn-lt"/>
                <a:ea typeface="+mn-ea"/>
                <a:cs typeface="+mn-cs"/>
              </a:rPr>
              <a:t> = new Command(</a:t>
            </a:r>
            <a:r>
              <a:rPr lang="en-US" sz="1200" kern="1200" dirty="0" err="1" smtClean="0">
                <a:solidFill>
                  <a:schemeClr val="tx1"/>
                </a:solidFill>
                <a:latin typeface="+mn-lt"/>
                <a:ea typeface="+mn-ea"/>
                <a:cs typeface="+mn-cs"/>
              </a:rPr>
              <a:t>async</a:t>
            </a:r>
            <a:r>
              <a:rPr lang="en-US" sz="1200" kern="1200" dirty="0" smtClean="0">
                <a:solidFill>
                  <a:schemeClr val="tx1"/>
                </a:solidFill>
                <a:latin typeface="+mn-lt"/>
                <a:ea typeface="+mn-ea"/>
                <a:cs typeface="+mn-cs"/>
              </a:rPr>
              <a:t> () =&gt; await </a:t>
            </a:r>
            <a:r>
              <a:rPr lang="en-US" sz="1200" kern="1200" dirty="0" err="1" smtClean="0">
                <a:solidFill>
                  <a:schemeClr val="tx1"/>
                </a:solidFill>
                <a:latin typeface="+mn-lt"/>
                <a:ea typeface="+mn-ea"/>
                <a:cs typeface="+mn-cs"/>
              </a:rPr>
              <a:t>RefreshAsync</a:t>
            </a:r>
            <a:r>
              <a:rPr lang="en-US" sz="1200" kern="1200" dirty="0" smtClean="0">
                <a:solidFill>
                  <a:schemeClr val="tx1"/>
                </a:solidFill>
                <a:latin typeface="+mn-lt"/>
                <a:ea typeface="+mn-ea"/>
                <a:cs typeface="+mn-cs"/>
              </a:rPr>
              <a:t>());</a:t>
            </a:r>
          </a:p>
          <a:p>
            <a:r>
              <a:rPr lang="en-US" sz="1200" kern="1200" dirty="0" smtClean="0">
                <a:solidFill>
                  <a:schemeClr val="tx1"/>
                </a:solidFill>
                <a:latin typeface="+mn-lt"/>
                <a:ea typeface="+mn-ea"/>
                <a:cs typeface="+mn-cs"/>
              </a:rPr>
              <a:t>        }</a:t>
            </a:r>
          </a:p>
          <a:p>
            <a:endParaRPr lang="en-US" sz="1200" kern="1200" dirty="0" smtClean="0">
              <a:solidFill>
                <a:schemeClr val="tx1"/>
              </a:solidFill>
              <a:latin typeface="+mn-lt"/>
              <a:ea typeface="+mn-ea"/>
              <a:cs typeface="+mn-cs"/>
            </a:endParaRPr>
          </a:p>
          <a:p>
            <a:r>
              <a:rPr lang="en-US" sz="1200" kern="1200" dirty="0" smtClean="0">
                <a:solidFill>
                  <a:schemeClr val="tx1"/>
                </a:solidFill>
                <a:latin typeface="+mn-lt"/>
                <a:ea typeface="+mn-ea"/>
                <a:cs typeface="+mn-cs"/>
              </a:rPr>
              <a:t>        private void </a:t>
            </a:r>
            <a:r>
              <a:rPr lang="en-US" sz="1200" kern="1200" dirty="0" err="1" smtClean="0">
                <a:solidFill>
                  <a:schemeClr val="tx1"/>
                </a:solidFill>
                <a:latin typeface="+mn-lt"/>
                <a:ea typeface="+mn-ea"/>
                <a:cs typeface="+mn-cs"/>
              </a:rPr>
              <a:t>LoadItems</a:t>
            </a:r>
            <a:r>
              <a:rPr lang="en-US" sz="1200" kern="1200" dirty="0" smtClean="0">
                <a:solidFill>
                  <a:schemeClr val="tx1"/>
                </a:solidFill>
                <a:latin typeface="+mn-lt"/>
                <a:ea typeface="+mn-ea"/>
                <a:cs typeface="+mn-cs"/>
              </a:rPr>
              <a:t>()</a:t>
            </a:r>
          </a:p>
          <a:p>
            <a:r>
              <a:rPr lang="en-US" sz="1200" kern="1200" dirty="0" smtClean="0">
                <a:solidFill>
                  <a:schemeClr val="tx1"/>
                </a:solidFill>
                <a:latin typeface="+mn-lt"/>
                <a:ea typeface="+mn-ea"/>
                <a:cs typeface="+mn-cs"/>
              </a:rPr>
              <a:t>        {</a:t>
            </a:r>
          </a:p>
          <a:p>
            <a:r>
              <a:rPr lang="en-US" sz="1200" kern="1200" dirty="0" smtClean="0">
                <a:solidFill>
                  <a:schemeClr val="tx1"/>
                </a:solidFill>
                <a:latin typeface="+mn-lt"/>
                <a:ea typeface="+mn-ea"/>
                <a:cs typeface="+mn-cs"/>
              </a:rPr>
              <a:t>            </a:t>
            </a:r>
            <a:r>
              <a:rPr lang="en-US" sz="1200" kern="1200" dirty="0" err="1" smtClean="0">
                <a:solidFill>
                  <a:schemeClr val="tx1"/>
                </a:solidFill>
                <a:latin typeface="+mn-lt"/>
                <a:ea typeface="+mn-ea"/>
                <a:cs typeface="+mn-cs"/>
              </a:rPr>
              <a:t>Items.Clear</a:t>
            </a:r>
            <a:r>
              <a:rPr lang="en-US" sz="1200" kern="1200" dirty="0" smtClean="0">
                <a:solidFill>
                  <a:schemeClr val="tx1"/>
                </a:solidFill>
                <a:latin typeface="+mn-lt"/>
                <a:ea typeface="+mn-ea"/>
                <a:cs typeface="+mn-cs"/>
              </a:rPr>
              <a:t>();</a:t>
            </a:r>
          </a:p>
          <a:p>
            <a:r>
              <a:rPr lang="en-US" sz="1200" kern="1200" dirty="0" smtClean="0">
                <a:solidFill>
                  <a:schemeClr val="tx1"/>
                </a:solidFill>
                <a:latin typeface="+mn-lt"/>
                <a:ea typeface="+mn-ea"/>
                <a:cs typeface="+mn-cs"/>
              </a:rPr>
              <a:t>            </a:t>
            </a:r>
            <a:r>
              <a:rPr lang="en-US" sz="1200" kern="1200" dirty="0" err="1" smtClean="0">
                <a:solidFill>
                  <a:schemeClr val="tx1"/>
                </a:solidFill>
                <a:latin typeface="+mn-lt"/>
                <a:ea typeface="+mn-ea"/>
                <a:cs typeface="+mn-cs"/>
              </a:rPr>
              <a:t>var</a:t>
            </a:r>
            <a:r>
              <a:rPr lang="en-US" sz="1200" kern="1200" dirty="0" smtClean="0">
                <a:solidFill>
                  <a:schemeClr val="tx1"/>
                </a:solidFill>
                <a:latin typeface="+mn-lt"/>
                <a:ea typeface="+mn-ea"/>
                <a:cs typeface="+mn-cs"/>
              </a:rPr>
              <a:t> </a:t>
            </a:r>
            <a:r>
              <a:rPr lang="en-US" sz="1200" kern="1200" dirty="0" err="1" smtClean="0">
                <a:solidFill>
                  <a:schemeClr val="tx1"/>
                </a:solidFill>
                <a:latin typeface="+mn-lt"/>
                <a:ea typeface="+mn-ea"/>
                <a:cs typeface="+mn-cs"/>
              </a:rPr>
              <a:t>rnd</a:t>
            </a:r>
            <a:r>
              <a:rPr lang="en-US" sz="1200" kern="1200" dirty="0" smtClean="0">
                <a:solidFill>
                  <a:schemeClr val="tx1"/>
                </a:solidFill>
                <a:latin typeface="+mn-lt"/>
                <a:ea typeface="+mn-ea"/>
                <a:cs typeface="+mn-cs"/>
              </a:rPr>
              <a:t> = new Random();</a:t>
            </a:r>
          </a:p>
          <a:p>
            <a:r>
              <a:rPr lang="nn-NO" sz="1200" kern="1200" dirty="0" smtClean="0">
                <a:solidFill>
                  <a:schemeClr val="tx1"/>
                </a:solidFill>
                <a:latin typeface="+mn-lt"/>
                <a:ea typeface="+mn-ea"/>
                <a:cs typeface="+mn-cs"/>
              </a:rPr>
              <a:t>            for (int i = 1; i &lt;= 12; i++)</a:t>
            </a:r>
          </a:p>
          <a:p>
            <a:r>
              <a:rPr lang="en-US" sz="1200" kern="1200" dirty="0" smtClean="0">
                <a:solidFill>
                  <a:schemeClr val="tx1"/>
                </a:solidFill>
                <a:latin typeface="+mn-lt"/>
                <a:ea typeface="+mn-ea"/>
                <a:cs typeface="+mn-cs"/>
              </a:rPr>
              <a:t>            {</a:t>
            </a:r>
          </a:p>
          <a:p>
            <a:r>
              <a:rPr lang="en-US" sz="1200" kern="1200" dirty="0" smtClean="0">
                <a:solidFill>
                  <a:schemeClr val="tx1"/>
                </a:solidFill>
                <a:latin typeface="+mn-lt"/>
                <a:ea typeface="+mn-ea"/>
                <a:cs typeface="+mn-cs"/>
              </a:rPr>
              <a:t>                </a:t>
            </a:r>
            <a:r>
              <a:rPr lang="en-US" sz="1200" kern="1200" dirty="0" err="1" smtClean="0">
                <a:solidFill>
                  <a:schemeClr val="tx1"/>
                </a:solidFill>
                <a:latin typeface="+mn-lt"/>
                <a:ea typeface="+mn-ea"/>
                <a:cs typeface="+mn-cs"/>
              </a:rPr>
              <a:t>Items.Add</a:t>
            </a:r>
            <a:r>
              <a:rPr lang="en-US" sz="1200" kern="1200" dirty="0" smtClean="0">
                <a:solidFill>
                  <a:schemeClr val="tx1"/>
                </a:solidFill>
                <a:latin typeface="+mn-lt"/>
                <a:ea typeface="+mn-ea"/>
                <a:cs typeface="+mn-cs"/>
              </a:rPr>
              <a:t>(new </a:t>
            </a:r>
            <a:r>
              <a:rPr lang="en-US" sz="1200" kern="1200" dirty="0" err="1" smtClean="0">
                <a:solidFill>
                  <a:schemeClr val="tx1"/>
                </a:solidFill>
                <a:latin typeface="+mn-lt"/>
                <a:ea typeface="+mn-ea"/>
                <a:cs typeface="+mn-cs"/>
              </a:rPr>
              <a:t>ColorItem</a:t>
            </a:r>
            <a:endParaRPr lang="en-US" sz="1200" kern="1200" dirty="0" smtClean="0">
              <a:solidFill>
                <a:schemeClr val="tx1"/>
              </a:solidFill>
              <a:latin typeface="+mn-lt"/>
              <a:ea typeface="+mn-ea"/>
              <a:cs typeface="+mn-cs"/>
            </a:endParaRPr>
          </a:p>
          <a:p>
            <a:r>
              <a:rPr lang="en-US" sz="1200" kern="1200" dirty="0" smtClean="0">
                <a:solidFill>
                  <a:schemeClr val="tx1"/>
                </a:solidFill>
                <a:latin typeface="+mn-lt"/>
                <a:ea typeface="+mn-ea"/>
                <a:cs typeface="+mn-cs"/>
              </a:rPr>
              <a:t>                {</a:t>
            </a:r>
          </a:p>
          <a:p>
            <a:r>
              <a:rPr lang="en-US" sz="1200" kern="1200" dirty="0" smtClean="0">
                <a:solidFill>
                  <a:schemeClr val="tx1"/>
                </a:solidFill>
                <a:latin typeface="+mn-lt"/>
                <a:ea typeface="+mn-ea"/>
                <a:cs typeface="+mn-cs"/>
              </a:rPr>
              <a:t>                    Name = $"Item {</a:t>
            </a:r>
            <a:r>
              <a:rPr lang="en-US" sz="1200" kern="1200" dirty="0" err="1" smtClean="0">
                <a:solidFill>
                  <a:schemeClr val="tx1"/>
                </a:solidFill>
                <a:latin typeface="+mn-lt"/>
                <a:ea typeface="+mn-ea"/>
                <a:cs typeface="+mn-cs"/>
              </a:rPr>
              <a:t>i</a:t>
            </a:r>
            <a:r>
              <a:rPr lang="en-US" sz="1200" kern="1200" dirty="0" smtClean="0">
                <a:solidFill>
                  <a:schemeClr val="tx1"/>
                </a:solidFill>
                <a:latin typeface="+mn-lt"/>
                <a:ea typeface="+mn-ea"/>
                <a:cs typeface="+mn-cs"/>
              </a:rPr>
              <a:t>}",</a:t>
            </a:r>
          </a:p>
          <a:p>
            <a:r>
              <a:rPr lang="en-US" sz="1200" kern="1200" dirty="0" smtClean="0">
                <a:solidFill>
                  <a:schemeClr val="tx1"/>
                </a:solidFill>
                <a:latin typeface="+mn-lt"/>
                <a:ea typeface="+mn-ea"/>
                <a:cs typeface="+mn-cs"/>
              </a:rPr>
              <a:t>                    Color = </a:t>
            </a:r>
            <a:r>
              <a:rPr lang="en-US" sz="1200" kern="1200" dirty="0" err="1" smtClean="0">
                <a:solidFill>
                  <a:schemeClr val="tx1"/>
                </a:solidFill>
                <a:latin typeface="+mn-lt"/>
                <a:ea typeface="+mn-ea"/>
                <a:cs typeface="+mn-cs"/>
              </a:rPr>
              <a:t>Color.FromRgb</a:t>
            </a:r>
            <a:r>
              <a:rPr lang="en-US" sz="1200" kern="1200" dirty="0" smtClean="0">
                <a:solidFill>
                  <a:schemeClr val="tx1"/>
                </a:solidFill>
                <a:latin typeface="+mn-lt"/>
                <a:ea typeface="+mn-ea"/>
                <a:cs typeface="+mn-cs"/>
              </a:rPr>
              <a:t>(</a:t>
            </a:r>
            <a:r>
              <a:rPr lang="en-US" sz="1200" kern="1200" dirty="0" err="1" smtClean="0">
                <a:solidFill>
                  <a:schemeClr val="tx1"/>
                </a:solidFill>
                <a:latin typeface="+mn-lt"/>
                <a:ea typeface="+mn-ea"/>
                <a:cs typeface="+mn-cs"/>
              </a:rPr>
              <a:t>rnd.Next</a:t>
            </a:r>
            <a:r>
              <a:rPr lang="en-US" sz="1200" kern="1200" dirty="0" smtClean="0">
                <a:solidFill>
                  <a:schemeClr val="tx1"/>
                </a:solidFill>
                <a:latin typeface="+mn-lt"/>
                <a:ea typeface="+mn-ea"/>
                <a:cs typeface="+mn-cs"/>
              </a:rPr>
              <a:t>(256), </a:t>
            </a:r>
            <a:r>
              <a:rPr lang="en-US" sz="1200" kern="1200" dirty="0" err="1" smtClean="0">
                <a:solidFill>
                  <a:schemeClr val="tx1"/>
                </a:solidFill>
                <a:latin typeface="+mn-lt"/>
                <a:ea typeface="+mn-ea"/>
                <a:cs typeface="+mn-cs"/>
              </a:rPr>
              <a:t>rnd.Next</a:t>
            </a:r>
            <a:r>
              <a:rPr lang="en-US" sz="1200" kern="1200" dirty="0" smtClean="0">
                <a:solidFill>
                  <a:schemeClr val="tx1"/>
                </a:solidFill>
                <a:latin typeface="+mn-lt"/>
                <a:ea typeface="+mn-ea"/>
                <a:cs typeface="+mn-cs"/>
              </a:rPr>
              <a:t>(256), </a:t>
            </a:r>
            <a:r>
              <a:rPr lang="en-US" sz="1200" kern="1200" dirty="0" err="1" smtClean="0">
                <a:solidFill>
                  <a:schemeClr val="tx1"/>
                </a:solidFill>
                <a:latin typeface="+mn-lt"/>
                <a:ea typeface="+mn-ea"/>
                <a:cs typeface="+mn-cs"/>
              </a:rPr>
              <a:t>rnd.Next</a:t>
            </a:r>
            <a:r>
              <a:rPr lang="en-US" sz="1200" kern="1200" dirty="0" smtClean="0">
                <a:solidFill>
                  <a:schemeClr val="tx1"/>
                </a:solidFill>
                <a:latin typeface="+mn-lt"/>
                <a:ea typeface="+mn-ea"/>
                <a:cs typeface="+mn-cs"/>
              </a:rPr>
              <a:t>(256))</a:t>
            </a:r>
          </a:p>
          <a:p>
            <a:r>
              <a:rPr lang="en-US" sz="1200" kern="1200" dirty="0" smtClean="0">
                <a:solidFill>
                  <a:schemeClr val="tx1"/>
                </a:solidFill>
                <a:latin typeface="+mn-lt"/>
                <a:ea typeface="+mn-ea"/>
                <a:cs typeface="+mn-cs"/>
              </a:rPr>
              <a:t>                });</a:t>
            </a:r>
          </a:p>
          <a:p>
            <a:r>
              <a:rPr lang="en-US" sz="1200" kern="1200" dirty="0" smtClean="0">
                <a:solidFill>
                  <a:schemeClr val="tx1"/>
                </a:solidFill>
                <a:latin typeface="+mn-lt"/>
                <a:ea typeface="+mn-ea"/>
                <a:cs typeface="+mn-cs"/>
              </a:rPr>
              <a:t>            }</a:t>
            </a:r>
          </a:p>
          <a:p>
            <a:r>
              <a:rPr lang="en-US" sz="1200" kern="1200" dirty="0" smtClean="0">
                <a:solidFill>
                  <a:schemeClr val="tx1"/>
                </a:solidFill>
                <a:latin typeface="+mn-lt"/>
                <a:ea typeface="+mn-ea"/>
                <a:cs typeface="+mn-cs"/>
              </a:rPr>
              <a:t>        }</a:t>
            </a:r>
          </a:p>
          <a:p>
            <a:endParaRPr lang="en-US" sz="1200" kern="1200" dirty="0" smtClean="0">
              <a:solidFill>
                <a:schemeClr val="tx1"/>
              </a:solidFill>
              <a:latin typeface="+mn-lt"/>
              <a:ea typeface="+mn-ea"/>
              <a:cs typeface="+mn-cs"/>
            </a:endParaRPr>
          </a:p>
          <a:p>
            <a:r>
              <a:rPr lang="en-US" sz="1200" kern="1200" dirty="0" smtClean="0">
                <a:solidFill>
                  <a:schemeClr val="tx1"/>
                </a:solidFill>
                <a:latin typeface="+mn-lt"/>
                <a:ea typeface="+mn-ea"/>
                <a:cs typeface="+mn-cs"/>
              </a:rPr>
              <a:t>        private </a:t>
            </a:r>
            <a:r>
              <a:rPr lang="en-US" sz="1200" kern="1200" dirty="0" err="1" smtClean="0">
                <a:solidFill>
                  <a:schemeClr val="tx1"/>
                </a:solidFill>
                <a:latin typeface="+mn-lt"/>
                <a:ea typeface="+mn-ea"/>
                <a:cs typeface="+mn-cs"/>
              </a:rPr>
              <a:t>async</a:t>
            </a:r>
            <a:r>
              <a:rPr lang="en-US" sz="1200" kern="1200" dirty="0" smtClean="0">
                <a:solidFill>
                  <a:schemeClr val="tx1"/>
                </a:solidFill>
                <a:latin typeface="+mn-lt"/>
                <a:ea typeface="+mn-ea"/>
                <a:cs typeface="+mn-cs"/>
              </a:rPr>
              <a:t> Task </a:t>
            </a:r>
            <a:r>
              <a:rPr lang="en-US" sz="1200" kern="1200" dirty="0" err="1" smtClean="0">
                <a:solidFill>
                  <a:schemeClr val="tx1"/>
                </a:solidFill>
                <a:latin typeface="+mn-lt"/>
                <a:ea typeface="+mn-ea"/>
                <a:cs typeface="+mn-cs"/>
              </a:rPr>
              <a:t>RefreshAsync</a:t>
            </a:r>
            <a:r>
              <a:rPr lang="en-US" sz="1200" kern="1200" dirty="0" smtClean="0">
                <a:solidFill>
                  <a:schemeClr val="tx1"/>
                </a:solidFill>
                <a:latin typeface="+mn-lt"/>
                <a:ea typeface="+mn-ea"/>
                <a:cs typeface="+mn-cs"/>
              </a:rPr>
              <a:t>()</a:t>
            </a:r>
          </a:p>
          <a:p>
            <a:r>
              <a:rPr lang="en-US" sz="1200" kern="1200" dirty="0" smtClean="0">
                <a:solidFill>
                  <a:schemeClr val="tx1"/>
                </a:solidFill>
                <a:latin typeface="+mn-lt"/>
                <a:ea typeface="+mn-ea"/>
                <a:cs typeface="+mn-cs"/>
              </a:rPr>
              <a:t>        {</a:t>
            </a:r>
          </a:p>
          <a:p>
            <a:r>
              <a:rPr lang="en-US" sz="1200" kern="1200" dirty="0" smtClean="0">
                <a:solidFill>
                  <a:schemeClr val="tx1"/>
                </a:solidFill>
                <a:latin typeface="+mn-lt"/>
                <a:ea typeface="+mn-ea"/>
                <a:cs typeface="+mn-cs"/>
              </a:rPr>
              <a:t>            </a:t>
            </a:r>
            <a:r>
              <a:rPr lang="en-US" sz="1200" kern="1200" dirty="0" err="1" smtClean="0">
                <a:solidFill>
                  <a:schemeClr val="tx1"/>
                </a:solidFill>
                <a:latin typeface="+mn-lt"/>
                <a:ea typeface="+mn-ea"/>
                <a:cs typeface="+mn-cs"/>
              </a:rPr>
              <a:t>IsRefreshing</a:t>
            </a:r>
            <a:r>
              <a:rPr lang="en-US" sz="1200" kern="1200" dirty="0" smtClean="0">
                <a:solidFill>
                  <a:schemeClr val="tx1"/>
                </a:solidFill>
                <a:latin typeface="+mn-lt"/>
                <a:ea typeface="+mn-ea"/>
                <a:cs typeface="+mn-cs"/>
              </a:rPr>
              <a:t> = true;</a:t>
            </a:r>
          </a:p>
          <a:p>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await</a:t>
            </a:r>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Task.Delay</a:t>
            </a:r>
            <a:r>
              <a:rPr lang="fr-FR" sz="1200" kern="1200" dirty="0" smtClean="0">
                <a:solidFill>
                  <a:schemeClr val="tx1"/>
                </a:solidFill>
                <a:latin typeface="+mn-lt"/>
                <a:ea typeface="+mn-ea"/>
                <a:cs typeface="+mn-cs"/>
              </a:rPr>
              <a:t>(2000); // Simulation d'un appel réseau ou long traitement</a:t>
            </a:r>
          </a:p>
          <a:p>
            <a:r>
              <a:rPr lang="en-US" sz="1200" kern="1200" dirty="0" smtClean="0">
                <a:solidFill>
                  <a:schemeClr val="tx1"/>
                </a:solidFill>
                <a:latin typeface="+mn-lt"/>
                <a:ea typeface="+mn-ea"/>
                <a:cs typeface="+mn-cs"/>
              </a:rPr>
              <a:t>            </a:t>
            </a:r>
            <a:r>
              <a:rPr lang="en-US" sz="1200" kern="1200" dirty="0" err="1" smtClean="0">
                <a:solidFill>
                  <a:schemeClr val="tx1"/>
                </a:solidFill>
                <a:latin typeface="+mn-lt"/>
                <a:ea typeface="+mn-ea"/>
                <a:cs typeface="+mn-cs"/>
              </a:rPr>
              <a:t>LoadItems</a:t>
            </a:r>
            <a:r>
              <a:rPr lang="en-US" sz="1200" kern="1200" dirty="0" smtClean="0">
                <a:solidFill>
                  <a:schemeClr val="tx1"/>
                </a:solidFill>
                <a:latin typeface="+mn-lt"/>
                <a:ea typeface="+mn-ea"/>
                <a:cs typeface="+mn-cs"/>
              </a:rPr>
              <a:t>();</a:t>
            </a:r>
          </a:p>
          <a:p>
            <a:r>
              <a:rPr lang="en-US" sz="1200" kern="1200" dirty="0" smtClean="0">
                <a:solidFill>
                  <a:schemeClr val="tx1"/>
                </a:solidFill>
                <a:latin typeface="+mn-lt"/>
                <a:ea typeface="+mn-ea"/>
                <a:cs typeface="+mn-cs"/>
              </a:rPr>
              <a:t>            </a:t>
            </a:r>
            <a:r>
              <a:rPr lang="en-US" sz="1200" kern="1200" dirty="0" err="1" smtClean="0">
                <a:solidFill>
                  <a:schemeClr val="tx1"/>
                </a:solidFill>
                <a:latin typeface="+mn-lt"/>
                <a:ea typeface="+mn-ea"/>
                <a:cs typeface="+mn-cs"/>
              </a:rPr>
              <a:t>IsRefreshing</a:t>
            </a:r>
            <a:r>
              <a:rPr lang="en-US" sz="1200" kern="1200" dirty="0" smtClean="0">
                <a:solidFill>
                  <a:schemeClr val="tx1"/>
                </a:solidFill>
                <a:latin typeface="+mn-lt"/>
                <a:ea typeface="+mn-ea"/>
                <a:cs typeface="+mn-cs"/>
              </a:rPr>
              <a:t> = false;</a:t>
            </a:r>
          </a:p>
          <a:p>
            <a:r>
              <a:rPr lang="en-US" sz="1200" kern="1200" dirty="0" smtClean="0">
                <a:solidFill>
                  <a:schemeClr val="tx1"/>
                </a:solidFill>
                <a:latin typeface="+mn-lt"/>
                <a:ea typeface="+mn-ea"/>
                <a:cs typeface="+mn-cs"/>
              </a:rPr>
              <a:t>        }</a:t>
            </a:r>
          </a:p>
          <a:p>
            <a:r>
              <a:rPr lang="en-US" sz="1200" kern="1200" dirty="0" smtClean="0">
                <a:solidFill>
                  <a:schemeClr val="tx1"/>
                </a:solidFill>
                <a:latin typeface="+mn-lt"/>
                <a:ea typeface="+mn-ea"/>
                <a:cs typeface="+mn-cs"/>
              </a:rPr>
              <a:t>    }</a:t>
            </a:r>
          </a:p>
          <a:p>
            <a:r>
              <a:rPr lang="en-US" sz="1200" kern="1200" dirty="0" smtClean="0">
                <a:solidFill>
                  <a:schemeClr val="tx1"/>
                </a:solidFill>
                <a:latin typeface="+mn-lt"/>
                <a:ea typeface="+mn-ea"/>
                <a:cs typeface="+mn-cs"/>
              </a:rPr>
              <a:t>}</a:t>
            </a:r>
          </a:p>
          <a:p>
            <a:endParaRPr lang="en-US" b="1" baseline="0" dirty="0" smtClean="0"/>
          </a:p>
          <a:p>
            <a:r>
              <a:rPr lang="fr-FR" b="1" baseline="0" dirty="0" smtClean="0"/>
              <a:t/>
            </a:r>
            <a:br>
              <a:rPr lang="fr-FR" b="1" baseline="0" dirty="0" smtClean="0"/>
            </a:br>
            <a:r>
              <a:rPr lang="fr-FR" b="1" baseline="0" dirty="0" smtClean="0"/>
              <a:t/>
            </a:r>
            <a:br>
              <a:rPr lang="fr-FR" b="1" baseline="0" dirty="0" smtClean="0"/>
            </a:br>
            <a:r>
              <a:rPr lang="fr-FR" baseline="0" dirty="0" smtClean="0"/>
              <a:t/>
            </a:r>
            <a:br>
              <a:rPr lang="fr-FR" baseline="0" dirty="0" smtClean="0"/>
            </a:br>
            <a:r>
              <a:rPr lang="fr-FR" baseline="0" dirty="0" smtClean="0"/>
              <a:t/>
            </a:r>
            <a:br>
              <a:rPr lang="fr-FR" baseline="0" dirty="0" smtClean="0"/>
            </a:br>
            <a:endParaRPr lang="en-US" dirty="0"/>
          </a:p>
        </p:txBody>
      </p:sp>
      <p:sp>
        <p:nvSpPr>
          <p:cNvPr id="4" name="Slide Number Placeholder 3"/>
          <p:cNvSpPr>
            <a:spLocks noGrp="1"/>
          </p:cNvSpPr>
          <p:nvPr>
            <p:ph type="sldNum" sz="quarter" idx="10"/>
          </p:nvPr>
        </p:nvSpPr>
        <p:spPr/>
        <p:txBody>
          <a:bodyPr/>
          <a:lstStyle/>
          <a:p>
            <a:fld id="{C05E1AE6-1BFD-4589-9604-3D9D158FB781}" type="slidenum">
              <a:rPr lang="fr-FR" smtClean="0"/>
              <a:t>28</a:t>
            </a:fld>
            <a:endParaRPr lang="fr-FR"/>
          </a:p>
        </p:txBody>
      </p:sp>
    </p:spTree>
    <p:extLst>
      <p:ext uri="{BB962C8B-B14F-4D97-AF65-F5344CB8AC3E}">
        <p14:creationId xmlns:p14="http://schemas.microsoft.com/office/powerpoint/2010/main" val="2248717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b="1" dirty="0" smtClean="0"/>
              <a:t>La</a:t>
            </a:r>
            <a:r>
              <a:rPr lang="fr-FR" b="1" baseline="0" dirty="0" smtClean="0"/>
              <a:t> partie XAML(Complete):</a:t>
            </a:r>
            <a:br>
              <a:rPr lang="fr-FR" b="1" baseline="0" dirty="0" smtClean="0"/>
            </a:br>
            <a:r>
              <a:rPr lang="fr-FR" b="1" baseline="0" dirty="0" smtClean="0"/>
              <a:t/>
            </a:r>
            <a:br>
              <a:rPr lang="fr-FR" b="1" baseline="0" dirty="0" smtClean="0"/>
            </a:br>
            <a:r>
              <a:rPr lang="en-US" sz="1200" kern="1200" dirty="0" smtClean="0">
                <a:solidFill>
                  <a:schemeClr val="tx1"/>
                </a:solidFill>
                <a:latin typeface="+mn-lt"/>
                <a:ea typeface="+mn-ea"/>
                <a:cs typeface="+mn-cs"/>
              </a:rPr>
              <a:t> &lt;</a:t>
            </a:r>
            <a:r>
              <a:rPr lang="en-US" sz="1200" kern="1200" dirty="0" err="1" smtClean="0">
                <a:solidFill>
                  <a:schemeClr val="tx1"/>
                </a:solidFill>
                <a:latin typeface="+mn-lt"/>
                <a:ea typeface="+mn-ea"/>
                <a:cs typeface="+mn-cs"/>
              </a:rPr>
              <a:t>ContentPage.BindingContext</a:t>
            </a:r>
            <a:r>
              <a:rPr lang="en-US" sz="1200" kern="1200" dirty="0" smtClean="0">
                <a:solidFill>
                  <a:schemeClr val="tx1"/>
                </a:solidFill>
                <a:latin typeface="+mn-lt"/>
                <a:ea typeface="+mn-ea"/>
                <a:cs typeface="+mn-cs"/>
              </a:rPr>
              <a:t>&gt;</a:t>
            </a:r>
          </a:p>
          <a:p>
            <a:r>
              <a:rPr lang="en-US" sz="1200" kern="1200" dirty="0" smtClean="0">
                <a:solidFill>
                  <a:schemeClr val="tx1"/>
                </a:solidFill>
                <a:latin typeface="+mn-lt"/>
                <a:ea typeface="+mn-ea"/>
                <a:cs typeface="+mn-cs"/>
              </a:rPr>
              <a:t>        &lt;</a:t>
            </a:r>
            <a:r>
              <a:rPr lang="en-US" sz="1200" kern="1200" dirty="0" err="1" smtClean="0">
                <a:solidFill>
                  <a:schemeClr val="tx1"/>
                </a:solidFill>
                <a:latin typeface="+mn-lt"/>
                <a:ea typeface="+mn-ea"/>
                <a:cs typeface="+mn-cs"/>
              </a:rPr>
              <a:t>local:RefreshDemoViewModel</a:t>
            </a:r>
            <a:r>
              <a:rPr lang="en-US" sz="1200" kern="1200" dirty="0" smtClean="0">
                <a:solidFill>
                  <a:schemeClr val="tx1"/>
                </a:solidFill>
                <a:latin typeface="+mn-lt"/>
                <a:ea typeface="+mn-ea"/>
                <a:cs typeface="+mn-cs"/>
              </a:rPr>
              <a:t> /&gt;</a:t>
            </a:r>
          </a:p>
          <a:p>
            <a:r>
              <a:rPr lang="en-US" sz="1200" kern="1200" dirty="0" smtClean="0">
                <a:solidFill>
                  <a:schemeClr val="tx1"/>
                </a:solidFill>
                <a:latin typeface="+mn-lt"/>
                <a:ea typeface="+mn-ea"/>
                <a:cs typeface="+mn-cs"/>
              </a:rPr>
              <a:t>    &lt;/</a:t>
            </a:r>
            <a:r>
              <a:rPr lang="en-US" sz="1200" kern="1200" dirty="0" err="1" smtClean="0">
                <a:solidFill>
                  <a:schemeClr val="tx1"/>
                </a:solidFill>
                <a:latin typeface="+mn-lt"/>
                <a:ea typeface="+mn-ea"/>
                <a:cs typeface="+mn-cs"/>
              </a:rPr>
              <a:t>ContentPage.BindingContext</a:t>
            </a:r>
            <a:r>
              <a:rPr lang="en-US" sz="1200" kern="1200" dirty="0" smtClean="0">
                <a:solidFill>
                  <a:schemeClr val="tx1"/>
                </a:solidFill>
                <a:latin typeface="+mn-lt"/>
                <a:ea typeface="+mn-ea"/>
                <a:cs typeface="+mn-cs"/>
              </a:rPr>
              <a:t>&gt;</a:t>
            </a:r>
          </a:p>
          <a:p>
            <a:endParaRPr lang="en-US" sz="1200" kern="1200" dirty="0" smtClean="0">
              <a:solidFill>
                <a:schemeClr val="tx1"/>
              </a:solidFill>
              <a:latin typeface="+mn-lt"/>
              <a:ea typeface="+mn-ea"/>
              <a:cs typeface="+mn-cs"/>
            </a:endParaRPr>
          </a:p>
          <a:p>
            <a:r>
              <a:rPr lang="en-US" sz="1200" kern="1200" dirty="0" smtClean="0">
                <a:solidFill>
                  <a:schemeClr val="tx1"/>
                </a:solidFill>
                <a:latin typeface="+mn-lt"/>
                <a:ea typeface="+mn-ea"/>
                <a:cs typeface="+mn-cs"/>
              </a:rPr>
              <a:t>    &lt;</a:t>
            </a:r>
            <a:r>
              <a:rPr lang="en-US" sz="1200" kern="1200" dirty="0" err="1" smtClean="0">
                <a:solidFill>
                  <a:schemeClr val="tx1"/>
                </a:solidFill>
                <a:latin typeface="+mn-lt"/>
                <a:ea typeface="+mn-ea"/>
                <a:cs typeface="+mn-cs"/>
              </a:rPr>
              <a:t>RefreshView</a:t>
            </a:r>
            <a:r>
              <a:rPr lang="en-US" sz="1200" kern="1200" dirty="0" smtClean="0">
                <a:solidFill>
                  <a:schemeClr val="tx1"/>
                </a:solidFill>
                <a:latin typeface="+mn-lt"/>
                <a:ea typeface="+mn-ea"/>
                <a:cs typeface="+mn-cs"/>
              </a:rPr>
              <a:t> </a:t>
            </a:r>
            <a:r>
              <a:rPr lang="en-US" sz="1200" kern="1200" dirty="0" err="1" smtClean="0">
                <a:solidFill>
                  <a:schemeClr val="tx1"/>
                </a:solidFill>
                <a:latin typeface="+mn-lt"/>
                <a:ea typeface="+mn-ea"/>
                <a:cs typeface="+mn-cs"/>
              </a:rPr>
              <a:t>IsRefreshing</a:t>
            </a:r>
            <a:r>
              <a:rPr lang="en-US" sz="1200" kern="1200" dirty="0" smtClean="0">
                <a:solidFill>
                  <a:schemeClr val="tx1"/>
                </a:solidFill>
                <a:latin typeface="+mn-lt"/>
                <a:ea typeface="+mn-ea"/>
                <a:cs typeface="+mn-cs"/>
              </a:rPr>
              <a:t>="{Binding </a:t>
            </a:r>
            <a:r>
              <a:rPr lang="en-US" sz="1200" kern="1200" dirty="0" err="1" smtClean="0">
                <a:solidFill>
                  <a:schemeClr val="tx1"/>
                </a:solidFill>
                <a:latin typeface="+mn-lt"/>
                <a:ea typeface="+mn-ea"/>
                <a:cs typeface="+mn-cs"/>
              </a:rPr>
              <a:t>IsRefreshing</a:t>
            </a:r>
            <a:r>
              <a:rPr lang="en-US" sz="1200" kern="1200" dirty="0" smtClean="0">
                <a:solidFill>
                  <a:schemeClr val="tx1"/>
                </a:solidFill>
                <a:latin typeface="+mn-lt"/>
                <a:ea typeface="+mn-ea"/>
                <a:cs typeface="+mn-cs"/>
              </a:rPr>
              <a:t>}"</a:t>
            </a:r>
          </a:p>
          <a:p>
            <a:r>
              <a:rPr lang="en-US" sz="1200" kern="1200" dirty="0" smtClean="0">
                <a:solidFill>
                  <a:schemeClr val="tx1"/>
                </a:solidFill>
                <a:latin typeface="+mn-lt"/>
                <a:ea typeface="+mn-ea"/>
                <a:cs typeface="+mn-cs"/>
              </a:rPr>
              <a:t>     Command="{Binding </a:t>
            </a:r>
            <a:r>
              <a:rPr lang="en-US" sz="1200" kern="1200" dirty="0" err="1" smtClean="0">
                <a:solidFill>
                  <a:schemeClr val="tx1"/>
                </a:solidFill>
                <a:latin typeface="+mn-lt"/>
                <a:ea typeface="+mn-ea"/>
                <a:cs typeface="+mn-cs"/>
              </a:rPr>
              <a:t>RefreshCommand</a:t>
            </a:r>
            <a:r>
              <a:rPr lang="en-US" sz="1200" kern="1200" dirty="0" smtClean="0">
                <a:solidFill>
                  <a:schemeClr val="tx1"/>
                </a:solidFill>
                <a:latin typeface="+mn-lt"/>
                <a:ea typeface="+mn-ea"/>
                <a:cs typeface="+mn-cs"/>
              </a:rPr>
              <a:t>}"&gt;</a:t>
            </a:r>
          </a:p>
          <a:p>
            <a:r>
              <a:rPr lang="en-US" sz="1200" kern="1200" dirty="0" smtClean="0">
                <a:solidFill>
                  <a:schemeClr val="tx1"/>
                </a:solidFill>
                <a:latin typeface="+mn-lt"/>
                <a:ea typeface="+mn-ea"/>
                <a:cs typeface="+mn-cs"/>
              </a:rPr>
              <a:t>        &lt;</a:t>
            </a:r>
            <a:r>
              <a:rPr lang="en-US" sz="1200" kern="1200" dirty="0" err="1" smtClean="0">
                <a:solidFill>
                  <a:schemeClr val="tx1"/>
                </a:solidFill>
                <a:latin typeface="+mn-lt"/>
                <a:ea typeface="+mn-ea"/>
                <a:cs typeface="+mn-cs"/>
              </a:rPr>
              <a:t>ScrollView</a:t>
            </a:r>
            <a:r>
              <a:rPr lang="en-US" sz="1200" kern="1200" dirty="0" smtClean="0">
                <a:solidFill>
                  <a:schemeClr val="tx1"/>
                </a:solidFill>
                <a:latin typeface="+mn-lt"/>
                <a:ea typeface="+mn-ea"/>
                <a:cs typeface="+mn-cs"/>
              </a:rPr>
              <a:t>&gt;</a:t>
            </a:r>
          </a:p>
          <a:p>
            <a:r>
              <a:rPr lang="en-US" sz="1200" kern="1200" dirty="0" smtClean="0">
                <a:solidFill>
                  <a:schemeClr val="tx1"/>
                </a:solidFill>
                <a:latin typeface="+mn-lt"/>
                <a:ea typeface="+mn-ea"/>
                <a:cs typeface="+mn-cs"/>
              </a:rPr>
              <a:t>            &lt;</a:t>
            </a:r>
            <a:r>
              <a:rPr lang="en-US" sz="1200" kern="1200" dirty="0" err="1" smtClean="0">
                <a:solidFill>
                  <a:schemeClr val="tx1"/>
                </a:solidFill>
                <a:latin typeface="+mn-lt"/>
                <a:ea typeface="+mn-ea"/>
                <a:cs typeface="+mn-cs"/>
              </a:rPr>
              <a:t>FlexLayout</a:t>
            </a:r>
            <a:r>
              <a:rPr lang="en-US" sz="1200" kern="1200" dirty="0" smtClean="0">
                <a:solidFill>
                  <a:schemeClr val="tx1"/>
                </a:solidFill>
                <a:latin typeface="+mn-lt"/>
                <a:ea typeface="+mn-ea"/>
                <a:cs typeface="+mn-cs"/>
              </a:rPr>
              <a:t> Direction="Row"</a:t>
            </a:r>
          </a:p>
          <a:p>
            <a:r>
              <a:rPr lang="en-US" sz="1200" kern="1200" dirty="0" smtClean="0">
                <a:solidFill>
                  <a:schemeClr val="tx1"/>
                </a:solidFill>
                <a:latin typeface="+mn-lt"/>
                <a:ea typeface="+mn-ea"/>
                <a:cs typeface="+mn-cs"/>
              </a:rPr>
              <a:t>            Wrap="Wrap"</a:t>
            </a:r>
          </a:p>
          <a:p>
            <a:r>
              <a:rPr lang="en-US" sz="1200" kern="1200" dirty="0" smtClean="0">
                <a:solidFill>
                  <a:schemeClr val="tx1"/>
                </a:solidFill>
                <a:latin typeface="+mn-lt"/>
                <a:ea typeface="+mn-ea"/>
                <a:cs typeface="+mn-cs"/>
              </a:rPr>
              <a:t>            </a:t>
            </a:r>
            <a:r>
              <a:rPr lang="en-US" sz="1200" kern="1200" dirty="0" err="1" smtClean="0">
                <a:solidFill>
                  <a:schemeClr val="tx1"/>
                </a:solidFill>
                <a:latin typeface="+mn-lt"/>
                <a:ea typeface="+mn-ea"/>
                <a:cs typeface="+mn-cs"/>
              </a:rPr>
              <a:t>AlignItems</a:t>
            </a:r>
            <a:r>
              <a:rPr lang="en-US" sz="1200" kern="1200" dirty="0" smtClean="0">
                <a:solidFill>
                  <a:schemeClr val="tx1"/>
                </a:solidFill>
                <a:latin typeface="+mn-lt"/>
                <a:ea typeface="+mn-ea"/>
                <a:cs typeface="+mn-cs"/>
              </a:rPr>
              <a:t>="Center"</a:t>
            </a:r>
          </a:p>
          <a:p>
            <a:r>
              <a:rPr lang="en-US" sz="1200" kern="1200" dirty="0" smtClean="0">
                <a:solidFill>
                  <a:schemeClr val="tx1"/>
                </a:solidFill>
                <a:latin typeface="+mn-lt"/>
                <a:ea typeface="+mn-ea"/>
                <a:cs typeface="+mn-cs"/>
              </a:rPr>
              <a:t>            </a:t>
            </a:r>
            <a:r>
              <a:rPr lang="en-US" sz="1200" kern="1200" dirty="0" err="1" smtClean="0">
                <a:solidFill>
                  <a:schemeClr val="tx1"/>
                </a:solidFill>
                <a:latin typeface="+mn-lt"/>
                <a:ea typeface="+mn-ea"/>
                <a:cs typeface="+mn-cs"/>
              </a:rPr>
              <a:t>AlignContent</a:t>
            </a:r>
            <a:r>
              <a:rPr lang="en-US" sz="1200" kern="1200" dirty="0" smtClean="0">
                <a:solidFill>
                  <a:schemeClr val="tx1"/>
                </a:solidFill>
                <a:latin typeface="+mn-lt"/>
                <a:ea typeface="+mn-ea"/>
                <a:cs typeface="+mn-cs"/>
              </a:rPr>
              <a:t>="Center"</a:t>
            </a:r>
          </a:p>
          <a:p>
            <a:r>
              <a:rPr lang="en-US" sz="1200" kern="1200" dirty="0" smtClean="0">
                <a:solidFill>
                  <a:schemeClr val="tx1"/>
                </a:solidFill>
                <a:latin typeface="+mn-lt"/>
                <a:ea typeface="+mn-ea"/>
                <a:cs typeface="+mn-cs"/>
              </a:rPr>
              <a:t>            </a:t>
            </a:r>
            <a:r>
              <a:rPr lang="en-US" sz="1200" kern="1200" dirty="0" err="1" smtClean="0">
                <a:solidFill>
                  <a:schemeClr val="tx1"/>
                </a:solidFill>
                <a:latin typeface="+mn-lt"/>
                <a:ea typeface="+mn-ea"/>
                <a:cs typeface="+mn-cs"/>
              </a:rPr>
              <a:t>BindableLayout.ItemsSource</a:t>
            </a:r>
            <a:r>
              <a:rPr lang="en-US" sz="1200" kern="1200" dirty="0" smtClean="0">
                <a:solidFill>
                  <a:schemeClr val="tx1"/>
                </a:solidFill>
                <a:latin typeface="+mn-lt"/>
                <a:ea typeface="+mn-ea"/>
                <a:cs typeface="+mn-cs"/>
              </a:rPr>
              <a:t>="{Binding Items}"&gt;</a:t>
            </a:r>
          </a:p>
          <a:p>
            <a:r>
              <a:rPr lang="en-US" sz="1200" kern="1200" dirty="0" smtClean="0">
                <a:solidFill>
                  <a:schemeClr val="tx1"/>
                </a:solidFill>
                <a:latin typeface="+mn-lt"/>
                <a:ea typeface="+mn-ea"/>
                <a:cs typeface="+mn-cs"/>
              </a:rPr>
              <a:t>                &lt;</a:t>
            </a:r>
            <a:r>
              <a:rPr lang="en-US" sz="1200" kern="1200" dirty="0" err="1" smtClean="0">
                <a:solidFill>
                  <a:schemeClr val="tx1"/>
                </a:solidFill>
                <a:latin typeface="+mn-lt"/>
                <a:ea typeface="+mn-ea"/>
                <a:cs typeface="+mn-cs"/>
              </a:rPr>
              <a:t>BindableLayout.ItemTemplate</a:t>
            </a:r>
            <a:r>
              <a:rPr lang="en-US" sz="1200" kern="1200" dirty="0" smtClean="0">
                <a:solidFill>
                  <a:schemeClr val="tx1"/>
                </a:solidFill>
                <a:latin typeface="+mn-lt"/>
                <a:ea typeface="+mn-ea"/>
                <a:cs typeface="+mn-cs"/>
              </a:rPr>
              <a:t>&gt;</a:t>
            </a:r>
          </a:p>
          <a:p>
            <a:r>
              <a:rPr lang="en-US" sz="1200" kern="1200" dirty="0" smtClean="0">
                <a:solidFill>
                  <a:schemeClr val="tx1"/>
                </a:solidFill>
                <a:latin typeface="+mn-lt"/>
                <a:ea typeface="+mn-ea"/>
                <a:cs typeface="+mn-cs"/>
              </a:rPr>
              <a:t>                    &lt;</a:t>
            </a:r>
            <a:r>
              <a:rPr lang="en-US" sz="1200" kern="1200" dirty="0" err="1" smtClean="0">
                <a:solidFill>
                  <a:schemeClr val="tx1"/>
                </a:solidFill>
                <a:latin typeface="+mn-lt"/>
                <a:ea typeface="+mn-ea"/>
                <a:cs typeface="+mn-cs"/>
              </a:rPr>
              <a:t>DataTemplate</a:t>
            </a:r>
            <a:r>
              <a:rPr lang="en-US" sz="1200" kern="1200" dirty="0" smtClean="0">
                <a:solidFill>
                  <a:schemeClr val="tx1"/>
                </a:solidFill>
                <a:latin typeface="+mn-lt"/>
                <a:ea typeface="+mn-ea"/>
                <a:cs typeface="+mn-cs"/>
              </a:rPr>
              <a:t>&gt;</a:t>
            </a:r>
          </a:p>
          <a:p>
            <a:r>
              <a:rPr lang="en-US" sz="1200" kern="1200" dirty="0" smtClean="0">
                <a:solidFill>
                  <a:schemeClr val="tx1"/>
                </a:solidFill>
                <a:latin typeface="+mn-lt"/>
                <a:ea typeface="+mn-ea"/>
                <a:cs typeface="+mn-cs"/>
              </a:rPr>
              <a:t>                        &lt;Frame </a:t>
            </a:r>
            <a:r>
              <a:rPr lang="en-US" sz="1200" kern="1200" dirty="0" err="1" smtClean="0">
                <a:solidFill>
                  <a:schemeClr val="tx1"/>
                </a:solidFill>
                <a:latin typeface="+mn-lt"/>
                <a:ea typeface="+mn-ea"/>
                <a:cs typeface="+mn-cs"/>
              </a:rPr>
              <a:t>BackgroundColor</a:t>
            </a:r>
            <a:r>
              <a:rPr lang="en-US" sz="1200" kern="1200" dirty="0" smtClean="0">
                <a:solidFill>
                  <a:schemeClr val="tx1"/>
                </a:solidFill>
                <a:latin typeface="+mn-lt"/>
                <a:ea typeface="+mn-ea"/>
                <a:cs typeface="+mn-cs"/>
              </a:rPr>
              <a:t>="{Binding Color}"</a:t>
            </a:r>
          </a:p>
          <a:p>
            <a:r>
              <a:rPr lang="en-US" sz="1200" kern="1200" dirty="0" smtClean="0">
                <a:solidFill>
                  <a:schemeClr val="tx1"/>
                </a:solidFill>
                <a:latin typeface="+mn-lt"/>
                <a:ea typeface="+mn-ea"/>
                <a:cs typeface="+mn-cs"/>
              </a:rPr>
              <a:t>                   </a:t>
            </a:r>
            <a:r>
              <a:rPr lang="en-US" sz="1200" kern="1200" dirty="0" err="1" smtClean="0">
                <a:solidFill>
                  <a:schemeClr val="tx1"/>
                </a:solidFill>
                <a:latin typeface="+mn-lt"/>
                <a:ea typeface="+mn-ea"/>
                <a:cs typeface="+mn-cs"/>
              </a:rPr>
              <a:t>HeightRequest</a:t>
            </a:r>
            <a:r>
              <a:rPr lang="en-US" sz="1200" kern="1200" dirty="0" smtClean="0">
                <a:solidFill>
                  <a:schemeClr val="tx1"/>
                </a:solidFill>
                <a:latin typeface="+mn-lt"/>
                <a:ea typeface="+mn-ea"/>
                <a:cs typeface="+mn-cs"/>
              </a:rPr>
              <a:t>="100"</a:t>
            </a:r>
          </a:p>
          <a:p>
            <a:r>
              <a:rPr lang="en-US" sz="1200" kern="1200" dirty="0" smtClean="0">
                <a:solidFill>
                  <a:schemeClr val="tx1"/>
                </a:solidFill>
                <a:latin typeface="+mn-lt"/>
                <a:ea typeface="+mn-ea"/>
                <a:cs typeface="+mn-cs"/>
              </a:rPr>
              <a:t>                   </a:t>
            </a:r>
            <a:r>
              <a:rPr lang="en-US" sz="1200" kern="1200" dirty="0" err="1" smtClean="0">
                <a:solidFill>
                  <a:schemeClr val="tx1"/>
                </a:solidFill>
                <a:latin typeface="+mn-lt"/>
                <a:ea typeface="+mn-ea"/>
                <a:cs typeface="+mn-cs"/>
              </a:rPr>
              <a:t>WidthRequest</a:t>
            </a:r>
            <a:r>
              <a:rPr lang="en-US" sz="1200" kern="1200" dirty="0" smtClean="0">
                <a:solidFill>
                  <a:schemeClr val="tx1"/>
                </a:solidFill>
                <a:latin typeface="+mn-lt"/>
                <a:ea typeface="+mn-ea"/>
                <a:cs typeface="+mn-cs"/>
              </a:rPr>
              <a:t>="100"</a:t>
            </a:r>
          </a:p>
          <a:p>
            <a:r>
              <a:rPr lang="en-US" sz="1200" kern="1200" dirty="0" smtClean="0">
                <a:solidFill>
                  <a:schemeClr val="tx1"/>
                </a:solidFill>
                <a:latin typeface="+mn-lt"/>
                <a:ea typeface="+mn-ea"/>
                <a:cs typeface="+mn-cs"/>
              </a:rPr>
              <a:t>                   </a:t>
            </a:r>
            <a:r>
              <a:rPr lang="en-US" sz="1200" kern="1200" dirty="0" err="1" smtClean="0">
                <a:solidFill>
                  <a:schemeClr val="tx1"/>
                </a:solidFill>
                <a:latin typeface="+mn-lt"/>
                <a:ea typeface="+mn-ea"/>
                <a:cs typeface="+mn-cs"/>
              </a:rPr>
              <a:t>CornerRadius</a:t>
            </a:r>
            <a:r>
              <a:rPr lang="en-US" sz="1200" kern="1200" dirty="0" smtClean="0">
                <a:solidFill>
                  <a:schemeClr val="tx1"/>
                </a:solidFill>
                <a:latin typeface="+mn-lt"/>
                <a:ea typeface="+mn-ea"/>
                <a:cs typeface="+mn-cs"/>
              </a:rPr>
              <a:t>="10"</a:t>
            </a:r>
          </a:p>
          <a:p>
            <a:r>
              <a:rPr lang="en-US" sz="1200" kern="1200" dirty="0" smtClean="0">
                <a:solidFill>
                  <a:schemeClr val="tx1"/>
                </a:solidFill>
                <a:latin typeface="+mn-lt"/>
                <a:ea typeface="+mn-ea"/>
                <a:cs typeface="+mn-cs"/>
              </a:rPr>
              <a:t>                   Margin="5"</a:t>
            </a:r>
          </a:p>
          <a:p>
            <a:r>
              <a:rPr lang="en-US" sz="1200" kern="1200" dirty="0" smtClean="0">
                <a:solidFill>
                  <a:schemeClr val="tx1"/>
                </a:solidFill>
                <a:latin typeface="+mn-lt"/>
                <a:ea typeface="+mn-ea"/>
                <a:cs typeface="+mn-cs"/>
              </a:rPr>
              <a:t>                   </a:t>
            </a:r>
            <a:r>
              <a:rPr lang="en-US" sz="1200" kern="1200" dirty="0" err="1" smtClean="0">
                <a:solidFill>
                  <a:schemeClr val="tx1"/>
                </a:solidFill>
                <a:latin typeface="+mn-lt"/>
                <a:ea typeface="+mn-ea"/>
                <a:cs typeface="+mn-cs"/>
              </a:rPr>
              <a:t>HasShadow</a:t>
            </a:r>
            <a:r>
              <a:rPr lang="en-US" sz="1200" kern="1200" dirty="0" smtClean="0">
                <a:solidFill>
                  <a:schemeClr val="tx1"/>
                </a:solidFill>
                <a:latin typeface="+mn-lt"/>
                <a:ea typeface="+mn-ea"/>
                <a:cs typeface="+mn-cs"/>
              </a:rPr>
              <a:t>="True"&gt;</a:t>
            </a:r>
          </a:p>
          <a:p>
            <a:r>
              <a:rPr lang="en-US" sz="1200" kern="1200" dirty="0" smtClean="0">
                <a:solidFill>
                  <a:schemeClr val="tx1"/>
                </a:solidFill>
                <a:latin typeface="+mn-lt"/>
                <a:ea typeface="+mn-ea"/>
                <a:cs typeface="+mn-cs"/>
              </a:rPr>
              <a:t>                            &lt;Label Text="{Binding Name}"</a:t>
            </a:r>
          </a:p>
          <a:p>
            <a:r>
              <a:rPr lang="en-US" sz="1200" kern="1200" dirty="0" smtClean="0">
                <a:solidFill>
                  <a:schemeClr val="tx1"/>
                </a:solidFill>
                <a:latin typeface="+mn-lt"/>
                <a:ea typeface="+mn-ea"/>
                <a:cs typeface="+mn-cs"/>
              </a:rPr>
              <a:t>                       </a:t>
            </a:r>
            <a:r>
              <a:rPr lang="en-US" sz="1200" kern="1200" dirty="0" err="1" smtClean="0">
                <a:solidFill>
                  <a:schemeClr val="tx1"/>
                </a:solidFill>
                <a:latin typeface="+mn-lt"/>
                <a:ea typeface="+mn-ea"/>
                <a:cs typeface="+mn-cs"/>
              </a:rPr>
              <a:t>TextColor</a:t>
            </a:r>
            <a:r>
              <a:rPr lang="en-US" sz="1200" kern="1200" dirty="0" smtClean="0">
                <a:solidFill>
                  <a:schemeClr val="tx1"/>
                </a:solidFill>
                <a:latin typeface="+mn-lt"/>
                <a:ea typeface="+mn-ea"/>
                <a:cs typeface="+mn-cs"/>
              </a:rPr>
              <a:t>="White"</a:t>
            </a:r>
          </a:p>
          <a:p>
            <a:r>
              <a:rPr lang="en-US" sz="1200" kern="1200" dirty="0" smtClean="0">
                <a:solidFill>
                  <a:schemeClr val="tx1"/>
                </a:solidFill>
                <a:latin typeface="+mn-lt"/>
                <a:ea typeface="+mn-ea"/>
                <a:cs typeface="+mn-cs"/>
              </a:rPr>
              <a:t>                       </a:t>
            </a:r>
            <a:r>
              <a:rPr lang="en-US" sz="1200" kern="1200" dirty="0" err="1" smtClean="0">
                <a:solidFill>
                  <a:schemeClr val="tx1"/>
                </a:solidFill>
                <a:latin typeface="+mn-lt"/>
                <a:ea typeface="+mn-ea"/>
                <a:cs typeface="+mn-cs"/>
              </a:rPr>
              <a:t>HorizontalOptions</a:t>
            </a:r>
            <a:r>
              <a:rPr lang="en-US" sz="1200" kern="1200" dirty="0" smtClean="0">
                <a:solidFill>
                  <a:schemeClr val="tx1"/>
                </a:solidFill>
                <a:latin typeface="+mn-lt"/>
                <a:ea typeface="+mn-ea"/>
                <a:cs typeface="+mn-cs"/>
              </a:rPr>
              <a:t>="Center"</a:t>
            </a:r>
          </a:p>
          <a:p>
            <a:r>
              <a:rPr lang="en-US" sz="1200" kern="1200" dirty="0" smtClean="0">
                <a:solidFill>
                  <a:schemeClr val="tx1"/>
                </a:solidFill>
                <a:latin typeface="+mn-lt"/>
                <a:ea typeface="+mn-ea"/>
                <a:cs typeface="+mn-cs"/>
              </a:rPr>
              <a:t>                       </a:t>
            </a:r>
            <a:r>
              <a:rPr lang="en-US" sz="1200" kern="1200" dirty="0" err="1" smtClean="0">
                <a:solidFill>
                  <a:schemeClr val="tx1"/>
                </a:solidFill>
                <a:latin typeface="+mn-lt"/>
                <a:ea typeface="+mn-ea"/>
                <a:cs typeface="+mn-cs"/>
              </a:rPr>
              <a:t>VerticalOptions</a:t>
            </a:r>
            <a:r>
              <a:rPr lang="en-US" sz="1200" kern="1200" dirty="0" smtClean="0">
                <a:solidFill>
                  <a:schemeClr val="tx1"/>
                </a:solidFill>
                <a:latin typeface="+mn-lt"/>
                <a:ea typeface="+mn-ea"/>
                <a:cs typeface="+mn-cs"/>
              </a:rPr>
              <a:t>="Center"/&gt;</a:t>
            </a:r>
          </a:p>
          <a:p>
            <a:r>
              <a:rPr lang="en-US" sz="1200" kern="1200" dirty="0" smtClean="0">
                <a:solidFill>
                  <a:schemeClr val="tx1"/>
                </a:solidFill>
                <a:latin typeface="+mn-lt"/>
                <a:ea typeface="+mn-ea"/>
                <a:cs typeface="+mn-cs"/>
              </a:rPr>
              <a:t>                        &lt;/Frame&gt;</a:t>
            </a:r>
          </a:p>
          <a:p>
            <a:r>
              <a:rPr lang="en-US" sz="1200" kern="1200" dirty="0" smtClean="0">
                <a:solidFill>
                  <a:schemeClr val="tx1"/>
                </a:solidFill>
                <a:latin typeface="+mn-lt"/>
                <a:ea typeface="+mn-ea"/>
                <a:cs typeface="+mn-cs"/>
              </a:rPr>
              <a:t>                    &lt;/</a:t>
            </a:r>
            <a:r>
              <a:rPr lang="en-US" sz="1200" kern="1200" dirty="0" err="1" smtClean="0">
                <a:solidFill>
                  <a:schemeClr val="tx1"/>
                </a:solidFill>
                <a:latin typeface="+mn-lt"/>
                <a:ea typeface="+mn-ea"/>
                <a:cs typeface="+mn-cs"/>
              </a:rPr>
              <a:t>DataTemplate</a:t>
            </a:r>
            <a:r>
              <a:rPr lang="en-US" sz="1200" kern="1200" dirty="0" smtClean="0">
                <a:solidFill>
                  <a:schemeClr val="tx1"/>
                </a:solidFill>
                <a:latin typeface="+mn-lt"/>
                <a:ea typeface="+mn-ea"/>
                <a:cs typeface="+mn-cs"/>
              </a:rPr>
              <a:t>&gt;</a:t>
            </a:r>
          </a:p>
          <a:p>
            <a:r>
              <a:rPr lang="en-US" sz="1200" kern="1200" dirty="0" smtClean="0">
                <a:solidFill>
                  <a:schemeClr val="tx1"/>
                </a:solidFill>
                <a:latin typeface="+mn-lt"/>
                <a:ea typeface="+mn-ea"/>
                <a:cs typeface="+mn-cs"/>
              </a:rPr>
              <a:t>                &lt;/</a:t>
            </a:r>
            <a:r>
              <a:rPr lang="en-US" sz="1200" kern="1200" dirty="0" err="1" smtClean="0">
                <a:solidFill>
                  <a:schemeClr val="tx1"/>
                </a:solidFill>
                <a:latin typeface="+mn-lt"/>
                <a:ea typeface="+mn-ea"/>
                <a:cs typeface="+mn-cs"/>
              </a:rPr>
              <a:t>BindableLayout.ItemTemplate</a:t>
            </a:r>
            <a:r>
              <a:rPr lang="en-US" sz="1200" kern="1200" dirty="0" smtClean="0">
                <a:solidFill>
                  <a:schemeClr val="tx1"/>
                </a:solidFill>
                <a:latin typeface="+mn-lt"/>
                <a:ea typeface="+mn-ea"/>
                <a:cs typeface="+mn-cs"/>
              </a:rPr>
              <a:t>&gt;</a:t>
            </a:r>
          </a:p>
          <a:p>
            <a:r>
              <a:rPr lang="en-US" sz="1200" kern="1200" dirty="0" smtClean="0">
                <a:solidFill>
                  <a:schemeClr val="tx1"/>
                </a:solidFill>
                <a:latin typeface="+mn-lt"/>
                <a:ea typeface="+mn-ea"/>
                <a:cs typeface="+mn-cs"/>
              </a:rPr>
              <a:t>            &lt;/</a:t>
            </a:r>
            <a:r>
              <a:rPr lang="en-US" sz="1200" kern="1200" dirty="0" err="1" smtClean="0">
                <a:solidFill>
                  <a:schemeClr val="tx1"/>
                </a:solidFill>
                <a:latin typeface="+mn-lt"/>
                <a:ea typeface="+mn-ea"/>
                <a:cs typeface="+mn-cs"/>
              </a:rPr>
              <a:t>FlexLayout</a:t>
            </a:r>
            <a:r>
              <a:rPr lang="en-US" sz="1200" kern="1200" dirty="0" smtClean="0">
                <a:solidFill>
                  <a:schemeClr val="tx1"/>
                </a:solidFill>
                <a:latin typeface="+mn-lt"/>
                <a:ea typeface="+mn-ea"/>
                <a:cs typeface="+mn-cs"/>
              </a:rPr>
              <a:t>&gt;</a:t>
            </a:r>
          </a:p>
          <a:p>
            <a:r>
              <a:rPr lang="en-US" sz="1200" kern="1200" dirty="0" smtClean="0">
                <a:solidFill>
                  <a:schemeClr val="tx1"/>
                </a:solidFill>
                <a:latin typeface="+mn-lt"/>
                <a:ea typeface="+mn-ea"/>
                <a:cs typeface="+mn-cs"/>
              </a:rPr>
              <a:t>        &lt;/</a:t>
            </a:r>
            <a:r>
              <a:rPr lang="en-US" sz="1200" kern="1200" dirty="0" err="1" smtClean="0">
                <a:solidFill>
                  <a:schemeClr val="tx1"/>
                </a:solidFill>
                <a:latin typeface="+mn-lt"/>
                <a:ea typeface="+mn-ea"/>
                <a:cs typeface="+mn-cs"/>
              </a:rPr>
              <a:t>ScrollView</a:t>
            </a:r>
            <a:r>
              <a:rPr lang="en-US" sz="1200" kern="1200" dirty="0" smtClean="0">
                <a:solidFill>
                  <a:schemeClr val="tx1"/>
                </a:solidFill>
                <a:latin typeface="+mn-lt"/>
                <a:ea typeface="+mn-ea"/>
                <a:cs typeface="+mn-cs"/>
              </a:rPr>
              <a:t>&gt;</a:t>
            </a:r>
          </a:p>
          <a:p>
            <a:r>
              <a:rPr lang="en-US" sz="1200" kern="1200" dirty="0" smtClean="0">
                <a:solidFill>
                  <a:schemeClr val="tx1"/>
                </a:solidFill>
                <a:latin typeface="+mn-lt"/>
                <a:ea typeface="+mn-ea"/>
                <a:cs typeface="+mn-cs"/>
              </a:rPr>
              <a:t>    &lt;/</a:t>
            </a:r>
            <a:r>
              <a:rPr lang="en-US" sz="1200" kern="1200" dirty="0" err="1" smtClean="0">
                <a:solidFill>
                  <a:schemeClr val="tx1"/>
                </a:solidFill>
                <a:latin typeface="+mn-lt"/>
                <a:ea typeface="+mn-ea"/>
                <a:cs typeface="+mn-cs"/>
              </a:rPr>
              <a:t>RefreshView</a:t>
            </a:r>
            <a:r>
              <a:rPr lang="en-US" sz="1200" kern="1200" dirty="0" smtClean="0">
                <a:solidFill>
                  <a:schemeClr val="tx1"/>
                </a:solidFill>
                <a:latin typeface="+mn-lt"/>
                <a:ea typeface="+mn-ea"/>
                <a:cs typeface="+mn-cs"/>
              </a:rPr>
              <a:t>&gt;</a:t>
            </a:r>
          </a:p>
          <a:p>
            <a:r>
              <a:rPr lang="en-US" sz="1200" kern="1200" dirty="0" smtClean="0">
                <a:solidFill>
                  <a:schemeClr val="tx1"/>
                </a:solidFill>
                <a:latin typeface="+mn-lt"/>
                <a:ea typeface="+mn-ea"/>
                <a:cs typeface="+mn-cs"/>
              </a:rPr>
              <a:t>&lt;/</a:t>
            </a:r>
            <a:r>
              <a:rPr lang="en-US" sz="1200" kern="1200" dirty="0" err="1" smtClean="0">
                <a:solidFill>
                  <a:schemeClr val="tx1"/>
                </a:solidFill>
                <a:latin typeface="+mn-lt"/>
                <a:ea typeface="+mn-ea"/>
                <a:cs typeface="+mn-cs"/>
              </a:rPr>
              <a:t>ContentPage</a:t>
            </a:r>
            <a:r>
              <a:rPr lang="en-US" sz="1200" kern="1200" dirty="0" smtClean="0">
                <a:solidFill>
                  <a:schemeClr val="tx1"/>
                </a:solidFill>
                <a:latin typeface="+mn-lt"/>
                <a:ea typeface="+mn-ea"/>
                <a:cs typeface="+mn-cs"/>
              </a:rPr>
              <a:t>&gt;</a:t>
            </a:r>
            <a:br>
              <a:rPr lang="en-US" sz="1200" kern="1200" dirty="0" smtClean="0">
                <a:solidFill>
                  <a:schemeClr val="tx1"/>
                </a:solidFill>
                <a:latin typeface="+mn-lt"/>
                <a:ea typeface="+mn-ea"/>
                <a:cs typeface="+mn-cs"/>
              </a:rPr>
            </a:br>
            <a:r>
              <a:rPr lang="en-US" sz="1200" kern="1200" dirty="0" smtClean="0">
                <a:solidFill>
                  <a:schemeClr val="tx1"/>
                </a:solidFill>
                <a:latin typeface="+mn-lt"/>
                <a:ea typeface="+mn-ea"/>
                <a:cs typeface="+mn-cs"/>
              </a:rPr>
              <a:t/>
            </a:r>
            <a:br>
              <a:rPr lang="en-US" sz="1200" kern="1200" dirty="0" smtClean="0">
                <a:solidFill>
                  <a:schemeClr val="tx1"/>
                </a:solidFill>
                <a:latin typeface="+mn-lt"/>
                <a:ea typeface="+mn-ea"/>
                <a:cs typeface="+mn-cs"/>
              </a:rPr>
            </a:br>
            <a:r>
              <a:rPr lang="en-US" b="1" dirty="0" err="1" smtClean="0"/>
              <a:t>Fichier</a:t>
            </a:r>
            <a:r>
              <a:rPr lang="en-US" b="1" dirty="0" smtClean="0"/>
              <a:t> </a:t>
            </a:r>
            <a:r>
              <a:rPr lang="en-US" b="1" dirty="0" err="1" smtClean="0"/>
              <a:t>ViewModel</a:t>
            </a:r>
            <a:r>
              <a:rPr lang="en-US" b="1" dirty="0" smtClean="0"/>
              <a:t> (</a:t>
            </a:r>
            <a:r>
              <a:rPr lang="en-US" b="1" dirty="0" err="1" smtClean="0"/>
              <a:t>RefreshDemoViewModel.cs</a:t>
            </a:r>
            <a:r>
              <a:rPr lang="en-US" b="1" dirty="0" smtClean="0"/>
              <a:t>):</a:t>
            </a:r>
          </a:p>
          <a:p>
            <a:endParaRPr lang="en-US" b="1" baseline="0" dirty="0" smtClean="0"/>
          </a:p>
          <a:p>
            <a:r>
              <a:rPr lang="en-US" sz="1200" kern="1200" dirty="0" smtClean="0">
                <a:solidFill>
                  <a:schemeClr val="tx1"/>
                </a:solidFill>
                <a:latin typeface="+mn-lt"/>
                <a:ea typeface="+mn-ea"/>
                <a:cs typeface="+mn-cs"/>
              </a:rPr>
              <a:t>using </a:t>
            </a:r>
            <a:r>
              <a:rPr lang="en-US" sz="1200" kern="1200" dirty="0" err="1" smtClean="0">
                <a:solidFill>
                  <a:schemeClr val="tx1"/>
                </a:solidFill>
                <a:latin typeface="+mn-lt"/>
                <a:ea typeface="+mn-ea"/>
                <a:cs typeface="+mn-cs"/>
              </a:rPr>
              <a:t>System.Collections.ObjectModel</a:t>
            </a:r>
            <a:r>
              <a:rPr lang="en-US" sz="1200" kern="1200" dirty="0" smtClean="0">
                <a:solidFill>
                  <a:schemeClr val="tx1"/>
                </a:solidFill>
                <a:latin typeface="+mn-lt"/>
                <a:ea typeface="+mn-ea"/>
                <a:cs typeface="+mn-cs"/>
              </a:rPr>
              <a:t>;</a:t>
            </a:r>
          </a:p>
          <a:p>
            <a:r>
              <a:rPr lang="en-US" sz="1200" kern="1200" dirty="0" smtClean="0">
                <a:solidFill>
                  <a:schemeClr val="tx1"/>
                </a:solidFill>
                <a:latin typeface="+mn-lt"/>
                <a:ea typeface="+mn-ea"/>
                <a:cs typeface="+mn-cs"/>
              </a:rPr>
              <a:t>using </a:t>
            </a:r>
            <a:r>
              <a:rPr lang="en-US" sz="1200" kern="1200" dirty="0" err="1" smtClean="0">
                <a:solidFill>
                  <a:schemeClr val="tx1"/>
                </a:solidFill>
                <a:latin typeface="+mn-lt"/>
                <a:ea typeface="+mn-ea"/>
                <a:cs typeface="+mn-cs"/>
              </a:rPr>
              <a:t>System.Threading.Tasks</a:t>
            </a:r>
            <a:r>
              <a:rPr lang="en-US" sz="1200" kern="1200" dirty="0" smtClean="0">
                <a:solidFill>
                  <a:schemeClr val="tx1"/>
                </a:solidFill>
                <a:latin typeface="+mn-lt"/>
                <a:ea typeface="+mn-ea"/>
                <a:cs typeface="+mn-cs"/>
              </a:rPr>
              <a:t>;</a:t>
            </a:r>
          </a:p>
          <a:p>
            <a:r>
              <a:rPr lang="en-US" sz="1200" kern="1200" dirty="0" smtClean="0">
                <a:solidFill>
                  <a:schemeClr val="tx1"/>
                </a:solidFill>
                <a:latin typeface="+mn-lt"/>
                <a:ea typeface="+mn-ea"/>
                <a:cs typeface="+mn-cs"/>
              </a:rPr>
              <a:t>using </a:t>
            </a:r>
            <a:r>
              <a:rPr lang="en-US" sz="1200" kern="1200" dirty="0" err="1" smtClean="0">
                <a:solidFill>
                  <a:schemeClr val="tx1"/>
                </a:solidFill>
                <a:latin typeface="+mn-lt"/>
                <a:ea typeface="+mn-ea"/>
                <a:cs typeface="+mn-cs"/>
              </a:rPr>
              <a:t>System.Windows.Input</a:t>
            </a:r>
            <a:r>
              <a:rPr lang="en-US" sz="1200" kern="1200" dirty="0" smtClean="0">
                <a:solidFill>
                  <a:schemeClr val="tx1"/>
                </a:solidFill>
                <a:latin typeface="+mn-lt"/>
                <a:ea typeface="+mn-ea"/>
                <a:cs typeface="+mn-cs"/>
              </a:rPr>
              <a:t>;</a:t>
            </a:r>
          </a:p>
          <a:p>
            <a:r>
              <a:rPr lang="en-US" sz="1200" kern="1200" dirty="0" smtClean="0">
                <a:solidFill>
                  <a:schemeClr val="tx1"/>
                </a:solidFill>
                <a:latin typeface="+mn-lt"/>
                <a:ea typeface="+mn-ea"/>
                <a:cs typeface="+mn-cs"/>
              </a:rPr>
              <a:t>using </a:t>
            </a:r>
            <a:r>
              <a:rPr lang="en-US" sz="1200" kern="1200" dirty="0" err="1" smtClean="0">
                <a:solidFill>
                  <a:schemeClr val="tx1"/>
                </a:solidFill>
                <a:latin typeface="+mn-lt"/>
                <a:ea typeface="+mn-ea"/>
                <a:cs typeface="+mn-cs"/>
              </a:rPr>
              <a:t>Microsoft.Maui.Controls</a:t>
            </a:r>
            <a:r>
              <a:rPr lang="en-US" sz="1200" kern="1200" dirty="0" smtClean="0">
                <a:solidFill>
                  <a:schemeClr val="tx1"/>
                </a:solidFill>
                <a:latin typeface="+mn-lt"/>
                <a:ea typeface="+mn-ea"/>
                <a:cs typeface="+mn-cs"/>
              </a:rPr>
              <a:t>;</a:t>
            </a:r>
          </a:p>
          <a:p>
            <a:r>
              <a:rPr lang="en-US" sz="1200" kern="1200" dirty="0" smtClean="0">
                <a:solidFill>
                  <a:schemeClr val="tx1"/>
                </a:solidFill>
                <a:latin typeface="+mn-lt"/>
                <a:ea typeface="+mn-ea"/>
                <a:cs typeface="+mn-cs"/>
              </a:rPr>
              <a:t>using System;</a:t>
            </a:r>
          </a:p>
          <a:p>
            <a:endParaRPr lang="en-US" sz="1200" kern="1200" dirty="0" smtClean="0">
              <a:solidFill>
                <a:schemeClr val="tx1"/>
              </a:solidFill>
              <a:latin typeface="+mn-lt"/>
              <a:ea typeface="+mn-ea"/>
              <a:cs typeface="+mn-cs"/>
            </a:endParaRPr>
          </a:p>
          <a:p>
            <a:r>
              <a:rPr lang="en-US" sz="1200" kern="1200" dirty="0" smtClean="0">
                <a:solidFill>
                  <a:schemeClr val="tx1"/>
                </a:solidFill>
                <a:latin typeface="+mn-lt"/>
                <a:ea typeface="+mn-ea"/>
                <a:cs typeface="+mn-cs"/>
              </a:rPr>
              <a:t>namespace </a:t>
            </a:r>
            <a:r>
              <a:rPr lang="en-US" sz="1200" kern="1200" dirty="0" err="1" smtClean="0">
                <a:solidFill>
                  <a:schemeClr val="tx1"/>
                </a:solidFill>
                <a:latin typeface="+mn-lt"/>
                <a:ea typeface="+mn-ea"/>
                <a:cs typeface="+mn-cs"/>
              </a:rPr>
              <a:t>TonNamespace</a:t>
            </a:r>
            <a:endParaRPr lang="en-US" sz="1200" kern="1200" dirty="0" smtClean="0">
              <a:solidFill>
                <a:schemeClr val="tx1"/>
              </a:solidFill>
              <a:latin typeface="+mn-lt"/>
              <a:ea typeface="+mn-ea"/>
              <a:cs typeface="+mn-cs"/>
            </a:endParaRPr>
          </a:p>
          <a:p>
            <a:r>
              <a:rPr lang="en-US" sz="1200" kern="1200" dirty="0" smtClean="0">
                <a:solidFill>
                  <a:schemeClr val="tx1"/>
                </a:solidFill>
                <a:latin typeface="+mn-lt"/>
                <a:ea typeface="+mn-ea"/>
                <a:cs typeface="+mn-cs"/>
              </a:rPr>
              <a:t>{</a:t>
            </a:r>
          </a:p>
          <a:p>
            <a:r>
              <a:rPr lang="en-US" sz="1200" kern="1200" dirty="0" smtClean="0">
                <a:solidFill>
                  <a:schemeClr val="tx1"/>
                </a:solidFill>
                <a:latin typeface="+mn-lt"/>
                <a:ea typeface="+mn-ea"/>
                <a:cs typeface="+mn-cs"/>
              </a:rPr>
              <a:t>    public class </a:t>
            </a:r>
            <a:r>
              <a:rPr lang="en-US" sz="1200" kern="1200" dirty="0" err="1" smtClean="0">
                <a:solidFill>
                  <a:schemeClr val="tx1"/>
                </a:solidFill>
                <a:latin typeface="+mn-lt"/>
                <a:ea typeface="+mn-ea"/>
                <a:cs typeface="+mn-cs"/>
              </a:rPr>
              <a:t>ColorItem</a:t>
            </a:r>
            <a:endParaRPr lang="en-US" sz="1200" kern="1200" dirty="0" smtClean="0">
              <a:solidFill>
                <a:schemeClr val="tx1"/>
              </a:solidFill>
              <a:latin typeface="+mn-lt"/>
              <a:ea typeface="+mn-ea"/>
              <a:cs typeface="+mn-cs"/>
            </a:endParaRPr>
          </a:p>
          <a:p>
            <a:r>
              <a:rPr lang="en-US" sz="1200" kern="1200" dirty="0" smtClean="0">
                <a:solidFill>
                  <a:schemeClr val="tx1"/>
                </a:solidFill>
                <a:latin typeface="+mn-lt"/>
                <a:ea typeface="+mn-ea"/>
                <a:cs typeface="+mn-cs"/>
              </a:rPr>
              <a:t>    {</a:t>
            </a:r>
          </a:p>
          <a:p>
            <a:r>
              <a:rPr lang="en-US" sz="1200" kern="1200" dirty="0" smtClean="0">
                <a:solidFill>
                  <a:schemeClr val="tx1"/>
                </a:solidFill>
                <a:latin typeface="+mn-lt"/>
                <a:ea typeface="+mn-ea"/>
                <a:cs typeface="+mn-cs"/>
              </a:rPr>
              <a:t>        public string Name { get; set; }</a:t>
            </a:r>
          </a:p>
          <a:p>
            <a:r>
              <a:rPr lang="en-US" sz="1200" kern="1200" dirty="0" smtClean="0">
                <a:solidFill>
                  <a:schemeClr val="tx1"/>
                </a:solidFill>
                <a:latin typeface="+mn-lt"/>
                <a:ea typeface="+mn-ea"/>
                <a:cs typeface="+mn-cs"/>
              </a:rPr>
              <a:t>        public Color </a:t>
            </a:r>
            <a:r>
              <a:rPr lang="en-US" sz="1200" kern="1200" dirty="0" err="1" smtClean="0">
                <a:solidFill>
                  <a:schemeClr val="tx1"/>
                </a:solidFill>
                <a:latin typeface="+mn-lt"/>
                <a:ea typeface="+mn-ea"/>
                <a:cs typeface="+mn-cs"/>
              </a:rPr>
              <a:t>Color</a:t>
            </a:r>
            <a:r>
              <a:rPr lang="en-US" sz="1200" kern="1200" dirty="0" smtClean="0">
                <a:solidFill>
                  <a:schemeClr val="tx1"/>
                </a:solidFill>
                <a:latin typeface="+mn-lt"/>
                <a:ea typeface="+mn-ea"/>
                <a:cs typeface="+mn-cs"/>
              </a:rPr>
              <a:t> { get; set; }</a:t>
            </a:r>
          </a:p>
          <a:p>
            <a:r>
              <a:rPr lang="en-US" sz="1200" kern="1200" dirty="0" smtClean="0">
                <a:solidFill>
                  <a:schemeClr val="tx1"/>
                </a:solidFill>
                <a:latin typeface="+mn-lt"/>
                <a:ea typeface="+mn-ea"/>
                <a:cs typeface="+mn-cs"/>
              </a:rPr>
              <a:t>    }</a:t>
            </a:r>
          </a:p>
          <a:p>
            <a:endParaRPr lang="en-US" sz="1200" kern="1200" dirty="0" smtClean="0">
              <a:solidFill>
                <a:schemeClr val="tx1"/>
              </a:solidFill>
              <a:latin typeface="+mn-lt"/>
              <a:ea typeface="+mn-ea"/>
              <a:cs typeface="+mn-cs"/>
            </a:endParaRPr>
          </a:p>
          <a:p>
            <a:r>
              <a:rPr lang="en-US" sz="1200" kern="1200" dirty="0" smtClean="0">
                <a:solidFill>
                  <a:schemeClr val="tx1"/>
                </a:solidFill>
                <a:latin typeface="+mn-lt"/>
                <a:ea typeface="+mn-ea"/>
                <a:cs typeface="+mn-cs"/>
              </a:rPr>
              <a:t>    public class </a:t>
            </a:r>
            <a:r>
              <a:rPr lang="en-US" sz="1200" kern="1200" dirty="0" err="1" smtClean="0">
                <a:solidFill>
                  <a:schemeClr val="tx1"/>
                </a:solidFill>
                <a:latin typeface="+mn-lt"/>
                <a:ea typeface="+mn-ea"/>
                <a:cs typeface="+mn-cs"/>
              </a:rPr>
              <a:t>RefreshDemoViewModel</a:t>
            </a:r>
            <a:r>
              <a:rPr lang="en-US" sz="1200" kern="1200" dirty="0" smtClean="0">
                <a:solidFill>
                  <a:schemeClr val="tx1"/>
                </a:solidFill>
                <a:latin typeface="+mn-lt"/>
                <a:ea typeface="+mn-ea"/>
                <a:cs typeface="+mn-cs"/>
              </a:rPr>
              <a:t> : </a:t>
            </a:r>
            <a:r>
              <a:rPr lang="en-US" sz="1200" kern="1200" dirty="0" err="1" smtClean="0">
                <a:solidFill>
                  <a:schemeClr val="tx1"/>
                </a:solidFill>
                <a:latin typeface="+mn-lt"/>
                <a:ea typeface="+mn-ea"/>
                <a:cs typeface="+mn-cs"/>
              </a:rPr>
              <a:t>BindableObject</a:t>
            </a:r>
            <a:endParaRPr lang="en-US" sz="1200" kern="1200" dirty="0" smtClean="0">
              <a:solidFill>
                <a:schemeClr val="tx1"/>
              </a:solidFill>
              <a:latin typeface="+mn-lt"/>
              <a:ea typeface="+mn-ea"/>
              <a:cs typeface="+mn-cs"/>
            </a:endParaRPr>
          </a:p>
          <a:p>
            <a:r>
              <a:rPr lang="en-US" sz="1200" kern="1200" dirty="0" smtClean="0">
                <a:solidFill>
                  <a:schemeClr val="tx1"/>
                </a:solidFill>
                <a:latin typeface="+mn-lt"/>
                <a:ea typeface="+mn-ea"/>
                <a:cs typeface="+mn-cs"/>
              </a:rPr>
              <a:t>    {</a:t>
            </a:r>
          </a:p>
          <a:p>
            <a:r>
              <a:rPr lang="en-US" sz="1200" kern="1200" dirty="0" smtClean="0">
                <a:solidFill>
                  <a:schemeClr val="tx1"/>
                </a:solidFill>
                <a:latin typeface="+mn-lt"/>
                <a:ea typeface="+mn-ea"/>
                <a:cs typeface="+mn-cs"/>
              </a:rPr>
              <a:t>        public </a:t>
            </a:r>
            <a:r>
              <a:rPr lang="en-US" sz="1200" kern="1200" dirty="0" err="1" smtClean="0">
                <a:solidFill>
                  <a:schemeClr val="tx1"/>
                </a:solidFill>
                <a:latin typeface="+mn-lt"/>
                <a:ea typeface="+mn-ea"/>
                <a:cs typeface="+mn-cs"/>
              </a:rPr>
              <a:t>ObservableCollection</a:t>
            </a:r>
            <a:r>
              <a:rPr lang="en-US" sz="1200" kern="1200" dirty="0" smtClean="0">
                <a:solidFill>
                  <a:schemeClr val="tx1"/>
                </a:solidFill>
                <a:latin typeface="+mn-lt"/>
                <a:ea typeface="+mn-ea"/>
                <a:cs typeface="+mn-cs"/>
              </a:rPr>
              <a:t>&lt;</a:t>
            </a:r>
            <a:r>
              <a:rPr lang="en-US" sz="1200" kern="1200" dirty="0" err="1" smtClean="0">
                <a:solidFill>
                  <a:schemeClr val="tx1"/>
                </a:solidFill>
                <a:latin typeface="+mn-lt"/>
                <a:ea typeface="+mn-ea"/>
                <a:cs typeface="+mn-cs"/>
              </a:rPr>
              <a:t>ColorItem</a:t>
            </a:r>
            <a:r>
              <a:rPr lang="en-US" sz="1200" kern="1200" dirty="0" smtClean="0">
                <a:solidFill>
                  <a:schemeClr val="tx1"/>
                </a:solidFill>
                <a:latin typeface="+mn-lt"/>
                <a:ea typeface="+mn-ea"/>
                <a:cs typeface="+mn-cs"/>
              </a:rPr>
              <a:t>&gt; Items { get; set; }</a:t>
            </a:r>
          </a:p>
          <a:p>
            <a:r>
              <a:rPr lang="en-US" sz="1200" kern="1200" dirty="0" smtClean="0">
                <a:solidFill>
                  <a:schemeClr val="tx1"/>
                </a:solidFill>
                <a:latin typeface="+mn-lt"/>
                <a:ea typeface="+mn-ea"/>
                <a:cs typeface="+mn-cs"/>
              </a:rPr>
              <a:t>        public </a:t>
            </a:r>
            <a:r>
              <a:rPr lang="en-US" sz="1200" kern="1200" dirty="0" err="1" smtClean="0">
                <a:solidFill>
                  <a:schemeClr val="tx1"/>
                </a:solidFill>
                <a:latin typeface="+mn-lt"/>
                <a:ea typeface="+mn-ea"/>
                <a:cs typeface="+mn-cs"/>
              </a:rPr>
              <a:t>ICommand</a:t>
            </a:r>
            <a:r>
              <a:rPr lang="en-US" sz="1200" kern="1200" dirty="0" smtClean="0">
                <a:solidFill>
                  <a:schemeClr val="tx1"/>
                </a:solidFill>
                <a:latin typeface="+mn-lt"/>
                <a:ea typeface="+mn-ea"/>
                <a:cs typeface="+mn-cs"/>
              </a:rPr>
              <a:t> </a:t>
            </a:r>
            <a:r>
              <a:rPr lang="en-US" sz="1200" kern="1200" dirty="0" err="1" smtClean="0">
                <a:solidFill>
                  <a:schemeClr val="tx1"/>
                </a:solidFill>
                <a:latin typeface="+mn-lt"/>
                <a:ea typeface="+mn-ea"/>
                <a:cs typeface="+mn-cs"/>
              </a:rPr>
              <a:t>RefreshCommand</a:t>
            </a:r>
            <a:r>
              <a:rPr lang="en-US" sz="1200" kern="1200" dirty="0" smtClean="0">
                <a:solidFill>
                  <a:schemeClr val="tx1"/>
                </a:solidFill>
                <a:latin typeface="+mn-lt"/>
                <a:ea typeface="+mn-ea"/>
                <a:cs typeface="+mn-cs"/>
              </a:rPr>
              <a:t> { get; }</a:t>
            </a:r>
          </a:p>
          <a:p>
            <a:r>
              <a:rPr lang="en-US" sz="1200" kern="1200" dirty="0" smtClean="0">
                <a:solidFill>
                  <a:schemeClr val="tx1"/>
                </a:solidFill>
                <a:latin typeface="+mn-lt"/>
                <a:ea typeface="+mn-ea"/>
                <a:cs typeface="+mn-cs"/>
              </a:rPr>
              <a:t>        private bool </a:t>
            </a:r>
            <a:r>
              <a:rPr lang="en-US" sz="1200" kern="1200" dirty="0" err="1" smtClean="0">
                <a:solidFill>
                  <a:schemeClr val="tx1"/>
                </a:solidFill>
                <a:latin typeface="+mn-lt"/>
                <a:ea typeface="+mn-ea"/>
                <a:cs typeface="+mn-cs"/>
              </a:rPr>
              <a:t>isRefreshing</a:t>
            </a:r>
            <a:r>
              <a:rPr lang="en-US" sz="1200" kern="1200" dirty="0" smtClean="0">
                <a:solidFill>
                  <a:schemeClr val="tx1"/>
                </a:solidFill>
                <a:latin typeface="+mn-lt"/>
                <a:ea typeface="+mn-ea"/>
                <a:cs typeface="+mn-cs"/>
              </a:rPr>
              <a:t>;</a:t>
            </a:r>
          </a:p>
          <a:p>
            <a:endParaRPr lang="en-US" sz="1200" kern="1200" dirty="0" smtClean="0">
              <a:solidFill>
                <a:schemeClr val="tx1"/>
              </a:solidFill>
              <a:latin typeface="+mn-lt"/>
              <a:ea typeface="+mn-ea"/>
              <a:cs typeface="+mn-cs"/>
            </a:endParaRPr>
          </a:p>
          <a:p>
            <a:r>
              <a:rPr lang="en-US" sz="1200" kern="1200" dirty="0" smtClean="0">
                <a:solidFill>
                  <a:schemeClr val="tx1"/>
                </a:solidFill>
                <a:latin typeface="+mn-lt"/>
                <a:ea typeface="+mn-ea"/>
                <a:cs typeface="+mn-cs"/>
              </a:rPr>
              <a:t>        public bool </a:t>
            </a:r>
            <a:r>
              <a:rPr lang="en-US" sz="1200" kern="1200" dirty="0" err="1" smtClean="0">
                <a:solidFill>
                  <a:schemeClr val="tx1"/>
                </a:solidFill>
                <a:latin typeface="+mn-lt"/>
                <a:ea typeface="+mn-ea"/>
                <a:cs typeface="+mn-cs"/>
              </a:rPr>
              <a:t>IsRefreshing</a:t>
            </a:r>
            <a:endParaRPr lang="en-US" sz="1200" kern="1200" dirty="0" smtClean="0">
              <a:solidFill>
                <a:schemeClr val="tx1"/>
              </a:solidFill>
              <a:latin typeface="+mn-lt"/>
              <a:ea typeface="+mn-ea"/>
              <a:cs typeface="+mn-cs"/>
            </a:endParaRPr>
          </a:p>
          <a:p>
            <a:r>
              <a:rPr lang="en-US" sz="1200" kern="1200" dirty="0" smtClean="0">
                <a:solidFill>
                  <a:schemeClr val="tx1"/>
                </a:solidFill>
                <a:latin typeface="+mn-lt"/>
                <a:ea typeface="+mn-ea"/>
                <a:cs typeface="+mn-cs"/>
              </a:rPr>
              <a:t>        {</a:t>
            </a:r>
          </a:p>
          <a:p>
            <a:r>
              <a:rPr lang="en-US" sz="1200" kern="1200" dirty="0" smtClean="0">
                <a:solidFill>
                  <a:schemeClr val="tx1"/>
                </a:solidFill>
                <a:latin typeface="+mn-lt"/>
                <a:ea typeface="+mn-ea"/>
                <a:cs typeface="+mn-cs"/>
              </a:rPr>
              <a:t>            get =&gt; </a:t>
            </a:r>
            <a:r>
              <a:rPr lang="en-US" sz="1200" kern="1200" dirty="0" err="1" smtClean="0">
                <a:solidFill>
                  <a:schemeClr val="tx1"/>
                </a:solidFill>
                <a:latin typeface="+mn-lt"/>
                <a:ea typeface="+mn-ea"/>
                <a:cs typeface="+mn-cs"/>
              </a:rPr>
              <a:t>isRefreshing</a:t>
            </a:r>
            <a:r>
              <a:rPr lang="en-US" sz="1200" kern="1200" dirty="0" smtClean="0">
                <a:solidFill>
                  <a:schemeClr val="tx1"/>
                </a:solidFill>
                <a:latin typeface="+mn-lt"/>
                <a:ea typeface="+mn-ea"/>
                <a:cs typeface="+mn-cs"/>
              </a:rPr>
              <a:t>;</a:t>
            </a:r>
          </a:p>
          <a:p>
            <a:r>
              <a:rPr lang="en-US" sz="1200" kern="1200" dirty="0" smtClean="0">
                <a:solidFill>
                  <a:schemeClr val="tx1"/>
                </a:solidFill>
                <a:latin typeface="+mn-lt"/>
                <a:ea typeface="+mn-ea"/>
                <a:cs typeface="+mn-cs"/>
              </a:rPr>
              <a:t>            set</a:t>
            </a:r>
          </a:p>
          <a:p>
            <a:r>
              <a:rPr lang="en-US" sz="1200" kern="1200" dirty="0" smtClean="0">
                <a:solidFill>
                  <a:schemeClr val="tx1"/>
                </a:solidFill>
                <a:latin typeface="+mn-lt"/>
                <a:ea typeface="+mn-ea"/>
                <a:cs typeface="+mn-cs"/>
              </a:rPr>
              <a:t>            {</a:t>
            </a:r>
          </a:p>
          <a:p>
            <a:r>
              <a:rPr lang="en-US" sz="1200" kern="1200" dirty="0" smtClean="0">
                <a:solidFill>
                  <a:schemeClr val="tx1"/>
                </a:solidFill>
                <a:latin typeface="+mn-lt"/>
                <a:ea typeface="+mn-ea"/>
                <a:cs typeface="+mn-cs"/>
              </a:rPr>
              <a:t>                </a:t>
            </a:r>
            <a:r>
              <a:rPr lang="en-US" sz="1200" kern="1200" dirty="0" err="1" smtClean="0">
                <a:solidFill>
                  <a:schemeClr val="tx1"/>
                </a:solidFill>
                <a:latin typeface="+mn-lt"/>
                <a:ea typeface="+mn-ea"/>
                <a:cs typeface="+mn-cs"/>
              </a:rPr>
              <a:t>isRefreshing</a:t>
            </a:r>
            <a:r>
              <a:rPr lang="en-US" sz="1200" kern="1200" dirty="0" smtClean="0">
                <a:solidFill>
                  <a:schemeClr val="tx1"/>
                </a:solidFill>
                <a:latin typeface="+mn-lt"/>
                <a:ea typeface="+mn-ea"/>
                <a:cs typeface="+mn-cs"/>
              </a:rPr>
              <a:t> = value;</a:t>
            </a:r>
          </a:p>
          <a:p>
            <a:r>
              <a:rPr lang="en-US" sz="1200" kern="1200" dirty="0" smtClean="0">
                <a:solidFill>
                  <a:schemeClr val="tx1"/>
                </a:solidFill>
                <a:latin typeface="+mn-lt"/>
                <a:ea typeface="+mn-ea"/>
                <a:cs typeface="+mn-cs"/>
              </a:rPr>
              <a:t>                </a:t>
            </a:r>
            <a:r>
              <a:rPr lang="en-US" sz="1200" kern="1200" dirty="0" err="1" smtClean="0">
                <a:solidFill>
                  <a:schemeClr val="tx1"/>
                </a:solidFill>
                <a:latin typeface="+mn-lt"/>
                <a:ea typeface="+mn-ea"/>
                <a:cs typeface="+mn-cs"/>
              </a:rPr>
              <a:t>OnPropertyChanged</a:t>
            </a:r>
            <a:r>
              <a:rPr lang="en-US" sz="1200" kern="1200" dirty="0" smtClean="0">
                <a:solidFill>
                  <a:schemeClr val="tx1"/>
                </a:solidFill>
                <a:latin typeface="+mn-lt"/>
                <a:ea typeface="+mn-ea"/>
                <a:cs typeface="+mn-cs"/>
              </a:rPr>
              <a:t>();</a:t>
            </a:r>
          </a:p>
          <a:p>
            <a:r>
              <a:rPr lang="en-US" sz="1200" kern="1200" dirty="0" smtClean="0">
                <a:solidFill>
                  <a:schemeClr val="tx1"/>
                </a:solidFill>
                <a:latin typeface="+mn-lt"/>
                <a:ea typeface="+mn-ea"/>
                <a:cs typeface="+mn-cs"/>
              </a:rPr>
              <a:t>            }</a:t>
            </a:r>
          </a:p>
          <a:p>
            <a:r>
              <a:rPr lang="en-US" sz="1200" kern="1200" dirty="0" smtClean="0">
                <a:solidFill>
                  <a:schemeClr val="tx1"/>
                </a:solidFill>
                <a:latin typeface="+mn-lt"/>
                <a:ea typeface="+mn-ea"/>
                <a:cs typeface="+mn-cs"/>
              </a:rPr>
              <a:t>        }</a:t>
            </a:r>
          </a:p>
          <a:p>
            <a:endParaRPr lang="en-US" sz="1200" kern="1200" dirty="0" smtClean="0">
              <a:solidFill>
                <a:schemeClr val="tx1"/>
              </a:solidFill>
              <a:latin typeface="+mn-lt"/>
              <a:ea typeface="+mn-ea"/>
              <a:cs typeface="+mn-cs"/>
            </a:endParaRPr>
          </a:p>
          <a:p>
            <a:r>
              <a:rPr lang="en-US" sz="1200" kern="1200" dirty="0" smtClean="0">
                <a:solidFill>
                  <a:schemeClr val="tx1"/>
                </a:solidFill>
                <a:latin typeface="+mn-lt"/>
                <a:ea typeface="+mn-ea"/>
                <a:cs typeface="+mn-cs"/>
              </a:rPr>
              <a:t>        public </a:t>
            </a:r>
            <a:r>
              <a:rPr lang="en-US" sz="1200" kern="1200" dirty="0" err="1" smtClean="0">
                <a:solidFill>
                  <a:schemeClr val="tx1"/>
                </a:solidFill>
                <a:latin typeface="+mn-lt"/>
                <a:ea typeface="+mn-ea"/>
                <a:cs typeface="+mn-cs"/>
              </a:rPr>
              <a:t>RefreshDemoViewModel</a:t>
            </a:r>
            <a:r>
              <a:rPr lang="en-US" sz="1200" kern="1200" dirty="0" smtClean="0">
                <a:solidFill>
                  <a:schemeClr val="tx1"/>
                </a:solidFill>
                <a:latin typeface="+mn-lt"/>
                <a:ea typeface="+mn-ea"/>
                <a:cs typeface="+mn-cs"/>
              </a:rPr>
              <a:t>()</a:t>
            </a:r>
          </a:p>
          <a:p>
            <a:r>
              <a:rPr lang="en-US" sz="1200" kern="1200" dirty="0" smtClean="0">
                <a:solidFill>
                  <a:schemeClr val="tx1"/>
                </a:solidFill>
                <a:latin typeface="+mn-lt"/>
                <a:ea typeface="+mn-ea"/>
                <a:cs typeface="+mn-cs"/>
              </a:rPr>
              <a:t>        {</a:t>
            </a:r>
          </a:p>
          <a:p>
            <a:r>
              <a:rPr lang="en-US" sz="1200" kern="1200" dirty="0" smtClean="0">
                <a:solidFill>
                  <a:schemeClr val="tx1"/>
                </a:solidFill>
                <a:latin typeface="+mn-lt"/>
                <a:ea typeface="+mn-ea"/>
                <a:cs typeface="+mn-cs"/>
              </a:rPr>
              <a:t>            Items = new </a:t>
            </a:r>
            <a:r>
              <a:rPr lang="en-US" sz="1200" kern="1200" dirty="0" err="1" smtClean="0">
                <a:solidFill>
                  <a:schemeClr val="tx1"/>
                </a:solidFill>
                <a:latin typeface="+mn-lt"/>
                <a:ea typeface="+mn-ea"/>
                <a:cs typeface="+mn-cs"/>
              </a:rPr>
              <a:t>ObservableCollection</a:t>
            </a:r>
            <a:r>
              <a:rPr lang="en-US" sz="1200" kern="1200" dirty="0" smtClean="0">
                <a:solidFill>
                  <a:schemeClr val="tx1"/>
                </a:solidFill>
                <a:latin typeface="+mn-lt"/>
                <a:ea typeface="+mn-ea"/>
                <a:cs typeface="+mn-cs"/>
              </a:rPr>
              <a:t>&lt;</a:t>
            </a:r>
            <a:r>
              <a:rPr lang="en-US" sz="1200" kern="1200" dirty="0" err="1" smtClean="0">
                <a:solidFill>
                  <a:schemeClr val="tx1"/>
                </a:solidFill>
                <a:latin typeface="+mn-lt"/>
                <a:ea typeface="+mn-ea"/>
                <a:cs typeface="+mn-cs"/>
              </a:rPr>
              <a:t>ColorItem</a:t>
            </a:r>
            <a:r>
              <a:rPr lang="en-US" sz="1200" kern="1200" dirty="0" smtClean="0">
                <a:solidFill>
                  <a:schemeClr val="tx1"/>
                </a:solidFill>
                <a:latin typeface="+mn-lt"/>
                <a:ea typeface="+mn-ea"/>
                <a:cs typeface="+mn-cs"/>
              </a:rPr>
              <a:t>&gt;();</a:t>
            </a:r>
          </a:p>
          <a:p>
            <a:r>
              <a:rPr lang="en-US" sz="1200" kern="1200" dirty="0" smtClean="0">
                <a:solidFill>
                  <a:schemeClr val="tx1"/>
                </a:solidFill>
                <a:latin typeface="+mn-lt"/>
                <a:ea typeface="+mn-ea"/>
                <a:cs typeface="+mn-cs"/>
              </a:rPr>
              <a:t>            </a:t>
            </a:r>
            <a:r>
              <a:rPr lang="en-US" sz="1200" kern="1200" dirty="0" err="1" smtClean="0">
                <a:solidFill>
                  <a:schemeClr val="tx1"/>
                </a:solidFill>
                <a:latin typeface="+mn-lt"/>
                <a:ea typeface="+mn-ea"/>
                <a:cs typeface="+mn-cs"/>
              </a:rPr>
              <a:t>LoadItems</a:t>
            </a:r>
            <a:r>
              <a:rPr lang="en-US" sz="1200" kern="1200" dirty="0" smtClean="0">
                <a:solidFill>
                  <a:schemeClr val="tx1"/>
                </a:solidFill>
                <a:latin typeface="+mn-lt"/>
                <a:ea typeface="+mn-ea"/>
                <a:cs typeface="+mn-cs"/>
              </a:rPr>
              <a:t>();</a:t>
            </a:r>
          </a:p>
          <a:p>
            <a:endParaRPr lang="en-US" sz="1200" kern="1200" dirty="0" smtClean="0">
              <a:solidFill>
                <a:schemeClr val="tx1"/>
              </a:solidFill>
              <a:latin typeface="+mn-lt"/>
              <a:ea typeface="+mn-ea"/>
              <a:cs typeface="+mn-cs"/>
            </a:endParaRPr>
          </a:p>
          <a:p>
            <a:r>
              <a:rPr lang="en-US" sz="1200" kern="1200" dirty="0" smtClean="0">
                <a:solidFill>
                  <a:schemeClr val="tx1"/>
                </a:solidFill>
                <a:latin typeface="+mn-lt"/>
                <a:ea typeface="+mn-ea"/>
                <a:cs typeface="+mn-cs"/>
              </a:rPr>
              <a:t>            </a:t>
            </a:r>
            <a:r>
              <a:rPr lang="en-US" sz="1200" kern="1200" dirty="0" err="1" smtClean="0">
                <a:solidFill>
                  <a:schemeClr val="tx1"/>
                </a:solidFill>
                <a:latin typeface="+mn-lt"/>
                <a:ea typeface="+mn-ea"/>
                <a:cs typeface="+mn-cs"/>
              </a:rPr>
              <a:t>RefreshCommand</a:t>
            </a:r>
            <a:r>
              <a:rPr lang="en-US" sz="1200" kern="1200" dirty="0" smtClean="0">
                <a:solidFill>
                  <a:schemeClr val="tx1"/>
                </a:solidFill>
                <a:latin typeface="+mn-lt"/>
                <a:ea typeface="+mn-ea"/>
                <a:cs typeface="+mn-cs"/>
              </a:rPr>
              <a:t> = new Command(</a:t>
            </a:r>
            <a:r>
              <a:rPr lang="en-US" sz="1200" kern="1200" dirty="0" err="1" smtClean="0">
                <a:solidFill>
                  <a:schemeClr val="tx1"/>
                </a:solidFill>
                <a:latin typeface="+mn-lt"/>
                <a:ea typeface="+mn-ea"/>
                <a:cs typeface="+mn-cs"/>
              </a:rPr>
              <a:t>async</a:t>
            </a:r>
            <a:r>
              <a:rPr lang="en-US" sz="1200" kern="1200" dirty="0" smtClean="0">
                <a:solidFill>
                  <a:schemeClr val="tx1"/>
                </a:solidFill>
                <a:latin typeface="+mn-lt"/>
                <a:ea typeface="+mn-ea"/>
                <a:cs typeface="+mn-cs"/>
              </a:rPr>
              <a:t> () =&gt; await </a:t>
            </a:r>
            <a:r>
              <a:rPr lang="en-US" sz="1200" kern="1200" dirty="0" err="1" smtClean="0">
                <a:solidFill>
                  <a:schemeClr val="tx1"/>
                </a:solidFill>
                <a:latin typeface="+mn-lt"/>
                <a:ea typeface="+mn-ea"/>
                <a:cs typeface="+mn-cs"/>
              </a:rPr>
              <a:t>RefreshAsync</a:t>
            </a:r>
            <a:r>
              <a:rPr lang="en-US" sz="1200" kern="1200" dirty="0" smtClean="0">
                <a:solidFill>
                  <a:schemeClr val="tx1"/>
                </a:solidFill>
                <a:latin typeface="+mn-lt"/>
                <a:ea typeface="+mn-ea"/>
                <a:cs typeface="+mn-cs"/>
              </a:rPr>
              <a:t>());</a:t>
            </a:r>
          </a:p>
          <a:p>
            <a:r>
              <a:rPr lang="en-US" sz="1200" kern="1200" dirty="0" smtClean="0">
                <a:solidFill>
                  <a:schemeClr val="tx1"/>
                </a:solidFill>
                <a:latin typeface="+mn-lt"/>
                <a:ea typeface="+mn-ea"/>
                <a:cs typeface="+mn-cs"/>
              </a:rPr>
              <a:t>        }</a:t>
            </a:r>
          </a:p>
          <a:p>
            <a:endParaRPr lang="en-US" sz="1200" kern="1200" dirty="0" smtClean="0">
              <a:solidFill>
                <a:schemeClr val="tx1"/>
              </a:solidFill>
              <a:latin typeface="+mn-lt"/>
              <a:ea typeface="+mn-ea"/>
              <a:cs typeface="+mn-cs"/>
            </a:endParaRPr>
          </a:p>
          <a:p>
            <a:r>
              <a:rPr lang="en-US" sz="1200" kern="1200" dirty="0" smtClean="0">
                <a:solidFill>
                  <a:schemeClr val="tx1"/>
                </a:solidFill>
                <a:latin typeface="+mn-lt"/>
                <a:ea typeface="+mn-ea"/>
                <a:cs typeface="+mn-cs"/>
              </a:rPr>
              <a:t>        private void </a:t>
            </a:r>
            <a:r>
              <a:rPr lang="en-US" sz="1200" kern="1200" dirty="0" err="1" smtClean="0">
                <a:solidFill>
                  <a:schemeClr val="tx1"/>
                </a:solidFill>
                <a:latin typeface="+mn-lt"/>
                <a:ea typeface="+mn-ea"/>
                <a:cs typeface="+mn-cs"/>
              </a:rPr>
              <a:t>LoadItems</a:t>
            </a:r>
            <a:r>
              <a:rPr lang="en-US" sz="1200" kern="1200" dirty="0" smtClean="0">
                <a:solidFill>
                  <a:schemeClr val="tx1"/>
                </a:solidFill>
                <a:latin typeface="+mn-lt"/>
                <a:ea typeface="+mn-ea"/>
                <a:cs typeface="+mn-cs"/>
              </a:rPr>
              <a:t>()</a:t>
            </a:r>
          </a:p>
          <a:p>
            <a:r>
              <a:rPr lang="en-US" sz="1200" kern="1200" dirty="0" smtClean="0">
                <a:solidFill>
                  <a:schemeClr val="tx1"/>
                </a:solidFill>
                <a:latin typeface="+mn-lt"/>
                <a:ea typeface="+mn-ea"/>
                <a:cs typeface="+mn-cs"/>
              </a:rPr>
              <a:t>        {</a:t>
            </a:r>
          </a:p>
          <a:p>
            <a:r>
              <a:rPr lang="en-US" sz="1200" kern="1200" dirty="0" smtClean="0">
                <a:solidFill>
                  <a:schemeClr val="tx1"/>
                </a:solidFill>
                <a:latin typeface="+mn-lt"/>
                <a:ea typeface="+mn-ea"/>
                <a:cs typeface="+mn-cs"/>
              </a:rPr>
              <a:t>            </a:t>
            </a:r>
            <a:r>
              <a:rPr lang="en-US" sz="1200" kern="1200" dirty="0" err="1" smtClean="0">
                <a:solidFill>
                  <a:schemeClr val="tx1"/>
                </a:solidFill>
                <a:latin typeface="+mn-lt"/>
                <a:ea typeface="+mn-ea"/>
                <a:cs typeface="+mn-cs"/>
              </a:rPr>
              <a:t>Items.Clear</a:t>
            </a:r>
            <a:r>
              <a:rPr lang="en-US" sz="1200" kern="1200" dirty="0" smtClean="0">
                <a:solidFill>
                  <a:schemeClr val="tx1"/>
                </a:solidFill>
                <a:latin typeface="+mn-lt"/>
                <a:ea typeface="+mn-ea"/>
                <a:cs typeface="+mn-cs"/>
              </a:rPr>
              <a:t>();</a:t>
            </a:r>
          </a:p>
          <a:p>
            <a:r>
              <a:rPr lang="en-US" sz="1200" kern="1200" dirty="0" smtClean="0">
                <a:solidFill>
                  <a:schemeClr val="tx1"/>
                </a:solidFill>
                <a:latin typeface="+mn-lt"/>
                <a:ea typeface="+mn-ea"/>
                <a:cs typeface="+mn-cs"/>
              </a:rPr>
              <a:t>            </a:t>
            </a:r>
            <a:r>
              <a:rPr lang="en-US" sz="1200" kern="1200" dirty="0" err="1" smtClean="0">
                <a:solidFill>
                  <a:schemeClr val="tx1"/>
                </a:solidFill>
                <a:latin typeface="+mn-lt"/>
                <a:ea typeface="+mn-ea"/>
                <a:cs typeface="+mn-cs"/>
              </a:rPr>
              <a:t>var</a:t>
            </a:r>
            <a:r>
              <a:rPr lang="en-US" sz="1200" kern="1200" dirty="0" smtClean="0">
                <a:solidFill>
                  <a:schemeClr val="tx1"/>
                </a:solidFill>
                <a:latin typeface="+mn-lt"/>
                <a:ea typeface="+mn-ea"/>
                <a:cs typeface="+mn-cs"/>
              </a:rPr>
              <a:t> </a:t>
            </a:r>
            <a:r>
              <a:rPr lang="en-US" sz="1200" kern="1200" dirty="0" err="1" smtClean="0">
                <a:solidFill>
                  <a:schemeClr val="tx1"/>
                </a:solidFill>
                <a:latin typeface="+mn-lt"/>
                <a:ea typeface="+mn-ea"/>
                <a:cs typeface="+mn-cs"/>
              </a:rPr>
              <a:t>rnd</a:t>
            </a:r>
            <a:r>
              <a:rPr lang="en-US" sz="1200" kern="1200" dirty="0" smtClean="0">
                <a:solidFill>
                  <a:schemeClr val="tx1"/>
                </a:solidFill>
                <a:latin typeface="+mn-lt"/>
                <a:ea typeface="+mn-ea"/>
                <a:cs typeface="+mn-cs"/>
              </a:rPr>
              <a:t> = new Random();</a:t>
            </a:r>
          </a:p>
          <a:p>
            <a:r>
              <a:rPr lang="nn-NO" sz="1200" kern="1200" dirty="0" smtClean="0">
                <a:solidFill>
                  <a:schemeClr val="tx1"/>
                </a:solidFill>
                <a:latin typeface="+mn-lt"/>
                <a:ea typeface="+mn-ea"/>
                <a:cs typeface="+mn-cs"/>
              </a:rPr>
              <a:t>            for (int i = 1; i &lt;= 12; i++)</a:t>
            </a:r>
          </a:p>
          <a:p>
            <a:r>
              <a:rPr lang="en-US" sz="1200" kern="1200" dirty="0" smtClean="0">
                <a:solidFill>
                  <a:schemeClr val="tx1"/>
                </a:solidFill>
                <a:latin typeface="+mn-lt"/>
                <a:ea typeface="+mn-ea"/>
                <a:cs typeface="+mn-cs"/>
              </a:rPr>
              <a:t>            {</a:t>
            </a:r>
          </a:p>
          <a:p>
            <a:r>
              <a:rPr lang="en-US" sz="1200" kern="1200" dirty="0" smtClean="0">
                <a:solidFill>
                  <a:schemeClr val="tx1"/>
                </a:solidFill>
                <a:latin typeface="+mn-lt"/>
                <a:ea typeface="+mn-ea"/>
                <a:cs typeface="+mn-cs"/>
              </a:rPr>
              <a:t>                </a:t>
            </a:r>
            <a:r>
              <a:rPr lang="en-US" sz="1200" kern="1200" dirty="0" err="1" smtClean="0">
                <a:solidFill>
                  <a:schemeClr val="tx1"/>
                </a:solidFill>
                <a:latin typeface="+mn-lt"/>
                <a:ea typeface="+mn-ea"/>
                <a:cs typeface="+mn-cs"/>
              </a:rPr>
              <a:t>Items.Add</a:t>
            </a:r>
            <a:r>
              <a:rPr lang="en-US" sz="1200" kern="1200" dirty="0" smtClean="0">
                <a:solidFill>
                  <a:schemeClr val="tx1"/>
                </a:solidFill>
                <a:latin typeface="+mn-lt"/>
                <a:ea typeface="+mn-ea"/>
                <a:cs typeface="+mn-cs"/>
              </a:rPr>
              <a:t>(new </a:t>
            </a:r>
            <a:r>
              <a:rPr lang="en-US" sz="1200" kern="1200" dirty="0" err="1" smtClean="0">
                <a:solidFill>
                  <a:schemeClr val="tx1"/>
                </a:solidFill>
                <a:latin typeface="+mn-lt"/>
                <a:ea typeface="+mn-ea"/>
                <a:cs typeface="+mn-cs"/>
              </a:rPr>
              <a:t>ColorItem</a:t>
            </a:r>
            <a:endParaRPr lang="en-US" sz="1200" kern="1200" dirty="0" smtClean="0">
              <a:solidFill>
                <a:schemeClr val="tx1"/>
              </a:solidFill>
              <a:latin typeface="+mn-lt"/>
              <a:ea typeface="+mn-ea"/>
              <a:cs typeface="+mn-cs"/>
            </a:endParaRPr>
          </a:p>
          <a:p>
            <a:r>
              <a:rPr lang="en-US" sz="1200" kern="1200" dirty="0" smtClean="0">
                <a:solidFill>
                  <a:schemeClr val="tx1"/>
                </a:solidFill>
                <a:latin typeface="+mn-lt"/>
                <a:ea typeface="+mn-ea"/>
                <a:cs typeface="+mn-cs"/>
              </a:rPr>
              <a:t>                {</a:t>
            </a:r>
          </a:p>
          <a:p>
            <a:r>
              <a:rPr lang="en-US" sz="1200" kern="1200" dirty="0" smtClean="0">
                <a:solidFill>
                  <a:schemeClr val="tx1"/>
                </a:solidFill>
                <a:latin typeface="+mn-lt"/>
                <a:ea typeface="+mn-ea"/>
                <a:cs typeface="+mn-cs"/>
              </a:rPr>
              <a:t>                    Name = $"Item {</a:t>
            </a:r>
            <a:r>
              <a:rPr lang="en-US" sz="1200" kern="1200" dirty="0" err="1" smtClean="0">
                <a:solidFill>
                  <a:schemeClr val="tx1"/>
                </a:solidFill>
                <a:latin typeface="+mn-lt"/>
                <a:ea typeface="+mn-ea"/>
                <a:cs typeface="+mn-cs"/>
              </a:rPr>
              <a:t>i</a:t>
            </a:r>
            <a:r>
              <a:rPr lang="en-US" sz="1200" kern="1200" dirty="0" smtClean="0">
                <a:solidFill>
                  <a:schemeClr val="tx1"/>
                </a:solidFill>
                <a:latin typeface="+mn-lt"/>
                <a:ea typeface="+mn-ea"/>
                <a:cs typeface="+mn-cs"/>
              </a:rPr>
              <a:t>}",</a:t>
            </a:r>
          </a:p>
          <a:p>
            <a:r>
              <a:rPr lang="en-US" sz="1200" kern="1200" dirty="0" smtClean="0">
                <a:solidFill>
                  <a:schemeClr val="tx1"/>
                </a:solidFill>
                <a:latin typeface="+mn-lt"/>
                <a:ea typeface="+mn-ea"/>
                <a:cs typeface="+mn-cs"/>
              </a:rPr>
              <a:t>                    Color = </a:t>
            </a:r>
            <a:r>
              <a:rPr lang="en-US" sz="1200" kern="1200" dirty="0" err="1" smtClean="0">
                <a:solidFill>
                  <a:schemeClr val="tx1"/>
                </a:solidFill>
                <a:latin typeface="+mn-lt"/>
                <a:ea typeface="+mn-ea"/>
                <a:cs typeface="+mn-cs"/>
              </a:rPr>
              <a:t>Color.FromRgb</a:t>
            </a:r>
            <a:r>
              <a:rPr lang="en-US" sz="1200" kern="1200" dirty="0" smtClean="0">
                <a:solidFill>
                  <a:schemeClr val="tx1"/>
                </a:solidFill>
                <a:latin typeface="+mn-lt"/>
                <a:ea typeface="+mn-ea"/>
                <a:cs typeface="+mn-cs"/>
              </a:rPr>
              <a:t>(</a:t>
            </a:r>
            <a:r>
              <a:rPr lang="en-US" sz="1200" kern="1200" dirty="0" err="1" smtClean="0">
                <a:solidFill>
                  <a:schemeClr val="tx1"/>
                </a:solidFill>
                <a:latin typeface="+mn-lt"/>
                <a:ea typeface="+mn-ea"/>
                <a:cs typeface="+mn-cs"/>
              </a:rPr>
              <a:t>rnd.Next</a:t>
            </a:r>
            <a:r>
              <a:rPr lang="en-US" sz="1200" kern="1200" dirty="0" smtClean="0">
                <a:solidFill>
                  <a:schemeClr val="tx1"/>
                </a:solidFill>
                <a:latin typeface="+mn-lt"/>
                <a:ea typeface="+mn-ea"/>
                <a:cs typeface="+mn-cs"/>
              </a:rPr>
              <a:t>(256), </a:t>
            </a:r>
            <a:r>
              <a:rPr lang="en-US" sz="1200" kern="1200" dirty="0" err="1" smtClean="0">
                <a:solidFill>
                  <a:schemeClr val="tx1"/>
                </a:solidFill>
                <a:latin typeface="+mn-lt"/>
                <a:ea typeface="+mn-ea"/>
                <a:cs typeface="+mn-cs"/>
              </a:rPr>
              <a:t>rnd.Next</a:t>
            </a:r>
            <a:r>
              <a:rPr lang="en-US" sz="1200" kern="1200" dirty="0" smtClean="0">
                <a:solidFill>
                  <a:schemeClr val="tx1"/>
                </a:solidFill>
                <a:latin typeface="+mn-lt"/>
                <a:ea typeface="+mn-ea"/>
                <a:cs typeface="+mn-cs"/>
              </a:rPr>
              <a:t>(256), </a:t>
            </a:r>
            <a:r>
              <a:rPr lang="en-US" sz="1200" kern="1200" dirty="0" err="1" smtClean="0">
                <a:solidFill>
                  <a:schemeClr val="tx1"/>
                </a:solidFill>
                <a:latin typeface="+mn-lt"/>
                <a:ea typeface="+mn-ea"/>
                <a:cs typeface="+mn-cs"/>
              </a:rPr>
              <a:t>rnd.Next</a:t>
            </a:r>
            <a:r>
              <a:rPr lang="en-US" sz="1200" kern="1200" dirty="0" smtClean="0">
                <a:solidFill>
                  <a:schemeClr val="tx1"/>
                </a:solidFill>
                <a:latin typeface="+mn-lt"/>
                <a:ea typeface="+mn-ea"/>
                <a:cs typeface="+mn-cs"/>
              </a:rPr>
              <a:t>(256))</a:t>
            </a:r>
          </a:p>
          <a:p>
            <a:r>
              <a:rPr lang="en-US" sz="1200" kern="1200" dirty="0" smtClean="0">
                <a:solidFill>
                  <a:schemeClr val="tx1"/>
                </a:solidFill>
                <a:latin typeface="+mn-lt"/>
                <a:ea typeface="+mn-ea"/>
                <a:cs typeface="+mn-cs"/>
              </a:rPr>
              <a:t>                });</a:t>
            </a:r>
          </a:p>
          <a:p>
            <a:r>
              <a:rPr lang="en-US" sz="1200" kern="1200" dirty="0" smtClean="0">
                <a:solidFill>
                  <a:schemeClr val="tx1"/>
                </a:solidFill>
                <a:latin typeface="+mn-lt"/>
                <a:ea typeface="+mn-ea"/>
                <a:cs typeface="+mn-cs"/>
              </a:rPr>
              <a:t>            }</a:t>
            </a:r>
          </a:p>
          <a:p>
            <a:r>
              <a:rPr lang="en-US" sz="1200" kern="1200" dirty="0" smtClean="0">
                <a:solidFill>
                  <a:schemeClr val="tx1"/>
                </a:solidFill>
                <a:latin typeface="+mn-lt"/>
                <a:ea typeface="+mn-ea"/>
                <a:cs typeface="+mn-cs"/>
              </a:rPr>
              <a:t>        }</a:t>
            </a:r>
          </a:p>
          <a:p>
            <a:endParaRPr lang="en-US" sz="1200" kern="1200" dirty="0" smtClean="0">
              <a:solidFill>
                <a:schemeClr val="tx1"/>
              </a:solidFill>
              <a:latin typeface="+mn-lt"/>
              <a:ea typeface="+mn-ea"/>
              <a:cs typeface="+mn-cs"/>
            </a:endParaRPr>
          </a:p>
          <a:p>
            <a:r>
              <a:rPr lang="en-US" sz="1200" kern="1200" dirty="0" smtClean="0">
                <a:solidFill>
                  <a:schemeClr val="tx1"/>
                </a:solidFill>
                <a:latin typeface="+mn-lt"/>
                <a:ea typeface="+mn-ea"/>
                <a:cs typeface="+mn-cs"/>
              </a:rPr>
              <a:t>        private </a:t>
            </a:r>
            <a:r>
              <a:rPr lang="en-US" sz="1200" kern="1200" dirty="0" err="1" smtClean="0">
                <a:solidFill>
                  <a:schemeClr val="tx1"/>
                </a:solidFill>
                <a:latin typeface="+mn-lt"/>
                <a:ea typeface="+mn-ea"/>
                <a:cs typeface="+mn-cs"/>
              </a:rPr>
              <a:t>async</a:t>
            </a:r>
            <a:r>
              <a:rPr lang="en-US" sz="1200" kern="1200" dirty="0" smtClean="0">
                <a:solidFill>
                  <a:schemeClr val="tx1"/>
                </a:solidFill>
                <a:latin typeface="+mn-lt"/>
                <a:ea typeface="+mn-ea"/>
                <a:cs typeface="+mn-cs"/>
              </a:rPr>
              <a:t> Task </a:t>
            </a:r>
            <a:r>
              <a:rPr lang="en-US" sz="1200" kern="1200" dirty="0" err="1" smtClean="0">
                <a:solidFill>
                  <a:schemeClr val="tx1"/>
                </a:solidFill>
                <a:latin typeface="+mn-lt"/>
                <a:ea typeface="+mn-ea"/>
                <a:cs typeface="+mn-cs"/>
              </a:rPr>
              <a:t>RefreshAsync</a:t>
            </a:r>
            <a:r>
              <a:rPr lang="en-US" sz="1200" kern="1200" dirty="0" smtClean="0">
                <a:solidFill>
                  <a:schemeClr val="tx1"/>
                </a:solidFill>
                <a:latin typeface="+mn-lt"/>
                <a:ea typeface="+mn-ea"/>
                <a:cs typeface="+mn-cs"/>
              </a:rPr>
              <a:t>()</a:t>
            </a:r>
          </a:p>
          <a:p>
            <a:r>
              <a:rPr lang="en-US" sz="1200" kern="1200" dirty="0" smtClean="0">
                <a:solidFill>
                  <a:schemeClr val="tx1"/>
                </a:solidFill>
                <a:latin typeface="+mn-lt"/>
                <a:ea typeface="+mn-ea"/>
                <a:cs typeface="+mn-cs"/>
              </a:rPr>
              <a:t>        {</a:t>
            </a:r>
          </a:p>
          <a:p>
            <a:r>
              <a:rPr lang="en-US" sz="1200" kern="1200" dirty="0" smtClean="0">
                <a:solidFill>
                  <a:schemeClr val="tx1"/>
                </a:solidFill>
                <a:latin typeface="+mn-lt"/>
                <a:ea typeface="+mn-ea"/>
                <a:cs typeface="+mn-cs"/>
              </a:rPr>
              <a:t>            </a:t>
            </a:r>
            <a:r>
              <a:rPr lang="en-US" sz="1200" kern="1200" dirty="0" err="1" smtClean="0">
                <a:solidFill>
                  <a:schemeClr val="tx1"/>
                </a:solidFill>
                <a:latin typeface="+mn-lt"/>
                <a:ea typeface="+mn-ea"/>
                <a:cs typeface="+mn-cs"/>
              </a:rPr>
              <a:t>IsRefreshing</a:t>
            </a:r>
            <a:r>
              <a:rPr lang="en-US" sz="1200" kern="1200" dirty="0" smtClean="0">
                <a:solidFill>
                  <a:schemeClr val="tx1"/>
                </a:solidFill>
                <a:latin typeface="+mn-lt"/>
                <a:ea typeface="+mn-ea"/>
                <a:cs typeface="+mn-cs"/>
              </a:rPr>
              <a:t> = true;</a:t>
            </a:r>
          </a:p>
          <a:p>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await</a:t>
            </a:r>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Task.Delay</a:t>
            </a:r>
            <a:r>
              <a:rPr lang="fr-FR" sz="1200" kern="1200" dirty="0" smtClean="0">
                <a:solidFill>
                  <a:schemeClr val="tx1"/>
                </a:solidFill>
                <a:latin typeface="+mn-lt"/>
                <a:ea typeface="+mn-ea"/>
                <a:cs typeface="+mn-cs"/>
              </a:rPr>
              <a:t>(2000); // Simulation d'un appel réseau ou long traitement</a:t>
            </a:r>
          </a:p>
          <a:p>
            <a:r>
              <a:rPr lang="en-US" sz="1200" kern="1200" dirty="0" smtClean="0">
                <a:solidFill>
                  <a:schemeClr val="tx1"/>
                </a:solidFill>
                <a:latin typeface="+mn-lt"/>
                <a:ea typeface="+mn-ea"/>
                <a:cs typeface="+mn-cs"/>
              </a:rPr>
              <a:t>            </a:t>
            </a:r>
            <a:r>
              <a:rPr lang="en-US" sz="1200" kern="1200" dirty="0" err="1" smtClean="0">
                <a:solidFill>
                  <a:schemeClr val="tx1"/>
                </a:solidFill>
                <a:latin typeface="+mn-lt"/>
                <a:ea typeface="+mn-ea"/>
                <a:cs typeface="+mn-cs"/>
              </a:rPr>
              <a:t>LoadItems</a:t>
            </a:r>
            <a:r>
              <a:rPr lang="en-US" sz="1200" kern="1200" dirty="0" smtClean="0">
                <a:solidFill>
                  <a:schemeClr val="tx1"/>
                </a:solidFill>
                <a:latin typeface="+mn-lt"/>
                <a:ea typeface="+mn-ea"/>
                <a:cs typeface="+mn-cs"/>
              </a:rPr>
              <a:t>();</a:t>
            </a:r>
          </a:p>
          <a:p>
            <a:r>
              <a:rPr lang="en-US" sz="1200" kern="1200" dirty="0" smtClean="0">
                <a:solidFill>
                  <a:schemeClr val="tx1"/>
                </a:solidFill>
                <a:latin typeface="+mn-lt"/>
                <a:ea typeface="+mn-ea"/>
                <a:cs typeface="+mn-cs"/>
              </a:rPr>
              <a:t>            </a:t>
            </a:r>
            <a:r>
              <a:rPr lang="en-US" sz="1200" kern="1200" dirty="0" err="1" smtClean="0">
                <a:solidFill>
                  <a:schemeClr val="tx1"/>
                </a:solidFill>
                <a:latin typeface="+mn-lt"/>
                <a:ea typeface="+mn-ea"/>
                <a:cs typeface="+mn-cs"/>
              </a:rPr>
              <a:t>IsRefreshing</a:t>
            </a:r>
            <a:r>
              <a:rPr lang="en-US" sz="1200" kern="1200" dirty="0" smtClean="0">
                <a:solidFill>
                  <a:schemeClr val="tx1"/>
                </a:solidFill>
                <a:latin typeface="+mn-lt"/>
                <a:ea typeface="+mn-ea"/>
                <a:cs typeface="+mn-cs"/>
              </a:rPr>
              <a:t> = false;</a:t>
            </a:r>
          </a:p>
          <a:p>
            <a:r>
              <a:rPr lang="en-US" sz="1200" kern="1200" dirty="0" smtClean="0">
                <a:solidFill>
                  <a:schemeClr val="tx1"/>
                </a:solidFill>
                <a:latin typeface="+mn-lt"/>
                <a:ea typeface="+mn-ea"/>
                <a:cs typeface="+mn-cs"/>
              </a:rPr>
              <a:t>        }</a:t>
            </a:r>
          </a:p>
          <a:p>
            <a:r>
              <a:rPr lang="en-US" sz="1200" kern="1200" dirty="0" smtClean="0">
                <a:solidFill>
                  <a:schemeClr val="tx1"/>
                </a:solidFill>
                <a:latin typeface="+mn-lt"/>
                <a:ea typeface="+mn-ea"/>
                <a:cs typeface="+mn-cs"/>
              </a:rPr>
              <a:t>    }</a:t>
            </a:r>
          </a:p>
          <a:p>
            <a:r>
              <a:rPr lang="en-US" sz="1200" kern="1200" dirty="0" smtClean="0">
                <a:solidFill>
                  <a:schemeClr val="tx1"/>
                </a:solidFill>
                <a:latin typeface="+mn-lt"/>
                <a:ea typeface="+mn-ea"/>
                <a:cs typeface="+mn-cs"/>
              </a:rPr>
              <a:t>}</a:t>
            </a:r>
          </a:p>
          <a:p>
            <a:endParaRPr lang="en-US" b="1" baseline="0" dirty="0" smtClean="0"/>
          </a:p>
          <a:p>
            <a:r>
              <a:rPr lang="fr-FR" b="1" baseline="0" dirty="0" smtClean="0"/>
              <a:t/>
            </a:r>
            <a:br>
              <a:rPr lang="fr-FR" b="1" baseline="0" dirty="0" smtClean="0"/>
            </a:br>
            <a:r>
              <a:rPr lang="fr-FR" b="1" baseline="0" dirty="0" smtClean="0"/>
              <a:t/>
            </a:r>
            <a:br>
              <a:rPr lang="fr-FR" b="1" baseline="0" dirty="0" smtClean="0"/>
            </a:br>
            <a:r>
              <a:rPr lang="fr-FR" baseline="0" dirty="0" smtClean="0"/>
              <a:t/>
            </a:r>
            <a:br>
              <a:rPr lang="fr-FR" baseline="0" dirty="0" smtClean="0"/>
            </a:br>
            <a:r>
              <a:rPr lang="fr-FR" baseline="0" dirty="0" smtClean="0"/>
              <a:t/>
            </a:r>
            <a:br>
              <a:rPr lang="fr-FR" baseline="0" dirty="0" smtClean="0"/>
            </a:br>
            <a:endParaRPr lang="en-US" dirty="0"/>
          </a:p>
        </p:txBody>
      </p:sp>
      <p:sp>
        <p:nvSpPr>
          <p:cNvPr id="4" name="Slide Number Placeholder 3"/>
          <p:cNvSpPr>
            <a:spLocks noGrp="1"/>
          </p:cNvSpPr>
          <p:nvPr>
            <p:ph type="sldNum" sz="quarter" idx="10"/>
          </p:nvPr>
        </p:nvSpPr>
        <p:spPr/>
        <p:txBody>
          <a:bodyPr/>
          <a:lstStyle/>
          <a:p>
            <a:fld id="{C05E1AE6-1BFD-4589-9604-3D9D158FB781}" type="slidenum">
              <a:rPr lang="fr-FR" smtClean="0"/>
              <a:t>29</a:t>
            </a:fld>
            <a:endParaRPr lang="fr-FR"/>
          </a:p>
        </p:txBody>
      </p:sp>
    </p:spTree>
    <p:extLst>
      <p:ext uri="{BB962C8B-B14F-4D97-AF65-F5344CB8AC3E}">
        <p14:creationId xmlns:p14="http://schemas.microsoft.com/office/powerpoint/2010/main" val="12062272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b="1" dirty="0" smtClean="0"/>
              <a:t>Exemple d’implémentation</a:t>
            </a:r>
            <a:r>
              <a:rPr lang="fr-FR" b="1" baseline="0" dirty="0" smtClean="0"/>
              <a:t> de </a:t>
            </a:r>
            <a:r>
              <a:rPr lang="fr-FR" b="1" baseline="0" dirty="0" err="1" smtClean="0"/>
              <a:t>SearchBar</a:t>
            </a:r>
            <a:r>
              <a:rPr lang="fr-FR" b="1" baseline="0" dirty="0" smtClean="0"/>
              <a:t>:</a:t>
            </a:r>
          </a:p>
          <a:p>
            <a:endParaRPr lang="fr-FR" b="1" baseline="0" dirty="0" smtClean="0"/>
          </a:p>
          <a:p>
            <a:r>
              <a:rPr lang="fr-FR" sz="1200" kern="1200" dirty="0" smtClean="0">
                <a:solidFill>
                  <a:schemeClr val="tx1"/>
                </a:solidFill>
                <a:latin typeface="+mn-lt"/>
                <a:ea typeface="+mn-ea"/>
                <a:cs typeface="+mn-cs"/>
              </a:rPr>
              <a:t>public partial class MainPage : ContentPage</a:t>
            </a:r>
          </a:p>
          <a:p>
            <a:r>
              <a:rPr lang="fr-FR" sz="1200" kern="1200" dirty="0" smtClean="0">
                <a:solidFill>
                  <a:schemeClr val="tx1"/>
                </a:solidFill>
                <a:latin typeface="+mn-lt"/>
                <a:ea typeface="+mn-ea"/>
                <a:cs typeface="+mn-cs"/>
              </a:rPr>
              <a:t>{</a:t>
            </a:r>
          </a:p>
          <a:p>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ObservableCollection</a:t>
            </a:r>
            <a:r>
              <a:rPr lang="fr-FR" sz="1200" kern="1200" dirty="0" smtClean="0">
                <a:solidFill>
                  <a:schemeClr val="tx1"/>
                </a:solidFill>
                <a:latin typeface="+mn-lt"/>
                <a:ea typeface="+mn-ea"/>
                <a:cs typeface="+mn-cs"/>
              </a:rPr>
              <a:t>&lt;string&gt; _</a:t>
            </a:r>
            <a:r>
              <a:rPr lang="fr-FR" sz="1200" kern="1200" dirty="0" err="1" smtClean="0">
                <a:solidFill>
                  <a:schemeClr val="tx1"/>
                </a:solidFill>
                <a:latin typeface="+mn-lt"/>
                <a:ea typeface="+mn-ea"/>
                <a:cs typeface="+mn-cs"/>
              </a:rPr>
              <a:t>names</a:t>
            </a:r>
            <a:r>
              <a:rPr lang="fr-FR" sz="1200" kern="1200" dirty="0" smtClean="0">
                <a:solidFill>
                  <a:schemeClr val="tx1"/>
                </a:solidFill>
                <a:latin typeface="+mn-lt"/>
                <a:ea typeface="+mn-ea"/>
                <a:cs typeface="+mn-cs"/>
              </a:rPr>
              <a:t>;</a:t>
            </a:r>
          </a:p>
          <a:p>
            <a:endParaRPr lang="fr-FR" sz="1200" kern="1200" dirty="0" smtClean="0">
              <a:solidFill>
                <a:schemeClr val="tx1"/>
              </a:solidFill>
              <a:latin typeface="+mn-lt"/>
              <a:ea typeface="+mn-ea"/>
              <a:cs typeface="+mn-cs"/>
            </a:endParaRPr>
          </a:p>
          <a:p>
            <a:r>
              <a:rPr lang="fr-FR" sz="1200" kern="1200" dirty="0" smtClean="0">
                <a:solidFill>
                  <a:schemeClr val="tx1"/>
                </a:solidFill>
                <a:latin typeface="+mn-lt"/>
                <a:ea typeface="+mn-ea"/>
                <a:cs typeface="+mn-cs"/>
              </a:rPr>
              <a:t>    public MainPage()</a:t>
            </a:r>
          </a:p>
          <a:p>
            <a:r>
              <a:rPr lang="fr-FR" sz="1200" kern="1200" dirty="0" smtClean="0">
                <a:solidFill>
                  <a:schemeClr val="tx1"/>
                </a:solidFill>
                <a:latin typeface="+mn-lt"/>
                <a:ea typeface="+mn-ea"/>
                <a:cs typeface="+mn-cs"/>
              </a:rPr>
              <a:t>    {</a:t>
            </a:r>
          </a:p>
          <a:p>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InitializeComponent</a:t>
            </a:r>
            <a:r>
              <a:rPr lang="fr-FR" sz="1200" kern="1200" dirty="0" smtClean="0">
                <a:solidFill>
                  <a:schemeClr val="tx1"/>
                </a:solidFill>
                <a:latin typeface="+mn-lt"/>
                <a:ea typeface="+mn-ea"/>
                <a:cs typeface="+mn-cs"/>
              </a:rPr>
              <a:t>();</a:t>
            </a:r>
          </a:p>
          <a:p>
            <a:r>
              <a:rPr lang="fr-FR" sz="1200" kern="1200" dirty="0" smtClean="0">
                <a:solidFill>
                  <a:schemeClr val="tx1"/>
                </a:solidFill>
                <a:latin typeface="+mn-lt"/>
                <a:ea typeface="+mn-ea"/>
                <a:cs typeface="+mn-cs"/>
              </a:rPr>
              <a:t>        _</a:t>
            </a:r>
            <a:r>
              <a:rPr lang="fr-FR" sz="1200" kern="1200" dirty="0" err="1" smtClean="0">
                <a:solidFill>
                  <a:schemeClr val="tx1"/>
                </a:solidFill>
                <a:latin typeface="+mn-lt"/>
                <a:ea typeface="+mn-ea"/>
                <a:cs typeface="+mn-cs"/>
              </a:rPr>
              <a:t>names</a:t>
            </a:r>
            <a:r>
              <a:rPr lang="fr-FR" sz="1200" kern="1200" dirty="0" smtClean="0">
                <a:solidFill>
                  <a:schemeClr val="tx1"/>
                </a:solidFill>
                <a:latin typeface="+mn-lt"/>
                <a:ea typeface="+mn-ea"/>
                <a:cs typeface="+mn-cs"/>
              </a:rPr>
              <a:t> = new </a:t>
            </a:r>
            <a:r>
              <a:rPr lang="fr-FR" sz="1200" kern="1200" dirty="0" err="1" smtClean="0">
                <a:solidFill>
                  <a:schemeClr val="tx1"/>
                </a:solidFill>
                <a:latin typeface="+mn-lt"/>
                <a:ea typeface="+mn-ea"/>
                <a:cs typeface="+mn-cs"/>
              </a:rPr>
              <a:t>ObservableCollection</a:t>
            </a:r>
            <a:r>
              <a:rPr lang="fr-FR" sz="1200" kern="1200" dirty="0" smtClean="0">
                <a:solidFill>
                  <a:schemeClr val="tx1"/>
                </a:solidFill>
                <a:latin typeface="+mn-lt"/>
                <a:ea typeface="+mn-ea"/>
                <a:cs typeface="+mn-cs"/>
              </a:rPr>
              <a:t>&lt;string&gt;()</a:t>
            </a:r>
          </a:p>
          <a:p>
            <a:r>
              <a:rPr lang="fr-FR" sz="1200" kern="1200" dirty="0" smtClean="0">
                <a:solidFill>
                  <a:schemeClr val="tx1"/>
                </a:solidFill>
                <a:latin typeface="+mn-lt"/>
                <a:ea typeface="+mn-ea"/>
                <a:cs typeface="+mn-cs"/>
              </a:rPr>
              <a:t>        {</a:t>
            </a:r>
          </a:p>
          <a:p>
            <a:r>
              <a:rPr lang="en-US" sz="1200" kern="1200" dirty="0" smtClean="0">
                <a:solidFill>
                  <a:schemeClr val="tx1"/>
                </a:solidFill>
                <a:latin typeface="+mn-lt"/>
                <a:ea typeface="+mn-ea"/>
                <a:cs typeface="+mn-cs"/>
              </a:rPr>
              <a:t>            "Luther </a:t>
            </a:r>
            <a:r>
              <a:rPr lang="en-US" sz="1200" kern="1200" dirty="0" err="1" smtClean="0">
                <a:solidFill>
                  <a:schemeClr val="tx1"/>
                </a:solidFill>
                <a:latin typeface="+mn-lt"/>
                <a:ea typeface="+mn-ea"/>
                <a:cs typeface="+mn-cs"/>
              </a:rPr>
              <a:t>Collins","Harry</a:t>
            </a:r>
            <a:r>
              <a:rPr lang="en-US" sz="1200" kern="1200" dirty="0" smtClean="0">
                <a:solidFill>
                  <a:schemeClr val="tx1"/>
                </a:solidFill>
                <a:latin typeface="+mn-lt"/>
                <a:ea typeface="+mn-ea"/>
                <a:cs typeface="+mn-cs"/>
              </a:rPr>
              <a:t> </a:t>
            </a:r>
            <a:r>
              <a:rPr lang="en-US" sz="1200" kern="1200" dirty="0" err="1" smtClean="0">
                <a:solidFill>
                  <a:schemeClr val="tx1"/>
                </a:solidFill>
                <a:latin typeface="+mn-lt"/>
                <a:ea typeface="+mn-ea"/>
                <a:cs typeface="+mn-cs"/>
              </a:rPr>
              <a:t>Crosby","Monty</a:t>
            </a:r>
            <a:r>
              <a:rPr lang="en-US" sz="1200" kern="1200" dirty="0" smtClean="0">
                <a:solidFill>
                  <a:schemeClr val="tx1"/>
                </a:solidFill>
                <a:latin typeface="+mn-lt"/>
                <a:ea typeface="+mn-ea"/>
                <a:cs typeface="+mn-cs"/>
              </a:rPr>
              <a:t> </a:t>
            </a:r>
            <a:r>
              <a:rPr lang="en-US" sz="1200" kern="1200" dirty="0" err="1" smtClean="0">
                <a:solidFill>
                  <a:schemeClr val="tx1"/>
                </a:solidFill>
                <a:latin typeface="+mn-lt"/>
                <a:ea typeface="+mn-ea"/>
                <a:cs typeface="+mn-cs"/>
              </a:rPr>
              <a:t>Randolph","Heath</a:t>
            </a:r>
            <a:r>
              <a:rPr lang="en-US" sz="1200" kern="1200" dirty="0" smtClean="0">
                <a:solidFill>
                  <a:schemeClr val="tx1"/>
                </a:solidFill>
                <a:latin typeface="+mn-lt"/>
                <a:ea typeface="+mn-ea"/>
                <a:cs typeface="+mn-cs"/>
              </a:rPr>
              <a:t> Monroe",</a:t>
            </a:r>
          </a:p>
          <a:p>
            <a:r>
              <a:rPr lang="fr-FR" sz="1200" kern="1200" dirty="0" smtClean="0">
                <a:solidFill>
                  <a:schemeClr val="tx1"/>
                </a:solidFill>
                <a:latin typeface="+mn-lt"/>
                <a:ea typeface="+mn-ea"/>
                <a:cs typeface="+mn-cs"/>
              </a:rPr>
              <a:t>            "Sandra </a:t>
            </a:r>
            <a:r>
              <a:rPr lang="fr-FR" sz="1200" kern="1200" dirty="0" err="1" smtClean="0">
                <a:solidFill>
                  <a:schemeClr val="tx1"/>
                </a:solidFill>
                <a:latin typeface="+mn-lt"/>
                <a:ea typeface="+mn-ea"/>
                <a:cs typeface="+mn-cs"/>
              </a:rPr>
              <a:t>Walls</a:t>
            </a:r>
            <a:r>
              <a:rPr lang="fr-FR" sz="1200" kern="1200" dirty="0" smtClean="0">
                <a:solidFill>
                  <a:schemeClr val="tx1"/>
                </a:solidFill>
                <a:latin typeface="+mn-lt"/>
                <a:ea typeface="+mn-ea"/>
                <a:cs typeface="+mn-cs"/>
              </a:rPr>
              <a:t>","</a:t>
            </a:r>
            <a:r>
              <a:rPr lang="fr-FR" sz="1200" kern="1200" dirty="0" err="1" smtClean="0">
                <a:solidFill>
                  <a:schemeClr val="tx1"/>
                </a:solidFill>
                <a:latin typeface="+mn-lt"/>
                <a:ea typeface="+mn-ea"/>
                <a:cs typeface="+mn-cs"/>
              </a:rPr>
              <a:t>Conor</a:t>
            </a:r>
            <a:r>
              <a:rPr lang="fr-FR" sz="1200" kern="1200" dirty="0" smtClean="0">
                <a:solidFill>
                  <a:schemeClr val="tx1"/>
                </a:solidFill>
                <a:latin typeface="+mn-lt"/>
                <a:ea typeface="+mn-ea"/>
                <a:cs typeface="+mn-cs"/>
              </a:rPr>
              <a:t> Barton","</a:t>
            </a:r>
            <a:r>
              <a:rPr lang="fr-FR" sz="1200" kern="1200" dirty="0" err="1" smtClean="0">
                <a:solidFill>
                  <a:schemeClr val="tx1"/>
                </a:solidFill>
                <a:latin typeface="+mn-lt"/>
                <a:ea typeface="+mn-ea"/>
                <a:cs typeface="+mn-cs"/>
              </a:rPr>
              <a:t>Jazmin</a:t>
            </a:r>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Jordan","Julius</a:t>
            </a:r>
            <a:r>
              <a:rPr lang="fr-FR" sz="1200" kern="1200" dirty="0" smtClean="0">
                <a:solidFill>
                  <a:schemeClr val="tx1"/>
                </a:solidFill>
                <a:latin typeface="+mn-lt"/>
                <a:ea typeface="+mn-ea"/>
                <a:cs typeface="+mn-cs"/>
              </a:rPr>
              <a:t> Fulton",</a:t>
            </a:r>
          </a:p>
          <a:p>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Humaira</a:t>
            </a:r>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Calderon</a:t>
            </a:r>
            <a:r>
              <a:rPr lang="fr-FR" sz="1200" kern="1200" dirty="0" smtClean="0">
                <a:solidFill>
                  <a:schemeClr val="tx1"/>
                </a:solidFill>
                <a:latin typeface="+mn-lt"/>
                <a:ea typeface="+mn-ea"/>
                <a:cs typeface="+mn-cs"/>
              </a:rPr>
              <a:t>","</a:t>
            </a:r>
            <a:r>
              <a:rPr lang="fr-FR" sz="1200" kern="1200" dirty="0" err="1" smtClean="0">
                <a:solidFill>
                  <a:schemeClr val="tx1"/>
                </a:solidFill>
                <a:latin typeface="+mn-lt"/>
                <a:ea typeface="+mn-ea"/>
                <a:cs typeface="+mn-cs"/>
              </a:rPr>
              <a:t>Asiya</a:t>
            </a:r>
            <a:r>
              <a:rPr lang="fr-FR" sz="1200" kern="1200" dirty="0" smtClean="0">
                <a:solidFill>
                  <a:schemeClr val="tx1"/>
                </a:solidFill>
                <a:latin typeface="+mn-lt"/>
                <a:ea typeface="+mn-ea"/>
                <a:cs typeface="+mn-cs"/>
              </a:rPr>
              <a:t> Harris"</a:t>
            </a:r>
          </a:p>
          <a:p>
            <a:r>
              <a:rPr lang="fr-FR" sz="1200" kern="1200" dirty="0" smtClean="0">
                <a:solidFill>
                  <a:schemeClr val="tx1"/>
                </a:solidFill>
                <a:latin typeface="+mn-lt"/>
                <a:ea typeface="+mn-ea"/>
                <a:cs typeface="+mn-cs"/>
              </a:rPr>
              <a:t>        };</a:t>
            </a:r>
          </a:p>
          <a:p>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listview.ItemsSource</a:t>
            </a:r>
            <a:r>
              <a:rPr lang="fr-FR" sz="1200" kern="1200" dirty="0" smtClean="0">
                <a:solidFill>
                  <a:schemeClr val="tx1"/>
                </a:solidFill>
                <a:latin typeface="+mn-lt"/>
                <a:ea typeface="+mn-ea"/>
                <a:cs typeface="+mn-cs"/>
              </a:rPr>
              <a:t> = _</a:t>
            </a:r>
            <a:r>
              <a:rPr lang="fr-FR" sz="1200" kern="1200" dirty="0" err="1" smtClean="0">
                <a:solidFill>
                  <a:schemeClr val="tx1"/>
                </a:solidFill>
                <a:latin typeface="+mn-lt"/>
                <a:ea typeface="+mn-ea"/>
                <a:cs typeface="+mn-cs"/>
              </a:rPr>
              <a:t>names</a:t>
            </a:r>
            <a:r>
              <a:rPr lang="fr-FR" sz="1200" kern="1200" dirty="0" smtClean="0">
                <a:solidFill>
                  <a:schemeClr val="tx1"/>
                </a:solidFill>
                <a:latin typeface="+mn-lt"/>
                <a:ea typeface="+mn-ea"/>
                <a:cs typeface="+mn-cs"/>
              </a:rPr>
              <a:t>;</a:t>
            </a:r>
          </a:p>
          <a:p>
            <a:r>
              <a:rPr lang="fr-FR" sz="1200" kern="1200" dirty="0" smtClean="0">
                <a:solidFill>
                  <a:schemeClr val="tx1"/>
                </a:solidFill>
                <a:latin typeface="+mn-lt"/>
                <a:ea typeface="+mn-ea"/>
                <a:cs typeface="+mn-cs"/>
              </a:rPr>
              <a:t>    }</a:t>
            </a:r>
          </a:p>
          <a:p>
            <a:endParaRPr lang="fr-FR" sz="1200" kern="1200" dirty="0" smtClean="0">
              <a:solidFill>
                <a:schemeClr val="tx1"/>
              </a:solidFill>
              <a:latin typeface="+mn-lt"/>
              <a:ea typeface="+mn-ea"/>
              <a:cs typeface="+mn-cs"/>
            </a:endParaRPr>
          </a:p>
          <a:p>
            <a:r>
              <a:rPr lang="fr-FR" sz="1200" kern="1200" dirty="0" smtClean="0">
                <a:solidFill>
                  <a:schemeClr val="tx1"/>
                </a:solidFill>
                <a:latin typeface="+mn-lt"/>
                <a:ea typeface="+mn-ea"/>
                <a:cs typeface="+mn-cs"/>
              </a:rPr>
              <a:t>  </a:t>
            </a:r>
          </a:p>
          <a:p>
            <a:endParaRPr lang="fr-FR" sz="1200" kern="1200" dirty="0" smtClean="0">
              <a:solidFill>
                <a:schemeClr val="tx1"/>
              </a:solidFill>
              <a:latin typeface="+mn-lt"/>
              <a:ea typeface="+mn-ea"/>
              <a:cs typeface="+mn-cs"/>
            </a:endParaRPr>
          </a:p>
          <a:p>
            <a:r>
              <a:rPr lang="en-US" sz="1200" kern="1200" dirty="0" smtClean="0">
                <a:solidFill>
                  <a:schemeClr val="tx1"/>
                </a:solidFill>
                <a:latin typeface="+mn-lt"/>
                <a:ea typeface="+mn-ea"/>
                <a:cs typeface="+mn-cs"/>
              </a:rPr>
              <a:t>    private void </a:t>
            </a:r>
            <a:r>
              <a:rPr lang="en-US" sz="1200" kern="1200" dirty="0" err="1" smtClean="0">
                <a:solidFill>
                  <a:schemeClr val="tx1"/>
                </a:solidFill>
                <a:latin typeface="+mn-lt"/>
                <a:ea typeface="+mn-ea"/>
                <a:cs typeface="+mn-cs"/>
              </a:rPr>
              <a:t>searchbar_TextChanged</a:t>
            </a:r>
            <a:r>
              <a:rPr lang="en-US" sz="1200" kern="1200" dirty="0" smtClean="0">
                <a:solidFill>
                  <a:schemeClr val="tx1"/>
                </a:solidFill>
                <a:latin typeface="+mn-lt"/>
                <a:ea typeface="+mn-ea"/>
                <a:cs typeface="+mn-cs"/>
              </a:rPr>
              <a:t>(object sender, </a:t>
            </a:r>
            <a:r>
              <a:rPr lang="en-US" sz="1200" kern="1200" dirty="0" err="1" smtClean="0">
                <a:solidFill>
                  <a:schemeClr val="tx1"/>
                </a:solidFill>
                <a:latin typeface="+mn-lt"/>
                <a:ea typeface="+mn-ea"/>
                <a:cs typeface="+mn-cs"/>
              </a:rPr>
              <a:t>TextChangedEventArgs</a:t>
            </a:r>
            <a:r>
              <a:rPr lang="en-US" sz="1200" kern="1200" dirty="0" smtClean="0">
                <a:solidFill>
                  <a:schemeClr val="tx1"/>
                </a:solidFill>
                <a:latin typeface="+mn-lt"/>
                <a:ea typeface="+mn-ea"/>
                <a:cs typeface="+mn-cs"/>
              </a:rPr>
              <a:t> e)</a:t>
            </a:r>
          </a:p>
          <a:p>
            <a:r>
              <a:rPr lang="fr-FR" sz="1200" kern="1200" dirty="0" smtClean="0">
                <a:solidFill>
                  <a:schemeClr val="tx1"/>
                </a:solidFill>
                <a:latin typeface="+mn-lt"/>
                <a:ea typeface="+mn-ea"/>
                <a:cs typeface="+mn-cs"/>
              </a:rPr>
              <a:t>    {</a:t>
            </a:r>
          </a:p>
          <a:p>
            <a:r>
              <a:rPr lang="fr-FR" sz="1200" kern="1200" dirty="0" smtClean="0">
                <a:solidFill>
                  <a:schemeClr val="tx1"/>
                </a:solidFill>
                <a:latin typeface="+mn-lt"/>
                <a:ea typeface="+mn-ea"/>
                <a:cs typeface="+mn-cs"/>
              </a:rPr>
              <a:t>        if (!</a:t>
            </a:r>
            <a:r>
              <a:rPr lang="fr-FR" sz="1200" kern="1200" dirty="0" err="1" smtClean="0">
                <a:solidFill>
                  <a:schemeClr val="tx1"/>
                </a:solidFill>
                <a:latin typeface="+mn-lt"/>
                <a:ea typeface="+mn-ea"/>
                <a:cs typeface="+mn-cs"/>
              </a:rPr>
              <a:t>string.IsNullOrEmpty</a:t>
            </a:r>
            <a:r>
              <a:rPr lang="fr-FR" sz="1200" kern="1200" dirty="0" smtClean="0">
                <a:solidFill>
                  <a:schemeClr val="tx1"/>
                </a:solidFill>
                <a:latin typeface="+mn-lt"/>
                <a:ea typeface="+mn-ea"/>
                <a:cs typeface="+mn-cs"/>
              </a:rPr>
              <a:t>(</a:t>
            </a:r>
            <a:r>
              <a:rPr lang="fr-FR" sz="1200" kern="1200" dirty="0" err="1" smtClean="0">
                <a:solidFill>
                  <a:schemeClr val="tx1"/>
                </a:solidFill>
                <a:latin typeface="+mn-lt"/>
                <a:ea typeface="+mn-ea"/>
                <a:cs typeface="+mn-cs"/>
              </a:rPr>
              <a:t>e.NewTextValue</a:t>
            </a:r>
            <a:r>
              <a:rPr lang="fr-FR" sz="1200" kern="1200" dirty="0" smtClean="0">
                <a:solidFill>
                  <a:schemeClr val="tx1"/>
                </a:solidFill>
                <a:latin typeface="+mn-lt"/>
                <a:ea typeface="+mn-ea"/>
                <a:cs typeface="+mn-cs"/>
              </a:rPr>
              <a:t>))</a:t>
            </a:r>
          </a:p>
          <a:p>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listview.ItemsSource</a:t>
            </a:r>
            <a:r>
              <a:rPr lang="fr-FR" sz="1200" kern="1200" dirty="0" smtClean="0">
                <a:solidFill>
                  <a:schemeClr val="tx1"/>
                </a:solidFill>
                <a:latin typeface="+mn-lt"/>
                <a:ea typeface="+mn-ea"/>
                <a:cs typeface="+mn-cs"/>
              </a:rPr>
              <a:t> = _</a:t>
            </a:r>
            <a:r>
              <a:rPr lang="fr-FR" sz="1200" kern="1200" dirty="0" err="1" smtClean="0">
                <a:solidFill>
                  <a:schemeClr val="tx1"/>
                </a:solidFill>
                <a:latin typeface="+mn-lt"/>
                <a:ea typeface="+mn-ea"/>
                <a:cs typeface="+mn-cs"/>
              </a:rPr>
              <a:t>names.Where</a:t>
            </a:r>
            <a:r>
              <a:rPr lang="fr-FR" sz="1200" kern="1200" dirty="0" smtClean="0">
                <a:solidFill>
                  <a:schemeClr val="tx1"/>
                </a:solidFill>
                <a:latin typeface="+mn-lt"/>
                <a:ea typeface="+mn-ea"/>
                <a:cs typeface="+mn-cs"/>
              </a:rPr>
              <a:t>(x =&gt; </a:t>
            </a:r>
            <a:r>
              <a:rPr lang="fr-FR" sz="1200" kern="1200" dirty="0" err="1" smtClean="0">
                <a:solidFill>
                  <a:schemeClr val="tx1"/>
                </a:solidFill>
                <a:latin typeface="+mn-lt"/>
                <a:ea typeface="+mn-ea"/>
                <a:cs typeface="+mn-cs"/>
              </a:rPr>
              <a:t>x.Contains</a:t>
            </a:r>
            <a:r>
              <a:rPr lang="fr-FR" sz="1200" kern="1200" dirty="0" smtClean="0">
                <a:solidFill>
                  <a:schemeClr val="tx1"/>
                </a:solidFill>
                <a:latin typeface="+mn-lt"/>
                <a:ea typeface="+mn-ea"/>
                <a:cs typeface="+mn-cs"/>
              </a:rPr>
              <a:t>(</a:t>
            </a:r>
            <a:r>
              <a:rPr lang="fr-FR" sz="1200" kern="1200" dirty="0" err="1" smtClean="0">
                <a:solidFill>
                  <a:schemeClr val="tx1"/>
                </a:solidFill>
                <a:latin typeface="+mn-lt"/>
                <a:ea typeface="+mn-ea"/>
                <a:cs typeface="+mn-cs"/>
              </a:rPr>
              <a:t>e.NewTextValue</a:t>
            </a:r>
            <a:r>
              <a:rPr lang="fr-FR" sz="1200" kern="1200" dirty="0" smtClean="0">
                <a:solidFill>
                  <a:schemeClr val="tx1"/>
                </a:solidFill>
                <a:latin typeface="+mn-lt"/>
                <a:ea typeface="+mn-ea"/>
                <a:cs typeface="+mn-cs"/>
              </a:rPr>
              <a:t>));</a:t>
            </a:r>
          </a:p>
          <a:p>
            <a:r>
              <a:rPr lang="fr-FR" sz="1200" kern="1200" dirty="0" smtClean="0">
                <a:solidFill>
                  <a:schemeClr val="tx1"/>
                </a:solidFill>
                <a:latin typeface="+mn-lt"/>
                <a:ea typeface="+mn-ea"/>
                <a:cs typeface="+mn-cs"/>
              </a:rPr>
              <a:t>        else </a:t>
            </a:r>
            <a:r>
              <a:rPr lang="fr-FR" sz="1200" kern="1200" dirty="0" err="1" smtClean="0">
                <a:solidFill>
                  <a:schemeClr val="tx1"/>
                </a:solidFill>
                <a:latin typeface="+mn-lt"/>
                <a:ea typeface="+mn-ea"/>
                <a:cs typeface="+mn-cs"/>
              </a:rPr>
              <a:t>listview.ItemsSource</a:t>
            </a:r>
            <a:r>
              <a:rPr lang="fr-FR" sz="1200" kern="1200" dirty="0" smtClean="0">
                <a:solidFill>
                  <a:schemeClr val="tx1"/>
                </a:solidFill>
                <a:latin typeface="+mn-lt"/>
                <a:ea typeface="+mn-ea"/>
                <a:cs typeface="+mn-cs"/>
              </a:rPr>
              <a:t> = _</a:t>
            </a:r>
            <a:r>
              <a:rPr lang="fr-FR" sz="1200" kern="1200" dirty="0" err="1" smtClean="0">
                <a:solidFill>
                  <a:schemeClr val="tx1"/>
                </a:solidFill>
                <a:latin typeface="+mn-lt"/>
                <a:ea typeface="+mn-ea"/>
                <a:cs typeface="+mn-cs"/>
              </a:rPr>
              <a:t>names</a:t>
            </a:r>
            <a:r>
              <a:rPr lang="fr-FR" sz="1200" kern="1200" dirty="0" smtClean="0">
                <a:solidFill>
                  <a:schemeClr val="tx1"/>
                </a:solidFill>
                <a:latin typeface="+mn-lt"/>
                <a:ea typeface="+mn-ea"/>
                <a:cs typeface="+mn-cs"/>
              </a:rPr>
              <a:t>;</a:t>
            </a:r>
          </a:p>
          <a:p>
            <a:r>
              <a:rPr lang="fr-FR" sz="1200" kern="1200" dirty="0" smtClean="0">
                <a:solidFill>
                  <a:schemeClr val="tx1"/>
                </a:solidFill>
                <a:latin typeface="+mn-lt"/>
                <a:ea typeface="+mn-ea"/>
                <a:cs typeface="+mn-cs"/>
              </a:rPr>
              <a:t>    }</a:t>
            </a:r>
          </a:p>
          <a:p>
            <a:endParaRPr lang="fr-FR" sz="1200" kern="1200" dirty="0" smtClean="0">
              <a:solidFill>
                <a:schemeClr val="tx1"/>
              </a:solidFill>
              <a:latin typeface="+mn-lt"/>
              <a:ea typeface="+mn-ea"/>
              <a:cs typeface="+mn-cs"/>
            </a:endParaRPr>
          </a:p>
          <a:p>
            <a:r>
              <a:rPr lang="en-US" sz="1200" kern="1200" dirty="0" smtClean="0">
                <a:solidFill>
                  <a:schemeClr val="tx1"/>
                </a:solidFill>
                <a:latin typeface="+mn-lt"/>
                <a:ea typeface="+mn-ea"/>
                <a:cs typeface="+mn-cs"/>
              </a:rPr>
              <a:t>       //</a:t>
            </a:r>
            <a:r>
              <a:rPr lang="en-US" sz="1200" kern="1200" dirty="0" err="1" smtClean="0">
                <a:solidFill>
                  <a:schemeClr val="tx1"/>
                </a:solidFill>
                <a:latin typeface="+mn-lt"/>
                <a:ea typeface="+mn-ea"/>
                <a:cs typeface="+mn-cs"/>
              </a:rPr>
              <a:t>Déclenche</a:t>
            </a:r>
            <a:r>
              <a:rPr lang="en-US" sz="1200" kern="1200" baseline="0" dirty="0" smtClean="0">
                <a:solidFill>
                  <a:schemeClr val="tx1"/>
                </a:solidFill>
                <a:latin typeface="+mn-lt"/>
                <a:ea typeface="+mn-ea"/>
                <a:cs typeface="+mn-cs"/>
              </a:rPr>
              <a:t> une action sur la base de clique de </a:t>
            </a:r>
            <a:r>
              <a:rPr lang="en-US" sz="1200" kern="1200" baseline="0" dirty="0" err="1" smtClean="0">
                <a:solidFill>
                  <a:schemeClr val="tx1"/>
                </a:solidFill>
                <a:latin typeface="+mn-lt"/>
                <a:ea typeface="+mn-ea"/>
                <a:cs typeface="+mn-cs"/>
              </a:rPr>
              <a:t>l’élément</a:t>
            </a:r>
            <a:r>
              <a:rPr lang="en-US" sz="1200" kern="1200" baseline="0" dirty="0" smtClean="0">
                <a:solidFill>
                  <a:schemeClr val="tx1"/>
                </a:solidFill>
                <a:latin typeface="+mn-lt"/>
                <a:ea typeface="+mn-ea"/>
                <a:cs typeface="+mn-cs"/>
              </a:rPr>
              <a:t> </a:t>
            </a:r>
            <a:r>
              <a:rPr lang="en-US" sz="1200" kern="1200" baseline="0" dirty="0" err="1" smtClean="0">
                <a:solidFill>
                  <a:schemeClr val="tx1"/>
                </a:solidFill>
                <a:latin typeface="+mn-lt"/>
                <a:ea typeface="+mn-ea"/>
                <a:cs typeface="+mn-cs"/>
              </a:rPr>
              <a:t>choisi</a:t>
            </a:r>
            <a:endParaRPr lang="en-US" sz="1200" kern="1200" dirty="0" smtClean="0">
              <a:solidFill>
                <a:schemeClr val="tx1"/>
              </a:solidFill>
              <a:latin typeface="+mn-lt"/>
              <a:ea typeface="+mn-ea"/>
              <a:cs typeface="+mn-cs"/>
            </a:endParaRPr>
          </a:p>
          <a:p>
            <a:r>
              <a:rPr lang="en-US" sz="1200" kern="1200" dirty="0" smtClean="0">
                <a:solidFill>
                  <a:schemeClr val="tx1"/>
                </a:solidFill>
                <a:latin typeface="+mn-lt"/>
                <a:ea typeface="+mn-ea"/>
                <a:cs typeface="+mn-cs"/>
              </a:rPr>
              <a:t>private void </a:t>
            </a:r>
            <a:r>
              <a:rPr lang="en-US" sz="1200" kern="1200" dirty="0" err="1" smtClean="0">
                <a:solidFill>
                  <a:schemeClr val="tx1"/>
                </a:solidFill>
                <a:latin typeface="+mn-lt"/>
                <a:ea typeface="+mn-ea"/>
                <a:cs typeface="+mn-cs"/>
              </a:rPr>
              <a:t>searchbar_SearchButtonPressed</a:t>
            </a:r>
            <a:r>
              <a:rPr lang="en-US" sz="1200" kern="1200" dirty="0" smtClean="0">
                <a:solidFill>
                  <a:schemeClr val="tx1"/>
                </a:solidFill>
                <a:latin typeface="+mn-lt"/>
                <a:ea typeface="+mn-ea"/>
                <a:cs typeface="+mn-cs"/>
              </a:rPr>
              <a:t>(object sender, EventArgs e)</a:t>
            </a:r>
          </a:p>
          <a:p>
            <a:r>
              <a:rPr lang="fr-FR" sz="1200" kern="1200" dirty="0" smtClean="0">
                <a:solidFill>
                  <a:schemeClr val="tx1"/>
                </a:solidFill>
                <a:latin typeface="+mn-lt"/>
                <a:ea typeface="+mn-ea"/>
                <a:cs typeface="+mn-cs"/>
              </a:rPr>
              <a:t>    {</a:t>
            </a:r>
          </a:p>
          <a:p>
            <a:r>
              <a:rPr lang="fr-FR" sz="1200" kern="1200" dirty="0" smtClean="0">
                <a:solidFill>
                  <a:schemeClr val="tx1"/>
                </a:solidFill>
                <a:latin typeface="+mn-lt"/>
                <a:ea typeface="+mn-ea"/>
                <a:cs typeface="+mn-cs"/>
              </a:rPr>
              <a:t>         </a:t>
            </a:r>
          </a:p>
          <a:p>
            <a:r>
              <a:rPr lang="fr-FR" sz="1200" kern="1200" dirty="0" smtClean="0">
                <a:solidFill>
                  <a:schemeClr val="tx1"/>
                </a:solidFill>
                <a:latin typeface="+mn-lt"/>
                <a:ea typeface="+mn-ea"/>
                <a:cs typeface="+mn-cs"/>
              </a:rPr>
              <a:t>    }</a:t>
            </a:r>
          </a:p>
          <a:p>
            <a:r>
              <a:rPr lang="fr-FR" sz="1200" kern="1200" dirty="0" smtClean="0">
                <a:solidFill>
                  <a:schemeClr val="tx1"/>
                </a:solidFill>
                <a:latin typeface="+mn-lt"/>
                <a:ea typeface="+mn-ea"/>
                <a:cs typeface="+mn-cs"/>
              </a:rPr>
              <a:t>}</a:t>
            </a:r>
          </a:p>
          <a:p>
            <a:endParaRPr lang="fr-FR" sz="1200" b="1" kern="1200" dirty="0" smtClean="0">
              <a:solidFill>
                <a:schemeClr val="tx1"/>
              </a:solidFill>
              <a:latin typeface="+mn-lt"/>
              <a:ea typeface="+mn-ea"/>
              <a:cs typeface="+mn-cs"/>
            </a:endParaRPr>
          </a:p>
          <a:p>
            <a:r>
              <a:rPr lang="fr-FR" b="1" dirty="0" smtClean="0"/>
              <a:t>To </a:t>
            </a:r>
            <a:r>
              <a:rPr lang="fr-FR" b="1" dirty="0" err="1" smtClean="0"/>
              <a:t>Hid</a:t>
            </a:r>
            <a:r>
              <a:rPr lang="fr-FR" b="1" baseline="0" dirty="0" err="1" smtClean="0"/>
              <a:t>e</a:t>
            </a:r>
            <a:r>
              <a:rPr lang="fr-FR" b="1" baseline="0" dirty="0" smtClean="0"/>
              <a:t> the cancel </a:t>
            </a:r>
            <a:r>
              <a:rPr lang="fr-FR" b="1" baseline="0" dirty="0" err="1" smtClean="0"/>
              <a:t>button</a:t>
            </a:r>
            <a:r>
              <a:rPr lang="fr-FR" b="1" baseline="0" dirty="0" smtClean="0"/>
              <a:t> </a:t>
            </a:r>
          </a:p>
          <a:p>
            <a:endParaRPr lang="fr-FR" b="1" baseline="0" dirty="0" smtClean="0"/>
          </a:p>
          <a:p>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Microsoft.Maui.Handlers.SearchBarHandler.Mapper.AppendToMapping</a:t>
            </a:r>
            <a:r>
              <a:rPr lang="fr-FR" sz="1200" kern="1200" dirty="0" smtClean="0">
                <a:solidFill>
                  <a:schemeClr val="tx1"/>
                </a:solidFill>
                <a:latin typeface="+mn-lt"/>
                <a:ea typeface="+mn-ea"/>
                <a:cs typeface="+mn-cs"/>
              </a:rPr>
              <a:t>("</a:t>
            </a:r>
            <a:r>
              <a:rPr lang="fr-FR" sz="1200" kern="1200" dirty="0" err="1" smtClean="0">
                <a:solidFill>
                  <a:schemeClr val="tx1"/>
                </a:solidFill>
                <a:latin typeface="+mn-lt"/>
                <a:ea typeface="+mn-ea"/>
                <a:cs typeface="+mn-cs"/>
              </a:rPr>
              <a:t>MyCustomization</a:t>
            </a:r>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handler</a:t>
            </a:r>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view</a:t>
            </a:r>
            <a:r>
              <a:rPr lang="fr-FR" sz="1200" kern="1200" dirty="0" smtClean="0">
                <a:solidFill>
                  <a:schemeClr val="tx1"/>
                </a:solidFill>
                <a:latin typeface="+mn-lt"/>
                <a:ea typeface="+mn-ea"/>
                <a:cs typeface="+mn-cs"/>
              </a:rPr>
              <a:t>) =&gt;</a:t>
            </a:r>
          </a:p>
          <a:p>
            <a:r>
              <a:rPr lang="fr-FR" sz="1200" kern="1200" dirty="0" smtClean="0">
                <a:solidFill>
                  <a:schemeClr val="tx1"/>
                </a:solidFill>
                <a:latin typeface="+mn-lt"/>
                <a:ea typeface="+mn-ea"/>
                <a:cs typeface="+mn-cs"/>
              </a:rPr>
              <a:t>        {</a:t>
            </a:r>
          </a:p>
          <a:p>
            <a:r>
              <a:rPr lang="fr-FR" sz="1200" kern="1200" dirty="0" smtClean="0">
                <a:solidFill>
                  <a:schemeClr val="tx1"/>
                </a:solidFill>
                <a:latin typeface="+mn-lt"/>
                <a:ea typeface="+mn-ea"/>
                <a:cs typeface="+mn-cs"/>
              </a:rPr>
              <a:t>#if ANDROID</a:t>
            </a:r>
          </a:p>
          <a:p>
            <a:r>
              <a:rPr lang="fr-FR" sz="1200" kern="1200" dirty="0" smtClean="0">
                <a:solidFill>
                  <a:schemeClr val="tx1"/>
                </a:solidFill>
                <a:latin typeface="+mn-lt"/>
                <a:ea typeface="+mn-ea"/>
                <a:cs typeface="+mn-cs"/>
              </a:rPr>
              <a:t>            var </a:t>
            </a:r>
            <a:r>
              <a:rPr lang="fr-FR" sz="1200" kern="1200" dirty="0" err="1" smtClean="0">
                <a:solidFill>
                  <a:schemeClr val="tx1"/>
                </a:solidFill>
                <a:latin typeface="+mn-lt"/>
                <a:ea typeface="+mn-ea"/>
                <a:cs typeface="+mn-cs"/>
              </a:rPr>
              <a:t>close_btn_view</a:t>
            </a:r>
            <a:r>
              <a:rPr lang="fr-FR" sz="1200" kern="1200" dirty="0" smtClean="0">
                <a:solidFill>
                  <a:schemeClr val="tx1"/>
                </a:solidFill>
                <a:latin typeface="+mn-lt"/>
                <a:ea typeface="+mn-ea"/>
                <a:cs typeface="+mn-cs"/>
              </a:rPr>
              <a:t> = (</a:t>
            </a:r>
            <a:r>
              <a:rPr lang="fr-FR" sz="1200" kern="1200" dirty="0" err="1" smtClean="0">
                <a:solidFill>
                  <a:schemeClr val="tx1"/>
                </a:solidFill>
                <a:latin typeface="+mn-lt"/>
                <a:ea typeface="+mn-ea"/>
                <a:cs typeface="+mn-cs"/>
              </a:rPr>
              <a:t>handler.PlatformView</a:t>
            </a:r>
            <a:r>
              <a:rPr lang="fr-FR" sz="1200" kern="1200" dirty="0" smtClean="0">
                <a:solidFill>
                  <a:schemeClr val="tx1"/>
                </a:solidFill>
                <a:latin typeface="+mn-lt"/>
                <a:ea typeface="+mn-ea"/>
                <a:cs typeface="+mn-cs"/>
              </a:rPr>
              <a:t> as </a:t>
            </a:r>
            <a:r>
              <a:rPr lang="fr-FR" sz="1200" kern="1200" dirty="0" err="1" smtClean="0">
                <a:solidFill>
                  <a:schemeClr val="tx1"/>
                </a:solidFill>
                <a:latin typeface="+mn-lt"/>
                <a:ea typeface="+mn-ea"/>
                <a:cs typeface="+mn-cs"/>
              </a:rPr>
              <a:t>SearchView</a:t>
            </a:r>
            <a:r>
              <a:rPr lang="fr-FR" sz="1200" kern="1200" dirty="0" smtClean="0">
                <a:solidFill>
                  <a:schemeClr val="tx1"/>
                </a:solidFill>
                <a:latin typeface="+mn-lt"/>
                <a:ea typeface="+mn-ea"/>
                <a:cs typeface="+mn-cs"/>
              </a:rPr>
              <a:t>).</a:t>
            </a:r>
            <a:r>
              <a:rPr lang="fr-FR" sz="1200" kern="1200" dirty="0" err="1" smtClean="0">
                <a:solidFill>
                  <a:schemeClr val="tx1"/>
                </a:solidFill>
                <a:latin typeface="+mn-lt"/>
                <a:ea typeface="+mn-ea"/>
                <a:cs typeface="+mn-cs"/>
              </a:rPr>
              <a:t>FindViewById</a:t>
            </a:r>
            <a:r>
              <a:rPr lang="fr-FR" sz="1200" kern="1200" dirty="0" smtClean="0">
                <a:solidFill>
                  <a:schemeClr val="tx1"/>
                </a:solidFill>
                <a:latin typeface="+mn-lt"/>
                <a:ea typeface="+mn-ea"/>
                <a:cs typeface="+mn-cs"/>
              </a:rPr>
              <a:t>(</a:t>
            </a:r>
            <a:r>
              <a:rPr lang="fr-FR" sz="1200" kern="1200" dirty="0" err="1" smtClean="0">
                <a:solidFill>
                  <a:schemeClr val="tx1"/>
                </a:solidFill>
                <a:latin typeface="+mn-lt"/>
                <a:ea typeface="+mn-ea"/>
                <a:cs typeface="+mn-cs"/>
              </a:rPr>
              <a:t>Resource.Id.search_close_btn</a:t>
            </a:r>
            <a:r>
              <a:rPr lang="fr-FR" sz="1200" kern="1200" dirty="0" smtClean="0">
                <a:solidFill>
                  <a:schemeClr val="tx1"/>
                </a:solidFill>
                <a:latin typeface="+mn-lt"/>
                <a:ea typeface="+mn-ea"/>
                <a:cs typeface="+mn-cs"/>
              </a:rPr>
              <a:t>);</a:t>
            </a:r>
          </a:p>
          <a:p>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ViewGroup</a:t>
            </a:r>
            <a:r>
              <a:rPr lang="fr-FR" sz="1200" kern="1200" dirty="0" smtClean="0">
                <a:solidFill>
                  <a:schemeClr val="tx1"/>
                </a:solidFill>
                <a:latin typeface="+mn-lt"/>
                <a:ea typeface="+mn-ea"/>
                <a:cs typeface="+mn-cs"/>
              </a:rPr>
              <a:t>)</a:t>
            </a:r>
            <a:r>
              <a:rPr lang="fr-FR" sz="1200" kern="1200" dirty="0" err="1" smtClean="0">
                <a:solidFill>
                  <a:schemeClr val="tx1"/>
                </a:solidFill>
                <a:latin typeface="+mn-lt"/>
                <a:ea typeface="+mn-ea"/>
                <a:cs typeface="+mn-cs"/>
              </a:rPr>
              <a:t>close_btn_view.Parent</a:t>
            </a:r>
            <a:r>
              <a:rPr lang="fr-FR" sz="1200" kern="1200" dirty="0" smtClean="0">
                <a:solidFill>
                  <a:schemeClr val="tx1"/>
                </a:solidFill>
                <a:latin typeface="+mn-lt"/>
                <a:ea typeface="+mn-ea"/>
                <a:cs typeface="+mn-cs"/>
              </a:rPr>
              <a:t>).</a:t>
            </a:r>
            <a:r>
              <a:rPr lang="fr-FR" sz="1200" kern="1200" dirty="0" err="1" smtClean="0">
                <a:solidFill>
                  <a:schemeClr val="tx1"/>
                </a:solidFill>
                <a:latin typeface="+mn-lt"/>
                <a:ea typeface="+mn-ea"/>
                <a:cs typeface="+mn-cs"/>
              </a:rPr>
              <a:t>RemoveView</a:t>
            </a:r>
            <a:r>
              <a:rPr lang="fr-FR" sz="1200" kern="1200" dirty="0" smtClean="0">
                <a:solidFill>
                  <a:schemeClr val="tx1"/>
                </a:solidFill>
                <a:latin typeface="+mn-lt"/>
                <a:ea typeface="+mn-ea"/>
                <a:cs typeface="+mn-cs"/>
              </a:rPr>
              <a:t>(</a:t>
            </a:r>
            <a:r>
              <a:rPr lang="fr-FR" sz="1200" kern="1200" dirty="0" err="1" smtClean="0">
                <a:solidFill>
                  <a:schemeClr val="tx1"/>
                </a:solidFill>
                <a:latin typeface="+mn-lt"/>
                <a:ea typeface="+mn-ea"/>
                <a:cs typeface="+mn-cs"/>
              </a:rPr>
              <a:t>close_btn_view</a:t>
            </a:r>
            <a:r>
              <a:rPr lang="fr-FR" sz="1200" kern="1200" dirty="0" smtClean="0">
                <a:solidFill>
                  <a:schemeClr val="tx1"/>
                </a:solidFill>
                <a:latin typeface="+mn-lt"/>
                <a:ea typeface="+mn-ea"/>
                <a:cs typeface="+mn-cs"/>
              </a:rPr>
              <a:t>);</a:t>
            </a:r>
          </a:p>
          <a:p>
            <a:r>
              <a:rPr lang="fr-FR" sz="1200" kern="1200" dirty="0" smtClean="0">
                <a:solidFill>
                  <a:schemeClr val="tx1"/>
                </a:solidFill>
                <a:latin typeface="+mn-lt"/>
                <a:ea typeface="+mn-ea"/>
                <a:cs typeface="+mn-cs"/>
              </a:rPr>
              <a:t>#</a:t>
            </a:r>
            <a:r>
              <a:rPr lang="fr-FR" sz="1200" kern="1200" dirty="0" err="1" smtClean="0">
                <a:solidFill>
                  <a:schemeClr val="tx1"/>
                </a:solidFill>
                <a:latin typeface="+mn-lt"/>
                <a:ea typeface="+mn-ea"/>
                <a:cs typeface="+mn-cs"/>
              </a:rPr>
              <a:t>endif</a:t>
            </a:r>
            <a:endParaRPr lang="fr-FR" sz="1200" kern="1200" dirty="0" smtClean="0">
              <a:solidFill>
                <a:schemeClr val="tx1"/>
              </a:solidFill>
              <a:latin typeface="+mn-lt"/>
              <a:ea typeface="+mn-ea"/>
              <a:cs typeface="+mn-cs"/>
            </a:endParaRPr>
          </a:p>
          <a:p>
            <a:r>
              <a:rPr lang="fr-FR" sz="1200" kern="1200" dirty="0" smtClean="0">
                <a:solidFill>
                  <a:schemeClr val="tx1"/>
                </a:solidFill>
                <a:latin typeface="+mn-lt"/>
                <a:ea typeface="+mn-ea"/>
                <a:cs typeface="+mn-cs"/>
              </a:rPr>
              <a:t>        });</a:t>
            </a:r>
            <a:endParaRPr lang="fr-FR" b="1" dirty="0" smtClean="0"/>
          </a:p>
          <a:p>
            <a:endParaRPr lang="fr-FR" b="1" dirty="0" smtClean="0"/>
          </a:p>
          <a:p>
            <a:endParaRPr lang="fr-FR" b="1" dirty="0"/>
          </a:p>
        </p:txBody>
      </p:sp>
      <p:sp>
        <p:nvSpPr>
          <p:cNvPr id="4" name="Espace réservé du numéro de diapositive 3"/>
          <p:cNvSpPr>
            <a:spLocks noGrp="1"/>
          </p:cNvSpPr>
          <p:nvPr>
            <p:ph type="sldNum" sz="quarter" idx="10"/>
          </p:nvPr>
        </p:nvSpPr>
        <p:spPr/>
        <p:txBody>
          <a:bodyPr/>
          <a:lstStyle/>
          <a:p>
            <a:fld id="{C05E1AE6-1BFD-4589-9604-3D9D158FB781}" type="slidenum">
              <a:rPr lang="fr-FR" smtClean="0"/>
              <a:t>30</a:t>
            </a:fld>
            <a:endParaRPr lang="fr-FR"/>
          </a:p>
        </p:txBody>
      </p:sp>
    </p:spTree>
    <p:extLst>
      <p:ext uri="{BB962C8B-B14F-4D97-AF65-F5344CB8AC3E}">
        <p14:creationId xmlns:p14="http://schemas.microsoft.com/office/powerpoint/2010/main" val="18156052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b="1" dirty="0" smtClean="0"/>
              <a:t>Exemple d’implémentation</a:t>
            </a:r>
            <a:r>
              <a:rPr lang="fr-FR" b="1" baseline="0" dirty="0" smtClean="0"/>
              <a:t> de </a:t>
            </a:r>
            <a:r>
              <a:rPr lang="fr-FR" b="1" baseline="0" dirty="0" err="1" smtClean="0"/>
              <a:t>SearchBar</a:t>
            </a:r>
            <a:r>
              <a:rPr lang="fr-FR" b="1" baseline="0" dirty="0" smtClean="0"/>
              <a:t>:</a:t>
            </a:r>
          </a:p>
          <a:p>
            <a:endParaRPr lang="fr-FR" b="1" baseline="0" dirty="0" smtClean="0"/>
          </a:p>
          <a:p>
            <a:r>
              <a:rPr lang="fr-FR" sz="1200" kern="1200" dirty="0" smtClean="0">
                <a:solidFill>
                  <a:schemeClr val="tx1"/>
                </a:solidFill>
                <a:latin typeface="+mn-lt"/>
                <a:ea typeface="+mn-ea"/>
                <a:cs typeface="+mn-cs"/>
              </a:rPr>
              <a:t>public partial class MainPage : ContentPage</a:t>
            </a:r>
          </a:p>
          <a:p>
            <a:r>
              <a:rPr lang="fr-FR" sz="1200" kern="1200" dirty="0" smtClean="0">
                <a:solidFill>
                  <a:schemeClr val="tx1"/>
                </a:solidFill>
                <a:latin typeface="+mn-lt"/>
                <a:ea typeface="+mn-ea"/>
                <a:cs typeface="+mn-cs"/>
              </a:rPr>
              <a:t>{</a:t>
            </a:r>
          </a:p>
          <a:p>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ObservableCollection</a:t>
            </a:r>
            <a:r>
              <a:rPr lang="fr-FR" sz="1200" kern="1200" dirty="0" smtClean="0">
                <a:solidFill>
                  <a:schemeClr val="tx1"/>
                </a:solidFill>
                <a:latin typeface="+mn-lt"/>
                <a:ea typeface="+mn-ea"/>
                <a:cs typeface="+mn-cs"/>
              </a:rPr>
              <a:t>&lt;string&gt; _</a:t>
            </a:r>
            <a:r>
              <a:rPr lang="fr-FR" sz="1200" kern="1200" dirty="0" err="1" smtClean="0">
                <a:solidFill>
                  <a:schemeClr val="tx1"/>
                </a:solidFill>
                <a:latin typeface="+mn-lt"/>
                <a:ea typeface="+mn-ea"/>
                <a:cs typeface="+mn-cs"/>
              </a:rPr>
              <a:t>names</a:t>
            </a:r>
            <a:r>
              <a:rPr lang="fr-FR" sz="1200" kern="1200" dirty="0" smtClean="0">
                <a:solidFill>
                  <a:schemeClr val="tx1"/>
                </a:solidFill>
                <a:latin typeface="+mn-lt"/>
                <a:ea typeface="+mn-ea"/>
                <a:cs typeface="+mn-cs"/>
              </a:rPr>
              <a:t>;</a:t>
            </a:r>
          </a:p>
          <a:p>
            <a:endParaRPr lang="fr-FR" sz="1200" kern="1200" dirty="0" smtClean="0">
              <a:solidFill>
                <a:schemeClr val="tx1"/>
              </a:solidFill>
              <a:latin typeface="+mn-lt"/>
              <a:ea typeface="+mn-ea"/>
              <a:cs typeface="+mn-cs"/>
            </a:endParaRPr>
          </a:p>
          <a:p>
            <a:r>
              <a:rPr lang="fr-FR" sz="1200" kern="1200" dirty="0" smtClean="0">
                <a:solidFill>
                  <a:schemeClr val="tx1"/>
                </a:solidFill>
                <a:latin typeface="+mn-lt"/>
                <a:ea typeface="+mn-ea"/>
                <a:cs typeface="+mn-cs"/>
              </a:rPr>
              <a:t>    public MainPage()</a:t>
            </a:r>
          </a:p>
          <a:p>
            <a:r>
              <a:rPr lang="fr-FR" sz="1200" kern="1200" dirty="0" smtClean="0">
                <a:solidFill>
                  <a:schemeClr val="tx1"/>
                </a:solidFill>
                <a:latin typeface="+mn-lt"/>
                <a:ea typeface="+mn-ea"/>
                <a:cs typeface="+mn-cs"/>
              </a:rPr>
              <a:t>    {</a:t>
            </a:r>
          </a:p>
          <a:p>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InitializeComponent</a:t>
            </a:r>
            <a:r>
              <a:rPr lang="fr-FR" sz="1200" kern="1200" dirty="0" smtClean="0">
                <a:solidFill>
                  <a:schemeClr val="tx1"/>
                </a:solidFill>
                <a:latin typeface="+mn-lt"/>
                <a:ea typeface="+mn-ea"/>
                <a:cs typeface="+mn-cs"/>
              </a:rPr>
              <a:t>();</a:t>
            </a:r>
          </a:p>
          <a:p>
            <a:r>
              <a:rPr lang="fr-FR" sz="1200" kern="1200" dirty="0" smtClean="0">
                <a:solidFill>
                  <a:schemeClr val="tx1"/>
                </a:solidFill>
                <a:latin typeface="+mn-lt"/>
                <a:ea typeface="+mn-ea"/>
                <a:cs typeface="+mn-cs"/>
              </a:rPr>
              <a:t>        _</a:t>
            </a:r>
            <a:r>
              <a:rPr lang="fr-FR" sz="1200" kern="1200" dirty="0" err="1" smtClean="0">
                <a:solidFill>
                  <a:schemeClr val="tx1"/>
                </a:solidFill>
                <a:latin typeface="+mn-lt"/>
                <a:ea typeface="+mn-ea"/>
                <a:cs typeface="+mn-cs"/>
              </a:rPr>
              <a:t>names</a:t>
            </a:r>
            <a:r>
              <a:rPr lang="fr-FR" sz="1200" kern="1200" dirty="0" smtClean="0">
                <a:solidFill>
                  <a:schemeClr val="tx1"/>
                </a:solidFill>
                <a:latin typeface="+mn-lt"/>
                <a:ea typeface="+mn-ea"/>
                <a:cs typeface="+mn-cs"/>
              </a:rPr>
              <a:t> = new </a:t>
            </a:r>
            <a:r>
              <a:rPr lang="fr-FR" sz="1200" kern="1200" dirty="0" err="1" smtClean="0">
                <a:solidFill>
                  <a:schemeClr val="tx1"/>
                </a:solidFill>
                <a:latin typeface="+mn-lt"/>
                <a:ea typeface="+mn-ea"/>
                <a:cs typeface="+mn-cs"/>
              </a:rPr>
              <a:t>ObservableCollection</a:t>
            </a:r>
            <a:r>
              <a:rPr lang="fr-FR" sz="1200" kern="1200" dirty="0" smtClean="0">
                <a:solidFill>
                  <a:schemeClr val="tx1"/>
                </a:solidFill>
                <a:latin typeface="+mn-lt"/>
                <a:ea typeface="+mn-ea"/>
                <a:cs typeface="+mn-cs"/>
              </a:rPr>
              <a:t>&lt;string&gt;()</a:t>
            </a:r>
          </a:p>
          <a:p>
            <a:r>
              <a:rPr lang="fr-FR" sz="1200" kern="1200" dirty="0" smtClean="0">
                <a:solidFill>
                  <a:schemeClr val="tx1"/>
                </a:solidFill>
                <a:latin typeface="+mn-lt"/>
                <a:ea typeface="+mn-ea"/>
                <a:cs typeface="+mn-cs"/>
              </a:rPr>
              <a:t>        {</a:t>
            </a:r>
          </a:p>
          <a:p>
            <a:r>
              <a:rPr lang="en-US" sz="1200" kern="1200" dirty="0" smtClean="0">
                <a:solidFill>
                  <a:schemeClr val="tx1"/>
                </a:solidFill>
                <a:latin typeface="+mn-lt"/>
                <a:ea typeface="+mn-ea"/>
                <a:cs typeface="+mn-cs"/>
              </a:rPr>
              <a:t>            "Luther </a:t>
            </a:r>
            <a:r>
              <a:rPr lang="en-US" sz="1200" kern="1200" dirty="0" err="1" smtClean="0">
                <a:solidFill>
                  <a:schemeClr val="tx1"/>
                </a:solidFill>
                <a:latin typeface="+mn-lt"/>
                <a:ea typeface="+mn-ea"/>
                <a:cs typeface="+mn-cs"/>
              </a:rPr>
              <a:t>Collins","Harry</a:t>
            </a:r>
            <a:r>
              <a:rPr lang="en-US" sz="1200" kern="1200" dirty="0" smtClean="0">
                <a:solidFill>
                  <a:schemeClr val="tx1"/>
                </a:solidFill>
                <a:latin typeface="+mn-lt"/>
                <a:ea typeface="+mn-ea"/>
                <a:cs typeface="+mn-cs"/>
              </a:rPr>
              <a:t> </a:t>
            </a:r>
            <a:r>
              <a:rPr lang="en-US" sz="1200" kern="1200" dirty="0" err="1" smtClean="0">
                <a:solidFill>
                  <a:schemeClr val="tx1"/>
                </a:solidFill>
                <a:latin typeface="+mn-lt"/>
                <a:ea typeface="+mn-ea"/>
                <a:cs typeface="+mn-cs"/>
              </a:rPr>
              <a:t>Crosby","Monty</a:t>
            </a:r>
            <a:r>
              <a:rPr lang="en-US" sz="1200" kern="1200" dirty="0" smtClean="0">
                <a:solidFill>
                  <a:schemeClr val="tx1"/>
                </a:solidFill>
                <a:latin typeface="+mn-lt"/>
                <a:ea typeface="+mn-ea"/>
                <a:cs typeface="+mn-cs"/>
              </a:rPr>
              <a:t> </a:t>
            </a:r>
            <a:r>
              <a:rPr lang="en-US" sz="1200" kern="1200" dirty="0" err="1" smtClean="0">
                <a:solidFill>
                  <a:schemeClr val="tx1"/>
                </a:solidFill>
                <a:latin typeface="+mn-lt"/>
                <a:ea typeface="+mn-ea"/>
                <a:cs typeface="+mn-cs"/>
              </a:rPr>
              <a:t>Randolph","Heath</a:t>
            </a:r>
            <a:r>
              <a:rPr lang="en-US" sz="1200" kern="1200" dirty="0" smtClean="0">
                <a:solidFill>
                  <a:schemeClr val="tx1"/>
                </a:solidFill>
                <a:latin typeface="+mn-lt"/>
                <a:ea typeface="+mn-ea"/>
                <a:cs typeface="+mn-cs"/>
              </a:rPr>
              <a:t> Monroe",</a:t>
            </a:r>
          </a:p>
          <a:p>
            <a:r>
              <a:rPr lang="fr-FR" sz="1200" kern="1200" dirty="0" smtClean="0">
                <a:solidFill>
                  <a:schemeClr val="tx1"/>
                </a:solidFill>
                <a:latin typeface="+mn-lt"/>
                <a:ea typeface="+mn-ea"/>
                <a:cs typeface="+mn-cs"/>
              </a:rPr>
              <a:t>            "Sandra </a:t>
            </a:r>
            <a:r>
              <a:rPr lang="fr-FR" sz="1200" kern="1200" dirty="0" err="1" smtClean="0">
                <a:solidFill>
                  <a:schemeClr val="tx1"/>
                </a:solidFill>
                <a:latin typeface="+mn-lt"/>
                <a:ea typeface="+mn-ea"/>
                <a:cs typeface="+mn-cs"/>
              </a:rPr>
              <a:t>Walls</a:t>
            </a:r>
            <a:r>
              <a:rPr lang="fr-FR" sz="1200" kern="1200" dirty="0" smtClean="0">
                <a:solidFill>
                  <a:schemeClr val="tx1"/>
                </a:solidFill>
                <a:latin typeface="+mn-lt"/>
                <a:ea typeface="+mn-ea"/>
                <a:cs typeface="+mn-cs"/>
              </a:rPr>
              <a:t>","</a:t>
            </a:r>
            <a:r>
              <a:rPr lang="fr-FR" sz="1200" kern="1200" dirty="0" err="1" smtClean="0">
                <a:solidFill>
                  <a:schemeClr val="tx1"/>
                </a:solidFill>
                <a:latin typeface="+mn-lt"/>
                <a:ea typeface="+mn-ea"/>
                <a:cs typeface="+mn-cs"/>
              </a:rPr>
              <a:t>Conor</a:t>
            </a:r>
            <a:r>
              <a:rPr lang="fr-FR" sz="1200" kern="1200" dirty="0" smtClean="0">
                <a:solidFill>
                  <a:schemeClr val="tx1"/>
                </a:solidFill>
                <a:latin typeface="+mn-lt"/>
                <a:ea typeface="+mn-ea"/>
                <a:cs typeface="+mn-cs"/>
              </a:rPr>
              <a:t> Barton","</a:t>
            </a:r>
            <a:r>
              <a:rPr lang="fr-FR" sz="1200" kern="1200" dirty="0" err="1" smtClean="0">
                <a:solidFill>
                  <a:schemeClr val="tx1"/>
                </a:solidFill>
                <a:latin typeface="+mn-lt"/>
                <a:ea typeface="+mn-ea"/>
                <a:cs typeface="+mn-cs"/>
              </a:rPr>
              <a:t>Jazmin</a:t>
            </a:r>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Jordan","Julius</a:t>
            </a:r>
            <a:r>
              <a:rPr lang="fr-FR" sz="1200" kern="1200" dirty="0" smtClean="0">
                <a:solidFill>
                  <a:schemeClr val="tx1"/>
                </a:solidFill>
                <a:latin typeface="+mn-lt"/>
                <a:ea typeface="+mn-ea"/>
                <a:cs typeface="+mn-cs"/>
              </a:rPr>
              <a:t> Fulton",</a:t>
            </a:r>
          </a:p>
          <a:p>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Humaira</a:t>
            </a:r>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Calderon</a:t>
            </a:r>
            <a:r>
              <a:rPr lang="fr-FR" sz="1200" kern="1200" dirty="0" smtClean="0">
                <a:solidFill>
                  <a:schemeClr val="tx1"/>
                </a:solidFill>
                <a:latin typeface="+mn-lt"/>
                <a:ea typeface="+mn-ea"/>
                <a:cs typeface="+mn-cs"/>
              </a:rPr>
              <a:t>","</a:t>
            </a:r>
            <a:r>
              <a:rPr lang="fr-FR" sz="1200" kern="1200" dirty="0" err="1" smtClean="0">
                <a:solidFill>
                  <a:schemeClr val="tx1"/>
                </a:solidFill>
                <a:latin typeface="+mn-lt"/>
                <a:ea typeface="+mn-ea"/>
                <a:cs typeface="+mn-cs"/>
              </a:rPr>
              <a:t>Asiya</a:t>
            </a:r>
            <a:r>
              <a:rPr lang="fr-FR" sz="1200" kern="1200" dirty="0" smtClean="0">
                <a:solidFill>
                  <a:schemeClr val="tx1"/>
                </a:solidFill>
                <a:latin typeface="+mn-lt"/>
                <a:ea typeface="+mn-ea"/>
                <a:cs typeface="+mn-cs"/>
              </a:rPr>
              <a:t> Harris"</a:t>
            </a:r>
          </a:p>
          <a:p>
            <a:r>
              <a:rPr lang="fr-FR" sz="1200" kern="1200" dirty="0" smtClean="0">
                <a:solidFill>
                  <a:schemeClr val="tx1"/>
                </a:solidFill>
                <a:latin typeface="+mn-lt"/>
                <a:ea typeface="+mn-ea"/>
                <a:cs typeface="+mn-cs"/>
              </a:rPr>
              <a:t>        };</a:t>
            </a:r>
          </a:p>
          <a:p>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listview.ItemsSource</a:t>
            </a:r>
            <a:r>
              <a:rPr lang="fr-FR" sz="1200" kern="1200" dirty="0" smtClean="0">
                <a:solidFill>
                  <a:schemeClr val="tx1"/>
                </a:solidFill>
                <a:latin typeface="+mn-lt"/>
                <a:ea typeface="+mn-ea"/>
                <a:cs typeface="+mn-cs"/>
              </a:rPr>
              <a:t> = _</a:t>
            </a:r>
            <a:r>
              <a:rPr lang="fr-FR" sz="1200" kern="1200" dirty="0" err="1" smtClean="0">
                <a:solidFill>
                  <a:schemeClr val="tx1"/>
                </a:solidFill>
                <a:latin typeface="+mn-lt"/>
                <a:ea typeface="+mn-ea"/>
                <a:cs typeface="+mn-cs"/>
              </a:rPr>
              <a:t>names</a:t>
            </a:r>
            <a:r>
              <a:rPr lang="fr-FR" sz="1200" kern="1200" dirty="0" smtClean="0">
                <a:solidFill>
                  <a:schemeClr val="tx1"/>
                </a:solidFill>
                <a:latin typeface="+mn-lt"/>
                <a:ea typeface="+mn-ea"/>
                <a:cs typeface="+mn-cs"/>
              </a:rPr>
              <a:t>;</a:t>
            </a:r>
          </a:p>
          <a:p>
            <a:r>
              <a:rPr lang="fr-FR" sz="1200" kern="1200" dirty="0" smtClean="0">
                <a:solidFill>
                  <a:schemeClr val="tx1"/>
                </a:solidFill>
                <a:latin typeface="+mn-lt"/>
                <a:ea typeface="+mn-ea"/>
                <a:cs typeface="+mn-cs"/>
              </a:rPr>
              <a:t>    }</a:t>
            </a:r>
          </a:p>
          <a:p>
            <a:endParaRPr lang="fr-FR" sz="1200" kern="1200" dirty="0" smtClean="0">
              <a:solidFill>
                <a:schemeClr val="tx1"/>
              </a:solidFill>
              <a:latin typeface="+mn-lt"/>
              <a:ea typeface="+mn-ea"/>
              <a:cs typeface="+mn-cs"/>
            </a:endParaRPr>
          </a:p>
          <a:p>
            <a:r>
              <a:rPr lang="fr-FR" sz="1200" kern="1200" dirty="0" smtClean="0">
                <a:solidFill>
                  <a:schemeClr val="tx1"/>
                </a:solidFill>
                <a:latin typeface="+mn-lt"/>
                <a:ea typeface="+mn-ea"/>
                <a:cs typeface="+mn-cs"/>
              </a:rPr>
              <a:t>  </a:t>
            </a:r>
          </a:p>
          <a:p>
            <a:endParaRPr lang="fr-FR" sz="1200" kern="1200" dirty="0" smtClean="0">
              <a:solidFill>
                <a:schemeClr val="tx1"/>
              </a:solidFill>
              <a:latin typeface="+mn-lt"/>
              <a:ea typeface="+mn-ea"/>
              <a:cs typeface="+mn-cs"/>
            </a:endParaRPr>
          </a:p>
          <a:p>
            <a:r>
              <a:rPr lang="en-US" sz="1200" kern="1200" dirty="0" smtClean="0">
                <a:solidFill>
                  <a:schemeClr val="tx1"/>
                </a:solidFill>
                <a:latin typeface="+mn-lt"/>
                <a:ea typeface="+mn-ea"/>
                <a:cs typeface="+mn-cs"/>
              </a:rPr>
              <a:t>    private void </a:t>
            </a:r>
            <a:r>
              <a:rPr lang="en-US" sz="1200" kern="1200" dirty="0" err="1" smtClean="0">
                <a:solidFill>
                  <a:schemeClr val="tx1"/>
                </a:solidFill>
                <a:latin typeface="+mn-lt"/>
                <a:ea typeface="+mn-ea"/>
                <a:cs typeface="+mn-cs"/>
              </a:rPr>
              <a:t>searchbar_TextChanged</a:t>
            </a:r>
            <a:r>
              <a:rPr lang="en-US" sz="1200" kern="1200" dirty="0" smtClean="0">
                <a:solidFill>
                  <a:schemeClr val="tx1"/>
                </a:solidFill>
                <a:latin typeface="+mn-lt"/>
                <a:ea typeface="+mn-ea"/>
                <a:cs typeface="+mn-cs"/>
              </a:rPr>
              <a:t>(object sender, </a:t>
            </a:r>
            <a:r>
              <a:rPr lang="en-US" sz="1200" kern="1200" dirty="0" err="1" smtClean="0">
                <a:solidFill>
                  <a:schemeClr val="tx1"/>
                </a:solidFill>
                <a:latin typeface="+mn-lt"/>
                <a:ea typeface="+mn-ea"/>
                <a:cs typeface="+mn-cs"/>
              </a:rPr>
              <a:t>TextChangedEventArgs</a:t>
            </a:r>
            <a:r>
              <a:rPr lang="en-US" sz="1200" kern="1200" dirty="0" smtClean="0">
                <a:solidFill>
                  <a:schemeClr val="tx1"/>
                </a:solidFill>
                <a:latin typeface="+mn-lt"/>
                <a:ea typeface="+mn-ea"/>
                <a:cs typeface="+mn-cs"/>
              </a:rPr>
              <a:t> e)</a:t>
            </a:r>
          </a:p>
          <a:p>
            <a:r>
              <a:rPr lang="fr-FR" sz="1200" kern="1200" dirty="0" smtClean="0">
                <a:solidFill>
                  <a:schemeClr val="tx1"/>
                </a:solidFill>
                <a:latin typeface="+mn-lt"/>
                <a:ea typeface="+mn-ea"/>
                <a:cs typeface="+mn-cs"/>
              </a:rPr>
              <a:t>    {</a:t>
            </a:r>
          </a:p>
          <a:p>
            <a:r>
              <a:rPr lang="fr-FR" sz="1200" kern="1200" dirty="0" smtClean="0">
                <a:solidFill>
                  <a:schemeClr val="tx1"/>
                </a:solidFill>
                <a:latin typeface="+mn-lt"/>
                <a:ea typeface="+mn-ea"/>
                <a:cs typeface="+mn-cs"/>
              </a:rPr>
              <a:t>        if (!</a:t>
            </a:r>
            <a:r>
              <a:rPr lang="fr-FR" sz="1200" kern="1200" dirty="0" err="1" smtClean="0">
                <a:solidFill>
                  <a:schemeClr val="tx1"/>
                </a:solidFill>
                <a:latin typeface="+mn-lt"/>
                <a:ea typeface="+mn-ea"/>
                <a:cs typeface="+mn-cs"/>
              </a:rPr>
              <a:t>string.IsNullOrEmpty</a:t>
            </a:r>
            <a:r>
              <a:rPr lang="fr-FR" sz="1200" kern="1200" dirty="0" smtClean="0">
                <a:solidFill>
                  <a:schemeClr val="tx1"/>
                </a:solidFill>
                <a:latin typeface="+mn-lt"/>
                <a:ea typeface="+mn-ea"/>
                <a:cs typeface="+mn-cs"/>
              </a:rPr>
              <a:t>(</a:t>
            </a:r>
            <a:r>
              <a:rPr lang="fr-FR" sz="1200" kern="1200" dirty="0" err="1" smtClean="0">
                <a:solidFill>
                  <a:schemeClr val="tx1"/>
                </a:solidFill>
                <a:latin typeface="+mn-lt"/>
                <a:ea typeface="+mn-ea"/>
                <a:cs typeface="+mn-cs"/>
              </a:rPr>
              <a:t>e.NewTextValue</a:t>
            </a:r>
            <a:r>
              <a:rPr lang="fr-FR" sz="1200" kern="1200" dirty="0" smtClean="0">
                <a:solidFill>
                  <a:schemeClr val="tx1"/>
                </a:solidFill>
                <a:latin typeface="+mn-lt"/>
                <a:ea typeface="+mn-ea"/>
                <a:cs typeface="+mn-cs"/>
              </a:rPr>
              <a:t>))</a:t>
            </a:r>
          </a:p>
          <a:p>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listview.ItemsSource</a:t>
            </a:r>
            <a:r>
              <a:rPr lang="fr-FR" sz="1200" kern="1200" dirty="0" smtClean="0">
                <a:solidFill>
                  <a:schemeClr val="tx1"/>
                </a:solidFill>
                <a:latin typeface="+mn-lt"/>
                <a:ea typeface="+mn-ea"/>
                <a:cs typeface="+mn-cs"/>
              </a:rPr>
              <a:t> = _</a:t>
            </a:r>
            <a:r>
              <a:rPr lang="fr-FR" sz="1200" kern="1200" dirty="0" err="1" smtClean="0">
                <a:solidFill>
                  <a:schemeClr val="tx1"/>
                </a:solidFill>
                <a:latin typeface="+mn-lt"/>
                <a:ea typeface="+mn-ea"/>
                <a:cs typeface="+mn-cs"/>
              </a:rPr>
              <a:t>names.Where</a:t>
            </a:r>
            <a:r>
              <a:rPr lang="fr-FR" sz="1200" kern="1200" dirty="0" smtClean="0">
                <a:solidFill>
                  <a:schemeClr val="tx1"/>
                </a:solidFill>
                <a:latin typeface="+mn-lt"/>
                <a:ea typeface="+mn-ea"/>
                <a:cs typeface="+mn-cs"/>
              </a:rPr>
              <a:t>(x =&gt; </a:t>
            </a:r>
            <a:r>
              <a:rPr lang="fr-FR" sz="1200" kern="1200" dirty="0" err="1" smtClean="0">
                <a:solidFill>
                  <a:schemeClr val="tx1"/>
                </a:solidFill>
                <a:latin typeface="+mn-lt"/>
                <a:ea typeface="+mn-ea"/>
                <a:cs typeface="+mn-cs"/>
              </a:rPr>
              <a:t>x.Contains</a:t>
            </a:r>
            <a:r>
              <a:rPr lang="fr-FR" sz="1200" kern="1200" dirty="0" smtClean="0">
                <a:solidFill>
                  <a:schemeClr val="tx1"/>
                </a:solidFill>
                <a:latin typeface="+mn-lt"/>
                <a:ea typeface="+mn-ea"/>
                <a:cs typeface="+mn-cs"/>
              </a:rPr>
              <a:t>(</a:t>
            </a:r>
            <a:r>
              <a:rPr lang="fr-FR" sz="1200" kern="1200" dirty="0" err="1" smtClean="0">
                <a:solidFill>
                  <a:schemeClr val="tx1"/>
                </a:solidFill>
                <a:latin typeface="+mn-lt"/>
                <a:ea typeface="+mn-ea"/>
                <a:cs typeface="+mn-cs"/>
              </a:rPr>
              <a:t>e.NewTextValue</a:t>
            </a:r>
            <a:r>
              <a:rPr lang="fr-FR" sz="1200" kern="1200" dirty="0" smtClean="0">
                <a:solidFill>
                  <a:schemeClr val="tx1"/>
                </a:solidFill>
                <a:latin typeface="+mn-lt"/>
                <a:ea typeface="+mn-ea"/>
                <a:cs typeface="+mn-cs"/>
              </a:rPr>
              <a:t>));</a:t>
            </a:r>
          </a:p>
          <a:p>
            <a:r>
              <a:rPr lang="fr-FR" sz="1200" kern="1200" dirty="0" smtClean="0">
                <a:solidFill>
                  <a:schemeClr val="tx1"/>
                </a:solidFill>
                <a:latin typeface="+mn-lt"/>
                <a:ea typeface="+mn-ea"/>
                <a:cs typeface="+mn-cs"/>
              </a:rPr>
              <a:t>        else </a:t>
            </a:r>
            <a:r>
              <a:rPr lang="fr-FR" sz="1200" kern="1200" dirty="0" err="1" smtClean="0">
                <a:solidFill>
                  <a:schemeClr val="tx1"/>
                </a:solidFill>
                <a:latin typeface="+mn-lt"/>
                <a:ea typeface="+mn-ea"/>
                <a:cs typeface="+mn-cs"/>
              </a:rPr>
              <a:t>listview.ItemsSource</a:t>
            </a:r>
            <a:r>
              <a:rPr lang="fr-FR" sz="1200" kern="1200" dirty="0" smtClean="0">
                <a:solidFill>
                  <a:schemeClr val="tx1"/>
                </a:solidFill>
                <a:latin typeface="+mn-lt"/>
                <a:ea typeface="+mn-ea"/>
                <a:cs typeface="+mn-cs"/>
              </a:rPr>
              <a:t> = _</a:t>
            </a:r>
            <a:r>
              <a:rPr lang="fr-FR" sz="1200" kern="1200" dirty="0" err="1" smtClean="0">
                <a:solidFill>
                  <a:schemeClr val="tx1"/>
                </a:solidFill>
                <a:latin typeface="+mn-lt"/>
                <a:ea typeface="+mn-ea"/>
                <a:cs typeface="+mn-cs"/>
              </a:rPr>
              <a:t>names</a:t>
            </a:r>
            <a:r>
              <a:rPr lang="fr-FR" sz="1200" kern="1200" dirty="0" smtClean="0">
                <a:solidFill>
                  <a:schemeClr val="tx1"/>
                </a:solidFill>
                <a:latin typeface="+mn-lt"/>
                <a:ea typeface="+mn-ea"/>
                <a:cs typeface="+mn-cs"/>
              </a:rPr>
              <a:t>;</a:t>
            </a:r>
          </a:p>
          <a:p>
            <a:r>
              <a:rPr lang="fr-FR" sz="1200" kern="1200" dirty="0" smtClean="0">
                <a:solidFill>
                  <a:schemeClr val="tx1"/>
                </a:solidFill>
                <a:latin typeface="+mn-lt"/>
                <a:ea typeface="+mn-ea"/>
                <a:cs typeface="+mn-cs"/>
              </a:rPr>
              <a:t>    }</a:t>
            </a:r>
          </a:p>
          <a:p>
            <a:endParaRPr lang="fr-FR" sz="1200" kern="1200" dirty="0" smtClean="0">
              <a:solidFill>
                <a:schemeClr val="tx1"/>
              </a:solidFill>
              <a:latin typeface="+mn-lt"/>
              <a:ea typeface="+mn-ea"/>
              <a:cs typeface="+mn-cs"/>
            </a:endParaRPr>
          </a:p>
          <a:p>
            <a:r>
              <a:rPr lang="en-US" sz="1200" kern="1200" dirty="0" smtClean="0">
                <a:solidFill>
                  <a:schemeClr val="tx1"/>
                </a:solidFill>
                <a:latin typeface="+mn-lt"/>
                <a:ea typeface="+mn-ea"/>
                <a:cs typeface="+mn-cs"/>
              </a:rPr>
              <a:t>       //</a:t>
            </a:r>
            <a:r>
              <a:rPr lang="en-US" sz="1200" kern="1200" dirty="0" err="1" smtClean="0">
                <a:solidFill>
                  <a:schemeClr val="tx1"/>
                </a:solidFill>
                <a:latin typeface="+mn-lt"/>
                <a:ea typeface="+mn-ea"/>
                <a:cs typeface="+mn-cs"/>
              </a:rPr>
              <a:t>Déclenche</a:t>
            </a:r>
            <a:r>
              <a:rPr lang="en-US" sz="1200" kern="1200" baseline="0" dirty="0" smtClean="0">
                <a:solidFill>
                  <a:schemeClr val="tx1"/>
                </a:solidFill>
                <a:latin typeface="+mn-lt"/>
                <a:ea typeface="+mn-ea"/>
                <a:cs typeface="+mn-cs"/>
              </a:rPr>
              <a:t> une action sur la base de clique de </a:t>
            </a:r>
            <a:r>
              <a:rPr lang="en-US" sz="1200" kern="1200" baseline="0" dirty="0" err="1" smtClean="0">
                <a:solidFill>
                  <a:schemeClr val="tx1"/>
                </a:solidFill>
                <a:latin typeface="+mn-lt"/>
                <a:ea typeface="+mn-ea"/>
                <a:cs typeface="+mn-cs"/>
              </a:rPr>
              <a:t>l’élément</a:t>
            </a:r>
            <a:r>
              <a:rPr lang="en-US" sz="1200" kern="1200" baseline="0" dirty="0" smtClean="0">
                <a:solidFill>
                  <a:schemeClr val="tx1"/>
                </a:solidFill>
                <a:latin typeface="+mn-lt"/>
                <a:ea typeface="+mn-ea"/>
                <a:cs typeface="+mn-cs"/>
              </a:rPr>
              <a:t> </a:t>
            </a:r>
            <a:r>
              <a:rPr lang="en-US" sz="1200" kern="1200" baseline="0" dirty="0" err="1" smtClean="0">
                <a:solidFill>
                  <a:schemeClr val="tx1"/>
                </a:solidFill>
                <a:latin typeface="+mn-lt"/>
                <a:ea typeface="+mn-ea"/>
                <a:cs typeface="+mn-cs"/>
              </a:rPr>
              <a:t>choisi</a:t>
            </a:r>
            <a:endParaRPr lang="en-US" sz="1200" kern="1200" dirty="0" smtClean="0">
              <a:solidFill>
                <a:schemeClr val="tx1"/>
              </a:solidFill>
              <a:latin typeface="+mn-lt"/>
              <a:ea typeface="+mn-ea"/>
              <a:cs typeface="+mn-cs"/>
            </a:endParaRPr>
          </a:p>
          <a:p>
            <a:r>
              <a:rPr lang="en-US" sz="1200" kern="1200" dirty="0" smtClean="0">
                <a:solidFill>
                  <a:schemeClr val="tx1"/>
                </a:solidFill>
                <a:latin typeface="+mn-lt"/>
                <a:ea typeface="+mn-ea"/>
                <a:cs typeface="+mn-cs"/>
              </a:rPr>
              <a:t>private void </a:t>
            </a:r>
            <a:r>
              <a:rPr lang="en-US" sz="1200" kern="1200" dirty="0" err="1" smtClean="0">
                <a:solidFill>
                  <a:schemeClr val="tx1"/>
                </a:solidFill>
                <a:latin typeface="+mn-lt"/>
                <a:ea typeface="+mn-ea"/>
                <a:cs typeface="+mn-cs"/>
              </a:rPr>
              <a:t>searchbar_SearchButtonPressed</a:t>
            </a:r>
            <a:r>
              <a:rPr lang="en-US" sz="1200" kern="1200" dirty="0" smtClean="0">
                <a:solidFill>
                  <a:schemeClr val="tx1"/>
                </a:solidFill>
                <a:latin typeface="+mn-lt"/>
                <a:ea typeface="+mn-ea"/>
                <a:cs typeface="+mn-cs"/>
              </a:rPr>
              <a:t>(object sender, EventArgs e)</a:t>
            </a:r>
          </a:p>
          <a:p>
            <a:r>
              <a:rPr lang="fr-FR" sz="1200" kern="1200" dirty="0" smtClean="0">
                <a:solidFill>
                  <a:schemeClr val="tx1"/>
                </a:solidFill>
                <a:latin typeface="+mn-lt"/>
                <a:ea typeface="+mn-ea"/>
                <a:cs typeface="+mn-cs"/>
              </a:rPr>
              <a:t>    {</a:t>
            </a:r>
          </a:p>
          <a:p>
            <a:r>
              <a:rPr lang="fr-FR" sz="1200" kern="1200" dirty="0" smtClean="0">
                <a:solidFill>
                  <a:schemeClr val="tx1"/>
                </a:solidFill>
                <a:latin typeface="+mn-lt"/>
                <a:ea typeface="+mn-ea"/>
                <a:cs typeface="+mn-cs"/>
              </a:rPr>
              <a:t>         </a:t>
            </a:r>
          </a:p>
          <a:p>
            <a:r>
              <a:rPr lang="fr-FR" sz="1200" kern="1200" dirty="0" smtClean="0">
                <a:solidFill>
                  <a:schemeClr val="tx1"/>
                </a:solidFill>
                <a:latin typeface="+mn-lt"/>
                <a:ea typeface="+mn-ea"/>
                <a:cs typeface="+mn-cs"/>
              </a:rPr>
              <a:t>    }</a:t>
            </a:r>
          </a:p>
          <a:p>
            <a:r>
              <a:rPr lang="fr-FR" sz="1200" kern="1200" dirty="0" smtClean="0">
                <a:solidFill>
                  <a:schemeClr val="tx1"/>
                </a:solidFill>
                <a:latin typeface="+mn-lt"/>
                <a:ea typeface="+mn-ea"/>
                <a:cs typeface="+mn-cs"/>
              </a:rPr>
              <a:t>}</a:t>
            </a:r>
          </a:p>
          <a:p>
            <a:endParaRPr lang="fr-FR" sz="1200" b="1" kern="1200" dirty="0" smtClean="0">
              <a:solidFill>
                <a:schemeClr val="tx1"/>
              </a:solidFill>
              <a:latin typeface="+mn-lt"/>
              <a:ea typeface="+mn-ea"/>
              <a:cs typeface="+mn-cs"/>
            </a:endParaRPr>
          </a:p>
          <a:p>
            <a:r>
              <a:rPr lang="fr-FR" b="1" dirty="0" smtClean="0"/>
              <a:t>To </a:t>
            </a:r>
            <a:r>
              <a:rPr lang="fr-FR" b="1" dirty="0" err="1" smtClean="0"/>
              <a:t>Hid</a:t>
            </a:r>
            <a:r>
              <a:rPr lang="fr-FR" b="1" baseline="0" dirty="0" err="1" smtClean="0"/>
              <a:t>e</a:t>
            </a:r>
            <a:r>
              <a:rPr lang="fr-FR" b="1" baseline="0" dirty="0" smtClean="0"/>
              <a:t> the cancel </a:t>
            </a:r>
            <a:r>
              <a:rPr lang="fr-FR" b="1" baseline="0" dirty="0" err="1" smtClean="0"/>
              <a:t>button</a:t>
            </a:r>
            <a:r>
              <a:rPr lang="fr-FR" b="1" baseline="0" dirty="0" smtClean="0"/>
              <a:t> </a:t>
            </a:r>
          </a:p>
          <a:p>
            <a:endParaRPr lang="fr-FR" b="1" baseline="0" dirty="0" smtClean="0"/>
          </a:p>
          <a:p>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Microsoft.Maui.Handlers.SearchBarHandler.Mapper.AppendToMapping</a:t>
            </a:r>
            <a:r>
              <a:rPr lang="fr-FR" sz="1200" kern="1200" dirty="0" smtClean="0">
                <a:solidFill>
                  <a:schemeClr val="tx1"/>
                </a:solidFill>
                <a:latin typeface="+mn-lt"/>
                <a:ea typeface="+mn-ea"/>
                <a:cs typeface="+mn-cs"/>
              </a:rPr>
              <a:t>("</a:t>
            </a:r>
            <a:r>
              <a:rPr lang="fr-FR" sz="1200" kern="1200" dirty="0" err="1" smtClean="0">
                <a:solidFill>
                  <a:schemeClr val="tx1"/>
                </a:solidFill>
                <a:latin typeface="+mn-lt"/>
                <a:ea typeface="+mn-ea"/>
                <a:cs typeface="+mn-cs"/>
              </a:rPr>
              <a:t>MyCustomization</a:t>
            </a:r>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handler</a:t>
            </a:r>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view</a:t>
            </a:r>
            <a:r>
              <a:rPr lang="fr-FR" sz="1200" kern="1200" dirty="0" smtClean="0">
                <a:solidFill>
                  <a:schemeClr val="tx1"/>
                </a:solidFill>
                <a:latin typeface="+mn-lt"/>
                <a:ea typeface="+mn-ea"/>
                <a:cs typeface="+mn-cs"/>
              </a:rPr>
              <a:t>) =&gt;</a:t>
            </a:r>
          </a:p>
          <a:p>
            <a:r>
              <a:rPr lang="fr-FR" sz="1200" kern="1200" dirty="0" smtClean="0">
                <a:solidFill>
                  <a:schemeClr val="tx1"/>
                </a:solidFill>
                <a:latin typeface="+mn-lt"/>
                <a:ea typeface="+mn-ea"/>
                <a:cs typeface="+mn-cs"/>
              </a:rPr>
              <a:t>        {</a:t>
            </a:r>
          </a:p>
          <a:p>
            <a:r>
              <a:rPr lang="fr-FR" sz="1200" kern="1200" dirty="0" smtClean="0">
                <a:solidFill>
                  <a:schemeClr val="tx1"/>
                </a:solidFill>
                <a:latin typeface="+mn-lt"/>
                <a:ea typeface="+mn-ea"/>
                <a:cs typeface="+mn-cs"/>
              </a:rPr>
              <a:t>#if ANDROID</a:t>
            </a:r>
          </a:p>
          <a:p>
            <a:r>
              <a:rPr lang="fr-FR" sz="1200" kern="1200" dirty="0" smtClean="0">
                <a:solidFill>
                  <a:schemeClr val="tx1"/>
                </a:solidFill>
                <a:latin typeface="+mn-lt"/>
                <a:ea typeface="+mn-ea"/>
                <a:cs typeface="+mn-cs"/>
              </a:rPr>
              <a:t>            var </a:t>
            </a:r>
            <a:r>
              <a:rPr lang="fr-FR" sz="1200" kern="1200" dirty="0" err="1" smtClean="0">
                <a:solidFill>
                  <a:schemeClr val="tx1"/>
                </a:solidFill>
                <a:latin typeface="+mn-lt"/>
                <a:ea typeface="+mn-ea"/>
                <a:cs typeface="+mn-cs"/>
              </a:rPr>
              <a:t>close_btn_view</a:t>
            </a:r>
            <a:r>
              <a:rPr lang="fr-FR" sz="1200" kern="1200" dirty="0" smtClean="0">
                <a:solidFill>
                  <a:schemeClr val="tx1"/>
                </a:solidFill>
                <a:latin typeface="+mn-lt"/>
                <a:ea typeface="+mn-ea"/>
                <a:cs typeface="+mn-cs"/>
              </a:rPr>
              <a:t> = (</a:t>
            </a:r>
            <a:r>
              <a:rPr lang="fr-FR" sz="1200" kern="1200" dirty="0" err="1" smtClean="0">
                <a:solidFill>
                  <a:schemeClr val="tx1"/>
                </a:solidFill>
                <a:latin typeface="+mn-lt"/>
                <a:ea typeface="+mn-ea"/>
                <a:cs typeface="+mn-cs"/>
              </a:rPr>
              <a:t>handler.PlatformView</a:t>
            </a:r>
            <a:r>
              <a:rPr lang="fr-FR" sz="1200" kern="1200" dirty="0" smtClean="0">
                <a:solidFill>
                  <a:schemeClr val="tx1"/>
                </a:solidFill>
                <a:latin typeface="+mn-lt"/>
                <a:ea typeface="+mn-ea"/>
                <a:cs typeface="+mn-cs"/>
              </a:rPr>
              <a:t> as </a:t>
            </a:r>
            <a:r>
              <a:rPr lang="fr-FR" sz="1200" kern="1200" dirty="0" err="1" smtClean="0">
                <a:solidFill>
                  <a:schemeClr val="tx1"/>
                </a:solidFill>
                <a:latin typeface="+mn-lt"/>
                <a:ea typeface="+mn-ea"/>
                <a:cs typeface="+mn-cs"/>
              </a:rPr>
              <a:t>SearchView</a:t>
            </a:r>
            <a:r>
              <a:rPr lang="fr-FR" sz="1200" kern="1200" dirty="0" smtClean="0">
                <a:solidFill>
                  <a:schemeClr val="tx1"/>
                </a:solidFill>
                <a:latin typeface="+mn-lt"/>
                <a:ea typeface="+mn-ea"/>
                <a:cs typeface="+mn-cs"/>
              </a:rPr>
              <a:t>).</a:t>
            </a:r>
            <a:r>
              <a:rPr lang="fr-FR" sz="1200" kern="1200" dirty="0" err="1" smtClean="0">
                <a:solidFill>
                  <a:schemeClr val="tx1"/>
                </a:solidFill>
                <a:latin typeface="+mn-lt"/>
                <a:ea typeface="+mn-ea"/>
                <a:cs typeface="+mn-cs"/>
              </a:rPr>
              <a:t>FindViewById</a:t>
            </a:r>
            <a:r>
              <a:rPr lang="fr-FR" sz="1200" kern="1200" dirty="0" smtClean="0">
                <a:solidFill>
                  <a:schemeClr val="tx1"/>
                </a:solidFill>
                <a:latin typeface="+mn-lt"/>
                <a:ea typeface="+mn-ea"/>
                <a:cs typeface="+mn-cs"/>
              </a:rPr>
              <a:t>(</a:t>
            </a:r>
            <a:r>
              <a:rPr lang="fr-FR" sz="1200" kern="1200" dirty="0" err="1" smtClean="0">
                <a:solidFill>
                  <a:schemeClr val="tx1"/>
                </a:solidFill>
                <a:latin typeface="+mn-lt"/>
                <a:ea typeface="+mn-ea"/>
                <a:cs typeface="+mn-cs"/>
              </a:rPr>
              <a:t>Resource.Id.search_close_btn</a:t>
            </a:r>
            <a:r>
              <a:rPr lang="fr-FR" sz="1200" kern="1200" dirty="0" smtClean="0">
                <a:solidFill>
                  <a:schemeClr val="tx1"/>
                </a:solidFill>
                <a:latin typeface="+mn-lt"/>
                <a:ea typeface="+mn-ea"/>
                <a:cs typeface="+mn-cs"/>
              </a:rPr>
              <a:t>);</a:t>
            </a:r>
          </a:p>
          <a:p>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ViewGroup</a:t>
            </a:r>
            <a:r>
              <a:rPr lang="fr-FR" sz="1200" kern="1200" dirty="0" smtClean="0">
                <a:solidFill>
                  <a:schemeClr val="tx1"/>
                </a:solidFill>
                <a:latin typeface="+mn-lt"/>
                <a:ea typeface="+mn-ea"/>
                <a:cs typeface="+mn-cs"/>
              </a:rPr>
              <a:t>)</a:t>
            </a:r>
            <a:r>
              <a:rPr lang="fr-FR" sz="1200" kern="1200" dirty="0" err="1" smtClean="0">
                <a:solidFill>
                  <a:schemeClr val="tx1"/>
                </a:solidFill>
                <a:latin typeface="+mn-lt"/>
                <a:ea typeface="+mn-ea"/>
                <a:cs typeface="+mn-cs"/>
              </a:rPr>
              <a:t>close_btn_view.Parent</a:t>
            </a:r>
            <a:r>
              <a:rPr lang="fr-FR" sz="1200" kern="1200" dirty="0" smtClean="0">
                <a:solidFill>
                  <a:schemeClr val="tx1"/>
                </a:solidFill>
                <a:latin typeface="+mn-lt"/>
                <a:ea typeface="+mn-ea"/>
                <a:cs typeface="+mn-cs"/>
              </a:rPr>
              <a:t>).</a:t>
            </a:r>
            <a:r>
              <a:rPr lang="fr-FR" sz="1200" kern="1200" dirty="0" err="1" smtClean="0">
                <a:solidFill>
                  <a:schemeClr val="tx1"/>
                </a:solidFill>
                <a:latin typeface="+mn-lt"/>
                <a:ea typeface="+mn-ea"/>
                <a:cs typeface="+mn-cs"/>
              </a:rPr>
              <a:t>RemoveView</a:t>
            </a:r>
            <a:r>
              <a:rPr lang="fr-FR" sz="1200" kern="1200" dirty="0" smtClean="0">
                <a:solidFill>
                  <a:schemeClr val="tx1"/>
                </a:solidFill>
                <a:latin typeface="+mn-lt"/>
                <a:ea typeface="+mn-ea"/>
                <a:cs typeface="+mn-cs"/>
              </a:rPr>
              <a:t>(</a:t>
            </a:r>
            <a:r>
              <a:rPr lang="fr-FR" sz="1200" kern="1200" dirty="0" err="1" smtClean="0">
                <a:solidFill>
                  <a:schemeClr val="tx1"/>
                </a:solidFill>
                <a:latin typeface="+mn-lt"/>
                <a:ea typeface="+mn-ea"/>
                <a:cs typeface="+mn-cs"/>
              </a:rPr>
              <a:t>close_btn_view</a:t>
            </a:r>
            <a:r>
              <a:rPr lang="fr-FR" sz="1200" kern="1200" dirty="0" smtClean="0">
                <a:solidFill>
                  <a:schemeClr val="tx1"/>
                </a:solidFill>
                <a:latin typeface="+mn-lt"/>
                <a:ea typeface="+mn-ea"/>
                <a:cs typeface="+mn-cs"/>
              </a:rPr>
              <a:t>);</a:t>
            </a:r>
          </a:p>
          <a:p>
            <a:r>
              <a:rPr lang="fr-FR" sz="1200" kern="1200" dirty="0" smtClean="0">
                <a:solidFill>
                  <a:schemeClr val="tx1"/>
                </a:solidFill>
                <a:latin typeface="+mn-lt"/>
                <a:ea typeface="+mn-ea"/>
                <a:cs typeface="+mn-cs"/>
              </a:rPr>
              <a:t>#</a:t>
            </a:r>
            <a:r>
              <a:rPr lang="fr-FR" sz="1200" kern="1200" dirty="0" err="1" smtClean="0">
                <a:solidFill>
                  <a:schemeClr val="tx1"/>
                </a:solidFill>
                <a:latin typeface="+mn-lt"/>
                <a:ea typeface="+mn-ea"/>
                <a:cs typeface="+mn-cs"/>
              </a:rPr>
              <a:t>endif</a:t>
            </a:r>
            <a:endParaRPr lang="fr-FR" sz="1200" kern="1200" dirty="0" smtClean="0">
              <a:solidFill>
                <a:schemeClr val="tx1"/>
              </a:solidFill>
              <a:latin typeface="+mn-lt"/>
              <a:ea typeface="+mn-ea"/>
              <a:cs typeface="+mn-cs"/>
            </a:endParaRPr>
          </a:p>
          <a:p>
            <a:r>
              <a:rPr lang="fr-FR" sz="1200" kern="1200" dirty="0" smtClean="0">
                <a:solidFill>
                  <a:schemeClr val="tx1"/>
                </a:solidFill>
                <a:latin typeface="+mn-lt"/>
                <a:ea typeface="+mn-ea"/>
                <a:cs typeface="+mn-cs"/>
              </a:rPr>
              <a:t>        });</a:t>
            </a:r>
            <a:endParaRPr lang="fr-FR" b="1" dirty="0" smtClean="0"/>
          </a:p>
          <a:p>
            <a:endParaRPr lang="fr-FR" b="1" dirty="0" smtClean="0"/>
          </a:p>
          <a:p>
            <a:endParaRPr lang="fr-FR" b="1" dirty="0"/>
          </a:p>
        </p:txBody>
      </p:sp>
      <p:sp>
        <p:nvSpPr>
          <p:cNvPr id="4" name="Espace réservé du numéro de diapositive 3"/>
          <p:cNvSpPr>
            <a:spLocks noGrp="1"/>
          </p:cNvSpPr>
          <p:nvPr>
            <p:ph type="sldNum" sz="quarter" idx="10"/>
          </p:nvPr>
        </p:nvSpPr>
        <p:spPr/>
        <p:txBody>
          <a:bodyPr/>
          <a:lstStyle/>
          <a:p>
            <a:fld id="{C05E1AE6-1BFD-4589-9604-3D9D158FB781}" type="slidenum">
              <a:rPr lang="fr-FR" smtClean="0"/>
              <a:t>31</a:t>
            </a:fld>
            <a:endParaRPr lang="fr-FR"/>
          </a:p>
        </p:txBody>
      </p:sp>
    </p:spTree>
    <p:extLst>
      <p:ext uri="{BB962C8B-B14F-4D97-AF65-F5344CB8AC3E}">
        <p14:creationId xmlns:p14="http://schemas.microsoft.com/office/powerpoint/2010/main" val="11281182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b="1" dirty="0" smtClean="0"/>
              <a:t>Exemple</a:t>
            </a:r>
            <a:r>
              <a:rPr lang="fr-FR" b="1" baseline="0" dirty="0" smtClean="0"/>
              <a:t> d’implémentation de </a:t>
            </a:r>
            <a:r>
              <a:rPr lang="fr-FR" b="1" baseline="0" dirty="0" err="1" smtClean="0"/>
              <a:t>SwipeView</a:t>
            </a:r>
            <a:r>
              <a:rPr lang="fr-FR" b="1" baseline="0" dirty="0" smtClean="0"/>
              <a:t/>
            </a:r>
            <a:br>
              <a:rPr lang="fr-FR" b="1" baseline="0" dirty="0" smtClean="0"/>
            </a:br>
            <a:r>
              <a:rPr lang="fr-FR" b="1" baseline="0" dirty="0" smtClean="0"/>
              <a:t/>
            </a:r>
            <a:br>
              <a:rPr lang="fr-FR" b="1" baseline="0" dirty="0" smtClean="0"/>
            </a:br>
            <a:r>
              <a:rPr lang="fr-FR" sz="1200" kern="1200" dirty="0" smtClean="0">
                <a:solidFill>
                  <a:schemeClr val="tx1"/>
                </a:solidFill>
                <a:latin typeface="+mn-lt"/>
                <a:ea typeface="+mn-ea"/>
                <a:cs typeface="+mn-cs"/>
              </a:rPr>
              <a:t> &lt;</a:t>
            </a:r>
            <a:r>
              <a:rPr lang="fr-FR" sz="1200" kern="1200" dirty="0" err="1" smtClean="0">
                <a:solidFill>
                  <a:schemeClr val="tx1"/>
                </a:solidFill>
                <a:latin typeface="+mn-lt"/>
                <a:ea typeface="+mn-ea"/>
                <a:cs typeface="+mn-cs"/>
              </a:rPr>
              <a:t>SwipeView</a:t>
            </a:r>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FlowDirection</a:t>
            </a:r>
            <a:r>
              <a:rPr lang="fr-FR" sz="1200" kern="1200" dirty="0" smtClean="0">
                <a:solidFill>
                  <a:schemeClr val="tx1"/>
                </a:solidFill>
                <a:latin typeface="+mn-lt"/>
                <a:ea typeface="+mn-ea"/>
                <a:cs typeface="+mn-cs"/>
              </a:rPr>
              <a:t>="</a:t>
            </a:r>
            <a:r>
              <a:rPr lang="fr-FR" sz="1200" kern="1200" dirty="0" err="1" smtClean="0">
                <a:solidFill>
                  <a:schemeClr val="tx1"/>
                </a:solidFill>
                <a:latin typeface="+mn-lt"/>
                <a:ea typeface="+mn-ea"/>
                <a:cs typeface="+mn-cs"/>
              </a:rPr>
              <a:t>LeftToRight</a:t>
            </a:r>
            <a:r>
              <a:rPr lang="fr-FR" sz="1200" kern="1200" dirty="0" smtClean="0">
                <a:solidFill>
                  <a:schemeClr val="tx1"/>
                </a:solidFill>
                <a:latin typeface="+mn-lt"/>
                <a:ea typeface="+mn-ea"/>
                <a:cs typeface="+mn-cs"/>
              </a:rPr>
              <a:t>" &gt;</a:t>
            </a:r>
          </a:p>
          <a:p>
            <a:r>
              <a:rPr lang="fr-FR" sz="1200" kern="1200" dirty="0" smtClean="0">
                <a:solidFill>
                  <a:schemeClr val="tx1"/>
                </a:solidFill>
                <a:latin typeface="+mn-lt"/>
                <a:ea typeface="+mn-ea"/>
                <a:cs typeface="+mn-cs"/>
              </a:rPr>
              <a:t>        &lt;</a:t>
            </a:r>
            <a:r>
              <a:rPr lang="fr-FR" sz="1200" kern="1200" dirty="0" err="1" smtClean="0">
                <a:solidFill>
                  <a:schemeClr val="tx1"/>
                </a:solidFill>
                <a:latin typeface="+mn-lt"/>
                <a:ea typeface="+mn-ea"/>
                <a:cs typeface="+mn-cs"/>
              </a:rPr>
              <a:t>SwipeView.LeftItems</a:t>
            </a:r>
            <a:r>
              <a:rPr lang="fr-FR" sz="1200" kern="1200" dirty="0" smtClean="0">
                <a:solidFill>
                  <a:schemeClr val="tx1"/>
                </a:solidFill>
                <a:latin typeface="+mn-lt"/>
                <a:ea typeface="+mn-ea"/>
                <a:cs typeface="+mn-cs"/>
              </a:rPr>
              <a:t>&gt;</a:t>
            </a:r>
          </a:p>
          <a:p>
            <a:r>
              <a:rPr lang="fr-FR" sz="1200" kern="1200" dirty="0" smtClean="0">
                <a:solidFill>
                  <a:schemeClr val="tx1"/>
                </a:solidFill>
                <a:latin typeface="+mn-lt"/>
                <a:ea typeface="+mn-ea"/>
                <a:cs typeface="+mn-cs"/>
              </a:rPr>
              <a:t>            &lt;</a:t>
            </a:r>
            <a:r>
              <a:rPr lang="fr-FR" sz="1200" kern="1200" dirty="0" err="1" smtClean="0">
                <a:solidFill>
                  <a:schemeClr val="tx1"/>
                </a:solidFill>
                <a:latin typeface="+mn-lt"/>
                <a:ea typeface="+mn-ea"/>
                <a:cs typeface="+mn-cs"/>
              </a:rPr>
              <a:t>SwipeItems</a:t>
            </a:r>
            <a:r>
              <a:rPr lang="fr-FR" sz="1200" kern="1200" dirty="0" smtClean="0">
                <a:solidFill>
                  <a:schemeClr val="tx1"/>
                </a:solidFill>
                <a:latin typeface="+mn-lt"/>
                <a:ea typeface="+mn-ea"/>
                <a:cs typeface="+mn-cs"/>
              </a:rPr>
              <a:t>&gt;</a:t>
            </a:r>
          </a:p>
          <a:p>
            <a:r>
              <a:rPr lang="fr-FR" sz="1200" kern="1200" dirty="0" smtClean="0">
                <a:solidFill>
                  <a:schemeClr val="tx1"/>
                </a:solidFill>
                <a:latin typeface="+mn-lt"/>
                <a:ea typeface="+mn-ea"/>
                <a:cs typeface="+mn-cs"/>
              </a:rPr>
              <a:t>                &lt;</a:t>
            </a:r>
            <a:r>
              <a:rPr lang="fr-FR" sz="1200" kern="1200" dirty="0" err="1" smtClean="0">
                <a:solidFill>
                  <a:schemeClr val="tx1"/>
                </a:solidFill>
                <a:latin typeface="+mn-lt"/>
                <a:ea typeface="+mn-ea"/>
                <a:cs typeface="+mn-cs"/>
              </a:rPr>
              <a:t>SwipeItem</a:t>
            </a:r>
            <a:r>
              <a:rPr lang="fr-FR" sz="1200" kern="1200" dirty="0" smtClean="0">
                <a:solidFill>
                  <a:schemeClr val="tx1"/>
                </a:solidFill>
                <a:latin typeface="+mn-lt"/>
                <a:ea typeface="+mn-ea"/>
                <a:cs typeface="+mn-cs"/>
              </a:rPr>
              <a:t> Text="Favorite"</a:t>
            </a:r>
          </a:p>
          <a:p>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IconImageSource</a:t>
            </a:r>
            <a:r>
              <a:rPr lang="fr-FR" sz="1200" kern="1200" dirty="0" smtClean="0">
                <a:solidFill>
                  <a:schemeClr val="tx1"/>
                </a:solidFill>
                <a:latin typeface="+mn-lt"/>
                <a:ea typeface="+mn-ea"/>
                <a:cs typeface="+mn-cs"/>
              </a:rPr>
              <a:t>="cat.png"</a:t>
            </a:r>
          </a:p>
          <a:p>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BackgroundColor</a:t>
            </a:r>
            <a:r>
              <a:rPr lang="fr-FR" sz="1200" kern="1200" dirty="0" smtClean="0">
                <a:solidFill>
                  <a:schemeClr val="tx1"/>
                </a:solidFill>
                <a:latin typeface="+mn-lt"/>
                <a:ea typeface="+mn-ea"/>
                <a:cs typeface="+mn-cs"/>
              </a:rPr>
              <a:t>="</a:t>
            </a:r>
            <a:r>
              <a:rPr lang="fr-FR" sz="1200" kern="1200" dirty="0" err="1" smtClean="0">
                <a:solidFill>
                  <a:schemeClr val="tx1"/>
                </a:solidFill>
                <a:latin typeface="+mn-lt"/>
                <a:ea typeface="+mn-ea"/>
                <a:cs typeface="+mn-cs"/>
              </a:rPr>
              <a:t>LightGreen</a:t>
            </a:r>
            <a:r>
              <a:rPr lang="fr-FR" sz="1200" kern="1200" dirty="0" smtClean="0">
                <a:solidFill>
                  <a:schemeClr val="tx1"/>
                </a:solidFill>
                <a:latin typeface="+mn-lt"/>
                <a:ea typeface="+mn-ea"/>
                <a:cs typeface="+mn-cs"/>
              </a:rPr>
              <a:t>"</a:t>
            </a:r>
          </a:p>
          <a:p>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Invoked</a:t>
            </a:r>
            <a:r>
              <a:rPr lang="fr-FR" sz="1200" kern="1200" dirty="0" smtClean="0">
                <a:solidFill>
                  <a:schemeClr val="tx1"/>
                </a:solidFill>
                <a:latin typeface="+mn-lt"/>
                <a:ea typeface="+mn-ea"/>
                <a:cs typeface="+mn-cs"/>
              </a:rPr>
              <a:t>="</a:t>
            </a:r>
            <a:r>
              <a:rPr lang="fr-FR" sz="1200" kern="1200" dirty="0" err="1" smtClean="0">
                <a:solidFill>
                  <a:schemeClr val="tx1"/>
                </a:solidFill>
                <a:latin typeface="+mn-lt"/>
                <a:ea typeface="+mn-ea"/>
                <a:cs typeface="+mn-cs"/>
              </a:rPr>
              <a:t>SwipeItem_Invoked</a:t>
            </a:r>
            <a:r>
              <a:rPr lang="fr-FR" sz="1200" kern="1200" dirty="0" smtClean="0">
                <a:solidFill>
                  <a:schemeClr val="tx1"/>
                </a:solidFill>
                <a:latin typeface="+mn-lt"/>
                <a:ea typeface="+mn-ea"/>
                <a:cs typeface="+mn-cs"/>
              </a:rPr>
              <a:t>"</a:t>
            </a:r>
          </a:p>
          <a:p>
            <a:r>
              <a:rPr lang="fr-FR" sz="1200" kern="1200" dirty="0" smtClean="0">
                <a:solidFill>
                  <a:schemeClr val="tx1"/>
                </a:solidFill>
                <a:latin typeface="+mn-lt"/>
                <a:ea typeface="+mn-ea"/>
                <a:cs typeface="+mn-cs"/>
              </a:rPr>
              <a:t>                        /&gt;</a:t>
            </a:r>
          </a:p>
          <a:p>
            <a:r>
              <a:rPr lang="fr-FR" sz="1200" kern="1200" dirty="0" smtClean="0">
                <a:solidFill>
                  <a:schemeClr val="tx1"/>
                </a:solidFill>
                <a:latin typeface="+mn-lt"/>
                <a:ea typeface="+mn-ea"/>
                <a:cs typeface="+mn-cs"/>
              </a:rPr>
              <a:t>                &lt;</a:t>
            </a:r>
            <a:r>
              <a:rPr lang="fr-FR" sz="1200" kern="1200" dirty="0" err="1" smtClean="0">
                <a:solidFill>
                  <a:schemeClr val="tx1"/>
                </a:solidFill>
                <a:latin typeface="+mn-lt"/>
                <a:ea typeface="+mn-ea"/>
                <a:cs typeface="+mn-cs"/>
              </a:rPr>
              <a:t>SwipeItem</a:t>
            </a:r>
            <a:r>
              <a:rPr lang="fr-FR" sz="1200" kern="1200" dirty="0" smtClean="0">
                <a:solidFill>
                  <a:schemeClr val="tx1"/>
                </a:solidFill>
                <a:latin typeface="+mn-lt"/>
                <a:ea typeface="+mn-ea"/>
                <a:cs typeface="+mn-cs"/>
              </a:rPr>
              <a:t> Text="Delete"</a:t>
            </a:r>
          </a:p>
          <a:p>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IconImageSource</a:t>
            </a:r>
            <a:r>
              <a:rPr lang="fr-FR" sz="1200" kern="1200" dirty="0" smtClean="0">
                <a:solidFill>
                  <a:schemeClr val="tx1"/>
                </a:solidFill>
                <a:latin typeface="+mn-lt"/>
                <a:ea typeface="+mn-ea"/>
                <a:cs typeface="+mn-cs"/>
              </a:rPr>
              <a:t>="dog.png"</a:t>
            </a:r>
          </a:p>
          <a:p>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BackgroundColor</a:t>
            </a:r>
            <a:r>
              <a:rPr lang="fr-FR" sz="1200" kern="1200" dirty="0" smtClean="0">
                <a:solidFill>
                  <a:schemeClr val="tx1"/>
                </a:solidFill>
                <a:latin typeface="+mn-lt"/>
                <a:ea typeface="+mn-ea"/>
                <a:cs typeface="+mn-cs"/>
              </a:rPr>
              <a:t>="</a:t>
            </a:r>
            <a:r>
              <a:rPr lang="fr-FR" sz="1200" kern="1200" dirty="0" err="1" smtClean="0">
                <a:solidFill>
                  <a:schemeClr val="tx1"/>
                </a:solidFill>
                <a:latin typeface="+mn-lt"/>
                <a:ea typeface="+mn-ea"/>
                <a:cs typeface="+mn-cs"/>
              </a:rPr>
              <a:t>LightPink</a:t>
            </a:r>
            <a:r>
              <a:rPr lang="fr-FR" sz="1200" kern="1200" dirty="0" smtClean="0">
                <a:solidFill>
                  <a:schemeClr val="tx1"/>
                </a:solidFill>
                <a:latin typeface="+mn-lt"/>
                <a:ea typeface="+mn-ea"/>
                <a:cs typeface="+mn-cs"/>
              </a:rPr>
              <a:t>"</a:t>
            </a:r>
          </a:p>
          <a:p>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Invoked</a:t>
            </a:r>
            <a:r>
              <a:rPr lang="fr-FR" sz="1200" kern="1200" dirty="0" smtClean="0">
                <a:solidFill>
                  <a:schemeClr val="tx1"/>
                </a:solidFill>
                <a:latin typeface="+mn-lt"/>
                <a:ea typeface="+mn-ea"/>
                <a:cs typeface="+mn-cs"/>
              </a:rPr>
              <a:t>="</a:t>
            </a:r>
            <a:r>
              <a:rPr lang="fr-FR" sz="1200" kern="1200" dirty="0" err="1" smtClean="0">
                <a:solidFill>
                  <a:schemeClr val="tx1"/>
                </a:solidFill>
                <a:latin typeface="+mn-lt"/>
                <a:ea typeface="+mn-ea"/>
                <a:cs typeface="+mn-cs"/>
              </a:rPr>
              <a:t>SwipeItem_Invoked</a:t>
            </a:r>
            <a:r>
              <a:rPr lang="fr-FR" sz="1200" kern="1200" dirty="0" smtClean="0">
                <a:solidFill>
                  <a:schemeClr val="tx1"/>
                </a:solidFill>
                <a:latin typeface="+mn-lt"/>
                <a:ea typeface="+mn-ea"/>
                <a:cs typeface="+mn-cs"/>
              </a:rPr>
              <a:t>"</a:t>
            </a:r>
          </a:p>
          <a:p>
            <a:r>
              <a:rPr lang="fr-FR" sz="1200" kern="1200" dirty="0" smtClean="0">
                <a:solidFill>
                  <a:schemeClr val="tx1"/>
                </a:solidFill>
                <a:latin typeface="+mn-lt"/>
                <a:ea typeface="+mn-ea"/>
                <a:cs typeface="+mn-cs"/>
              </a:rPr>
              <a:t>                        /&gt;</a:t>
            </a:r>
          </a:p>
          <a:p>
            <a:r>
              <a:rPr lang="fr-FR" sz="1200" kern="1200" dirty="0" smtClean="0">
                <a:solidFill>
                  <a:schemeClr val="tx1"/>
                </a:solidFill>
                <a:latin typeface="+mn-lt"/>
                <a:ea typeface="+mn-ea"/>
                <a:cs typeface="+mn-cs"/>
              </a:rPr>
              <a:t>            &lt;/</a:t>
            </a:r>
            <a:r>
              <a:rPr lang="fr-FR" sz="1200" kern="1200" dirty="0" err="1" smtClean="0">
                <a:solidFill>
                  <a:schemeClr val="tx1"/>
                </a:solidFill>
                <a:latin typeface="+mn-lt"/>
                <a:ea typeface="+mn-ea"/>
                <a:cs typeface="+mn-cs"/>
              </a:rPr>
              <a:t>SwipeItems</a:t>
            </a:r>
            <a:r>
              <a:rPr lang="fr-FR" sz="1200" kern="1200" dirty="0" smtClean="0">
                <a:solidFill>
                  <a:schemeClr val="tx1"/>
                </a:solidFill>
                <a:latin typeface="+mn-lt"/>
                <a:ea typeface="+mn-ea"/>
                <a:cs typeface="+mn-cs"/>
              </a:rPr>
              <a:t>&gt;</a:t>
            </a:r>
          </a:p>
          <a:p>
            <a:r>
              <a:rPr lang="fr-FR" sz="1200" kern="1200" dirty="0" smtClean="0">
                <a:solidFill>
                  <a:schemeClr val="tx1"/>
                </a:solidFill>
                <a:latin typeface="+mn-lt"/>
                <a:ea typeface="+mn-ea"/>
                <a:cs typeface="+mn-cs"/>
              </a:rPr>
              <a:t>        &lt;/</a:t>
            </a:r>
            <a:r>
              <a:rPr lang="fr-FR" sz="1200" kern="1200" dirty="0" err="1" smtClean="0">
                <a:solidFill>
                  <a:schemeClr val="tx1"/>
                </a:solidFill>
                <a:latin typeface="+mn-lt"/>
                <a:ea typeface="+mn-ea"/>
                <a:cs typeface="+mn-cs"/>
              </a:rPr>
              <a:t>SwipeView.LeftItems</a:t>
            </a:r>
            <a:r>
              <a:rPr lang="fr-FR" sz="1200" kern="1200" dirty="0" smtClean="0">
                <a:solidFill>
                  <a:schemeClr val="tx1"/>
                </a:solidFill>
                <a:latin typeface="+mn-lt"/>
                <a:ea typeface="+mn-ea"/>
                <a:cs typeface="+mn-cs"/>
              </a:rPr>
              <a:t>&gt;</a:t>
            </a:r>
          </a:p>
          <a:p>
            <a:r>
              <a:rPr lang="fr-FR" sz="1200" kern="1200" dirty="0" smtClean="0">
                <a:solidFill>
                  <a:schemeClr val="tx1"/>
                </a:solidFill>
                <a:latin typeface="+mn-lt"/>
                <a:ea typeface="+mn-ea"/>
                <a:cs typeface="+mn-cs"/>
              </a:rPr>
              <a:t>        &lt;</a:t>
            </a:r>
            <a:r>
              <a:rPr lang="fr-FR" sz="1200" kern="1200" dirty="0" err="1" smtClean="0">
                <a:solidFill>
                  <a:schemeClr val="tx1"/>
                </a:solidFill>
                <a:latin typeface="+mn-lt"/>
                <a:ea typeface="+mn-ea"/>
                <a:cs typeface="+mn-cs"/>
              </a:rPr>
              <a:t>SwipeView.RightItems</a:t>
            </a:r>
            <a:r>
              <a:rPr lang="fr-FR" sz="1200" kern="1200" dirty="0" smtClean="0">
                <a:solidFill>
                  <a:schemeClr val="tx1"/>
                </a:solidFill>
                <a:latin typeface="+mn-lt"/>
                <a:ea typeface="+mn-ea"/>
                <a:cs typeface="+mn-cs"/>
              </a:rPr>
              <a:t>&gt;</a:t>
            </a:r>
          </a:p>
          <a:p>
            <a:r>
              <a:rPr lang="fr-FR" sz="1200" kern="1200" dirty="0" smtClean="0">
                <a:solidFill>
                  <a:schemeClr val="tx1"/>
                </a:solidFill>
                <a:latin typeface="+mn-lt"/>
                <a:ea typeface="+mn-ea"/>
                <a:cs typeface="+mn-cs"/>
              </a:rPr>
              <a:t>            &lt;</a:t>
            </a:r>
            <a:r>
              <a:rPr lang="fr-FR" sz="1200" kern="1200" dirty="0" err="1" smtClean="0">
                <a:solidFill>
                  <a:schemeClr val="tx1"/>
                </a:solidFill>
                <a:latin typeface="+mn-lt"/>
                <a:ea typeface="+mn-ea"/>
                <a:cs typeface="+mn-cs"/>
              </a:rPr>
              <a:t>SwipeItems</a:t>
            </a:r>
            <a:r>
              <a:rPr lang="fr-FR" sz="1200" kern="1200" dirty="0" smtClean="0">
                <a:solidFill>
                  <a:schemeClr val="tx1"/>
                </a:solidFill>
                <a:latin typeface="+mn-lt"/>
                <a:ea typeface="+mn-ea"/>
                <a:cs typeface="+mn-cs"/>
              </a:rPr>
              <a:t>&gt;</a:t>
            </a:r>
          </a:p>
          <a:p>
            <a:r>
              <a:rPr lang="fr-FR" sz="1200" kern="1200" dirty="0" smtClean="0">
                <a:solidFill>
                  <a:schemeClr val="tx1"/>
                </a:solidFill>
                <a:latin typeface="+mn-lt"/>
                <a:ea typeface="+mn-ea"/>
                <a:cs typeface="+mn-cs"/>
              </a:rPr>
              <a:t>                &lt;</a:t>
            </a:r>
            <a:r>
              <a:rPr lang="fr-FR" sz="1200" kern="1200" dirty="0" err="1" smtClean="0">
                <a:solidFill>
                  <a:schemeClr val="tx1"/>
                </a:solidFill>
                <a:latin typeface="+mn-lt"/>
                <a:ea typeface="+mn-ea"/>
                <a:cs typeface="+mn-cs"/>
              </a:rPr>
              <a:t>SwipeItem</a:t>
            </a:r>
            <a:r>
              <a:rPr lang="fr-FR" sz="1200" kern="1200" dirty="0" smtClean="0">
                <a:solidFill>
                  <a:schemeClr val="tx1"/>
                </a:solidFill>
                <a:latin typeface="+mn-lt"/>
                <a:ea typeface="+mn-ea"/>
                <a:cs typeface="+mn-cs"/>
              </a:rPr>
              <a:t> Text="Favorite"</a:t>
            </a:r>
          </a:p>
          <a:p>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IconImageSource</a:t>
            </a:r>
            <a:r>
              <a:rPr lang="fr-FR" sz="1200" kern="1200" dirty="0" smtClean="0">
                <a:solidFill>
                  <a:schemeClr val="tx1"/>
                </a:solidFill>
                <a:latin typeface="+mn-lt"/>
                <a:ea typeface="+mn-ea"/>
                <a:cs typeface="+mn-cs"/>
              </a:rPr>
              <a:t>="elephant.png"</a:t>
            </a:r>
          </a:p>
          <a:p>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BackgroundColor</a:t>
            </a:r>
            <a:r>
              <a:rPr lang="fr-FR" sz="1200" kern="1200" dirty="0" smtClean="0">
                <a:solidFill>
                  <a:schemeClr val="tx1"/>
                </a:solidFill>
                <a:latin typeface="+mn-lt"/>
                <a:ea typeface="+mn-ea"/>
                <a:cs typeface="+mn-cs"/>
              </a:rPr>
              <a:t>="</a:t>
            </a:r>
            <a:r>
              <a:rPr lang="fr-FR" sz="1200" kern="1200" dirty="0" err="1" smtClean="0">
                <a:solidFill>
                  <a:schemeClr val="tx1"/>
                </a:solidFill>
                <a:latin typeface="+mn-lt"/>
                <a:ea typeface="+mn-ea"/>
                <a:cs typeface="+mn-cs"/>
              </a:rPr>
              <a:t>LightBlue</a:t>
            </a:r>
            <a:r>
              <a:rPr lang="fr-FR" sz="1200" kern="1200" dirty="0" smtClean="0">
                <a:solidFill>
                  <a:schemeClr val="tx1"/>
                </a:solidFill>
                <a:latin typeface="+mn-lt"/>
                <a:ea typeface="+mn-ea"/>
                <a:cs typeface="+mn-cs"/>
              </a:rPr>
              <a:t>"</a:t>
            </a:r>
          </a:p>
          <a:p>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Invoked</a:t>
            </a:r>
            <a:r>
              <a:rPr lang="fr-FR" sz="1200" kern="1200" dirty="0" smtClean="0">
                <a:solidFill>
                  <a:schemeClr val="tx1"/>
                </a:solidFill>
                <a:latin typeface="+mn-lt"/>
                <a:ea typeface="+mn-ea"/>
                <a:cs typeface="+mn-cs"/>
              </a:rPr>
              <a:t>="</a:t>
            </a:r>
            <a:r>
              <a:rPr lang="fr-FR" sz="1200" kern="1200" dirty="0" err="1" smtClean="0">
                <a:solidFill>
                  <a:schemeClr val="tx1"/>
                </a:solidFill>
                <a:latin typeface="+mn-lt"/>
                <a:ea typeface="+mn-ea"/>
                <a:cs typeface="+mn-cs"/>
              </a:rPr>
              <a:t>SwipeItem_Invoked</a:t>
            </a:r>
            <a:r>
              <a:rPr lang="fr-FR" sz="1200" kern="1200" dirty="0" smtClean="0">
                <a:solidFill>
                  <a:schemeClr val="tx1"/>
                </a:solidFill>
                <a:latin typeface="+mn-lt"/>
                <a:ea typeface="+mn-ea"/>
                <a:cs typeface="+mn-cs"/>
              </a:rPr>
              <a:t>"</a:t>
            </a:r>
          </a:p>
          <a:p>
            <a:r>
              <a:rPr lang="fr-FR" sz="1200" kern="1200" dirty="0" smtClean="0">
                <a:solidFill>
                  <a:schemeClr val="tx1"/>
                </a:solidFill>
                <a:latin typeface="+mn-lt"/>
                <a:ea typeface="+mn-ea"/>
                <a:cs typeface="+mn-cs"/>
              </a:rPr>
              <a:t>                        /&gt;</a:t>
            </a:r>
          </a:p>
          <a:p>
            <a:r>
              <a:rPr lang="fr-FR" sz="1200" kern="1200" dirty="0" smtClean="0">
                <a:solidFill>
                  <a:schemeClr val="tx1"/>
                </a:solidFill>
                <a:latin typeface="+mn-lt"/>
                <a:ea typeface="+mn-ea"/>
                <a:cs typeface="+mn-cs"/>
              </a:rPr>
              <a:t>                &lt;</a:t>
            </a:r>
            <a:r>
              <a:rPr lang="fr-FR" sz="1200" kern="1200" dirty="0" err="1" smtClean="0">
                <a:solidFill>
                  <a:schemeClr val="tx1"/>
                </a:solidFill>
                <a:latin typeface="+mn-lt"/>
                <a:ea typeface="+mn-ea"/>
                <a:cs typeface="+mn-cs"/>
              </a:rPr>
              <a:t>SwipeItem</a:t>
            </a:r>
            <a:r>
              <a:rPr lang="fr-FR" sz="1200" kern="1200" dirty="0" smtClean="0">
                <a:solidFill>
                  <a:schemeClr val="tx1"/>
                </a:solidFill>
                <a:latin typeface="+mn-lt"/>
                <a:ea typeface="+mn-ea"/>
                <a:cs typeface="+mn-cs"/>
              </a:rPr>
              <a:t> Text="Delete"</a:t>
            </a:r>
          </a:p>
          <a:p>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IconImageSource</a:t>
            </a:r>
            <a:r>
              <a:rPr lang="fr-FR" sz="1200" kern="1200" dirty="0" smtClean="0">
                <a:solidFill>
                  <a:schemeClr val="tx1"/>
                </a:solidFill>
                <a:latin typeface="+mn-lt"/>
                <a:ea typeface="+mn-ea"/>
                <a:cs typeface="+mn-cs"/>
              </a:rPr>
              <a:t>="monkey.png"</a:t>
            </a:r>
          </a:p>
          <a:p>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BackgroundColor</a:t>
            </a:r>
            <a:r>
              <a:rPr lang="fr-FR" sz="1200" kern="1200" dirty="0" smtClean="0">
                <a:solidFill>
                  <a:schemeClr val="tx1"/>
                </a:solidFill>
                <a:latin typeface="+mn-lt"/>
                <a:ea typeface="+mn-ea"/>
                <a:cs typeface="+mn-cs"/>
              </a:rPr>
              <a:t>="</a:t>
            </a:r>
            <a:r>
              <a:rPr lang="fr-FR" sz="1200" kern="1200" dirty="0" err="1" smtClean="0">
                <a:solidFill>
                  <a:schemeClr val="tx1"/>
                </a:solidFill>
                <a:latin typeface="+mn-lt"/>
                <a:ea typeface="+mn-ea"/>
                <a:cs typeface="+mn-cs"/>
              </a:rPr>
              <a:t>LightSeaGreen</a:t>
            </a:r>
            <a:r>
              <a:rPr lang="fr-FR" sz="1200" kern="1200" dirty="0" smtClean="0">
                <a:solidFill>
                  <a:schemeClr val="tx1"/>
                </a:solidFill>
                <a:latin typeface="+mn-lt"/>
                <a:ea typeface="+mn-ea"/>
                <a:cs typeface="+mn-cs"/>
              </a:rPr>
              <a:t>"</a:t>
            </a:r>
          </a:p>
          <a:p>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Invoked</a:t>
            </a:r>
            <a:r>
              <a:rPr lang="fr-FR" sz="1200" kern="1200" dirty="0" smtClean="0">
                <a:solidFill>
                  <a:schemeClr val="tx1"/>
                </a:solidFill>
                <a:latin typeface="+mn-lt"/>
                <a:ea typeface="+mn-ea"/>
                <a:cs typeface="+mn-cs"/>
              </a:rPr>
              <a:t>="</a:t>
            </a:r>
            <a:r>
              <a:rPr lang="fr-FR" sz="1200" kern="1200" dirty="0" err="1" smtClean="0">
                <a:solidFill>
                  <a:schemeClr val="tx1"/>
                </a:solidFill>
                <a:latin typeface="+mn-lt"/>
                <a:ea typeface="+mn-ea"/>
                <a:cs typeface="+mn-cs"/>
              </a:rPr>
              <a:t>SwipeItem_Invoked</a:t>
            </a:r>
            <a:r>
              <a:rPr lang="fr-FR" sz="1200" kern="1200" dirty="0" smtClean="0">
                <a:solidFill>
                  <a:schemeClr val="tx1"/>
                </a:solidFill>
                <a:latin typeface="+mn-lt"/>
                <a:ea typeface="+mn-ea"/>
                <a:cs typeface="+mn-cs"/>
              </a:rPr>
              <a:t>"</a:t>
            </a:r>
          </a:p>
          <a:p>
            <a:r>
              <a:rPr lang="fr-FR" sz="1200" kern="1200" dirty="0" smtClean="0">
                <a:solidFill>
                  <a:schemeClr val="tx1"/>
                </a:solidFill>
                <a:latin typeface="+mn-lt"/>
                <a:ea typeface="+mn-ea"/>
                <a:cs typeface="+mn-cs"/>
              </a:rPr>
              <a:t>                        /&gt;</a:t>
            </a:r>
          </a:p>
          <a:p>
            <a:r>
              <a:rPr lang="fr-FR" sz="1200" kern="1200" dirty="0" smtClean="0">
                <a:solidFill>
                  <a:schemeClr val="tx1"/>
                </a:solidFill>
                <a:latin typeface="+mn-lt"/>
                <a:ea typeface="+mn-ea"/>
                <a:cs typeface="+mn-cs"/>
              </a:rPr>
              <a:t>            &lt;/</a:t>
            </a:r>
            <a:r>
              <a:rPr lang="fr-FR" sz="1200" kern="1200" dirty="0" err="1" smtClean="0">
                <a:solidFill>
                  <a:schemeClr val="tx1"/>
                </a:solidFill>
                <a:latin typeface="+mn-lt"/>
                <a:ea typeface="+mn-ea"/>
                <a:cs typeface="+mn-cs"/>
              </a:rPr>
              <a:t>SwipeItems</a:t>
            </a:r>
            <a:r>
              <a:rPr lang="fr-FR" sz="1200" kern="1200" dirty="0" smtClean="0">
                <a:solidFill>
                  <a:schemeClr val="tx1"/>
                </a:solidFill>
                <a:latin typeface="+mn-lt"/>
                <a:ea typeface="+mn-ea"/>
                <a:cs typeface="+mn-cs"/>
              </a:rPr>
              <a:t>&gt;</a:t>
            </a:r>
          </a:p>
          <a:p>
            <a:r>
              <a:rPr lang="fr-FR" sz="1200" kern="1200" dirty="0" smtClean="0">
                <a:solidFill>
                  <a:schemeClr val="tx1"/>
                </a:solidFill>
                <a:latin typeface="+mn-lt"/>
                <a:ea typeface="+mn-ea"/>
                <a:cs typeface="+mn-cs"/>
              </a:rPr>
              <a:t>        &lt;/</a:t>
            </a:r>
            <a:r>
              <a:rPr lang="fr-FR" sz="1200" kern="1200" dirty="0" err="1" smtClean="0">
                <a:solidFill>
                  <a:schemeClr val="tx1"/>
                </a:solidFill>
                <a:latin typeface="+mn-lt"/>
                <a:ea typeface="+mn-ea"/>
                <a:cs typeface="+mn-cs"/>
              </a:rPr>
              <a:t>SwipeView.RightItems</a:t>
            </a:r>
            <a:r>
              <a:rPr lang="fr-FR" sz="1200" kern="1200" dirty="0" smtClean="0">
                <a:solidFill>
                  <a:schemeClr val="tx1"/>
                </a:solidFill>
                <a:latin typeface="+mn-lt"/>
                <a:ea typeface="+mn-ea"/>
                <a:cs typeface="+mn-cs"/>
              </a:rPr>
              <a:t>&gt;</a:t>
            </a:r>
          </a:p>
          <a:p>
            <a:r>
              <a:rPr lang="fr-FR" sz="1200" kern="1200" dirty="0" smtClean="0">
                <a:solidFill>
                  <a:schemeClr val="tx1"/>
                </a:solidFill>
                <a:latin typeface="+mn-lt"/>
                <a:ea typeface="+mn-ea"/>
                <a:cs typeface="+mn-cs"/>
              </a:rPr>
              <a:t>        &lt;!-- Content --&gt;</a:t>
            </a:r>
          </a:p>
          <a:p>
            <a:r>
              <a:rPr lang="fr-FR" sz="1200" kern="1200" dirty="0" smtClean="0">
                <a:solidFill>
                  <a:schemeClr val="tx1"/>
                </a:solidFill>
                <a:latin typeface="+mn-lt"/>
                <a:ea typeface="+mn-ea"/>
                <a:cs typeface="+mn-cs"/>
              </a:rPr>
              <a:t>        &lt;Grid </a:t>
            </a:r>
            <a:r>
              <a:rPr lang="fr-FR" sz="1200" kern="1200" dirty="0" err="1" smtClean="0">
                <a:solidFill>
                  <a:schemeClr val="tx1"/>
                </a:solidFill>
                <a:latin typeface="+mn-lt"/>
                <a:ea typeface="+mn-ea"/>
                <a:cs typeface="+mn-cs"/>
              </a:rPr>
              <a:t>HeightRequest</a:t>
            </a:r>
            <a:r>
              <a:rPr lang="fr-FR" sz="1200" kern="1200" dirty="0" smtClean="0">
                <a:solidFill>
                  <a:schemeClr val="tx1"/>
                </a:solidFill>
                <a:latin typeface="+mn-lt"/>
                <a:ea typeface="+mn-ea"/>
                <a:cs typeface="+mn-cs"/>
              </a:rPr>
              <a:t>="60"</a:t>
            </a:r>
          </a:p>
          <a:p>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WidthRequest</a:t>
            </a:r>
            <a:r>
              <a:rPr lang="fr-FR" sz="1200" kern="1200" dirty="0" smtClean="0">
                <a:solidFill>
                  <a:schemeClr val="tx1"/>
                </a:solidFill>
                <a:latin typeface="+mn-lt"/>
                <a:ea typeface="+mn-ea"/>
                <a:cs typeface="+mn-cs"/>
              </a:rPr>
              <a:t>="300"</a:t>
            </a:r>
          </a:p>
          <a:p>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BackgroundColor</a:t>
            </a:r>
            <a:r>
              <a:rPr lang="fr-FR" sz="1200" kern="1200" dirty="0" smtClean="0">
                <a:solidFill>
                  <a:schemeClr val="tx1"/>
                </a:solidFill>
                <a:latin typeface="+mn-lt"/>
                <a:ea typeface="+mn-ea"/>
                <a:cs typeface="+mn-cs"/>
              </a:rPr>
              <a:t>="</a:t>
            </a:r>
            <a:r>
              <a:rPr lang="fr-FR" sz="1200" kern="1200" dirty="0" err="1" smtClean="0">
                <a:solidFill>
                  <a:schemeClr val="tx1"/>
                </a:solidFill>
                <a:latin typeface="+mn-lt"/>
                <a:ea typeface="+mn-ea"/>
                <a:cs typeface="+mn-cs"/>
              </a:rPr>
              <a:t>LightGray</a:t>
            </a:r>
            <a:r>
              <a:rPr lang="fr-FR" sz="1200" kern="1200" dirty="0" smtClean="0">
                <a:solidFill>
                  <a:schemeClr val="tx1"/>
                </a:solidFill>
                <a:latin typeface="+mn-lt"/>
                <a:ea typeface="+mn-ea"/>
                <a:cs typeface="+mn-cs"/>
              </a:rPr>
              <a:t>"&gt;</a:t>
            </a:r>
          </a:p>
          <a:p>
            <a:r>
              <a:rPr lang="fr-FR" sz="1200" kern="1200" dirty="0" smtClean="0">
                <a:solidFill>
                  <a:schemeClr val="tx1"/>
                </a:solidFill>
                <a:latin typeface="+mn-lt"/>
                <a:ea typeface="+mn-ea"/>
                <a:cs typeface="+mn-cs"/>
              </a:rPr>
              <a:t>            &lt;Label Text="</a:t>
            </a:r>
            <a:r>
              <a:rPr lang="fr-FR" sz="1200" kern="1200" dirty="0" err="1" smtClean="0">
                <a:solidFill>
                  <a:schemeClr val="tx1"/>
                </a:solidFill>
                <a:latin typeface="+mn-lt"/>
                <a:ea typeface="+mn-ea"/>
                <a:cs typeface="+mn-cs"/>
              </a:rPr>
              <a:t>Swipe</a:t>
            </a:r>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elements</a:t>
            </a:r>
            <a:r>
              <a:rPr lang="fr-FR" sz="1200" kern="1200" dirty="0" smtClean="0">
                <a:solidFill>
                  <a:schemeClr val="tx1"/>
                </a:solidFill>
                <a:latin typeface="+mn-lt"/>
                <a:ea typeface="+mn-ea"/>
                <a:cs typeface="+mn-cs"/>
              </a:rPr>
              <a:t>"</a:t>
            </a:r>
          </a:p>
          <a:p>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HorizontalOptions</a:t>
            </a:r>
            <a:r>
              <a:rPr lang="fr-FR" sz="1200" kern="1200" dirty="0" smtClean="0">
                <a:solidFill>
                  <a:schemeClr val="tx1"/>
                </a:solidFill>
                <a:latin typeface="+mn-lt"/>
                <a:ea typeface="+mn-ea"/>
                <a:cs typeface="+mn-cs"/>
              </a:rPr>
              <a:t>="Center"</a:t>
            </a:r>
          </a:p>
          <a:p>
            <a:r>
              <a:rPr lang="fr-FR" sz="1200" kern="1200" dirty="0" smtClean="0">
                <a:solidFill>
                  <a:schemeClr val="tx1"/>
                </a:solidFill>
                <a:latin typeface="+mn-lt"/>
                <a:ea typeface="+mn-ea"/>
                <a:cs typeface="+mn-cs"/>
              </a:rPr>
              <a:t>               VerticalOptions="Center" /&gt;</a:t>
            </a:r>
          </a:p>
          <a:p>
            <a:r>
              <a:rPr lang="fr-FR" sz="1200" kern="1200" dirty="0" smtClean="0">
                <a:solidFill>
                  <a:schemeClr val="tx1"/>
                </a:solidFill>
                <a:latin typeface="+mn-lt"/>
                <a:ea typeface="+mn-ea"/>
                <a:cs typeface="+mn-cs"/>
              </a:rPr>
              <a:t>        &lt;/Grid&gt;</a:t>
            </a:r>
          </a:p>
          <a:p>
            <a:r>
              <a:rPr lang="fr-FR" sz="1200" kern="1200" dirty="0" smtClean="0">
                <a:solidFill>
                  <a:schemeClr val="tx1"/>
                </a:solidFill>
                <a:latin typeface="+mn-lt"/>
                <a:ea typeface="+mn-ea"/>
                <a:cs typeface="+mn-cs"/>
              </a:rPr>
              <a:t>    &lt;/</a:t>
            </a:r>
            <a:r>
              <a:rPr lang="fr-FR" sz="1200" kern="1200" dirty="0" err="1" smtClean="0">
                <a:solidFill>
                  <a:schemeClr val="tx1"/>
                </a:solidFill>
                <a:latin typeface="+mn-lt"/>
                <a:ea typeface="+mn-ea"/>
                <a:cs typeface="+mn-cs"/>
              </a:rPr>
              <a:t>SwipeView</a:t>
            </a:r>
            <a:r>
              <a:rPr lang="fr-FR" sz="1200" kern="1200" dirty="0" smtClean="0">
                <a:solidFill>
                  <a:schemeClr val="tx1"/>
                </a:solidFill>
                <a:latin typeface="+mn-lt"/>
                <a:ea typeface="+mn-ea"/>
                <a:cs typeface="+mn-cs"/>
              </a:rPr>
              <a:t>&gt;</a:t>
            </a:r>
            <a:endParaRPr lang="fr-FR" b="1" dirty="0"/>
          </a:p>
        </p:txBody>
      </p:sp>
      <p:sp>
        <p:nvSpPr>
          <p:cNvPr id="4" name="Espace réservé du numéro de diapositive 3"/>
          <p:cNvSpPr>
            <a:spLocks noGrp="1"/>
          </p:cNvSpPr>
          <p:nvPr>
            <p:ph type="sldNum" sz="quarter" idx="10"/>
          </p:nvPr>
        </p:nvSpPr>
        <p:spPr/>
        <p:txBody>
          <a:bodyPr/>
          <a:lstStyle/>
          <a:p>
            <a:fld id="{C05E1AE6-1BFD-4589-9604-3D9D158FB781}" type="slidenum">
              <a:rPr lang="fr-FR" smtClean="0"/>
              <a:t>32</a:t>
            </a:fld>
            <a:endParaRPr lang="fr-FR"/>
          </a:p>
        </p:txBody>
      </p:sp>
    </p:spTree>
    <p:extLst>
      <p:ext uri="{BB962C8B-B14F-4D97-AF65-F5344CB8AC3E}">
        <p14:creationId xmlns:p14="http://schemas.microsoft.com/office/powerpoint/2010/main" val="19717179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b="1" dirty="0"/>
          </a:p>
        </p:txBody>
      </p:sp>
      <p:sp>
        <p:nvSpPr>
          <p:cNvPr id="4" name="Espace réservé du numéro de diapositive 3"/>
          <p:cNvSpPr>
            <a:spLocks noGrp="1"/>
          </p:cNvSpPr>
          <p:nvPr>
            <p:ph type="sldNum" sz="quarter" idx="10"/>
          </p:nvPr>
        </p:nvSpPr>
        <p:spPr/>
        <p:txBody>
          <a:bodyPr/>
          <a:lstStyle/>
          <a:p>
            <a:fld id="{C05E1AE6-1BFD-4589-9604-3D9D158FB781}" type="slidenum">
              <a:rPr lang="fr-FR" smtClean="0"/>
              <a:t>33</a:t>
            </a:fld>
            <a:endParaRPr lang="fr-FR"/>
          </a:p>
        </p:txBody>
      </p:sp>
    </p:spTree>
    <p:extLst>
      <p:ext uri="{BB962C8B-B14F-4D97-AF65-F5344CB8AC3E}">
        <p14:creationId xmlns:p14="http://schemas.microsoft.com/office/powerpoint/2010/main" val="11349099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b="1" dirty="0"/>
          </a:p>
        </p:txBody>
      </p:sp>
      <p:sp>
        <p:nvSpPr>
          <p:cNvPr id="4" name="Espace réservé du numéro de diapositive 3"/>
          <p:cNvSpPr>
            <a:spLocks noGrp="1"/>
          </p:cNvSpPr>
          <p:nvPr>
            <p:ph type="sldNum" sz="quarter" idx="10"/>
          </p:nvPr>
        </p:nvSpPr>
        <p:spPr/>
        <p:txBody>
          <a:bodyPr/>
          <a:lstStyle/>
          <a:p>
            <a:fld id="{C05E1AE6-1BFD-4589-9604-3D9D158FB781}" type="slidenum">
              <a:rPr lang="fr-FR" smtClean="0"/>
              <a:t>34</a:t>
            </a:fld>
            <a:endParaRPr lang="fr-FR"/>
          </a:p>
        </p:txBody>
      </p:sp>
    </p:spTree>
    <p:extLst>
      <p:ext uri="{BB962C8B-B14F-4D97-AF65-F5344CB8AC3E}">
        <p14:creationId xmlns:p14="http://schemas.microsoft.com/office/powerpoint/2010/main" val="255108342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b="1" dirty="0"/>
          </a:p>
        </p:txBody>
      </p:sp>
      <p:sp>
        <p:nvSpPr>
          <p:cNvPr id="4" name="Espace réservé du numéro de diapositive 3"/>
          <p:cNvSpPr>
            <a:spLocks noGrp="1"/>
          </p:cNvSpPr>
          <p:nvPr>
            <p:ph type="sldNum" sz="quarter" idx="10"/>
          </p:nvPr>
        </p:nvSpPr>
        <p:spPr/>
        <p:txBody>
          <a:bodyPr/>
          <a:lstStyle/>
          <a:p>
            <a:fld id="{C05E1AE6-1BFD-4589-9604-3D9D158FB781}" type="slidenum">
              <a:rPr lang="fr-FR" smtClean="0"/>
              <a:t>35</a:t>
            </a:fld>
            <a:endParaRPr lang="fr-FR"/>
          </a:p>
        </p:txBody>
      </p:sp>
    </p:spTree>
    <p:extLst>
      <p:ext uri="{BB962C8B-B14F-4D97-AF65-F5344CB8AC3E}">
        <p14:creationId xmlns:p14="http://schemas.microsoft.com/office/powerpoint/2010/main" val="248405004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b="1" dirty="0"/>
          </a:p>
        </p:txBody>
      </p:sp>
      <p:sp>
        <p:nvSpPr>
          <p:cNvPr id="4" name="Espace réservé du numéro de diapositive 3"/>
          <p:cNvSpPr>
            <a:spLocks noGrp="1"/>
          </p:cNvSpPr>
          <p:nvPr>
            <p:ph type="sldNum" sz="quarter" idx="10"/>
          </p:nvPr>
        </p:nvSpPr>
        <p:spPr/>
        <p:txBody>
          <a:bodyPr/>
          <a:lstStyle/>
          <a:p>
            <a:fld id="{C05E1AE6-1BFD-4589-9604-3D9D158FB781}" type="slidenum">
              <a:rPr lang="fr-FR" smtClean="0"/>
              <a:t>36</a:t>
            </a:fld>
            <a:endParaRPr lang="fr-FR"/>
          </a:p>
        </p:txBody>
      </p:sp>
    </p:spTree>
    <p:extLst>
      <p:ext uri="{BB962C8B-B14F-4D97-AF65-F5344CB8AC3E}">
        <p14:creationId xmlns:p14="http://schemas.microsoft.com/office/powerpoint/2010/main" val="216311238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b="1" dirty="0"/>
          </a:p>
        </p:txBody>
      </p:sp>
      <p:sp>
        <p:nvSpPr>
          <p:cNvPr id="4" name="Espace réservé du numéro de diapositive 3"/>
          <p:cNvSpPr>
            <a:spLocks noGrp="1"/>
          </p:cNvSpPr>
          <p:nvPr>
            <p:ph type="sldNum" sz="quarter" idx="10"/>
          </p:nvPr>
        </p:nvSpPr>
        <p:spPr/>
        <p:txBody>
          <a:bodyPr/>
          <a:lstStyle/>
          <a:p>
            <a:fld id="{C05E1AE6-1BFD-4589-9604-3D9D158FB781}" type="slidenum">
              <a:rPr lang="fr-FR" smtClean="0"/>
              <a:t>37</a:t>
            </a:fld>
            <a:endParaRPr lang="fr-FR"/>
          </a:p>
        </p:txBody>
      </p:sp>
    </p:spTree>
    <p:extLst>
      <p:ext uri="{BB962C8B-B14F-4D97-AF65-F5344CB8AC3E}">
        <p14:creationId xmlns:p14="http://schemas.microsoft.com/office/powerpoint/2010/main" val="148024920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b="1" dirty="0"/>
          </a:p>
        </p:txBody>
      </p:sp>
      <p:sp>
        <p:nvSpPr>
          <p:cNvPr id="4" name="Espace réservé du numéro de diapositive 3"/>
          <p:cNvSpPr>
            <a:spLocks noGrp="1"/>
          </p:cNvSpPr>
          <p:nvPr>
            <p:ph type="sldNum" sz="quarter" idx="10"/>
          </p:nvPr>
        </p:nvSpPr>
        <p:spPr/>
        <p:txBody>
          <a:bodyPr/>
          <a:lstStyle/>
          <a:p>
            <a:fld id="{C05E1AE6-1BFD-4589-9604-3D9D158FB781}" type="slidenum">
              <a:rPr lang="fr-FR" smtClean="0"/>
              <a:t>38</a:t>
            </a:fld>
            <a:endParaRPr lang="fr-FR"/>
          </a:p>
        </p:txBody>
      </p:sp>
    </p:spTree>
    <p:extLst>
      <p:ext uri="{BB962C8B-B14F-4D97-AF65-F5344CB8AC3E}">
        <p14:creationId xmlns:p14="http://schemas.microsoft.com/office/powerpoint/2010/main" val="194874940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b="1" dirty="0"/>
          </a:p>
        </p:txBody>
      </p:sp>
      <p:sp>
        <p:nvSpPr>
          <p:cNvPr id="4" name="Espace réservé du numéro de diapositive 3"/>
          <p:cNvSpPr>
            <a:spLocks noGrp="1"/>
          </p:cNvSpPr>
          <p:nvPr>
            <p:ph type="sldNum" sz="quarter" idx="10"/>
          </p:nvPr>
        </p:nvSpPr>
        <p:spPr/>
        <p:txBody>
          <a:bodyPr/>
          <a:lstStyle/>
          <a:p>
            <a:fld id="{C05E1AE6-1BFD-4589-9604-3D9D158FB781}" type="slidenum">
              <a:rPr lang="fr-FR" smtClean="0"/>
              <a:t>39</a:t>
            </a:fld>
            <a:endParaRPr lang="fr-FR"/>
          </a:p>
        </p:txBody>
      </p:sp>
    </p:spTree>
    <p:extLst>
      <p:ext uri="{BB962C8B-B14F-4D97-AF65-F5344CB8AC3E}">
        <p14:creationId xmlns:p14="http://schemas.microsoft.com/office/powerpoint/2010/main" val="265532324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sz="1200" b="1" kern="1200" dirty="0" smtClean="0">
                <a:solidFill>
                  <a:schemeClr val="tx1"/>
                </a:solidFill>
                <a:latin typeface="+mn-lt"/>
                <a:ea typeface="+mn-ea"/>
                <a:cs typeface="+mn-cs"/>
              </a:rPr>
              <a:t>Exemple</a:t>
            </a:r>
            <a:r>
              <a:rPr lang="en-US" sz="1200" b="1" kern="1200" baseline="0" dirty="0" smtClean="0">
                <a:solidFill>
                  <a:schemeClr val="tx1"/>
                </a:solidFill>
                <a:latin typeface="+mn-lt"/>
                <a:ea typeface="+mn-ea"/>
                <a:cs typeface="+mn-cs"/>
              </a:rPr>
              <a:t> de format de date:</a:t>
            </a:r>
            <a:r>
              <a:rPr lang="en-US" sz="1200" kern="1200" baseline="0" dirty="0" smtClean="0">
                <a:solidFill>
                  <a:schemeClr val="tx1"/>
                </a:solidFill>
                <a:latin typeface="+mn-lt"/>
                <a:ea typeface="+mn-ea"/>
                <a:cs typeface="+mn-cs"/>
              </a:rPr>
              <a:t> </a:t>
            </a:r>
          </a:p>
          <a:p>
            <a:endParaRPr lang="en-US" sz="1200" kern="1200" dirty="0" smtClean="0">
              <a:solidFill>
                <a:schemeClr val="tx1"/>
              </a:solidFill>
              <a:latin typeface="+mn-lt"/>
              <a:ea typeface="+mn-ea"/>
              <a:cs typeface="+mn-cs"/>
            </a:endParaRPr>
          </a:p>
          <a:p>
            <a:r>
              <a:rPr lang="en-US" sz="1200" kern="1200" dirty="0" smtClean="0">
                <a:solidFill>
                  <a:schemeClr val="tx1"/>
                </a:solidFill>
                <a:latin typeface="+mn-lt"/>
                <a:ea typeface="+mn-ea"/>
                <a:cs typeface="+mn-cs"/>
              </a:rPr>
              <a:t>&lt;</a:t>
            </a:r>
            <a:r>
              <a:rPr lang="en-US" sz="1200" kern="1200" dirty="0" err="1" smtClean="0">
                <a:solidFill>
                  <a:schemeClr val="tx1"/>
                </a:solidFill>
                <a:latin typeface="+mn-lt"/>
                <a:ea typeface="+mn-ea"/>
                <a:cs typeface="+mn-cs"/>
              </a:rPr>
              <a:t>VerticalStackLayout</a:t>
            </a:r>
            <a:r>
              <a:rPr lang="en-US" sz="1200" kern="1200" dirty="0" smtClean="0">
                <a:solidFill>
                  <a:schemeClr val="tx1"/>
                </a:solidFill>
                <a:latin typeface="+mn-lt"/>
                <a:ea typeface="+mn-ea"/>
                <a:cs typeface="+mn-cs"/>
              </a:rPr>
              <a:t> Margin="20" Spacing="20"&gt;</a:t>
            </a:r>
          </a:p>
          <a:p>
            <a:r>
              <a:rPr lang="fr-FR" sz="1200" kern="1200" dirty="0" smtClean="0">
                <a:solidFill>
                  <a:schemeClr val="tx1"/>
                </a:solidFill>
                <a:latin typeface="+mn-lt"/>
                <a:ea typeface="+mn-ea"/>
                <a:cs typeface="+mn-cs"/>
              </a:rPr>
              <a:t>        &lt;</a:t>
            </a:r>
            <a:r>
              <a:rPr lang="fr-FR" sz="1200" kern="1200" dirty="0" err="1" smtClean="0">
                <a:solidFill>
                  <a:schemeClr val="tx1"/>
                </a:solidFill>
                <a:latin typeface="+mn-lt"/>
                <a:ea typeface="+mn-ea"/>
                <a:cs typeface="+mn-cs"/>
              </a:rPr>
              <a:t>DatePicker</a:t>
            </a:r>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MinimumDate</a:t>
            </a:r>
            <a:r>
              <a:rPr lang="fr-FR" sz="1200" kern="1200" dirty="0" smtClean="0">
                <a:solidFill>
                  <a:schemeClr val="tx1"/>
                </a:solidFill>
                <a:latin typeface="+mn-lt"/>
                <a:ea typeface="+mn-ea"/>
                <a:cs typeface="+mn-cs"/>
              </a:rPr>
              <a:t>="10/07/2023"</a:t>
            </a:r>
          </a:p>
          <a:p>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MaximumDate</a:t>
            </a:r>
            <a:r>
              <a:rPr lang="fr-FR" sz="1200" kern="1200" dirty="0" smtClean="0">
                <a:solidFill>
                  <a:schemeClr val="tx1"/>
                </a:solidFill>
                <a:latin typeface="+mn-lt"/>
                <a:ea typeface="+mn-ea"/>
                <a:cs typeface="+mn-cs"/>
              </a:rPr>
              <a:t>="10/07/2024"</a:t>
            </a:r>
          </a:p>
          <a:p>
            <a:r>
              <a:rPr lang="fr-FR" sz="1200" kern="1200" dirty="0" smtClean="0">
                <a:solidFill>
                  <a:schemeClr val="tx1"/>
                </a:solidFill>
                <a:latin typeface="+mn-lt"/>
                <a:ea typeface="+mn-ea"/>
                <a:cs typeface="+mn-cs"/>
              </a:rPr>
              <a:t>                    Format="dd/MM/</a:t>
            </a:r>
            <a:r>
              <a:rPr lang="fr-FR" sz="1200" kern="1200" dirty="0" err="1" smtClean="0">
                <a:solidFill>
                  <a:schemeClr val="tx1"/>
                </a:solidFill>
                <a:latin typeface="+mn-lt"/>
                <a:ea typeface="+mn-ea"/>
                <a:cs typeface="+mn-cs"/>
              </a:rPr>
              <a:t>yyyy</a:t>
            </a:r>
            <a:r>
              <a:rPr lang="fr-FR" sz="1200" kern="1200" dirty="0" smtClean="0">
                <a:solidFill>
                  <a:schemeClr val="tx1"/>
                </a:solidFill>
                <a:latin typeface="+mn-lt"/>
                <a:ea typeface="+mn-ea"/>
                <a:cs typeface="+mn-cs"/>
              </a:rPr>
              <a:t>"/&gt;</a:t>
            </a:r>
          </a:p>
          <a:p>
            <a:r>
              <a:rPr lang="fr-FR" sz="1200" kern="1200" dirty="0" smtClean="0">
                <a:solidFill>
                  <a:schemeClr val="tx1"/>
                </a:solidFill>
                <a:latin typeface="+mn-lt"/>
                <a:ea typeface="+mn-ea"/>
                <a:cs typeface="+mn-cs"/>
              </a:rPr>
              <a:t>    &lt;/</a:t>
            </a:r>
            <a:r>
              <a:rPr lang="fr-FR" sz="1200" kern="1200" dirty="0" err="1" smtClean="0">
                <a:solidFill>
                  <a:schemeClr val="tx1"/>
                </a:solidFill>
                <a:latin typeface="+mn-lt"/>
                <a:ea typeface="+mn-ea"/>
                <a:cs typeface="+mn-cs"/>
              </a:rPr>
              <a:t>VerticalStackLayout</a:t>
            </a:r>
            <a:r>
              <a:rPr lang="fr-FR" sz="1200" kern="1200" dirty="0" smtClean="0">
                <a:solidFill>
                  <a:schemeClr val="tx1"/>
                </a:solidFill>
                <a:latin typeface="+mn-lt"/>
                <a:ea typeface="+mn-ea"/>
                <a:cs typeface="+mn-cs"/>
              </a:rPr>
              <a:t>&gt;</a:t>
            </a:r>
            <a:endParaRPr lang="fr-FR" b="1" dirty="0"/>
          </a:p>
        </p:txBody>
      </p:sp>
      <p:sp>
        <p:nvSpPr>
          <p:cNvPr id="4" name="Espace réservé du numéro de diapositive 3"/>
          <p:cNvSpPr>
            <a:spLocks noGrp="1"/>
          </p:cNvSpPr>
          <p:nvPr>
            <p:ph type="sldNum" sz="quarter" idx="10"/>
          </p:nvPr>
        </p:nvSpPr>
        <p:spPr/>
        <p:txBody>
          <a:bodyPr/>
          <a:lstStyle/>
          <a:p>
            <a:fld id="{C05E1AE6-1BFD-4589-9604-3D9D158FB781}" type="slidenum">
              <a:rPr lang="fr-FR" smtClean="0"/>
              <a:t>40</a:t>
            </a:fld>
            <a:endParaRPr lang="fr-FR"/>
          </a:p>
        </p:txBody>
      </p:sp>
    </p:spTree>
    <p:extLst>
      <p:ext uri="{BB962C8B-B14F-4D97-AF65-F5344CB8AC3E}">
        <p14:creationId xmlns:p14="http://schemas.microsoft.com/office/powerpoint/2010/main" val="405184721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sz="1200" kern="1200" dirty="0" smtClean="0">
              <a:solidFill>
                <a:schemeClr val="tx1"/>
              </a:solidFill>
              <a:latin typeface="+mn-lt"/>
              <a:ea typeface="+mn-ea"/>
              <a:cs typeface="+mn-cs"/>
            </a:endParaRPr>
          </a:p>
        </p:txBody>
      </p:sp>
      <p:sp>
        <p:nvSpPr>
          <p:cNvPr id="4" name="Espace réservé du numéro de diapositive 3"/>
          <p:cNvSpPr>
            <a:spLocks noGrp="1"/>
          </p:cNvSpPr>
          <p:nvPr>
            <p:ph type="sldNum" sz="quarter" idx="10"/>
          </p:nvPr>
        </p:nvSpPr>
        <p:spPr/>
        <p:txBody>
          <a:bodyPr/>
          <a:lstStyle/>
          <a:p>
            <a:fld id="{C05E1AE6-1BFD-4589-9604-3D9D158FB781}" type="slidenum">
              <a:rPr lang="fr-FR" smtClean="0"/>
              <a:t>41</a:t>
            </a:fld>
            <a:endParaRPr lang="fr-FR"/>
          </a:p>
        </p:txBody>
      </p:sp>
    </p:spTree>
    <p:extLst>
      <p:ext uri="{BB962C8B-B14F-4D97-AF65-F5344CB8AC3E}">
        <p14:creationId xmlns:p14="http://schemas.microsoft.com/office/powerpoint/2010/main" val="56892301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b="1" dirty="0"/>
          </a:p>
        </p:txBody>
      </p:sp>
      <p:sp>
        <p:nvSpPr>
          <p:cNvPr id="4" name="Espace réservé du numéro de diapositive 3"/>
          <p:cNvSpPr>
            <a:spLocks noGrp="1"/>
          </p:cNvSpPr>
          <p:nvPr>
            <p:ph type="sldNum" sz="quarter" idx="10"/>
          </p:nvPr>
        </p:nvSpPr>
        <p:spPr/>
        <p:txBody>
          <a:bodyPr/>
          <a:lstStyle/>
          <a:p>
            <a:fld id="{C05E1AE6-1BFD-4589-9604-3D9D158FB781}" type="slidenum">
              <a:rPr lang="fr-FR" smtClean="0"/>
              <a:t>42</a:t>
            </a:fld>
            <a:endParaRPr lang="fr-FR"/>
          </a:p>
        </p:txBody>
      </p:sp>
    </p:spTree>
    <p:extLst>
      <p:ext uri="{BB962C8B-B14F-4D97-AF65-F5344CB8AC3E}">
        <p14:creationId xmlns:p14="http://schemas.microsoft.com/office/powerpoint/2010/main" val="413900097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b="1" dirty="0"/>
          </a:p>
        </p:txBody>
      </p:sp>
      <p:sp>
        <p:nvSpPr>
          <p:cNvPr id="4" name="Espace réservé du numéro de diapositive 3"/>
          <p:cNvSpPr>
            <a:spLocks noGrp="1"/>
          </p:cNvSpPr>
          <p:nvPr>
            <p:ph type="sldNum" sz="quarter" idx="10"/>
          </p:nvPr>
        </p:nvSpPr>
        <p:spPr/>
        <p:txBody>
          <a:bodyPr/>
          <a:lstStyle/>
          <a:p>
            <a:fld id="{C05E1AE6-1BFD-4589-9604-3D9D158FB781}" type="slidenum">
              <a:rPr lang="fr-FR" smtClean="0"/>
              <a:t>43</a:t>
            </a:fld>
            <a:endParaRPr lang="fr-FR"/>
          </a:p>
        </p:txBody>
      </p:sp>
    </p:spTree>
    <p:extLst>
      <p:ext uri="{BB962C8B-B14F-4D97-AF65-F5344CB8AC3E}">
        <p14:creationId xmlns:p14="http://schemas.microsoft.com/office/powerpoint/2010/main" val="45871683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b="1" dirty="0" smtClean="0"/>
              <a:t>Exemple de </a:t>
            </a:r>
            <a:r>
              <a:rPr lang="fr-FR" b="1" dirty="0" err="1" smtClean="0"/>
              <a:t>slider</a:t>
            </a:r>
            <a:r>
              <a:rPr lang="fr-FR" b="1" dirty="0" smtClean="0"/>
              <a:t>:</a:t>
            </a:r>
          </a:p>
          <a:p>
            <a:endParaRPr lang="fr-FR" b="1" dirty="0" smtClean="0"/>
          </a:p>
          <a:p>
            <a:r>
              <a:rPr lang="en-US" sz="1200" kern="1200" dirty="0" smtClean="0">
                <a:solidFill>
                  <a:schemeClr val="tx1"/>
                </a:solidFill>
                <a:latin typeface="+mn-lt"/>
                <a:ea typeface="+mn-ea"/>
                <a:cs typeface="+mn-cs"/>
              </a:rPr>
              <a:t>&lt;</a:t>
            </a:r>
            <a:r>
              <a:rPr lang="en-US" sz="1200" kern="1200" dirty="0" err="1" smtClean="0">
                <a:solidFill>
                  <a:schemeClr val="tx1"/>
                </a:solidFill>
                <a:latin typeface="+mn-lt"/>
                <a:ea typeface="+mn-ea"/>
                <a:cs typeface="+mn-cs"/>
              </a:rPr>
              <a:t>VerticalStackLayout</a:t>
            </a:r>
            <a:r>
              <a:rPr lang="en-US" sz="1200" kern="1200" dirty="0" smtClean="0">
                <a:solidFill>
                  <a:schemeClr val="tx1"/>
                </a:solidFill>
                <a:latin typeface="+mn-lt"/>
                <a:ea typeface="+mn-ea"/>
                <a:cs typeface="+mn-cs"/>
              </a:rPr>
              <a:t> Margin="20" Spacing="20"&gt;</a:t>
            </a:r>
          </a:p>
          <a:p>
            <a:r>
              <a:rPr lang="en-US" sz="1200" kern="1200" dirty="0" smtClean="0">
                <a:solidFill>
                  <a:schemeClr val="tx1"/>
                </a:solidFill>
                <a:latin typeface="+mn-lt"/>
                <a:ea typeface="+mn-ea"/>
                <a:cs typeface="+mn-cs"/>
              </a:rPr>
              <a:t>        &lt;Label Margin="20" </a:t>
            </a:r>
            <a:r>
              <a:rPr lang="en-US" sz="1200" kern="1200" dirty="0" err="1" smtClean="0">
                <a:solidFill>
                  <a:schemeClr val="tx1"/>
                </a:solidFill>
                <a:latin typeface="+mn-lt"/>
                <a:ea typeface="+mn-ea"/>
                <a:cs typeface="+mn-cs"/>
              </a:rPr>
              <a:t>FontSize</a:t>
            </a:r>
            <a:r>
              <a:rPr lang="en-US" sz="1200" kern="1200" dirty="0" smtClean="0">
                <a:solidFill>
                  <a:schemeClr val="tx1"/>
                </a:solidFill>
                <a:latin typeface="+mn-lt"/>
                <a:ea typeface="+mn-ea"/>
                <a:cs typeface="+mn-cs"/>
              </a:rPr>
              <a:t>="20" Text="{Binding Source={</a:t>
            </a:r>
            <a:r>
              <a:rPr lang="en-US" sz="1200" kern="1200" dirty="0" err="1" smtClean="0">
                <a:solidFill>
                  <a:schemeClr val="tx1"/>
                </a:solidFill>
                <a:latin typeface="+mn-lt"/>
                <a:ea typeface="+mn-ea"/>
                <a:cs typeface="+mn-cs"/>
              </a:rPr>
              <a:t>x:Reference</a:t>
            </a:r>
            <a:r>
              <a:rPr lang="en-US" sz="1200" kern="1200" dirty="0" smtClean="0">
                <a:solidFill>
                  <a:schemeClr val="tx1"/>
                </a:solidFill>
                <a:latin typeface="+mn-lt"/>
                <a:ea typeface="+mn-ea"/>
                <a:cs typeface="+mn-cs"/>
              </a:rPr>
              <a:t> slider},</a:t>
            </a:r>
          </a:p>
          <a:p>
            <a:r>
              <a:rPr lang="fr-FR" sz="1200" kern="1200" dirty="0" smtClean="0">
                <a:solidFill>
                  <a:schemeClr val="tx1"/>
                </a:solidFill>
                <a:latin typeface="+mn-lt"/>
                <a:ea typeface="+mn-ea"/>
                <a:cs typeface="+mn-cs"/>
              </a:rPr>
              <a:t>            Path=</a:t>
            </a:r>
            <a:r>
              <a:rPr lang="fr-FR" sz="1200" kern="1200" dirty="0" err="1" smtClean="0">
                <a:solidFill>
                  <a:schemeClr val="tx1"/>
                </a:solidFill>
                <a:latin typeface="+mn-lt"/>
                <a:ea typeface="+mn-ea"/>
                <a:cs typeface="+mn-cs"/>
              </a:rPr>
              <a:t>Value,Mode</a:t>
            </a:r>
            <a:r>
              <a:rPr lang="fr-FR" sz="1200" kern="1200" dirty="0" smtClean="0">
                <a:solidFill>
                  <a:schemeClr val="tx1"/>
                </a:solidFill>
                <a:latin typeface="+mn-lt"/>
                <a:ea typeface="+mn-ea"/>
                <a:cs typeface="+mn-cs"/>
              </a:rPr>
              <a:t>=</a:t>
            </a:r>
            <a:r>
              <a:rPr lang="fr-FR" sz="1200" kern="1200" dirty="0" err="1" smtClean="0">
                <a:solidFill>
                  <a:schemeClr val="tx1"/>
                </a:solidFill>
                <a:latin typeface="+mn-lt"/>
                <a:ea typeface="+mn-ea"/>
                <a:cs typeface="+mn-cs"/>
              </a:rPr>
              <a:t>TwoWay,StringFormat</a:t>
            </a:r>
            <a:r>
              <a:rPr lang="fr-FR" sz="1200" kern="1200" dirty="0" smtClean="0">
                <a:solidFill>
                  <a:schemeClr val="tx1"/>
                </a:solidFill>
                <a:latin typeface="+mn-lt"/>
                <a:ea typeface="+mn-ea"/>
                <a:cs typeface="+mn-cs"/>
              </a:rPr>
              <a:t>='Value: {0:F0}'}"/&gt;</a:t>
            </a:r>
          </a:p>
          <a:p>
            <a:r>
              <a:rPr lang="fr-FR" sz="1200" kern="1200" dirty="0" smtClean="0">
                <a:solidFill>
                  <a:schemeClr val="tx1"/>
                </a:solidFill>
                <a:latin typeface="+mn-lt"/>
                <a:ea typeface="+mn-ea"/>
                <a:cs typeface="+mn-cs"/>
              </a:rPr>
              <a:t>        &lt;Slider x:Name="slider"</a:t>
            </a:r>
          </a:p>
          <a:p>
            <a:r>
              <a:rPr lang="fr-FR" sz="1200" kern="1200" dirty="0" smtClean="0">
                <a:solidFill>
                  <a:schemeClr val="tx1"/>
                </a:solidFill>
                <a:latin typeface="+mn-lt"/>
                <a:ea typeface="+mn-ea"/>
                <a:cs typeface="+mn-cs"/>
              </a:rPr>
              <a:t>                Minimum="0" </a:t>
            </a:r>
          </a:p>
          <a:p>
            <a:r>
              <a:rPr lang="fr-FR" sz="1200" kern="1200" dirty="0" smtClean="0">
                <a:solidFill>
                  <a:schemeClr val="tx1"/>
                </a:solidFill>
                <a:latin typeface="+mn-lt"/>
                <a:ea typeface="+mn-ea"/>
                <a:cs typeface="+mn-cs"/>
              </a:rPr>
              <a:t>                Maximum="255"/&gt;</a:t>
            </a:r>
          </a:p>
          <a:p>
            <a:r>
              <a:rPr lang="fr-FR" sz="1200" kern="1200" dirty="0" smtClean="0">
                <a:solidFill>
                  <a:schemeClr val="tx1"/>
                </a:solidFill>
                <a:latin typeface="+mn-lt"/>
                <a:ea typeface="+mn-ea"/>
                <a:cs typeface="+mn-cs"/>
              </a:rPr>
              <a:t>    &lt;/</a:t>
            </a:r>
            <a:r>
              <a:rPr lang="fr-FR" sz="1200" kern="1200" dirty="0" err="1" smtClean="0">
                <a:solidFill>
                  <a:schemeClr val="tx1"/>
                </a:solidFill>
                <a:latin typeface="+mn-lt"/>
                <a:ea typeface="+mn-ea"/>
                <a:cs typeface="+mn-cs"/>
              </a:rPr>
              <a:t>VerticalStackLayout</a:t>
            </a:r>
            <a:r>
              <a:rPr lang="fr-FR" sz="1200" kern="1200" dirty="0" smtClean="0">
                <a:solidFill>
                  <a:schemeClr val="tx1"/>
                </a:solidFill>
                <a:latin typeface="+mn-lt"/>
                <a:ea typeface="+mn-ea"/>
                <a:cs typeface="+mn-cs"/>
              </a:rPr>
              <a:t>&gt;</a:t>
            </a:r>
            <a:endParaRPr lang="fr-FR" b="1" dirty="0"/>
          </a:p>
        </p:txBody>
      </p:sp>
      <p:sp>
        <p:nvSpPr>
          <p:cNvPr id="4" name="Espace réservé du numéro de diapositive 3"/>
          <p:cNvSpPr>
            <a:spLocks noGrp="1"/>
          </p:cNvSpPr>
          <p:nvPr>
            <p:ph type="sldNum" sz="quarter" idx="10"/>
          </p:nvPr>
        </p:nvSpPr>
        <p:spPr/>
        <p:txBody>
          <a:bodyPr/>
          <a:lstStyle/>
          <a:p>
            <a:fld id="{C05E1AE6-1BFD-4589-9604-3D9D158FB781}" type="slidenum">
              <a:rPr lang="fr-FR" smtClean="0"/>
              <a:t>44</a:t>
            </a:fld>
            <a:endParaRPr lang="fr-FR"/>
          </a:p>
        </p:txBody>
      </p:sp>
    </p:spTree>
    <p:extLst>
      <p:ext uri="{BB962C8B-B14F-4D97-AF65-F5344CB8AC3E}">
        <p14:creationId xmlns:p14="http://schemas.microsoft.com/office/powerpoint/2010/main" val="270859566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b="1" dirty="0" smtClean="0"/>
              <a:t>Exemple de stepper: </a:t>
            </a:r>
          </a:p>
          <a:p>
            <a:endParaRPr lang="fr-FR" b="1" dirty="0" smtClean="0"/>
          </a:p>
          <a:p>
            <a:r>
              <a:rPr lang="en-US" sz="1200" kern="1200" dirty="0" smtClean="0">
                <a:solidFill>
                  <a:schemeClr val="tx1"/>
                </a:solidFill>
                <a:latin typeface="+mn-lt"/>
                <a:ea typeface="+mn-ea"/>
                <a:cs typeface="+mn-cs"/>
              </a:rPr>
              <a:t>&lt;Label Margin="20" </a:t>
            </a:r>
            <a:r>
              <a:rPr lang="en-US" sz="1200" kern="1200" dirty="0" err="1" smtClean="0">
                <a:solidFill>
                  <a:schemeClr val="tx1"/>
                </a:solidFill>
                <a:latin typeface="+mn-lt"/>
                <a:ea typeface="+mn-ea"/>
                <a:cs typeface="+mn-cs"/>
              </a:rPr>
              <a:t>FontSize</a:t>
            </a:r>
            <a:r>
              <a:rPr lang="en-US" sz="1200" kern="1200" dirty="0" smtClean="0">
                <a:solidFill>
                  <a:schemeClr val="tx1"/>
                </a:solidFill>
                <a:latin typeface="+mn-lt"/>
                <a:ea typeface="+mn-ea"/>
                <a:cs typeface="+mn-cs"/>
              </a:rPr>
              <a:t>="20" Text="{Binding Source={</a:t>
            </a:r>
            <a:r>
              <a:rPr lang="en-US" sz="1200" kern="1200" dirty="0" err="1" smtClean="0">
                <a:solidFill>
                  <a:schemeClr val="tx1"/>
                </a:solidFill>
                <a:latin typeface="+mn-lt"/>
                <a:ea typeface="+mn-ea"/>
                <a:cs typeface="+mn-cs"/>
              </a:rPr>
              <a:t>x:Reference</a:t>
            </a:r>
            <a:r>
              <a:rPr lang="en-US" sz="1200" kern="1200" dirty="0" smtClean="0">
                <a:solidFill>
                  <a:schemeClr val="tx1"/>
                </a:solidFill>
                <a:latin typeface="+mn-lt"/>
                <a:ea typeface="+mn-ea"/>
                <a:cs typeface="+mn-cs"/>
              </a:rPr>
              <a:t> stepper},</a:t>
            </a:r>
          </a:p>
          <a:p>
            <a:r>
              <a:rPr lang="fr-FR" sz="1200" kern="1200" dirty="0" smtClean="0">
                <a:solidFill>
                  <a:schemeClr val="tx1"/>
                </a:solidFill>
                <a:latin typeface="+mn-lt"/>
                <a:ea typeface="+mn-ea"/>
                <a:cs typeface="+mn-cs"/>
              </a:rPr>
              <a:t>            Path=</a:t>
            </a:r>
            <a:r>
              <a:rPr lang="fr-FR" sz="1200" kern="1200" dirty="0" err="1" smtClean="0">
                <a:solidFill>
                  <a:schemeClr val="tx1"/>
                </a:solidFill>
                <a:latin typeface="+mn-lt"/>
                <a:ea typeface="+mn-ea"/>
                <a:cs typeface="+mn-cs"/>
              </a:rPr>
              <a:t>Value,Mode</a:t>
            </a:r>
            <a:r>
              <a:rPr lang="fr-FR" sz="1200" kern="1200" dirty="0" smtClean="0">
                <a:solidFill>
                  <a:schemeClr val="tx1"/>
                </a:solidFill>
                <a:latin typeface="+mn-lt"/>
                <a:ea typeface="+mn-ea"/>
                <a:cs typeface="+mn-cs"/>
              </a:rPr>
              <a:t>=</a:t>
            </a:r>
            <a:r>
              <a:rPr lang="fr-FR" sz="1200" kern="1200" dirty="0" err="1" smtClean="0">
                <a:solidFill>
                  <a:schemeClr val="tx1"/>
                </a:solidFill>
                <a:latin typeface="+mn-lt"/>
                <a:ea typeface="+mn-ea"/>
                <a:cs typeface="+mn-cs"/>
              </a:rPr>
              <a:t>TwoWay,StringFormat</a:t>
            </a:r>
            <a:r>
              <a:rPr lang="fr-FR" sz="1200" kern="1200" dirty="0" smtClean="0">
                <a:solidFill>
                  <a:schemeClr val="tx1"/>
                </a:solidFill>
                <a:latin typeface="+mn-lt"/>
                <a:ea typeface="+mn-ea"/>
                <a:cs typeface="+mn-cs"/>
              </a:rPr>
              <a:t>='Value: {0:F0}'}"/&gt;</a:t>
            </a:r>
          </a:p>
          <a:p>
            <a:r>
              <a:rPr lang="fr-FR" sz="1200" kern="1200" dirty="0" smtClean="0">
                <a:solidFill>
                  <a:schemeClr val="tx1"/>
                </a:solidFill>
                <a:latin typeface="+mn-lt"/>
                <a:ea typeface="+mn-ea"/>
                <a:cs typeface="+mn-cs"/>
              </a:rPr>
              <a:t>        &lt;Stepper x:Name="stepper"</a:t>
            </a:r>
          </a:p>
          <a:p>
            <a:r>
              <a:rPr lang="fr-FR" sz="1200" kern="1200" dirty="0" smtClean="0">
                <a:solidFill>
                  <a:schemeClr val="tx1"/>
                </a:solidFill>
                <a:latin typeface="+mn-lt"/>
                <a:ea typeface="+mn-ea"/>
                <a:cs typeface="+mn-cs"/>
              </a:rPr>
              <a:t>                Minimum="0" </a:t>
            </a:r>
          </a:p>
          <a:p>
            <a:r>
              <a:rPr lang="fr-FR" sz="1200" kern="1200" dirty="0" smtClean="0">
                <a:solidFill>
                  <a:schemeClr val="tx1"/>
                </a:solidFill>
                <a:latin typeface="+mn-lt"/>
                <a:ea typeface="+mn-ea"/>
                <a:cs typeface="+mn-cs"/>
              </a:rPr>
              <a:t>                Maximum="255"/&gt;</a:t>
            </a:r>
            <a:endParaRPr lang="fr-FR" b="1" dirty="0"/>
          </a:p>
        </p:txBody>
      </p:sp>
      <p:sp>
        <p:nvSpPr>
          <p:cNvPr id="4" name="Espace réservé du numéro de diapositive 3"/>
          <p:cNvSpPr>
            <a:spLocks noGrp="1"/>
          </p:cNvSpPr>
          <p:nvPr>
            <p:ph type="sldNum" sz="quarter" idx="10"/>
          </p:nvPr>
        </p:nvSpPr>
        <p:spPr/>
        <p:txBody>
          <a:bodyPr/>
          <a:lstStyle/>
          <a:p>
            <a:fld id="{C05E1AE6-1BFD-4589-9604-3D9D158FB781}" type="slidenum">
              <a:rPr lang="fr-FR" smtClean="0"/>
              <a:t>45</a:t>
            </a:fld>
            <a:endParaRPr lang="fr-FR"/>
          </a:p>
        </p:txBody>
      </p:sp>
    </p:spTree>
    <p:extLst>
      <p:ext uri="{BB962C8B-B14F-4D97-AF65-F5344CB8AC3E}">
        <p14:creationId xmlns:p14="http://schemas.microsoft.com/office/powerpoint/2010/main" val="216823070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b="1" dirty="0"/>
          </a:p>
        </p:txBody>
      </p:sp>
      <p:sp>
        <p:nvSpPr>
          <p:cNvPr id="4" name="Espace réservé du numéro de diapositive 3"/>
          <p:cNvSpPr>
            <a:spLocks noGrp="1"/>
          </p:cNvSpPr>
          <p:nvPr>
            <p:ph type="sldNum" sz="quarter" idx="10"/>
          </p:nvPr>
        </p:nvSpPr>
        <p:spPr/>
        <p:txBody>
          <a:bodyPr/>
          <a:lstStyle/>
          <a:p>
            <a:fld id="{C05E1AE6-1BFD-4589-9604-3D9D158FB781}" type="slidenum">
              <a:rPr lang="fr-FR" smtClean="0"/>
              <a:t>46</a:t>
            </a:fld>
            <a:endParaRPr lang="fr-FR"/>
          </a:p>
        </p:txBody>
      </p:sp>
    </p:spTree>
    <p:extLst>
      <p:ext uri="{BB962C8B-B14F-4D97-AF65-F5344CB8AC3E}">
        <p14:creationId xmlns:p14="http://schemas.microsoft.com/office/powerpoint/2010/main" val="14926284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b="1" dirty="0"/>
          </a:p>
        </p:txBody>
      </p:sp>
      <p:sp>
        <p:nvSpPr>
          <p:cNvPr id="4" name="Espace réservé du numéro de diapositive 3"/>
          <p:cNvSpPr>
            <a:spLocks noGrp="1"/>
          </p:cNvSpPr>
          <p:nvPr>
            <p:ph type="sldNum" sz="quarter" idx="10"/>
          </p:nvPr>
        </p:nvSpPr>
        <p:spPr/>
        <p:txBody>
          <a:bodyPr/>
          <a:lstStyle/>
          <a:p>
            <a:fld id="{C05E1AE6-1BFD-4589-9604-3D9D158FB781}" type="slidenum">
              <a:rPr lang="fr-FR" smtClean="0"/>
              <a:t>47</a:t>
            </a:fld>
            <a:endParaRPr lang="fr-FR"/>
          </a:p>
        </p:txBody>
      </p:sp>
    </p:spTree>
    <p:extLst>
      <p:ext uri="{BB962C8B-B14F-4D97-AF65-F5344CB8AC3E}">
        <p14:creationId xmlns:p14="http://schemas.microsoft.com/office/powerpoint/2010/main" val="400526845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b="1" dirty="0" smtClean="0"/>
              <a:t>Exemple de Carousel:</a:t>
            </a:r>
          </a:p>
          <a:p>
            <a:r>
              <a:rPr lang="fr-FR" sz="1200" kern="1200" dirty="0" smtClean="0">
                <a:solidFill>
                  <a:schemeClr val="tx1"/>
                </a:solidFill>
                <a:latin typeface="+mn-lt"/>
                <a:ea typeface="+mn-ea"/>
                <a:cs typeface="+mn-cs"/>
              </a:rPr>
              <a:t> &lt;</a:t>
            </a:r>
            <a:r>
              <a:rPr lang="fr-FR" sz="1200" kern="1200" dirty="0" err="1" smtClean="0">
                <a:solidFill>
                  <a:schemeClr val="tx1"/>
                </a:solidFill>
                <a:latin typeface="+mn-lt"/>
                <a:ea typeface="+mn-ea"/>
                <a:cs typeface="+mn-cs"/>
              </a:rPr>
              <a:t>CarouselView</a:t>
            </a:r>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FlowDirection</a:t>
            </a:r>
            <a:r>
              <a:rPr lang="fr-FR" sz="1200" kern="1200" dirty="0" smtClean="0">
                <a:solidFill>
                  <a:schemeClr val="tx1"/>
                </a:solidFill>
                <a:latin typeface="+mn-lt"/>
                <a:ea typeface="+mn-ea"/>
                <a:cs typeface="+mn-cs"/>
              </a:rPr>
              <a:t>="</a:t>
            </a:r>
            <a:r>
              <a:rPr lang="fr-FR" sz="1200" kern="1200" dirty="0" err="1" smtClean="0">
                <a:solidFill>
                  <a:schemeClr val="tx1"/>
                </a:solidFill>
                <a:latin typeface="+mn-lt"/>
                <a:ea typeface="+mn-ea"/>
                <a:cs typeface="+mn-cs"/>
              </a:rPr>
              <a:t>LeftToRight</a:t>
            </a:r>
            <a:r>
              <a:rPr lang="fr-FR" sz="1200" kern="1200" dirty="0" smtClean="0">
                <a:solidFill>
                  <a:schemeClr val="tx1"/>
                </a:solidFill>
                <a:latin typeface="+mn-lt"/>
                <a:ea typeface="+mn-ea"/>
                <a:cs typeface="+mn-cs"/>
              </a:rPr>
              <a:t>"</a:t>
            </a:r>
          </a:p>
          <a:p>
            <a:r>
              <a:rPr lang="fr-FR" sz="1200" kern="1200" dirty="0" smtClean="0">
                <a:solidFill>
                  <a:schemeClr val="tx1"/>
                </a:solidFill>
                <a:latin typeface="+mn-lt"/>
                <a:ea typeface="+mn-ea"/>
                <a:cs typeface="+mn-cs"/>
              </a:rPr>
              <a:t>                      IndicatorView="</a:t>
            </a:r>
            <a:r>
              <a:rPr lang="fr-FR" sz="1200" kern="1200" dirty="0" err="1" smtClean="0">
                <a:solidFill>
                  <a:schemeClr val="tx1"/>
                </a:solidFill>
                <a:latin typeface="+mn-lt"/>
                <a:ea typeface="+mn-ea"/>
                <a:cs typeface="+mn-cs"/>
              </a:rPr>
              <a:t>indicator</a:t>
            </a:r>
            <a:r>
              <a:rPr lang="fr-FR" sz="1200" kern="1200" dirty="0" smtClean="0">
                <a:solidFill>
                  <a:schemeClr val="tx1"/>
                </a:solidFill>
                <a:latin typeface="+mn-lt"/>
                <a:ea typeface="+mn-ea"/>
                <a:cs typeface="+mn-cs"/>
              </a:rPr>
              <a:t>"</a:t>
            </a:r>
          </a:p>
          <a:p>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HorizontalOptions</a:t>
            </a:r>
            <a:r>
              <a:rPr lang="fr-FR" sz="1200" kern="1200" dirty="0" smtClean="0">
                <a:solidFill>
                  <a:schemeClr val="tx1"/>
                </a:solidFill>
                <a:latin typeface="+mn-lt"/>
                <a:ea typeface="+mn-ea"/>
                <a:cs typeface="+mn-cs"/>
              </a:rPr>
              <a:t>="Center"&gt;</a:t>
            </a:r>
          </a:p>
          <a:p>
            <a:r>
              <a:rPr lang="fr-FR" sz="1200" kern="1200" dirty="0" smtClean="0">
                <a:solidFill>
                  <a:schemeClr val="tx1"/>
                </a:solidFill>
                <a:latin typeface="+mn-lt"/>
                <a:ea typeface="+mn-ea"/>
                <a:cs typeface="+mn-cs"/>
              </a:rPr>
              <a:t>            &lt;</a:t>
            </a:r>
            <a:r>
              <a:rPr lang="fr-FR" sz="1200" kern="1200" dirty="0" err="1" smtClean="0">
                <a:solidFill>
                  <a:schemeClr val="tx1"/>
                </a:solidFill>
                <a:latin typeface="+mn-lt"/>
                <a:ea typeface="+mn-ea"/>
                <a:cs typeface="+mn-cs"/>
              </a:rPr>
              <a:t>CarouselView.ItemsSource</a:t>
            </a:r>
            <a:r>
              <a:rPr lang="fr-FR" sz="1200" kern="1200" dirty="0" smtClean="0">
                <a:solidFill>
                  <a:schemeClr val="tx1"/>
                </a:solidFill>
                <a:latin typeface="+mn-lt"/>
                <a:ea typeface="+mn-ea"/>
                <a:cs typeface="+mn-cs"/>
              </a:rPr>
              <a:t>&gt;</a:t>
            </a:r>
          </a:p>
          <a:p>
            <a:r>
              <a:rPr lang="fr-FR" sz="1200" kern="1200" dirty="0" smtClean="0">
                <a:solidFill>
                  <a:schemeClr val="tx1"/>
                </a:solidFill>
                <a:latin typeface="+mn-lt"/>
                <a:ea typeface="+mn-ea"/>
                <a:cs typeface="+mn-cs"/>
              </a:rPr>
              <a:t>                &lt;</a:t>
            </a:r>
            <a:r>
              <a:rPr lang="fr-FR" sz="1200" kern="1200" dirty="0" err="1" smtClean="0">
                <a:solidFill>
                  <a:schemeClr val="tx1"/>
                </a:solidFill>
                <a:latin typeface="+mn-lt"/>
                <a:ea typeface="+mn-ea"/>
                <a:cs typeface="+mn-cs"/>
              </a:rPr>
              <a:t>x:Array</a:t>
            </a:r>
            <a:r>
              <a:rPr lang="fr-FR" sz="1200" kern="1200" dirty="0" smtClean="0">
                <a:solidFill>
                  <a:schemeClr val="tx1"/>
                </a:solidFill>
                <a:latin typeface="+mn-lt"/>
                <a:ea typeface="+mn-ea"/>
                <a:cs typeface="+mn-cs"/>
              </a:rPr>
              <a:t> Type="{</a:t>
            </a:r>
            <a:r>
              <a:rPr lang="fr-FR" sz="1200" kern="1200" dirty="0" err="1" smtClean="0">
                <a:solidFill>
                  <a:schemeClr val="tx1"/>
                </a:solidFill>
                <a:latin typeface="+mn-lt"/>
                <a:ea typeface="+mn-ea"/>
                <a:cs typeface="+mn-cs"/>
              </a:rPr>
              <a:t>x:Type</a:t>
            </a:r>
            <a:r>
              <a:rPr lang="fr-FR" sz="1200" kern="1200" dirty="0" smtClean="0">
                <a:solidFill>
                  <a:schemeClr val="tx1"/>
                </a:solidFill>
                <a:latin typeface="+mn-lt"/>
                <a:ea typeface="+mn-ea"/>
                <a:cs typeface="+mn-cs"/>
              </a:rPr>
              <a:t> x:String}"&gt;</a:t>
            </a:r>
          </a:p>
          <a:p>
            <a:r>
              <a:rPr lang="fr-FR" sz="1200" kern="1200" dirty="0" smtClean="0">
                <a:solidFill>
                  <a:schemeClr val="tx1"/>
                </a:solidFill>
                <a:latin typeface="+mn-lt"/>
                <a:ea typeface="+mn-ea"/>
                <a:cs typeface="+mn-cs"/>
              </a:rPr>
              <a:t>                    &lt;</a:t>
            </a:r>
            <a:r>
              <a:rPr lang="fr-FR" sz="1200" kern="1200" dirty="0" err="1" smtClean="0">
                <a:solidFill>
                  <a:schemeClr val="tx1"/>
                </a:solidFill>
                <a:latin typeface="+mn-lt"/>
                <a:ea typeface="+mn-ea"/>
                <a:cs typeface="+mn-cs"/>
              </a:rPr>
              <a:t>x:String</a:t>
            </a:r>
            <a:r>
              <a:rPr lang="fr-FR" sz="1200" kern="1200" dirty="0" smtClean="0">
                <a:solidFill>
                  <a:schemeClr val="tx1"/>
                </a:solidFill>
                <a:latin typeface="+mn-lt"/>
                <a:ea typeface="+mn-ea"/>
                <a:cs typeface="+mn-cs"/>
              </a:rPr>
              <a:t>&gt;Item1&lt;/</a:t>
            </a:r>
            <a:r>
              <a:rPr lang="fr-FR" sz="1200" kern="1200" dirty="0" err="1" smtClean="0">
                <a:solidFill>
                  <a:schemeClr val="tx1"/>
                </a:solidFill>
                <a:latin typeface="+mn-lt"/>
                <a:ea typeface="+mn-ea"/>
                <a:cs typeface="+mn-cs"/>
              </a:rPr>
              <a:t>x:String</a:t>
            </a:r>
            <a:r>
              <a:rPr lang="fr-FR" sz="1200" kern="1200" dirty="0" smtClean="0">
                <a:solidFill>
                  <a:schemeClr val="tx1"/>
                </a:solidFill>
                <a:latin typeface="+mn-lt"/>
                <a:ea typeface="+mn-ea"/>
                <a:cs typeface="+mn-cs"/>
              </a:rPr>
              <a:t>&gt;</a:t>
            </a:r>
          </a:p>
          <a:p>
            <a:r>
              <a:rPr lang="fr-FR" sz="1200" kern="1200" dirty="0" smtClean="0">
                <a:solidFill>
                  <a:schemeClr val="tx1"/>
                </a:solidFill>
                <a:latin typeface="+mn-lt"/>
                <a:ea typeface="+mn-ea"/>
                <a:cs typeface="+mn-cs"/>
              </a:rPr>
              <a:t>                    &lt;</a:t>
            </a:r>
            <a:r>
              <a:rPr lang="fr-FR" sz="1200" kern="1200" dirty="0" err="1" smtClean="0">
                <a:solidFill>
                  <a:schemeClr val="tx1"/>
                </a:solidFill>
                <a:latin typeface="+mn-lt"/>
                <a:ea typeface="+mn-ea"/>
                <a:cs typeface="+mn-cs"/>
              </a:rPr>
              <a:t>x:String</a:t>
            </a:r>
            <a:r>
              <a:rPr lang="fr-FR" sz="1200" kern="1200" dirty="0" smtClean="0">
                <a:solidFill>
                  <a:schemeClr val="tx1"/>
                </a:solidFill>
                <a:latin typeface="+mn-lt"/>
                <a:ea typeface="+mn-ea"/>
                <a:cs typeface="+mn-cs"/>
              </a:rPr>
              <a:t>&gt;Item2&lt;/</a:t>
            </a:r>
            <a:r>
              <a:rPr lang="fr-FR" sz="1200" kern="1200" dirty="0" err="1" smtClean="0">
                <a:solidFill>
                  <a:schemeClr val="tx1"/>
                </a:solidFill>
                <a:latin typeface="+mn-lt"/>
                <a:ea typeface="+mn-ea"/>
                <a:cs typeface="+mn-cs"/>
              </a:rPr>
              <a:t>x:String</a:t>
            </a:r>
            <a:r>
              <a:rPr lang="fr-FR" sz="1200" kern="1200" dirty="0" smtClean="0">
                <a:solidFill>
                  <a:schemeClr val="tx1"/>
                </a:solidFill>
                <a:latin typeface="+mn-lt"/>
                <a:ea typeface="+mn-ea"/>
                <a:cs typeface="+mn-cs"/>
              </a:rPr>
              <a:t>&gt;</a:t>
            </a:r>
          </a:p>
          <a:p>
            <a:r>
              <a:rPr lang="fr-FR" sz="1200" kern="1200" dirty="0" smtClean="0">
                <a:solidFill>
                  <a:schemeClr val="tx1"/>
                </a:solidFill>
                <a:latin typeface="+mn-lt"/>
                <a:ea typeface="+mn-ea"/>
                <a:cs typeface="+mn-cs"/>
              </a:rPr>
              <a:t>                    &lt;</a:t>
            </a:r>
            <a:r>
              <a:rPr lang="fr-FR" sz="1200" kern="1200" dirty="0" err="1" smtClean="0">
                <a:solidFill>
                  <a:schemeClr val="tx1"/>
                </a:solidFill>
                <a:latin typeface="+mn-lt"/>
                <a:ea typeface="+mn-ea"/>
                <a:cs typeface="+mn-cs"/>
              </a:rPr>
              <a:t>x:String</a:t>
            </a:r>
            <a:r>
              <a:rPr lang="fr-FR" sz="1200" kern="1200" dirty="0" smtClean="0">
                <a:solidFill>
                  <a:schemeClr val="tx1"/>
                </a:solidFill>
                <a:latin typeface="+mn-lt"/>
                <a:ea typeface="+mn-ea"/>
                <a:cs typeface="+mn-cs"/>
              </a:rPr>
              <a:t>&gt;Item3&lt;/</a:t>
            </a:r>
            <a:r>
              <a:rPr lang="fr-FR" sz="1200" kern="1200" dirty="0" err="1" smtClean="0">
                <a:solidFill>
                  <a:schemeClr val="tx1"/>
                </a:solidFill>
                <a:latin typeface="+mn-lt"/>
                <a:ea typeface="+mn-ea"/>
                <a:cs typeface="+mn-cs"/>
              </a:rPr>
              <a:t>x:String</a:t>
            </a:r>
            <a:r>
              <a:rPr lang="fr-FR" sz="1200" kern="1200" dirty="0" smtClean="0">
                <a:solidFill>
                  <a:schemeClr val="tx1"/>
                </a:solidFill>
                <a:latin typeface="+mn-lt"/>
                <a:ea typeface="+mn-ea"/>
                <a:cs typeface="+mn-cs"/>
              </a:rPr>
              <a:t>&gt;</a:t>
            </a:r>
          </a:p>
          <a:p>
            <a:r>
              <a:rPr lang="fr-FR" sz="1200" kern="1200" dirty="0" smtClean="0">
                <a:solidFill>
                  <a:schemeClr val="tx1"/>
                </a:solidFill>
                <a:latin typeface="+mn-lt"/>
                <a:ea typeface="+mn-ea"/>
                <a:cs typeface="+mn-cs"/>
              </a:rPr>
              <a:t>                &lt;/</a:t>
            </a:r>
            <a:r>
              <a:rPr lang="fr-FR" sz="1200" kern="1200" dirty="0" err="1" smtClean="0">
                <a:solidFill>
                  <a:schemeClr val="tx1"/>
                </a:solidFill>
                <a:latin typeface="+mn-lt"/>
                <a:ea typeface="+mn-ea"/>
                <a:cs typeface="+mn-cs"/>
              </a:rPr>
              <a:t>x:Array</a:t>
            </a:r>
            <a:r>
              <a:rPr lang="fr-FR" sz="1200" kern="1200" dirty="0" smtClean="0">
                <a:solidFill>
                  <a:schemeClr val="tx1"/>
                </a:solidFill>
                <a:latin typeface="+mn-lt"/>
                <a:ea typeface="+mn-ea"/>
                <a:cs typeface="+mn-cs"/>
              </a:rPr>
              <a:t>&gt;</a:t>
            </a:r>
          </a:p>
          <a:p>
            <a:r>
              <a:rPr lang="fr-FR" sz="1200" kern="1200" dirty="0" smtClean="0">
                <a:solidFill>
                  <a:schemeClr val="tx1"/>
                </a:solidFill>
                <a:latin typeface="+mn-lt"/>
                <a:ea typeface="+mn-ea"/>
                <a:cs typeface="+mn-cs"/>
              </a:rPr>
              <a:t>            &lt;/</a:t>
            </a:r>
            <a:r>
              <a:rPr lang="fr-FR" sz="1200" kern="1200" dirty="0" err="1" smtClean="0">
                <a:solidFill>
                  <a:schemeClr val="tx1"/>
                </a:solidFill>
                <a:latin typeface="+mn-lt"/>
                <a:ea typeface="+mn-ea"/>
                <a:cs typeface="+mn-cs"/>
              </a:rPr>
              <a:t>CarouselView.ItemsSource</a:t>
            </a:r>
            <a:r>
              <a:rPr lang="fr-FR" sz="1200" kern="1200" dirty="0" smtClean="0">
                <a:solidFill>
                  <a:schemeClr val="tx1"/>
                </a:solidFill>
                <a:latin typeface="+mn-lt"/>
                <a:ea typeface="+mn-ea"/>
                <a:cs typeface="+mn-cs"/>
              </a:rPr>
              <a:t>&gt;</a:t>
            </a:r>
          </a:p>
          <a:p>
            <a:r>
              <a:rPr lang="fr-FR" sz="1200" kern="1200" dirty="0" smtClean="0">
                <a:solidFill>
                  <a:schemeClr val="tx1"/>
                </a:solidFill>
                <a:latin typeface="+mn-lt"/>
                <a:ea typeface="+mn-ea"/>
                <a:cs typeface="+mn-cs"/>
              </a:rPr>
              <a:t>            &lt;</a:t>
            </a:r>
            <a:r>
              <a:rPr lang="fr-FR" sz="1200" kern="1200" dirty="0" err="1" smtClean="0">
                <a:solidFill>
                  <a:schemeClr val="tx1"/>
                </a:solidFill>
                <a:latin typeface="+mn-lt"/>
                <a:ea typeface="+mn-ea"/>
                <a:cs typeface="+mn-cs"/>
              </a:rPr>
              <a:t>CarouselView.ItemTemplate</a:t>
            </a:r>
            <a:r>
              <a:rPr lang="fr-FR" sz="1200" kern="1200" dirty="0" smtClean="0">
                <a:solidFill>
                  <a:schemeClr val="tx1"/>
                </a:solidFill>
                <a:latin typeface="+mn-lt"/>
                <a:ea typeface="+mn-ea"/>
                <a:cs typeface="+mn-cs"/>
              </a:rPr>
              <a:t>&gt;</a:t>
            </a:r>
          </a:p>
          <a:p>
            <a:r>
              <a:rPr lang="fr-FR" sz="1200" kern="1200" dirty="0" smtClean="0">
                <a:solidFill>
                  <a:schemeClr val="tx1"/>
                </a:solidFill>
                <a:latin typeface="+mn-lt"/>
                <a:ea typeface="+mn-ea"/>
                <a:cs typeface="+mn-cs"/>
              </a:rPr>
              <a:t>                &lt;DataTemplate&gt;</a:t>
            </a:r>
          </a:p>
          <a:p>
            <a:r>
              <a:rPr lang="fr-FR" sz="1200" kern="1200" dirty="0" smtClean="0">
                <a:solidFill>
                  <a:schemeClr val="tx1"/>
                </a:solidFill>
                <a:latin typeface="+mn-lt"/>
                <a:ea typeface="+mn-ea"/>
                <a:cs typeface="+mn-cs"/>
              </a:rPr>
              <a:t>                    &lt;Grid </a:t>
            </a:r>
            <a:r>
              <a:rPr lang="fr-FR" sz="1200" kern="1200" dirty="0" err="1" smtClean="0">
                <a:solidFill>
                  <a:schemeClr val="tx1"/>
                </a:solidFill>
                <a:latin typeface="+mn-lt"/>
                <a:ea typeface="+mn-ea"/>
                <a:cs typeface="+mn-cs"/>
              </a:rPr>
              <a:t>HorizontalOptions</a:t>
            </a:r>
            <a:r>
              <a:rPr lang="fr-FR" sz="1200" kern="1200" dirty="0" smtClean="0">
                <a:solidFill>
                  <a:schemeClr val="tx1"/>
                </a:solidFill>
                <a:latin typeface="+mn-lt"/>
                <a:ea typeface="+mn-ea"/>
                <a:cs typeface="+mn-cs"/>
              </a:rPr>
              <a:t>="Center" &gt;</a:t>
            </a:r>
          </a:p>
          <a:p>
            <a:r>
              <a:rPr lang="fr-FR" sz="1200" kern="1200" dirty="0" smtClean="0">
                <a:solidFill>
                  <a:schemeClr val="tx1"/>
                </a:solidFill>
                <a:latin typeface="+mn-lt"/>
                <a:ea typeface="+mn-ea"/>
                <a:cs typeface="+mn-cs"/>
              </a:rPr>
              <a:t>                        &lt;Frame </a:t>
            </a:r>
            <a:r>
              <a:rPr lang="fr-FR" sz="1200" kern="1200" dirty="0" err="1" smtClean="0">
                <a:solidFill>
                  <a:schemeClr val="tx1"/>
                </a:solidFill>
                <a:latin typeface="+mn-lt"/>
                <a:ea typeface="+mn-ea"/>
                <a:cs typeface="+mn-cs"/>
              </a:rPr>
              <a:t>BackgroundColor</a:t>
            </a:r>
            <a:r>
              <a:rPr lang="fr-FR" sz="1200" kern="1200" dirty="0" smtClean="0">
                <a:solidFill>
                  <a:schemeClr val="tx1"/>
                </a:solidFill>
                <a:latin typeface="+mn-lt"/>
                <a:ea typeface="+mn-ea"/>
                <a:cs typeface="+mn-cs"/>
              </a:rPr>
              <a:t>="</a:t>
            </a:r>
            <a:r>
              <a:rPr lang="fr-FR" sz="1200" kern="1200" dirty="0" err="1" smtClean="0">
                <a:solidFill>
                  <a:schemeClr val="tx1"/>
                </a:solidFill>
                <a:latin typeface="+mn-lt"/>
                <a:ea typeface="+mn-ea"/>
                <a:cs typeface="+mn-cs"/>
              </a:rPr>
              <a:t>AliceBlue</a:t>
            </a:r>
            <a:r>
              <a:rPr lang="fr-FR" sz="1200" kern="1200" dirty="0" smtClean="0">
                <a:solidFill>
                  <a:schemeClr val="tx1"/>
                </a:solidFill>
                <a:latin typeface="+mn-lt"/>
                <a:ea typeface="+mn-ea"/>
                <a:cs typeface="+mn-cs"/>
              </a:rPr>
              <a:t>"&gt;</a:t>
            </a:r>
          </a:p>
          <a:p>
            <a:r>
              <a:rPr lang="fr-FR" sz="1200" kern="1200" dirty="0" smtClean="0">
                <a:solidFill>
                  <a:schemeClr val="tx1"/>
                </a:solidFill>
                <a:latin typeface="+mn-lt"/>
                <a:ea typeface="+mn-ea"/>
                <a:cs typeface="+mn-cs"/>
              </a:rPr>
              <a:t>                            &lt;Label </a:t>
            </a:r>
            <a:r>
              <a:rPr lang="fr-FR" sz="1200" kern="1200" dirty="0" err="1" smtClean="0">
                <a:solidFill>
                  <a:schemeClr val="tx1"/>
                </a:solidFill>
                <a:latin typeface="+mn-lt"/>
                <a:ea typeface="+mn-ea"/>
                <a:cs typeface="+mn-cs"/>
              </a:rPr>
              <a:t>FontSize</a:t>
            </a:r>
            <a:r>
              <a:rPr lang="fr-FR" sz="1200" kern="1200" dirty="0" smtClean="0">
                <a:solidFill>
                  <a:schemeClr val="tx1"/>
                </a:solidFill>
                <a:latin typeface="+mn-lt"/>
                <a:ea typeface="+mn-ea"/>
                <a:cs typeface="+mn-cs"/>
              </a:rPr>
              <a:t>="Medium"</a:t>
            </a:r>
          </a:p>
          <a:p>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FontAttributes</a:t>
            </a:r>
            <a:r>
              <a:rPr lang="fr-FR" sz="1200" kern="1200" dirty="0" smtClean="0">
                <a:solidFill>
                  <a:schemeClr val="tx1"/>
                </a:solidFill>
                <a:latin typeface="+mn-lt"/>
                <a:ea typeface="+mn-ea"/>
                <a:cs typeface="+mn-cs"/>
              </a:rPr>
              <a:t>="Bold"</a:t>
            </a:r>
          </a:p>
          <a:p>
            <a:r>
              <a:rPr lang="fr-FR" sz="1200" kern="1200" dirty="0" smtClean="0">
                <a:solidFill>
                  <a:schemeClr val="tx1"/>
                </a:solidFill>
                <a:latin typeface="+mn-lt"/>
                <a:ea typeface="+mn-ea"/>
                <a:cs typeface="+mn-cs"/>
              </a:rPr>
              <a:t>                               Text="{Binding .}"/&gt;</a:t>
            </a:r>
          </a:p>
          <a:p>
            <a:r>
              <a:rPr lang="fr-FR" sz="1200" kern="1200" dirty="0" smtClean="0">
                <a:solidFill>
                  <a:schemeClr val="tx1"/>
                </a:solidFill>
                <a:latin typeface="+mn-lt"/>
                <a:ea typeface="+mn-ea"/>
                <a:cs typeface="+mn-cs"/>
              </a:rPr>
              <a:t>                        &lt;/Frame&gt;</a:t>
            </a:r>
          </a:p>
          <a:p>
            <a:r>
              <a:rPr lang="fr-FR" sz="1200" kern="1200" dirty="0" smtClean="0">
                <a:solidFill>
                  <a:schemeClr val="tx1"/>
                </a:solidFill>
                <a:latin typeface="+mn-lt"/>
                <a:ea typeface="+mn-ea"/>
                <a:cs typeface="+mn-cs"/>
              </a:rPr>
              <a:t>                    &lt;/Grid&gt;</a:t>
            </a:r>
          </a:p>
          <a:p>
            <a:r>
              <a:rPr lang="fr-FR" sz="1200" kern="1200" dirty="0" smtClean="0">
                <a:solidFill>
                  <a:schemeClr val="tx1"/>
                </a:solidFill>
                <a:latin typeface="+mn-lt"/>
                <a:ea typeface="+mn-ea"/>
                <a:cs typeface="+mn-cs"/>
              </a:rPr>
              <a:t>                &lt;/DataTemplate&gt;</a:t>
            </a:r>
          </a:p>
          <a:p>
            <a:r>
              <a:rPr lang="fr-FR" sz="1200" kern="1200" dirty="0" smtClean="0">
                <a:solidFill>
                  <a:schemeClr val="tx1"/>
                </a:solidFill>
                <a:latin typeface="+mn-lt"/>
                <a:ea typeface="+mn-ea"/>
                <a:cs typeface="+mn-cs"/>
              </a:rPr>
              <a:t>            &lt;/</a:t>
            </a:r>
            <a:r>
              <a:rPr lang="fr-FR" sz="1200" kern="1200" dirty="0" err="1" smtClean="0">
                <a:solidFill>
                  <a:schemeClr val="tx1"/>
                </a:solidFill>
                <a:latin typeface="+mn-lt"/>
                <a:ea typeface="+mn-ea"/>
                <a:cs typeface="+mn-cs"/>
              </a:rPr>
              <a:t>CarouselView.ItemTemplate</a:t>
            </a:r>
            <a:r>
              <a:rPr lang="fr-FR" sz="1200" kern="1200" dirty="0" smtClean="0">
                <a:solidFill>
                  <a:schemeClr val="tx1"/>
                </a:solidFill>
                <a:latin typeface="+mn-lt"/>
                <a:ea typeface="+mn-ea"/>
                <a:cs typeface="+mn-cs"/>
              </a:rPr>
              <a:t>&gt;</a:t>
            </a:r>
          </a:p>
          <a:p>
            <a:r>
              <a:rPr lang="fr-FR" sz="1200" kern="1200" dirty="0" smtClean="0">
                <a:solidFill>
                  <a:schemeClr val="tx1"/>
                </a:solidFill>
                <a:latin typeface="+mn-lt"/>
                <a:ea typeface="+mn-ea"/>
                <a:cs typeface="+mn-cs"/>
              </a:rPr>
              <a:t>        &lt;/</a:t>
            </a:r>
            <a:r>
              <a:rPr lang="fr-FR" sz="1200" kern="1200" dirty="0" err="1" smtClean="0">
                <a:solidFill>
                  <a:schemeClr val="tx1"/>
                </a:solidFill>
                <a:latin typeface="+mn-lt"/>
                <a:ea typeface="+mn-ea"/>
                <a:cs typeface="+mn-cs"/>
              </a:rPr>
              <a:t>CarouselView</a:t>
            </a:r>
            <a:r>
              <a:rPr lang="fr-FR" sz="1200" kern="1200" dirty="0" smtClean="0">
                <a:solidFill>
                  <a:schemeClr val="tx1"/>
                </a:solidFill>
                <a:latin typeface="+mn-lt"/>
                <a:ea typeface="+mn-ea"/>
                <a:cs typeface="+mn-cs"/>
              </a:rPr>
              <a:t>&gt;</a:t>
            </a:r>
          </a:p>
          <a:p>
            <a:r>
              <a:rPr lang="fr-FR" sz="1200" kern="1200" dirty="0" smtClean="0">
                <a:solidFill>
                  <a:schemeClr val="tx1"/>
                </a:solidFill>
                <a:latin typeface="+mn-lt"/>
                <a:ea typeface="+mn-ea"/>
                <a:cs typeface="+mn-cs"/>
              </a:rPr>
              <a:t>        &lt;IndicatorView x:Name="indicator" </a:t>
            </a:r>
            <a:r>
              <a:rPr lang="fr-FR" sz="1200" kern="1200" dirty="0" err="1" smtClean="0">
                <a:solidFill>
                  <a:schemeClr val="tx1"/>
                </a:solidFill>
                <a:latin typeface="+mn-lt"/>
                <a:ea typeface="+mn-ea"/>
                <a:cs typeface="+mn-cs"/>
              </a:rPr>
              <a:t>Margin</a:t>
            </a:r>
            <a:r>
              <a:rPr lang="fr-FR" sz="1200" kern="1200" dirty="0" smtClean="0">
                <a:solidFill>
                  <a:schemeClr val="tx1"/>
                </a:solidFill>
                <a:latin typeface="+mn-lt"/>
                <a:ea typeface="+mn-ea"/>
                <a:cs typeface="+mn-cs"/>
              </a:rPr>
              <a:t>="5" </a:t>
            </a:r>
          </a:p>
          <a:p>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IndicatorColor</a:t>
            </a:r>
            <a:r>
              <a:rPr lang="fr-FR" sz="1200" kern="1200" dirty="0" smtClean="0">
                <a:solidFill>
                  <a:schemeClr val="tx1"/>
                </a:solidFill>
                <a:latin typeface="+mn-lt"/>
                <a:ea typeface="+mn-ea"/>
                <a:cs typeface="+mn-cs"/>
              </a:rPr>
              <a:t>="Gray"</a:t>
            </a:r>
          </a:p>
          <a:p>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SelectedIndicatorColor</a:t>
            </a:r>
            <a:r>
              <a:rPr lang="fr-FR" sz="1200" kern="1200" dirty="0" smtClean="0">
                <a:solidFill>
                  <a:schemeClr val="tx1"/>
                </a:solidFill>
                <a:latin typeface="+mn-lt"/>
                <a:ea typeface="+mn-ea"/>
                <a:cs typeface="+mn-cs"/>
              </a:rPr>
              <a:t>="Red"</a:t>
            </a:r>
          </a:p>
          <a:p>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HorizontalOptions</a:t>
            </a:r>
            <a:r>
              <a:rPr lang="fr-FR" sz="1200" kern="1200" dirty="0" smtClean="0">
                <a:solidFill>
                  <a:schemeClr val="tx1"/>
                </a:solidFill>
                <a:latin typeface="+mn-lt"/>
                <a:ea typeface="+mn-ea"/>
                <a:cs typeface="+mn-cs"/>
              </a:rPr>
              <a:t>="Center"/&gt;</a:t>
            </a:r>
            <a:endParaRPr lang="fr-FR" b="1" dirty="0"/>
          </a:p>
        </p:txBody>
      </p:sp>
      <p:sp>
        <p:nvSpPr>
          <p:cNvPr id="4" name="Espace réservé du numéro de diapositive 3"/>
          <p:cNvSpPr>
            <a:spLocks noGrp="1"/>
          </p:cNvSpPr>
          <p:nvPr>
            <p:ph type="sldNum" sz="quarter" idx="10"/>
          </p:nvPr>
        </p:nvSpPr>
        <p:spPr/>
        <p:txBody>
          <a:bodyPr/>
          <a:lstStyle/>
          <a:p>
            <a:fld id="{C05E1AE6-1BFD-4589-9604-3D9D158FB781}" type="slidenum">
              <a:rPr lang="fr-FR" smtClean="0"/>
              <a:t>48</a:t>
            </a:fld>
            <a:endParaRPr lang="fr-FR"/>
          </a:p>
        </p:txBody>
      </p:sp>
    </p:spTree>
    <p:extLst>
      <p:ext uri="{BB962C8B-B14F-4D97-AF65-F5344CB8AC3E}">
        <p14:creationId xmlns:p14="http://schemas.microsoft.com/office/powerpoint/2010/main" val="197224757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b="1" dirty="0" smtClean="0"/>
              <a:t>Exemple de Carousel:</a:t>
            </a:r>
          </a:p>
          <a:p>
            <a:r>
              <a:rPr lang="fr-FR" sz="1200" kern="1200" dirty="0" smtClean="0">
                <a:solidFill>
                  <a:schemeClr val="tx1"/>
                </a:solidFill>
                <a:latin typeface="+mn-lt"/>
                <a:ea typeface="+mn-ea"/>
                <a:cs typeface="+mn-cs"/>
              </a:rPr>
              <a:t> </a:t>
            </a:r>
            <a:endParaRPr lang="fr-FR" b="1" dirty="0"/>
          </a:p>
        </p:txBody>
      </p:sp>
      <p:sp>
        <p:nvSpPr>
          <p:cNvPr id="4" name="Espace réservé du numéro de diapositive 3"/>
          <p:cNvSpPr>
            <a:spLocks noGrp="1"/>
          </p:cNvSpPr>
          <p:nvPr>
            <p:ph type="sldNum" sz="quarter" idx="10"/>
          </p:nvPr>
        </p:nvSpPr>
        <p:spPr/>
        <p:txBody>
          <a:bodyPr/>
          <a:lstStyle/>
          <a:p>
            <a:fld id="{C05E1AE6-1BFD-4589-9604-3D9D158FB781}" type="slidenum">
              <a:rPr lang="fr-FR" smtClean="0"/>
              <a:t>49</a:t>
            </a:fld>
            <a:endParaRPr lang="fr-FR"/>
          </a:p>
        </p:txBody>
      </p:sp>
    </p:spTree>
    <p:extLst>
      <p:ext uri="{BB962C8B-B14F-4D97-AF65-F5344CB8AC3E}">
        <p14:creationId xmlns:p14="http://schemas.microsoft.com/office/powerpoint/2010/main" val="161037893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b="1" dirty="0" smtClean="0"/>
              <a:t>Exemple de Carousel:</a:t>
            </a:r>
          </a:p>
          <a:p>
            <a:r>
              <a:rPr lang="fr-FR" sz="1200" kern="1200" dirty="0" smtClean="0">
                <a:solidFill>
                  <a:schemeClr val="tx1"/>
                </a:solidFill>
                <a:latin typeface="+mn-lt"/>
                <a:ea typeface="+mn-ea"/>
                <a:cs typeface="+mn-cs"/>
              </a:rPr>
              <a:t> </a:t>
            </a:r>
            <a:endParaRPr lang="fr-FR" b="1" dirty="0"/>
          </a:p>
        </p:txBody>
      </p:sp>
      <p:sp>
        <p:nvSpPr>
          <p:cNvPr id="4" name="Espace réservé du numéro de diapositive 3"/>
          <p:cNvSpPr>
            <a:spLocks noGrp="1"/>
          </p:cNvSpPr>
          <p:nvPr>
            <p:ph type="sldNum" sz="quarter" idx="10"/>
          </p:nvPr>
        </p:nvSpPr>
        <p:spPr/>
        <p:txBody>
          <a:bodyPr/>
          <a:lstStyle/>
          <a:p>
            <a:fld id="{C05E1AE6-1BFD-4589-9604-3D9D158FB781}" type="slidenum">
              <a:rPr lang="fr-FR" smtClean="0"/>
              <a:t>50</a:t>
            </a:fld>
            <a:endParaRPr lang="fr-FR"/>
          </a:p>
        </p:txBody>
      </p:sp>
    </p:spTree>
    <p:extLst>
      <p:ext uri="{BB962C8B-B14F-4D97-AF65-F5344CB8AC3E}">
        <p14:creationId xmlns:p14="http://schemas.microsoft.com/office/powerpoint/2010/main" val="400855819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b="1" dirty="0" smtClean="0"/>
              <a:t>Exemple de Carousel:</a:t>
            </a:r>
          </a:p>
          <a:p>
            <a:r>
              <a:rPr lang="fr-FR" sz="1200" kern="1200" dirty="0" smtClean="0">
                <a:solidFill>
                  <a:schemeClr val="tx1"/>
                </a:solidFill>
                <a:latin typeface="+mn-lt"/>
                <a:ea typeface="+mn-ea"/>
                <a:cs typeface="+mn-cs"/>
              </a:rPr>
              <a:t> </a:t>
            </a:r>
            <a:endParaRPr lang="fr-FR" b="1" dirty="0"/>
          </a:p>
        </p:txBody>
      </p:sp>
      <p:sp>
        <p:nvSpPr>
          <p:cNvPr id="4" name="Espace réservé du numéro de diapositive 3"/>
          <p:cNvSpPr>
            <a:spLocks noGrp="1"/>
          </p:cNvSpPr>
          <p:nvPr>
            <p:ph type="sldNum" sz="quarter" idx="10"/>
          </p:nvPr>
        </p:nvSpPr>
        <p:spPr/>
        <p:txBody>
          <a:bodyPr/>
          <a:lstStyle/>
          <a:p>
            <a:fld id="{C05E1AE6-1BFD-4589-9604-3D9D158FB781}" type="slidenum">
              <a:rPr lang="fr-FR" smtClean="0"/>
              <a:t>51</a:t>
            </a:fld>
            <a:endParaRPr lang="fr-FR"/>
          </a:p>
        </p:txBody>
      </p:sp>
    </p:spTree>
    <p:extLst>
      <p:ext uri="{BB962C8B-B14F-4D97-AF65-F5344CB8AC3E}">
        <p14:creationId xmlns:p14="http://schemas.microsoft.com/office/powerpoint/2010/main" val="19906820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b="1" dirty="0" smtClean="0"/>
              <a:t>Exemple de Carousel:</a:t>
            </a:r>
          </a:p>
          <a:p>
            <a:r>
              <a:rPr lang="fr-FR" sz="1200" kern="1200" dirty="0" smtClean="0">
                <a:solidFill>
                  <a:schemeClr val="tx1"/>
                </a:solidFill>
                <a:latin typeface="+mn-lt"/>
                <a:ea typeface="+mn-ea"/>
                <a:cs typeface="+mn-cs"/>
              </a:rPr>
              <a:t> </a:t>
            </a:r>
            <a:endParaRPr lang="fr-FR" b="1" dirty="0"/>
          </a:p>
        </p:txBody>
      </p:sp>
      <p:sp>
        <p:nvSpPr>
          <p:cNvPr id="4" name="Espace réservé du numéro de diapositive 3"/>
          <p:cNvSpPr>
            <a:spLocks noGrp="1"/>
          </p:cNvSpPr>
          <p:nvPr>
            <p:ph type="sldNum" sz="quarter" idx="10"/>
          </p:nvPr>
        </p:nvSpPr>
        <p:spPr/>
        <p:txBody>
          <a:bodyPr/>
          <a:lstStyle/>
          <a:p>
            <a:fld id="{C05E1AE6-1BFD-4589-9604-3D9D158FB781}" type="slidenum">
              <a:rPr lang="fr-FR" smtClean="0"/>
              <a:t>52</a:t>
            </a:fld>
            <a:endParaRPr lang="fr-FR"/>
          </a:p>
        </p:txBody>
      </p:sp>
    </p:spTree>
    <p:extLst>
      <p:ext uri="{BB962C8B-B14F-4D97-AF65-F5344CB8AC3E}">
        <p14:creationId xmlns:p14="http://schemas.microsoft.com/office/powerpoint/2010/main" val="427672647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b="1" dirty="0" smtClean="0"/>
              <a:t>Exemple de Carousel:</a:t>
            </a:r>
          </a:p>
          <a:p>
            <a:r>
              <a:rPr lang="fr-FR" sz="1200" kern="1200" dirty="0" smtClean="0">
                <a:solidFill>
                  <a:schemeClr val="tx1"/>
                </a:solidFill>
                <a:latin typeface="+mn-lt"/>
                <a:ea typeface="+mn-ea"/>
                <a:cs typeface="+mn-cs"/>
              </a:rPr>
              <a:t> </a:t>
            </a:r>
            <a:endParaRPr lang="fr-FR" b="1" dirty="0"/>
          </a:p>
        </p:txBody>
      </p:sp>
      <p:sp>
        <p:nvSpPr>
          <p:cNvPr id="4" name="Espace réservé du numéro de diapositive 3"/>
          <p:cNvSpPr>
            <a:spLocks noGrp="1"/>
          </p:cNvSpPr>
          <p:nvPr>
            <p:ph type="sldNum" sz="quarter" idx="10"/>
          </p:nvPr>
        </p:nvSpPr>
        <p:spPr/>
        <p:txBody>
          <a:bodyPr/>
          <a:lstStyle/>
          <a:p>
            <a:fld id="{C05E1AE6-1BFD-4589-9604-3D9D158FB781}" type="slidenum">
              <a:rPr lang="fr-FR" smtClean="0"/>
              <a:t>53</a:t>
            </a:fld>
            <a:endParaRPr lang="fr-FR"/>
          </a:p>
        </p:txBody>
      </p:sp>
    </p:spTree>
    <p:extLst>
      <p:ext uri="{BB962C8B-B14F-4D97-AF65-F5344CB8AC3E}">
        <p14:creationId xmlns:p14="http://schemas.microsoft.com/office/powerpoint/2010/main" val="291813600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b="1" dirty="0" smtClean="0"/>
              <a:t>Exemple de</a:t>
            </a:r>
            <a:r>
              <a:rPr lang="fr-FR" b="1" baseline="0" dirty="0" smtClean="0"/>
              <a:t> TableView</a:t>
            </a:r>
            <a:r>
              <a:rPr lang="fr-FR" b="1" dirty="0" smtClean="0"/>
              <a:t>:</a:t>
            </a:r>
          </a:p>
          <a:p>
            <a:r>
              <a:rPr lang="fr-FR" sz="1200" kern="1200" dirty="0" smtClean="0">
                <a:solidFill>
                  <a:schemeClr val="tx1"/>
                </a:solidFill>
                <a:latin typeface="+mn-lt"/>
                <a:ea typeface="+mn-ea"/>
                <a:cs typeface="+mn-cs"/>
              </a:rPr>
              <a:t> </a:t>
            </a:r>
          </a:p>
          <a:p>
            <a:r>
              <a:rPr lang="fr-FR" sz="1200" kern="1200" dirty="0" smtClean="0">
                <a:solidFill>
                  <a:schemeClr val="tx1"/>
                </a:solidFill>
                <a:latin typeface="+mn-lt"/>
                <a:ea typeface="+mn-ea"/>
                <a:cs typeface="+mn-cs"/>
              </a:rPr>
              <a:t>&lt;TableView </a:t>
            </a:r>
            <a:r>
              <a:rPr lang="fr-FR" sz="1200" kern="1200" dirty="0" err="1" smtClean="0">
                <a:solidFill>
                  <a:schemeClr val="tx1"/>
                </a:solidFill>
                <a:latin typeface="+mn-lt"/>
                <a:ea typeface="+mn-ea"/>
                <a:cs typeface="+mn-cs"/>
              </a:rPr>
              <a:t>Intent</a:t>
            </a:r>
            <a:r>
              <a:rPr lang="fr-FR" sz="1200" kern="1200" dirty="0" smtClean="0">
                <a:solidFill>
                  <a:schemeClr val="tx1"/>
                </a:solidFill>
                <a:latin typeface="+mn-lt"/>
                <a:ea typeface="+mn-ea"/>
                <a:cs typeface="+mn-cs"/>
              </a:rPr>
              <a:t>="Menu"&gt;</a:t>
            </a:r>
          </a:p>
          <a:p>
            <a:r>
              <a:rPr lang="fr-FR" sz="1200" kern="1200" dirty="0" smtClean="0">
                <a:solidFill>
                  <a:schemeClr val="tx1"/>
                </a:solidFill>
                <a:latin typeface="+mn-lt"/>
                <a:ea typeface="+mn-ea"/>
                <a:cs typeface="+mn-cs"/>
              </a:rPr>
              <a:t>            &lt;TableRoot&gt;</a:t>
            </a:r>
          </a:p>
          <a:p>
            <a:r>
              <a:rPr lang="fr-FR" sz="1200" kern="1200" dirty="0" smtClean="0">
                <a:solidFill>
                  <a:schemeClr val="tx1"/>
                </a:solidFill>
                <a:latin typeface="+mn-lt"/>
                <a:ea typeface="+mn-ea"/>
                <a:cs typeface="+mn-cs"/>
              </a:rPr>
              <a:t>                &lt;TableSection </a:t>
            </a:r>
            <a:r>
              <a:rPr lang="fr-FR" sz="1200" kern="1200" dirty="0" err="1" smtClean="0">
                <a:solidFill>
                  <a:schemeClr val="tx1"/>
                </a:solidFill>
                <a:latin typeface="+mn-lt"/>
                <a:ea typeface="+mn-ea"/>
                <a:cs typeface="+mn-cs"/>
              </a:rPr>
              <a:t>Title</a:t>
            </a:r>
            <a:r>
              <a:rPr lang="fr-FR" sz="1200" kern="1200" dirty="0" smtClean="0">
                <a:solidFill>
                  <a:schemeClr val="tx1"/>
                </a:solidFill>
                <a:latin typeface="+mn-lt"/>
                <a:ea typeface="+mn-ea"/>
                <a:cs typeface="+mn-cs"/>
              </a:rPr>
              <a:t>="</a:t>
            </a:r>
            <a:r>
              <a:rPr lang="fr-FR" sz="1200" kern="1200" dirty="0" err="1" smtClean="0">
                <a:solidFill>
                  <a:schemeClr val="tx1"/>
                </a:solidFill>
                <a:latin typeface="+mn-lt"/>
                <a:ea typeface="+mn-ea"/>
                <a:cs typeface="+mn-cs"/>
              </a:rPr>
              <a:t>Chapters</a:t>
            </a:r>
            <a:r>
              <a:rPr lang="fr-FR" sz="1200" kern="1200" dirty="0" smtClean="0">
                <a:solidFill>
                  <a:schemeClr val="tx1"/>
                </a:solidFill>
                <a:latin typeface="+mn-lt"/>
                <a:ea typeface="+mn-ea"/>
                <a:cs typeface="+mn-cs"/>
              </a:rPr>
              <a:t>"&gt;</a:t>
            </a:r>
          </a:p>
          <a:p>
            <a:r>
              <a:rPr lang="en-US" sz="1200" kern="1200" dirty="0" smtClean="0">
                <a:solidFill>
                  <a:schemeClr val="tx1"/>
                </a:solidFill>
                <a:latin typeface="+mn-lt"/>
                <a:ea typeface="+mn-ea"/>
                <a:cs typeface="+mn-cs"/>
              </a:rPr>
              <a:t>                    &lt;</a:t>
            </a:r>
            <a:r>
              <a:rPr lang="en-US" sz="1200" kern="1200" dirty="0" err="1" smtClean="0">
                <a:solidFill>
                  <a:schemeClr val="tx1"/>
                </a:solidFill>
                <a:latin typeface="+mn-lt"/>
                <a:ea typeface="+mn-ea"/>
                <a:cs typeface="+mn-cs"/>
              </a:rPr>
              <a:t>TextCell</a:t>
            </a:r>
            <a:r>
              <a:rPr lang="en-US" sz="1200" kern="1200" dirty="0" smtClean="0">
                <a:solidFill>
                  <a:schemeClr val="tx1"/>
                </a:solidFill>
                <a:latin typeface="+mn-lt"/>
                <a:ea typeface="+mn-ea"/>
                <a:cs typeface="+mn-cs"/>
              </a:rPr>
              <a:t> Text="1. Introduction to .NET MAUI"</a:t>
            </a:r>
          </a:p>
          <a:p>
            <a:r>
              <a:rPr lang="en-US" sz="1200" kern="1200" dirty="0" smtClean="0">
                <a:solidFill>
                  <a:schemeClr val="tx1"/>
                </a:solidFill>
                <a:latin typeface="+mn-lt"/>
                <a:ea typeface="+mn-ea"/>
                <a:cs typeface="+mn-cs"/>
              </a:rPr>
              <a:t>                      Detail="Learn about .NET MAUI and what it provides." /&gt;</a:t>
            </a:r>
          </a:p>
          <a:p>
            <a:r>
              <a:rPr lang="en-US" sz="1200" kern="1200" dirty="0" smtClean="0">
                <a:solidFill>
                  <a:schemeClr val="tx1"/>
                </a:solidFill>
                <a:latin typeface="+mn-lt"/>
                <a:ea typeface="+mn-ea"/>
                <a:cs typeface="+mn-cs"/>
              </a:rPr>
              <a:t>                    &lt;</a:t>
            </a:r>
            <a:r>
              <a:rPr lang="en-US" sz="1200" kern="1200" dirty="0" err="1" smtClean="0">
                <a:solidFill>
                  <a:schemeClr val="tx1"/>
                </a:solidFill>
                <a:latin typeface="+mn-lt"/>
                <a:ea typeface="+mn-ea"/>
                <a:cs typeface="+mn-cs"/>
              </a:rPr>
              <a:t>TextCell</a:t>
            </a:r>
            <a:r>
              <a:rPr lang="en-US" sz="1200" kern="1200" dirty="0" smtClean="0">
                <a:solidFill>
                  <a:schemeClr val="tx1"/>
                </a:solidFill>
                <a:latin typeface="+mn-lt"/>
                <a:ea typeface="+mn-ea"/>
                <a:cs typeface="+mn-cs"/>
              </a:rPr>
              <a:t> Text="2. Anatomy of an app"</a:t>
            </a:r>
          </a:p>
          <a:p>
            <a:r>
              <a:rPr lang="en-US" sz="1200" kern="1200" dirty="0" smtClean="0">
                <a:solidFill>
                  <a:schemeClr val="tx1"/>
                </a:solidFill>
                <a:latin typeface="+mn-lt"/>
                <a:ea typeface="+mn-ea"/>
                <a:cs typeface="+mn-cs"/>
              </a:rPr>
              <a:t>                      Detail="Learn about the visual elements in .NET MAUI" /&gt;</a:t>
            </a:r>
          </a:p>
          <a:p>
            <a:r>
              <a:rPr lang="fr-FR" sz="1200" kern="1200" dirty="0" smtClean="0">
                <a:solidFill>
                  <a:schemeClr val="tx1"/>
                </a:solidFill>
                <a:latin typeface="+mn-lt"/>
                <a:ea typeface="+mn-ea"/>
                <a:cs typeface="+mn-cs"/>
              </a:rPr>
              <a:t>                    &lt;</a:t>
            </a:r>
            <a:r>
              <a:rPr lang="fr-FR" sz="1200" kern="1200" dirty="0" err="1" smtClean="0">
                <a:solidFill>
                  <a:schemeClr val="tx1"/>
                </a:solidFill>
                <a:latin typeface="+mn-lt"/>
                <a:ea typeface="+mn-ea"/>
                <a:cs typeface="+mn-cs"/>
              </a:rPr>
              <a:t>TextCell</a:t>
            </a:r>
            <a:r>
              <a:rPr lang="fr-FR" sz="1200" kern="1200" dirty="0" smtClean="0">
                <a:solidFill>
                  <a:schemeClr val="tx1"/>
                </a:solidFill>
                <a:latin typeface="+mn-lt"/>
                <a:ea typeface="+mn-ea"/>
                <a:cs typeface="+mn-cs"/>
              </a:rPr>
              <a:t> Text="3. Text"</a:t>
            </a:r>
          </a:p>
          <a:p>
            <a:r>
              <a:rPr lang="en-US" sz="1200" kern="1200" dirty="0" smtClean="0">
                <a:solidFill>
                  <a:schemeClr val="tx1"/>
                </a:solidFill>
                <a:latin typeface="+mn-lt"/>
                <a:ea typeface="+mn-ea"/>
                <a:cs typeface="+mn-cs"/>
              </a:rPr>
              <a:t>                      Detail="Learn about the .NET MAUI controls that display text." /&gt;</a:t>
            </a:r>
          </a:p>
          <a:p>
            <a:r>
              <a:rPr lang="en-US" sz="1200" kern="1200" dirty="0" smtClean="0">
                <a:solidFill>
                  <a:schemeClr val="tx1"/>
                </a:solidFill>
                <a:latin typeface="+mn-lt"/>
                <a:ea typeface="+mn-ea"/>
                <a:cs typeface="+mn-cs"/>
              </a:rPr>
              <a:t>                    &lt;</a:t>
            </a:r>
            <a:r>
              <a:rPr lang="en-US" sz="1200" kern="1200" dirty="0" err="1" smtClean="0">
                <a:solidFill>
                  <a:schemeClr val="tx1"/>
                </a:solidFill>
                <a:latin typeface="+mn-lt"/>
                <a:ea typeface="+mn-ea"/>
                <a:cs typeface="+mn-cs"/>
              </a:rPr>
              <a:t>TextCell</a:t>
            </a:r>
            <a:r>
              <a:rPr lang="en-US" sz="1200" kern="1200" dirty="0" smtClean="0">
                <a:solidFill>
                  <a:schemeClr val="tx1"/>
                </a:solidFill>
                <a:latin typeface="+mn-lt"/>
                <a:ea typeface="+mn-ea"/>
                <a:cs typeface="+mn-cs"/>
              </a:rPr>
              <a:t> Text="4. Dealing with sizes"</a:t>
            </a:r>
          </a:p>
          <a:p>
            <a:r>
              <a:rPr lang="en-US" sz="1200" kern="1200" dirty="0" smtClean="0">
                <a:solidFill>
                  <a:schemeClr val="tx1"/>
                </a:solidFill>
                <a:latin typeface="+mn-lt"/>
                <a:ea typeface="+mn-ea"/>
                <a:cs typeface="+mn-cs"/>
              </a:rPr>
              <a:t>                      Detail="Learn how to size .NET MAUI controls on screen." /&gt;</a:t>
            </a:r>
          </a:p>
          <a:p>
            <a:r>
              <a:rPr lang="fr-FR" sz="1200" kern="1200" dirty="0" smtClean="0">
                <a:solidFill>
                  <a:schemeClr val="tx1"/>
                </a:solidFill>
                <a:latin typeface="+mn-lt"/>
                <a:ea typeface="+mn-ea"/>
                <a:cs typeface="+mn-cs"/>
              </a:rPr>
              <a:t>                    &lt;</a:t>
            </a:r>
            <a:r>
              <a:rPr lang="fr-FR" sz="1200" kern="1200" dirty="0" err="1" smtClean="0">
                <a:solidFill>
                  <a:schemeClr val="tx1"/>
                </a:solidFill>
                <a:latin typeface="+mn-lt"/>
                <a:ea typeface="+mn-ea"/>
                <a:cs typeface="+mn-cs"/>
              </a:rPr>
              <a:t>TextCell</a:t>
            </a:r>
            <a:r>
              <a:rPr lang="fr-FR" sz="1200" kern="1200" dirty="0" smtClean="0">
                <a:solidFill>
                  <a:schemeClr val="tx1"/>
                </a:solidFill>
                <a:latin typeface="+mn-lt"/>
                <a:ea typeface="+mn-ea"/>
                <a:cs typeface="+mn-cs"/>
              </a:rPr>
              <a:t> Text="5. XAML vs code"</a:t>
            </a:r>
          </a:p>
          <a:p>
            <a:r>
              <a:rPr lang="en-US" sz="1200" kern="1200" dirty="0" smtClean="0">
                <a:solidFill>
                  <a:schemeClr val="tx1"/>
                </a:solidFill>
                <a:latin typeface="+mn-lt"/>
                <a:ea typeface="+mn-ea"/>
                <a:cs typeface="+mn-cs"/>
              </a:rPr>
              <a:t>                      Detail="Learn more about creating your UI in XAML." /&gt;</a:t>
            </a:r>
          </a:p>
          <a:p>
            <a:r>
              <a:rPr lang="fr-FR" sz="1200" kern="1200" dirty="0" smtClean="0">
                <a:solidFill>
                  <a:schemeClr val="tx1"/>
                </a:solidFill>
                <a:latin typeface="+mn-lt"/>
                <a:ea typeface="+mn-ea"/>
                <a:cs typeface="+mn-cs"/>
              </a:rPr>
              <a:t>                &lt;/TableSection&gt;</a:t>
            </a:r>
          </a:p>
          <a:p>
            <a:r>
              <a:rPr lang="fr-FR" sz="1200" kern="1200" dirty="0" smtClean="0">
                <a:solidFill>
                  <a:schemeClr val="tx1"/>
                </a:solidFill>
                <a:latin typeface="+mn-lt"/>
                <a:ea typeface="+mn-ea"/>
                <a:cs typeface="+mn-cs"/>
              </a:rPr>
              <a:t>            &lt;/TableRoot&gt;</a:t>
            </a:r>
          </a:p>
          <a:p>
            <a:r>
              <a:rPr lang="fr-FR" sz="1200" kern="1200" dirty="0" smtClean="0">
                <a:solidFill>
                  <a:schemeClr val="tx1"/>
                </a:solidFill>
                <a:latin typeface="+mn-lt"/>
                <a:ea typeface="+mn-ea"/>
                <a:cs typeface="+mn-cs"/>
              </a:rPr>
              <a:t>        &lt;/TableView&gt;</a:t>
            </a:r>
            <a:endParaRPr lang="fr-FR" b="1" dirty="0"/>
          </a:p>
        </p:txBody>
      </p:sp>
      <p:sp>
        <p:nvSpPr>
          <p:cNvPr id="4" name="Espace réservé du numéro de diapositive 3"/>
          <p:cNvSpPr>
            <a:spLocks noGrp="1"/>
          </p:cNvSpPr>
          <p:nvPr>
            <p:ph type="sldNum" sz="quarter" idx="10"/>
          </p:nvPr>
        </p:nvSpPr>
        <p:spPr/>
        <p:txBody>
          <a:bodyPr/>
          <a:lstStyle/>
          <a:p>
            <a:fld id="{C05E1AE6-1BFD-4589-9604-3D9D158FB781}" type="slidenum">
              <a:rPr lang="fr-FR" smtClean="0"/>
              <a:t>54</a:t>
            </a:fld>
            <a:endParaRPr lang="fr-FR"/>
          </a:p>
        </p:txBody>
      </p:sp>
    </p:spTree>
    <p:extLst>
      <p:ext uri="{BB962C8B-B14F-4D97-AF65-F5344CB8AC3E}">
        <p14:creationId xmlns:p14="http://schemas.microsoft.com/office/powerpoint/2010/main" val="371629054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b="1" dirty="0" smtClean="0"/>
              <a:t>Exemple de</a:t>
            </a:r>
            <a:r>
              <a:rPr lang="fr-FR" b="1" baseline="0" dirty="0" smtClean="0"/>
              <a:t> TableView</a:t>
            </a:r>
            <a:r>
              <a:rPr lang="fr-FR" b="1" dirty="0" smtClean="0"/>
              <a:t>:</a:t>
            </a:r>
          </a:p>
          <a:p>
            <a:r>
              <a:rPr lang="fr-FR" sz="1200" kern="1200" dirty="0" smtClean="0">
                <a:solidFill>
                  <a:schemeClr val="tx1"/>
                </a:solidFill>
                <a:latin typeface="+mn-lt"/>
                <a:ea typeface="+mn-ea"/>
                <a:cs typeface="+mn-cs"/>
              </a:rPr>
              <a:t> </a:t>
            </a:r>
          </a:p>
          <a:p>
            <a:r>
              <a:rPr lang="fr-FR" sz="1200" kern="1200" dirty="0" smtClean="0">
                <a:solidFill>
                  <a:schemeClr val="tx1"/>
                </a:solidFill>
                <a:latin typeface="+mn-lt"/>
                <a:ea typeface="+mn-ea"/>
                <a:cs typeface="+mn-cs"/>
              </a:rPr>
              <a:t>&lt;TableView </a:t>
            </a:r>
            <a:r>
              <a:rPr lang="fr-FR" sz="1200" kern="1200" dirty="0" err="1" smtClean="0">
                <a:solidFill>
                  <a:schemeClr val="tx1"/>
                </a:solidFill>
                <a:latin typeface="+mn-lt"/>
                <a:ea typeface="+mn-ea"/>
                <a:cs typeface="+mn-cs"/>
              </a:rPr>
              <a:t>Intent</a:t>
            </a:r>
            <a:r>
              <a:rPr lang="fr-FR" sz="1200" kern="1200" dirty="0" smtClean="0">
                <a:solidFill>
                  <a:schemeClr val="tx1"/>
                </a:solidFill>
                <a:latin typeface="+mn-lt"/>
                <a:ea typeface="+mn-ea"/>
                <a:cs typeface="+mn-cs"/>
              </a:rPr>
              <a:t>="Menu"&gt;</a:t>
            </a:r>
          </a:p>
          <a:p>
            <a:r>
              <a:rPr lang="fr-FR" sz="1200" kern="1200" dirty="0" smtClean="0">
                <a:solidFill>
                  <a:schemeClr val="tx1"/>
                </a:solidFill>
                <a:latin typeface="+mn-lt"/>
                <a:ea typeface="+mn-ea"/>
                <a:cs typeface="+mn-cs"/>
              </a:rPr>
              <a:t>            &lt;TableRoot&gt;</a:t>
            </a:r>
          </a:p>
          <a:p>
            <a:r>
              <a:rPr lang="fr-FR" sz="1200" kern="1200" dirty="0" smtClean="0">
                <a:solidFill>
                  <a:schemeClr val="tx1"/>
                </a:solidFill>
                <a:latin typeface="+mn-lt"/>
                <a:ea typeface="+mn-ea"/>
                <a:cs typeface="+mn-cs"/>
              </a:rPr>
              <a:t>                &lt;TableSection </a:t>
            </a:r>
            <a:r>
              <a:rPr lang="fr-FR" sz="1200" kern="1200" dirty="0" err="1" smtClean="0">
                <a:solidFill>
                  <a:schemeClr val="tx1"/>
                </a:solidFill>
                <a:latin typeface="+mn-lt"/>
                <a:ea typeface="+mn-ea"/>
                <a:cs typeface="+mn-cs"/>
              </a:rPr>
              <a:t>Title</a:t>
            </a:r>
            <a:r>
              <a:rPr lang="fr-FR" sz="1200" kern="1200" dirty="0" smtClean="0">
                <a:solidFill>
                  <a:schemeClr val="tx1"/>
                </a:solidFill>
                <a:latin typeface="+mn-lt"/>
                <a:ea typeface="+mn-ea"/>
                <a:cs typeface="+mn-cs"/>
              </a:rPr>
              <a:t>="</a:t>
            </a:r>
            <a:r>
              <a:rPr lang="fr-FR" sz="1200" kern="1200" dirty="0" err="1" smtClean="0">
                <a:solidFill>
                  <a:schemeClr val="tx1"/>
                </a:solidFill>
                <a:latin typeface="+mn-lt"/>
                <a:ea typeface="+mn-ea"/>
                <a:cs typeface="+mn-cs"/>
              </a:rPr>
              <a:t>Chapters</a:t>
            </a:r>
            <a:r>
              <a:rPr lang="fr-FR" sz="1200" kern="1200" dirty="0" smtClean="0">
                <a:solidFill>
                  <a:schemeClr val="tx1"/>
                </a:solidFill>
                <a:latin typeface="+mn-lt"/>
                <a:ea typeface="+mn-ea"/>
                <a:cs typeface="+mn-cs"/>
              </a:rPr>
              <a:t>"&gt;</a:t>
            </a:r>
          </a:p>
          <a:p>
            <a:r>
              <a:rPr lang="en-US" sz="1200" kern="1200" dirty="0" smtClean="0">
                <a:solidFill>
                  <a:schemeClr val="tx1"/>
                </a:solidFill>
                <a:latin typeface="+mn-lt"/>
                <a:ea typeface="+mn-ea"/>
                <a:cs typeface="+mn-cs"/>
              </a:rPr>
              <a:t>                    &lt;</a:t>
            </a:r>
            <a:r>
              <a:rPr lang="en-US" sz="1200" kern="1200" dirty="0" err="1" smtClean="0">
                <a:solidFill>
                  <a:schemeClr val="tx1"/>
                </a:solidFill>
                <a:latin typeface="+mn-lt"/>
                <a:ea typeface="+mn-ea"/>
                <a:cs typeface="+mn-cs"/>
              </a:rPr>
              <a:t>TextCell</a:t>
            </a:r>
            <a:r>
              <a:rPr lang="en-US" sz="1200" kern="1200" dirty="0" smtClean="0">
                <a:solidFill>
                  <a:schemeClr val="tx1"/>
                </a:solidFill>
                <a:latin typeface="+mn-lt"/>
                <a:ea typeface="+mn-ea"/>
                <a:cs typeface="+mn-cs"/>
              </a:rPr>
              <a:t> Text="1. Introduction to .NET MAUI"</a:t>
            </a:r>
          </a:p>
          <a:p>
            <a:r>
              <a:rPr lang="en-US" sz="1200" kern="1200" dirty="0" smtClean="0">
                <a:solidFill>
                  <a:schemeClr val="tx1"/>
                </a:solidFill>
                <a:latin typeface="+mn-lt"/>
                <a:ea typeface="+mn-ea"/>
                <a:cs typeface="+mn-cs"/>
              </a:rPr>
              <a:t>                      Detail="Learn about .NET MAUI and what it provides." /&gt;</a:t>
            </a:r>
          </a:p>
          <a:p>
            <a:r>
              <a:rPr lang="en-US" sz="1200" kern="1200" dirty="0" smtClean="0">
                <a:solidFill>
                  <a:schemeClr val="tx1"/>
                </a:solidFill>
                <a:latin typeface="+mn-lt"/>
                <a:ea typeface="+mn-ea"/>
                <a:cs typeface="+mn-cs"/>
              </a:rPr>
              <a:t>                    &lt;</a:t>
            </a:r>
            <a:r>
              <a:rPr lang="en-US" sz="1200" kern="1200" dirty="0" err="1" smtClean="0">
                <a:solidFill>
                  <a:schemeClr val="tx1"/>
                </a:solidFill>
                <a:latin typeface="+mn-lt"/>
                <a:ea typeface="+mn-ea"/>
                <a:cs typeface="+mn-cs"/>
              </a:rPr>
              <a:t>TextCell</a:t>
            </a:r>
            <a:r>
              <a:rPr lang="en-US" sz="1200" kern="1200" dirty="0" smtClean="0">
                <a:solidFill>
                  <a:schemeClr val="tx1"/>
                </a:solidFill>
                <a:latin typeface="+mn-lt"/>
                <a:ea typeface="+mn-ea"/>
                <a:cs typeface="+mn-cs"/>
              </a:rPr>
              <a:t> Text="2. Anatomy of an app"</a:t>
            </a:r>
          </a:p>
          <a:p>
            <a:r>
              <a:rPr lang="en-US" sz="1200" kern="1200" dirty="0" smtClean="0">
                <a:solidFill>
                  <a:schemeClr val="tx1"/>
                </a:solidFill>
                <a:latin typeface="+mn-lt"/>
                <a:ea typeface="+mn-ea"/>
                <a:cs typeface="+mn-cs"/>
              </a:rPr>
              <a:t>                      Detail="Learn about the visual elements in .NET MAUI" /&gt;</a:t>
            </a:r>
          </a:p>
          <a:p>
            <a:r>
              <a:rPr lang="fr-FR" sz="1200" kern="1200" dirty="0" smtClean="0">
                <a:solidFill>
                  <a:schemeClr val="tx1"/>
                </a:solidFill>
                <a:latin typeface="+mn-lt"/>
                <a:ea typeface="+mn-ea"/>
                <a:cs typeface="+mn-cs"/>
              </a:rPr>
              <a:t>                    &lt;</a:t>
            </a:r>
            <a:r>
              <a:rPr lang="fr-FR" sz="1200" kern="1200" dirty="0" err="1" smtClean="0">
                <a:solidFill>
                  <a:schemeClr val="tx1"/>
                </a:solidFill>
                <a:latin typeface="+mn-lt"/>
                <a:ea typeface="+mn-ea"/>
                <a:cs typeface="+mn-cs"/>
              </a:rPr>
              <a:t>TextCell</a:t>
            </a:r>
            <a:r>
              <a:rPr lang="fr-FR" sz="1200" kern="1200" dirty="0" smtClean="0">
                <a:solidFill>
                  <a:schemeClr val="tx1"/>
                </a:solidFill>
                <a:latin typeface="+mn-lt"/>
                <a:ea typeface="+mn-ea"/>
                <a:cs typeface="+mn-cs"/>
              </a:rPr>
              <a:t> Text="3. Text"</a:t>
            </a:r>
          </a:p>
          <a:p>
            <a:r>
              <a:rPr lang="en-US" sz="1200" kern="1200" dirty="0" smtClean="0">
                <a:solidFill>
                  <a:schemeClr val="tx1"/>
                </a:solidFill>
                <a:latin typeface="+mn-lt"/>
                <a:ea typeface="+mn-ea"/>
                <a:cs typeface="+mn-cs"/>
              </a:rPr>
              <a:t>                      Detail="Learn about the .NET MAUI controls that display text." /&gt;</a:t>
            </a:r>
          </a:p>
          <a:p>
            <a:r>
              <a:rPr lang="en-US" sz="1200" kern="1200" dirty="0" smtClean="0">
                <a:solidFill>
                  <a:schemeClr val="tx1"/>
                </a:solidFill>
                <a:latin typeface="+mn-lt"/>
                <a:ea typeface="+mn-ea"/>
                <a:cs typeface="+mn-cs"/>
              </a:rPr>
              <a:t>                    &lt;</a:t>
            </a:r>
            <a:r>
              <a:rPr lang="en-US" sz="1200" kern="1200" dirty="0" err="1" smtClean="0">
                <a:solidFill>
                  <a:schemeClr val="tx1"/>
                </a:solidFill>
                <a:latin typeface="+mn-lt"/>
                <a:ea typeface="+mn-ea"/>
                <a:cs typeface="+mn-cs"/>
              </a:rPr>
              <a:t>TextCell</a:t>
            </a:r>
            <a:r>
              <a:rPr lang="en-US" sz="1200" kern="1200" dirty="0" smtClean="0">
                <a:solidFill>
                  <a:schemeClr val="tx1"/>
                </a:solidFill>
                <a:latin typeface="+mn-lt"/>
                <a:ea typeface="+mn-ea"/>
                <a:cs typeface="+mn-cs"/>
              </a:rPr>
              <a:t> Text="4. Dealing with sizes"</a:t>
            </a:r>
          </a:p>
          <a:p>
            <a:r>
              <a:rPr lang="en-US" sz="1200" kern="1200" dirty="0" smtClean="0">
                <a:solidFill>
                  <a:schemeClr val="tx1"/>
                </a:solidFill>
                <a:latin typeface="+mn-lt"/>
                <a:ea typeface="+mn-ea"/>
                <a:cs typeface="+mn-cs"/>
              </a:rPr>
              <a:t>                      Detail="Learn how to size .NET MAUI controls on screen." /&gt;</a:t>
            </a:r>
          </a:p>
          <a:p>
            <a:r>
              <a:rPr lang="fr-FR" sz="1200" kern="1200" dirty="0" smtClean="0">
                <a:solidFill>
                  <a:schemeClr val="tx1"/>
                </a:solidFill>
                <a:latin typeface="+mn-lt"/>
                <a:ea typeface="+mn-ea"/>
                <a:cs typeface="+mn-cs"/>
              </a:rPr>
              <a:t>                    &lt;</a:t>
            </a:r>
            <a:r>
              <a:rPr lang="fr-FR" sz="1200" kern="1200" dirty="0" err="1" smtClean="0">
                <a:solidFill>
                  <a:schemeClr val="tx1"/>
                </a:solidFill>
                <a:latin typeface="+mn-lt"/>
                <a:ea typeface="+mn-ea"/>
                <a:cs typeface="+mn-cs"/>
              </a:rPr>
              <a:t>TextCell</a:t>
            </a:r>
            <a:r>
              <a:rPr lang="fr-FR" sz="1200" kern="1200" dirty="0" smtClean="0">
                <a:solidFill>
                  <a:schemeClr val="tx1"/>
                </a:solidFill>
                <a:latin typeface="+mn-lt"/>
                <a:ea typeface="+mn-ea"/>
                <a:cs typeface="+mn-cs"/>
              </a:rPr>
              <a:t> Text="5. XAML vs code"</a:t>
            </a:r>
          </a:p>
          <a:p>
            <a:r>
              <a:rPr lang="en-US" sz="1200" kern="1200" dirty="0" smtClean="0">
                <a:solidFill>
                  <a:schemeClr val="tx1"/>
                </a:solidFill>
                <a:latin typeface="+mn-lt"/>
                <a:ea typeface="+mn-ea"/>
                <a:cs typeface="+mn-cs"/>
              </a:rPr>
              <a:t>                      Detail="Learn more about creating your UI in XAML." /&gt;</a:t>
            </a:r>
          </a:p>
          <a:p>
            <a:r>
              <a:rPr lang="fr-FR" sz="1200" kern="1200" dirty="0" smtClean="0">
                <a:solidFill>
                  <a:schemeClr val="tx1"/>
                </a:solidFill>
                <a:latin typeface="+mn-lt"/>
                <a:ea typeface="+mn-ea"/>
                <a:cs typeface="+mn-cs"/>
              </a:rPr>
              <a:t>                &lt;/TableSection&gt;</a:t>
            </a:r>
          </a:p>
          <a:p>
            <a:r>
              <a:rPr lang="fr-FR" sz="1200" kern="1200" dirty="0" smtClean="0">
                <a:solidFill>
                  <a:schemeClr val="tx1"/>
                </a:solidFill>
                <a:latin typeface="+mn-lt"/>
                <a:ea typeface="+mn-ea"/>
                <a:cs typeface="+mn-cs"/>
              </a:rPr>
              <a:t>            &lt;/TableRoot&gt;</a:t>
            </a:r>
          </a:p>
          <a:p>
            <a:r>
              <a:rPr lang="fr-FR" sz="1200" kern="1200" dirty="0" smtClean="0">
                <a:solidFill>
                  <a:schemeClr val="tx1"/>
                </a:solidFill>
                <a:latin typeface="+mn-lt"/>
                <a:ea typeface="+mn-ea"/>
                <a:cs typeface="+mn-cs"/>
              </a:rPr>
              <a:t>        &lt;/TableView&gt;</a:t>
            </a:r>
            <a:endParaRPr lang="fr-FR" b="1" dirty="0"/>
          </a:p>
        </p:txBody>
      </p:sp>
      <p:sp>
        <p:nvSpPr>
          <p:cNvPr id="4" name="Espace réservé du numéro de diapositive 3"/>
          <p:cNvSpPr>
            <a:spLocks noGrp="1"/>
          </p:cNvSpPr>
          <p:nvPr>
            <p:ph type="sldNum" sz="quarter" idx="10"/>
          </p:nvPr>
        </p:nvSpPr>
        <p:spPr/>
        <p:txBody>
          <a:bodyPr/>
          <a:lstStyle/>
          <a:p>
            <a:fld id="{C05E1AE6-1BFD-4589-9604-3D9D158FB781}" type="slidenum">
              <a:rPr lang="fr-FR" smtClean="0"/>
              <a:t>55</a:t>
            </a:fld>
            <a:endParaRPr lang="fr-FR"/>
          </a:p>
        </p:txBody>
      </p:sp>
    </p:spTree>
    <p:extLst>
      <p:ext uri="{BB962C8B-B14F-4D97-AF65-F5344CB8AC3E}">
        <p14:creationId xmlns:p14="http://schemas.microsoft.com/office/powerpoint/2010/main" val="194824758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b="1" dirty="0" smtClean="0"/>
              <a:t>Exemple de Carousel:</a:t>
            </a:r>
          </a:p>
          <a:p>
            <a:r>
              <a:rPr lang="fr-FR" sz="1200" kern="1200" dirty="0" smtClean="0">
                <a:solidFill>
                  <a:schemeClr val="tx1"/>
                </a:solidFill>
                <a:latin typeface="+mn-lt"/>
                <a:ea typeface="+mn-ea"/>
                <a:cs typeface="+mn-cs"/>
              </a:rPr>
              <a:t> </a:t>
            </a:r>
            <a:endParaRPr lang="fr-FR" b="1" dirty="0"/>
          </a:p>
        </p:txBody>
      </p:sp>
      <p:sp>
        <p:nvSpPr>
          <p:cNvPr id="4" name="Espace réservé du numéro de diapositive 3"/>
          <p:cNvSpPr>
            <a:spLocks noGrp="1"/>
          </p:cNvSpPr>
          <p:nvPr>
            <p:ph type="sldNum" sz="quarter" idx="10"/>
          </p:nvPr>
        </p:nvSpPr>
        <p:spPr/>
        <p:txBody>
          <a:bodyPr/>
          <a:lstStyle/>
          <a:p>
            <a:fld id="{C05E1AE6-1BFD-4589-9604-3D9D158FB781}" type="slidenum">
              <a:rPr lang="fr-FR" smtClean="0"/>
              <a:t>56</a:t>
            </a:fld>
            <a:endParaRPr lang="fr-FR"/>
          </a:p>
        </p:txBody>
      </p:sp>
    </p:spTree>
    <p:extLst>
      <p:ext uri="{BB962C8B-B14F-4D97-AF65-F5344CB8AC3E}">
        <p14:creationId xmlns:p14="http://schemas.microsoft.com/office/powerpoint/2010/main" val="116916961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kern="1200" dirty="0" smtClean="0">
                <a:solidFill>
                  <a:schemeClr val="tx1"/>
                </a:solidFill>
                <a:latin typeface="+mn-lt"/>
                <a:ea typeface="+mn-ea"/>
                <a:cs typeface="+mn-cs"/>
              </a:rPr>
              <a:t> </a:t>
            </a:r>
            <a:endParaRPr lang="fr-FR" b="1" dirty="0"/>
          </a:p>
        </p:txBody>
      </p:sp>
      <p:sp>
        <p:nvSpPr>
          <p:cNvPr id="4" name="Espace réservé du numéro de diapositive 3"/>
          <p:cNvSpPr>
            <a:spLocks noGrp="1"/>
          </p:cNvSpPr>
          <p:nvPr>
            <p:ph type="sldNum" sz="quarter" idx="10"/>
          </p:nvPr>
        </p:nvSpPr>
        <p:spPr/>
        <p:txBody>
          <a:bodyPr/>
          <a:lstStyle/>
          <a:p>
            <a:fld id="{C05E1AE6-1BFD-4589-9604-3D9D158FB781}" type="slidenum">
              <a:rPr lang="fr-FR" smtClean="0"/>
              <a:t>57</a:t>
            </a:fld>
            <a:endParaRPr lang="fr-FR"/>
          </a:p>
        </p:txBody>
      </p:sp>
    </p:spTree>
    <p:extLst>
      <p:ext uri="{BB962C8B-B14F-4D97-AF65-F5344CB8AC3E}">
        <p14:creationId xmlns:p14="http://schemas.microsoft.com/office/powerpoint/2010/main" val="215884549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kern="1200" dirty="0" smtClean="0">
                <a:solidFill>
                  <a:schemeClr val="tx1"/>
                </a:solidFill>
                <a:latin typeface="+mn-lt"/>
                <a:ea typeface="+mn-ea"/>
                <a:cs typeface="+mn-cs"/>
              </a:rPr>
              <a:t> </a:t>
            </a:r>
            <a:endParaRPr lang="fr-FR" b="1" dirty="0"/>
          </a:p>
        </p:txBody>
      </p:sp>
      <p:sp>
        <p:nvSpPr>
          <p:cNvPr id="4" name="Espace réservé du numéro de diapositive 3"/>
          <p:cNvSpPr>
            <a:spLocks noGrp="1"/>
          </p:cNvSpPr>
          <p:nvPr>
            <p:ph type="sldNum" sz="quarter" idx="10"/>
          </p:nvPr>
        </p:nvSpPr>
        <p:spPr/>
        <p:txBody>
          <a:bodyPr/>
          <a:lstStyle/>
          <a:p>
            <a:fld id="{C05E1AE6-1BFD-4589-9604-3D9D158FB781}" type="slidenum">
              <a:rPr lang="fr-FR" smtClean="0"/>
              <a:t>58</a:t>
            </a:fld>
            <a:endParaRPr lang="fr-FR"/>
          </a:p>
        </p:txBody>
      </p:sp>
    </p:spTree>
    <p:extLst>
      <p:ext uri="{BB962C8B-B14F-4D97-AF65-F5344CB8AC3E}">
        <p14:creationId xmlns:p14="http://schemas.microsoft.com/office/powerpoint/2010/main" val="379179137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kern="1200" dirty="0" smtClean="0">
                <a:solidFill>
                  <a:schemeClr val="tx1"/>
                </a:solidFill>
                <a:latin typeface="+mn-lt"/>
                <a:ea typeface="+mn-ea"/>
                <a:cs typeface="+mn-cs"/>
              </a:rPr>
              <a:t> </a:t>
            </a:r>
            <a:endParaRPr lang="fr-FR" b="1" dirty="0"/>
          </a:p>
        </p:txBody>
      </p:sp>
      <p:sp>
        <p:nvSpPr>
          <p:cNvPr id="4" name="Espace réservé du numéro de diapositive 3"/>
          <p:cNvSpPr>
            <a:spLocks noGrp="1"/>
          </p:cNvSpPr>
          <p:nvPr>
            <p:ph type="sldNum" sz="quarter" idx="10"/>
          </p:nvPr>
        </p:nvSpPr>
        <p:spPr/>
        <p:txBody>
          <a:bodyPr/>
          <a:lstStyle/>
          <a:p>
            <a:fld id="{C05E1AE6-1BFD-4589-9604-3D9D158FB781}" type="slidenum">
              <a:rPr lang="fr-FR" smtClean="0"/>
              <a:t>59</a:t>
            </a:fld>
            <a:endParaRPr lang="fr-FR"/>
          </a:p>
        </p:txBody>
      </p:sp>
    </p:spTree>
    <p:extLst>
      <p:ext uri="{BB962C8B-B14F-4D97-AF65-F5344CB8AC3E}">
        <p14:creationId xmlns:p14="http://schemas.microsoft.com/office/powerpoint/2010/main" val="379400001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kern="1200" dirty="0" smtClean="0">
                <a:solidFill>
                  <a:schemeClr val="tx1"/>
                </a:solidFill>
                <a:latin typeface="+mn-lt"/>
                <a:ea typeface="+mn-ea"/>
                <a:cs typeface="+mn-cs"/>
              </a:rPr>
              <a:t> </a:t>
            </a:r>
            <a:endParaRPr lang="fr-FR" b="1" dirty="0"/>
          </a:p>
        </p:txBody>
      </p:sp>
      <p:sp>
        <p:nvSpPr>
          <p:cNvPr id="4" name="Espace réservé du numéro de diapositive 3"/>
          <p:cNvSpPr>
            <a:spLocks noGrp="1"/>
          </p:cNvSpPr>
          <p:nvPr>
            <p:ph type="sldNum" sz="quarter" idx="10"/>
          </p:nvPr>
        </p:nvSpPr>
        <p:spPr/>
        <p:txBody>
          <a:bodyPr/>
          <a:lstStyle/>
          <a:p>
            <a:fld id="{C05E1AE6-1BFD-4589-9604-3D9D158FB781}" type="slidenum">
              <a:rPr lang="fr-FR" smtClean="0"/>
              <a:t>60</a:t>
            </a:fld>
            <a:endParaRPr lang="fr-FR"/>
          </a:p>
        </p:txBody>
      </p:sp>
    </p:spTree>
    <p:extLst>
      <p:ext uri="{BB962C8B-B14F-4D97-AF65-F5344CB8AC3E}">
        <p14:creationId xmlns:p14="http://schemas.microsoft.com/office/powerpoint/2010/main" val="7073213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fr-F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fr-F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A2B556CC-B3DB-497B-BE73-7E6BCECFF139}" type="datetimeFigureOut">
              <a:rPr lang="fr-FR" smtClean="0"/>
              <a:t>14/07/2025</a:t>
            </a:fld>
            <a:endParaRPr lang="fr-F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fr-F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D94E7397-CDEE-49F8-B284-540E381A05A9}" type="slidenum">
              <a:rPr lang="fr-FR" smtClean="0"/>
              <a:t>‹#›</a:t>
            </a:fld>
            <a:endParaRPr lang="fr-FR"/>
          </a:p>
        </p:txBody>
      </p:sp>
    </p:spTree>
    <p:extLst>
      <p:ext uri="{BB962C8B-B14F-4D97-AF65-F5344CB8AC3E}">
        <p14:creationId xmlns:p14="http://schemas.microsoft.com/office/powerpoint/2010/main" val="12869411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fr-FR"/>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A2B556CC-B3DB-497B-BE73-7E6BCECFF139}" type="datetimeFigureOut">
              <a:rPr lang="fr-FR" smtClean="0"/>
              <a:t>14/07/2025</a:t>
            </a:fld>
            <a:endParaRPr lang="fr-F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fr-F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D94E7397-CDEE-49F8-B284-540E381A05A9}" type="slidenum">
              <a:rPr lang="fr-FR" smtClean="0"/>
              <a:t>‹#›</a:t>
            </a:fld>
            <a:endParaRPr lang="fr-FR"/>
          </a:p>
        </p:txBody>
      </p:sp>
    </p:spTree>
    <p:extLst>
      <p:ext uri="{BB962C8B-B14F-4D97-AF65-F5344CB8AC3E}">
        <p14:creationId xmlns:p14="http://schemas.microsoft.com/office/powerpoint/2010/main" val="26842659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fr-F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A2B556CC-B3DB-497B-BE73-7E6BCECFF139}" type="datetimeFigureOut">
              <a:rPr lang="fr-FR" smtClean="0"/>
              <a:t>14/07/2025</a:t>
            </a:fld>
            <a:endParaRPr lang="fr-F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fr-F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D94E7397-CDEE-49F8-B284-540E381A05A9}" type="slidenum">
              <a:rPr lang="fr-FR" smtClean="0"/>
              <a:t>‹#›</a:t>
            </a:fld>
            <a:endParaRPr lang="fr-FR"/>
          </a:p>
        </p:txBody>
      </p:sp>
    </p:spTree>
    <p:extLst>
      <p:ext uri="{BB962C8B-B14F-4D97-AF65-F5344CB8AC3E}">
        <p14:creationId xmlns:p14="http://schemas.microsoft.com/office/powerpoint/2010/main" val="11354799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fr-FR"/>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A2B556CC-B3DB-497B-BE73-7E6BCECFF139}" type="datetimeFigureOut">
              <a:rPr lang="fr-FR" smtClean="0"/>
              <a:t>14/07/2025</a:t>
            </a:fld>
            <a:endParaRPr lang="fr-F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fr-F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D94E7397-CDEE-49F8-B284-540E381A05A9}" type="slidenum">
              <a:rPr lang="fr-FR" smtClean="0"/>
              <a:t>‹#›</a:t>
            </a:fld>
            <a:endParaRPr lang="fr-FR"/>
          </a:p>
        </p:txBody>
      </p:sp>
    </p:spTree>
    <p:extLst>
      <p:ext uri="{BB962C8B-B14F-4D97-AF65-F5344CB8AC3E}">
        <p14:creationId xmlns:p14="http://schemas.microsoft.com/office/powerpoint/2010/main" val="3323637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fr-F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A2B556CC-B3DB-497B-BE73-7E6BCECFF139}" type="datetimeFigureOut">
              <a:rPr lang="fr-FR" smtClean="0"/>
              <a:t>14/07/2025</a:t>
            </a:fld>
            <a:endParaRPr lang="fr-FR"/>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fr-FR"/>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D94E7397-CDEE-49F8-B284-540E381A05A9}" type="slidenum">
              <a:rPr lang="fr-FR" smtClean="0"/>
              <a:t>‹#›</a:t>
            </a:fld>
            <a:endParaRPr lang="fr-FR"/>
          </a:p>
        </p:txBody>
      </p:sp>
    </p:spTree>
    <p:extLst>
      <p:ext uri="{BB962C8B-B14F-4D97-AF65-F5344CB8AC3E}">
        <p14:creationId xmlns:p14="http://schemas.microsoft.com/office/powerpoint/2010/main" val="25660662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fr-F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A2B556CC-B3DB-497B-BE73-7E6BCECFF139}" type="datetimeFigureOut">
              <a:rPr lang="fr-FR" smtClean="0"/>
              <a:t>14/07/2025</a:t>
            </a:fld>
            <a:endParaRPr lang="fr-F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fr-F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D94E7397-CDEE-49F8-B284-540E381A05A9}" type="slidenum">
              <a:rPr lang="fr-FR" smtClean="0"/>
              <a:t>‹#›</a:t>
            </a:fld>
            <a:endParaRPr lang="fr-FR"/>
          </a:p>
        </p:txBody>
      </p:sp>
    </p:spTree>
    <p:extLst>
      <p:ext uri="{BB962C8B-B14F-4D97-AF65-F5344CB8AC3E}">
        <p14:creationId xmlns:p14="http://schemas.microsoft.com/office/powerpoint/2010/main" val="12404085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A2B556CC-B3DB-497B-BE73-7E6BCECFF139}" type="datetimeFigureOut">
              <a:rPr lang="fr-FR" smtClean="0"/>
              <a:t>14/07/2025</a:t>
            </a:fld>
            <a:endParaRPr lang="fr-FR"/>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fr-FR"/>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D94E7397-CDEE-49F8-B284-540E381A05A9}" type="slidenum">
              <a:rPr lang="fr-FR" smtClean="0"/>
              <a:t>‹#›</a:t>
            </a:fld>
            <a:endParaRPr lang="fr-FR"/>
          </a:p>
        </p:txBody>
      </p:sp>
    </p:spTree>
    <p:extLst>
      <p:ext uri="{BB962C8B-B14F-4D97-AF65-F5344CB8AC3E}">
        <p14:creationId xmlns:p14="http://schemas.microsoft.com/office/powerpoint/2010/main" val="30073115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fr-F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A2B556CC-B3DB-497B-BE73-7E6BCECFF139}" type="datetimeFigureOut">
              <a:rPr lang="fr-FR" smtClean="0"/>
              <a:t>14/07/2025</a:t>
            </a:fld>
            <a:endParaRPr lang="fr-F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fr-F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D94E7397-CDEE-49F8-B284-540E381A05A9}" type="slidenum">
              <a:rPr lang="fr-FR" smtClean="0"/>
              <a:t>‹#›</a:t>
            </a:fld>
            <a:endParaRPr lang="fr-FR"/>
          </a:p>
        </p:txBody>
      </p:sp>
    </p:spTree>
    <p:extLst>
      <p:ext uri="{BB962C8B-B14F-4D97-AF65-F5344CB8AC3E}">
        <p14:creationId xmlns:p14="http://schemas.microsoft.com/office/powerpoint/2010/main" val="36176169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fr-F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A2B556CC-B3DB-497B-BE73-7E6BCECFF139}" type="datetimeFigureOut">
              <a:rPr lang="fr-FR" smtClean="0"/>
              <a:t>14/07/2025</a:t>
            </a:fld>
            <a:endParaRPr lang="fr-F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fr-F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D94E7397-CDEE-49F8-B284-540E381A05A9}" type="slidenum">
              <a:rPr lang="fr-FR" smtClean="0"/>
              <a:t>‹#›</a:t>
            </a:fld>
            <a:endParaRPr lang="fr-FR"/>
          </a:p>
        </p:txBody>
      </p:sp>
    </p:spTree>
    <p:extLst>
      <p:ext uri="{BB962C8B-B14F-4D97-AF65-F5344CB8AC3E}">
        <p14:creationId xmlns:p14="http://schemas.microsoft.com/office/powerpoint/2010/main" val="10108370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fr-FR"/>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A2B556CC-B3DB-497B-BE73-7E6BCECFF139}" type="datetimeFigureOut">
              <a:rPr lang="fr-FR" smtClean="0"/>
              <a:t>14/07/2025</a:t>
            </a:fld>
            <a:endParaRPr lang="fr-F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fr-F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D94E7397-CDEE-49F8-B284-540E381A05A9}" type="slidenum">
              <a:rPr lang="fr-FR" smtClean="0"/>
              <a:t>‹#›</a:t>
            </a:fld>
            <a:endParaRPr lang="fr-FR"/>
          </a:p>
        </p:txBody>
      </p:sp>
    </p:spTree>
    <p:extLst>
      <p:ext uri="{BB962C8B-B14F-4D97-AF65-F5344CB8AC3E}">
        <p14:creationId xmlns:p14="http://schemas.microsoft.com/office/powerpoint/2010/main" val="38485589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fr-F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A2B556CC-B3DB-497B-BE73-7E6BCECFF139}" type="datetimeFigureOut">
              <a:rPr lang="fr-FR" smtClean="0"/>
              <a:t>14/07/2025</a:t>
            </a:fld>
            <a:endParaRPr lang="fr-F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fr-F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D94E7397-CDEE-49F8-B284-540E381A05A9}" type="slidenum">
              <a:rPr lang="fr-FR" smtClean="0"/>
              <a:t>‹#›</a:t>
            </a:fld>
            <a:endParaRPr lang="fr-FR"/>
          </a:p>
        </p:txBody>
      </p:sp>
    </p:spTree>
    <p:extLst>
      <p:ext uri="{BB962C8B-B14F-4D97-AF65-F5344CB8AC3E}">
        <p14:creationId xmlns:p14="http://schemas.microsoft.com/office/powerpoint/2010/main" val="3555732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fr-F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11" name="Rectangle 10"/>
          <p:cNvSpPr/>
          <p:nvPr userDrawn="1"/>
        </p:nvSpPr>
        <p:spPr>
          <a:xfrm>
            <a:off x="146050" y="6176963"/>
            <a:ext cx="12045950" cy="523220"/>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sz="1400" b="1" dirty="0" smtClean="0"/>
              <a:t>Multi Application User Interface:  </a:t>
            </a:r>
          </a:p>
          <a:p>
            <a:r>
              <a:rPr lang="fr-FR" sz="1400" dirty="0" smtClean="0"/>
              <a:t>Ce support de cours est la propriété intellectuelle de Béchir Béjaoui, il n’est utilisé qu’avec l’accord du propriétaire © 2025-2026 </a:t>
            </a:r>
            <a:endParaRPr lang="fr-FR" sz="1400" dirty="0"/>
          </a:p>
        </p:txBody>
      </p:sp>
      <p:pic>
        <p:nvPicPr>
          <p:cNvPr id="12" name="Picture 11" descr="dotnetMAUI"/>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11536694" y="6066648"/>
            <a:ext cx="494184" cy="4941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190191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hyperlink" Target="https://github.com/bejaouibechir/ControlsDemo.git" TargetMode="Externa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hyperlink" Target="https://fonts.google.com/" TargetMode="External"/><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3.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6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256353" y="2274326"/>
            <a:ext cx="965329" cy="415498"/>
          </a:xfrm>
          <a:prstGeom prst="rect">
            <a:avLst/>
          </a:prstGeom>
        </p:spPr>
        <p:txBody>
          <a:bodyPr wrap="none">
            <a:spAutoFit/>
          </a:bodyPr>
          <a:lstStyle/>
          <a:p>
            <a:pPr algn="ctr"/>
            <a:r>
              <a:rPr lang="fr-FR" sz="2100" dirty="0">
                <a:solidFill>
                  <a:srgbClr val="1C3158"/>
                </a:solidFill>
                <a:latin typeface="Comic Sans MS" pitchFamily="66" charset="0"/>
              </a:rPr>
              <a:t>MAUI</a:t>
            </a:r>
          </a:p>
        </p:txBody>
      </p:sp>
      <p:cxnSp>
        <p:nvCxnSpPr>
          <p:cNvPr id="4" name="Connecteur droit 3"/>
          <p:cNvCxnSpPr>
            <a:cxnSpLocks/>
          </p:cNvCxnSpPr>
          <p:nvPr/>
        </p:nvCxnSpPr>
        <p:spPr>
          <a:xfrm flipH="1">
            <a:off x="5663952" y="2738280"/>
            <a:ext cx="3882150" cy="13038"/>
          </a:xfrm>
          <a:prstGeom prst="line">
            <a:avLst/>
          </a:prstGeom>
          <a:ln w="22225">
            <a:solidFill>
              <a:srgbClr val="1C3158"/>
            </a:solidFill>
          </a:ln>
        </p:spPr>
        <p:style>
          <a:lnRef idx="1">
            <a:schemeClr val="accent1"/>
          </a:lnRef>
          <a:fillRef idx="0">
            <a:schemeClr val="accent1"/>
          </a:fillRef>
          <a:effectRef idx="0">
            <a:schemeClr val="accent1"/>
          </a:effectRef>
          <a:fontRef idx="minor">
            <a:schemeClr val="tx1"/>
          </a:fontRef>
        </p:style>
      </p:cxnSp>
      <p:pic>
        <p:nvPicPr>
          <p:cNvPr id="1027" name="Picture 3" descr="C:\Users\bepro-17\AppData\Roaming\Skype\live#3ambenalaya.bepro\media_messaging\media_cache_v3\^2DF5C670F0A42E46084157BFD3139AC68F80CB1B7C725AE391^pimgpsh_fullsize_dist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99795" y="4900959"/>
            <a:ext cx="1164186" cy="1159809"/>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p:cNvSpPr/>
          <p:nvPr/>
        </p:nvSpPr>
        <p:spPr>
          <a:xfrm>
            <a:off x="5071100" y="5523434"/>
            <a:ext cx="3222654" cy="507831"/>
          </a:xfrm>
          <a:prstGeom prst="rect">
            <a:avLst/>
          </a:prstGeom>
        </p:spPr>
        <p:txBody>
          <a:bodyPr wrap="square">
            <a:spAutoFit/>
          </a:bodyPr>
          <a:lstStyle/>
          <a:p>
            <a:pPr algn="ctr"/>
            <a:r>
              <a:rPr lang="fr-FR" sz="1350" b="1" i="1" dirty="0">
                <a:solidFill>
                  <a:srgbClr val="1C3158"/>
                </a:solidFill>
              </a:rPr>
              <a:t>Béchir BEJAOUI</a:t>
            </a:r>
          </a:p>
          <a:p>
            <a:pPr algn="ctr"/>
            <a:r>
              <a:rPr lang="fr-FR" sz="1350" dirty="0">
                <a:solidFill>
                  <a:srgbClr val="1C3158"/>
                </a:solidFill>
              </a:rPr>
              <a:t>Formateur et consultant indépendant</a:t>
            </a:r>
          </a:p>
        </p:txBody>
      </p:sp>
      <p:sp>
        <p:nvSpPr>
          <p:cNvPr id="3" name="Rectangle 2"/>
          <p:cNvSpPr/>
          <p:nvPr/>
        </p:nvSpPr>
        <p:spPr>
          <a:xfrm>
            <a:off x="6290314" y="2799774"/>
            <a:ext cx="3011169" cy="369332"/>
          </a:xfrm>
          <a:prstGeom prst="rect">
            <a:avLst/>
          </a:prstGeom>
        </p:spPr>
        <p:txBody>
          <a:bodyPr wrap="square">
            <a:spAutoFit/>
          </a:bodyPr>
          <a:lstStyle/>
          <a:p>
            <a:pPr lvl="0" algn="ctr"/>
            <a:r>
              <a:rPr lang="fr-FR" smtClean="0">
                <a:solidFill>
                  <a:srgbClr val="1C3158"/>
                </a:solidFill>
                <a:latin typeface="Comic Sans MS" pitchFamily="66" charset="0"/>
              </a:rPr>
              <a:t>Les contrôles</a:t>
            </a:r>
            <a:endParaRPr lang="fr-FR" dirty="0">
              <a:solidFill>
                <a:srgbClr val="1C3158"/>
              </a:solidFill>
              <a:latin typeface="Comic Sans MS" pitchFamily="66" charset="0"/>
            </a:endParaRPr>
          </a:p>
        </p:txBody>
      </p:sp>
      <p:pic>
        <p:nvPicPr>
          <p:cNvPr id="1026" name="Picture 2" descr="dotnetMAUI"/>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61395" y="836712"/>
            <a:ext cx="3109706" cy="31097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8070760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88"/>
          <p:cNvSpPr txBox="1"/>
          <p:nvPr/>
        </p:nvSpPr>
        <p:spPr>
          <a:xfrm>
            <a:off x="185293" y="525590"/>
            <a:ext cx="4871339" cy="307777"/>
          </a:xfrm>
          <a:prstGeom prst="rect">
            <a:avLst/>
          </a:prstGeom>
        </p:spPr>
        <p:txBody>
          <a:bodyPr wrap="square" lIns="0" tIns="0" rIns="0" bIns="0">
            <a:spAutoFit/>
          </a:bodyPr>
          <a:lstStyle/>
          <a:p>
            <a:pPr eaLnBrk="1" fontAlgn="auto" hangingPunct="1">
              <a:spcBef>
                <a:spcPts val="0"/>
              </a:spcBef>
              <a:spcAft>
                <a:spcPts val="0"/>
              </a:spcAft>
              <a:defRPr/>
            </a:pPr>
            <a:r>
              <a:rPr lang="fr-FR" sz="2000" spc="-5" dirty="0" smtClean="0">
                <a:latin typeface="Segoe UI"/>
                <a:cs typeface="Segoe UI"/>
              </a:rPr>
              <a:t>Structure du projet MAUI</a:t>
            </a:r>
            <a:endParaRPr sz="2550" dirty="0">
              <a:latin typeface="Segoe UI"/>
              <a:cs typeface="Segoe UI"/>
            </a:endParaRPr>
          </a:p>
        </p:txBody>
      </p:sp>
      <p:sp>
        <p:nvSpPr>
          <p:cNvPr id="3" name="object 2"/>
          <p:cNvSpPr txBox="1">
            <a:spLocks noChangeArrowheads="1"/>
          </p:cNvSpPr>
          <p:nvPr/>
        </p:nvSpPr>
        <p:spPr bwMode="auto">
          <a:xfrm>
            <a:off x="185293" y="1090359"/>
            <a:ext cx="8830691" cy="271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152400">
              <a:tabLst>
                <a:tab pos="5997575" algn="l"/>
              </a:tabLst>
              <a:defRPr>
                <a:solidFill>
                  <a:schemeClr val="tx1"/>
                </a:solidFill>
                <a:latin typeface="Calibri" panose="020F0502020204030204" pitchFamily="34" charset="0"/>
                <a:cs typeface="Arial" panose="020B0604020202020204" pitchFamily="34" charset="0"/>
              </a:defRPr>
            </a:lvl1pPr>
            <a:lvl2pPr marL="341313" indent="-120650">
              <a:tabLst>
                <a:tab pos="5997575" algn="l"/>
              </a:tabLst>
              <a:defRPr>
                <a:solidFill>
                  <a:schemeClr val="tx1"/>
                </a:solidFill>
                <a:latin typeface="Calibri" panose="020F0502020204030204" pitchFamily="34" charset="0"/>
                <a:cs typeface="Arial" panose="020B0604020202020204" pitchFamily="34" charset="0"/>
              </a:defRPr>
            </a:lvl2pPr>
            <a:lvl3pPr marL="1143000" indent="-228600">
              <a:tabLst>
                <a:tab pos="5997575" algn="l"/>
              </a:tabLst>
              <a:defRPr>
                <a:solidFill>
                  <a:schemeClr val="tx1"/>
                </a:solidFill>
                <a:latin typeface="Calibri" panose="020F0502020204030204" pitchFamily="34" charset="0"/>
                <a:cs typeface="Arial" panose="020B0604020202020204" pitchFamily="34" charset="0"/>
              </a:defRPr>
            </a:lvl3pPr>
            <a:lvl4pPr marL="1600200" indent="-228600">
              <a:tabLst>
                <a:tab pos="5997575" algn="l"/>
              </a:tabLst>
              <a:defRPr>
                <a:solidFill>
                  <a:schemeClr val="tx1"/>
                </a:solidFill>
                <a:latin typeface="Calibri" panose="020F0502020204030204" pitchFamily="34" charset="0"/>
                <a:cs typeface="Arial" panose="020B0604020202020204" pitchFamily="34" charset="0"/>
              </a:defRPr>
            </a:lvl4pPr>
            <a:lvl5pPr marL="2057400" indent="-228600">
              <a:tabLst>
                <a:tab pos="5997575" algn="l"/>
              </a:tabLst>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tabLst>
                <a:tab pos="5997575" algn="l"/>
              </a:tabLs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tabLst>
                <a:tab pos="5997575" algn="l"/>
              </a:tabLs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tabLst>
                <a:tab pos="5997575" algn="l"/>
              </a:tabLs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tabLst>
                <a:tab pos="5997575" algn="l"/>
              </a:tabLst>
              <a:defRPr>
                <a:solidFill>
                  <a:schemeClr val="tx1"/>
                </a:solidFill>
                <a:latin typeface="Calibri" panose="020F0502020204030204" pitchFamily="34" charset="0"/>
                <a:cs typeface="Arial" panose="020B0604020202020204" pitchFamily="34" charset="0"/>
              </a:defRPr>
            </a:lvl9pPr>
          </a:lstStyle>
          <a:p>
            <a:pPr eaLnBrk="1" hangingPunct="1"/>
            <a:r>
              <a:rPr lang="fr-FR" altLang="en-US" sz="2400" u="sng" dirty="0" smtClean="0">
                <a:latin typeface="Segoe UI Symbol" panose="020B0502040204020203" pitchFamily="34" charset="0"/>
              </a:rPr>
              <a:t>Objectif </a:t>
            </a:r>
            <a:r>
              <a:rPr lang="fr-FR" altLang="en-US" sz="2400" u="sng" dirty="0" smtClean="0">
                <a:latin typeface="Times New Roman" panose="02020603050405020304" pitchFamily="18" charset="0"/>
                <a:cs typeface="Times New Roman" panose="02020603050405020304" pitchFamily="18" charset="0"/>
              </a:rPr>
              <a:t>	</a:t>
            </a:r>
            <a:endParaRPr lang="fr-FR" altLang="en-US" sz="2400" dirty="0" smtClean="0">
              <a:latin typeface="Times New Roman" panose="02020603050405020304" pitchFamily="18" charset="0"/>
              <a:cs typeface="Times New Roman" panose="02020603050405020304" pitchFamily="18" charset="0"/>
            </a:endParaRPr>
          </a:p>
          <a:p>
            <a:pPr eaLnBrk="1" hangingPunct="1">
              <a:spcBef>
                <a:spcPts val="1363"/>
              </a:spcBef>
              <a:buClr>
                <a:srgbClr val="006498"/>
              </a:buClr>
              <a:buSzPct val="85000"/>
              <a:buFont typeface="Segoe UI Symbol" panose="020B0502040204020203" pitchFamily="34" charset="0"/>
              <a:buChar char="•"/>
            </a:pPr>
            <a:r>
              <a:rPr lang="fr-FR" altLang="en-US" sz="2000" dirty="0" smtClean="0">
                <a:latin typeface="Segoe UI Symbol" panose="020B0502040204020203" pitchFamily="34" charset="0"/>
              </a:rPr>
              <a:t>  </a:t>
            </a:r>
            <a:r>
              <a:rPr lang="fr-FR" altLang="en-US" sz="2400" dirty="0" smtClean="0">
                <a:latin typeface="Segoe UI Symbol" panose="020B0502040204020203" pitchFamily="34" charset="0"/>
              </a:rPr>
              <a:t>Découvrir</a:t>
            </a:r>
            <a:r>
              <a:rPr lang="fr-FR" altLang="en-US" sz="2400" dirty="0" smtClean="0">
                <a:latin typeface="Times New Roman" panose="02020603050405020304" pitchFamily="18" charset="0"/>
                <a:cs typeface="Times New Roman" panose="02020603050405020304" pitchFamily="18" charset="0"/>
              </a:rPr>
              <a:t> </a:t>
            </a:r>
            <a:r>
              <a:rPr lang="fr-FR" altLang="en-US" sz="2400" dirty="0" smtClean="0">
                <a:latin typeface="Segoe UI Symbol" panose="020B0502040204020203" pitchFamily="34" charset="0"/>
              </a:rPr>
              <a:t>les différents contrôles</a:t>
            </a:r>
          </a:p>
          <a:p>
            <a:pPr lvl="1" eaLnBrk="1" hangingPunct="1">
              <a:spcBef>
                <a:spcPts val="1038"/>
              </a:spcBef>
              <a:buClr>
                <a:srgbClr val="006498"/>
              </a:buClr>
              <a:buSzPct val="79000"/>
              <a:buFont typeface="Wingdings" panose="05000000000000000000" pitchFamily="2" charset="2"/>
              <a:buChar char=""/>
            </a:pPr>
            <a:r>
              <a:rPr lang="fr-FR" altLang="en-US" sz="1500" dirty="0" smtClean="0">
                <a:latin typeface="Segoe UI Symbol" panose="020B0502040204020203" pitchFamily="34" charset="0"/>
              </a:rPr>
              <a:t>Les contrôles de présentation</a:t>
            </a:r>
          </a:p>
          <a:p>
            <a:pPr lvl="1" eaLnBrk="1" hangingPunct="1">
              <a:spcBef>
                <a:spcPts val="1038"/>
              </a:spcBef>
              <a:buClr>
                <a:srgbClr val="006498"/>
              </a:buClr>
              <a:buSzPct val="79000"/>
              <a:buFont typeface="Wingdings" panose="05000000000000000000" pitchFamily="2" charset="2"/>
              <a:buChar char=""/>
            </a:pPr>
            <a:r>
              <a:rPr lang="fr-FR" altLang="en-US" sz="1500" dirty="0" smtClean="0">
                <a:latin typeface="Segoe UI Symbol" panose="020B0502040204020203" pitchFamily="34" charset="0"/>
              </a:rPr>
              <a:t>Les contrôles de commande </a:t>
            </a:r>
            <a:endParaRPr lang="fr-FR" altLang="en-US" sz="1500" dirty="0" smtClean="0">
              <a:latin typeface="Segoe UI Symbol" panose="020B0502040204020203" pitchFamily="34" charset="0"/>
            </a:endParaRPr>
          </a:p>
          <a:p>
            <a:pPr lvl="1" eaLnBrk="1" hangingPunct="1">
              <a:spcBef>
                <a:spcPts val="1038"/>
              </a:spcBef>
              <a:buClr>
                <a:srgbClr val="006498"/>
              </a:buClr>
              <a:buSzPct val="79000"/>
              <a:buFont typeface="Wingdings" panose="05000000000000000000" pitchFamily="2" charset="2"/>
              <a:buChar char=""/>
            </a:pPr>
            <a:r>
              <a:rPr lang="fr-FR" altLang="en-US" sz="1500" dirty="0" smtClean="0">
                <a:latin typeface="Segoe UI Symbol" panose="020B0502040204020203" pitchFamily="34" charset="0"/>
              </a:rPr>
              <a:t>Les contrôles d’entrées</a:t>
            </a:r>
          </a:p>
          <a:p>
            <a:pPr lvl="1" eaLnBrk="1" hangingPunct="1">
              <a:spcBef>
                <a:spcPts val="1038"/>
              </a:spcBef>
              <a:buClr>
                <a:srgbClr val="006498"/>
              </a:buClr>
              <a:buSzPct val="79000"/>
              <a:buFont typeface="Wingdings" panose="05000000000000000000" pitchFamily="2" charset="2"/>
              <a:buChar char=""/>
            </a:pPr>
            <a:r>
              <a:rPr lang="fr-FR" altLang="en-US" sz="1500" dirty="0" smtClean="0">
                <a:latin typeface="Segoe UI Symbol" panose="020B0502040204020203" pitchFamily="34" charset="0"/>
              </a:rPr>
              <a:t>Les contrôles de collection</a:t>
            </a:r>
          </a:p>
          <a:p>
            <a:pPr lvl="1" eaLnBrk="1" hangingPunct="1">
              <a:spcBef>
                <a:spcPts val="1038"/>
              </a:spcBef>
              <a:buClr>
                <a:srgbClr val="006498"/>
              </a:buClr>
              <a:buSzPct val="79000"/>
              <a:buFont typeface="Wingdings" panose="05000000000000000000" pitchFamily="2" charset="2"/>
              <a:buChar char=""/>
            </a:pPr>
            <a:r>
              <a:rPr lang="fr-FR" altLang="en-US" sz="1500" dirty="0" smtClean="0">
                <a:latin typeface="Segoe UI Symbol" panose="020B0502040204020203" pitchFamily="34" charset="0"/>
              </a:rPr>
              <a:t>Les contrôles personnalisés</a:t>
            </a:r>
          </a:p>
        </p:txBody>
      </p:sp>
    </p:spTree>
    <p:extLst>
      <p:ext uri="{BB962C8B-B14F-4D97-AF65-F5344CB8AC3E}">
        <p14:creationId xmlns:p14="http://schemas.microsoft.com/office/powerpoint/2010/main" val="354887455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8">
            <a:hlinkClick r:id="rId2"/>
          </p:cNvPr>
          <p:cNvSpPr txBox="1">
            <a:spLocks noChangeArrowheads="1"/>
          </p:cNvSpPr>
          <p:nvPr/>
        </p:nvSpPr>
        <p:spPr bwMode="auto">
          <a:xfrm>
            <a:off x="933748" y="2991713"/>
            <a:ext cx="10311452" cy="237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152400">
              <a:tabLst>
                <a:tab pos="5992813" algn="l"/>
              </a:tabLst>
              <a:defRPr>
                <a:solidFill>
                  <a:schemeClr val="tx1"/>
                </a:solidFill>
                <a:latin typeface="Calibri" panose="020F0502020204030204" pitchFamily="34" charset="0"/>
                <a:cs typeface="Arial" panose="020B0604020202020204" pitchFamily="34" charset="0"/>
              </a:defRPr>
            </a:lvl1pPr>
            <a:lvl2pPr marL="579438" indent="-242888">
              <a:tabLst>
                <a:tab pos="5992813" algn="l"/>
              </a:tabLst>
              <a:defRPr>
                <a:solidFill>
                  <a:schemeClr val="tx1"/>
                </a:solidFill>
                <a:latin typeface="Calibri" panose="020F0502020204030204" pitchFamily="34" charset="0"/>
                <a:cs typeface="Arial" panose="020B0604020202020204" pitchFamily="34" charset="0"/>
              </a:defRPr>
            </a:lvl2pPr>
            <a:lvl3pPr marL="1143000" indent="-228600">
              <a:tabLst>
                <a:tab pos="5992813" algn="l"/>
              </a:tabLst>
              <a:defRPr>
                <a:solidFill>
                  <a:schemeClr val="tx1"/>
                </a:solidFill>
                <a:latin typeface="Calibri" panose="020F0502020204030204" pitchFamily="34" charset="0"/>
                <a:cs typeface="Arial" panose="020B0604020202020204" pitchFamily="34" charset="0"/>
              </a:defRPr>
            </a:lvl3pPr>
            <a:lvl4pPr marL="1600200" indent="-228600">
              <a:tabLst>
                <a:tab pos="5992813" algn="l"/>
              </a:tabLst>
              <a:defRPr>
                <a:solidFill>
                  <a:schemeClr val="tx1"/>
                </a:solidFill>
                <a:latin typeface="Calibri" panose="020F0502020204030204" pitchFamily="34" charset="0"/>
                <a:cs typeface="Arial" panose="020B0604020202020204" pitchFamily="34" charset="0"/>
              </a:defRPr>
            </a:lvl4pPr>
            <a:lvl5pPr marL="2057400" indent="-228600">
              <a:tabLst>
                <a:tab pos="5992813" algn="l"/>
              </a:tabLst>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9pPr>
          </a:lstStyle>
          <a:p>
            <a:pPr algn="ctr">
              <a:lnSpc>
                <a:spcPts val="1488"/>
              </a:lnSpc>
              <a:spcBef>
                <a:spcPts val="1625"/>
              </a:spcBef>
              <a:buClr>
                <a:srgbClr val="006498"/>
              </a:buClr>
              <a:buSzPct val="61000"/>
            </a:pPr>
            <a:r>
              <a:rPr lang="fr-FR" altLang="en-US" sz="3200" b="1" dirty="0" smtClean="0">
                <a:solidFill>
                  <a:srgbClr val="7030A0"/>
                </a:solidFill>
                <a:latin typeface="Segoe UI" panose="020B0502040204020203" pitchFamily="34" charset="0"/>
                <a:cs typeface="Segoe UI" panose="020B0502040204020203" pitchFamily="34" charset="0"/>
              </a:rPr>
              <a:t>Projet de démonstration </a:t>
            </a:r>
            <a:endParaRPr lang="en-US" altLang="en-US" sz="3200" b="1" dirty="0">
              <a:solidFill>
                <a:srgbClr val="7030A0"/>
              </a:solidFill>
              <a:latin typeface="Segoe UI" panose="020B0502040204020203" pitchFamily="34" charset="0"/>
              <a:cs typeface="Segoe UI" panose="020B0502040204020203" pitchFamily="34" charset="0"/>
            </a:endParaRPr>
          </a:p>
        </p:txBody>
      </p:sp>
      <p:sp>
        <p:nvSpPr>
          <p:cNvPr id="11" name="object 18"/>
          <p:cNvSpPr txBox="1">
            <a:spLocks noChangeArrowheads="1"/>
          </p:cNvSpPr>
          <p:nvPr/>
        </p:nvSpPr>
        <p:spPr bwMode="auto">
          <a:xfrm>
            <a:off x="933748" y="3371029"/>
            <a:ext cx="10311452" cy="196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152400">
              <a:tabLst>
                <a:tab pos="5992813" algn="l"/>
              </a:tabLst>
              <a:defRPr>
                <a:solidFill>
                  <a:schemeClr val="tx1"/>
                </a:solidFill>
                <a:latin typeface="Calibri" panose="020F0502020204030204" pitchFamily="34" charset="0"/>
                <a:cs typeface="Arial" panose="020B0604020202020204" pitchFamily="34" charset="0"/>
              </a:defRPr>
            </a:lvl1pPr>
            <a:lvl2pPr marL="579438" indent="-242888">
              <a:tabLst>
                <a:tab pos="5992813" algn="l"/>
              </a:tabLst>
              <a:defRPr>
                <a:solidFill>
                  <a:schemeClr val="tx1"/>
                </a:solidFill>
                <a:latin typeface="Calibri" panose="020F0502020204030204" pitchFamily="34" charset="0"/>
                <a:cs typeface="Arial" panose="020B0604020202020204" pitchFamily="34" charset="0"/>
              </a:defRPr>
            </a:lvl2pPr>
            <a:lvl3pPr marL="1143000" indent="-228600">
              <a:tabLst>
                <a:tab pos="5992813" algn="l"/>
              </a:tabLst>
              <a:defRPr>
                <a:solidFill>
                  <a:schemeClr val="tx1"/>
                </a:solidFill>
                <a:latin typeface="Calibri" panose="020F0502020204030204" pitchFamily="34" charset="0"/>
                <a:cs typeface="Arial" panose="020B0604020202020204" pitchFamily="34" charset="0"/>
              </a:defRPr>
            </a:lvl3pPr>
            <a:lvl4pPr marL="1600200" indent="-228600">
              <a:tabLst>
                <a:tab pos="5992813" algn="l"/>
              </a:tabLst>
              <a:defRPr>
                <a:solidFill>
                  <a:schemeClr val="tx1"/>
                </a:solidFill>
                <a:latin typeface="Calibri" panose="020F0502020204030204" pitchFamily="34" charset="0"/>
                <a:cs typeface="Arial" panose="020B0604020202020204" pitchFamily="34" charset="0"/>
              </a:defRPr>
            </a:lvl4pPr>
            <a:lvl5pPr marL="2057400" indent="-228600">
              <a:tabLst>
                <a:tab pos="5992813" algn="l"/>
              </a:tabLst>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9pPr>
          </a:lstStyle>
          <a:p>
            <a:pPr algn="ctr">
              <a:lnSpc>
                <a:spcPts val="1488"/>
              </a:lnSpc>
              <a:spcBef>
                <a:spcPts val="1625"/>
              </a:spcBef>
              <a:buClr>
                <a:srgbClr val="006498"/>
              </a:buClr>
              <a:buSzPct val="61000"/>
            </a:pPr>
            <a:r>
              <a:rPr lang="fr-FR" altLang="en-US" b="1" dirty="0" smtClean="0">
                <a:solidFill>
                  <a:srgbClr val="7030A0"/>
                </a:solidFill>
                <a:latin typeface="Segoe UI" panose="020B0502040204020203" pitchFamily="34" charset="0"/>
                <a:cs typeface="Segoe UI" panose="020B0502040204020203" pitchFamily="34" charset="0"/>
              </a:rPr>
              <a:t>Projet: </a:t>
            </a:r>
            <a:r>
              <a:rPr lang="fr-FR" altLang="en-US" b="1" smtClean="0">
                <a:solidFill>
                  <a:srgbClr val="7030A0"/>
                </a:solidFill>
                <a:latin typeface="Segoe UI" panose="020B0502040204020203" pitchFamily="34" charset="0"/>
                <a:cs typeface="Segoe UI" panose="020B0502040204020203" pitchFamily="34" charset="0"/>
              </a:rPr>
              <a:t>DemoControls</a:t>
            </a:r>
            <a:endParaRPr lang="en-US" altLang="en-US" b="1" dirty="0">
              <a:solidFill>
                <a:srgbClr val="7030A0"/>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48454049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8"/>
          <p:cNvSpPr txBox="1">
            <a:spLocks noChangeArrowheads="1"/>
          </p:cNvSpPr>
          <p:nvPr/>
        </p:nvSpPr>
        <p:spPr bwMode="auto">
          <a:xfrm>
            <a:off x="251167" y="617099"/>
            <a:ext cx="7487927" cy="4062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152400">
              <a:tabLst>
                <a:tab pos="5992813" algn="l"/>
              </a:tabLst>
              <a:defRPr>
                <a:solidFill>
                  <a:schemeClr val="tx1"/>
                </a:solidFill>
                <a:latin typeface="Calibri" panose="020F0502020204030204" pitchFamily="34" charset="0"/>
                <a:cs typeface="Arial" panose="020B0604020202020204" pitchFamily="34" charset="0"/>
              </a:defRPr>
            </a:lvl1pPr>
            <a:lvl2pPr marL="579438" indent="-242888">
              <a:tabLst>
                <a:tab pos="5992813" algn="l"/>
              </a:tabLst>
              <a:defRPr>
                <a:solidFill>
                  <a:schemeClr val="tx1"/>
                </a:solidFill>
                <a:latin typeface="Calibri" panose="020F0502020204030204" pitchFamily="34" charset="0"/>
                <a:cs typeface="Arial" panose="020B0604020202020204" pitchFamily="34" charset="0"/>
              </a:defRPr>
            </a:lvl2pPr>
            <a:lvl3pPr marL="1143000" indent="-228600">
              <a:tabLst>
                <a:tab pos="5992813" algn="l"/>
              </a:tabLst>
              <a:defRPr>
                <a:solidFill>
                  <a:schemeClr val="tx1"/>
                </a:solidFill>
                <a:latin typeface="Calibri" panose="020F0502020204030204" pitchFamily="34" charset="0"/>
                <a:cs typeface="Arial" panose="020B0604020202020204" pitchFamily="34" charset="0"/>
              </a:defRPr>
            </a:lvl3pPr>
            <a:lvl4pPr marL="1600200" indent="-228600">
              <a:tabLst>
                <a:tab pos="5992813" algn="l"/>
              </a:tabLst>
              <a:defRPr>
                <a:solidFill>
                  <a:schemeClr val="tx1"/>
                </a:solidFill>
                <a:latin typeface="Calibri" panose="020F0502020204030204" pitchFamily="34" charset="0"/>
                <a:cs typeface="Arial" panose="020B0604020202020204" pitchFamily="34" charset="0"/>
              </a:defRPr>
            </a:lvl4pPr>
            <a:lvl5pPr marL="2057400" indent="-228600">
              <a:tabLst>
                <a:tab pos="5992813" algn="l"/>
              </a:tabLst>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2200" u="sng" dirty="0">
                <a:latin typeface="Segoe UI Symbol" panose="020B0502040204020203" pitchFamily="34" charset="0"/>
              </a:rPr>
              <a:t>L</a:t>
            </a:r>
            <a:r>
              <a:rPr lang="en-US" altLang="en-US" sz="2200" u="sng" dirty="0" smtClean="0">
                <a:latin typeface="Segoe UI Symbol" panose="020B0502040204020203" pitchFamily="34" charset="0"/>
              </a:rPr>
              <a:t>es </a:t>
            </a:r>
            <a:r>
              <a:rPr lang="fr-FR" altLang="en-US" sz="2200" u="sng" dirty="0" smtClean="0">
                <a:latin typeface="Segoe UI Symbol" panose="020B0502040204020203" pitchFamily="34" charset="0"/>
              </a:rPr>
              <a:t>contrôles de présentation</a:t>
            </a:r>
            <a:r>
              <a:rPr lang="en-US" altLang="en-US" sz="2200" u="sng" dirty="0" smtClean="0">
                <a:latin typeface="Segoe UI Symbol" panose="020B0502040204020203" pitchFamily="34" charset="0"/>
              </a:rPr>
              <a:t>-</a:t>
            </a:r>
            <a:r>
              <a:rPr lang="en-US" altLang="en-US" sz="2200" u="sng" dirty="0" err="1" smtClean="0">
                <a:latin typeface="Segoe UI Symbol" panose="020B0502040204020203" pitchFamily="34" charset="0"/>
              </a:rPr>
              <a:t>BoxView</a:t>
            </a:r>
            <a:endParaRPr lang="fr-FR" altLang="en-US" sz="2200" dirty="0" smtClean="0">
              <a:latin typeface="Times New Roman" panose="02020603050405020304" pitchFamily="18" charset="0"/>
              <a:cs typeface="Times New Roman" panose="02020603050405020304" pitchFamily="18" charset="0"/>
            </a:endParaRPr>
          </a:p>
          <a:p>
            <a:pPr>
              <a:lnSpc>
                <a:spcPct val="150000"/>
              </a:lnSpc>
              <a:spcBef>
                <a:spcPts val="1625"/>
              </a:spcBef>
              <a:buClr>
                <a:srgbClr val="006498"/>
              </a:buClr>
              <a:buSzPct val="61000"/>
              <a:buFont typeface="Wingdings" panose="05000000000000000000" pitchFamily="2" charset="2"/>
              <a:buChar char=""/>
            </a:pPr>
            <a:r>
              <a:rPr lang="fr-FR" dirty="0" smtClean="0">
                <a:latin typeface="Segoe UI" panose="020B0502040204020203" pitchFamily="34" charset="0"/>
                <a:cs typeface="Segoe UI" panose="020B0502040204020203" pitchFamily="34" charset="0"/>
              </a:rPr>
              <a:t>La </a:t>
            </a:r>
            <a:r>
              <a:rPr lang="fr-FR" b="1" dirty="0" err="1" smtClean="0">
                <a:latin typeface="Segoe UI" panose="020B0502040204020203" pitchFamily="34" charset="0"/>
                <a:cs typeface="Segoe UI" panose="020B0502040204020203" pitchFamily="34" charset="0"/>
              </a:rPr>
              <a:t>BoxView</a:t>
            </a:r>
            <a:r>
              <a:rPr lang="fr-FR" dirty="0" smtClean="0">
                <a:latin typeface="Segoe UI" panose="020B0502040204020203" pitchFamily="34" charset="0"/>
                <a:cs typeface="Segoe UI" panose="020B0502040204020203" pitchFamily="34" charset="0"/>
              </a:rPr>
              <a:t> </a:t>
            </a:r>
            <a:r>
              <a:rPr lang="fr-FR" dirty="0">
                <a:latin typeface="Segoe UI" panose="020B0502040204020203" pitchFamily="34" charset="0"/>
                <a:cs typeface="Segoe UI" panose="020B0502040204020203" pitchFamily="34" charset="0"/>
              </a:rPr>
              <a:t>dessine un rectangle ou un carré simple, d’une largeur, </a:t>
            </a:r>
            <a:endParaRPr lang="fr-FR" dirty="0" smtClean="0">
              <a:latin typeface="Segoe UI" panose="020B0502040204020203" pitchFamily="34" charset="0"/>
              <a:cs typeface="Segoe UI" panose="020B0502040204020203" pitchFamily="34" charset="0"/>
            </a:endParaRPr>
          </a:p>
          <a:p>
            <a:pPr>
              <a:lnSpc>
                <a:spcPct val="150000"/>
              </a:lnSpc>
              <a:spcBef>
                <a:spcPts val="1625"/>
              </a:spcBef>
              <a:buClr>
                <a:srgbClr val="006498"/>
              </a:buClr>
              <a:buSzPct val="61000"/>
            </a:pPr>
            <a:r>
              <a:rPr lang="fr-FR" dirty="0" smtClean="0">
                <a:latin typeface="Segoe UI" panose="020B0502040204020203" pitchFamily="34" charset="0"/>
                <a:cs typeface="Segoe UI" panose="020B0502040204020203" pitchFamily="34" charset="0"/>
              </a:rPr>
              <a:t>d’une </a:t>
            </a:r>
            <a:r>
              <a:rPr lang="fr-FR" dirty="0">
                <a:latin typeface="Segoe UI" panose="020B0502040204020203" pitchFamily="34" charset="0"/>
                <a:cs typeface="Segoe UI" panose="020B0502040204020203" pitchFamily="34" charset="0"/>
              </a:rPr>
              <a:t>hauteur et d’une couleur </a:t>
            </a:r>
            <a:r>
              <a:rPr lang="fr-FR" dirty="0" smtClean="0">
                <a:latin typeface="Segoe UI" panose="020B0502040204020203" pitchFamily="34" charset="0"/>
                <a:cs typeface="Segoe UI" panose="020B0502040204020203" pitchFamily="34" charset="0"/>
              </a:rPr>
              <a:t>spécifiée</a:t>
            </a:r>
          </a:p>
          <a:p>
            <a:pPr>
              <a:lnSpc>
                <a:spcPct val="150000"/>
              </a:lnSpc>
              <a:spcBef>
                <a:spcPts val="1625"/>
              </a:spcBef>
              <a:buClr>
                <a:srgbClr val="006498"/>
              </a:buClr>
              <a:buSzPct val="61000"/>
              <a:buFont typeface="Wingdings" panose="05000000000000000000" pitchFamily="2" charset="2"/>
              <a:buChar char=""/>
            </a:pPr>
            <a:r>
              <a:rPr lang="fr-FR" dirty="0" smtClean="0">
                <a:latin typeface="Segoe UI" panose="020B0502040204020203" pitchFamily="34" charset="0"/>
                <a:cs typeface="Segoe UI" panose="020B0502040204020203" pitchFamily="34" charset="0"/>
              </a:rPr>
              <a:t>Les deux propriétés utilisées dans ce cas sont </a:t>
            </a:r>
            <a:r>
              <a:rPr lang="fr-FR" b="1" dirty="0" err="1" smtClean="0">
                <a:latin typeface="Segoe UI" panose="020B0502040204020203" pitchFamily="34" charset="0"/>
                <a:cs typeface="Segoe UI" panose="020B0502040204020203" pitchFamily="34" charset="0"/>
              </a:rPr>
              <a:t>Color</a:t>
            </a:r>
            <a:r>
              <a:rPr lang="fr-FR" dirty="0" smtClean="0">
                <a:latin typeface="Segoe UI" panose="020B0502040204020203" pitchFamily="34" charset="0"/>
                <a:cs typeface="Segoe UI" panose="020B0502040204020203" pitchFamily="34" charset="0"/>
              </a:rPr>
              <a:t> et </a:t>
            </a:r>
            <a:r>
              <a:rPr lang="fr-FR" b="1" dirty="0" err="1" smtClean="0">
                <a:latin typeface="Segoe UI" panose="020B0502040204020203" pitchFamily="34" charset="0"/>
                <a:cs typeface="Segoe UI" panose="020B0502040204020203" pitchFamily="34" charset="0"/>
              </a:rPr>
              <a:t>CornerRadius</a:t>
            </a:r>
            <a:endParaRPr lang="fr-FR" b="1" dirty="0" smtClean="0">
              <a:latin typeface="Segoe UI" panose="020B0502040204020203" pitchFamily="34" charset="0"/>
              <a:cs typeface="Segoe UI" panose="020B0502040204020203" pitchFamily="34" charset="0"/>
            </a:endParaRPr>
          </a:p>
          <a:p>
            <a:pPr>
              <a:lnSpc>
                <a:spcPct val="150000"/>
              </a:lnSpc>
              <a:spcBef>
                <a:spcPts val="1625"/>
              </a:spcBef>
              <a:buClr>
                <a:srgbClr val="006498"/>
              </a:buClr>
              <a:buSzPct val="61000"/>
              <a:buFont typeface="Wingdings" panose="05000000000000000000" pitchFamily="2" charset="2"/>
              <a:buChar char=""/>
            </a:pPr>
            <a:r>
              <a:rPr lang="fr-FR" b="1" dirty="0" err="1" smtClean="0">
                <a:latin typeface="Segoe UI" panose="020B0502040204020203" pitchFamily="34" charset="0"/>
                <a:cs typeface="Segoe UI" panose="020B0502040204020203" pitchFamily="34" charset="0"/>
              </a:rPr>
              <a:t>Color</a:t>
            </a:r>
            <a:r>
              <a:rPr lang="fr-FR" b="1" dirty="0" smtClean="0">
                <a:latin typeface="Segoe UI" panose="020B0502040204020203" pitchFamily="34" charset="0"/>
                <a:cs typeface="Segoe UI" panose="020B0502040204020203" pitchFamily="34" charset="0"/>
              </a:rPr>
              <a:t>: </a:t>
            </a:r>
            <a:r>
              <a:rPr lang="fr-FR" dirty="0">
                <a:latin typeface="Segoe UI" panose="020B0502040204020203" pitchFamily="34" charset="0"/>
                <a:cs typeface="Segoe UI" panose="020B0502040204020203" pitchFamily="34" charset="0"/>
              </a:rPr>
              <a:t>de</a:t>
            </a:r>
            <a:r>
              <a:rPr lang="fr-FR" b="1" dirty="0">
                <a:latin typeface="Segoe UI" panose="020B0502040204020203" pitchFamily="34" charset="0"/>
                <a:cs typeface="Segoe UI" panose="020B0502040204020203" pitchFamily="34" charset="0"/>
              </a:rPr>
              <a:t> type </a:t>
            </a:r>
            <a:r>
              <a:rPr lang="fr-FR" b="1" dirty="0" err="1">
                <a:latin typeface="Segoe UI" panose="020B0502040204020203" pitchFamily="34" charset="0"/>
                <a:cs typeface="Segoe UI" panose="020B0502040204020203" pitchFamily="34" charset="0"/>
              </a:rPr>
              <a:t>Color</a:t>
            </a:r>
            <a:r>
              <a:rPr lang="fr-FR" dirty="0">
                <a:latin typeface="Segoe UI" panose="020B0502040204020203" pitchFamily="34" charset="0"/>
                <a:cs typeface="Segoe UI" panose="020B0502040204020203" pitchFamily="34" charset="0"/>
              </a:rPr>
              <a:t>, qui définit la couleur du </a:t>
            </a:r>
            <a:r>
              <a:rPr lang="fr-FR" b="1" dirty="0" err="1" smtClean="0">
                <a:latin typeface="Segoe UI" panose="020B0502040204020203" pitchFamily="34" charset="0"/>
                <a:cs typeface="Segoe UI" panose="020B0502040204020203" pitchFamily="34" charset="0"/>
              </a:rPr>
              <a:t>BoxView</a:t>
            </a:r>
            <a:endParaRPr lang="fr-FR" b="1" dirty="0" smtClean="0">
              <a:latin typeface="Segoe UI" panose="020B0502040204020203" pitchFamily="34" charset="0"/>
              <a:cs typeface="Segoe UI" panose="020B0502040204020203" pitchFamily="34" charset="0"/>
            </a:endParaRPr>
          </a:p>
          <a:p>
            <a:pPr>
              <a:lnSpc>
                <a:spcPct val="150000"/>
              </a:lnSpc>
              <a:spcBef>
                <a:spcPts val="1625"/>
              </a:spcBef>
              <a:buClr>
                <a:srgbClr val="006498"/>
              </a:buClr>
              <a:buSzPct val="61000"/>
              <a:buFont typeface="Wingdings" panose="05000000000000000000" pitchFamily="2" charset="2"/>
              <a:buChar char=""/>
            </a:pPr>
            <a:r>
              <a:rPr lang="fr-FR" b="1" dirty="0" err="1" smtClean="0">
                <a:latin typeface="Segoe UI" panose="020B0502040204020203" pitchFamily="34" charset="0"/>
                <a:cs typeface="Segoe UI" panose="020B0502040204020203" pitchFamily="34" charset="0"/>
              </a:rPr>
              <a:t>CornerRadius</a:t>
            </a:r>
            <a:r>
              <a:rPr lang="fr-FR" b="1" dirty="0" smtClean="0">
                <a:latin typeface="Segoe UI" panose="020B0502040204020203" pitchFamily="34" charset="0"/>
                <a:cs typeface="Segoe UI" panose="020B0502040204020203" pitchFamily="34" charset="0"/>
              </a:rPr>
              <a:t>: </a:t>
            </a:r>
            <a:r>
              <a:rPr lang="fr-FR" dirty="0">
                <a:latin typeface="Segoe UI" panose="020B0502040204020203" pitchFamily="34" charset="0"/>
                <a:cs typeface="Segoe UI" panose="020B0502040204020203" pitchFamily="34" charset="0"/>
              </a:rPr>
              <a:t>de type </a:t>
            </a:r>
            <a:r>
              <a:rPr lang="fr-FR" b="1" dirty="0" err="1">
                <a:latin typeface="Segoe UI" panose="020B0502040204020203" pitchFamily="34" charset="0"/>
                <a:cs typeface="Segoe UI" panose="020B0502040204020203" pitchFamily="34" charset="0"/>
              </a:rPr>
              <a:t>CornerRadius</a:t>
            </a:r>
            <a:r>
              <a:rPr lang="fr-FR" b="1" dirty="0">
                <a:latin typeface="Segoe UI" panose="020B0502040204020203" pitchFamily="34" charset="0"/>
                <a:cs typeface="Segoe UI" panose="020B0502040204020203" pitchFamily="34" charset="0"/>
              </a:rPr>
              <a:t>, </a:t>
            </a:r>
            <a:r>
              <a:rPr lang="fr-FR" dirty="0">
                <a:latin typeface="Segoe UI" panose="020B0502040204020203" pitchFamily="34" charset="0"/>
                <a:cs typeface="Segoe UI" panose="020B0502040204020203" pitchFamily="34" charset="0"/>
              </a:rPr>
              <a:t>qui définit le </a:t>
            </a:r>
            <a:r>
              <a:rPr lang="fr-FR" dirty="0" smtClean="0">
                <a:latin typeface="Segoe UI" panose="020B0502040204020203" pitchFamily="34" charset="0"/>
                <a:cs typeface="Segoe UI" panose="020B0502040204020203" pitchFamily="34" charset="0"/>
              </a:rPr>
              <a:t>rayon</a:t>
            </a:r>
          </a:p>
          <a:p>
            <a:pPr>
              <a:lnSpc>
                <a:spcPct val="150000"/>
              </a:lnSpc>
              <a:spcBef>
                <a:spcPts val="1625"/>
              </a:spcBef>
              <a:buClr>
                <a:srgbClr val="006498"/>
              </a:buClr>
              <a:buSzPct val="61000"/>
            </a:pPr>
            <a:r>
              <a:rPr lang="fr-FR" dirty="0" smtClean="0">
                <a:latin typeface="Segoe UI" panose="020B0502040204020203" pitchFamily="34" charset="0"/>
                <a:cs typeface="Segoe UI" panose="020B0502040204020203" pitchFamily="34" charset="0"/>
              </a:rPr>
              <a:t> </a:t>
            </a:r>
            <a:r>
              <a:rPr lang="fr-FR" dirty="0">
                <a:latin typeface="Segoe UI" panose="020B0502040204020203" pitchFamily="34" charset="0"/>
                <a:cs typeface="Segoe UI" panose="020B0502040204020203" pitchFamily="34" charset="0"/>
              </a:rPr>
              <a:t>d’angle du </a:t>
            </a:r>
            <a:r>
              <a:rPr lang="fr-FR" b="1" dirty="0" err="1">
                <a:latin typeface="Segoe UI" panose="020B0502040204020203" pitchFamily="34" charset="0"/>
                <a:cs typeface="Segoe UI" panose="020B0502040204020203" pitchFamily="34" charset="0"/>
              </a:rPr>
              <a:t>BoxView</a:t>
            </a:r>
            <a:endParaRPr lang="fr-FR" b="1" dirty="0" smtClean="0">
              <a:latin typeface="Segoe UI" panose="020B0502040204020203" pitchFamily="34" charset="0"/>
              <a:cs typeface="Segoe UI" panose="020B0502040204020203" pitchFamily="34" charset="0"/>
            </a:endParaRPr>
          </a:p>
        </p:txBody>
      </p:sp>
      <p:pic>
        <p:nvPicPr>
          <p:cNvPr id="4" name="Image 3"/>
          <p:cNvPicPr>
            <a:picLocks noChangeAspect="1"/>
          </p:cNvPicPr>
          <p:nvPr/>
        </p:nvPicPr>
        <p:blipFill>
          <a:blip r:embed="rId2"/>
          <a:stretch>
            <a:fillRect/>
          </a:stretch>
        </p:blipFill>
        <p:spPr>
          <a:xfrm>
            <a:off x="6095997" y="-3164750"/>
            <a:ext cx="5" cy="13187500"/>
          </a:xfrm>
          <a:prstGeom prst="rect">
            <a:avLst/>
          </a:prstGeom>
        </p:spPr>
      </p:pic>
      <p:sp>
        <p:nvSpPr>
          <p:cNvPr id="6" name="Rectangle 5"/>
          <p:cNvSpPr/>
          <p:nvPr/>
        </p:nvSpPr>
        <p:spPr>
          <a:xfrm>
            <a:off x="383956" y="4679750"/>
            <a:ext cx="6096000" cy="1600438"/>
          </a:xfrm>
          <a:prstGeom prst="rect">
            <a:avLst/>
          </a:prstGeom>
        </p:spPr>
        <p:txBody>
          <a:bodyPr>
            <a:spAutoFit/>
          </a:bodyPr>
          <a:lstStyle/>
          <a:p>
            <a:r>
              <a:rPr lang="fr-FR" sz="1400" dirty="0">
                <a:solidFill>
                  <a:srgbClr val="000000"/>
                </a:solidFill>
                <a:latin typeface="Cascadia Mono" panose="020B0609020000020004" pitchFamily="49" charset="0"/>
              </a:rPr>
              <a:t> </a:t>
            </a:r>
            <a:r>
              <a:rPr lang="fr-FR" sz="1400" dirty="0">
                <a:solidFill>
                  <a:srgbClr val="0000FF"/>
                </a:solidFill>
                <a:latin typeface="Cascadia Mono" panose="020B0609020000020004" pitchFamily="49" charset="0"/>
              </a:rPr>
              <a:t>&lt;</a:t>
            </a:r>
            <a:r>
              <a:rPr lang="fr-FR" sz="1400" dirty="0">
                <a:solidFill>
                  <a:srgbClr val="A31515"/>
                </a:solidFill>
                <a:latin typeface="Cascadia Mono" panose="020B0609020000020004" pitchFamily="49" charset="0"/>
              </a:rPr>
              <a:t>Grid</a:t>
            </a:r>
            <a:r>
              <a:rPr lang="fr-FR" sz="1400" dirty="0">
                <a:solidFill>
                  <a:srgbClr val="0000FF"/>
                </a:solidFill>
                <a:latin typeface="Cascadia Mono" panose="020B0609020000020004" pitchFamily="49" charset="0"/>
              </a:rPr>
              <a:t>&gt;</a:t>
            </a:r>
            <a:endParaRPr lang="fr-FR" sz="1400" dirty="0">
              <a:solidFill>
                <a:srgbClr val="000000"/>
              </a:solidFill>
              <a:latin typeface="Cascadia Mono" panose="020B0609020000020004" pitchFamily="49" charset="0"/>
            </a:endParaRPr>
          </a:p>
          <a:p>
            <a:r>
              <a:rPr lang="fr-FR" sz="1400" dirty="0">
                <a:solidFill>
                  <a:srgbClr val="000000"/>
                </a:solidFill>
                <a:latin typeface="Cascadia Mono" panose="020B0609020000020004" pitchFamily="49" charset="0"/>
              </a:rPr>
              <a:t> </a:t>
            </a:r>
            <a:r>
              <a:rPr lang="fr-FR" sz="1400" dirty="0" smtClean="0">
                <a:solidFill>
                  <a:srgbClr val="000000"/>
                </a:solidFill>
                <a:latin typeface="Cascadia Mono" panose="020B0609020000020004" pitchFamily="49" charset="0"/>
              </a:rPr>
              <a:t>   </a:t>
            </a:r>
            <a:r>
              <a:rPr lang="fr-FR" sz="1400" dirty="0">
                <a:solidFill>
                  <a:srgbClr val="0000FF"/>
                </a:solidFill>
                <a:latin typeface="Cascadia Mono" panose="020B0609020000020004" pitchFamily="49" charset="0"/>
              </a:rPr>
              <a:t>&lt;</a:t>
            </a:r>
            <a:r>
              <a:rPr lang="fr-FR" sz="1400" dirty="0" err="1">
                <a:solidFill>
                  <a:srgbClr val="A31515"/>
                </a:solidFill>
                <a:latin typeface="Cascadia Mono" panose="020B0609020000020004" pitchFamily="49" charset="0"/>
              </a:rPr>
              <a:t>BoxView</a:t>
            </a:r>
            <a:r>
              <a:rPr lang="fr-FR" sz="1400" dirty="0">
                <a:solidFill>
                  <a:srgbClr val="000000"/>
                </a:solidFill>
                <a:latin typeface="Cascadia Mono" panose="020B0609020000020004" pitchFamily="49" charset="0"/>
              </a:rPr>
              <a:t> </a:t>
            </a:r>
          </a:p>
          <a:p>
            <a:r>
              <a:rPr lang="fr-FR" sz="1400" dirty="0">
                <a:solidFill>
                  <a:srgbClr val="000000"/>
                </a:solidFill>
                <a:latin typeface="Cascadia Mono" panose="020B0609020000020004" pitchFamily="49" charset="0"/>
              </a:rPr>
              <a:t>           </a:t>
            </a:r>
            <a:r>
              <a:rPr lang="fr-FR" sz="1400" dirty="0">
                <a:solidFill>
                  <a:srgbClr val="FF0000"/>
                </a:solidFill>
                <a:latin typeface="Cascadia Mono" panose="020B0609020000020004" pitchFamily="49" charset="0"/>
              </a:rPr>
              <a:t> </a:t>
            </a:r>
            <a:r>
              <a:rPr lang="fr-FR" sz="1400" dirty="0" err="1">
                <a:solidFill>
                  <a:srgbClr val="FF0000"/>
                </a:solidFill>
                <a:latin typeface="Cascadia Mono" panose="020B0609020000020004" pitchFamily="49" charset="0"/>
              </a:rPr>
              <a:t>Margin</a:t>
            </a:r>
            <a:r>
              <a:rPr lang="fr-FR" sz="1400" dirty="0">
                <a:solidFill>
                  <a:srgbClr val="0000FF"/>
                </a:solidFill>
                <a:latin typeface="Cascadia Mono" panose="020B0609020000020004" pitchFamily="49" charset="0"/>
              </a:rPr>
              <a:t>="20"</a:t>
            </a:r>
            <a:endParaRPr lang="fr-FR" sz="1400" dirty="0">
              <a:solidFill>
                <a:srgbClr val="000000"/>
              </a:solidFill>
              <a:latin typeface="Cascadia Mono" panose="020B0609020000020004" pitchFamily="49" charset="0"/>
            </a:endParaRPr>
          </a:p>
          <a:p>
            <a:r>
              <a:rPr lang="fr-FR" sz="1400" dirty="0">
                <a:solidFill>
                  <a:srgbClr val="000000"/>
                </a:solidFill>
                <a:latin typeface="Cascadia Mono" panose="020B0609020000020004" pitchFamily="49" charset="0"/>
              </a:rPr>
              <a:t>           </a:t>
            </a:r>
            <a:r>
              <a:rPr lang="fr-FR" sz="1400" dirty="0">
                <a:solidFill>
                  <a:srgbClr val="FF0000"/>
                </a:solidFill>
                <a:latin typeface="Cascadia Mono" panose="020B0609020000020004" pitchFamily="49" charset="0"/>
              </a:rPr>
              <a:t> </a:t>
            </a:r>
            <a:r>
              <a:rPr lang="fr-FR" sz="1400" dirty="0" err="1">
                <a:solidFill>
                  <a:srgbClr val="FF0000"/>
                </a:solidFill>
                <a:latin typeface="Cascadia Mono" panose="020B0609020000020004" pitchFamily="49" charset="0"/>
              </a:rPr>
              <a:t>Color</a:t>
            </a:r>
            <a:r>
              <a:rPr lang="fr-FR" sz="1400" dirty="0">
                <a:solidFill>
                  <a:srgbClr val="0000FF"/>
                </a:solidFill>
                <a:latin typeface="Cascadia Mono" panose="020B0609020000020004" pitchFamily="49" charset="0"/>
              </a:rPr>
              <a:t>="Red"</a:t>
            </a:r>
            <a:r>
              <a:rPr lang="fr-FR" sz="1400" dirty="0">
                <a:solidFill>
                  <a:srgbClr val="FF0000"/>
                </a:solidFill>
                <a:latin typeface="Cascadia Mono" panose="020B0609020000020004" pitchFamily="49" charset="0"/>
              </a:rPr>
              <a:t> </a:t>
            </a:r>
            <a:r>
              <a:rPr lang="fr-FR" sz="1400" dirty="0" err="1">
                <a:solidFill>
                  <a:srgbClr val="FF0000"/>
                </a:solidFill>
                <a:latin typeface="Cascadia Mono" panose="020B0609020000020004" pitchFamily="49" charset="0"/>
              </a:rPr>
              <a:t>CornerRadius</a:t>
            </a:r>
            <a:r>
              <a:rPr lang="fr-FR" sz="1400" dirty="0">
                <a:solidFill>
                  <a:srgbClr val="0000FF"/>
                </a:solidFill>
                <a:latin typeface="Cascadia Mono" panose="020B0609020000020004" pitchFamily="49" charset="0"/>
              </a:rPr>
              <a:t>="10"&gt;</a:t>
            </a:r>
            <a:endParaRPr lang="fr-FR" sz="1400" dirty="0">
              <a:solidFill>
                <a:srgbClr val="000000"/>
              </a:solidFill>
              <a:latin typeface="Cascadia Mono" panose="020B0609020000020004" pitchFamily="49" charset="0"/>
            </a:endParaRPr>
          </a:p>
          <a:p>
            <a:r>
              <a:rPr lang="fr-FR" sz="1400" dirty="0">
                <a:solidFill>
                  <a:srgbClr val="000000"/>
                </a:solidFill>
                <a:latin typeface="Cascadia Mono" panose="020B0609020000020004" pitchFamily="49" charset="0"/>
              </a:rPr>
              <a:t>            </a:t>
            </a:r>
          </a:p>
          <a:p>
            <a:r>
              <a:rPr lang="fr-FR" sz="1400" dirty="0" smtClean="0">
                <a:solidFill>
                  <a:srgbClr val="0000FF"/>
                </a:solidFill>
                <a:latin typeface="Cascadia Mono" panose="020B0609020000020004" pitchFamily="49" charset="0"/>
              </a:rPr>
              <a:t>    &lt;/</a:t>
            </a:r>
            <a:r>
              <a:rPr lang="fr-FR" sz="1400" dirty="0" err="1">
                <a:solidFill>
                  <a:srgbClr val="A31515"/>
                </a:solidFill>
                <a:latin typeface="Cascadia Mono" panose="020B0609020000020004" pitchFamily="49" charset="0"/>
              </a:rPr>
              <a:t>BoxView</a:t>
            </a:r>
            <a:r>
              <a:rPr lang="fr-FR" sz="1400" dirty="0">
                <a:solidFill>
                  <a:srgbClr val="0000FF"/>
                </a:solidFill>
                <a:latin typeface="Cascadia Mono" panose="020B0609020000020004" pitchFamily="49" charset="0"/>
              </a:rPr>
              <a:t>&gt;</a:t>
            </a:r>
            <a:endParaRPr lang="fr-FR" sz="1400" dirty="0">
              <a:solidFill>
                <a:srgbClr val="000000"/>
              </a:solidFill>
              <a:latin typeface="Cascadia Mono" panose="020B0609020000020004" pitchFamily="49" charset="0"/>
            </a:endParaRPr>
          </a:p>
          <a:p>
            <a:r>
              <a:rPr lang="fr-FR" sz="1400" dirty="0" smtClean="0">
                <a:solidFill>
                  <a:srgbClr val="0000FF"/>
                </a:solidFill>
                <a:latin typeface="Cascadia Mono" panose="020B0609020000020004" pitchFamily="49" charset="0"/>
              </a:rPr>
              <a:t>&lt;/</a:t>
            </a:r>
            <a:r>
              <a:rPr lang="fr-FR" sz="1400" dirty="0">
                <a:solidFill>
                  <a:srgbClr val="A31515"/>
                </a:solidFill>
                <a:latin typeface="Cascadia Mono" panose="020B0609020000020004" pitchFamily="49" charset="0"/>
              </a:rPr>
              <a:t>Grid</a:t>
            </a:r>
            <a:r>
              <a:rPr lang="fr-FR" sz="1400" dirty="0">
                <a:solidFill>
                  <a:srgbClr val="0000FF"/>
                </a:solidFill>
                <a:latin typeface="Cascadia Mono" panose="020B0609020000020004" pitchFamily="49" charset="0"/>
              </a:rPr>
              <a:t>&gt;</a:t>
            </a:r>
            <a:endParaRPr lang="fr-FR" sz="1400" dirty="0"/>
          </a:p>
        </p:txBody>
      </p:sp>
      <p:pic>
        <p:nvPicPr>
          <p:cNvPr id="7" name="Image 6"/>
          <p:cNvPicPr>
            <a:picLocks noChangeAspect="1"/>
          </p:cNvPicPr>
          <p:nvPr/>
        </p:nvPicPr>
        <p:blipFill>
          <a:blip r:embed="rId3"/>
          <a:stretch>
            <a:fillRect/>
          </a:stretch>
        </p:blipFill>
        <p:spPr>
          <a:xfrm>
            <a:off x="8707005" y="823566"/>
            <a:ext cx="2391914" cy="5380298"/>
          </a:xfrm>
          <a:prstGeom prst="rect">
            <a:avLst/>
          </a:prstGeom>
        </p:spPr>
      </p:pic>
    </p:spTree>
    <p:extLst>
      <p:ext uri="{BB962C8B-B14F-4D97-AF65-F5344CB8AC3E}">
        <p14:creationId xmlns:p14="http://schemas.microsoft.com/office/powerpoint/2010/main" val="1522746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8"/>
          <p:cNvSpPr txBox="1">
            <a:spLocks noChangeArrowheads="1"/>
          </p:cNvSpPr>
          <p:nvPr/>
        </p:nvSpPr>
        <p:spPr bwMode="auto">
          <a:xfrm>
            <a:off x="200367" y="662255"/>
            <a:ext cx="7487927"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152400">
              <a:tabLst>
                <a:tab pos="5992813" algn="l"/>
              </a:tabLst>
              <a:defRPr>
                <a:solidFill>
                  <a:schemeClr val="tx1"/>
                </a:solidFill>
                <a:latin typeface="Calibri" panose="020F0502020204030204" pitchFamily="34" charset="0"/>
                <a:cs typeface="Arial" panose="020B0604020202020204" pitchFamily="34" charset="0"/>
              </a:defRPr>
            </a:lvl1pPr>
            <a:lvl2pPr marL="579438" indent="-242888">
              <a:tabLst>
                <a:tab pos="5992813" algn="l"/>
              </a:tabLst>
              <a:defRPr>
                <a:solidFill>
                  <a:schemeClr val="tx1"/>
                </a:solidFill>
                <a:latin typeface="Calibri" panose="020F0502020204030204" pitchFamily="34" charset="0"/>
                <a:cs typeface="Arial" panose="020B0604020202020204" pitchFamily="34" charset="0"/>
              </a:defRPr>
            </a:lvl2pPr>
            <a:lvl3pPr marL="1143000" indent="-228600">
              <a:tabLst>
                <a:tab pos="5992813" algn="l"/>
              </a:tabLst>
              <a:defRPr>
                <a:solidFill>
                  <a:schemeClr val="tx1"/>
                </a:solidFill>
                <a:latin typeface="Calibri" panose="020F0502020204030204" pitchFamily="34" charset="0"/>
                <a:cs typeface="Arial" panose="020B0604020202020204" pitchFamily="34" charset="0"/>
              </a:defRPr>
            </a:lvl3pPr>
            <a:lvl4pPr marL="1600200" indent="-228600">
              <a:tabLst>
                <a:tab pos="5992813" algn="l"/>
              </a:tabLst>
              <a:defRPr>
                <a:solidFill>
                  <a:schemeClr val="tx1"/>
                </a:solidFill>
                <a:latin typeface="Calibri" panose="020F0502020204030204" pitchFamily="34" charset="0"/>
                <a:cs typeface="Arial" panose="020B0604020202020204" pitchFamily="34" charset="0"/>
              </a:defRPr>
            </a:lvl4pPr>
            <a:lvl5pPr marL="2057400" indent="-228600">
              <a:tabLst>
                <a:tab pos="5992813" algn="l"/>
              </a:tabLst>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2200" u="sng" dirty="0">
                <a:latin typeface="Segoe UI Symbol" panose="020B0502040204020203" pitchFamily="34" charset="0"/>
              </a:rPr>
              <a:t>L</a:t>
            </a:r>
            <a:r>
              <a:rPr lang="en-US" altLang="en-US" sz="2200" u="sng" dirty="0" smtClean="0">
                <a:latin typeface="Segoe UI Symbol" panose="020B0502040204020203" pitchFamily="34" charset="0"/>
              </a:rPr>
              <a:t>es </a:t>
            </a:r>
            <a:r>
              <a:rPr lang="fr-FR" altLang="en-US" sz="2200" u="sng" dirty="0" smtClean="0">
                <a:latin typeface="Segoe UI Symbol" panose="020B0502040204020203" pitchFamily="34" charset="0"/>
              </a:rPr>
              <a:t>contrôles de présentation</a:t>
            </a:r>
            <a:r>
              <a:rPr lang="en-US" altLang="en-US" sz="2200" u="sng" dirty="0" smtClean="0">
                <a:latin typeface="Segoe UI Symbol" panose="020B0502040204020203" pitchFamily="34" charset="0"/>
              </a:rPr>
              <a:t>-</a:t>
            </a:r>
            <a:r>
              <a:rPr lang="en-US" altLang="en-US" sz="2200" u="sng" dirty="0" err="1" smtClean="0">
                <a:latin typeface="Segoe UI Symbol" panose="020B0502040204020203" pitchFamily="34" charset="0"/>
              </a:rPr>
              <a:t>BoxView</a:t>
            </a:r>
            <a:endParaRPr lang="en-US" altLang="en-US" sz="2200" u="sng" dirty="0" smtClean="0">
              <a:latin typeface="Segoe UI Symbol" panose="020B0502040204020203" pitchFamily="34" charset="0"/>
            </a:endParaRPr>
          </a:p>
          <a:p>
            <a:pPr eaLnBrk="1" hangingPunct="1"/>
            <a:endParaRPr lang="fr-FR" altLang="en-US" sz="2200" u="sng" dirty="0">
              <a:latin typeface="Segoe UI Symbol" panose="020B0502040204020203" pitchFamily="34" charset="0"/>
              <a:cs typeface="Times New Roman" panose="02020603050405020304" pitchFamily="18" charset="0"/>
            </a:endParaRPr>
          </a:p>
          <a:p>
            <a:r>
              <a:rPr lang="fr-FR" b="1" dirty="0">
                <a:latin typeface="Segoe UI "/>
              </a:rPr>
              <a:t>Limitations</a:t>
            </a:r>
          </a:p>
          <a:p>
            <a:pPr marL="438150" indent="-285750">
              <a:buClr>
                <a:schemeClr val="accent5"/>
              </a:buClr>
              <a:buFont typeface="Wingdings" panose="05000000000000000000" pitchFamily="2" charset="2"/>
              <a:buChar char="§"/>
            </a:pPr>
            <a:r>
              <a:rPr lang="fr-FR" dirty="0">
                <a:latin typeface="Segoe UI "/>
              </a:rPr>
              <a:t>Pas de contenu interne (texte ou autres vues</a:t>
            </a:r>
            <a:r>
              <a:rPr lang="fr-FR" dirty="0" smtClean="0">
                <a:latin typeface="Segoe UI "/>
              </a:rPr>
              <a:t>).</a:t>
            </a:r>
          </a:p>
          <a:p>
            <a:pPr marL="438150" indent="-285750">
              <a:buClr>
                <a:schemeClr val="accent5"/>
              </a:buClr>
              <a:buFont typeface="Wingdings" panose="05000000000000000000" pitchFamily="2" charset="2"/>
              <a:buChar char="§"/>
            </a:pPr>
            <a:endParaRPr lang="fr-FR" dirty="0">
              <a:latin typeface="Segoe UI "/>
            </a:endParaRPr>
          </a:p>
          <a:p>
            <a:pPr marL="438150" indent="-285750">
              <a:buClr>
                <a:schemeClr val="accent5"/>
              </a:buClr>
              <a:buFont typeface="Wingdings" panose="05000000000000000000" pitchFamily="2" charset="2"/>
              <a:buChar char="§"/>
            </a:pPr>
            <a:r>
              <a:rPr lang="fr-FR" dirty="0">
                <a:latin typeface="Segoe UI "/>
              </a:rPr>
              <a:t>Ne peut pas contenir d'autres éléments enfants</a:t>
            </a:r>
            <a:r>
              <a:rPr lang="fr-FR" dirty="0" smtClean="0">
                <a:latin typeface="Segoe UI "/>
              </a:rPr>
              <a:t>.</a:t>
            </a:r>
          </a:p>
          <a:p>
            <a:pPr marL="438150" indent="-285750">
              <a:buClr>
                <a:schemeClr val="accent5"/>
              </a:buClr>
              <a:buFont typeface="Wingdings" panose="05000000000000000000" pitchFamily="2" charset="2"/>
              <a:buChar char="§"/>
            </a:pPr>
            <a:endParaRPr lang="fr-FR" dirty="0">
              <a:latin typeface="Segoe UI "/>
            </a:endParaRPr>
          </a:p>
          <a:p>
            <a:pPr marL="438150" indent="-285750">
              <a:buClr>
                <a:schemeClr val="accent5"/>
              </a:buClr>
              <a:buFont typeface="Wingdings" panose="05000000000000000000" pitchFamily="2" charset="2"/>
              <a:buChar char="§"/>
            </a:pPr>
            <a:r>
              <a:rPr lang="fr-FR" dirty="0">
                <a:latin typeface="Segoe UI "/>
              </a:rPr>
              <a:t>Pas d’options d’ombre ou de bords complexes.</a:t>
            </a:r>
          </a:p>
          <a:p>
            <a:pPr marL="495300" indent="-342900" eaLnBrk="1" hangingPunct="1">
              <a:buClr>
                <a:schemeClr val="accent5"/>
              </a:buClr>
              <a:buFont typeface="Wingdings" panose="05000000000000000000" pitchFamily="2" charset="2"/>
              <a:buChar char="§"/>
            </a:pPr>
            <a:endParaRPr lang="fr-FR" altLang="en-US" sz="2200" dirty="0" smtClean="0">
              <a:latin typeface="Times New Roman" panose="02020603050405020304" pitchFamily="18" charset="0"/>
              <a:cs typeface="Times New Roman" panose="02020603050405020304" pitchFamily="18" charset="0"/>
            </a:endParaRPr>
          </a:p>
        </p:txBody>
      </p:sp>
      <p:pic>
        <p:nvPicPr>
          <p:cNvPr id="4" name="Image 3"/>
          <p:cNvPicPr>
            <a:picLocks noChangeAspect="1"/>
          </p:cNvPicPr>
          <p:nvPr/>
        </p:nvPicPr>
        <p:blipFill>
          <a:blip r:embed="rId2"/>
          <a:stretch>
            <a:fillRect/>
          </a:stretch>
        </p:blipFill>
        <p:spPr>
          <a:xfrm>
            <a:off x="6095997" y="-3164750"/>
            <a:ext cx="5" cy="13187500"/>
          </a:xfrm>
          <a:prstGeom prst="rect">
            <a:avLst/>
          </a:prstGeom>
        </p:spPr>
      </p:pic>
      <p:pic>
        <p:nvPicPr>
          <p:cNvPr id="7" name="Image 6"/>
          <p:cNvPicPr>
            <a:picLocks noChangeAspect="1"/>
          </p:cNvPicPr>
          <p:nvPr/>
        </p:nvPicPr>
        <p:blipFill>
          <a:blip r:embed="rId3"/>
          <a:stretch>
            <a:fillRect/>
          </a:stretch>
        </p:blipFill>
        <p:spPr>
          <a:xfrm>
            <a:off x="8707005" y="823566"/>
            <a:ext cx="2391914" cy="5380298"/>
          </a:xfrm>
          <a:prstGeom prst="rect">
            <a:avLst/>
          </a:prstGeom>
        </p:spPr>
      </p:pic>
    </p:spTree>
    <p:extLst>
      <p:ext uri="{BB962C8B-B14F-4D97-AF65-F5344CB8AC3E}">
        <p14:creationId xmlns:p14="http://schemas.microsoft.com/office/powerpoint/2010/main" val="22801605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8"/>
          <p:cNvSpPr txBox="1">
            <a:spLocks noChangeArrowheads="1"/>
          </p:cNvSpPr>
          <p:nvPr/>
        </p:nvSpPr>
        <p:spPr bwMode="auto">
          <a:xfrm>
            <a:off x="251167" y="617099"/>
            <a:ext cx="10869739" cy="19954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152400">
              <a:tabLst>
                <a:tab pos="5992813" algn="l"/>
              </a:tabLst>
              <a:defRPr>
                <a:solidFill>
                  <a:schemeClr val="tx1"/>
                </a:solidFill>
                <a:latin typeface="Calibri" panose="020F0502020204030204" pitchFamily="34" charset="0"/>
                <a:cs typeface="Arial" panose="020B0604020202020204" pitchFamily="34" charset="0"/>
              </a:defRPr>
            </a:lvl1pPr>
            <a:lvl2pPr marL="579438" indent="-242888">
              <a:tabLst>
                <a:tab pos="5992813" algn="l"/>
              </a:tabLst>
              <a:defRPr>
                <a:solidFill>
                  <a:schemeClr val="tx1"/>
                </a:solidFill>
                <a:latin typeface="Calibri" panose="020F0502020204030204" pitchFamily="34" charset="0"/>
                <a:cs typeface="Arial" panose="020B0604020202020204" pitchFamily="34" charset="0"/>
              </a:defRPr>
            </a:lvl2pPr>
            <a:lvl3pPr marL="1143000" indent="-228600">
              <a:tabLst>
                <a:tab pos="5992813" algn="l"/>
              </a:tabLst>
              <a:defRPr>
                <a:solidFill>
                  <a:schemeClr val="tx1"/>
                </a:solidFill>
                <a:latin typeface="Calibri" panose="020F0502020204030204" pitchFamily="34" charset="0"/>
                <a:cs typeface="Arial" panose="020B0604020202020204" pitchFamily="34" charset="0"/>
              </a:defRPr>
            </a:lvl3pPr>
            <a:lvl4pPr marL="1600200" indent="-228600">
              <a:tabLst>
                <a:tab pos="5992813" algn="l"/>
              </a:tabLst>
              <a:defRPr>
                <a:solidFill>
                  <a:schemeClr val="tx1"/>
                </a:solidFill>
                <a:latin typeface="Calibri" panose="020F0502020204030204" pitchFamily="34" charset="0"/>
                <a:cs typeface="Arial" panose="020B0604020202020204" pitchFamily="34" charset="0"/>
              </a:defRPr>
            </a:lvl4pPr>
            <a:lvl5pPr marL="2057400" indent="-228600">
              <a:tabLst>
                <a:tab pos="5992813" algn="l"/>
              </a:tabLst>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2200" u="sng" dirty="0">
                <a:latin typeface="Segoe UI Symbol" panose="020B0502040204020203" pitchFamily="34" charset="0"/>
              </a:rPr>
              <a:t>L</a:t>
            </a:r>
            <a:r>
              <a:rPr lang="en-US" altLang="en-US" sz="2200" u="sng" dirty="0" smtClean="0">
                <a:latin typeface="Segoe UI Symbol" panose="020B0502040204020203" pitchFamily="34" charset="0"/>
              </a:rPr>
              <a:t>es </a:t>
            </a:r>
            <a:r>
              <a:rPr lang="fr-FR" altLang="en-US" sz="2200" u="sng" dirty="0" smtClean="0">
                <a:latin typeface="Segoe UI Symbol" panose="020B0502040204020203" pitchFamily="34" charset="0"/>
              </a:rPr>
              <a:t>contrôles de présentation</a:t>
            </a:r>
            <a:r>
              <a:rPr lang="en-US" altLang="en-US" sz="2200" u="sng" dirty="0" smtClean="0">
                <a:latin typeface="Segoe UI Symbol" panose="020B0502040204020203" pitchFamily="34" charset="0"/>
              </a:rPr>
              <a:t>-Border</a:t>
            </a:r>
            <a:endParaRPr lang="fr-FR" altLang="en-US" sz="2200" dirty="0" smtClean="0">
              <a:latin typeface="Times New Roman" panose="02020603050405020304" pitchFamily="18" charset="0"/>
              <a:cs typeface="Times New Roman" panose="02020603050405020304" pitchFamily="18" charset="0"/>
            </a:endParaRPr>
          </a:p>
          <a:p>
            <a:pPr>
              <a:lnSpc>
                <a:spcPct val="150000"/>
              </a:lnSpc>
              <a:spcBef>
                <a:spcPts val="1625"/>
              </a:spcBef>
              <a:buClr>
                <a:srgbClr val="006498"/>
              </a:buClr>
              <a:buSzPct val="61000"/>
              <a:buFont typeface="Wingdings" panose="05000000000000000000" pitchFamily="2" charset="2"/>
              <a:buChar char=""/>
            </a:pPr>
            <a:r>
              <a:rPr lang="fr-FR" dirty="0">
                <a:latin typeface="Segoe UI" panose="020B0502040204020203" pitchFamily="34" charset="0"/>
                <a:cs typeface="Segoe UI" panose="020B0502040204020203" pitchFamily="34" charset="0"/>
              </a:rPr>
              <a:t>Les </a:t>
            </a:r>
            <a:r>
              <a:rPr lang="fr-FR" b="1" dirty="0" smtClean="0">
                <a:latin typeface="Segoe UI" panose="020B0502040204020203" pitchFamily="34" charset="0"/>
                <a:cs typeface="Segoe UI" panose="020B0502040204020203" pitchFamily="34" charset="0"/>
              </a:rPr>
              <a:t>Border</a:t>
            </a:r>
            <a:r>
              <a:rPr lang="fr-FR" dirty="0">
                <a:latin typeface="Segoe UI" panose="020B0502040204020203" pitchFamily="34" charset="0"/>
                <a:cs typeface="Segoe UI" panose="020B0502040204020203" pitchFamily="34" charset="0"/>
              </a:rPr>
              <a:t> est un contrôle conteneur qui dessine une </a:t>
            </a:r>
            <a:r>
              <a:rPr lang="fr-FR" dirty="0" smtClean="0">
                <a:latin typeface="Segoe UI" panose="020B0502040204020203" pitchFamily="34" charset="0"/>
                <a:cs typeface="Segoe UI" panose="020B0502040204020203" pitchFamily="34" charset="0"/>
              </a:rPr>
              <a:t>bordure, un</a:t>
            </a:r>
            <a:r>
              <a:rPr lang="fr-FR" dirty="0">
                <a:latin typeface="Segoe UI" panose="020B0502040204020203" pitchFamily="34" charset="0"/>
                <a:cs typeface="Segoe UI" panose="020B0502040204020203" pitchFamily="34" charset="0"/>
              </a:rPr>
              <a:t> </a:t>
            </a:r>
            <a:r>
              <a:rPr lang="fr-FR" b="1" dirty="0">
                <a:latin typeface="Segoe UI" panose="020B0502040204020203" pitchFamily="34" charset="0"/>
                <a:cs typeface="Segoe UI" panose="020B0502040204020203" pitchFamily="34" charset="0"/>
              </a:rPr>
              <a:t>Border</a:t>
            </a:r>
            <a:r>
              <a:rPr lang="fr-FR" dirty="0">
                <a:latin typeface="Segoe UI" panose="020B0502040204020203" pitchFamily="34" charset="0"/>
                <a:cs typeface="Segoe UI" panose="020B0502040204020203" pitchFamily="34" charset="0"/>
              </a:rPr>
              <a:t> ne peut contenir qu’un seul objet </a:t>
            </a:r>
            <a:r>
              <a:rPr lang="fr-FR" dirty="0" smtClean="0">
                <a:latin typeface="Segoe UI" panose="020B0502040204020203" pitchFamily="34" charset="0"/>
                <a:cs typeface="Segoe UI" panose="020B0502040204020203" pitchFamily="34" charset="0"/>
              </a:rPr>
              <a:t>enfant</a:t>
            </a:r>
          </a:p>
          <a:p>
            <a:pPr>
              <a:lnSpc>
                <a:spcPct val="150000"/>
              </a:lnSpc>
              <a:spcBef>
                <a:spcPts val="1625"/>
              </a:spcBef>
              <a:buClr>
                <a:srgbClr val="006498"/>
              </a:buClr>
              <a:buSzPct val="61000"/>
              <a:buFont typeface="Wingdings" panose="05000000000000000000" pitchFamily="2" charset="2"/>
              <a:buChar char=""/>
            </a:pPr>
            <a:r>
              <a:rPr lang="fr-FR" b="1" dirty="0" smtClean="0">
                <a:latin typeface="Segoe UI" panose="020B0502040204020203" pitchFamily="34" charset="0"/>
                <a:cs typeface="Segoe UI" panose="020B0502040204020203" pitchFamily="34" charset="0"/>
              </a:rPr>
              <a:t>Padding</a:t>
            </a:r>
            <a:r>
              <a:rPr lang="fr-FR" b="1" dirty="0">
                <a:latin typeface="Segoe UI" panose="020B0502040204020203" pitchFamily="34" charset="0"/>
                <a:cs typeface="Segoe UI" panose="020B0502040204020203" pitchFamily="34" charset="0"/>
              </a:rPr>
              <a:t>: </a:t>
            </a:r>
            <a:r>
              <a:rPr lang="fr-FR" dirty="0" smtClean="0">
                <a:latin typeface="Segoe UI" panose="020B0502040204020203" pitchFamily="34" charset="0"/>
                <a:cs typeface="Segoe UI" panose="020B0502040204020203" pitchFamily="34" charset="0"/>
              </a:rPr>
              <a:t>De </a:t>
            </a:r>
            <a:r>
              <a:rPr lang="fr-FR" dirty="0">
                <a:latin typeface="Segoe UI" panose="020B0502040204020203" pitchFamily="34" charset="0"/>
                <a:cs typeface="Segoe UI" panose="020B0502040204020203" pitchFamily="34" charset="0"/>
              </a:rPr>
              <a:t>type Thickness, représente la distance entre la bordure et son élément enfant</a:t>
            </a:r>
            <a:endParaRPr lang="fr-FR" dirty="0" smtClean="0">
              <a:latin typeface="Segoe UI" panose="020B0502040204020203" pitchFamily="34" charset="0"/>
              <a:cs typeface="Segoe UI" panose="020B0502040204020203" pitchFamily="34" charset="0"/>
            </a:endParaRPr>
          </a:p>
        </p:txBody>
      </p:sp>
      <p:pic>
        <p:nvPicPr>
          <p:cNvPr id="4" name="Image 3"/>
          <p:cNvPicPr>
            <a:picLocks noChangeAspect="1"/>
          </p:cNvPicPr>
          <p:nvPr/>
        </p:nvPicPr>
        <p:blipFill>
          <a:blip r:embed="rId2"/>
          <a:stretch>
            <a:fillRect/>
          </a:stretch>
        </p:blipFill>
        <p:spPr>
          <a:xfrm>
            <a:off x="6095997" y="-3164750"/>
            <a:ext cx="5" cy="13187500"/>
          </a:xfrm>
          <a:prstGeom prst="rect">
            <a:avLst/>
          </a:prstGeom>
        </p:spPr>
      </p:pic>
      <p:sp>
        <p:nvSpPr>
          <p:cNvPr id="10" name="Rectangle 9"/>
          <p:cNvSpPr/>
          <p:nvPr/>
        </p:nvSpPr>
        <p:spPr>
          <a:xfrm>
            <a:off x="444079" y="2928067"/>
            <a:ext cx="4945431" cy="1846659"/>
          </a:xfrm>
          <a:prstGeom prst="rect">
            <a:avLst/>
          </a:prstGeom>
        </p:spPr>
        <p:txBody>
          <a:bodyPr wrap="square">
            <a:spAutoFit/>
          </a:bodyPr>
          <a:lstStyle/>
          <a:p>
            <a:r>
              <a:rPr lang="fr-FR" sz="1600" dirty="0">
                <a:solidFill>
                  <a:srgbClr val="000000"/>
                </a:solidFill>
                <a:latin typeface="Cascadia Mono" panose="020B0609020000020004" pitchFamily="49" charset="0"/>
              </a:rPr>
              <a:t> </a:t>
            </a:r>
            <a:r>
              <a:rPr lang="fr-FR" sz="1600" dirty="0">
                <a:solidFill>
                  <a:srgbClr val="0000FF"/>
                </a:solidFill>
                <a:latin typeface="Cascadia Mono" panose="020B0609020000020004" pitchFamily="49" charset="0"/>
              </a:rPr>
              <a:t>&lt;</a:t>
            </a:r>
            <a:r>
              <a:rPr lang="fr-FR" sz="1600" dirty="0">
                <a:solidFill>
                  <a:srgbClr val="A31515"/>
                </a:solidFill>
                <a:latin typeface="Cascadia Mono" panose="020B0609020000020004" pitchFamily="49" charset="0"/>
              </a:rPr>
              <a:t>Grid</a:t>
            </a:r>
            <a:r>
              <a:rPr lang="fr-FR" sz="1600" dirty="0">
                <a:solidFill>
                  <a:srgbClr val="0000FF"/>
                </a:solidFill>
                <a:latin typeface="Cascadia Mono" panose="020B0609020000020004" pitchFamily="49" charset="0"/>
              </a:rPr>
              <a:t>&gt;</a:t>
            </a:r>
            <a:endParaRPr lang="fr-FR" sz="1600" dirty="0">
              <a:solidFill>
                <a:srgbClr val="000000"/>
              </a:solidFill>
              <a:latin typeface="Cascadia Mono" panose="020B0609020000020004" pitchFamily="49" charset="0"/>
            </a:endParaRPr>
          </a:p>
          <a:p>
            <a:r>
              <a:rPr lang="fr-FR" sz="1600" dirty="0" smtClean="0">
                <a:solidFill>
                  <a:srgbClr val="0000FF"/>
                </a:solidFill>
                <a:latin typeface="Cascadia Mono" panose="020B0609020000020004" pitchFamily="49" charset="0"/>
              </a:rPr>
              <a:t>   &lt;</a:t>
            </a:r>
            <a:r>
              <a:rPr lang="fr-FR" sz="1600" dirty="0">
                <a:solidFill>
                  <a:srgbClr val="A31515"/>
                </a:solidFill>
                <a:latin typeface="Cascadia Mono" panose="020B0609020000020004" pitchFamily="49" charset="0"/>
              </a:rPr>
              <a:t>Border</a:t>
            </a:r>
            <a:r>
              <a:rPr lang="fr-FR" sz="1600" dirty="0">
                <a:solidFill>
                  <a:srgbClr val="FF0000"/>
                </a:solidFill>
                <a:latin typeface="Cascadia Mono" panose="020B0609020000020004" pitchFamily="49" charset="0"/>
              </a:rPr>
              <a:t> </a:t>
            </a:r>
            <a:r>
              <a:rPr lang="fr-FR" sz="1600" dirty="0" err="1">
                <a:solidFill>
                  <a:srgbClr val="FF0000"/>
                </a:solidFill>
                <a:latin typeface="Cascadia Mono" panose="020B0609020000020004" pitchFamily="49" charset="0"/>
              </a:rPr>
              <a:t>StrokeThickness</a:t>
            </a:r>
            <a:r>
              <a:rPr lang="fr-FR" sz="1600" dirty="0">
                <a:solidFill>
                  <a:srgbClr val="0000FF"/>
                </a:solidFill>
                <a:latin typeface="Cascadia Mono" panose="020B0609020000020004" pitchFamily="49" charset="0"/>
              </a:rPr>
              <a:t>="3"</a:t>
            </a:r>
            <a:endParaRPr lang="fr-FR" sz="1600" dirty="0">
              <a:solidFill>
                <a:srgbClr val="000000"/>
              </a:solidFill>
              <a:latin typeface="Cascadia Mono" panose="020B0609020000020004" pitchFamily="49" charset="0"/>
            </a:endParaRPr>
          </a:p>
          <a:p>
            <a:r>
              <a:rPr lang="fr-FR" sz="1600" dirty="0">
                <a:solidFill>
                  <a:srgbClr val="000000"/>
                </a:solidFill>
                <a:latin typeface="Cascadia Mono" panose="020B0609020000020004" pitchFamily="49" charset="0"/>
              </a:rPr>
              <a:t>               </a:t>
            </a:r>
            <a:r>
              <a:rPr lang="fr-FR" sz="1600" dirty="0">
                <a:solidFill>
                  <a:srgbClr val="FF0000"/>
                </a:solidFill>
                <a:latin typeface="Cascadia Mono" panose="020B0609020000020004" pitchFamily="49" charset="0"/>
              </a:rPr>
              <a:t> </a:t>
            </a:r>
            <a:r>
              <a:rPr lang="fr-FR" sz="1600" dirty="0" err="1">
                <a:solidFill>
                  <a:srgbClr val="FF0000"/>
                </a:solidFill>
                <a:latin typeface="Cascadia Mono" panose="020B0609020000020004" pitchFamily="49" charset="0"/>
              </a:rPr>
              <a:t>Margin</a:t>
            </a:r>
            <a:r>
              <a:rPr lang="fr-FR" sz="1600" dirty="0">
                <a:solidFill>
                  <a:srgbClr val="0000FF"/>
                </a:solidFill>
                <a:latin typeface="Cascadia Mono" panose="020B0609020000020004" pitchFamily="49" charset="0"/>
              </a:rPr>
              <a:t>="20"</a:t>
            </a:r>
            <a:endParaRPr lang="fr-FR" sz="1600" dirty="0">
              <a:solidFill>
                <a:srgbClr val="000000"/>
              </a:solidFill>
              <a:latin typeface="Cascadia Mono" panose="020B0609020000020004" pitchFamily="49" charset="0"/>
            </a:endParaRPr>
          </a:p>
          <a:p>
            <a:r>
              <a:rPr lang="fr-FR" sz="1600" dirty="0">
                <a:solidFill>
                  <a:srgbClr val="000000"/>
                </a:solidFill>
                <a:latin typeface="Cascadia Mono" panose="020B0609020000020004" pitchFamily="49" charset="0"/>
              </a:rPr>
              <a:t>               </a:t>
            </a:r>
            <a:r>
              <a:rPr lang="fr-FR" sz="1600" dirty="0">
                <a:solidFill>
                  <a:srgbClr val="FF0000"/>
                </a:solidFill>
                <a:latin typeface="Cascadia Mono" panose="020B0609020000020004" pitchFamily="49" charset="0"/>
              </a:rPr>
              <a:t> Padding</a:t>
            </a:r>
            <a:r>
              <a:rPr lang="fr-FR" sz="1600" dirty="0">
                <a:solidFill>
                  <a:srgbClr val="0000FF"/>
                </a:solidFill>
                <a:latin typeface="Cascadia Mono" panose="020B0609020000020004" pitchFamily="49" charset="0"/>
              </a:rPr>
              <a:t>="100,150"&gt;</a:t>
            </a:r>
            <a:endParaRPr lang="fr-FR" sz="1600" dirty="0">
              <a:solidFill>
                <a:srgbClr val="000000"/>
              </a:solidFill>
              <a:latin typeface="Cascadia Mono" panose="020B0609020000020004" pitchFamily="49" charset="0"/>
            </a:endParaRPr>
          </a:p>
          <a:p>
            <a:r>
              <a:rPr lang="fr-FR" sz="1600" dirty="0">
                <a:solidFill>
                  <a:srgbClr val="000000"/>
                </a:solidFill>
                <a:latin typeface="Cascadia Mono" panose="020B0609020000020004" pitchFamily="49" charset="0"/>
              </a:rPr>
              <a:t>            </a:t>
            </a:r>
            <a:r>
              <a:rPr lang="fr-FR" sz="1600" dirty="0">
                <a:solidFill>
                  <a:srgbClr val="0000FF"/>
                </a:solidFill>
                <a:latin typeface="Cascadia Mono" panose="020B0609020000020004" pitchFamily="49" charset="0"/>
              </a:rPr>
              <a:t>&lt;</a:t>
            </a:r>
            <a:r>
              <a:rPr lang="fr-FR" sz="1600" dirty="0">
                <a:solidFill>
                  <a:srgbClr val="A31515"/>
                </a:solidFill>
                <a:latin typeface="Cascadia Mono" panose="020B0609020000020004" pitchFamily="49" charset="0"/>
              </a:rPr>
              <a:t>Label</a:t>
            </a:r>
            <a:r>
              <a:rPr lang="fr-FR" sz="1600" dirty="0">
                <a:solidFill>
                  <a:srgbClr val="FF0000"/>
                </a:solidFill>
                <a:latin typeface="Cascadia Mono" panose="020B0609020000020004" pitchFamily="49" charset="0"/>
              </a:rPr>
              <a:t> Text</a:t>
            </a:r>
            <a:r>
              <a:rPr lang="fr-FR" sz="1600" dirty="0">
                <a:solidFill>
                  <a:srgbClr val="0000FF"/>
                </a:solidFill>
                <a:latin typeface="Cascadia Mono" panose="020B0609020000020004" pitchFamily="49" charset="0"/>
              </a:rPr>
              <a:t>="Le contenu"/&gt;</a:t>
            </a:r>
            <a:endParaRPr lang="fr-FR" sz="1600" dirty="0">
              <a:solidFill>
                <a:srgbClr val="000000"/>
              </a:solidFill>
              <a:latin typeface="Cascadia Mono" panose="020B0609020000020004" pitchFamily="49" charset="0"/>
            </a:endParaRPr>
          </a:p>
          <a:p>
            <a:r>
              <a:rPr lang="fr-FR" sz="1600" dirty="0" smtClean="0">
                <a:solidFill>
                  <a:srgbClr val="0000FF"/>
                </a:solidFill>
                <a:latin typeface="Cascadia Mono" panose="020B0609020000020004" pitchFamily="49" charset="0"/>
              </a:rPr>
              <a:t>    &lt;/</a:t>
            </a:r>
            <a:r>
              <a:rPr lang="fr-FR" sz="1600" dirty="0">
                <a:solidFill>
                  <a:srgbClr val="A31515"/>
                </a:solidFill>
                <a:latin typeface="Cascadia Mono" panose="020B0609020000020004" pitchFamily="49" charset="0"/>
              </a:rPr>
              <a:t>Border</a:t>
            </a:r>
            <a:r>
              <a:rPr lang="fr-FR" sz="1600" dirty="0">
                <a:solidFill>
                  <a:srgbClr val="0000FF"/>
                </a:solidFill>
                <a:latin typeface="Cascadia Mono" panose="020B0609020000020004" pitchFamily="49" charset="0"/>
              </a:rPr>
              <a:t>&gt;</a:t>
            </a:r>
            <a:endParaRPr lang="fr-FR" sz="1600" dirty="0">
              <a:solidFill>
                <a:srgbClr val="000000"/>
              </a:solidFill>
              <a:latin typeface="Cascadia Mono" panose="020B0609020000020004" pitchFamily="49" charset="0"/>
            </a:endParaRPr>
          </a:p>
          <a:p>
            <a:r>
              <a:rPr lang="fr-FR" sz="1600" dirty="0" smtClean="0">
                <a:solidFill>
                  <a:srgbClr val="0000FF"/>
                </a:solidFill>
                <a:latin typeface="Cascadia Mono" panose="020B0609020000020004" pitchFamily="49" charset="0"/>
              </a:rPr>
              <a:t>&lt;/</a:t>
            </a:r>
            <a:r>
              <a:rPr lang="fr-FR" sz="1600" dirty="0">
                <a:solidFill>
                  <a:srgbClr val="A31515"/>
                </a:solidFill>
                <a:latin typeface="Cascadia Mono" panose="020B0609020000020004" pitchFamily="49" charset="0"/>
              </a:rPr>
              <a:t>Grid</a:t>
            </a:r>
            <a:r>
              <a:rPr lang="fr-FR" sz="1600" dirty="0">
                <a:solidFill>
                  <a:srgbClr val="0000FF"/>
                </a:solidFill>
                <a:latin typeface="Cascadia Mono" panose="020B0609020000020004" pitchFamily="49" charset="0"/>
              </a:rPr>
              <a:t>&gt;</a:t>
            </a:r>
            <a:endParaRPr lang="fr-FR" sz="1600" dirty="0"/>
          </a:p>
        </p:txBody>
      </p:sp>
      <p:pic>
        <p:nvPicPr>
          <p:cNvPr id="12" name="Image 11"/>
          <p:cNvPicPr>
            <a:picLocks noChangeAspect="1"/>
          </p:cNvPicPr>
          <p:nvPr/>
        </p:nvPicPr>
        <p:blipFill>
          <a:blip r:embed="rId3"/>
          <a:stretch>
            <a:fillRect/>
          </a:stretch>
        </p:blipFill>
        <p:spPr>
          <a:xfrm>
            <a:off x="9988805" y="2434363"/>
            <a:ext cx="1810258" cy="4089161"/>
          </a:xfrm>
          <a:prstGeom prst="rect">
            <a:avLst/>
          </a:prstGeom>
        </p:spPr>
      </p:pic>
      <p:cxnSp>
        <p:nvCxnSpPr>
          <p:cNvPr id="14" name="Connecteur droit avec flèche 13"/>
          <p:cNvCxnSpPr/>
          <p:nvPr/>
        </p:nvCxnSpPr>
        <p:spPr>
          <a:xfrm flipH="1">
            <a:off x="10125012" y="3778713"/>
            <a:ext cx="393616" cy="12111"/>
          </a:xfrm>
          <a:prstGeom prst="straightConnector1">
            <a:avLst/>
          </a:prstGeom>
          <a:ln>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5" name="Connecteur droit avec flèche 14"/>
          <p:cNvCxnSpPr/>
          <p:nvPr/>
        </p:nvCxnSpPr>
        <p:spPr>
          <a:xfrm>
            <a:off x="10766909" y="3093174"/>
            <a:ext cx="6056" cy="612871"/>
          </a:xfrm>
          <a:prstGeom prst="straightConnector1">
            <a:avLst/>
          </a:prstGeom>
          <a:ln>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8" name="Rectangle 17"/>
          <p:cNvSpPr/>
          <p:nvPr/>
        </p:nvSpPr>
        <p:spPr>
          <a:xfrm>
            <a:off x="10116475" y="3517103"/>
            <a:ext cx="410690" cy="261610"/>
          </a:xfrm>
          <a:prstGeom prst="rect">
            <a:avLst/>
          </a:prstGeom>
        </p:spPr>
        <p:txBody>
          <a:bodyPr wrap="none">
            <a:spAutoFit/>
          </a:bodyPr>
          <a:lstStyle/>
          <a:p>
            <a:r>
              <a:rPr lang="fr-FR" sz="1100" dirty="0" smtClean="0">
                <a:solidFill>
                  <a:srgbClr val="FF0000"/>
                </a:solidFill>
                <a:latin typeface="Segoe UI" panose="020B0502040204020203" pitchFamily="34" charset="0"/>
                <a:cs typeface="Segoe UI" panose="020B0502040204020203" pitchFamily="34" charset="0"/>
              </a:rPr>
              <a:t>100</a:t>
            </a:r>
            <a:endParaRPr lang="fr-FR" sz="1100" dirty="0">
              <a:solidFill>
                <a:srgbClr val="FF0000"/>
              </a:solidFill>
            </a:endParaRPr>
          </a:p>
        </p:txBody>
      </p:sp>
      <p:sp>
        <p:nvSpPr>
          <p:cNvPr id="19" name="Rectangle 18"/>
          <p:cNvSpPr/>
          <p:nvPr/>
        </p:nvSpPr>
        <p:spPr>
          <a:xfrm>
            <a:off x="10740205" y="3261109"/>
            <a:ext cx="434734" cy="276999"/>
          </a:xfrm>
          <a:prstGeom prst="rect">
            <a:avLst/>
          </a:prstGeom>
        </p:spPr>
        <p:txBody>
          <a:bodyPr wrap="none">
            <a:spAutoFit/>
          </a:bodyPr>
          <a:lstStyle/>
          <a:p>
            <a:r>
              <a:rPr lang="fr-FR" sz="1200" dirty="0" smtClean="0">
                <a:solidFill>
                  <a:srgbClr val="FF0000"/>
                </a:solidFill>
                <a:latin typeface="Segoe UI" panose="020B0502040204020203" pitchFamily="34" charset="0"/>
                <a:cs typeface="Segoe UI" panose="020B0502040204020203" pitchFamily="34" charset="0"/>
              </a:rPr>
              <a:t>150</a:t>
            </a:r>
            <a:endParaRPr lang="fr-FR" sz="1200" dirty="0">
              <a:solidFill>
                <a:srgbClr val="FF0000"/>
              </a:solidFill>
            </a:endParaRPr>
          </a:p>
        </p:txBody>
      </p:sp>
    </p:spTree>
    <p:extLst>
      <p:ext uri="{BB962C8B-B14F-4D97-AF65-F5344CB8AC3E}">
        <p14:creationId xmlns:p14="http://schemas.microsoft.com/office/powerpoint/2010/main" val="66865353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8"/>
          <p:cNvSpPr txBox="1">
            <a:spLocks noChangeArrowheads="1"/>
          </p:cNvSpPr>
          <p:nvPr/>
        </p:nvSpPr>
        <p:spPr bwMode="auto">
          <a:xfrm>
            <a:off x="251167" y="617099"/>
            <a:ext cx="10869739" cy="1579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152400">
              <a:tabLst>
                <a:tab pos="5992813" algn="l"/>
              </a:tabLst>
              <a:defRPr>
                <a:solidFill>
                  <a:schemeClr val="tx1"/>
                </a:solidFill>
                <a:latin typeface="Calibri" panose="020F0502020204030204" pitchFamily="34" charset="0"/>
                <a:cs typeface="Arial" panose="020B0604020202020204" pitchFamily="34" charset="0"/>
              </a:defRPr>
            </a:lvl1pPr>
            <a:lvl2pPr marL="579438" indent="-242888">
              <a:tabLst>
                <a:tab pos="5992813" algn="l"/>
              </a:tabLst>
              <a:defRPr>
                <a:solidFill>
                  <a:schemeClr val="tx1"/>
                </a:solidFill>
                <a:latin typeface="Calibri" panose="020F0502020204030204" pitchFamily="34" charset="0"/>
                <a:cs typeface="Arial" panose="020B0604020202020204" pitchFamily="34" charset="0"/>
              </a:defRPr>
            </a:lvl2pPr>
            <a:lvl3pPr marL="1143000" indent="-228600">
              <a:tabLst>
                <a:tab pos="5992813" algn="l"/>
              </a:tabLst>
              <a:defRPr>
                <a:solidFill>
                  <a:schemeClr val="tx1"/>
                </a:solidFill>
                <a:latin typeface="Calibri" panose="020F0502020204030204" pitchFamily="34" charset="0"/>
                <a:cs typeface="Arial" panose="020B0604020202020204" pitchFamily="34" charset="0"/>
              </a:defRPr>
            </a:lvl3pPr>
            <a:lvl4pPr marL="1600200" indent="-228600">
              <a:tabLst>
                <a:tab pos="5992813" algn="l"/>
              </a:tabLst>
              <a:defRPr>
                <a:solidFill>
                  <a:schemeClr val="tx1"/>
                </a:solidFill>
                <a:latin typeface="Calibri" panose="020F0502020204030204" pitchFamily="34" charset="0"/>
                <a:cs typeface="Arial" panose="020B0604020202020204" pitchFamily="34" charset="0"/>
              </a:defRPr>
            </a:lvl4pPr>
            <a:lvl5pPr marL="2057400" indent="-228600">
              <a:tabLst>
                <a:tab pos="5992813" algn="l"/>
              </a:tabLst>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2200" u="sng" dirty="0">
                <a:latin typeface="Segoe UI Symbol" panose="020B0502040204020203" pitchFamily="34" charset="0"/>
              </a:rPr>
              <a:t>L</a:t>
            </a:r>
            <a:r>
              <a:rPr lang="en-US" altLang="en-US" sz="2200" u="sng" dirty="0" smtClean="0">
                <a:latin typeface="Segoe UI Symbol" panose="020B0502040204020203" pitchFamily="34" charset="0"/>
              </a:rPr>
              <a:t>es </a:t>
            </a:r>
            <a:r>
              <a:rPr lang="fr-FR" altLang="en-US" sz="2200" u="sng" dirty="0" smtClean="0">
                <a:latin typeface="Segoe UI Symbol" panose="020B0502040204020203" pitchFamily="34" charset="0"/>
              </a:rPr>
              <a:t>contrôles de présentation</a:t>
            </a:r>
            <a:r>
              <a:rPr lang="en-US" altLang="en-US" sz="2200" u="sng" dirty="0" smtClean="0">
                <a:latin typeface="Segoe UI Symbol" panose="020B0502040204020203" pitchFamily="34" charset="0"/>
              </a:rPr>
              <a:t>-Border</a:t>
            </a:r>
            <a:endParaRPr lang="fr-FR" altLang="en-US" sz="2200" dirty="0" smtClean="0">
              <a:latin typeface="Times New Roman" panose="02020603050405020304" pitchFamily="18" charset="0"/>
              <a:cs typeface="Times New Roman" panose="02020603050405020304" pitchFamily="18" charset="0"/>
            </a:endParaRPr>
          </a:p>
          <a:p>
            <a:pPr>
              <a:lnSpc>
                <a:spcPct val="150000"/>
              </a:lnSpc>
              <a:spcBef>
                <a:spcPts val="1625"/>
              </a:spcBef>
              <a:buClr>
                <a:srgbClr val="006498"/>
              </a:buClr>
              <a:buSzPct val="61000"/>
              <a:buFont typeface="Wingdings" panose="05000000000000000000" pitchFamily="2" charset="2"/>
              <a:buChar char=""/>
            </a:pPr>
            <a:r>
              <a:rPr lang="fr-FR" dirty="0">
                <a:latin typeface="Segoe UI" panose="020B0502040204020203" pitchFamily="34" charset="0"/>
                <a:cs typeface="Segoe UI" panose="020B0502040204020203" pitchFamily="34" charset="0"/>
              </a:rPr>
              <a:t>Les </a:t>
            </a:r>
            <a:r>
              <a:rPr lang="fr-FR" dirty="0" smtClean="0">
                <a:latin typeface="Segoe UI" panose="020B0502040204020203" pitchFamily="34" charset="0"/>
                <a:cs typeface="Segoe UI" panose="020B0502040204020203" pitchFamily="34" charset="0"/>
              </a:rPr>
              <a:t>propriétés</a:t>
            </a:r>
            <a:r>
              <a:rPr lang="fr-FR" b="1" dirty="0" smtClean="0">
                <a:latin typeface="Segoe UI" panose="020B0502040204020203" pitchFamily="34" charset="0"/>
                <a:cs typeface="Segoe UI" panose="020B0502040204020203" pitchFamily="34" charset="0"/>
              </a:rPr>
              <a:t> Stroke </a:t>
            </a:r>
            <a:r>
              <a:rPr lang="fr-FR" dirty="0" smtClean="0">
                <a:latin typeface="Segoe UI" panose="020B0502040204020203" pitchFamily="34" charset="0"/>
                <a:cs typeface="Segoe UI" panose="020B0502040204020203" pitchFamily="34" charset="0"/>
              </a:rPr>
              <a:t>et</a:t>
            </a:r>
            <a:r>
              <a:rPr lang="fr-FR" b="1" dirty="0" smtClean="0">
                <a:latin typeface="Segoe UI" panose="020B0502040204020203" pitchFamily="34" charset="0"/>
                <a:cs typeface="Segoe UI" panose="020B0502040204020203" pitchFamily="34" charset="0"/>
              </a:rPr>
              <a:t> </a:t>
            </a:r>
            <a:r>
              <a:rPr lang="fr-FR" b="1" dirty="0" err="1" smtClean="0">
                <a:latin typeface="Segoe UI" panose="020B0502040204020203" pitchFamily="34" charset="0"/>
                <a:cs typeface="Segoe UI" panose="020B0502040204020203" pitchFamily="34" charset="0"/>
              </a:rPr>
              <a:t>StrokeThikness</a:t>
            </a:r>
            <a:r>
              <a:rPr lang="fr-FR" b="1" dirty="0" smtClean="0">
                <a:latin typeface="Segoe UI" panose="020B0502040204020203" pitchFamily="34" charset="0"/>
                <a:cs typeface="Segoe UI" panose="020B0502040204020203" pitchFamily="34" charset="0"/>
              </a:rPr>
              <a:t> </a:t>
            </a:r>
            <a:r>
              <a:rPr lang="fr-FR" dirty="0" smtClean="0">
                <a:latin typeface="Segoe UI" panose="020B0502040204020203" pitchFamily="34" charset="0"/>
                <a:cs typeface="Segoe UI" panose="020B0502040204020203" pitchFamily="34" charset="0"/>
              </a:rPr>
              <a:t>qui sont respectivement de type </a:t>
            </a:r>
            <a:r>
              <a:rPr lang="fr-FR" b="1" dirty="0" smtClean="0">
                <a:latin typeface="Segoe UI" panose="020B0502040204020203" pitchFamily="34" charset="0"/>
                <a:cs typeface="Segoe UI" panose="020B0502040204020203" pitchFamily="34" charset="0"/>
              </a:rPr>
              <a:t>Brush</a:t>
            </a:r>
            <a:r>
              <a:rPr lang="fr-FR" dirty="0" smtClean="0">
                <a:latin typeface="Segoe UI" panose="020B0502040204020203" pitchFamily="34" charset="0"/>
                <a:cs typeface="Segoe UI" panose="020B0502040204020203" pitchFamily="34" charset="0"/>
              </a:rPr>
              <a:t> et </a:t>
            </a:r>
            <a:r>
              <a:rPr lang="fr-FR" b="1" dirty="0" smtClean="0">
                <a:latin typeface="Segoe UI" panose="020B0502040204020203" pitchFamily="34" charset="0"/>
                <a:cs typeface="Segoe UI" panose="020B0502040204020203" pitchFamily="34" charset="0"/>
              </a:rPr>
              <a:t>double</a:t>
            </a:r>
            <a:r>
              <a:rPr lang="fr-FR" dirty="0" smtClean="0">
                <a:latin typeface="Segoe UI" panose="020B0502040204020203" pitchFamily="34" charset="0"/>
                <a:cs typeface="Segoe UI" panose="020B0502040204020203" pitchFamily="34" charset="0"/>
              </a:rPr>
              <a:t> permettent</a:t>
            </a:r>
          </a:p>
          <a:p>
            <a:pPr>
              <a:lnSpc>
                <a:spcPct val="150000"/>
              </a:lnSpc>
              <a:spcBef>
                <a:spcPts val="1625"/>
              </a:spcBef>
              <a:buClr>
                <a:srgbClr val="006498"/>
              </a:buClr>
              <a:buSzPct val="61000"/>
            </a:pPr>
            <a:r>
              <a:rPr lang="fr-FR" dirty="0" smtClean="0">
                <a:latin typeface="Segoe UI" panose="020B0502040204020203" pitchFamily="34" charset="0"/>
                <a:cs typeface="Segoe UI" panose="020B0502040204020203" pitchFamily="34" charset="0"/>
              </a:rPr>
              <a:t>de définir le contour du border  </a:t>
            </a:r>
          </a:p>
        </p:txBody>
      </p:sp>
      <p:pic>
        <p:nvPicPr>
          <p:cNvPr id="4" name="Image 3"/>
          <p:cNvPicPr>
            <a:picLocks noChangeAspect="1"/>
          </p:cNvPicPr>
          <p:nvPr/>
        </p:nvPicPr>
        <p:blipFill>
          <a:blip r:embed="rId2"/>
          <a:stretch>
            <a:fillRect/>
          </a:stretch>
        </p:blipFill>
        <p:spPr>
          <a:xfrm>
            <a:off x="6095997" y="-3164750"/>
            <a:ext cx="5" cy="13187500"/>
          </a:xfrm>
          <a:prstGeom prst="rect">
            <a:avLst/>
          </a:prstGeom>
        </p:spPr>
      </p:pic>
      <p:sp>
        <p:nvSpPr>
          <p:cNvPr id="3" name="Rectangle 2"/>
          <p:cNvSpPr/>
          <p:nvPr/>
        </p:nvSpPr>
        <p:spPr>
          <a:xfrm>
            <a:off x="468301" y="2409438"/>
            <a:ext cx="4697150" cy="646331"/>
          </a:xfrm>
          <a:prstGeom prst="rect">
            <a:avLst/>
          </a:prstGeom>
        </p:spPr>
        <p:txBody>
          <a:bodyPr wrap="square">
            <a:spAutoFit/>
          </a:bodyPr>
          <a:lstStyle/>
          <a:p>
            <a:r>
              <a:rPr lang="fr-FR" dirty="0">
                <a:solidFill>
                  <a:srgbClr val="0000FF"/>
                </a:solidFill>
                <a:latin typeface="Cascadia Mono" panose="020B0609020000020004" pitchFamily="49" charset="0"/>
              </a:rPr>
              <a:t>&lt;</a:t>
            </a:r>
            <a:r>
              <a:rPr lang="fr-FR" dirty="0">
                <a:solidFill>
                  <a:srgbClr val="A31515"/>
                </a:solidFill>
                <a:latin typeface="Cascadia Mono" panose="020B0609020000020004" pitchFamily="49" charset="0"/>
              </a:rPr>
              <a:t>Border</a:t>
            </a:r>
            <a:r>
              <a:rPr lang="fr-FR" dirty="0">
                <a:solidFill>
                  <a:srgbClr val="FF0000"/>
                </a:solidFill>
                <a:latin typeface="Cascadia Mono" panose="020B0609020000020004" pitchFamily="49" charset="0"/>
              </a:rPr>
              <a:t> </a:t>
            </a:r>
            <a:r>
              <a:rPr lang="fr-FR" dirty="0" err="1">
                <a:solidFill>
                  <a:srgbClr val="FF0000"/>
                </a:solidFill>
                <a:latin typeface="Cascadia Mono" panose="020B0609020000020004" pitchFamily="49" charset="0"/>
              </a:rPr>
              <a:t>Margin</a:t>
            </a:r>
            <a:r>
              <a:rPr lang="fr-FR" dirty="0">
                <a:solidFill>
                  <a:srgbClr val="0000FF"/>
                </a:solidFill>
                <a:latin typeface="Cascadia Mono" panose="020B0609020000020004" pitchFamily="49" charset="0"/>
              </a:rPr>
              <a:t>="20"</a:t>
            </a:r>
            <a:r>
              <a:rPr lang="fr-FR" dirty="0">
                <a:solidFill>
                  <a:srgbClr val="FF0000"/>
                </a:solidFill>
                <a:latin typeface="Cascadia Mono" panose="020B0609020000020004" pitchFamily="49" charset="0"/>
              </a:rPr>
              <a:t> Stroke</a:t>
            </a:r>
            <a:r>
              <a:rPr lang="fr-FR" dirty="0">
                <a:solidFill>
                  <a:srgbClr val="0000FF"/>
                </a:solidFill>
                <a:latin typeface="Cascadia Mono" panose="020B0609020000020004" pitchFamily="49" charset="0"/>
              </a:rPr>
              <a:t>="Red"</a:t>
            </a:r>
            <a:r>
              <a:rPr lang="fr-FR" dirty="0">
                <a:solidFill>
                  <a:srgbClr val="FF0000"/>
                </a:solidFill>
                <a:latin typeface="Cascadia Mono" panose="020B0609020000020004" pitchFamily="49" charset="0"/>
              </a:rPr>
              <a:t> </a:t>
            </a:r>
            <a:r>
              <a:rPr lang="fr-FR" dirty="0" err="1">
                <a:solidFill>
                  <a:srgbClr val="FF0000"/>
                </a:solidFill>
                <a:latin typeface="Cascadia Mono" panose="020B0609020000020004" pitchFamily="49" charset="0"/>
              </a:rPr>
              <a:t>StrokeThickness</a:t>
            </a:r>
            <a:r>
              <a:rPr lang="fr-FR" dirty="0">
                <a:solidFill>
                  <a:srgbClr val="0000FF"/>
                </a:solidFill>
                <a:latin typeface="Cascadia Mono" panose="020B0609020000020004" pitchFamily="49" charset="0"/>
              </a:rPr>
              <a:t>="3" /&gt;</a:t>
            </a:r>
            <a:endParaRPr lang="fr-FR" dirty="0"/>
          </a:p>
        </p:txBody>
      </p:sp>
      <p:pic>
        <p:nvPicPr>
          <p:cNvPr id="5" name="Image 4"/>
          <p:cNvPicPr>
            <a:picLocks noChangeAspect="1"/>
          </p:cNvPicPr>
          <p:nvPr/>
        </p:nvPicPr>
        <p:blipFill>
          <a:blip r:embed="rId3"/>
          <a:stretch>
            <a:fillRect/>
          </a:stretch>
        </p:blipFill>
        <p:spPr>
          <a:xfrm>
            <a:off x="8984078" y="1756133"/>
            <a:ext cx="2026203" cy="4525866"/>
          </a:xfrm>
          <a:prstGeom prst="rect">
            <a:avLst/>
          </a:prstGeom>
        </p:spPr>
      </p:pic>
    </p:spTree>
    <p:extLst>
      <p:ext uri="{BB962C8B-B14F-4D97-AF65-F5344CB8AC3E}">
        <p14:creationId xmlns:p14="http://schemas.microsoft.com/office/powerpoint/2010/main" val="9144973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8"/>
          <p:cNvSpPr txBox="1">
            <a:spLocks noChangeArrowheads="1"/>
          </p:cNvSpPr>
          <p:nvPr/>
        </p:nvSpPr>
        <p:spPr bwMode="auto">
          <a:xfrm>
            <a:off x="251168" y="617099"/>
            <a:ext cx="8123768" cy="1579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152400">
              <a:tabLst>
                <a:tab pos="5992813" algn="l"/>
              </a:tabLst>
              <a:defRPr>
                <a:solidFill>
                  <a:schemeClr val="tx1"/>
                </a:solidFill>
                <a:latin typeface="Calibri" panose="020F0502020204030204" pitchFamily="34" charset="0"/>
                <a:cs typeface="Arial" panose="020B0604020202020204" pitchFamily="34" charset="0"/>
              </a:defRPr>
            </a:lvl1pPr>
            <a:lvl2pPr marL="579438" indent="-242888">
              <a:tabLst>
                <a:tab pos="5992813" algn="l"/>
              </a:tabLst>
              <a:defRPr>
                <a:solidFill>
                  <a:schemeClr val="tx1"/>
                </a:solidFill>
                <a:latin typeface="Calibri" panose="020F0502020204030204" pitchFamily="34" charset="0"/>
                <a:cs typeface="Arial" panose="020B0604020202020204" pitchFamily="34" charset="0"/>
              </a:defRPr>
            </a:lvl2pPr>
            <a:lvl3pPr marL="1143000" indent="-228600">
              <a:tabLst>
                <a:tab pos="5992813" algn="l"/>
              </a:tabLst>
              <a:defRPr>
                <a:solidFill>
                  <a:schemeClr val="tx1"/>
                </a:solidFill>
                <a:latin typeface="Calibri" panose="020F0502020204030204" pitchFamily="34" charset="0"/>
                <a:cs typeface="Arial" panose="020B0604020202020204" pitchFamily="34" charset="0"/>
              </a:defRPr>
            </a:lvl3pPr>
            <a:lvl4pPr marL="1600200" indent="-228600">
              <a:tabLst>
                <a:tab pos="5992813" algn="l"/>
              </a:tabLst>
              <a:defRPr>
                <a:solidFill>
                  <a:schemeClr val="tx1"/>
                </a:solidFill>
                <a:latin typeface="Calibri" panose="020F0502020204030204" pitchFamily="34" charset="0"/>
                <a:cs typeface="Arial" panose="020B0604020202020204" pitchFamily="34" charset="0"/>
              </a:defRPr>
            </a:lvl4pPr>
            <a:lvl5pPr marL="2057400" indent="-228600">
              <a:tabLst>
                <a:tab pos="5992813" algn="l"/>
              </a:tabLst>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2200" u="sng" dirty="0">
                <a:latin typeface="Segoe UI Symbol" panose="020B0502040204020203" pitchFamily="34" charset="0"/>
              </a:rPr>
              <a:t>L</a:t>
            </a:r>
            <a:r>
              <a:rPr lang="en-US" altLang="en-US" sz="2200" u="sng" dirty="0" smtClean="0">
                <a:latin typeface="Segoe UI Symbol" panose="020B0502040204020203" pitchFamily="34" charset="0"/>
              </a:rPr>
              <a:t>es </a:t>
            </a:r>
            <a:r>
              <a:rPr lang="fr-FR" altLang="en-US" sz="2200" u="sng" dirty="0" smtClean="0">
                <a:latin typeface="Segoe UI Symbol" panose="020B0502040204020203" pitchFamily="34" charset="0"/>
              </a:rPr>
              <a:t>contrôles de présentation</a:t>
            </a:r>
            <a:r>
              <a:rPr lang="en-US" altLang="en-US" sz="2200" u="sng" dirty="0" smtClean="0">
                <a:latin typeface="Segoe UI Symbol" panose="020B0502040204020203" pitchFamily="34" charset="0"/>
              </a:rPr>
              <a:t>-Border</a:t>
            </a:r>
            <a:endParaRPr lang="fr-FR" altLang="en-US" sz="2200" dirty="0" smtClean="0">
              <a:latin typeface="Times New Roman" panose="02020603050405020304" pitchFamily="18" charset="0"/>
              <a:cs typeface="Times New Roman" panose="02020603050405020304" pitchFamily="18" charset="0"/>
            </a:endParaRPr>
          </a:p>
          <a:p>
            <a:pPr>
              <a:lnSpc>
                <a:spcPct val="150000"/>
              </a:lnSpc>
              <a:spcBef>
                <a:spcPts val="1625"/>
              </a:spcBef>
              <a:buClr>
                <a:srgbClr val="006498"/>
              </a:buClr>
              <a:buSzPct val="61000"/>
              <a:buFont typeface="Wingdings" panose="05000000000000000000" pitchFamily="2" charset="2"/>
              <a:buChar char=""/>
            </a:pPr>
            <a:r>
              <a:rPr lang="fr-FR" dirty="0" smtClean="0">
                <a:latin typeface="Segoe UI" panose="020B0502040204020203" pitchFamily="34" charset="0"/>
                <a:cs typeface="Segoe UI" panose="020B0502040204020203" pitchFamily="34" charset="0"/>
              </a:rPr>
              <a:t>La propriété</a:t>
            </a:r>
            <a:r>
              <a:rPr lang="fr-FR" b="1" dirty="0" smtClean="0">
                <a:latin typeface="Segoe UI" panose="020B0502040204020203" pitchFamily="34" charset="0"/>
                <a:cs typeface="Segoe UI" panose="020B0502040204020203" pitchFamily="34" charset="0"/>
              </a:rPr>
              <a:t> </a:t>
            </a:r>
            <a:r>
              <a:rPr lang="fr-FR" b="1" dirty="0" err="1" smtClean="0">
                <a:latin typeface="Segoe UI" panose="020B0502040204020203" pitchFamily="34" charset="0"/>
                <a:cs typeface="Segoe UI" panose="020B0502040204020203" pitchFamily="34" charset="0"/>
              </a:rPr>
              <a:t>StrokeThickness</a:t>
            </a:r>
            <a:r>
              <a:rPr lang="fr-FR" b="1" dirty="0" smtClean="0">
                <a:latin typeface="Segoe UI" panose="020B0502040204020203" pitchFamily="34" charset="0"/>
                <a:cs typeface="Segoe UI" panose="020B0502040204020203" pitchFamily="34" charset="0"/>
              </a:rPr>
              <a:t> </a:t>
            </a:r>
            <a:r>
              <a:rPr lang="fr-FR" dirty="0" smtClean="0">
                <a:latin typeface="Segoe UI" panose="020B0502040204020203" pitchFamily="34" charset="0"/>
                <a:cs typeface="Segoe UI" panose="020B0502040204020203" pitchFamily="34" charset="0"/>
              </a:rPr>
              <a:t>et </a:t>
            </a:r>
            <a:r>
              <a:rPr lang="fr-FR" b="1" dirty="0" err="1" smtClean="0">
                <a:latin typeface="Segoe UI" panose="020B0502040204020203" pitchFamily="34" charset="0"/>
                <a:cs typeface="Segoe UI" panose="020B0502040204020203" pitchFamily="34" charset="0"/>
              </a:rPr>
              <a:t>StrokeDashOffset</a:t>
            </a:r>
            <a:r>
              <a:rPr lang="fr-FR" b="1" dirty="0" smtClean="0">
                <a:latin typeface="Segoe UI" panose="020B0502040204020203" pitchFamily="34" charset="0"/>
                <a:cs typeface="Segoe UI" panose="020B0502040204020203" pitchFamily="34" charset="0"/>
              </a:rPr>
              <a:t> </a:t>
            </a:r>
            <a:r>
              <a:rPr lang="fr-FR" dirty="0" smtClean="0">
                <a:latin typeface="Segoe UI" panose="020B0502040204020203" pitchFamily="34" charset="0"/>
                <a:cs typeface="Segoe UI" panose="020B0502040204020203" pitchFamily="34" charset="0"/>
              </a:rPr>
              <a:t>de type</a:t>
            </a:r>
          </a:p>
          <a:p>
            <a:pPr>
              <a:lnSpc>
                <a:spcPct val="150000"/>
              </a:lnSpc>
              <a:spcBef>
                <a:spcPts val="1625"/>
              </a:spcBef>
              <a:buClr>
                <a:srgbClr val="006498"/>
              </a:buClr>
              <a:buSzPct val="61000"/>
            </a:pPr>
            <a:r>
              <a:rPr lang="fr-FR" b="1" dirty="0" smtClean="0">
                <a:latin typeface="Segoe UI" panose="020B0502040204020203" pitchFamily="34" charset="0"/>
                <a:cs typeface="Segoe UI" panose="020B0502040204020203" pitchFamily="34" charset="0"/>
              </a:rPr>
              <a:t> </a:t>
            </a:r>
            <a:r>
              <a:rPr lang="fr-FR" dirty="0" smtClean="0">
                <a:latin typeface="Segoe UI" panose="020B0502040204020203" pitchFamily="34" charset="0"/>
                <a:cs typeface="Segoe UI" panose="020B0502040204020203" pitchFamily="34" charset="0"/>
              </a:rPr>
              <a:t>double</a:t>
            </a:r>
            <a:r>
              <a:rPr lang="fr-FR" b="1" dirty="0" smtClean="0">
                <a:latin typeface="Segoe UI" panose="020B0502040204020203" pitchFamily="34" charset="0"/>
                <a:cs typeface="Segoe UI" panose="020B0502040204020203" pitchFamily="34" charset="0"/>
              </a:rPr>
              <a:t> </a:t>
            </a:r>
            <a:r>
              <a:rPr lang="fr-FR" dirty="0" smtClean="0">
                <a:latin typeface="Segoe UI" panose="020B0502040204020203" pitchFamily="34" charset="0"/>
                <a:cs typeface="Segoe UI" panose="020B0502040204020203" pitchFamily="34" charset="0"/>
              </a:rPr>
              <a:t>permettent de définir les lignes interrompus </a:t>
            </a:r>
          </a:p>
        </p:txBody>
      </p:sp>
      <p:pic>
        <p:nvPicPr>
          <p:cNvPr id="4" name="Image 3"/>
          <p:cNvPicPr>
            <a:picLocks noChangeAspect="1"/>
          </p:cNvPicPr>
          <p:nvPr/>
        </p:nvPicPr>
        <p:blipFill>
          <a:blip r:embed="rId2"/>
          <a:stretch>
            <a:fillRect/>
          </a:stretch>
        </p:blipFill>
        <p:spPr>
          <a:xfrm>
            <a:off x="6095997" y="-3164750"/>
            <a:ext cx="5" cy="13187500"/>
          </a:xfrm>
          <a:prstGeom prst="rect">
            <a:avLst/>
          </a:prstGeom>
        </p:spPr>
      </p:pic>
      <p:sp>
        <p:nvSpPr>
          <p:cNvPr id="10" name="Rectangle 9"/>
          <p:cNvSpPr/>
          <p:nvPr/>
        </p:nvSpPr>
        <p:spPr>
          <a:xfrm>
            <a:off x="413801" y="2492184"/>
            <a:ext cx="6096000" cy="1569660"/>
          </a:xfrm>
          <a:prstGeom prst="rect">
            <a:avLst/>
          </a:prstGeom>
        </p:spPr>
        <p:txBody>
          <a:bodyPr>
            <a:spAutoFit/>
          </a:bodyPr>
          <a:lstStyle/>
          <a:p>
            <a:r>
              <a:rPr lang="fr-FR" sz="1600" dirty="0" smtClean="0">
                <a:solidFill>
                  <a:srgbClr val="0000FF"/>
                </a:solidFill>
                <a:latin typeface="Cascadia Mono" panose="020B0609020000020004" pitchFamily="49" charset="0"/>
              </a:rPr>
              <a:t>&lt;</a:t>
            </a:r>
            <a:r>
              <a:rPr lang="fr-FR" sz="1600" dirty="0">
                <a:solidFill>
                  <a:srgbClr val="A31515"/>
                </a:solidFill>
                <a:latin typeface="Cascadia Mono" panose="020B0609020000020004" pitchFamily="49" charset="0"/>
              </a:rPr>
              <a:t>Border</a:t>
            </a:r>
            <a:r>
              <a:rPr lang="fr-FR" sz="1600" dirty="0">
                <a:solidFill>
                  <a:srgbClr val="FF0000"/>
                </a:solidFill>
                <a:latin typeface="Cascadia Mono" panose="020B0609020000020004" pitchFamily="49" charset="0"/>
              </a:rPr>
              <a:t> </a:t>
            </a:r>
            <a:r>
              <a:rPr lang="fr-FR" sz="1600" dirty="0" err="1">
                <a:solidFill>
                  <a:srgbClr val="FF0000"/>
                </a:solidFill>
                <a:latin typeface="Cascadia Mono" panose="020B0609020000020004" pitchFamily="49" charset="0"/>
              </a:rPr>
              <a:t>Margin</a:t>
            </a:r>
            <a:r>
              <a:rPr lang="fr-FR" sz="1600" dirty="0">
                <a:solidFill>
                  <a:srgbClr val="0000FF"/>
                </a:solidFill>
                <a:latin typeface="Cascadia Mono" panose="020B0609020000020004" pitchFamily="49" charset="0"/>
              </a:rPr>
              <a:t>="20"</a:t>
            </a:r>
            <a:r>
              <a:rPr lang="fr-FR" sz="1600" dirty="0">
                <a:solidFill>
                  <a:srgbClr val="FF0000"/>
                </a:solidFill>
                <a:latin typeface="Cascadia Mono" panose="020B0609020000020004" pitchFamily="49" charset="0"/>
              </a:rPr>
              <a:t> Stroke</a:t>
            </a:r>
            <a:r>
              <a:rPr lang="fr-FR" sz="1600" dirty="0">
                <a:solidFill>
                  <a:srgbClr val="0000FF"/>
                </a:solidFill>
                <a:latin typeface="Cascadia Mono" panose="020B0609020000020004" pitchFamily="49" charset="0"/>
              </a:rPr>
              <a:t>="Red"</a:t>
            </a:r>
            <a:r>
              <a:rPr lang="fr-FR" sz="1600" dirty="0">
                <a:solidFill>
                  <a:srgbClr val="000000"/>
                </a:solidFill>
                <a:latin typeface="Cascadia Mono" panose="020B0609020000020004" pitchFamily="49" charset="0"/>
              </a:rPr>
              <a:t> </a:t>
            </a:r>
          </a:p>
          <a:p>
            <a:r>
              <a:rPr lang="fr-FR" sz="1600" dirty="0">
                <a:solidFill>
                  <a:srgbClr val="000000"/>
                </a:solidFill>
                <a:latin typeface="Cascadia Mono" panose="020B0609020000020004" pitchFamily="49" charset="0"/>
              </a:rPr>
              <a:t>               </a:t>
            </a:r>
            <a:r>
              <a:rPr lang="fr-FR" sz="1600" dirty="0">
                <a:solidFill>
                  <a:srgbClr val="FF0000"/>
                </a:solidFill>
                <a:latin typeface="Cascadia Mono" panose="020B0609020000020004" pitchFamily="49" charset="0"/>
              </a:rPr>
              <a:t> </a:t>
            </a:r>
            <a:r>
              <a:rPr lang="fr-FR" sz="1600" dirty="0" err="1">
                <a:solidFill>
                  <a:srgbClr val="FF0000"/>
                </a:solidFill>
                <a:latin typeface="Cascadia Mono" panose="020B0609020000020004" pitchFamily="49" charset="0"/>
              </a:rPr>
              <a:t>StrokeThickness</a:t>
            </a:r>
            <a:r>
              <a:rPr lang="fr-FR" sz="1600" dirty="0">
                <a:solidFill>
                  <a:srgbClr val="0000FF"/>
                </a:solidFill>
                <a:latin typeface="Cascadia Mono" panose="020B0609020000020004" pitchFamily="49" charset="0"/>
              </a:rPr>
              <a:t>="4"</a:t>
            </a:r>
            <a:endParaRPr lang="fr-FR" sz="1600" dirty="0">
              <a:solidFill>
                <a:srgbClr val="000000"/>
              </a:solidFill>
              <a:latin typeface="Cascadia Mono" panose="020B0609020000020004" pitchFamily="49" charset="0"/>
            </a:endParaRPr>
          </a:p>
          <a:p>
            <a:r>
              <a:rPr lang="fr-FR" sz="1600" dirty="0">
                <a:solidFill>
                  <a:srgbClr val="000000"/>
                </a:solidFill>
                <a:latin typeface="Cascadia Mono" panose="020B0609020000020004" pitchFamily="49" charset="0"/>
              </a:rPr>
              <a:t>               </a:t>
            </a:r>
            <a:r>
              <a:rPr lang="fr-FR" sz="1600" dirty="0">
                <a:solidFill>
                  <a:srgbClr val="FF0000"/>
                </a:solidFill>
                <a:latin typeface="Cascadia Mono" panose="020B0609020000020004" pitchFamily="49" charset="0"/>
              </a:rPr>
              <a:t> </a:t>
            </a:r>
            <a:r>
              <a:rPr lang="fr-FR" sz="1600" dirty="0" err="1">
                <a:solidFill>
                  <a:srgbClr val="FF0000"/>
                </a:solidFill>
                <a:latin typeface="Cascadia Mono" panose="020B0609020000020004" pitchFamily="49" charset="0"/>
              </a:rPr>
              <a:t>StrokeDashOffset</a:t>
            </a:r>
            <a:r>
              <a:rPr lang="fr-FR" sz="1600" dirty="0">
                <a:solidFill>
                  <a:srgbClr val="0000FF"/>
                </a:solidFill>
                <a:latin typeface="Cascadia Mono" panose="020B0609020000020004" pitchFamily="49" charset="0"/>
              </a:rPr>
              <a:t>="6"</a:t>
            </a:r>
            <a:endParaRPr lang="fr-FR" sz="1600" dirty="0">
              <a:solidFill>
                <a:srgbClr val="000000"/>
              </a:solidFill>
              <a:latin typeface="Cascadia Mono" panose="020B0609020000020004" pitchFamily="49" charset="0"/>
            </a:endParaRPr>
          </a:p>
          <a:p>
            <a:r>
              <a:rPr lang="fr-FR" sz="1600" dirty="0">
                <a:solidFill>
                  <a:srgbClr val="000000"/>
                </a:solidFill>
                <a:latin typeface="Cascadia Mono" panose="020B0609020000020004" pitchFamily="49" charset="0"/>
              </a:rPr>
              <a:t>               </a:t>
            </a:r>
            <a:r>
              <a:rPr lang="fr-FR" sz="1600" dirty="0">
                <a:solidFill>
                  <a:srgbClr val="FF0000"/>
                </a:solidFill>
                <a:latin typeface="Cascadia Mono" panose="020B0609020000020004" pitchFamily="49" charset="0"/>
              </a:rPr>
              <a:t> </a:t>
            </a:r>
            <a:r>
              <a:rPr lang="fr-FR" sz="1600" dirty="0" err="1">
                <a:solidFill>
                  <a:srgbClr val="FF0000"/>
                </a:solidFill>
                <a:latin typeface="Cascadia Mono" panose="020B0609020000020004" pitchFamily="49" charset="0"/>
              </a:rPr>
              <a:t>StrokeDashArray</a:t>
            </a:r>
            <a:r>
              <a:rPr lang="fr-FR" sz="1600" dirty="0">
                <a:solidFill>
                  <a:srgbClr val="0000FF"/>
                </a:solidFill>
                <a:latin typeface="Cascadia Mono" panose="020B0609020000020004" pitchFamily="49" charset="0"/>
              </a:rPr>
              <a:t>="5,3"&gt;</a:t>
            </a:r>
            <a:endParaRPr lang="fr-FR" sz="1600" dirty="0">
              <a:solidFill>
                <a:srgbClr val="000000"/>
              </a:solidFill>
              <a:latin typeface="Cascadia Mono" panose="020B0609020000020004" pitchFamily="49" charset="0"/>
            </a:endParaRPr>
          </a:p>
          <a:p>
            <a:r>
              <a:rPr lang="fr-FR" sz="1600" dirty="0">
                <a:solidFill>
                  <a:srgbClr val="000000"/>
                </a:solidFill>
                <a:latin typeface="Cascadia Mono" panose="020B0609020000020004" pitchFamily="49" charset="0"/>
              </a:rPr>
              <a:t>           </a:t>
            </a:r>
          </a:p>
          <a:p>
            <a:r>
              <a:rPr lang="fr-FR" sz="1600" dirty="0" smtClean="0">
                <a:solidFill>
                  <a:srgbClr val="0000FF"/>
                </a:solidFill>
                <a:latin typeface="Cascadia Mono" panose="020B0609020000020004" pitchFamily="49" charset="0"/>
              </a:rPr>
              <a:t>&lt;/</a:t>
            </a:r>
            <a:r>
              <a:rPr lang="fr-FR" sz="1600" dirty="0">
                <a:solidFill>
                  <a:srgbClr val="A31515"/>
                </a:solidFill>
                <a:latin typeface="Cascadia Mono" panose="020B0609020000020004" pitchFamily="49" charset="0"/>
              </a:rPr>
              <a:t>Border</a:t>
            </a:r>
            <a:r>
              <a:rPr lang="fr-FR" sz="1600" dirty="0">
                <a:solidFill>
                  <a:srgbClr val="0000FF"/>
                </a:solidFill>
                <a:latin typeface="Cascadia Mono" panose="020B0609020000020004" pitchFamily="49" charset="0"/>
              </a:rPr>
              <a:t>&gt;</a:t>
            </a:r>
            <a:endParaRPr lang="fr-FR" sz="1600" dirty="0"/>
          </a:p>
        </p:txBody>
      </p:sp>
      <p:pic>
        <p:nvPicPr>
          <p:cNvPr id="11" name="Image 10"/>
          <p:cNvPicPr>
            <a:picLocks noChangeAspect="1"/>
          </p:cNvPicPr>
          <p:nvPr/>
        </p:nvPicPr>
        <p:blipFill>
          <a:blip r:embed="rId3"/>
          <a:stretch>
            <a:fillRect/>
          </a:stretch>
        </p:blipFill>
        <p:spPr>
          <a:xfrm>
            <a:off x="8908258" y="1580519"/>
            <a:ext cx="2136160" cy="4805014"/>
          </a:xfrm>
          <a:prstGeom prst="rect">
            <a:avLst/>
          </a:prstGeom>
        </p:spPr>
      </p:pic>
    </p:spTree>
    <p:extLst>
      <p:ext uri="{BB962C8B-B14F-4D97-AF65-F5344CB8AC3E}">
        <p14:creationId xmlns:p14="http://schemas.microsoft.com/office/powerpoint/2010/main" val="29950045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8"/>
          <p:cNvSpPr txBox="1">
            <a:spLocks noChangeArrowheads="1"/>
          </p:cNvSpPr>
          <p:nvPr/>
        </p:nvSpPr>
        <p:spPr bwMode="auto">
          <a:xfrm>
            <a:off x="251167" y="617099"/>
            <a:ext cx="7487927" cy="4898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152400">
              <a:tabLst>
                <a:tab pos="5992813" algn="l"/>
              </a:tabLst>
              <a:defRPr>
                <a:solidFill>
                  <a:schemeClr val="tx1"/>
                </a:solidFill>
                <a:latin typeface="Calibri" panose="020F0502020204030204" pitchFamily="34" charset="0"/>
                <a:cs typeface="Arial" panose="020B0604020202020204" pitchFamily="34" charset="0"/>
              </a:defRPr>
            </a:lvl1pPr>
            <a:lvl2pPr marL="579438" indent="-242888">
              <a:tabLst>
                <a:tab pos="5992813" algn="l"/>
              </a:tabLst>
              <a:defRPr>
                <a:solidFill>
                  <a:schemeClr val="tx1"/>
                </a:solidFill>
                <a:latin typeface="Calibri" panose="020F0502020204030204" pitchFamily="34" charset="0"/>
                <a:cs typeface="Arial" panose="020B0604020202020204" pitchFamily="34" charset="0"/>
              </a:defRPr>
            </a:lvl2pPr>
            <a:lvl3pPr marL="1143000" indent="-228600">
              <a:tabLst>
                <a:tab pos="5992813" algn="l"/>
              </a:tabLst>
              <a:defRPr>
                <a:solidFill>
                  <a:schemeClr val="tx1"/>
                </a:solidFill>
                <a:latin typeface="Calibri" panose="020F0502020204030204" pitchFamily="34" charset="0"/>
                <a:cs typeface="Arial" panose="020B0604020202020204" pitchFamily="34" charset="0"/>
              </a:defRPr>
            </a:lvl3pPr>
            <a:lvl4pPr marL="1600200" indent="-228600">
              <a:tabLst>
                <a:tab pos="5992813" algn="l"/>
              </a:tabLst>
              <a:defRPr>
                <a:solidFill>
                  <a:schemeClr val="tx1"/>
                </a:solidFill>
                <a:latin typeface="Calibri" panose="020F0502020204030204" pitchFamily="34" charset="0"/>
                <a:cs typeface="Arial" panose="020B0604020202020204" pitchFamily="34" charset="0"/>
              </a:defRPr>
            </a:lvl4pPr>
            <a:lvl5pPr marL="2057400" indent="-228600">
              <a:tabLst>
                <a:tab pos="5992813" algn="l"/>
              </a:tabLst>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2200" u="sng" dirty="0">
                <a:latin typeface="Segoe UI Symbol" panose="020B0502040204020203" pitchFamily="34" charset="0"/>
              </a:rPr>
              <a:t>L</a:t>
            </a:r>
            <a:r>
              <a:rPr lang="en-US" altLang="en-US" sz="2200" u="sng" dirty="0" smtClean="0">
                <a:latin typeface="Segoe UI Symbol" panose="020B0502040204020203" pitchFamily="34" charset="0"/>
              </a:rPr>
              <a:t>es </a:t>
            </a:r>
            <a:r>
              <a:rPr lang="fr-FR" altLang="en-US" sz="2200" u="sng" dirty="0" smtClean="0">
                <a:latin typeface="Segoe UI Symbol" panose="020B0502040204020203" pitchFamily="34" charset="0"/>
              </a:rPr>
              <a:t>contrôles de présentation-Image</a:t>
            </a:r>
            <a:endParaRPr lang="fr-FR" altLang="en-US" sz="2200" dirty="0" smtClean="0">
              <a:latin typeface="Times New Roman" panose="02020603050405020304" pitchFamily="18" charset="0"/>
              <a:cs typeface="Times New Roman" panose="02020603050405020304" pitchFamily="18" charset="0"/>
            </a:endParaRPr>
          </a:p>
          <a:p>
            <a:pPr>
              <a:lnSpc>
                <a:spcPct val="150000"/>
              </a:lnSpc>
              <a:spcBef>
                <a:spcPts val="1625"/>
              </a:spcBef>
              <a:buClr>
                <a:srgbClr val="006498"/>
              </a:buClr>
              <a:buSzPct val="61000"/>
              <a:buFont typeface="Wingdings" panose="05000000000000000000" pitchFamily="2" charset="2"/>
              <a:buChar char=""/>
            </a:pPr>
            <a:r>
              <a:rPr lang="fr-FR" dirty="0" smtClean="0">
                <a:latin typeface="Segoe UI" panose="020B0502040204020203" pitchFamily="34" charset="0"/>
                <a:cs typeface="Segoe UI" panose="020B0502040204020203" pitchFamily="34" charset="0"/>
              </a:rPr>
              <a:t> L’ </a:t>
            </a:r>
            <a:r>
              <a:rPr lang="fr-FR" b="1" dirty="0" smtClean="0">
                <a:latin typeface="Segoe UI" panose="020B0502040204020203" pitchFamily="34" charset="0"/>
                <a:cs typeface="Segoe UI" panose="020B0502040204020203" pitchFamily="34" charset="0"/>
              </a:rPr>
              <a:t>Image </a:t>
            </a:r>
            <a:r>
              <a:rPr lang="fr-FR" dirty="0" smtClean="0">
                <a:latin typeface="Segoe UI" panose="020B0502040204020203" pitchFamily="34" charset="0"/>
                <a:cs typeface="Segoe UI" panose="020B0502040204020203" pitchFamily="34" charset="0"/>
              </a:rPr>
              <a:t>affiche </a:t>
            </a:r>
            <a:r>
              <a:rPr lang="fr-FR" dirty="0">
                <a:latin typeface="Segoe UI" panose="020B0502040204020203" pitchFamily="34" charset="0"/>
                <a:cs typeface="Segoe UI" panose="020B0502040204020203" pitchFamily="34" charset="0"/>
              </a:rPr>
              <a:t>une image qui peut être chargée à partir d’un fichier local, d’un URI ou d’un </a:t>
            </a:r>
            <a:r>
              <a:rPr lang="fr-FR" dirty="0" smtClean="0">
                <a:latin typeface="Segoe UI" panose="020B0502040204020203" pitchFamily="34" charset="0"/>
                <a:cs typeface="Segoe UI" panose="020B0502040204020203" pitchFamily="34" charset="0"/>
              </a:rPr>
              <a:t>flux, les deux principaux formats utilisés sont </a:t>
            </a:r>
            <a:r>
              <a:rPr lang="fr-FR" b="1" dirty="0" err="1" smtClean="0">
                <a:latin typeface="Segoe UI" panose="020B0502040204020203" pitchFamily="34" charset="0"/>
                <a:cs typeface="Segoe UI" panose="020B0502040204020203" pitchFamily="34" charset="0"/>
              </a:rPr>
              <a:t>svg</a:t>
            </a:r>
            <a:r>
              <a:rPr lang="fr-FR" dirty="0" smtClean="0">
                <a:latin typeface="Segoe UI" panose="020B0502040204020203" pitchFamily="34" charset="0"/>
                <a:cs typeface="Segoe UI" panose="020B0502040204020203" pitchFamily="34" charset="0"/>
              </a:rPr>
              <a:t> et </a:t>
            </a:r>
            <a:r>
              <a:rPr lang="fr-FR" b="1" dirty="0" err="1" smtClean="0">
                <a:latin typeface="Segoe UI" panose="020B0502040204020203" pitchFamily="34" charset="0"/>
                <a:cs typeface="Segoe UI" panose="020B0502040204020203" pitchFamily="34" charset="0"/>
              </a:rPr>
              <a:t>png</a:t>
            </a:r>
            <a:endParaRPr lang="fr-FR" b="1" dirty="0" smtClean="0">
              <a:latin typeface="Segoe UI" panose="020B0502040204020203" pitchFamily="34" charset="0"/>
              <a:cs typeface="Segoe UI" panose="020B0502040204020203" pitchFamily="34" charset="0"/>
            </a:endParaRPr>
          </a:p>
          <a:p>
            <a:pPr>
              <a:lnSpc>
                <a:spcPct val="150000"/>
              </a:lnSpc>
              <a:spcBef>
                <a:spcPts val="1625"/>
              </a:spcBef>
              <a:buClr>
                <a:srgbClr val="006498"/>
              </a:buClr>
              <a:buSzPct val="61000"/>
              <a:buFont typeface="Wingdings" panose="05000000000000000000" pitchFamily="2" charset="2"/>
              <a:buChar char=""/>
            </a:pPr>
            <a:r>
              <a:rPr lang="fr-FR" dirty="0" smtClean="0">
                <a:latin typeface="Segoe UI" panose="020B0502040204020203" pitchFamily="34" charset="0"/>
                <a:cs typeface="Segoe UI" panose="020B0502040204020203" pitchFamily="34" charset="0"/>
              </a:rPr>
              <a:t> La propriété </a:t>
            </a:r>
            <a:r>
              <a:rPr lang="fr-FR" b="1" dirty="0" err="1" smtClean="0">
                <a:latin typeface="Segoe UI" panose="020B0502040204020203" pitchFamily="34" charset="0"/>
                <a:cs typeface="Segoe UI" panose="020B0502040204020203" pitchFamily="34" charset="0"/>
              </a:rPr>
              <a:t>ImageSource</a:t>
            </a:r>
            <a:r>
              <a:rPr lang="fr-FR" dirty="0" smtClean="0">
                <a:latin typeface="Segoe UI" panose="020B0502040204020203" pitchFamily="34" charset="0"/>
                <a:cs typeface="Segoe UI" panose="020B0502040204020203" pitchFamily="34" charset="0"/>
              </a:rPr>
              <a:t> permet de définir la source d’image  </a:t>
            </a:r>
          </a:p>
          <a:p>
            <a:pPr>
              <a:lnSpc>
                <a:spcPct val="150000"/>
              </a:lnSpc>
              <a:spcBef>
                <a:spcPts val="1625"/>
              </a:spcBef>
              <a:buClr>
                <a:srgbClr val="006498"/>
              </a:buClr>
              <a:buSzPct val="61000"/>
              <a:buFont typeface="Wingdings" panose="05000000000000000000" pitchFamily="2" charset="2"/>
              <a:buChar char=""/>
            </a:pPr>
            <a:r>
              <a:rPr lang="fr-FR" dirty="0" smtClean="0">
                <a:latin typeface="Segoe UI" panose="020B0502040204020203" pitchFamily="34" charset="0"/>
                <a:cs typeface="Segoe UI" panose="020B0502040204020203" pitchFamily="34" charset="0"/>
              </a:rPr>
              <a:t> Les </a:t>
            </a:r>
            <a:r>
              <a:rPr lang="fr-FR" dirty="0">
                <a:latin typeface="Segoe UI" panose="020B0502040204020203" pitchFamily="34" charset="0"/>
                <a:cs typeface="Segoe UI" panose="020B0502040204020203" pitchFamily="34" charset="0"/>
              </a:rPr>
              <a:t>images s’affichent à leur résolution complète, sauf si la taille du </a:t>
            </a:r>
            <a:r>
              <a:rPr lang="fr-FR" b="1" dirty="0">
                <a:latin typeface="Segoe UI" panose="020B0502040204020203" pitchFamily="34" charset="0"/>
                <a:cs typeface="Segoe UI" panose="020B0502040204020203" pitchFamily="34" charset="0"/>
              </a:rPr>
              <a:t>Image</a:t>
            </a:r>
            <a:r>
              <a:rPr lang="fr-FR" dirty="0">
                <a:latin typeface="Segoe UI" panose="020B0502040204020203" pitchFamily="34" charset="0"/>
                <a:cs typeface="Segoe UI" panose="020B0502040204020203" pitchFamily="34" charset="0"/>
              </a:rPr>
              <a:t> est limitée par sa disposition, ou si la </a:t>
            </a:r>
            <a:r>
              <a:rPr lang="fr-FR" b="1" dirty="0" err="1">
                <a:latin typeface="Segoe UI" panose="020B0502040204020203" pitchFamily="34" charset="0"/>
                <a:cs typeface="Segoe UI" panose="020B0502040204020203" pitchFamily="34" charset="0"/>
              </a:rPr>
              <a:t>HeightRequest</a:t>
            </a:r>
            <a:r>
              <a:rPr lang="fr-FR" dirty="0">
                <a:latin typeface="Segoe UI" panose="020B0502040204020203" pitchFamily="34" charset="0"/>
                <a:cs typeface="Segoe UI" panose="020B0502040204020203" pitchFamily="34" charset="0"/>
              </a:rPr>
              <a:t> propriété ou </a:t>
            </a:r>
            <a:r>
              <a:rPr lang="fr-FR" b="1" dirty="0" err="1">
                <a:latin typeface="Segoe UI" panose="020B0502040204020203" pitchFamily="34" charset="0"/>
                <a:cs typeface="Segoe UI" panose="020B0502040204020203" pitchFamily="34" charset="0"/>
              </a:rPr>
              <a:t>WidthRequest</a:t>
            </a:r>
            <a:r>
              <a:rPr lang="fr-FR" dirty="0">
                <a:latin typeface="Segoe UI" panose="020B0502040204020203" pitchFamily="34" charset="0"/>
                <a:cs typeface="Segoe UI" panose="020B0502040204020203" pitchFamily="34" charset="0"/>
              </a:rPr>
              <a:t> du </a:t>
            </a:r>
            <a:r>
              <a:rPr lang="fr-FR" b="1" dirty="0">
                <a:latin typeface="Segoe UI" panose="020B0502040204020203" pitchFamily="34" charset="0"/>
                <a:cs typeface="Segoe UI" panose="020B0502040204020203" pitchFamily="34" charset="0"/>
              </a:rPr>
              <a:t>Image</a:t>
            </a:r>
            <a:r>
              <a:rPr lang="fr-FR" dirty="0">
                <a:latin typeface="Segoe UI" panose="020B0502040204020203" pitchFamily="34" charset="0"/>
                <a:cs typeface="Segoe UI" panose="020B0502040204020203" pitchFamily="34" charset="0"/>
              </a:rPr>
              <a:t> est </a:t>
            </a:r>
            <a:r>
              <a:rPr lang="fr-FR" dirty="0" smtClean="0">
                <a:latin typeface="Segoe UI" panose="020B0502040204020203" pitchFamily="34" charset="0"/>
                <a:cs typeface="Segoe UI" panose="020B0502040204020203" pitchFamily="34" charset="0"/>
              </a:rPr>
              <a:t>spécifiée</a:t>
            </a:r>
          </a:p>
          <a:p>
            <a:pPr>
              <a:lnSpc>
                <a:spcPct val="150000"/>
              </a:lnSpc>
              <a:spcBef>
                <a:spcPts val="1625"/>
              </a:spcBef>
              <a:buClr>
                <a:srgbClr val="006498"/>
              </a:buClr>
              <a:buSzPct val="61000"/>
              <a:buFont typeface="Wingdings" panose="05000000000000000000" pitchFamily="2" charset="2"/>
              <a:buChar char=""/>
            </a:pPr>
            <a:r>
              <a:rPr lang="fr-FR" dirty="0" smtClean="0">
                <a:latin typeface="Segoe UI" panose="020B0502040204020203" pitchFamily="34" charset="0"/>
                <a:cs typeface="Segoe UI" panose="020B0502040204020203" pitchFamily="34" charset="0"/>
              </a:rPr>
              <a:t> Les emplacements des images par défaut sont sous le dossier ressources </a:t>
            </a:r>
            <a:endParaRPr lang="fr-FR" b="1" dirty="0" smtClean="0">
              <a:latin typeface="Segoe UI" panose="020B0502040204020203" pitchFamily="34" charset="0"/>
              <a:cs typeface="Segoe UI" panose="020B0502040204020203" pitchFamily="34" charset="0"/>
            </a:endParaRPr>
          </a:p>
        </p:txBody>
      </p:sp>
      <p:pic>
        <p:nvPicPr>
          <p:cNvPr id="4" name="Image 3"/>
          <p:cNvPicPr>
            <a:picLocks noChangeAspect="1"/>
          </p:cNvPicPr>
          <p:nvPr/>
        </p:nvPicPr>
        <p:blipFill>
          <a:blip r:embed="rId2"/>
          <a:stretch>
            <a:fillRect/>
          </a:stretch>
        </p:blipFill>
        <p:spPr>
          <a:xfrm>
            <a:off x="6095997" y="-3164750"/>
            <a:ext cx="5" cy="13187500"/>
          </a:xfrm>
          <a:prstGeom prst="rect">
            <a:avLst/>
          </a:prstGeom>
        </p:spPr>
      </p:pic>
      <p:sp>
        <p:nvSpPr>
          <p:cNvPr id="3" name="Rectangle 2"/>
          <p:cNvSpPr/>
          <p:nvPr/>
        </p:nvSpPr>
        <p:spPr>
          <a:xfrm>
            <a:off x="500468" y="5587862"/>
            <a:ext cx="6436377" cy="338554"/>
          </a:xfrm>
          <a:prstGeom prst="rect">
            <a:avLst/>
          </a:prstGeom>
        </p:spPr>
        <p:txBody>
          <a:bodyPr wrap="none">
            <a:spAutoFit/>
          </a:bodyPr>
          <a:lstStyle/>
          <a:p>
            <a:r>
              <a:rPr lang="fr-FR" sz="1600" dirty="0">
                <a:solidFill>
                  <a:srgbClr val="0000FF"/>
                </a:solidFill>
                <a:latin typeface="Cascadia Mono" panose="020B0609020000020004" pitchFamily="49" charset="0"/>
              </a:rPr>
              <a:t>&lt;</a:t>
            </a:r>
            <a:r>
              <a:rPr lang="fr-FR" sz="1600" dirty="0">
                <a:solidFill>
                  <a:srgbClr val="A31515"/>
                </a:solidFill>
                <a:latin typeface="Cascadia Mono" panose="020B0609020000020004" pitchFamily="49" charset="0"/>
              </a:rPr>
              <a:t>Image</a:t>
            </a:r>
            <a:r>
              <a:rPr lang="fr-FR" sz="1600" dirty="0">
                <a:solidFill>
                  <a:srgbClr val="FF0000"/>
                </a:solidFill>
                <a:latin typeface="Cascadia Mono" panose="020B0609020000020004" pitchFamily="49" charset="0"/>
              </a:rPr>
              <a:t> Source</a:t>
            </a:r>
            <a:r>
              <a:rPr lang="fr-FR" sz="1600" dirty="0">
                <a:solidFill>
                  <a:srgbClr val="0000FF"/>
                </a:solidFill>
                <a:latin typeface="Cascadia Mono" panose="020B0609020000020004" pitchFamily="49" charset="0"/>
              </a:rPr>
              <a:t>="</a:t>
            </a:r>
            <a:r>
              <a:rPr lang="fr-FR" sz="1600" dirty="0" smtClean="0">
                <a:solidFill>
                  <a:srgbClr val="0000FF"/>
                </a:solidFill>
                <a:latin typeface="Cascadia Mono" panose="020B0609020000020004" pitchFamily="49" charset="0"/>
              </a:rPr>
              <a:t>dotnet_bot.png" </a:t>
            </a:r>
            <a:r>
              <a:rPr lang="fr-FR" sz="1600" smtClean="0">
                <a:solidFill>
                  <a:srgbClr val="FF0000"/>
                </a:solidFill>
                <a:latin typeface="Cascadia Mono" panose="020B0609020000020004" pitchFamily="49" charset="0"/>
              </a:rPr>
              <a:t>HeighRequest</a:t>
            </a:r>
            <a:r>
              <a:rPr lang="fr-FR" sz="1600" smtClean="0">
                <a:solidFill>
                  <a:srgbClr val="0000FF"/>
                </a:solidFill>
                <a:latin typeface="Cascadia Mono" panose="020B0609020000020004" pitchFamily="49" charset="0"/>
              </a:rPr>
              <a:t>="90</a:t>
            </a:r>
            <a:r>
              <a:rPr lang="fr-FR" sz="1600" dirty="0" smtClean="0">
                <a:solidFill>
                  <a:srgbClr val="0000FF"/>
                </a:solidFill>
                <a:latin typeface="Cascadia Mono" panose="020B0609020000020004" pitchFamily="49" charset="0"/>
              </a:rPr>
              <a:t>" /&gt;</a:t>
            </a:r>
            <a:endParaRPr lang="fr-FR" sz="1600" dirty="0"/>
          </a:p>
        </p:txBody>
      </p:sp>
      <p:pic>
        <p:nvPicPr>
          <p:cNvPr id="5" name="Image 4"/>
          <p:cNvPicPr>
            <a:picLocks noChangeAspect="1"/>
          </p:cNvPicPr>
          <p:nvPr/>
        </p:nvPicPr>
        <p:blipFill>
          <a:blip r:embed="rId3"/>
          <a:stretch>
            <a:fillRect/>
          </a:stretch>
        </p:blipFill>
        <p:spPr>
          <a:xfrm>
            <a:off x="8818737" y="1114236"/>
            <a:ext cx="2210690" cy="4949057"/>
          </a:xfrm>
          <a:prstGeom prst="rect">
            <a:avLst/>
          </a:prstGeom>
        </p:spPr>
      </p:pic>
    </p:spTree>
    <p:extLst>
      <p:ext uri="{BB962C8B-B14F-4D97-AF65-F5344CB8AC3E}">
        <p14:creationId xmlns:p14="http://schemas.microsoft.com/office/powerpoint/2010/main" val="32237918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8"/>
          <p:cNvSpPr txBox="1">
            <a:spLocks noChangeArrowheads="1"/>
          </p:cNvSpPr>
          <p:nvPr/>
        </p:nvSpPr>
        <p:spPr bwMode="auto">
          <a:xfrm>
            <a:off x="251167" y="617099"/>
            <a:ext cx="7487927" cy="4483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152400">
              <a:tabLst>
                <a:tab pos="5992813" algn="l"/>
              </a:tabLst>
              <a:defRPr>
                <a:solidFill>
                  <a:schemeClr val="tx1"/>
                </a:solidFill>
                <a:latin typeface="Calibri" panose="020F0502020204030204" pitchFamily="34" charset="0"/>
                <a:cs typeface="Arial" panose="020B0604020202020204" pitchFamily="34" charset="0"/>
              </a:defRPr>
            </a:lvl1pPr>
            <a:lvl2pPr marL="579438" indent="-242888">
              <a:tabLst>
                <a:tab pos="5992813" algn="l"/>
              </a:tabLst>
              <a:defRPr>
                <a:solidFill>
                  <a:schemeClr val="tx1"/>
                </a:solidFill>
                <a:latin typeface="Calibri" panose="020F0502020204030204" pitchFamily="34" charset="0"/>
                <a:cs typeface="Arial" panose="020B0604020202020204" pitchFamily="34" charset="0"/>
              </a:defRPr>
            </a:lvl2pPr>
            <a:lvl3pPr marL="1143000" indent="-228600">
              <a:tabLst>
                <a:tab pos="5992813" algn="l"/>
              </a:tabLst>
              <a:defRPr>
                <a:solidFill>
                  <a:schemeClr val="tx1"/>
                </a:solidFill>
                <a:latin typeface="Calibri" panose="020F0502020204030204" pitchFamily="34" charset="0"/>
                <a:cs typeface="Arial" panose="020B0604020202020204" pitchFamily="34" charset="0"/>
              </a:defRPr>
            </a:lvl3pPr>
            <a:lvl4pPr marL="1600200" indent="-228600">
              <a:tabLst>
                <a:tab pos="5992813" algn="l"/>
              </a:tabLst>
              <a:defRPr>
                <a:solidFill>
                  <a:schemeClr val="tx1"/>
                </a:solidFill>
                <a:latin typeface="Calibri" panose="020F0502020204030204" pitchFamily="34" charset="0"/>
                <a:cs typeface="Arial" panose="020B0604020202020204" pitchFamily="34" charset="0"/>
              </a:defRPr>
            </a:lvl4pPr>
            <a:lvl5pPr marL="2057400" indent="-228600">
              <a:tabLst>
                <a:tab pos="5992813" algn="l"/>
              </a:tabLst>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2200" u="sng" dirty="0">
                <a:latin typeface="Segoe UI Symbol" panose="020B0502040204020203" pitchFamily="34" charset="0"/>
              </a:rPr>
              <a:t>L</a:t>
            </a:r>
            <a:r>
              <a:rPr lang="en-US" altLang="en-US" sz="2200" u="sng" dirty="0" smtClean="0">
                <a:latin typeface="Segoe UI Symbol" panose="020B0502040204020203" pitchFamily="34" charset="0"/>
              </a:rPr>
              <a:t>es </a:t>
            </a:r>
            <a:r>
              <a:rPr lang="fr-FR" altLang="en-US" sz="2200" u="sng" dirty="0" smtClean="0">
                <a:latin typeface="Segoe UI Symbol" panose="020B0502040204020203" pitchFamily="34" charset="0"/>
              </a:rPr>
              <a:t>contrôles de présentation-Image</a:t>
            </a:r>
            <a:endParaRPr lang="fr-FR" altLang="en-US" sz="2200" dirty="0" smtClean="0">
              <a:latin typeface="Times New Roman" panose="02020603050405020304" pitchFamily="18" charset="0"/>
              <a:cs typeface="Times New Roman" panose="02020603050405020304" pitchFamily="18" charset="0"/>
            </a:endParaRPr>
          </a:p>
          <a:p>
            <a:pPr>
              <a:lnSpc>
                <a:spcPct val="150000"/>
              </a:lnSpc>
              <a:spcBef>
                <a:spcPts val="1625"/>
              </a:spcBef>
              <a:buClr>
                <a:srgbClr val="006498"/>
              </a:buClr>
              <a:buSzPct val="61000"/>
              <a:buFont typeface="Wingdings" panose="05000000000000000000" pitchFamily="2" charset="2"/>
              <a:buChar char=""/>
            </a:pPr>
            <a:r>
              <a:rPr lang="fr-FR" dirty="0">
                <a:latin typeface="Segoe UI" panose="020B0502040204020203" pitchFamily="34" charset="0"/>
                <a:cs typeface="Segoe UI" panose="020B0502040204020203" pitchFamily="34" charset="0"/>
              </a:rPr>
              <a:t> </a:t>
            </a:r>
            <a:r>
              <a:rPr lang="fr-FR" dirty="0" smtClean="0">
                <a:latin typeface="Segoe UI" panose="020B0502040204020203" pitchFamily="34" charset="0"/>
                <a:cs typeface="Segoe UI" panose="020B0502040204020203" pitchFamily="34" charset="0"/>
              </a:rPr>
              <a:t>La classe </a:t>
            </a:r>
            <a:r>
              <a:rPr lang="fr-FR" b="1" dirty="0" err="1">
                <a:latin typeface="Segoe UI" panose="020B0502040204020203" pitchFamily="34" charset="0"/>
                <a:cs typeface="Segoe UI" panose="020B0502040204020203" pitchFamily="34" charset="0"/>
              </a:rPr>
              <a:t>ImageSource</a:t>
            </a:r>
            <a:r>
              <a:rPr lang="fr-FR" dirty="0">
                <a:latin typeface="Segoe UI" panose="020B0502040204020203" pitchFamily="34" charset="0"/>
                <a:cs typeface="Segoe UI" panose="020B0502040204020203" pitchFamily="34" charset="0"/>
              </a:rPr>
              <a:t> </a:t>
            </a:r>
            <a:r>
              <a:rPr lang="fr-FR" dirty="0" smtClean="0">
                <a:latin typeface="Segoe UI" panose="020B0502040204020203" pitchFamily="34" charset="0"/>
                <a:cs typeface="Segoe UI" panose="020B0502040204020203" pitchFamily="34" charset="0"/>
              </a:rPr>
              <a:t>définit </a:t>
            </a:r>
            <a:r>
              <a:rPr lang="fr-FR" dirty="0">
                <a:latin typeface="Segoe UI" panose="020B0502040204020203" pitchFamily="34" charset="0"/>
                <a:cs typeface="Segoe UI" panose="020B0502040204020203" pitchFamily="34" charset="0"/>
              </a:rPr>
              <a:t>les méthodes suivantes qui peuvent être utilisées pour charger une image à partir </a:t>
            </a:r>
            <a:r>
              <a:rPr lang="fr-FR" dirty="0" smtClean="0">
                <a:latin typeface="Segoe UI" panose="020B0502040204020203" pitchFamily="34" charset="0"/>
                <a:cs typeface="Segoe UI" panose="020B0502040204020203" pitchFamily="34" charset="0"/>
              </a:rPr>
              <a:t>des autres </a:t>
            </a:r>
            <a:r>
              <a:rPr lang="fr-FR" dirty="0">
                <a:latin typeface="Segoe UI" panose="020B0502040204020203" pitchFamily="34" charset="0"/>
                <a:cs typeface="Segoe UI" panose="020B0502040204020203" pitchFamily="34" charset="0"/>
              </a:rPr>
              <a:t>différentes sources </a:t>
            </a:r>
            <a:r>
              <a:rPr lang="fr-FR" dirty="0" smtClean="0">
                <a:latin typeface="Segoe UI" panose="020B0502040204020203" pitchFamily="34" charset="0"/>
                <a:cs typeface="Segoe UI" panose="020B0502040204020203" pitchFamily="34" charset="0"/>
              </a:rPr>
              <a:t>:</a:t>
            </a:r>
            <a:endParaRPr lang="fr-FR" dirty="0">
              <a:latin typeface="Segoe UI" panose="020B0502040204020203" pitchFamily="34" charset="0"/>
              <a:cs typeface="Segoe UI" panose="020B0502040204020203" pitchFamily="34" charset="0"/>
            </a:endParaRPr>
          </a:p>
          <a:p>
            <a:pPr lvl="1">
              <a:lnSpc>
                <a:spcPct val="150000"/>
              </a:lnSpc>
              <a:spcBef>
                <a:spcPts val="1625"/>
              </a:spcBef>
              <a:buClr>
                <a:srgbClr val="006498"/>
              </a:buClr>
              <a:buSzPct val="61000"/>
              <a:buFont typeface="Wingdings" panose="05000000000000000000" pitchFamily="2" charset="2"/>
              <a:buChar char=""/>
            </a:pPr>
            <a:r>
              <a:rPr lang="fr-FR" b="1" dirty="0" err="1">
                <a:latin typeface="Segoe UI" panose="020B0502040204020203" pitchFamily="34" charset="0"/>
                <a:cs typeface="Segoe UI" panose="020B0502040204020203" pitchFamily="34" charset="0"/>
              </a:rPr>
              <a:t>FromFile</a:t>
            </a:r>
            <a:r>
              <a:rPr lang="fr-FR" dirty="0">
                <a:latin typeface="Segoe UI" panose="020B0502040204020203" pitchFamily="34" charset="0"/>
                <a:cs typeface="Segoe UI" panose="020B0502040204020203" pitchFamily="34" charset="0"/>
              </a:rPr>
              <a:t> retourne un </a:t>
            </a:r>
            <a:r>
              <a:rPr lang="fr-FR" b="1" dirty="0" err="1" smtClean="0">
                <a:latin typeface="Segoe UI" panose="020B0502040204020203" pitchFamily="34" charset="0"/>
                <a:cs typeface="Segoe UI" panose="020B0502040204020203" pitchFamily="34" charset="0"/>
              </a:rPr>
              <a:t>FileImageSource</a:t>
            </a:r>
            <a:r>
              <a:rPr lang="fr-FR" dirty="0" smtClean="0">
                <a:latin typeface="Segoe UI" panose="020B0502040204020203" pitchFamily="34" charset="0"/>
                <a:cs typeface="Segoe UI" panose="020B0502040204020203" pitchFamily="34" charset="0"/>
              </a:rPr>
              <a:t> </a:t>
            </a:r>
            <a:r>
              <a:rPr lang="fr-FR" dirty="0">
                <a:latin typeface="Segoe UI" panose="020B0502040204020203" pitchFamily="34" charset="0"/>
                <a:cs typeface="Segoe UI" panose="020B0502040204020203" pitchFamily="34" charset="0"/>
              </a:rPr>
              <a:t>qui lit une image à partir d’un fichier local.</a:t>
            </a:r>
          </a:p>
          <a:p>
            <a:pPr lvl="1">
              <a:lnSpc>
                <a:spcPct val="150000"/>
              </a:lnSpc>
              <a:spcBef>
                <a:spcPts val="1625"/>
              </a:spcBef>
              <a:buClr>
                <a:srgbClr val="006498"/>
              </a:buClr>
              <a:buSzPct val="61000"/>
              <a:buFont typeface="Wingdings" panose="05000000000000000000" pitchFamily="2" charset="2"/>
              <a:buChar char=""/>
            </a:pPr>
            <a:r>
              <a:rPr lang="fr-FR" b="1" dirty="0" err="1">
                <a:latin typeface="Segoe UI" panose="020B0502040204020203" pitchFamily="34" charset="0"/>
                <a:cs typeface="Segoe UI" panose="020B0502040204020203" pitchFamily="34" charset="0"/>
              </a:rPr>
              <a:t>FromUri</a:t>
            </a:r>
            <a:r>
              <a:rPr lang="fr-FR" dirty="0">
                <a:latin typeface="Segoe UI" panose="020B0502040204020203" pitchFamily="34" charset="0"/>
                <a:cs typeface="Segoe UI" panose="020B0502040204020203" pitchFamily="34" charset="0"/>
              </a:rPr>
              <a:t> retourne un </a:t>
            </a:r>
            <a:r>
              <a:rPr lang="fr-FR" b="1" dirty="0" err="1">
                <a:latin typeface="Segoe UI" panose="020B0502040204020203" pitchFamily="34" charset="0"/>
                <a:cs typeface="Segoe UI" panose="020B0502040204020203" pitchFamily="34" charset="0"/>
              </a:rPr>
              <a:t>UriImageSource</a:t>
            </a:r>
            <a:r>
              <a:rPr lang="fr-FR" dirty="0">
                <a:latin typeface="Segoe UI" panose="020B0502040204020203" pitchFamily="34" charset="0"/>
                <a:cs typeface="Segoe UI" panose="020B0502040204020203" pitchFamily="34" charset="0"/>
              </a:rPr>
              <a:t> qui télécharge et lit une image à partir d’un URI spécifié.</a:t>
            </a:r>
          </a:p>
          <a:p>
            <a:pPr lvl="1">
              <a:lnSpc>
                <a:spcPct val="150000"/>
              </a:lnSpc>
              <a:spcBef>
                <a:spcPts val="1625"/>
              </a:spcBef>
              <a:buClr>
                <a:srgbClr val="006498"/>
              </a:buClr>
              <a:buSzPct val="61000"/>
              <a:buFont typeface="Wingdings" panose="05000000000000000000" pitchFamily="2" charset="2"/>
              <a:buChar char=""/>
            </a:pPr>
            <a:r>
              <a:rPr lang="fr-FR" b="1" dirty="0" err="1">
                <a:latin typeface="Segoe UI" panose="020B0502040204020203" pitchFamily="34" charset="0"/>
                <a:cs typeface="Segoe UI" panose="020B0502040204020203" pitchFamily="34" charset="0"/>
              </a:rPr>
              <a:t>FromStream</a:t>
            </a:r>
            <a:r>
              <a:rPr lang="fr-FR" dirty="0">
                <a:latin typeface="Segoe UI" panose="020B0502040204020203" pitchFamily="34" charset="0"/>
                <a:cs typeface="Segoe UI" panose="020B0502040204020203" pitchFamily="34" charset="0"/>
              </a:rPr>
              <a:t> retourne un </a:t>
            </a:r>
            <a:r>
              <a:rPr lang="fr-FR" b="1" dirty="0" err="1">
                <a:latin typeface="Segoe UI" panose="020B0502040204020203" pitchFamily="34" charset="0"/>
                <a:cs typeface="Segoe UI" panose="020B0502040204020203" pitchFamily="34" charset="0"/>
              </a:rPr>
              <a:t>StreamImageSource</a:t>
            </a:r>
            <a:r>
              <a:rPr lang="fr-FR" dirty="0">
                <a:latin typeface="Segoe UI" panose="020B0502040204020203" pitchFamily="34" charset="0"/>
                <a:cs typeface="Segoe UI" panose="020B0502040204020203" pitchFamily="34" charset="0"/>
              </a:rPr>
              <a:t> qui lit une image à partir d’un flux qui fournit des données d’image.</a:t>
            </a:r>
            <a:endParaRPr lang="fr-FR" b="1" dirty="0" smtClean="0">
              <a:latin typeface="Segoe UI" panose="020B0502040204020203" pitchFamily="34" charset="0"/>
              <a:cs typeface="Segoe UI" panose="020B0502040204020203" pitchFamily="34" charset="0"/>
            </a:endParaRPr>
          </a:p>
        </p:txBody>
      </p:sp>
      <p:pic>
        <p:nvPicPr>
          <p:cNvPr id="4" name="Image 3"/>
          <p:cNvPicPr>
            <a:picLocks noChangeAspect="1"/>
          </p:cNvPicPr>
          <p:nvPr/>
        </p:nvPicPr>
        <p:blipFill>
          <a:blip r:embed="rId3"/>
          <a:stretch>
            <a:fillRect/>
          </a:stretch>
        </p:blipFill>
        <p:spPr>
          <a:xfrm>
            <a:off x="6095997" y="-3164750"/>
            <a:ext cx="5" cy="13187500"/>
          </a:xfrm>
          <a:prstGeom prst="rect">
            <a:avLst/>
          </a:prstGeom>
        </p:spPr>
      </p:pic>
    </p:spTree>
    <p:extLst>
      <p:ext uri="{BB962C8B-B14F-4D97-AF65-F5344CB8AC3E}">
        <p14:creationId xmlns:p14="http://schemas.microsoft.com/office/powerpoint/2010/main" val="35232878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8"/>
          <p:cNvSpPr txBox="1">
            <a:spLocks noChangeArrowheads="1"/>
          </p:cNvSpPr>
          <p:nvPr/>
        </p:nvSpPr>
        <p:spPr bwMode="auto">
          <a:xfrm>
            <a:off x="251167" y="617099"/>
            <a:ext cx="10057754" cy="4272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152400">
              <a:tabLst>
                <a:tab pos="5992813" algn="l"/>
              </a:tabLst>
              <a:defRPr>
                <a:solidFill>
                  <a:schemeClr val="tx1"/>
                </a:solidFill>
                <a:latin typeface="Calibri" panose="020F0502020204030204" pitchFamily="34" charset="0"/>
                <a:cs typeface="Arial" panose="020B0604020202020204" pitchFamily="34" charset="0"/>
              </a:defRPr>
            </a:lvl1pPr>
            <a:lvl2pPr marL="579438" indent="-242888">
              <a:tabLst>
                <a:tab pos="5992813" algn="l"/>
              </a:tabLst>
              <a:defRPr>
                <a:solidFill>
                  <a:schemeClr val="tx1"/>
                </a:solidFill>
                <a:latin typeface="Calibri" panose="020F0502020204030204" pitchFamily="34" charset="0"/>
                <a:cs typeface="Arial" panose="020B0604020202020204" pitchFamily="34" charset="0"/>
              </a:defRPr>
            </a:lvl2pPr>
            <a:lvl3pPr marL="1143000" indent="-228600">
              <a:tabLst>
                <a:tab pos="5992813" algn="l"/>
              </a:tabLst>
              <a:defRPr>
                <a:solidFill>
                  <a:schemeClr val="tx1"/>
                </a:solidFill>
                <a:latin typeface="Calibri" panose="020F0502020204030204" pitchFamily="34" charset="0"/>
                <a:cs typeface="Arial" panose="020B0604020202020204" pitchFamily="34" charset="0"/>
              </a:defRPr>
            </a:lvl3pPr>
            <a:lvl4pPr marL="1600200" indent="-228600">
              <a:tabLst>
                <a:tab pos="5992813" algn="l"/>
              </a:tabLst>
              <a:defRPr>
                <a:solidFill>
                  <a:schemeClr val="tx1"/>
                </a:solidFill>
                <a:latin typeface="Calibri" panose="020F0502020204030204" pitchFamily="34" charset="0"/>
                <a:cs typeface="Arial" panose="020B0604020202020204" pitchFamily="34" charset="0"/>
              </a:defRPr>
            </a:lvl4pPr>
            <a:lvl5pPr marL="2057400" indent="-228600">
              <a:tabLst>
                <a:tab pos="5992813" algn="l"/>
              </a:tabLst>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2200" u="sng" dirty="0">
                <a:latin typeface="Segoe UI Symbol" panose="020B0502040204020203" pitchFamily="34" charset="0"/>
              </a:rPr>
              <a:t>L</a:t>
            </a:r>
            <a:r>
              <a:rPr lang="en-US" altLang="en-US" sz="2200" u="sng" dirty="0" smtClean="0">
                <a:latin typeface="Segoe UI Symbol" panose="020B0502040204020203" pitchFamily="34" charset="0"/>
              </a:rPr>
              <a:t>es </a:t>
            </a:r>
            <a:r>
              <a:rPr lang="fr-FR" altLang="en-US" sz="2200" u="sng" dirty="0" smtClean="0">
                <a:latin typeface="Segoe UI Symbol" panose="020B0502040204020203" pitchFamily="34" charset="0"/>
              </a:rPr>
              <a:t>contrôles de présentation-Label</a:t>
            </a:r>
            <a:endParaRPr lang="fr-FR" altLang="en-US" sz="2200" dirty="0" smtClean="0">
              <a:latin typeface="Times New Roman" panose="02020603050405020304" pitchFamily="18" charset="0"/>
              <a:cs typeface="Times New Roman" panose="02020603050405020304" pitchFamily="18" charset="0"/>
            </a:endParaRPr>
          </a:p>
          <a:p>
            <a:pPr>
              <a:lnSpc>
                <a:spcPct val="150000"/>
              </a:lnSpc>
              <a:spcBef>
                <a:spcPts val="1625"/>
              </a:spcBef>
              <a:buClr>
                <a:srgbClr val="006498"/>
              </a:buClr>
              <a:buSzPct val="61000"/>
              <a:buFont typeface="Wingdings" panose="05000000000000000000" pitchFamily="2" charset="2"/>
              <a:buChar char=""/>
            </a:pPr>
            <a:r>
              <a:rPr lang="fr-FR" dirty="0">
                <a:latin typeface="Segoe UI" panose="020B0502040204020203" pitchFamily="34" charset="0"/>
                <a:cs typeface="Segoe UI" panose="020B0502040204020203" pitchFamily="34" charset="0"/>
              </a:rPr>
              <a:t> </a:t>
            </a:r>
            <a:r>
              <a:rPr lang="fr-FR" dirty="0" smtClean="0">
                <a:latin typeface="Segoe UI" panose="020B0502040204020203" pitchFamily="34" charset="0"/>
                <a:cs typeface="Segoe UI" panose="020B0502040204020203" pitchFamily="34" charset="0"/>
              </a:rPr>
              <a:t>Le contrôle Label </a:t>
            </a:r>
            <a:r>
              <a:rPr lang="fr-FR" dirty="0">
                <a:latin typeface="Segoe UI" panose="020B0502040204020203" pitchFamily="34" charset="0"/>
                <a:cs typeface="Segoe UI" panose="020B0502040204020203" pitchFamily="34" charset="0"/>
              </a:rPr>
              <a:t>affiche le texte sur une seule ligne et sur plusieurs lignes. Le texte affiché par un </a:t>
            </a:r>
            <a:r>
              <a:rPr lang="fr-FR" b="1" dirty="0">
                <a:latin typeface="Segoe UI" panose="020B0502040204020203" pitchFamily="34" charset="0"/>
                <a:cs typeface="Segoe UI" panose="020B0502040204020203" pitchFamily="34" charset="0"/>
              </a:rPr>
              <a:t>Label</a:t>
            </a:r>
            <a:r>
              <a:rPr lang="fr-FR" dirty="0">
                <a:latin typeface="Segoe UI" panose="020B0502040204020203" pitchFamily="34" charset="0"/>
                <a:cs typeface="Segoe UI" panose="020B0502040204020203" pitchFamily="34" charset="0"/>
              </a:rPr>
              <a:t> peut être coloré, </a:t>
            </a:r>
            <a:r>
              <a:rPr lang="fr-FR" dirty="0" smtClean="0">
                <a:latin typeface="Segoe UI" panose="020B0502040204020203" pitchFamily="34" charset="0"/>
                <a:cs typeface="Segoe UI" panose="020B0502040204020203" pitchFamily="34" charset="0"/>
              </a:rPr>
              <a:t>espacé </a:t>
            </a:r>
            <a:r>
              <a:rPr lang="fr-FR" dirty="0">
                <a:latin typeface="Segoe UI" panose="020B0502040204020203" pitchFamily="34" charset="0"/>
                <a:cs typeface="Segoe UI" panose="020B0502040204020203" pitchFamily="34" charset="0"/>
              </a:rPr>
              <a:t>et peut avoir des décorations de texte </a:t>
            </a:r>
            <a:endParaRPr lang="fr-FR" dirty="0" smtClean="0">
              <a:latin typeface="Segoe UI" panose="020B0502040204020203" pitchFamily="34" charset="0"/>
              <a:cs typeface="Segoe UI" panose="020B0502040204020203" pitchFamily="34" charset="0"/>
            </a:endParaRPr>
          </a:p>
          <a:p>
            <a:pPr>
              <a:lnSpc>
                <a:spcPct val="150000"/>
              </a:lnSpc>
              <a:spcBef>
                <a:spcPts val="1625"/>
              </a:spcBef>
              <a:buClr>
                <a:srgbClr val="006498"/>
              </a:buClr>
              <a:buSzPct val="61000"/>
              <a:buFont typeface="Wingdings" panose="05000000000000000000" pitchFamily="2" charset="2"/>
              <a:buChar char=""/>
            </a:pPr>
            <a:r>
              <a:rPr lang="fr-FR" b="1" dirty="0" err="1" smtClean="0">
                <a:latin typeface="Segoe UI" panose="020B0502040204020203" pitchFamily="34" charset="0"/>
                <a:cs typeface="Segoe UI" panose="020B0502040204020203" pitchFamily="34" charset="0"/>
              </a:rPr>
              <a:t>CharacterSpacing</a:t>
            </a:r>
            <a:r>
              <a:rPr lang="fr-FR" b="1" dirty="0" smtClean="0">
                <a:latin typeface="Segoe UI" panose="020B0502040204020203" pitchFamily="34" charset="0"/>
                <a:cs typeface="Segoe UI" panose="020B0502040204020203" pitchFamily="34" charset="0"/>
              </a:rPr>
              <a:t>: </a:t>
            </a:r>
            <a:r>
              <a:rPr lang="fr-FR" dirty="0">
                <a:latin typeface="Segoe UI" panose="020B0502040204020203" pitchFamily="34" charset="0"/>
                <a:cs typeface="Segoe UI" panose="020B0502040204020203" pitchFamily="34" charset="0"/>
              </a:rPr>
              <a:t>de type double, définit l’espacement entre les caractères du texte affiché.</a:t>
            </a:r>
          </a:p>
          <a:p>
            <a:pPr>
              <a:lnSpc>
                <a:spcPct val="150000"/>
              </a:lnSpc>
              <a:spcBef>
                <a:spcPts val="1625"/>
              </a:spcBef>
              <a:buClr>
                <a:srgbClr val="006498"/>
              </a:buClr>
              <a:buSzPct val="61000"/>
              <a:buFont typeface="Wingdings" panose="05000000000000000000" pitchFamily="2" charset="2"/>
              <a:buChar char=""/>
            </a:pPr>
            <a:r>
              <a:rPr lang="fr-FR" b="1" dirty="0" err="1" smtClean="0">
                <a:latin typeface="Segoe UI" panose="020B0502040204020203" pitchFamily="34" charset="0"/>
                <a:cs typeface="Segoe UI" panose="020B0502040204020203" pitchFamily="34" charset="0"/>
              </a:rPr>
              <a:t>FontAttributes</a:t>
            </a:r>
            <a:r>
              <a:rPr lang="fr-FR" dirty="0" smtClean="0">
                <a:latin typeface="Segoe UI" panose="020B0502040204020203" pitchFamily="34" charset="0"/>
                <a:cs typeface="Segoe UI" panose="020B0502040204020203" pitchFamily="34" charset="0"/>
              </a:rPr>
              <a:t>: </a:t>
            </a:r>
            <a:r>
              <a:rPr lang="fr-FR" dirty="0">
                <a:latin typeface="Segoe UI" panose="020B0502040204020203" pitchFamily="34" charset="0"/>
                <a:cs typeface="Segoe UI" panose="020B0502040204020203" pitchFamily="34" charset="0"/>
              </a:rPr>
              <a:t>de </a:t>
            </a:r>
            <a:r>
              <a:rPr lang="fr-FR" dirty="0" smtClean="0">
                <a:latin typeface="Segoe UI" panose="020B0502040204020203" pitchFamily="34" charset="0"/>
                <a:cs typeface="Segoe UI" panose="020B0502040204020203" pitchFamily="34" charset="0"/>
              </a:rPr>
              <a:t>type </a:t>
            </a:r>
            <a:r>
              <a:rPr lang="fr-FR" dirty="0" err="1" smtClean="0">
                <a:latin typeface="Segoe UI" panose="020B0502040204020203" pitchFamily="34" charset="0"/>
                <a:cs typeface="Segoe UI" panose="020B0502040204020203" pitchFamily="34" charset="0"/>
              </a:rPr>
              <a:t>enumération</a:t>
            </a:r>
            <a:r>
              <a:rPr lang="fr-FR" dirty="0" smtClean="0">
                <a:latin typeface="Segoe UI" panose="020B0502040204020203" pitchFamily="34" charset="0"/>
                <a:cs typeface="Segoe UI" panose="020B0502040204020203" pitchFamily="34" charset="0"/>
              </a:rPr>
              <a:t> </a:t>
            </a:r>
            <a:r>
              <a:rPr lang="fr-FR" b="1" dirty="0" err="1">
                <a:latin typeface="Segoe UI" panose="020B0502040204020203" pitchFamily="34" charset="0"/>
                <a:cs typeface="Segoe UI" panose="020B0502040204020203" pitchFamily="34" charset="0"/>
              </a:rPr>
              <a:t>FontAttributes</a:t>
            </a:r>
            <a:r>
              <a:rPr lang="fr-FR" dirty="0">
                <a:latin typeface="Segoe UI" panose="020B0502040204020203" pitchFamily="34" charset="0"/>
                <a:cs typeface="Segoe UI" panose="020B0502040204020203" pitchFamily="34" charset="0"/>
              </a:rPr>
              <a:t>, détermine le style de texte.</a:t>
            </a:r>
          </a:p>
          <a:p>
            <a:pPr>
              <a:lnSpc>
                <a:spcPct val="150000"/>
              </a:lnSpc>
              <a:spcBef>
                <a:spcPts val="1625"/>
              </a:spcBef>
              <a:buClr>
                <a:srgbClr val="006498"/>
              </a:buClr>
              <a:buSzPct val="61000"/>
              <a:buFont typeface="Wingdings" panose="05000000000000000000" pitchFamily="2" charset="2"/>
              <a:buChar char=""/>
            </a:pPr>
            <a:r>
              <a:rPr lang="fr-FR" b="1" dirty="0" err="1" smtClean="0">
                <a:latin typeface="Segoe UI" panose="020B0502040204020203" pitchFamily="34" charset="0"/>
                <a:cs typeface="Segoe UI" panose="020B0502040204020203" pitchFamily="34" charset="0"/>
              </a:rPr>
              <a:t>FontAutoScalingEnabled</a:t>
            </a:r>
            <a:r>
              <a:rPr lang="fr-FR" b="1" dirty="0" smtClean="0">
                <a:latin typeface="Segoe UI" panose="020B0502040204020203" pitchFamily="34" charset="0"/>
                <a:cs typeface="Segoe UI" panose="020B0502040204020203" pitchFamily="34" charset="0"/>
              </a:rPr>
              <a:t>: </a:t>
            </a:r>
            <a:r>
              <a:rPr lang="fr-FR" dirty="0">
                <a:latin typeface="Segoe UI" panose="020B0502040204020203" pitchFamily="34" charset="0"/>
                <a:cs typeface="Segoe UI" panose="020B0502040204020203" pitchFamily="34" charset="0"/>
              </a:rPr>
              <a:t>de type </a:t>
            </a:r>
            <a:r>
              <a:rPr lang="fr-FR" dirty="0" err="1">
                <a:latin typeface="Segoe UI" panose="020B0502040204020203" pitchFamily="34" charset="0"/>
                <a:cs typeface="Segoe UI" panose="020B0502040204020203" pitchFamily="34" charset="0"/>
              </a:rPr>
              <a:t>bool</a:t>
            </a:r>
            <a:r>
              <a:rPr lang="fr-FR" dirty="0">
                <a:latin typeface="Segoe UI" panose="020B0502040204020203" pitchFamily="34" charset="0"/>
                <a:cs typeface="Segoe UI" panose="020B0502040204020203" pitchFamily="34" charset="0"/>
              </a:rPr>
              <a:t>, définit si le texte reflète les préférences de mise à l’échelle définies dans le système d’exploitation. La valeur par défaut de cette propriété est </a:t>
            </a:r>
            <a:r>
              <a:rPr lang="fr-FR" dirty="0" err="1">
                <a:latin typeface="Segoe UI" panose="020B0502040204020203" pitchFamily="34" charset="0"/>
                <a:cs typeface="Segoe UI" panose="020B0502040204020203" pitchFamily="34" charset="0"/>
              </a:rPr>
              <a:t>true</a:t>
            </a:r>
            <a:r>
              <a:rPr lang="fr-FR" dirty="0">
                <a:latin typeface="Segoe UI" panose="020B0502040204020203" pitchFamily="34" charset="0"/>
                <a:cs typeface="Segoe UI" panose="020B0502040204020203" pitchFamily="34" charset="0"/>
              </a:rPr>
              <a:t>.</a:t>
            </a:r>
          </a:p>
          <a:p>
            <a:pPr>
              <a:lnSpc>
                <a:spcPct val="150000"/>
              </a:lnSpc>
              <a:spcBef>
                <a:spcPts val="1625"/>
              </a:spcBef>
              <a:buClr>
                <a:srgbClr val="006498"/>
              </a:buClr>
              <a:buSzPct val="61000"/>
              <a:buFont typeface="Wingdings" panose="05000000000000000000" pitchFamily="2" charset="2"/>
              <a:buChar char=""/>
            </a:pPr>
            <a:r>
              <a:rPr lang="fr-FR" b="1" dirty="0" err="1" smtClean="0">
                <a:latin typeface="Segoe UI" panose="020B0502040204020203" pitchFamily="34" charset="0"/>
                <a:cs typeface="Segoe UI" panose="020B0502040204020203" pitchFamily="34" charset="0"/>
              </a:rPr>
              <a:t>FontFamily</a:t>
            </a:r>
            <a:r>
              <a:rPr lang="fr-FR" b="1" dirty="0" smtClean="0">
                <a:latin typeface="Segoe UI" panose="020B0502040204020203" pitchFamily="34" charset="0"/>
                <a:cs typeface="Segoe UI" panose="020B0502040204020203" pitchFamily="34" charset="0"/>
              </a:rPr>
              <a:t>: </a:t>
            </a:r>
            <a:r>
              <a:rPr lang="fr-FR" dirty="0" smtClean="0">
                <a:latin typeface="Segoe UI" panose="020B0502040204020203" pitchFamily="34" charset="0"/>
                <a:cs typeface="Segoe UI" panose="020B0502040204020203" pitchFamily="34" charset="0"/>
              </a:rPr>
              <a:t>de </a:t>
            </a:r>
            <a:r>
              <a:rPr lang="fr-FR" dirty="0">
                <a:latin typeface="Segoe UI" panose="020B0502040204020203" pitchFamily="34" charset="0"/>
                <a:cs typeface="Segoe UI" panose="020B0502040204020203" pitchFamily="34" charset="0"/>
              </a:rPr>
              <a:t>type string, définit la famille de polices</a:t>
            </a:r>
            <a:r>
              <a:rPr lang="fr-FR" dirty="0" smtClean="0">
                <a:latin typeface="Segoe UI" panose="020B0502040204020203" pitchFamily="34" charset="0"/>
                <a:cs typeface="Segoe UI" panose="020B0502040204020203" pitchFamily="34" charset="0"/>
              </a:rPr>
              <a:t>.</a:t>
            </a:r>
            <a:endParaRPr lang="fr-FR" dirty="0">
              <a:latin typeface="Segoe UI" panose="020B0502040204020203" pitchFamily="34" charset="0"/>
              <a:cs typeface="Segoe UI" panose="020B0502040204020203" pitchFamily="34" charset="0"/>
            </a:endParaRPr>
          </a:p>
        </p:txBody>
      </p:sp>
      <p:pic>
        <p:nvPicPr>
          <p:cNvPr id="4" name="Image 3"/>
          <p:cNvPicPr>
            <a:picLocks noChangeAspect="1"/>
          </p:cNvPicPr>
          <p:nvPr/>
        </p:nvPicPr>
        <p:blipFill>
          <a:blip r:embed="rId3"/>
          <a:stretch>
            <a:fillRect/>
          </a:stretch>
        </p:blipFill>
        <p:spPr>
          <a:xfrm>
            <a:off x="6095997" y="-3164750"/>
            <a:ext cx="5" cy="13187500"/>
          </a:xfrm>
          <a:prstGeom prst="rect">
            <a:avLst/>
          </a:prstGeom>
        </p:spPr>
      </p:pic>
    </p:spTree>
    <p:extLst>
      <p:ext uri="{BB962C8B-B14F-4D97-AF65-F5344CB8AC3E}">
        <p14:creationId xmlns:p14="http://schemas.microsoft.com/office/powerpoint/2010/main" val="22432905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8"/>
          <p:cNvSpPr txBox="1">
            <a:spLocks noChangeArrowheads="1"/>
          </p:cNvSpPr>
          <p:nvPr/>
        </p:nvSpPr>
        <p:spPr bwMode="auto">
          <a:xfrm>
            <a:off x="440010" y="597222"/>
            <a:ext cx="10057754" cy="37240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152400">
              <a:tabLst>
                <a:tab pos="5992813" algn="l"/>
              </a:tabLst>
              <a:defRPr>
                <a:solidFill>
                  <a:schemeClr val="tx1"/>
                </a:solidFill>
                <a:latin typeface="Calibri" panose="020F0502020204030204" pitchFamily="34" charset="0"/>
                <a:cs typeface="Arial" panose="020B0604020202020204" pitchFamily="34" charset="0"/>
              </a:defRPr>
            </a:lvl1pPr>
            <a:lvl2pPr marL="579438" indent="-242888">
              <a:tabLst>
                <a:tab pos="5992813" algn="l"/>
              </a:tabLst>
              <a:defRPr>
                <a:solidFill>
                  <a:schemeClr val="tx1"/>
                </a:solidFill>
                <a:latin typeface="Calibri" panose="020F0502020204030204" pitchFamily="34" charset="0"/>
                <a:cs typeface="Arial" panose="020B0604020202020204" pitchFamily="34" charset="0"/>
              </a:defRPr>
            </a:lvl2pPr>
            <a:lvl3pPr marL="1143000" indent="-228600">
              <a:tabLst>
                <a:tab pos="5992813" algn="l"/>
              </a:tabLst>
              <a:defRPr>
                <a:solidFill>
                  <a:schemeClr val="tx1"/>
                </a:solidFill>
                <a:latin typeface="Calibri" panose="020F0502020204030204" pitchFamily="34" charset="0"/>
                <a:cs typeface="Arial" panose="020B0604020202020204" pitchFamily="34" charset="0"/>
              </a:defRPr>
            </a:lvl3pPr>
            <a:lvl4pPr marL="1600200" indent="-228600">
              <a:tabLst>
                <a:tab pos="5992813" algn="l"/>
              </a:tabLst>
              <a:defRPr>
                <a:solidFill>
                  <a:schemeClr val="tx1"/>
                </a:solidFill>
                <a:latin typeface="Calibri" panose="020F0502020204030204" pitchFamily="34" charset="0"/>
                <a:cs typeface="Arial" panose="020B0604020202020204" pitchFamily="34" charset="0"/>
              </a:defRPr>
            </a:lvl4pPr>
            <a:lvl5pPr marL="2057400" indent="-228600">
              <a:tabLst>
                <a:tab pos="5992813" algn="l"/>
              </a:tabLst>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2200" u="sng" dirty="0">
                <a:latin typeface="Segoe UI Symbol" panose="020B0502040204020203" pitchFamily="34" charset="0"/>
              </a:rPr>
              <a:t>L</a:t>
            </a:r>
            <a:r>
              <a:rPr lang="en-US" altLang="en-US" sz="2200" u="sng" dirty="0" smtClean="0">
                <a:latin typeface="Segoe UI Symbol" panose="020B0502040204020203" pitchFamily="34" charset="0"/>
              </a:rPr>
              <a:t>es </a:t>
            </a:r>
            <a:r>
              <a:rPr lang="fr-FR" altLang="en-US" sz="2200" u="sng" dirty="0" smtClean="0">
                <a:latin typeface="Segoe UI Symbol" panose="020B0502040204020203" pitchFamily="34" charset="0"/>
              </a:rPr>
              <a:t>contrôles de présentation-Label</a:t>
            </a:r>
          </a:p>
          <a:p>
            <a:pPr eaLnBrk="1" hangingPunct="1"/>
            <a:endParaRPr lang="fr-FR" altLang="en-US" sz="2200" u="sng" dirty="0">
              <a:latin typeface="Segoe UI Symbol" panose="020B0502040204020203" pitchFamily="34" charset="0"/>
              <a:cs typeface="Times New Roman" panose="02020603050405020304" pitchFamily="18" charset="0"/>
            </a:endParaRPr>
          </a:p>
          <a:p>
            <a:pPr marL="427038" lvl="1" eaLnBrk="0" fontAlgn="base" hangingPunct="0">
              <a:spcBef>
                <a:spcPct val="0"/>
              </a:spcBef>
              <a:spcAft>
                <a:spcPct val="0"/>
              </a:spcAft>
              <a:tabLst/>
            </a:pPr>
            <a:r>
              <a:rPr lang="en-US" altLang="en-US" b="1" dirty="0">
                <a:latin typeface="Segoe UI" panose="020B0502040204020203" pitchFamily="34" charset="0"/>
                <a:cs typeface="Segoe UI" panose="020B0502040204020203" pitchFamily="34" charset="0"/>
              </a:rPr>
              <a:t>Google Fonts (</a:t>
            </a:r>
            <a:r>
              <a:rPr lang="en-US" altLang="en-US" b="1" dirty="0" err="1">
                <a:latin typeface="Segoe UI" panose="020B0502040204020203" pitchFamily="34" charset="0"/>
                <a:cs typeface="Segoe UI" panose="020B0502040204020203" pitchFamily="34" charset="0"/>
              </a:rPr>
              <a:t>recommandé</a:t>
            </a:r>
            <a:r>
              <a:rPr lang="en-US" altLang="en-US" b="1" dirty="0">
                <a:latin typeface="Segoe UI" panose="020B0502040204020203" pitchFamily="34" charset="0"/>
                <a:cs typeface="Segoe UI" panose="020B0502040204020203" pitchFamily="34" charset="0"/>
              </a:rPr>
              <a:t>)</a:t>
            </a:r>
          </a:p>
          <a:p>
            <a:pPr marL="427038" lvl="1" eaLnBrk="0" fontAlgn="base" hangingPunct="0">
              <a:spcBef>
                <a:spcPct val="0"/>
              </a:spcBef>
              <a:spcAft>
                <a:spcPct val="0"/>
              </a:spcAft>
              <a:buFontTx/>
              <a:buChar char="•"/>
              <a:tabLst/>
            </a:pPr>
            <a:r>
              <a:rPr lang="en-US" altLang="en-US" b="1" dirty="0">
                <a:latin typeface="Segoe UI" panose="020B0502040204020203" pitchFamily="34" charset="0"/>
                <a:cs typeface="Segoe UI" panose="020B0502040204020203" pitchFamily="34" charset="0"/>
              </a:rPr>
              <a:t>URL</a:t>
            </a:r>
            <a:r>
              <a:rPr lang="en-US" altLang="en-US" dirty="0">
                <a:latin typeface="Segoe UI" panose="020B0502040204020203" pitchFamily="34" charset="0"/>
                <a:cs typeface="Segoe UI" panose="020B0502040204020203" pitchFamily="34" charset="0"/>
              </a:rPr>
              <a:t> : </a:t>
            </a:r>
            <a:r>
              <a:rPr lang="en-US" altLang="en-US" dirty="0">
                <a:latin typeface="Segoe UI" panose="020B0502040204020203" pitchFamily="34" charset="0"/>
                <a:cs typeface="Segoe UI" panose="020B0502040204020203" pitchFamily="34" charset="0"/>
                <a:hlinkClick r:id="rId3"/>
              </a:rPr>
              <a:t>https://fonts.google.com</a:t>
            </a:r>
            <a:endParaRPr lang="en-US" altLang="en-US" dirty="0">
              <a:latin typeface="Segoe UI" panose="020B0502040204020203" pitchFamily="34" charset="0"/>
              <a:cs typeface="Segoe UI" panose="020B0502040204020203" pitchFamily="34" charset="0"/>
            </a:endParaRPr>
          </a:p>
          <a:p>
            <a:pPr marL="427038" lvl="1" eaLnBrk="0" fontAlgn="base" hangingPunct="0">
              <a:spcBef>
                <a:spcPct val="0"/>
              </a:spcBef>
              <a:spcAft>
                <a:spcPct val="0"/>
              </a:spcAft>
              <a:buFontTx/>
              <a:buChar char="•"/>
              <a:tabLst/>
            </a:pPr>
            <a:r>
              <a:rPr lang="en-US" altLang="en-US" b="1" dirty="0" err="1">
                <a:latin typeface="Segoe UI" panose="020B0502040204020203" pitchFamily="34" charset="0"/>
                <a:cs typeface="Segoe UI" panose="020B0502040204020203" pitchFamily="34" charset="0"/>
              </a:rPr>
              <a:t>Avantages</a:t>
            </a:r>
            <a:r>
              <a:rPr lang="en-US" altLang="en-US" dirty="0">
                <a:latin typeface="Segoe UI" panose="020B0502040204020203" pitchFamily="34" charset="0"/>
                <a:cs typeface="Segoe UI" panose="020B0502040204020203" pitchFamily="34" charset="0"/>
              </a:rPr>
              <a:t> :</a:t>
            </a:r>
          </a:p>
          <a:p>
            <a:pPr marL="1020762" lvl="2" indent="0" eaLnBrk="0" fontAlgn="base" hangingPunct="0">
              <a:spcBef>
                <a:spcPct val="0"/>
              </a:spcBef>
              <a:spcAft>
                <a:spcPct val="0"/>
              </a:spcAft>
              <a:buFontTx/>
              <a:buChar char="•"/>
              <a:tabLst/>
            </a:pPr>
            <a:r>
              <a:rPr lang="en-US" altLang="en-US" dirty="0" err="1">
                <a:latin typeface="Segoe UI" panose="020B0502040204020203" pitchFamily="34" charset="0"/>
                <a:cs typeface="Segoe UI" panose="020B0502040204020203" pitchFamily="34" charset="0"/>
              </a:rPr>
              <a:t>Très</a:t>
            </a:r>
            <a:r>
              <a:rPr lang="en-US" altLang="en-US" dirty="0">
                <a:latin typeface="Segoe UI" panose="020B0502040204020203" pitchFamily="34" charset="0"/>
                <a:cs typeface="Segoe UI" panose="020B0502040204020203" pitchFamily="34" charset="0"/>
              </a:rPr>
              <a:t> grand </a:t>
            </a:r>
            <a:r>
              <a:rPr lang="en-US" altLang="en-US" dirty="0" err="1">
                <a:latin typeface="Segoe UI" panose="020B0502040204020203" pitchFamily="34" charset="0"/>
                <a:cs typeface="Segoe UI" panose="020B0502040204020203" pitchFamily="34" charset="0"/>
              </a:rPr>
              <a:t>choix</a:t>
            </a:r>
            <a:r>
              <a:rPr lang="en-US" altLang="en-US" dirty="0">
                <a:latin typeface="Segoe UI" panose="020B0502040204020203" pitchFamily="34" charset="0"/>
                <a:cs typeface="Segoe UI" panose="020B0502040204020203" pitchFamily="34" charset="0"/>
              </a:rPr>
              <a:t> de polices.</a:t>
            </a:r>
          </a:p>
          <a:p>
            <a:pPr marL="1020762" lvl="2" indent="0" eaLnBrk="0" fontAlgn="base" hangingPunct="0">
              <a:spcBef>
                <a:spcPct val="0"/>
              </a:spcBef>
              <a:spcAft>
                <a:spcPct val="0"/>
              </a:spcAft>
              <a:buFontTx/>
              <a:buChar char="•"/>
              <a:tabLst/>
            </a:pPr>
            <a:r>
              <a:rPr lang="en-US" altLang="en-US" dirty="0" err="1">
                <a:latin typeface="Segoe UI" panose="020B0502040204020203" pitchFamily="34" charset="0"/>
                <a:cs typeface="Segoe UI" panose="020B0502040204020203" pitchFamily="34" charset="0"/>
              </a:rPr>
              <a:t>Gratuites</a:t>
            </a:r>
            <a:r>
              <a:rPr lang="en-US" altLang="en-US" dirty="0">
                <a:latin typeface="Segoe UI" panose="020B0502040204020203" pitchFamily="34" charset="0"/>
                <a:cs typeface="Segoe UI" panose="020B0502040204020203" pitchFamily="34" charset="0"/>
              </a:rPr>
              <a:t> et </a:t>
            </a:r>
            <a:r>
              <a:rPr lang="en-US" altLang="en-US" dirty="0" err="1">
                <a:latin typeface="Segoe UI" panose="020B0502040204020203" pitchFamily="34" charset="0"/>
                <a:cs typeface="Segoe UI" panose="020B0502040204020203" pitchFamily="34" charset="0"/>
              </a:rPr>
              <a:t>libres</a:t>
            </a:r>
            <a:r>
              <a:rPr lang="en-US" altLang="en-US" dirty="0">
                <a:latin typeface="Segoe UI" panose="020B0502040204020203" pitchFamily="34" charset="0"/>
                <a:cs typeface="Segoe UI" panose="020B0502040204020203" pitchFamily="34" charset="0"/>
              </a:rPr>
              <a:t> </a:t>
            </a:r>
            <a:r>
              <a:rPr lang="en-US" altLang="en-US" dirty="0" err="1">
                <a:latin typeface="Segoe UI" panose="020B0502040204020203" pitchFamily="34" charset="0"/>
                <a:cs typeface="Segoe UI" panose="020B0502040204020203" pitchFamily="34" charset="0"/>
              </a:rPr>
              <a:t>d'utilisation</a:t>
            </a:r>
            <a:r>
              <a:rPr lang="en-US" altLang="en-US" dirty="0">
                <a:latin typeface="Segoe UI" panose="020B0502040204020203" pitchFamily="34" charset="0"/>
                <a:cs typeface="Segoe UI" panose="020B0502040204020203" pitchFamily="34" charset="0"/>
              </a:rPr>
              <a:t>.</a:t>
            </a:r>
          </a:p>
          <a:p>
            <a:pPr marL="1020762" lvl="2" indent="0" eaLnBrk="0" fontAlgn="base" hangingPunct="0">
              <a:spcBef>
                <a:spcPct val="0"/>
              </a:spcBef>
              <a:spcAft>
                <a:spcPct val="0"/>
              </a:spcAft>
              <a:buFontTx/>
              <a:buChar char="•"/>
              <a:tabLst/>
            </a:pPr>
            <a:r>
              <a:rPr lang="en-US" altLang="en-US" dirty="0" err="1">
                <a:latin typeface="Segoe UI" panose="020B0502040204020203" pitchFamily="34" charset="0"/>
                <a:cs typeface="Segoe UI" panose="020B0502040204020203" pitchFamily="34" charset="0"/>
              </a:rPr>
              <a:t>Téléchargement</a:t>
            </a:r>
            <a:r>
              <a:rPr lang="en-US" altLang="en-US" dirty="0">
                <a:latin typeface="Segoe UI" panose="020B0502040204020203" pitchFamily="34" charset="0"/>
                <a:cs typeface="Segoe UI" panose="020B0502040204020203" pitchFamily="34" charset="0"/>
              </a:rPr>
              <a:t> facile </a:t>
            </a:r>
            <a:r>
              <a:rPr lang="en-US" altLang="en-US" dirty="0" err="1">
                <a:latin typeface="Segoe UI" panose="020B0502040204020203" pitchFamily="34" charset="0"/>
                <a:cs typeface="Segoe UI" panose="020B0502040204020203" pitchFamily="34" charset="0"/>
              </a:rPr>
              <a:t>en</a:t>
            </a:r>
            <a:r>
              <a:rPr lang="en-US" altLang="en-US" dirty="0">
                <a:latin typeface="Segoe UI" panose="020B0502040204020203" pitchFamily="34" charset="0"/>
                <a:cs typeface="Segoe UI" panose="020B0502040204020203" pitchFamily="34" charset="0"/>
              </a:rPr>
              <a:t> .</a:t>
            </a:r>
            <a:r>
              <a:rPr lang="en-US" altLang="en-US" dirty="0" err="1">
                <a:latin typeface="Segoe UI" panose="020B0502040204020203" pitchFamily="34" charset="0"/>
                <a:cs typeface="Segoe UI" panose="020B0502040204020203" pitchFamily="34" charset="0"/>
              </a:rPr>
              <a:t>ttf</a:t>
            </a:r>
            <a:r>
              <a:rPr lang="en-US" altLang="en-US" dirty="0">
                <a:latin typeface="Segoe UI" panose="020B0502040204020203" pitchFamily="34" charset="0"/>
                <a:cs typeface="Segoe UI" panose="020B0502040204020203" pitchFamily="34" charset="0"/>
              </a:rPr>
              <a:t> </a:t>
            </a:r>
            <a:r>
              <a:rPr lang="en-US" altLang="en-US" dirty="0" err="1">
                <a:latin typeface="Segoe UI" panose="020B0502040204020203" pitchFamily="34" charset="0"/>
                <a:cs typeface="Segoe UI" panose="020B0502040204020203" pitchFamily="34" charset="0"/>
              </a:rPr>
              <a:t>ou</a:t>
            </a:r>
            <a:r>
              <a:rPr lang="en-US" altLang="en-US" dirty="0">
                <a:latin typeface="Segoe UI" panose="020B0502040204020203" pitchFamily="34" charset="0"/>
                <a:cs typeface="Segoe UI" panose="020B0502040204020203" pitchFamily="34" charset="0"/>
              </a:rPr>
              <a:t> .</a:t>
            </a:r>
            <a:r>
              <a:rPr lang="en-US" altLang="en-US" dirty="0" err="1">
                <a:latin typeface="Segoe UI" panose="020B0502040204020203" pitchFamily="34" charset="0"/>
                <a:cs typeface="Segoe UI" panose="020B0502040204020203" pitchFamily="34" charset="0"/>
              </a:rPr>
              <a:t>otf</a:t>
            </a:r>
            <a:r>
              <a:rPr lang="en-US" altLang="en-US" dirty="0">
                <a:latin typeface="Segoe UI" panose="020B0502040204020203" pitchFamily="34" charset="0"/>
                <a:cs typeface="Segoe UI" panose="020B0502040204020203" pitchFamily="34" charset="0"/>
              </a:rPr>
              <a:t>.</a:t>
            </a:r>
          </a:p>
          <a:p>
            <a:pPr marL="427038" lvl="1" eaLnBrk="0" fontAlgn="base" hangingPunct="0">
              <a:spcBef>
                <a:spcPct val="0"/>
              </a:spcBef>
              <a:spcAft>
                <a:spcPct val="0"/>
              </a:spcAft>
              <a:buFontTx/>
              <a:buChar char="•"/>
              <a:tabLst/>
            </a:pPr>
            <a:r>
              <a:rPr lang="en-US" altLang="en-US" b="1" dirty="0" err="1">
                <a:latin typeface="Segoe UI" panose="020B0502040204020203" pitchFamily="34" charset="0"/>
                <a:cs typeface="Segoe UI" panose="020B0502040204020203" pitchFamily="34" charset="0"/>
              </a:rPr>
              <a:t>Utilisation</a:t>
            </a:r>
            <a:r>
              <a:rPr lang="en-US" altLang="en-US" dirty="0">
                <a:latin typeface="Segoe UI" panose="020B0502040204020203" pitchFamily="34" charset="0"/>
                <a:cs typeface="Segoe UI" panose="020B0502040204020203" pitchFamily="34" charset="0"/>
              </a:rPr>
              <a:t> :</a:t>
            </a:r>
          </a:p>
          <a:p>
            <a:pPr marL="1020762" lvl="2" indent="0" eaLnBrk="0" fontAlgn="base" hangingPunct="0">
              <a:spcBef>
                <a:spcPct val="0"/>
              </a:spcBef>
              <a:spcAft>
                <a:spcPct val="0"/>
              </a:spcAft>
              <a:buFontTx/>
              <a:buChar char="•"/>
              <a:tabLst/>
            </a:pPr>
            <a:r>
              <a:rPr lang="en-US" altLang="en-US" dirty="0" err="1">
                <a:latin typeface="Segoe UI" panose="020B0502040204020203" pitchFamily="34" charset="0"/>
                <a:cs typeface="Segoe UI" panose="020B0502040204020203" pitchFamily="34" charset="0"/>
              </a:rPr>
              <a:t>Cherche</a:t>
            </a:r>
            <a:r>
              <a:rPr lang="en-US" altLang="en-US" dirty="0">
                <a:latin typeface="Segoe UI" panose="020B0502040204020203" pitchFamily="34" charset="0"/>
                <a:cs typeface="Segoe UI" panose="020B0502040204020203" pitchFamily="34" charset="0"/>
              </a:rPr>
              <a:t> la police </a:t>
            </a:r>
            <a:r>
              <a:rPr lang="en-US" altLang="en-US" dirty="0" err="1">
                <a:latin typeface="Segoe UI" panose="020B0502040204020203" pitchFamily="34" charset="0"/>
                <a:cs typeface="Segoe UI" panose="020B0502040204020203" pitchFamily="34" charset="0"/>
              </a:rPr>
              <a:t>souhaitée</a:t>
            </a:r>
            <a:r>
              <a:rPr lang="en-US" altLang="en-US" dirty="0">
                <a:latin typeface="Segoe UI" panose="020B0502040204020203" pitchFamily="34" charset="0"/>
                <a:cs typeface="Segoe UI" panose="020B0502040204020203" pitchFamily="34" charset="0"/>
              </a:rPr>
              <a:t>.</a:t>
            </a:r>
          </a:p>
          <a:p>
            <a:pPr marL="1020762" lvl="2" indent="0" eaLnBrk="0" fontAlgn="base" hangingPunct="0">
              <a:spcBef>
                <a:spcPct val="0"/>
              </a:spcBef>
              <a:spcAft>
                <a:spcPct val="0"/>
              </a:spcAft>
              <a:buFontTx/>
              <a:buChar char="•"/>
              <a:tabLst/>
            </a:pPr>
            <a:r>
              <a:rPr lang="en-US" altLang="en-US" dirty="0">
                <a:latin typeface="Segoe UI" panose="020B0502040204020203" pitchFamily="34" charset="0"/>
                <a:cs typeface="Segoe UI" panose="020B0502040204020203" pitchFamily="34" charset="0"/>
              </a:rPr>
              <a:t>Clique sur </a:t>
            </a:r>
            <a:r>
              <a:rPr lang="en-US" altLang="en-US" b="1" dirty="0">
                <a:latin typeface="Segoe UI" panose="020B0502040204020203" pitchFamily="34" charset="0"/>
                <a:cs typeface="Segoe UI" panose="020B0502040204020203" pitchFamily="34" charset="0"/>
              </a:rPr>
              <a:t>Download family</a:t>
            </a:r>
            <a:r>
              <a:rPr lang="en-US" altLang="en-US" dirty="0">
                <a:latin typeface="Segoe UI" panose="020B0502040204020203" pitchFamily="34" charset="0"/>
                <a:cs typeface="Segoe UI" panose="020B0502040204020203" pitchFamily="34" charset="0"/>
              </a:rPr>
              <a:t>.</a:t>
            </a:r>
          </a:p>
          <a:p>
            <a:pPr marL="1020762" lvl="2" indent="0" eaLnBrk="0" fontAlgn="base" hangingPunct="0">
              <a:spcBef>
                <a:spcPct val="0"/>
              </a:spcBef>
              <a:spcAft>
                <a:spcPct val="0"/>
              </a:spcAft>
              <a:buFontTx/>
              <a:buChar char="•"/>
              <a:tabLst/>
            </a:pPr>
            <a:r>
              <a:rPr lang="en-US" altLang="en-US" dirty="0" err="1">
                <a:latin typeface="Segoe UI" panose="020B0502040204020203" pitchFamily="34" charset="0"/>
                <a:cs typeface="Segoe UI" panose="020B0502040204020203" pitchFamily="34" charset="0"/>
              </a:rPr>
              <a:t>Décompresse</a:t>
            </a:r>
            <a:r>
              <a:rPr lang="en-US" altLang="en-US" dirty="0">
                <a:latin typeface="Segoe UI" panose="020B0502040204020203" pitchFamily="34" charset="0"/>
                <a:cs typeface="Segoe UI" panose="020B0502040204020203" pitchFamily="34" charset="0"/>
              </a:rPr>
              <a:t> </a:t>
            </a:r>
            <a:r>
              <a:rPr lang="en-US" altLang="en-US" dirty="0" err="1">
                <a:latin typeface="Segoe UI" panose="020B0502040204020203" pitchFamily="34" charset="0"/>
                <a:cs typeface="Segoe UI" panose="020B0502040204020203" pitchFamily="34" charset="0"/>
              </a:rPr>
              <a:t>l'archive</a:t>
            </a:r>
            <a:r>
              <a:rPr lang="en-US" altLang="en-US" dirty="0">
                <a:latin typeface="Segoe UI" panose="020B0502040204020203" pitchFamily="34" charset="0"/>
                <a:cs typeface="Segoe UI" panose="020B0502040204020203" pitchFamily="34" charset="0"/>
              </a:rPr>
              <a:t> et </a:t>
            </a:r>
            <a:r>
              <a:rPr lang="en-US" altLang="en-US" dirty="0" err="1">
                <a:latin typeface="Segoe UI" panose="020B0502040204020203" pitchFamily="34" charset="0"/>
                <a:cs typeface="Segoe UI" panose="020B0502040204020203" pitchFamily="34" charset="0"/>
              </a:rPr>
              <a:t>récupère</a:t>
            </a:r>
            <a:r>
              <a:rPr lang="en-US" altLang="en-US" dirty="0">
                <a:latin typeface="Segoe UI" panose="020B0502040204020203" pitchFamily="34" charset="0"/>
                <a:cs typeface="Segoe UI" panose="020B0502040204020203" pitchFamily="34" charset="0"/>
              </a:rPr>
              <a:t> les </a:t>
            </a:r>
            <a:r>
              <a:rPr lang="en-US" altLang="en-US" dirty="0" err="1">
                <a:latin typeface="Segoe UI" panose="020B0502040204020203" pitchFamily="34" charset="0"/>
                <a:cs typeface="Segoe UI" panose="020B0502040204020203" pitchFamily="34" charset="0"/>
              </a:rPr>
              <a:t>fichiers</a:t>
            </a:r>
            <a:r>
              <a:rPr lang="en-US" altLang="en-US" dirty="0">
                <a:latin typeface="Segoe UI" panose="020B0502040204020203" pitchFamily="34" charset="0"/>
                <a:cs typeface="Segoe UI" panose="020B0502040204020203" pitchFamily="34" charset="0"/>
              </a:rPr>
              <a:t> .</a:t>
            </a:r>
            <a:r>
              <a:rPr lang="en-US" altLang="en-US" dirty="0" err="1">
                <a:latin typeface="Segoe UI" panose="020B0502040204020203" pitchFamily="34" charset="0"/>
                <a:cs typeface="Segoe UI" panose="020B0502040204020203" pitchFamily="34" charset="0"/>
              </a:rPr>
              <a:t>ttf</a:t>
            </a:r>
            <a:r>
              <a:rPr lang="en-US" altLang="en-US" dirty="0">
                <a:latin typeface="Segoe UI" panose="020B0502040204020203" pitchFamily="34" charset="0"/>
                <a:cs typeface="Segoe UI" panose="020B0502040204020203" pitchFamily="34" charset="0"/>
              </a:rPr>
              <a:t>.</a:t>
            </a:r>
          </a:p>
          <a:p>
            <a:pPr marL="0" lvl="0" eaLnBrk="0" fontAlgn="base" hangingPunct="0">
              <a:spcBef>
                <a:spcPct val="0"/>
              </a:spcBef>
              <a:spcAft>
                <a:spcPct val="0"/>
              </a:spcAft>
              <a:tabLst/>
            </a:pPr>
            <a:endParaRPr lang="en-US" altLang="en-US" dirty="0">
              <a:latin typeface="Segoe UI" panose="020B0502040204020203" pitchFamily="34" charset="0"/>
              <a:cs typeface="Segoe UI" panose="020B0502040204020203" pitchFamily="34" charset="0"/>
            </a:endParaRPr>
          </a:p>
        </p:txBody>
      </p:sp>
      <p:pic>
        <p:nvPicPr>
          <p:cNvPr id="4" name="Image 3"/>
          <p:cNvPicPr>
            <a:picLocks noChangeAspect="1"/>
          </p:cNvPicPr>
          <p:nvPr/>
        </p:nvPicPr>
        <p:blipFill>
          <a:blip r:embed="rId4"/>
          <a:stretch>
            <a:fillRect/>
          </a:stretch>
        </p:blipFill>
        <p:spPr>
          <a:xfrm>
            <a:off x="6095997" y="-3164750"/>
            <a:ext cx="5" cy="13187500"/>
          </a:xfrm>
          <a:prstGeom prst="rect">
            <a:avLst/>
          </a:prstGeom>
        </p:spPr>
      </p:pic>
    </p:spTree>
    <p:extLst>
      <p:ext uri="{BB962C8B-B14F-4D97-AF65-F5344CB8AC3E}">
        <p14:creationId xmlns:p14="http://schemas.microsoft.com/office/powerpoint/2010/main" val="26696079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8"/>
          <p:cNvSpPr txBox="1">
            <a:spLocks noChangeArrowheads="1"/>
          </p:cNvSpPr>
          <p:nvPr/>
        </p:nvSpPr>
        <p:spPr bwMode="auto">
          <a:xfrm>
            <a:off x="251167" y="617099"/>
            <a:ext cx="10057754" cy="51039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152400">
              <a:tabLst>
                <a:tab pos="5992813" algn="l"/>
              </a:tabLst>
              <a:defRPr>
                <a:solidFill>
                  <a:schemeClr val="tx1"/>
                </a:solidFill>
                <a:latin typeface="Calibri" panose="020F0502020204030204" pitchFamily="34" charset="0"/>
                <a:cs typeface="Arial" panose="020B0604020202020204" pitchFamily="34" charset="0"/>
              </a:defRPr>
            </a:lvl1pPr>
            <a:lvl2pPr marL="579438" indent="-242888">
              <a:tabLst>
                <a:tab pos="5992813" algn="l"/>
              </a:tabLst>
              <a:defRPr>
                <a:solidFill>
                  <a:schemeClr val="tx1"/>
                </a:solidFill>
                <a:latin typeface="Calibri" panose="020F0502020204030204" pitchFamily="34" charset="0"/>
                <a:cs typeface="Arial" panose="020B0604020202020204" pitchFamily="34" charset="0"/>
              </a:defRPr>
            </a:lvl2pPr>
            <a:lvl3pPr marL="1143000" indent="-228600">
              <a:tabLst>
                <a:tab pos="5992813" algn="l"/>
              </a:tabLst>
              <a:defRPr>
                <a:solidFill>
                  <a:schemeClr val="tx1"/>
                </a:solidFill>
                <a:latin typeface="Calibri" panose="020F0502020204030204" pitchFamily="34" charset="0"/>
                <a:cs typeface="Arial" panose="020B0604020202020204" pitchFamily="34" charset="0"/>
              </a:defRPr>
            </a:lvl3pPr>
            <a:lvl4pPr marL="1600200" indent="-228600">
              <a:tabLst>
                <a:tab pos="5992813" algn="l"/>
              </a:tabLst>
              <a:defRPr>
                <a:solidFill>
                  <a:schemeClr val="tx1"/>
                </a:solidFill>
                <a:latin typeface="Calibri" panose="020F0502020204030204" pitchFamily="34" charset="0"/>
                <a:cs typeface="Arial" panose="020B0604020202020204" pitchFamily="34" charset="0"/>
              </a:defRPr>
            </a:lvl4pPr>
            <a:lvl5pPr marL="2057400" indent="-228600">
              <a:tabLst>
                <a:tab pos="5992813" algn="l"/>
              </a:tabLst>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2200" u="sng" dirty="0">
                <a:latin typeface="Segoe UI Symbol" panose="020B0502040204020203" pitchFamily="34" charset="0"/>
              </a:rPr>
              <a:t>L</a:t>
            </a:r>
            <a:r>
              <a:rPr lang="en-US" altLang="en-US" sz="2200" u="sng" dirty="0" smtClean="0">
                <a:latin typeface="Segoe UI Symbol" panose="020B0502040204020203" pitchFamily="34" charset="0"/>
              </a:rPr>
              <a:t>es </a:t>
            </a:r>
            <a:r>
              <a:rPr lang="fr-FR" altLang="en-US" sz="2200" u="sng" dirty="0" smtClean="0">
                <a:latin typeface="Segoe UI Symbol" panose="020B0502040204020203" pitchFamily="34" charset="0"/>
              </a:rPr>
              <a:t>contrôles de présentation-Label</a:t>
            </a:r>
            <a:endParaRPr lang="fr-FR" altLang="en-US" sz="2200" dirty="0" smtClean="0">
              <a:latin typeface="Times New Roman" panose="02020603050405020304" pitchFamily="18" charset="0"/>
              <a:cs typeface="Times New Roman" panose="02020603050405020304" pitchFamily="18" charset="0"/>
            </a:endParaRPr>
          </a:p>
          <a:p>
            <a:pPr>
              <a:lnSpc>
                <a:spcPct val="150000"/>
              </a:lnSpc>
              <a:spcBef>
                <a:spcPts val="1625"/>
              </a:spcBef>
              <a:buClr>
                <a:srgbClr val="006498"/>
              </a:buClr>
              <a:buSzPct val="61000"/>
              <a:buFont typeface="Wingdings" panose="05000000000000000000" pitchFamily="2" charset="2"/>
              <a:buChar char=""/>
            </a:pPr>
            <a:r>
              <a:rPr lang="fr-FR" b="1" dirty="0" err="1" smtClean="0">
                <a:latin typeface="Segoe UI" panose="020B0502040204020203" pitchFamily="34" charset="0"/>
                <a:cs typeface="Segoe UI" panose="020B0502040204020203" pitchFamily="34" charset="0"/>
              </a:rPr>
              <a:t>FontSize</a:t>
            </a:r>
            <a:r>
              <a:rPr lang="fr-FR" b="1" dirty="0" smtClean="0">
                <a:latin typeface="Segoe UI" panose="020B0502040204020203" pitchFamily="34" charset="0"/>
                <a:cs typeface="Segoe UI" panose="020B0502040204020203" pitchFamily="34" charset="0"/>
              </a:rPr>
              <a:t>: </a:t>
            </a:r>
            <a:r>
              <a:rPr lang="fr-FR" dirty="0">
                <a:latin typeface="Segoe UI" panose="020B0502040204020203" pitchFamily="34" charset="0"/>
                <a:cs typeface="Segoe UI" panose="020B0502040204020203" pitchFamily="34" charset="0"/>
              </a:rPr>
              <a:t>de type double, définit la taille de police.</a:t>
            </a:r>
          </a:p>
          <a:p>
            <a:pPr>
              <a:lnSpc>
                <a:spcPct val="150000"/>
              </a:lnSpc>
              <a:spcBef>
                <a:spcPts val="1625"/>
              </a:spcBef>
              <a:buClr>
                <a:srgbClr val="006498"/>
              </a:buClr>
              <a:buSzPct val="61000"/>
              <a:buFont typeface="Wingdings" panose="05000000000000000000" pitchFamily="2" charset="2"/>
              <a:buChar char=""/>
            </a:pPr>
            <a:r>
              <a:rPr lang="fr-FR" b="1" dirty="0" err="1" smtClean="0">
                <a:latin typeface="Segoe UI" panose="020B0502040204020203" pitchFamily="34" charset="0"/>
                <a:cs typeface="Segoe UI" panose="020B0502040204020203" pitchFamily="34" charset="0"/>
              </a:rPr>
              <a:t>FormattedText</a:t>
            </a:r>
            <a:r>
              <a:rPr lang="fr-FR" b="1" dirty="0" smtClean="0">
                <a:latin typeface="Segoe UI" panose="020B0502040204020203" pitchFamily="34" charset="0"/>
                <a:cs typeface="Segoe UI" panose="020B0502040204020203" pitchFamily="34" charset="0"/>
              </a:rPr>
              <a:t>: </a:t>
            </a:r>
            <a:r>
              <a:rPr lang="fr-FR" dirty="0">
                <a:latin typeface="Segoe UI" panose="020B0502040204020203" pitchFamily="34" charset="0"/>
                <a:cs typeface="Segoe UI" panose="020B0502040204020203" pitchFamily="34" charset="0"/>
              </a:rPr>
              <a:t>de type </a:t>
            </a:r>
            <a:r>
              <a:rPr lang="fr-FR" b="1" dirty="0" err="1">
                <a:latin typeface="Segoe UI" panose="020B0502040204020203" pitchFamily="34" charset="0"/>
                <a:cs typeface="Segoe UI" panose="020B0502040204020203" pitchFamily="34" charset="0"/>
              </a:rPr>
              <a:t>FormattedString</a:t>
            </a:r>
            <a:r>
              <a:rPr lang="fr-FR" dirty="0">
                <a:latin typeface="Segoe UI" panose="020B0502040204020203" pitchFamily="34" charset="0"/>
                <a:cs typeface="Segoe UI" panose="020B0502040204020203" pitchFamily="34" charset="0"/>
              </a:rPr>
              <a:t>, spécifie la présentation du texte avec plusieurs options de présentation telles que les polices et les couleurs.</a:t>
            </a:r>
          </a:p>
          <a:p>
            <a:pPr>
              <a:lnSpc>
                <a:spcPct val="150000"/>
              </a:lnSpc>
              <a:spcBef>
                <a:spcPts val="1625"/>
              </a:spcBef>
              <a:buClr>
                <a:srgbClr val="006498"/>
              </a:buClr>
              <a:buSzPct val="61000"/>
              <a:buFont typeface="Wingdings" panose="05000000000000000000" pitchFamily="2" charset="2"/>
              <a:buChar char=""/>
            </a:pPr>
            <a:r>
              <a:rPr lang="fr-FR" b="1" dirty="0" err="1" smtClean="0">
                <a:latin typeface="Segoe UI" panose="020B0502040204020203" pitchFamily="34" charset="0"/>
                <a:cs typeface="Segoe UI" panose="020B0502040204020203" pitchFamily="34" charset="0"/>
              </a:rPr>
              <a:t>HorizontalTextAlignment</a:t>
            </a:r>
            <a:r>
              <a:rPr lang="fr-FR" b="1" dirty="0" smtClean="0">
                <a:latin typeface="Segoe UI" panose="020B0502040204020203" pitchFamily="34" charset="0"/>
                <a:cs typeface="Segoe UI" panose="020B0502040204020203" pitchFamily="34" charset="0"/>
              </a:rPr>
              <a:t> </a:t>
            </a:r>
            <a:r>
              <a:rPr lang="fr-FR" dirty="0">
                <a:latin typeface="Segoe UI" panose="020B0502040204020203" pitchFamily="34" charset="0"/>
                <a:cs typeface="Segoe UI" panose="020B0502040204020203" pitchFamily="34" charset="0"/>
              </a:rPr>
              <a:t>de type </a:t>
            </a:r>
            <a:r>
              <a:rPr lang="fr-FR" dirty="0" err="1">
                <a:latin typeface="Segoe UI" panose="020B0502040204020203" pitchFamily="34" charset="0"/>
                <a:cs typeface="Segoe UI" panose="020B0502040204020203" pitchFamily="34" charset="0"/>
              </a:rPr>
              <a:t>TextAlignment</a:t>
            </a:r>
            <a:r>
              <a:rPr lang="fr-FR" dirty="0">
                <a:latin typeface="Segoe UI" panose="020B0502040204020203" pitchFamily="34" charset="0"/>
                <a:cs typeface="Segoe UI" panose="020B0502040204020203" pitchFamily="34" charset="0"/>
              </a:rPr>
              <a:t>, définit l’alignement horizontal du texte affiché.</a:t>
            </a:r>
          </a:p>
          <a:p>
            <a:pPr>
              <a:lnSpc>
                <a:spcPct val="150000"/>
              </a:lnSpc>
              <a:spcBef>
                <a:spcPts val="1625"/>
              </a:spcBef>
              <a:buClr>
                <a:srgbClr val="006498"/>
              </a:buClr>
              <a:buSzPct val="61000"/>
              <a:buFont typeface="Wingdings" panose="05000000000000000000" pitchFamily="2" charset="2"/>
              <a:buChar char=""/>
            </a:pPr>
            <a:r>
              <a:rPr lang="fr-FR" b="1" dirty="0" err="1" smtClean="0">
                <a:latin typeface="Segoe UI" panose="020B0502040204020203" pitchFamily="34" charset="0"/>
                <a:cs typeface="Segoe UI" panose="020B0502040204020203" pitchFamily="34" charset="0"/>
              </a:rPr>
              <a:t>LineBreakMode</a:t>
            </a:r>
            <a:r>
              <a:rPr lang="fr-FR" b="1" dirty="0" smtClean="0">
                <a:latin typeface="Segoe UI" panose="020B0502040204020203" pitchFamily="34" charset="0"/>
                <a:cs typeface="Segoe UI" panose="020B0502040204020203" pitchFamily="34" charset="0"/>
              </a:rPr>
              <a:t>: </a:t>
            </a:r>
            <a:r>
              <a:rPr lang="fr-FR" dirty="0">
                <a:latin typeface="Segoe UI" panose="020B0502040204020203" pitchFamily="34" charset="0"/>
                <a:cs typeface="Segoe UI" panose="020B0502040204020203" pitchFamily="34" charset="0"/>
              </a:rPr>
              <a:t>de type </a:t>
            </a:r>
            <a:r>
              <a:rPr lang="fr-FR" b="1" dirty="0" err="1">
                <a:latin typeface="Segoe UI" panose="020B0502040204020203" pitchFamily="34" charset="0"/>
                <a:cs typeface="Segoe UI" panose="020B0502040204020203" pitchFamily="34" charset="0"/>
              </a:rPr>
              <a:t>LineBreakMode</a:t>
            </a:r>
            <a:r>
              <a:rPr lang="fr-FR" dirty="0">
                <a:latin typeface="Segoe UI" panose="020B0502040204020203" pitchFamily="34" charset="0"/>
                <a:cs typeface="Segoe UI" panose="020B0502040204020203" pitchFamily="34" charset="0"/>
              </a:rPr>
              <a:t>, détermine la façon dont le texte doit être géré lorsqu’il ne peut pas tenir sur une ligne.</a:t>
            </a:r>
          </a:p>
          <a:p>
            <a:pPr>
              <a:lnSpc>
                <a:spcPct val="150000"/>
              </a:lnSpc>
              <a:spcBef>
                <a:spcPts val="1625"/>
              </a:spcBef>
              <a:buClr>
                <a:srgbClr val="006498"/>
              </a:buClr>
              <a:buSzPct val="61000"/>
              <a:buFont typeface="Wingdings" panose="05000000000000000000" pitchFamily="2" charset="2"/>
              <a:buChar char=""/>
            </a:pPr>
            <a:r>
              <a:rPr lang="fr-FR" b="1" dirty="0" err="1" smtClean="0">
                <a:latin typeface="Segoe UI" panose="020B0502040204020203" pitchFamily="34" charset="0"/>
                <a:cs typeface="Segoe UI" panose="020B0502040204020203" pitchFamily="34" charset="0"/>
              </a:rPr>
              <a:t>LineHeight</a:t>
            </a:r>
            <a:r>
              <a:rPr lang="fr-FR" b="1" dirty="0" smtClean="0">
                <a:latin typeface="Segoe UI" panose="020B0502040204020203" pitchFamily="34" charset="0"/>
                <a:cs typeface="Segoe UI" panose="020B0502040204020203" pitchFamily="34" charset="0"/>
              </a:rPr>
              <a:t>: </a:t>
            </a:r>
            <a:r>
              <a:rPr lang="fr-FR" dirty="0">
                <a:latin typeface="Segoe UI" panose="020B0502040204020203" pitchFamily="34" charset="0"/>
                <a:cs typeface="Segoe UI" panose="020B0502040204020203" pitchFamily="34" charset="0"/>
              </a:rPr>
              <a:t>de type double, spécifie le multiplicateur à appliquer à la hauteur de ligne par défaut lors de l’affichage du texte.</a:t>
            </a:r>
          </a:p>
        </p:txBody>
      </p:sp>
      <p:pic>
        <p:nvPicPr>
          <p:cNvPr id="4" name="Image 3"/>
          <p:cNvPicPr>
            <a:picLocks noChangeAspect="1"/>
          </p:cNvPicPr>
          <p:nvPr/>
        </p:nvPicPr>
        <p:blipFill>
          <a:blip r:embed="rId3"/>
          <a:stretch>
            <a:fillRect/>
          </a:stretch>
        </p:blipFill>
        <p:spPr>
          <a:xfrm>
            <a:off x="6095997" y="-3164750"/>
            <a:ext cx="5" cy="13187500"/>
          </a:xfrm>
          <a:prstGeom prst="rect">
            <a:avLst/>
          </a:prstGeom>
        </p:spPr>
      </p:pic>
    </p:spTree>
    <p:extLst>
      <p:ext uri="{BB962C8B-B14F-4D97-AF65-F5344CB8AC3E}">
        <p14:creationId xmlns:p14="http://schemas.microsoft.com/office/powerpoint/2010/main" val="7669871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8"/>
          <p:cNvSpPr txBox="1">
            <a:spLocks noChangeArrowheads="1"/>
          </p:cNvSpPr>
          <p:nvPr/>
        </p:nvSpPr>
        <p:spPr bwMode="auto">
          <a:xfrm>
            <a:off x="251166" y="617099"/>
            <a:ext cx="10821841" cy="5098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152400">
              <a:tabLst>
                <a:tab pos="5992813" algn="l"/>
              </a:tabLst>
              <a:defRPr>
                <a:solidFill>
                  <a:schemeClr val="tx1"/>
                </a:solidFill>
                <a:latin typeface="Calibri" panose="020F0502020204030204" pitchFamily="34" charset="0"/>
                <a:cs typeface="Arial" panose="020B0604020202020204" pitchFamily="34" charset="0"/>
              </a:defRPr>
            </a:lvl1pPr>
            <a:lvl2pPr marL="579438" indent="-242888">
              <a:tabLst>
                <a:tab pos="5992813" algn="l"/>
              </a:tabLst>
              <a:defRPr>
                <a:solidFill>
                  <a:schemeClr val="tx1"/>
                </a:solidFill>
                <a:latin typeface="Calibri" panose="020F0502020204030204" pitchFamily="34" charset="0"/>
                <a:cs typeface="Arial" panose="020B0604020202020204" pitchFamily="34" charset="0"/>
              </a:defRPr>
            </a:lvl2pPr>
            <a:lvl3pPr marL="1143000" indent="-228600">
              <a:tabLst>
                <a:tab pos="5992813" algn="l"/>
              </a:tabLst>
              <a:defRPr>
                <a:solidFill>
                  <a:schemeClr val="tx1"/>
                </a:solidFill>
                <a:latin typeface="Calibri" panose="020F0502020204030204" pitchFamily="34" charset="0"/>
                <a:cs typeface="Arial" panose="020B0604020202020204" pitchFamily="34" charset="0"/>
              </a:defRPr>
            </a:lvl3pPr>
            <a:lvl4pPr marL="1600200" indent="-228600">
              <a:tabLst>
                <a:tab pos="5992813" algn="l"/>
              </a:tabLst>
              <a:defRPr>
                <a:solidFill>
                  <a:schemeClr val="tx1"/>
                </a:solidFill>
                <a:latin typeface="Calibri" panose="020F0502020204030204" pitchFamily="34" charset="0"/>
                <a:cs typeface="Arial" panose="020B0604020202020204" pitchFamily="34" charset="0"/>
              </a:defRPr>
            </a:lvl4pPr>
            <a:lvl5pPr marL="2057400" indent="-228600">
              <a:tabLst>
                <a:tab pos="5992813" algn="l"/>
              </a:tabLst>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2200" u="sng" dirty="0">
                <a:latin typeface="Segoe UI Symbol" panose="020B0502040204020203" pitchFamily="34" charset="0"/>
              </a:rPr>
              <a:t>L</a:t>
            </a:r>
            <a:r>
              <a:rPr lang="en-US" altLang="en-US" sz="2200" u="sng" dirty="0" smtClean="0">
                <a:latin typeface="Segoe UI Symbol" panose="020B0502040204020203" pitchFamily="34" charset="0"/>
              </a:rPr>
              <a:t>es </a:t>
            </a:r>
            <a:r>
              <a:rPr lang="fr-FR" altLang="en-US" sz="2200" u="sng" dirty="0" smtClean="0">
                <a:latin typeface="Segoe UI Symbol" panose="020B0502040204020203" pitchFamily="34" charset="0"/>
              </a:rPr>
              <a:t>contrôles de présentation-Label</a:t>
            </a:r>
            <a:endParaRPr lang="fr-FR" altLang="en-US" sz="2200" dirty="0" smtClean="0">
              <a:latin typeface="Times New Roman" panose="02020603050405020304" pitchFamily="18" charset="0"/>
              <a:cs typeface="Times New Roman" panose="02020603050405020304" pitchFamily="18" charset="0"/>
            </a:endParaRPr>
          </a:p>
          <a:p>
            <a:pPr>
              <a:lnSpc>
                <a:spcPct val="150000"/>
              </a:lnSpc>
              <a:spcBef>
                <a:spcPts val="1625"/>
              </a:spcBef>
              <a:buClr>
                <a:srgbClr val="006498"/>
              </a:buClr>
              <a:buSzPct val="61000"/>
              <a:buFont typeface="Wingdings" panose="05000000000000000000" pitchFamily="2" charset="2"/>
              <a:buChar char=""/>
            </a:pPr>
            <a:r>
              <a:rPr lang="fr-FR" b="1" dirty="0" smtClean="0">
                <a:latin typeface="Segoe UI" panose="020B0502040204020203" pitchFamily="34" charset="0"/>
                <a:cs typeface="Segoe UI" panose="020B0502040204020203" pitchFamily="34" charset="0"/>
              </a:rPr>
              <a:t>Padding: </a:t>
            </a:r>
            <a:r>
              <a:rPr lang="fr-FR" dirty="0">
                <a:latin typeface="Segoe UI" panose="020B0502040204020203" pitchFamily="34" charset="0"/>
                <a:cs typeface="Segoe UI" panose="020B0502040204020203" pitchFamily="34" charset="0"/>
              </a:rPr>
              <a:t>de type Thickness, détermine le remplissage de l’étiquette.</a:t>
            </a:r>
          </a:p>
          <a:p>
            <a:pPr>
              <a:lnSpc>
                <a:spcPct val="150000"/>
              </a:lnSpc>
              <a:spcBef>
                <a:spcPts val="1625"/>
              </a:spcBef>
              <a:buClr>
                <a:srgbClr val="006498"/>
              </a:buClr>
              <a:buSzPct val="61000"/>
              <a:buFont typeface="Wingdings" panose="05000000000000000000" pitchFamily="2" charset="2"/>
              <a:buChar char=""/>
            </a:pPr>
            <a:r>
              <a:rPr lang="fr-FR" b="1" dirty="0" smtClean="0">
                <a:latin typeface="Segoe UI" panose="020B0502040204020203" pitchFamily="34" charset="0"/>
                <a:cs typeface="Segoe UI" panose="020B0502040204020203" pitchFamily="34" charset="0"/>
              </a:rPr>
              <a:t>Text: </a:t>
            </a:r>
            <a:r>
              <a:rPr lang="fr-FR" dirty="0">
                <a:latin typeface="Segoe UI" panose="020B0502040204020203" pitchFamily="34" charset="0"/>
                <a:cs typeface="Segoe UI" panose="020B0502040204020203" pitchFamily="34" charset="0"/>
              </a:rPr>
              <a:t>de type string, définit le texte affiché comme contenu de l’étiquette.</a:t>
            </a:r>
          </a:p>
          <a:p>
            <a:pPr>
              <a:lnSpc>
                <a:spcPct val="150000"/>
              </a:lnSpc>
              <a:spcBef>
                <a:spcPts val="1625"/>
              </a:spcBef>
              <a:buClr>
                <a:srgbClr val="006498"/>
              </a:buClr>
              <a:buSzPct val="61000"/>
              <a:buFont typeface="Wingdings" panose="05000000000000000000" pitchFamily="2" charset="2"/>
              <a:buChar char=""/>
            </a:pPr>
            <a:r>
              <a:rPr lang="fr-FR" b="1" dirty="0" err="1" smtClean="0">
                <a:latin typeface="Segoe UI" panose="020B0502040204020203" pitchFamily="34" charset="0"/>
                <a:cs typeface="Segoe UI" panose="020B0502040204020203" pitchFamily="34" charset="0"/>
              </a:rPr>
              <a:t>TextColor</a:t>
            </a:r>
            <a:r>
              <a:rPr lang="fr-FR" b="1" dirty="0" smtClean="0">
                <a:latin typeface="Segoe UI" panose="020B0502040204020203" pitchFamily="34" charset="0"/>
                <a:cs typeface="Segoe UI" panose="020B0502040204020203" pitchFamily="34" charset="0"/>
              </a:rPr>
              <a:t>: </a:t>
            </a:r>
            <a:r>
              <a:rPr lang="fr-FR" dirty="0">
                <a:latin typeface="Segoe UI" panose="020B0502040204020203" pitchFamily="34" charset="0"/>
                <a:cs typeface="Segoe UI" panose="020B0502040204020203" pitchFamily="34" charset="0"/>
              </a:rPr>
              <a:t>de type </a:t>
            </a:r>
            <a:r>
              <a:rPr lang="fr-FR" dirty="0" err="1">
                <a:latin typeface="Segoe UI" panose="020B0502040204020203" pitchFamily="34" charset="0"/>
                <a:cs typeface="Segoe UI" panose="020B0502040204020203" pitchFamily="34" charset="0"/>
              </a:rPr>
              <a:t>Color</a:t>
            </a:r>
            <a:r>
              <a:rPr lang="fr-FR" dirty="0">
                <a:latin typeface="Segoe UI" panose="020B0502040204020203" pitchFamily="34" charset="0"/>
                <a:cs typeface="Segoe UI" panose="020B0502040204020203" pitchFamily="34" charset="0"/>
              </a:rPr>
              <a:t>, définit la couleur du texte affiché.</a:t>
            </a:r>
          </a:p>
          <a:p>
            <a:pPr>
              <a:lnSpc>
                <a:spcPct val="150000"/>
              </a:lnSpc>
              <a:spcBef>
                <a:spcPts val="1625"/>
              </a:spcBef>
              <a:buClr>
                <a:srgbClr val="006498"/>
              </a:buClr>
              <a:buSzPct val="61000"/>
              <a:buFont typeface="Wingdings" panose="05000000000000000000" pitchFamily="2" charset="2"/>
              <a:buChar char=""/>
            </a:pPr>
            <a:r>
              <a:rPr lang="fr-FR" b="1" dirty="0" err="1" smtClean="0">
                <a:latin typeface="Segoe UI" panose="020B0502040204020203" pitchFamily="34" charset="0"/>
                <a:cs typeface="Segoe UI" panose="020B0502040204020203" pitchFamily="34" charset="0"/>
              </a:rPr>
              <a:t>TextDecorations</a:t>
            </a:r>
            <a:r>
              <a:rPr lang="fr-FR" b="1" dirty="0" smtClean="0">
                <a:latin typeface="Segoe UI" panose="020B0502040204020203" pitchFamily="34" charset="0"/>
                <a:cs typeface="Segoe UI" panose="020B0502040204020203" pitchFamily="34" charset="0"/>
              </a:rPr>
              <a:t>: </a:t>
            </a:r>
            <a:r>
              <a:rPr lang="fr-FR" dirty="0">
                <a:latin typeface="Segoe UI" panose="020B0502040204020203" pitchFamily="34" charset="0"/>
                <a:cs typeface="Segoe UI" panose="020B0502040204020203" pitchFamily="34" charset="0"/>
              </a:rPr>
              <a:t>de type </a:t>
            </a:r>
            <a:r>
              <a:rPr lang="fr-FR" b="1" dirty="0" err="1">
                <a:latin typeface="Segoe UI" panose="020B0502040204020203" pitchFamily="34" charset="0"/>
                <a:cs typeface="Segoe UI" panose="020B0502040204020203" pitchFamily="34" charset="0"/>
              </a:rPr>
              <a:t>TextDecorations</a:t>
            </a:r>
            <a:r>
              <a:rPr lang="fr-FR" dirty="0">
                <a:latin typeface="Segoe UI" panose="020B0502040204020203" pitchFamily="34" charset="0"/>
                <a:cs typeface="Segoe UI" panose="020B0502040204020203" pitchFamily="34" charset="0"/>
              </a:rPr>
              <a:t>, spécifie les décorations de texte (soulignement et barré) qui peuvent être appliquées.</a:t>
            </a:r>
          </a:p>
          <a:p>
            <a:pPr>
              <a:lnSpc>
                <a:spcPct val="150000"/>
              </a:lnSpc>
              <a:spcBef>
                <a:spcPts val="1625"/>
              </a:spcBef>
              <a:buClr>
                <a:srgbClr val="006498"/>
              </a:buClr>
              <a:buSzPct val="61000"/>
              <a:buFont typeface="Wingdings" panose="05000000000000000000" pitchFamily="2" charset="2"/>
              <a:buChar char=""/>
            </a:pPr>
            <a:r>
              <a:rPr lang="fr-FR" b="1" dirty="0" err="1" smtClean="0">
                <a:latin typeface="Segoe UI" panose="020B0502040204020203" pitchFamily="34" charset="0"/>
                <a:cs typeface="Segoe UI" panose="020B0502040204020203" pitchFamily="34" charset="0"/>
              </a:rPr>
              <a:t>TextTransform</a:t>
            </a:r>
            <a:r>
              <a:rPr lang="fr-FR" b="1" dirty="0" smtClean="0">
                <a:latin typeface="Segoe UI" panose="020B0502040204020203" pitchFamily="34" charset="0"/>
                <a:cs typeface="Segoe UI" panose="020B0502040204020203" pitchFamily="34" charset="0"/>
              </a:rPr>
              <a:t>: </a:t>
            </a:r>
            <a:r>
              <a:rPr lang="fr-FR" dirty="0">
                <a:latin typeface="Segoe UI" panose="020B0502040204020203" pitchFamily="34" charset="0"/>
                <a:cs typeface="Segoe UI" panose="020B0502040204020203" pitchFamily="34" charset="0"/>
              </a:rPr>
              <a:t>de type </a:t>
            </a:r>
            <a:r>
              <a:rPr lang="fr-FR" dirty="0" err="1">
                <a:latin typeface="Segoe UI" panose="020B0502040204020203" pitchFamily="34" charset="0"/>
                <a:cs typeface="Segoe UI" panose="020B0502040204020203" pitchFamily="34" charset="0"/>
              </a:rPr>
              <a:t>TextTransform</a:t>
            </a:r>
            <a:r>
              <a:rPr lang="fr-FR" dirty="0">
                <a:latin typeface="Segoe UI" panose="020B0502040204020203" pitchFamily="34" charset="0"/>
                <a:cs typeface="Segoe UI" panose="020B0502040204020203" pitchFamily="34" charset="0"/>
              </a:rPr>
              <a:t>, spécifie la casse du texte affiché.</a:t>
            </a:r>
          </a:p>
          <a:p>
            <a:pPr>
              <a:lnSpc>
                <a:spcPct val="150000"/>
              </a:lnSpc>
              <a:spcBef>
                <a:spcPts val="1625"/>
              </a:spcBef>
              <a:buClr>
                <a:srgbClr val="006498"/>
              </a:buClr>
              <a:buSzPct val="61000"/>
              <a:buFont typeface="Wingdings" panose="05000000000000000000" pitchFamily="2" charset="2"/>
              <a:buChar char=""/>
            </a:pPr>
            <a:r>
              <a:rPr lang="fr-FR" b="1" dirty="0" err="1" smtClean="0">
                <a:latin typeface="Segoe UI" panose="020B0502040204020203" pitchFamily="34" charset="0"/>
                <a:cs typeface="Segoe UI" panose="020B0502040204020203" pitchFamily="34" charset="0"/>
              </a:rPr>
              <a:t>TextType</a:t>
            </a:r>
            <a:r>
              <a:rPr lang="fr-FR" b="1" dirty="0" smtClean="0">
                <a:latin typeface="Segoe UI" panose="020B0502040204020203" pitchFamily="34" charset="0"/>
                <a:cs typeface="Segoe UI" panose="020B0502040204020203" pitchFamily="34" charset="0"/>
              </a:rPr>
              <a:t>: </a:t>
            </a:r>
            <a:r>
              <a:rPr lang="fr-FR" dirty="0">
                <a:latin typeface="Segoe UI" panose="020B0502040204020203" pitchFamily="34" charset="0"/>
                <a:cs typeface="Segoe UI" panose="020B0502040204020203" pitchFamily="34" charset="0"/>
              </a:rPr>
              <a:t>de type </a:t>
            </a:r>
            <a:r>
              <a:rPr lang="fr-FR" dirty="0" err="1">
                <a:latin typeface="Segoe UI" panose="020B0502040204020203" pitchFamily="34" charset="0"/>
                <a:cs typeface="Segoe UI" panose="020B0502040204020203" pitchFamily="34" charset="0"/>
              </a:rPr>
              <a:t>TextType</a:t>
            </a:r>
            <a:r>
              <a:rPr lang="fr-FR" dirty="0">
                <a:latin typeface="Segoe UI" panose="020B0502040204020203" pitchFamily="34" charset="0"/>
                <a:cs typeface="Segoe UI" panose="020B0502040204020203" pitchFamily="34" charset="0"/>
              </a:rPr>
              <a:t>, détermine si doit afficher du Label texte brut ou du texte HTML.</a:t>
            </a:r>
          </a:p>
          <a:p>
            <a:pPr>
              <a:lnSpc>
                <a:spcPct val="150000"/>
              </a:lnSpc>
              <a:spcBef>
                <a:spcPts val="1625"/>
              </a:spcBef>
              <a:buClr>
                <a:srgbClr val="006498"/>
              </a:buClr>
              <a:buSzPct val="61000"/>
              <a:buFont typeface="Wingdings" panose="05000000000000000000" pitchFamily="2" charset="2"/>
              <a:buChar char=""/>
            </a:pPr>
            <a:r>
              <a:rPr lang="fr-FR" b="1" dirty="0" err="1" smtClean="0">
                <a:latin typeface="Segoe UI" panose="020B0502040204020203" pitchFamily="34" charset="0"/>
                <a:cs typeface="Segoe UI" panose="020B0502040204020203" pitchFamily="34" charset="0"/>
              </a:rPr>
              <a:t>VerticalTextAlignment</a:t>
            </a:r>
            <a:r>
              <a:rPr lang="fr-FR" b="1" dirty="0" smtClean="0">
                <a:latin typeface="Segoe UI" panose="020B0502040204020203" pitchFamily="34" charset="0"/>
                <a:cs typeface="Segoe UI" panose="020B0502040204020203" pitchFamily="34" charset="0"/>
              </a:rPr>
              <a:t>: </a:t>
            </a:r>
            <a:r>
              <a:rPr lang="fr-FR" dirty="0" smtClean="0">
                <a:latin typeface="Segoe UI" panose="020B0502040204020203" pitchFamily="34" charset="0"/>
                <a:cs typeface="Segoe UI" panose="020B0502040204020203" pitchFamily="34" charset="0"/>
              </a:rPr>
              <a:t>de </a:t>
            </a:r>
            <a:r>
              <a:rPr lang="fr-FR" dirty="0">
                <a:latin typeface="Segoe UI" panose="020B0502040204020203" pitchFamily="34" charset="0"/>
                <a:cs typeface="Segoe UI" panose="020B0502040204020203" pitchFamily="34" charset="0"/>
              </a:rPr>
              <a:t>type </a:t>
            </a:r>
            <a:r>
              <a:rPr lang="fr-FR" dirty="0" err="1">
                <a:latin typeface="Segoe UI" panose="020B0502040204020203" pitchFamily="34" charset="0"/>
                <a:cs typeface="Segoe UI" panose="020B0502040204020203" pitchFamily="34" charset="0"/>
              </a:rPr>
              <a:t>TextAlignment</a:t>
            </a:r>
            <a:r>
              <a:rPr lang="fr-FR" dirty="0">
                <a:latin typeface="Segoe UI" panose="020B0502040204020203" pitchFamily="34" charset="0"/>
                <a:cs typeface="Segoe UI" panose="020B0502040204020203" pitchFamily="34" charset="0"/>
              </a:rPr>
              <a:t>, définit l’alignement vertical du texte affiché</a:t>
            </a:r>
          </a:p>
        </p:txBody>
      </p:sp>
      <p:pic>
        <p:nvPicPr>
          <p:cNvPr id="4" name="Image 3"/>
          <p:cNvPicPr>
            <a:picLocks noChangeAspect="1"/>
          </p:cNvPicPr>
          <p:nvPr/>
        </p:nvPicPr>
        <p:blipFill>
          <a:blip r:embed="rId3"/>
          <a:stretch>
            <a:fillRect/>
          </a:stretch>
        </p:blipFill>
        <p:spPr>
          <a:xfrm>
            <a:off x="6095997" y="-3164750"/>
            <a:ext cx="5" cy="13187500"/>
          </a:xfrm>
          <a:prstGeom prst="rect">
            <a:avLst/>
          </a:prstGeom>
        </p:spPr>
      </p:pic>
    </p:spTree>
    <p:extLst>
      <p:ext uri="{BB962C8B-B14F-4D97-AF65-F5344CB8AC3E}">
        <p14:creationId xmlns:p14="http://schemas.microsoft.com/office/powerpoint/2010/main" val="4739626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8"/>
          <p:cNvSpPr txBox="1">
            <a:spLocks noChangeArrowheads="1"/>
          </p:cNvSpPr>
          <p:nvPr/>
        </p:nvSpPr>
        <p:spPr bwMode="auto">
          <a:xfrm>
            <a:off x="251166" y="617099"/>
            <a:ext cx="7289413" cy="4483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152400">
              <a:tabLst>
                <a:tab pos="5992813" algn="l"/>
              </a:tabLst>
              <a:defRPr>
                <a:solidFill>
                  <a:schemeClr val="tx1"/>
                </a:solidFill>
                <a:latin typeface="Calibri" panose="020F0502020204030204" pitchFamily="34" charset="0"/>
                <a:cs typeface="Arial" panose="020B0604020202020204" pitchFamily="34" charset="0"/>
              </a:defRPr>
            </a:lvl1pPr>
            <a:lvl2pPr marL="579438" indent="-242888">
              <a:tabLst>
                <a:tab pos="5992813" algn="l"/>
              </a:tabLst>
              <a:defRPr>
                <a:solidFill>
                  <a:schemeClr val="tx1"/>
                </a:solidFill>
                <a:latin typeface="Calibri" panose="020F0502020204030204" pitchFamily="34" charset="0"/>
                <a:cs typeface="Arial" panose="020B0604020202020204" pitchFamily="34" charset="0"/>
              </a:defRPr>
            </a:lvl2pPr>
            <a:lvl3pPr marL="1143000" indent="-228600">
              <a:tabLst>
                <a:tab pos="5992813" algn="l"/>
              </a:tabLst>
              <a:defRPr>
                <a:solidFill>
                  <a:schemeClr val="tx1"/>
                </a:solidFill>
                <a:latin typeface="Calibri" panose="020F0502020204030204" pitchFamily="34" charset="0"/>
                <a:cs typeface="Arial" panose="020B0604020202020204" pitchFamily="34" charset="0"/>
              </a:defRPr>
            </a:lvl3pPr>
            <a:lvl4pPr marL="1600200" indent="-228600">
              <a:tabLst>
                <a:tab pos="5992813" algn="l"/>
              </a:tabLst>
              <a:defRPr>
                <a:solidFill>
                  <a:schemeClr val="tx1"/>
                </a:solidFill>
                <a:latin typeface="Calibri" panose="020F0502020204030204" pitchFamily="34" charset="0"/>
                <a:cs typeface="Arial" panose="020B0604020202020204" pitchFamily="34" charset="0"/>
              </a:defRPr>
            </a:lvl4pPr>
            <a:lvl5pPr marL="2057400" indent="-228600">
              <a:tabLst>
                <a:tab pos="5992813" algn="l"/>
              </a:tabLst>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2200" u="sng" dirty="0">
                <a:latin typeface="Segoe UI Symbol" panose="020B0502040204020203" pitchFamily="34" charset="0"/>
              </a:rPr>
              <a:t>L</a:t>
            </a:r>
            <a:r>
              <a:rPr lang="en-US" altLang="en-US" sz="2200" u="sng" dirty="0" smtClean="0">
                <a:latin typeface="Segoe UI Symbol" panose="020B0502040204020203" pitchFamily="34" charset="0"/>
              </a:rPr>
              <a:t>es </a:t>
            </a:r>
            <a:r>
              <a:rPr lang="fr-FR" altLang="en-US" sz="2200" u="sng" dirty="0" smtClean="0">
                <a:latin typeface="Segoe UI Symbol" panose="020B0502040204020203" pitchFamily="34" charset="0"/>
              </a:rPr>
              <a:t>contrôles de présentation-</a:t>
            </a:r>
            <a:r>
              <a:rPr lang="fr-FR" altLang="en-US" sz="2200" u="sng" dirty="0" err="1" smtClean="0">
                <a:latin typeface="Segoe UI Symbol" panose="020B0502040204020203" pitchFamily="34" charset="0"/>
              </a:rPr>
              <a:t>ScrollView</a:t>
            </a:r>
            <a:endParaRPr lang="fr-FR" altLang="en-US" sz="2200" dirty="0" smtClean="0">
              <a:latin typeface="Times New Roman" panose="02020603050405020304" pitchFamily="18" charset="0"/>
              <a:cs typeface="Times New Roman" panose="02020603050405020304" pitchFamily="18" charset="0"/>
            </a:endParaRPr>
          </a:p>
          <a:p>
            <a:pPr>
              <a:lnSpc>
                <a:spcPct val="150000"/>
              </a:lnSpc>
              <a:spcBef>
                <a:spcPts val="1625"/>
              </a:spcBef>
              <a:buClr>
                <a:srgbClr val="006498"/>
              </a:buClr>
              <a:buSzPct val="61000"/>
              <a:buFont typeface="Wingdings" panose="05000000000000000000" pitchFamily="2" charset="2"/>
              <a:buChar char=""/>
            </a:pPr>
            <a:r>
              <a:rPr lang="fr-FR" dirty="0" smtClean="0">
                <a:latin typeface="Segoe UI" panose="020B0502040204020203" pitchFamily="34" charset="0"/>
                <a:cs typeface="Segoe UI" panose="020B0502040204020203" pitchFamily="34" charset="0"/>
              </a:rPr>
              <a:t>Le contrôle </a:t>
            </a:r>
            <a:r>
              <a:rPr lang="fr-FR" b="1" dirty="0" err="1" smtClean="0">
                <a:latin typeface="Segoe UI" panose="020B0502040204020203" pitchFamily="34" charset="0"/>
                <a:cs typeface="Segoe UI" panose="020B0502040204020203" pitchFamily="34" charset="0"/>
              </a:rPr>
              <a:t>ScrollView</a:t>
            </a:r>
            <a:r>
              <a:rPr lang="fr-FR" dirty="0" smtClean="0">
                <a:latin typeface="Segoe UI" panose="020B0502040204020203" pitchFamily="34" charset="0"/>
                <a:cs typeface="Segoe UI" panose="020B0502040204020203" pitchFamily="34" charset="0"/>
              </a:rPr>
              <a:t> </a:t>
            </a:r>
            <a:r>
              <a:rPr lang="fr-FR" dirty="0">
                <a:latin typeface="Segoe UI" panose="020B0502040204020203" pitchFamily="34" charset="0"/>
                <a:cs typeface="Segoe UI" panose="020B0502040204020203" pitchFamily="34" charset="0"/>
              </a:rPr>
              <a:t> est une vue capable de faire défiler son </a:t>
            </a:r>
            <a:r>
              <a:rPr lang="fr-FR" dirty="0" smtClean="0">
                <a:latin typeface="Segoe UI" panose="020B0502040204020203" pitchFamily="34" charset="0"/>
                <a:cs typeface="Segoe UI" panose="020B0502040204020203" pitchFamily="34" charset="0"/>
              </a:rPr>
              <a:t>contenu, </a:t>
            </a:r>
            <a:r>
              <a:rPr lang="fr-FR" dirty="0">
                <a:latin typeface="Segoe UI" panose="020B0502040204020203" pitchFamily="34" charset="0"/>
                <a:cs typeface="Segoe UI" panose="020B0502040204020203" pitchFamily="34" charset="0"/>
              </a:rPr>
              <a:t>u</a:t>
            </a:r>
            <a:r>
              <a:rPr lang="fr-FR" dirty="0" smtClean="0">
                <a:latin typeface="Segoe UI" panose="020B0502040204020203" pitchFamily="34" charset="0"/>
                <a:cs typeface="Segoe UI" panose="020B0502040204020203" pitchFamily="34" charset="0"/>
              </a:rPr>
              <a:t>n</a:t>
            </a:r>
            <a:r>
              <a:rPr lang="fr-FR" dirty="0">
                <a:latin typeface="Segoe UI" panose="020B0502040204020203" pitchFamily="34" charset="0"/>
                <a:cs typeface="Segoe UI" panose="020B0502040204020203" pitchFamily="34" charset="0"/>
              </a:rPr>
              <a:t> </a:t>
            </a:r>
            <a:r>
              <a:rPr lang="fr-FR" b="1" dirty="0" err="1">
                <a:latin typeface="Segoe UI" panose="020B0502040204020203" pitchFamily="34" charset="0"/>
                <a:cs typeface="Segoe UI" panose="020B0502040204020203" pitchFamily="34" charset="0"/>
              </a:rPr>
              <a:t>ScrollView</a:t>
            </a:r>
            <a:r>
              <a:rPr lang="fr-FR" dirty="0">
                <a:latin typeface="Segoe UI" panose="020B0502040204020203" pitchFamily="34" charset="0"/>
                <a:cs typeface="Segoe UI" panose="020B0502040204020203" pitchFamily="34" charset="0"/>
              </a:rPr>
              <a:t> ne peut avoir qu'un seul enfant</a:t>
            </a:r>
            <a:r>
              <a:rPr lang="fr-FR" b="1" dirty="0" smtClean="0">
                <a:latin typeface="Segoe UI" panose="020B0502040204020203" pitchFamily="34" charset="0"/>
                <a:cs typeface="Segoe UI" panose="020B0502040204020203" pitchFamily="34" charset="0"/>
              </a:rPr>
              <a:t> </a:t>
            </a:r>
          </a:p>
          <a:p>
            <a:pPr>
              <a:lnSpc>
                <a:spcPct val="150000"/>
              </a:lnSpc>
              <a:spcBef>
                <a:spcPts val="1625"/>
              </a:spcBef>
              <a:buClr>
                <a:srgbClr val="006498"/>
              </a:buClr>
              <a:buSzPct val="61000"/>
              <a:buFont typeface="Wingdings" panose="05000000000000000000" pitchFamily="2" charset="2"/>
              <a:buChar char=""/>
            </a:pPr>
            <a:r>
              <a:rPr lang="fr-FR" dirty="0" smtClean="0">
                <a:latin typeface="Segoe UI" panose="020B0502040204020203" pitchFamily="34" charset="0"/>
                <a:cs typeface="Segoe UI" panose="020B0502040204020203" pitchFamily="34" charset="0"/>
              </a:rPr>
              <a:t>L’orientation de défilement par défaut est vertical</a:t>
            </a:r>
          </a:p>
          <a:p>
            <a:pPr>
              <a:lnSpc>
                <a:spcPct val="150000"/>
              </a:lnSpc>
              <a:spcBef>
                <a:spcPts val="1625"/>
              </a:spcBef>
              <a:buClr>
                <a:srgbClr val="006498"/>
              </a:buClr>
              <a:buSzPct val="61000"/>
              <a:buFont typeface="Wingdings" panose="05000000000000000000" pitchFamily="2" charset="2"/>
              <a:buChar char=""/>
            </a:pPr>
            <a:r>
              <a:rPr lang="fr-FR" dirty="0">
                <a:latin typeface="Segoe UI" panose="020B0502040204020203" pitchFamily="34" charset="0"/>
                <a:cs typeface="Segoe UI" panose="020B0502040204020203" pitchFamily="34" charset="0"/>
              </a:rPr>
              <a:t> Les objets</a:t>
            </a:r>
            <a:r>
              <a:rPr lang="fr-FR" b="1" dirty="0">
                <a:latin typeface="Segoe UI" panose="020B0502040204020203" pitchFamily="34" charset="0"/>
                <a:cs typeface="Segoe UI" panose="020B0502040204020203" pitchFamily="34" charset="0"/>
              </a:rPr>
              <a:t> </a:t>
            </a:r>
            <a:r>
              <a:rPr lang="fr-FR" b="1" dirty="0" err="1">
                <a:latin typeface="Segoe UI" panose="020B0502040204020203" pitchFamily="34" charset="0"/>
                <a:cs typeface="Segoe UI" panose="020B0502040204020203" pitchFamily="34" charset="0"/>
              </a:rPr>
              <a:t>ScrollView</a:t>
            </a:r>
            <a:r>
              <a:rPr lang="fr-FR" dirty="0">
                <a:latin typeface="Segoe UI" panose="020B0502040204020203" pitchFamily="34" charset="0"/>
                <a:cs typeface="Segoe UI" panose="020B0502040204020203" pitchFamily="34" charset="0"/>
              </a:rPr>
              <a:t> ne doivent pas être imbriqués. De plus, les objets </a:t>
            </a:r>
            <a:r>
              <a:rPr lang="fr-FR" b="1" dirty="0" err="1">
                <a:latin typeface="Segoe UI" panose="020B0502040204020203" pitchFamily="34" charset="0"/>
                <a:cs typeface="Segoe UI" panose="020B0502040204020203" pitchFamily="34" charset="0"/>
              </a:rPr>
              <a:t>ScrollView</a:t>
            </a:r>
            <a:r>
              <a:rPr lang="fr-FR" dirty="0">
                <a:latin typeface="Segoe UI" panose="020B0502040204020203" pitchFamily="34" charset="0"/>
                <a:cs typeface="Segoe UI" panose="020B0502040204020203" pitchFamily="34" charset="0"/>
              </a:rPr>
              <a:t> ne doivent pas être imbriqués avec d'autres contrôles qui fournissent le défilement, tels que </a:t>
            </a:r>
            <a:r>
              <a:rPr lang="fr-FR" b="1" dirty="0" err="1">
                <a:latin typeface="Segoe UI" panose="020B0502040204020203" pitchFamily="34" charset="0"/>
                <a:cs typeface="Segoe UI" panose="020B0502040204020203" pitchFamily="34" charset="0"/>
              </a:rPr>
              <a:t>CollectionView</a:t>
            </a:r>
            <a:r>
              <a:rPr lang="fr-FR" dirty="0">
                <a:latin typeface="Segoe UI" panose="020B0502040204020203" pitchFamily="34" charset="0"/>
                <a:cs typeface="Segoe UI" panose="020B0502040204020203" pitchFamily="34" charset="0"/>
              </a:rPr>
              <a:t> , </a:t>
            </a:r>
            <a:r>
              <a:rPr lang="fr-FR" b="1" dirty="0" err="1">
                <a:latin typeface="Segoe UI" panose="020B0502040204020203" pitchFamily="34" charset="0"/>
                <a:cs typeface="Segoe UI" panose="020B0502040204020203" pitchFamily="34" charset="0"/>
              </a:rPr>
              <a:t>ListView</a:t>
            </a:r>
            <a:r>
              <a:rPr lang="fr-FR" dirty="0">
                <a:latin typeface="Segoe UI" panose="020B0502040204020203" pitchFamily="34" charset="0"/>
                <a:cs typeface="Segoe UI" panose="020B0502040204020203" pitchFamily="34" charset="0"/>
              </a:rPr>
              <a:t> et </a:t>
            </a:r>
            <a:r>
              <a:rPr lang="fr-FR" b="1" dirty="0" err="1">
                <a:latin typeface="Segoe UI" panose="020B0502040204020203" pitchFamily="34" charset="0"/>
                <a:cs typeface="Segoe UI" panose="020B0502040204020203" pitchFamily="34" charset="0"/>
              </a:rPr>
              <a:t>WebView</a:t>
            </a:r>
            <a:r>
              <a:rPr lang="fr-FR" dirty="0">
                <a:latin typeface="Segoe UI" panose="020B0502040204020203" pitchFamily="34" charset="0"/>
                <a:cs typeface="Segoe UI" panose="020B0502040204020203" pitchFamily="34" charset="0"/>
              </a:rPr>
              <a:t> .</a:t>
            </a:r>
            <a:r>
              <a:rPr lang="fr-FR" dirty="0" smtClean="0">
                <a:latin typeface="Segoe UI" panose="020B0502040204020203" pitchFamily="34" charset="0"/>
                <a:cs typeface="Segoe UI" panose="020B0502040204020203" pitchFamily="34" charset="0"/>
              </a:rPr>
              <a:t> </a:t>
            </a:r>
          </a:p>
          <a:p>
            <a:pPr>
              <a:lnSpc>
                <a:spcPct val="150000"/>
              </a:lnSpc>
              <a:spcBef>
                <a:spcPts val="1625"/>
              </a:spcBef>
              <a:buClr>
                <a:srgbClr val="006498"/>
              </a:buClr>
              <a:buSzPct val="61000"/>
              <a:buFont typeface="Wingdings" panose="05000000000000000000" pitchFamily="2" charset="2"/>
              <a:buChar char=""/>
            </a:pPr>
            <a:r>
              <a:rPr lang="fr-FR" dirty="0" smtClean="0">
                <a:latin typeface="Segoe UI" panose="020B0502040204020203" pitchFamily="34" charset="0"/>
                <a:cs typeface="Segoe UI" panose="020B0502040204020203" pitchFamily="34" charset="0"/>
              </a:rPr>
              <a:t>Les orientations sont </a:t>
            </a:r>
            <a:r>
              <a:rPr lang="fr-FR" b="1" dirty="0" err="1" smtClean="0">
                <a:latin typeface="Segoe UI" panose="020B0502040204020203" pitchFamily="34" charset="0"/>
                <a:cs typeface="Segoe UI" panose="020B0502040204020203" pitchFamily="34" charset="0"/>
              </a:rPr>
              <a:t>Vertical</a:t>
            </a:r>
            <a:r>
              <a:rPr lang="fr-FR" dirty="0" err="1" smtClean="0">
                <a:latin typeface="Segoe UI" panose="020B0502040204020203" pitchFamily="34" charset="0"/>
                <a:cs typeface="Segoe UI" panose="020B0502040204020203" pitchFamily="34" charset="0"/>
              </a:rPr>
              <a:t>,</a:t>
            </a:r>
            <a:r>
              <a:rPr lang="fr-FR" b="1" dirty="0" err="1" smtClean="0">
                <a:latin typeface="Segoe UI" panose="020B0502040204020203" pitchFamily="34" charset="0"/>
                <a:cs typeface="Segoe UI" panose="020B0502040204020203" pitchFamily="34" charset="0"/>
              </a:rPr>
              <a:t>Horizontal</a:t>
            </a:r>
            <a:r>
              <a:rPr lang="fr-FR" dirty="0" smtClean="0">
                <a:latin typeface="Segoe UI" panose="020B0502040204020203" pitchFamily="34" charset="0"/>
                <a:cs typeface="Segoe UI" panose="020B0502040204020203" pitchFamily="34" charset="0"/>
              </a:rPr>
              <a:t>, </a:t>
            </a:r>
            <a:r>
              <a:rPr lang="fr-FR" b="1" dirty="0" smtClean="0">
                <a:latin typeface="Segoe UI" panose="020B0502040204020203" pitchFamily="34" charset="0"/>
                <a:cs typeface="Segoe UI" panose="020B0502040204020203" pitchFamily="34" charset="0"/>
              </a:rPr>
              <a:t>Both</a:t>
            </a:r>
            <a:r>
              <a:rPr lang="fr-FR" dirty="0" smtClean="0">
                <a:latin typeface="Segoe UI" panose="020B0502040204020203" pitchFamily="34" charset="0"/>
                <a:cs typeface="Segoe UI" panose="020B0502040204020203" pitchFamily="34" charset="0"/>
              </a:rPr>
              <a:t> ou </a:t>
            </a:r>
            <a:r>
              <a:rPr lang="fr-FR" b="1" dirty="0" err="1" smtClean="0">
                <a:latin typeface="Segoe UI" panose="020B0502040204020203" pitchFamily="34" charset="0"/>
                <a:cs typeface="Segoe UI" panose="020B0502040204020203" pitchFamily="34" charset="0"/>
              </a:rPr>
              <a:t>Neither</a:t>
            </a:r>
            <a:r>
              <a:rPr lang="fr-FR" dirty="0" smtClean="0">
                <a:latin typeface="Segoe UI" panose="020B0502040204020203" pitchFamily="34" charset="0"/>
                <a:cs typeface="Segoe UI" panose="020B0502040204020203" pitchFamily="34" charset="0"/>
              </a:rPr>
              <a:t> </a:t>
            </a:r>
            <a:endParaRPr lang="fr-FR" dirty="0">
              <a:latin typeface="Segoe UI" panose="020B0502040204020203" pitchFamily="34" charset="0"/>
              <a:cs typeface="Segoe UI" panose="020B0502040204020203" pitchFamily="34" charset="0"/>
            </a:endParaRPr>
          </a:p>
        </p:txBody>
      </p:sp>
      <p:pic>
        <p:nvPicPr>
          <p:cNvPr id="4" name="Image 3"/>
          <p:cNvPicPr>
            <a:picLocks noChangeAspect="1"/>
          </p:cNvPicPr>
          <p:nvPr/>
        </p:nvPicPr>
        <p:blipFill>
          <a:blip r:embed="rId3"/>
          <a:stretch>
            <a:fillRect/>
          </a:stretch>
        </p:blipFill>
        <p:spPr>
          <a:xfrm>
            <a:off x="6095997" y="-3164750"/>
            <a:ext cx="5" cy="13187500"/>
          </a:xfrm>
          <a:prstGeom prst="rect">
            <a:avLst/>
          </a:prstGeom>
        </p:spPr>
      </p:pic>
    </p:spTree>
    <p:extLst>
      <p:ext uri="{BB962C8B-B14F-4D97-AF65-F5344CB8AC3E}">
        <p14:creationId xmlns:p14="http://schemas.microsoft.com/office/powerpoint/2010/main" val="13232460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8"/>
          <p:cNvSpPr txBox="1">
            <a:spLocks noChangeArrowheads="1"/>
          </p:cNvSpPr>
          <p:nvPr/>
        </p:nvSpPr>
        <p:spPr bwMode="auto">
          <a:xfrm>
            <a:off x="251166" y="617099"/>
            <a:ext cx="11455730" cy="2826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152400">
              <a:tabLst>
                <a:tab pos="5992813" algn="l"/>
              </a:tabLst>
              <a:defRPr>
                <a:solidFill>
                  <a:schemeClr val="tx1"/>
                </a:solidFill>
                <a:latin typeface="Calibri" panose="020F0502020204030204" pitchFamily="34" charset="0"/>
                <a:cs typeface="Arial" panose="020B0604020202020204" pitchFamily="34" charset="0"/>
              </a:defRPr>
            </a:lvl1pPr>
            <a:lvl2pPr marL="579438" indent="-242888">
              <a:tabLst>
                <a:tab pos="5992813" algn="l"/>
              </a:tabLst>
              <a:defRPr>
                <a:solidFill>
                  <a:schemeClr val="tx1"/>
                </a:solidFill>
                <a:latin typeface="Calibri" panose="020F0502020204030204" pitchFamily="34" charset="0"/>
                <a:cs typeface="Arial" panose="020B0604020202020204" pitchFamily="34" charset="0"/>
              </a:defRPr>
            </a:lvl2pPr>
            <a:lvl3pPr marL="1143000" indent="-228600">
              <a:tabLst>
                <a:tab pos="5992813" algn="l"/>
              </a:tabLst>
              <a:defRPr>
                <a:solidFill>
                  <a:schemeClr val="tx1"/>
                </a:solidFill>
                <a:latin typeface="Calibri" panose="020F0502020204030204" pitchFamily="34" charset="0"/>
                <a:cs typeface="Arial" panose="020B0604020202020204" pitchFamily="34" charset="0"/>
              </a:defRPr>
            </a:lvl3pPr>
            <a:lvl4pPr marL="1600200" indent="-228600">
              <a:tabLst>
                <a:tab pos="5992813" algn="l"/>
              </a:tabLst>
              <a:defRPr>
                <a:solidFill>
                  <a:schemeClr val="tx1"/>
                </a:solidFill>
                <a:latin typeface="Calibri" panose="020F0502020204030204" pitchFamily="34" charset="0"/>
                <a:cs typeface="Arial" panose="020B0604020202020204" pitchFamily="34" charset="0"/>
              </a:defRPr>
            </a:lvl4pPr>
            <a:lvl5pPr marL="2057400" indent="-228600">
              <a:tabLst>
                <a:tab pos="5992813" algn="l"/>
              </a:tabLst>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2200" u="sng" dirty="0">
                <a:latin typeface="Segoe UI Symbol" panose="020B0502040204020203" pitchFamily="34" charset="0"/>
              </a:rPr>
              <a:t>L</a:t>
            </a:r>
            <a:r>
              <a:rPr lang="en-US" altLang="en-US" sz="2200" u="sng" dirty="0" smtClean="0">
                <a:latin typeface="Segoe UI Symbol" panose="020B0502040204020203" pitchFamily="34" charset="0"/>
              </a:rPr>
              <a:t>es </a:t>
            </a:r>
            <a:r>
              <a:rPr lang="fr-FR" altLang="en-US" sz="2200" u="sng" dirty="0" smtClean="0">
                <a:latin typeface="Segoe UI Symbol" panose="020B0502040204020203" pitchFamily="34" charset="0"/>
              </a:rPr>
              <a:t>contrôles de présentation-</a:t>
            </a:r>
            <a:r>
              <a:rPr lang="fr-FR" altLang="en-US" sz="2200" u="sng" dirty="0" err="1" smtClean="0">
                <a:latin typeface="Segoe UI Symbol" panose="020B0502040204020203" pitchFamily="34" charset="0"/>
              </a:rPr>
              <a:t>GraphicView</a:t>
            </a:r>
            <a:endParaRPr lang="fr-FR" altLang="en-US" sz="2200" dirty="0" smtClean="0">
              <a:latin typeface="Times New Roman" panose="02020603050405020304" pitchFamily="18" charset="0"/>
              <a:cs typeface="Times New Roman" panose="02020603050405020304" pitchFamily="18" charset="0"/>
            </a:endParaRPr>
          </a:p>
          <a:p>
            <a:pPr>
              <a:lnSpc>
                <a:spcPct val="150000"/>
              </a:lnSpc>
              <a:spcBef>
                <a:spcPts val="1625"/>
              </a:spcBef>
              <a:buClr>
                <a:srgbClr val="006498"/>
              </a:buClr>
              <a:buSzPct val="61000"/>
              <a:buFont typeface="Wingdings" panose="05000000000000000000" pitchFamily="2" charset="2"/>
              <a:buChar char=""/>
            </a:pPr>
            <a:r>
              <a:rPr lang="fr-FR" dirty="0" smtClean="0">
                <a:latin typeface="Segoe UI" panose="020B0502040204020203" pitchFamily="34" charset="0"/>
                <a:cs typeface="Segoe UI" panose="020B0502040204020203" pitchFamily="34" charset="0"/>
              </a:rPr>
              <a:t>Le contrôle </a:t>
            </a:r>
            <a:r>
              <a:rPr lang="fr-FR" b="1" dirty="0" err="1" smtClean="0">
                <a:latin typeface="Segoe UI" panose="020B0502040204020203" pitchFamily="34" charset="0"/>
                <a:cs typeface="Segoe UI" panose="020B0502040204020203" pitchFamily="34" charset="0"/>
              </a:rPr>
              <a:t>GraphicsView</a:t>
            </a:r>
            <a:r>
              <a:rPr lang="fr-FR" dirty="0">
                <a:latin typeface="Segoe UI" panose="020B0502040204020203" pitchFamily="34" charset="0"/>
                <a:cs typeface="Segoe UI" panose="020B0502040204020203" pitchFamily="34" charset="0"/>
              </a:rPr>
              <a:t> est un canevas graphique </a:t>
            </a:r>
            <a:r>
              <a:rPr lang="fr-FR" dirty="0" smtClean="0">
                <a:latin typeface="Segoe UI" panose="020B0502040204020203" pitchFamily="34" charset="0"/>
                <a:cs typeface="Segoe UI" panose="020B0502040204020203" pitchFamily="34" charset="0"/>
              </a:rPr>
              <a:t>permet de définir des graphiques </a:t>
            </a:r>
            <a:r>
              <a:rPr lang="fr-FR" dirty="0">
                <a:latin typeface="Segoe UI" panose="020B0502040204020203" pitchFamily="34" charset="0"/>
                <a:cs typeface="Segoe UI" panose="020B0502040204020203" pitchFamily="34" charset="0"/>
              </a:rPr>
              <a:t>2D </a:t>
            </a:r>
            <a:r>
              <a:rPr lang="fr-FR" dirty="0" smtClean="0">
                <a:latin typeface="Segoe UI" panose="020B0502040204020203" pitchFamily="34" charset="0"/>
                <a:cs typeface="Segoe UI" panose="020B0502040204020203" pitchFamily="34" charset="0"/>
              </a:rPr>
              <a:t>qui peuvent </a:t>
            </a:r>
            <a:r>
              <a:rPr lang="fr-FR" dirty="0">
                <a:latin typeface="Segoe UI" panose="020B0502040204020203" pitchFamily="34" charset="0"/>
                <a:cs typeface="Segoe UI" panose="020B0502040204020203" pitchFamily="34" charset="0"/>
              </a:rPr>
              <a:t>être dessinés à l’aide de types de l’espace </a:t>
            </a:r>
            <a:r>
              <a:rPr lang="fr-FR" b="1" dirty="0" err="1" smtClean="0">
                <a:latin typeface="Segoe UI" panose="020B0502040204020203" pitchFamily="34" charset="0"/>
                <a:cs typeface="Segoe UI" panose="020B0502040204020203" pitchFamily="34" charset="0"/>
              </a:rPr>
              <a:t>Microsoft.Maui.Graphics</a:t>
            </a:r>
            <a:endParaRPr lang="fr-FR" b="1" dirty="0" smtClean="0">
              <a:latin typeface="Segoe UI" panose="020B0502040204020203" pitchFamily="34" charset="0"/>
              <a:cs typeface="Segoe UI" panose="020B0502040204020203" pitchFamily="34" charset="0"/>
            </a:endParaRPr>
          </a:p>
          <a:p>
            <a:pPr>
              <a:lnSpc>
                <a:spcPct val="150000"/>
              </a:lnSpc>
              <a:spcBef>
                <a:spcPts val="1625"/>
              </a:spcBef>
              <a:buClr>
                <a:srgbClr val="006498"/>
              </a:buClr>
              <a:buSzPct val="61000"/>
              <a:buFont typeface="Wingdings" panose="05000000000000000000" pitchFamily="2" charset="2"/>
              <a:buChar char=""/>
            </a:pPr>
            <a:r>
              <a:rPr lang="fr-FR" dirty="0" smtClean="0">
                <a:latin typeface="Segoe UI" panose="020B0502040204020203" pitchFamily="34" charset="0"/>
                <a:cs typeface="Segoe UI" panose="020B0502040204020203" pitchFamily="34" charset="0"/>
              </a:rPr>
              <a:t>Le contrôle </a:t>
            </a:r>
            <a:r>
              <a:rPr lang="fr-FR" b="1" dirty="0" err="1" smtClean="0">
                <a:latin typeface="Segoe UI" panose="020B0502040204020203" pitchFamily="34" charset="0"/>
                <a:cs typeface="Segoe UI" panose="020B0502040204020203" pitchFamily="34" charset="0"/>
              </a:rPr>
              <a:t>GraphicsView</a:t>
            </a:r>
            <a:r>
              <a:rPr lang="fr-FR" b="1" dirty="0" smtClean="0">
                <a:latin typeface="Segoe UI" panose="020B0502040204020203" pitchFamily="34" charset="0"/>
                <a:cs typeface="Segoe UI" panose="020B0502040204020203" pitchFamily="34" charset="0"/>
              </a:rPr>
              <a:t> </a:t>
            </a:r>
            <a:r>
              <a:rPr lang="fr-FR" dirty="0" smtClean="0">
                <a:latin typeface="Segoe UI" panose="020B0502040204020203" pitchFamily="34" charset="0"/>
                <a:cs typeface="Segoe UI" panose="020B0502040204020203" pitchFamily="34" charset="0"/>
              </a:rPr>
              <a:t>définit la</a:t>
            </a:r>
            <a:r>
              <a:rPr lang="fr-FR" b="1" dirty="0" smtClean="0">
                <a:latin typeface="Segoe UI" panose="020B0502040204020203" pitchFamily="34" charset="0"/>
                <a:cs typeface="Segoe UI" panose="020B0502040204020203" pitchFamily="34" charset="0"/>
              </a:rPr>
              <a:t> </a:t>
            </a:r>
            <a:r>
              <a:rPr lang="fr-FR" dirty="0" smtClean="0">
                <a:latin typeface="Segoe UI" panose="020B0502040204020203" pitchFamily="34" charset="0"/>
                <a:cs typeface="Segoe UI" panose="020B0502040204020203" pitchFamily="34" charset="0"/>
              </a:rPr>
              <a:t>propriété</a:t>
            </a:r>
            <a:r>
              <a:rPr lang="fr-FR" b="1" dirty="0" smtClean="0">
                <a:latin typeface="Segoe UI" panose="020B0502040204020203" pitchFamily="34" charset="0"/>
                <a:cs typeface="Segoe UI" panose="020B0502040204020203" pitchFamily="34" charset="0"/>
              </a:rPr>
              <a:t> </a:t>
            </a:r>
            <a:r>
              <a:rPr lang="fr-FR" b="1" dirty="0" err="1" smtClean="0">
                <a:latin typeface="Segoe UI" panose="020B0502040204020203" pitchFamily="34" charset="0"/>
                <a:cs typeface="Segoe UI" panose="020B0502040204020203" pitchFamily="34" charset="0"/>
              </a:rPr>
              <a:t>Drawable</a:t>
            </a:r>
            <a:r>
              <a:rPr lang="fr-FR" dirty="0" smtClean="0">
                <a:latin typeface="Segoe UI" panose="020B0502040204020203" pitchFamily="34" charset="0"/>
                <a:cs typeface="Segoe UI" panose="020B0502040204020203" pitchFamily="34" charset="0"/>
              </a:rPr>
              <a:t>, </a:t>
            </a:r>
            <a:r>
              <a:rPr lang="fr-FR" dirty="0">
                <a:latin typeface="Segoe UI" panose="020B0502040204020203" pitchFamily="34" charset="0"/>
                <a:cs typeface="Segoe UI" panose="020B0502040204020203" pitchFamily="34" charset="0"/>
              </a:rPr>
              <a:t>de type </a:t>
            </a:r>
            <a:r>
              <a:rPr lang="fr-FR" b="1" dirty="0" err="1">
                <a:latin typeface="Segoe UI" panose="020B0502040204020203" pitchFamily="34" charset="0"/>
                <a:cs typeface="Segoe UI" panose="020B0502040204020203" pitchFamily="34" charset="0"/>
              </a:rPr>
              <a:t>IDrawable</a:t>
            </a:r>
            <a:r>
              <a:rPr lang="fr-FR" b="1" dirty="0">
                <a:latin typeface="Segoe UI" panose="020B0502040204020203" pitchFamily="34" charset="0"/>
                <a:cs typeface="Segoe UI" panose="020B0502040204020203" pitchFamily="34" charset="0"/>
              </a:rPr>
              <a:t>, </a:t>
            </a:r>
            <a:r>
              <a:rPr lang="fr-FR" dirty="0">
                <a:latin typeface="Segoe UI" panose="020B0502040204020203" pitchFamily="34" charset="0"/>
                <a:cs typeface="Segoe UI" panose="020B0502040204020203" pitchFamily="34" charset="0"/>
              </a:rPr>
              <a:t>qui spécifie le contenu qui sera </a:t>
            </a:r>
            <a:r>
              <a:rPr lang="fr-FR" dirty="0" smtClean="0">
                <a:latin typeface="Segoe UI" panose="020B0502040204020203" pitchFamily="34" charset="0"/>
                <a:cs typeface="Segoe UI" panose="020B0502040204020203" pitchFamily="34" charset="0"/>
              </a:rPr>
              <a:t>dessiné. Cette </a:t>
            </a:r>
            <a:r>
              <a:rPr lang="fr-FR" dirty="0">
                <a:latin typeface="Segoe UI" panose="020B0502040204020203" pitchFamily="34" charset="0"/>
                <a:cs typeface="Segoe UI" panose="020B0502040204020203" pitchFamily="34" charset="0"/>
              </a:rPr>
              <a:t>propriété est soutenue par un </a:t>
            </a:r>
            <a:r>
              <a:rPr lang="fr-FR" b="1" dirty="0">
                <a:latin typeface="Segoe UI" panose="020B0502040204020203" pitchFamily="34" charset="0"/>
                <a:cs typeface="Segoe UI" panose="020B0502040204020203" pitchFamily="34" charset="0"/>
              </a:rPr>
              <a:t>BindableProperty</a:t>
            </a:r>
            <a:r>
              <a:rPr lang="fr-FR" dirty="0">
                <a:latin typeface="Segoe UI" panose="020B0502040204020203" pitchFamily="34" charset="0"/>
                <a:cs typeface="Segoe UI" panose="020B0502040204020203" pitchFamily="34" charset="0"/>
              </a:rPr>
              <a:t>, ce qui signifie qu’elle peut être la cible de la liaison de données et stylisé</a:t>
            </a:r>
          </a:p>
        </p:txBody>
      </p:sp>
      <p:pic>
        <p:nvPicPr>
          <p:cNvPr id="4" name="Image 3"/>
          <p:cNvPicPr>
            <a:picLocks noChangeAspect="1"/>
          </p:cNvPicPr>
          <p:nvPr/>
        </p:nvPicPr>
        <p:blipFill>
          <a:blip r:embed="rId3"/>
          <a:stretch>
            <a:fillRect/>
          </a:stretch>
        </p:blipFill>
        <p:spPr>
          <a:xfrm>
            <a:off x="6095997" y="-3164750"/>
            <a:ext cx="5" cy="13187500"/>
          </a:xfrm>
          <a:prstGeom prst="rect">
            <a:avLst/>
          </a:prstGeom>
        </p:spPr>
      </p:pic>
    </p:spTree>
    <p:extLst>
      <p:ext uri="{BB962C8B-B14F-4D97-AF65-F5344CB8AC3E}">
        <p14:creationId xmlns:p14="http://schemas.microsoft.com/office/powerpoint/2010/main" val="2049267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8"/>
          <p:cNvSpPr txBox="1">
            <a:spLocks noChangeArrowheads="1"/>
          </p:cNvSpPr>
          <p:nvPr/>
        </p:nvSpPr>
        <p:spPr bwMode="auto">
          <a:xfrm>
            <a:off x="251166" y="617099"/>
            <a:ext cx="6362135" cy="959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152400">
              <a:tabLst>
                <a:tab pos="5992813" algn="l"/>
              </a:tabLst>
              <a:defRPr>
                <a:solidFill>
                  <a:schemeClr val="tx1"/>
                </a:solidFill>
                <a:latin typeface="Calibri" panose="020F0502020204030204" pitchFamily="34" charset="0"/>
                <a:cs typeface="Arial" panose="020B0604020202020204" pitchFamily="34" charset="0"/>
              </a:defRPr>
            </a:lvl1pPr>
            <a:lvl2pPr marL="579438" indent="-242888">
              <a:tabLst>
                <a:tab pos="5992813" algn="l"/>
              </a:tabLst>
              <a:defRPr>
                <a:solidFill>
                  <a:schemeClr val="tx1"/>
                </a:solidFill>
                <a:latin typeface="Calibri" panose="020F0502020204030204" pitchFamily="34" charset="0"/>
                <a:cs typeface="Arial" panose="020B0604020202020204" pitchFamily="34" charset="0"/>
              </a:defRPr>
            </a:lvl2pPr>
            <a:lvl3pPr marL="1143000" indent="-228600">
              <a:tabLst>
                <a:tab pos="5992813" algn="l"/>
              </a:tabLst>
              <a:defRPr>
                <a:solidFill>
                  <a:schemeClr val="tx1"/>
                </a:solidFill>
                <a:latin typeface="Calibri" panose="020F0502020204030204" pitchFamily="34" charset="0"/>
                <a:cs typeface="Arial" panose="020B0604020202020204" pitchFamily="34" charset="0"/>
              </a:defRPr>
            </a:lvl3pPr>
            <a:lvl4pPr marL="1600200" indent="-228600">
              <a:tabLst>
                <a:tab pos="5992813" algn="l"/>
              </a:tabLst>
              <a:defRPr>
                <a:solidFill>
                  <a:schemeClr val="tx1"/>
                </a:solidFill>
                <a:latin typeface="Calibri" panose="020F0502020204030204" pitchFamily="34" charset="0"/>
                <a:cs typeface="Arial" panose="020B0604020202020204" pitchFamily="34" charset="0"/>
              </a:defRPr>
            </a:lvl4pPr>
            <a:lvl5pPr marL="2057400" indent="-228600">
              <a:tabLst>
                <a:tab pos="5992813" algn="l"/>
              </a:tabLst>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2200" u="sng" dirty="0">
                <a:latin typeface="Segoe UI Symbol" panose="020B0502040204020203" pitchFamily="34" charset="0"/>
              </a:rPr>
              <a:t>L</a:t>
            </a:r>
            <a:r>
              <a:rPr lang="en-US" altLang="en-US" sz="2200" u="sng" dirty="0" smtClean="0">
                <a:latin typeface="Segoe UI Symbol" panose="020B0502040204020203" pitchFamily="34" charset="0"/>
              </a:rPr>
              <a:t>es </a:t>
            </a:r>
            <a:r>
              <a:rPr lang="fr-FR" altLang="en-US" sz="2200" u="sng" dirty="0" smtClean="0">
                <a:latin typeface="Segoe UI Symbol" panose="020B0502040204020203" pitchFamily="34" charset="0"/>
              </a:rPr>
              <a:t>contrôles de présentation-</a:t>
            </a:r>
            <a:r>
              <a:rPr lang="fr-FR" altLang="en-US" sz="2200" u="sng" dirty="0" err="1" smtClean="0">
                <a:latin typeface="Segoe UI Symbol" panose="020B0502040204020203" pitchFamily="34" charset="0"/>
              </a:rPr>
              <a:t>GraphicView</a:t>
            </a:r>
            <a:endParaRPr lang="fr-FR" altLang="en-US" sz="2200" dirty="0" smtClean="0">
              <a:latin typeface="Times New Roman" panose="02020603050405020304" pitchFamily="18" charset="0"/>
              <a:cs typeface="Times New Roman" panose="02020603050405020304" pitchFamily="18" charset="0"/>
            </a:endParaRPr>
          </a:p>
          <a:p>
            <a:pPr>
              <a:lnSpc>
                <a:spcPct val="150000"/>
              </a:lnSpc>
              <a:spcBef>
                <a:spcPts val="1625"/>
              </a:spcBef>
              <a:buClr>
                <a:srgbClr val="006498"/>
              </a:buClr>
              <a:buSzPct val="61000"/>
              <a:buFont typeface="Wingdings" panose="05000000000000000000" pitchFamily="2" charset="2"/>
              <a:buChar char=""/>
            </a:pPr>
            <a:r>
              <a:rPr lang="fr-FR" dirty="0" err="1" smtClean="0">
                <a:latin typeface="Segoe UI" panose="020B0502040204020203" pitchFamily="34" charset="0"/>
                <a:cs typeface="Segoe UI" panose="020B0502040204020203" pitchFamily="34" charset="0"/>
              </a:rPr>
              <a:t>Definir</a:t>
            </a:r>
            <a:r>
              <a:rPr lang="fr-FR" dirty="0" smtClean="0">
                <a:latin typeface="Segoe UI" panose="020B0502040204020203" pitchFamily="34" charset="0"/>
                <a:cs typeface="Segoe UI" panose="020B0502040204020203" pitchFamily="34" charset="0"/>
              </a:rPr>
              <a:t> la partie métier du </a:t>
            </a:r>
            <a:r>
              <a:rPr lang="fr-FR" b="1" dirty="0" err="1" smtClean="0">
                <a:latin typeface="Segoe UI" panose="020B0502040204020203" pitchFamily="34" charset="0"/>
                <a:cs typeface="Segoe UI" panose="020B0502040204020203" pitchFamily="34" charset="0"/>
              </a:rPr>
              <a:t>GraphicsView</a:t>
            </a:r>
            <a:r>
              <a:rPr lang="fr-FR" dirty="0">
                <a:latin typeface="Segoe UI" panose="020B0502040204020203" pitchFamily="34" charset="0"/>
                <a:cs typeface="Segoe UI" panose="020B0502040204020203" pitchFamily="34" charset="0"/>
              </a:rPr>
              <a:t> </a:t>
            </a:r>
            <a:endParaRPr lang="fr-FR" dirty="0" smtClean="0">
              <a:latin typeface="Segoe UI" panose="020B0502040204020203" pitchFamily="34" charset="0"/>
              <a:cs typeface="Segoe UI" panose="020B0502040204020203" pitchFamily="34" charset="0"/>
            </a:endParaRPr>
          </a:p>
        </p:txBody>
      </p:sp>
      <p:pic>
        <p:nvPicPr>
          <p:cNvPr id="4" name="Image 3"/>
          <p:cNvPicPr>
            <a:picLocks noChangeAspect="1"/>
          </p:cNvPicPr>
          <p:nvPr/>
        </p:nvPicPr>
        <p:blipFill>
          <a:blip r:embed="rId3"/>
          <a:stretch>
            <a:fillRect/>
          </a:stretch>
        </p:blipFill>
        <p:spPr>
          <a:xfrm>
            <a:off x="6095997" y="-3164750"/>
            <a:ext cx="5" cy="13187500"/>
          </a:xfrm>
          <a:prstGeom prst="rect">
            <a:avLst/>
          </a:prstGeom>
        </p:spPr>
      </p:pic>
      <p:sp>
        <p:nvSpPr>
          <p:cNvPr id="5" name="Rectangle 4"/>
          <p:cNvSpPr/>
          <p:nvPr/>
        </p:nvSpPr>
        <p:spPr>
          <a:xfrm>
            <a:off x="343436" y="1615745"/>
            <a:ext cx="6842888" cy="2554545"/>
          </a:xfrm>
          <a:prstGeom prst="rect">
            <a:avLst/>
          </a:prstGeom>
        </p:spPr>
        <p:txBody>
          <a:bodyPr wrap="square">
            <a:spAutoFit/>
          </a:bodyPr>
          <a:lstStyle/>
          <a:p>
            <a:r>
              <a:rPr lang="fr-FR" sz="1600" dirty="0">
                <a:solidFill>
                  <a:srgbClr val="000000"/>
                </a:solidFill>
                <a:latin typeface="Cascadia Mono" panose="020B0609020000020004" pitchFamily="49" charset="0"/>
              </a:rPr>
              <a:t> </a:t>
            </a:r>
            <a:r>
              <a:rPr lang="fr-FR" sz="1600" dirty="0">
                <a:solidFill>
                  <a:srgbClr val="0000FF"/>
                </a:solidFill>
                <a:latin typeface="Cascadia Mono" panose="020B0609020000020004" pitchFamily="49" charset="0"/>
              </a:rPr>
              <a:t>public</a:t>
            </a:r>
            <a:r>
              <a:rPr lang="fr-FR" sz="1600" dirty="0">
                <a:solidFill>
                  <a:srgbClr val="000000"/>
                </a:solidFill>
                <a:latin typeface="Cascadia Mono" panose="020B0609020000020004" pitchFamily="49" charset="0"/>
              </a:rPr>
              <a:t> </a:t>
            </a:r>
            <a:r>
              <a:rPr lang="fr-FR" sz="1600" dirty="0">
                <a:solidFill>
                  <a:srgbClr val="0000FF"/>
                </a:solidFill>
                <a:latin typeface="Cascadia Mono" panose="020B0609020000020004" pitchFamily="49" charset="0"/>
              </a:rPr>
              <a:t>class</a:t>
            </a:r>
            <a:r>
              <a:rPr lang="fr-FR" sz="1600" dirty="0">
                <a:solidFill>
                  <a:srgbClr val="000000"/>
                </a:solidFill>
                <a:latin typeface="Cascadia Mono" panose="020B0609020000020004" pitchFamily="49" charset="0"/>
              </a:rPr>
              <a:t> </a:t>
            </a:r>
            <a:r>
              <a:rPr lang="fr-FR" sz="1600" dirty="0" err="1">
                <a:solidFill>
                  <a:srgbClr val="2B91AF"/>
                </a:solidFill>
                <a:latin typeface="Cascadia Mono" panose="020B0609020000020004" pitchFamily="49" charset="0"/>
              </a:rPr>
              <a:t>GraphicsDrawable</a:t>
            </a:r>
            <a:r>
              <a:rPr lang="fr-FR" sz="1600" dirty="0">
                <a:solidFill>
                  <a:srgbClr val="000000"/>
                </a:solidFill>
                <a:latin typeface="Cascadia Mono" panose="020B0609020000020004" pitchFamily="49" charset="0"/>
              </a:rPr>
              <a:t> : </a:t>
            </a:r>
            <a:r>
              <a:rPr lang="fr-FR" sz="1600" dirty="0" err="1">
                <a:solidFill>
                  <a:srgbClr val="000000"/>
                </a:solidFill>
                <a:latin typeface="Cascadia Mono" panose="020B0609020000020004" pitchFamily="49" charset="0"/>
              </a:rPr>
              <a:t>IDrawable</a:t>
            </a:r>
            <a:endParaRPr lang="fr-FR" sz="1600" dirty="0">
              <a:solidFill>
                <a:srgbClr val="000000"/>
              </a:solidFill>
              <a:latin typeface="Cascadia Mono" panose="020B0609020000020004" pitchFamily="49" charset="0"/>
            </a:endParaRPr>
          </a:p>
          <a:p>
            <a:r>
              <a:rPr lang="fr-FR" sz="1600" dirty="0">
                <a:solidFill>
                  <a:srgbClr val="000000"/>
                </a:solidFill>
                <a:latin typeface="Cascadia Mono" panose="020B0609020000020004" pitchFamily="49" charset="0"/>
              </a:rPr>
              <a:t> </a:t>
            </a:r>
            <a:r>
              <a:rPr lang="fr-FR" sz="1600" dirty="0" smtClean="0">
                <a:solidFill>
                  <a:srgbClr val="000000"/>
                </a:solidFill>
                <a:latin typeface="Cascadia Mono" panose="020B0609020000020004" pitchFamily="49" charset="0"/>
              </a:rPr>
              <a:t>{</a:t>
            </a:r>
            <a:endParaRPr lang="fr-FR" sz="1600" dirty="0">
              <a:solidFill>
                <a:srgbClr val="000000"/>
              </a:solidFill>
              <a:latin typeface="Cascadia Mono" panose="020B0609020000020004" pitchFamily="49" charset="0"/>
            </a:endParaRPr>
          </a:p>
          <a:p>
            <a:r>
              <a:rPr lang="fr-FR" sz="1600" dirty="0">
                <a:solidFill>
                  <a:srgbClr val="000000"/>
                </a:solidFill>
                <a:latin typeface="Cascadia Mono" panose="020B0609020000020004" pitchFamily="49" charset="0"/>
              </a:rPr>
              <a:t>        </a:t>
            </a:r>
            <a:r>
              <a:rPr lang="fr-FR" sz="1600" dirty="0">
                <a:solidFill>
                  <a:srgbClr val="0000FF"/>
                </a:solidFill>
                <a:latin typeface="Cascadia Mono" panose="020B0609020000020004" pitchFamily="49" charset="0"/>
              </a:rPr>
              <a:t>public</a:t>
            </a:r>
            <a:r>
              <a:rPr lang="fr-FR" sz="1600" dirty="0">
                <a:solidFill>
                  <a:srgbClr val="000000"/>
                </a:solidFill>
                <a:latin typeface="Cascadia Mono" panose="020B0609020000020004" pitchFamily="49" charset="0"/>
              </a:rPr>
              <a:t> </a:t>
            </a:r>
            <a:r>
              <a:rPr lang="fr-FR" sz="1600" dirty="0" err="1">
                <a:solidFill>
                  <a:srgbClr val="0000FF"/>
                </a:solidFill>
                <a:latin typeface="Cascadia Mono" panose="020B0609020000020004" pitchFamily="49" charset="0"/>
              </a:rPr>
              <a:t>void</a:t>
            </a:r>
            <a:r>
              <a:rPr lang="fr-FR" sz="1600" dirty="0">
                <a:solidFill>
                  <a:srgbClr val="000000"/>
                </a:solidFill>
                <a:latin typeface="Cascadia Mono" panose="020B0609020000020004" pitchFamily="49" charset="0"/>
              </a:rPr>
              <a:t> </a:t>
            </a:r>
            <a:r>
              <a:rPr lang="fr-FR" sz="1600" dirty="0" err="1">
                <a:solidFill>
                  <a:srgbClr val="000000"/>
                </a:solidFill>
                <a:latin typeface="Cascadia Mono" panose="020B0609020000020004" pitchFamily="49" charset="0"/>
              </a:rPr>
              <a:t>Draw</a:t>
            </a:r>
            <a:r>
              <a:rPr lang="fr-FR" sz="1600" dirty="0">
                <a:solidFill>
                  <a:srgbClr val="000000"/>
                </a:solidFill>
                <a:latin typeface="Cascadia Mono" panose="020B0609020000020004" pitchFamily="49" charset="0"/>
              </a:rPr>
              <a:t>(</a:t>
            </a:r>
            <a:r>
              <a:rPr lang="fr-FR" sz="1600" dirty="0" err="1">
                <a:solidFill>
                  <a:srgbClr val="000000"/>
                </a:solidFill>
                <a:latin typeface="Cascadia Mono" panose="020B0609020000020004" pitchFamily="49" charset="0"/>
              </a:rPr>
              <a:t>ICanvas</a:t>
            </a:r>
            <a:r>
              <a:rPr lang="fr-FR" sz="1600" dirty="0">
                <a:solidFill>
                  <a:srgbClr val="000000"/>
                </a:solidFill>
                <a:latin typeface="Cascadia Mono" panose="020B0609020000020004" pitchFamily="49" charset="0"/>
              </a:rPr>
              <a:t> </a:t>
            </a:r>
            <a:r>
              <a:rPr lang="fr-FR" sz="1600" dirty="0" err="1">
                <a:solidFill>
                  <a:srgbClr val="000000"/>
                </a:solidFill>
                <a:latin typeface="Cascadia Mono" panose="020B0609020000020004" pitchFamily="49" charset="0"/>
              </a:rPr>
              <a:t>canvas</a:t>
            </a:r>
            <a:r>
              <a:rPr lang="fr-FR" sz="1600" dirty="0">
                <a:solidFill>
                  <a:srgbClr val="000000"/>
                </a:solidFill>
                <a:latin typeface="Cascadia Mono" panose="020B0609020000020004" pitchFamily="49" charset="0"/>
              </a:rPr>
              <a:t>, </a:t>
            </a:r>
            <a:endParaRPr lang="fr-FR" sz="1600" dirty="0" smtClean="0">
              <a:solidFill>
                <a:srgbClr val="000000"/>
              </a:solidFill>
              <a:latin typeface="Cascadia Mono" panose="020B0609020000020004" pitchFamily="49" charset="0"/>
            </a:endParaRPr>
          </a:p>
          <a:p>
            <a:r>
              <a:rPr lang="fr-FR" sz="1600" dirty="0">
                <a:solidFill>
                  <a:srgbClr val="000000"/>
                </a:solidFill>
                <a:latin typeface="Cascadia Mono" panose="020B0609020000020004" pitchFamily="49" charset="0"/>
              </a:rPr>
              <a:t>	</a:t>
            </a:r>
            <a:r>
              <a:rPr lang="fr-FR" sz="1600" dirty="0" smtClean="0">
                <a:solidFill>
                  <a:srgbClr val="000000"/>
                </a:solidFill>
                <a:latin typeface="Cascadia Mono" panose="020B0609020000020004" pitchFamily="49" charset="0"/>
              </a:rPr>
              <a:t>		</a:t>
            </a:r>
            <a:r>
              <a:rPr lang="fr-FR" sz="1600" dirty="0" err="1" smtClean="0">
                <a:solidFill>
                  <a:srgbClr val="000000"/>
                </a:solidFill>
                <a:latin typeface="Cascadia Mono" panose="020B0609020000020004" pitchFamily="49" charset="0"/>
              </a:rPr>
              <a:t>RectF</a:t>
            </a:r>
            <a:r>
              <a:rPr lang="fr-FR" sz="1600" dirty="0" smtClean="0">
                <a:solidFill>
                  <a:srgbClr val="000000"/>
                </a:solidFill>
                <a:latin typeface="Cascadia Mono" panose="020B0609020000020004" pitchFamily="49" charset="0"/>
              </a:rPr>
              <a:t> </a:t>
            </a:r>
            <a:r>
              <a:rPr lang="fr-FR" sz="1600" dirty="0" err="1">
                <a:solidFill>
                  <a:srgbClr val="000000"/>
                </a:solidFill>
                <a:latin typeface="Cascadia Mono" panose="020B0609020000020004" pitchFamily="49" charset="0"/>
              </a:rPr>
              <a:t>dirtyRect</a:t>
            </a:r>
            <a:r>
              <a:rPr lang="fr-FR" sz="1600" dirty="0">
                <a:solidFill>
                  <a:srgbClr val="000000"/>
                </a:solidFill>
                <a:latin typeface="Cascadia Mono" panose="020B0609020000020004" pitchFamily="49" charset="0"/>
              </a:rPr>
              <a:t>)</a:t>
            </a:r>
          </a:p>
          <a:p>
            <a:r>
              <a:rPr lang="fr-FR" sz="1600" dirty="0">
                <a:solidFill>
                  <a:srgbClr val="000000"/>
                </a:solidFill>
                <a:latin typeface="Cascadia Mono" panose="020B0609020000020004" pitchFamily="49" charset="0"/>
              </a:rPr>
              <a:t>        {</a:t>
            </a:r>
          </a:p>
          <a:p>
            <a:r>
              <a:rPr lang="fr-FR" sz="1600" dirty="0">
                <a:solidFill>
                  <a:srgbClr val="000000"/>
                </a:solidFill>
                <a:latin typeface="Cascadia Mono" panose="020B0609020000020004" pitchFamily="49" charset="0"/>
              </a:rPr>
              <a:t>            </a:t>
            </a:r>
            <a:r>
              <a:rPr lang="fr-FR" sz="1600" dirty="0" err="1">
                <a:solidFill>
                  <a:srgbClr val="000000"/>
                </a:solidFill>
                <a:latin typeface="Cascadia Mono" panose="020B0609020000020004" pitchFamily="49" charset="0"/>
              </a:rPr>
              <a:t>canvas.StrokeColor</a:t>
            </a:r>
            <a:r>
              <a:rPr lang="fr-FR" sz="1600" dirty="0">
                <a:solidFill>
                  <a:srgbClr val="000000"/>
                </a:solidFill>
                <a:latin typeface="Cascadia Mono" panose="020B0609020000020004" pitchFamily="49" charset="0"/>
              </a:rPr>
              <a:t> = </a:t>
            </a:r>
            <a:r>
              <a:rPr lang="fr-FR" sz="1600" dirty="0" err="1">
                <a:solidFill>
                  <a:srgbClr val="000000"/>
                </a:solidFill>
                <a:latin typeface="Cascadia Mono" panose="020B0609020000020004" pitchFamily="49" charset="0"/>
              </a:rPr>
              <a:t>Colors.Red</a:t>
            </a:r>
            <a:r>
              <a:rPr lang="fr-FR" sz="1600" dirty="0">
                <a:solidFill>
                  <a:srgbClr val="000000"/>
                </a:solidFill>
                <a:latin typeface="Cascadia Mono" panose="020B0609020000020004" pitchFamily="49" charset="0"/>
              </a:rPr>
              <a:t>;</a:t>
            </a:r>
          </a:p>
          <a:p>
            <a:r>
              <a:rPr lang="fr-FR" sz="1600" dirty="0">
                <a:solidFill>
                  <a:srgbClr val="000000"/>
                </a:solidFill>
                <a:latin typeface="Cascadia Mono" panose="020B0609020000020004" pitchFamily="49" charset="0"/>
              </a:rPr>
              <a:t>            </a:t>
            </a:r>
            <a:r>
              <a:rPr lang="fr-FR" sz="1600" dirty="0" err="1">
                <a:solidFill>
                  <a:srgbClr val="000000"/>
                </a:solidFill>
                <a:latin typeface="Cascadia Mono" panose="020B0609020000020004" pitchFamily="49" charset="0"/>
              </a:rPr>
              <a:t>canvas.StrokeSize</a:t>
            </a:r>
            <a:r>
              <a:rPr lang="fr-FR" sz="1600" dirty="0">
                <a:solidFill>
                  <a:srgbClr val="000000"/>
                </a:solidFill>
                <a:latin typeface="Cascadia Mono" panose="020B0609020000020004" pitchFamily="49" charset="0"/>
              </a:rPr>
              <a:t> = 6;</a:t>
            </a:r>
          </a:p>
          <a:p>
            <a:r>
              <a:rPr lang="fr-FR" sz="1600" dirty="0">
                <a:solidFill>
                  <a:srgbClr val="000000"/>
                </a:solidFill>
                <a:latin typeface="Cascadia Mono" panose="020B0609020000020004" pitchFamily="49" charset="0"/>
              </a:rPr>
              <a:t>            </a:t>
            </a:r>
            <a:r>
              <a:rPr lang="fr-FR" sz="1600" dirty="0" err="1">
                <a:solidFill>
                  <a:srgbClr val="000000"/>
                </a:solidFill>
                <a:latin typeface="Cascadia Mono" panose="020B0609020000020004" pitchFamily="49" charset="0"/>
              </a:rPr>
              <a:t>canvas.DrawEllipse</a:t>
            </a:r>
            <a:r>
              <a:rPr lang="fr-FR" sz="1600" dirty="0">
                <a:solidFill>
                  <a:srgbClr val="000000"/>
                </a:solidFill>
                <a:latin typeface="Cascadia Mono" panose="020B0609020000020004" pitchFamily="49" charset="0"/>
              </a:rPr>
              <a:t>(10, 10, 100, 100);</a:t>
            </a:r>
          </a:p>
          <a:p>
            <a:r>
              <a:rPr lang="fr-FR" sz="1600" dirty="0">
                <a:solidFill>
                  <a:srgbClr val="000000"/>
                </a:solidFill>
                <a:latin typeface="Cascadia Mono" panose="020B0609020000020004" pitchFamily="49" charset="0"/>
              </a:rPr>
              <a:t>        </a:t>
            </a:r>
            <a:r>
              <a:rPr lang="fr-FR" sz="1600" dirty="0" smtClean="0">
                <a:solidFill>
                  <a:srgbClr val="000000"/>
                </a:solidFill>
                <a:latin typeface="Cascadia Mono" panose="020B0609020000020004" pitchFamily="49" charset="0"/>
              </a:rPr>
              <a:t>}</a:t>
            </a:r>
          </a:p>
          <a:p>
            <a:r>
              <a:rPr lang="fr-FR" sz="1600" dirty="0" smtClean="0">
                <a:solidFill>
                  <a:srgbClr val="000000"/>
                </a:solidFill>
                <a:latin typeface="Cascadia Mono" panose="020B0609020000020004" pitchFamily="49" charset="0"/>
              </a:rPr>
              <a:t> }</a:t>
            </a:r>
            <a:endParaRPr lang="fr-FR" sz="1600" dirty="0"/>
          </a:p>
        </p:txBody>
      </p:sp>
    </p:spTree>
    <p:extLst>
      <p:ext uri="{BB962C8B-B14F-4D97-AF65-F5344CB8AC3E}">
        <p14:creationId xmlns:p14="http://schemas.microsoft.com/office/powerpoint/2010/main" val="39765147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8"/>
          <p:cNvSpPr txBox="1">
            <a:spLocks noChangeArrowheads="1"/>
          </p:cNvSpPr>
          <p:nvPr/>
        </p:nvSpPr>
        <p:spPr bwMode="auto">
          <a:xfrm>
            <a:off x="251166" y="617099"/>
            <a:ext cx="6362135" cy="959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152400">
              <a:tabLst>
                <a:tab pos="5992813" algn="l"/>
              </a:tabLst>
              <a:defRPr>
                <a:solidFill>
                  <a:schemeClr val="tx1"/>
                </a:solidFill>
                <a:latin typeface="Calibri" panose="020F0502020204030204" pitchFamily="34" charset="0"/>
                <a:cs typeface="Arial" panose="020B0604020202020204" pitchFamily="34" charset="0"/>
              </a:defRPr>
            </a:lvl1pPr>
            <a:lvl2pPr marL="579438" indent="-242888">
              <a:tabLst>
                <a:tab pos="5992813" algn="l"/>
              </a:tabLst>
              <a:defRPr>
                <a:solidFill>
                  <a:schemeClr val="tx1"/>
                </a:solidFill>
                <a:latin typeface="Calibri" panose="020F0502020204030204" pitchFamily="34" charset="0"/>
                <a:cs typeface="Arial" panose="020B0604020202020204" pitchFamily="34" charset="0"/>
              </a:defRPr>
            </a:lvl2pPr>
            <a:lvl3pPr marL="1143000" indent="-228600">
              <a:tabLst>
                <a:tab pos="5992813" algn="l"/>
              </a:tabLst>
              <a:defRPr>
                <a:solidFill>
                  <a:schemeClr val="tx1"/>
                </a:solidFill>
                <a:latin typeface="Calibri" panose="020F0502020204030204" pitchFamily="34" charset="0"/>
                <a:cs typeface="Arial" panose="020B0604020202020204" pitchFamily="34" charset="0"/>
              </a:defRPr>
            </a:lvl3pPr>
            <a:lvl4pPr marL="1600200" indent="-228600">
              <a:tabLst>
                <a:tab pos="5992813" algn="l"/>
              </a:tabLst>
              <a:defRPr>
                <a:solidFill>
                  <a:schemeClr val="tx1"/>
                </a:solidFill>
                <a:latin typeface="Calibri" panose="020F0502020204030204" pitchFamily="34" charset="0"/>
                <a:cs typeface="Arial" panose="020B0604020202020204" pitchFamily="34" charset="0"/>
              </a:defRPr>
            </a:lvl4pPr>
            <a:lvl5pPr marL="2057400" indent="-228600">
              <a:tabLst>
                <a:tab pos="5992813" algn="l"/>
              </a:tabLst>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2200" u="sng" dirty="0">
                <a:latin typeface="Segoe UI Symbol" panose="020B0502040204020203" pitchFamily="34" charset="0"/>
              </a:rPr>
              <a:t>L</a:t>
            </a:r>
            <a:r>
              <a:rPr lang="en-US" altLang="en-US" sz="2200" u="sng" dirty="0" smtClean="0">
                <a:latin typeface="Segoe UI Symbol" panose="020B0502040204020203" pitchFamily="34" charset="0"/>
              </a:rPr>
              <a:t>es </a:t>
            </a:r>
            <a:r>
              <a:rPr lang="fr-FR" altLang="en-US" sz="2200" u="sng" dirty="0" smtClean="0">
                <a:latin typeface="Segoe UI Symbol" panose="020B0502040204020203" pitchFamily="34" charset="0"/>
              </a:rPr>
              <a:t>contrôles de présentation-</a:t>
            </a:r>
            <a:r>
              <a:rPr lang="fr-FR" altLang="en-US" sz="2200" u="sng" dirty="0" err="1" smtClean="0">
                <a:latin typeface="Segoe UI Symbol" panose="020B0502040204020203" pitchFamily="34" charset="0"/>
              </a:rPr>
              <a:t>GraphicView</a:t>
            </a:r>
            <a:endParaRPr lang="fr-FR" altLang="en-US" sz="2200" dirty="0" smtClean="0">
              <a:latin typeface="Times New Roman" panose="02020603050405020304" pitchFamily="18" charset="0"/>
              <a:cs typeface="Times New Roman" panose="02020603050405020304" pitchFamily="18" charset="0"/>
            </a:endParaRPr>
          </a:p>
          <a:p>
            <a:pPr>
              <a:lnSpc>
                <a:spcPct val="150000"/>
              </a:lnSpc>
              <a:spcBef>
                <a:spcPts val="1625"/>
              </a:spcBef>
              <a:buClr>
                <a:srgbClr val="006498"/>
              </a:buClr>
              <a:buSzPct val="61000"/>
              <a:buFont typeface="Wingdings" panose="05000000000000000000" pitchFamily="2" charset="2"/>
              <a:buChar char=""/>
            </a:pPr>
            <a:r>
              <a:rPr lang="fr-FR" dirty="0" err="1" smtClean="0">
                <a:latin typeface="Segoe UI" panose="020B0502040204020203" pitchFamily="34" charset="0"/>
                <a:cs typeface="Segoe UI" panose="020B0502040204020203" pitchFamily="34" charset="0"/>
              </a:rPr>
              <a:t>Definir</a:t>
            </a:r>
            <a:r>
              <a:rPr lang="fr-FR" dirty="0" smtClean="0">
                <a:latin typeface="Segoe UI" panose="020B0502040204020203" pitchFamily="34" charset="0"/>
                <a:cs typeface="Segoe UI" panose="020B0502040204020203" pitchFamily="34" charset="0"/>
              </a:rPr>
              <a:t> la partie XAML du </a:t>
            </a:r>
            <a:r>
              <a:rPr lang="fr-FR" b="1" dirty="0" err="1" smtClean="0">
                <a:latin typeface="Segoe UI" panose="020B0502040204020203" pitchFamily="34" charset="0"/>
                <a:cs typeface="Segoe UI" panose="020B0502040204020203" pitchFamily="34" charset="0"/>
              </a:rPr>
              <a:t>GraphicsView</a:t>
            </a:r>
            <a:r>
              <a:rPr lang="fr-FR" dirty="0" smtClean="0">
                <a:latin typeface="Segoe UI" panose="020B0502040204020203" pitchFamily="34" charset="0"/>
                <a:cs typeface="Segoe UI" panose="020B0502040204020203" pitchFamily="34" charset="0"/>
              </a:rPr>
              <a:t> </a:t>
            </a:r>
          </a:p>
        </p:txBody>
      </p:sp>
      <p:pic>
        <p:nvPicPr>
          <p:cNvPr id="4" name="Image 3"/>
          <p:cNvPicPr>
            <a:picLocks noChangeAspect="1"/>
          </p:cNvPicPr>
          <p:nvPr/>
        </p:nvPicPr>
        <p:blipFill>
          <a:blip r:embed="rId3"/>
          <a:stretch>
            <a:fillRect/>
          </a:stretch>
        </p:blipFill>
        <p:spPr>
          <a:xfrm>
            <a:off x="6095997" y="-3164750"/>
            <a:ext cx="5" cy="13187500"/>
          </a:xfrm>
          <a:prstGeom prst="rect">
            <a:avLst/>
          </a:prstGeom>
        </p:spPr>
      </p:pic>
      <p:sp>
        <p:nvSpPr>
          <p:cNvPr id="6" name="Rectangle 5"/>
          <p:cNvSpPr/>
          <p:nvPr/>
        </p:nvSpPr>
        <p:spPr>
          <a:xfrm>
            <a:off x="414271" y="1786944"/>
            <a:ext cx="7847526" cy="2308324"/>
          </a:xfrm>
          <a:prstGeom prst="rect">
            <a:avLst/>
          </a:prstGeom>
        </p:spPr>
        <p:txBody>
          <a:bodyPr wrap="square">
            <a:spAutoFit/>
          </a:bodyPr>
          <a:lstStyle/>
          <a:p>
            <a:r>
              <a:rPr lang="fr-FR" sz="1600" dirty="0">
                <a:solidFill>
                  <a:srgbClr val="0000FF"/>
                </a:solidFill>
                <a:latin typeface="Cascadia Mono" panose="020B0609020000020004" pitchFamily="49" charset="0"/>
              </a:rPr>
              <a:t>&lt;</a:t>
            </a:r>
            <a:r>
              <a:rPr lang="fr-FR" sz="1600" dirty="0" err="1">
                <a:solidFill>
                  <a:srgbClr val="A31515"/>
                </a:solidFill>
                <a:latin typeface="Cascadia Mono" panose="020B0609020000020004" pitchFamily="49" charset="0"/>
              </a:rPr>
              <a:t>ContentPage.Resources</a:t>
            </a:r>
            <a:r>
              <a:rPr lang="fr-FR" sz="1600" dirty="0">
                <a:solidFill>
                  <a:srgbClr val="0000FF"/>
                </a:solidFill>
                <a:latin typeface="Cascadia Mono" panose="020B0609020000020004" pitchFamily="49" charset="0"/>
              </a:rPr>
              <a:t>&gt;</a:t>
            </a:r>
            <a:endParaRPr lang="fr-FR" sz="1600" dirty="0">
              <a:solidFill>
                <a:srgbClr val="000000"/>
              </a:solidFill>
              <a:latin typeface="Cascadia Mono" panose="020B0609020000020004" pitchFamily="49" charset="0"/>
            </a:endParaRPr>
          </a:p>
          <a:p>
            <a:r>
              <a:rPr lang="fr-FR" sz="1600" dirty="0">
                <a:solidFill>
                  <a:srgbClr val="000000"/>
                </a:solidFill>
                <a:latin typeface="Cascadia Mono" panose="020B0609020000020004" pitchFamily="49" charset="0"/>
              </a:rPr>
              <a:t>        </a:t>
            </a:r>
            <a:r>
              <a:rPr lang="fr-FR" sz="1600" dirty="0">
                <a:solidFill>
                  <a:srgbClr val="0000FF"/>
                </a:solidFill>
                <a:latin typeface="Cascadia Mono" panose="020B0609020000020004" pitchFamily="49" charset="0"/>
              </a:rPr>
              <a:t>&lt;</a:t>
            </a:r>
            <a:r>
              <a:rPr lang="fr-FR" sz="1600" dirty="0" err="1">
                <a:solidFill>
                  <a:srgbClr val="A31515"/>
                </a:solidFill>
                <a:latin typeface="Cascadia Mono" panose="020B0609020000020004" pitchFamily="49" charset="0"/>
              </a:rPr>
              <a:t>local</a:t>
            </a:r>
            <a:r>
              <a:rPr lang="fr-FR" sz="1600" dirty="0" err="1">
                <a:solidFill>
                  <a:srgbClr val="0000FF"/>
                </a:solidFill>
                <a:latin typeface="Cascadia Mono" panose="020B0609020000020004" pitchFamily="49" charset="0"/>
              </a:rPr>
              <a:t>:</a:t>
            </a:r>
            <a:r>
              <a:rPr lang="fr-FR" sz="1600" dirty="0" err="1">
                <a:solidFill>
                  <a:srgbClr val="A31515"/>
                </a:solidFill>
                <a:latin typeface="Cascadia Mono" panose="020B0609020000020004" pitchFamily="49" charset="0"/>
              </a:rPr>
              <a:t>GraphicsDrawable</a:t>
            </a:r>
            <a:r>
              <a:rPr lang="fr-FR" sz="1600" dirty="0">
                <a:solidFill>
                  <a:srgbClr val="FF0000"/>
                </a:solidFill>
                <a:latin typeface="Cascadia Mono" panose="020B0609020000020004" pitchFamily="49" charset="0"/>
              </a:rPr>
              <a:t> x</a:t>
            </a:r>
            <a:r>
              <a:rPr lang="fr-FR" sz="1600" dirty="0">
                <a:solidFill>
                  <a:srgbClr val="0000FF"/>
                </a:solidFill>
                <a:latin typeface="Cascadia Mono" panose="020B0609020000020004" pitchFamily="49" charset="0"/>
              </a:rPr>
              <a:t>:</a:t>
            </a:r>
            <a:r>
              <a:rPr lang="fr-FR" sz="1600" dirty="0">
                <a:solidFill>
                  <a:srgbClr val="FF0000"/>
                </a:solidFill>
                <a:latin typeface="Cascadia Mono" panose="020B0609020000020004" pitchFamily="49" charset="0"/>
              </a:rPr>
              <a:t>Key</a:t>
            </a:r>
            <a:r>
              <a:rPr lang="fr-FR" sz="1600" dirty="0">
                <a:solidFill>
                  <a:srgbClr val="0000FF"/>
                </a:solidFill>
                <a:latin typeface="Cascadia Mono" panose="020B0609020000020004" pitchFamily="49" charset="0"/>
              </a:rPr>
              <a:t>="drawable" /&gt;</a:t>
            </a:r>
            <a:endParaRPr lang="fr-FR" sz="1600" dirty="0">
              <a:solidFill>
                <a:srgbClr val="000000"/>
              </a:solidFill>
              <a:latin typeface="Cascadia Mono" panose="020B0609020000020004" pitchFamily="49" charset="0"/>
            </a:endParaRPr>
          </a:p>
          <a:p>
            <a:r>
              <a:rPr lang="fr-FR" sz="1600" dirty="0" smtClean="0">
                <a:solidFill>
                  <a:srgbClr val="0000FF"/>
                </a:solidFill>
                <a:latin typeface="Cascadia Mono" panose="020B0609020000020004" pitchFamily="49" charset="0"/>
              </a:rPr>
              <a:t>&lt;/</a:t>
            </a:r>
            <a:r>
              <a:rPr lang="fr-FR" sz="1600" dirty="0" err="1">
                <a:solidFill>
                  <a:srgbClr val="A31515"/>
                </a:solidFill>
                <a:latin typeface="Cascadia Mono" panose="020B0609020000020004" pitchFamily="49" charset="0"/>
              </a:rPr>
              <a:t>ContentPage.Resources</a:t>
            </a:r>
            <a:r>
              <a:rPr lang="fr-FR" sz="1600" dirty="0">
                <a:solidFill>
                  <a:srgbClr val="0000FF"/>
                </a:solidFill>
                <a:latin typeface="Cascadia Mono" panose="020B0609020000020004" pitchFamily="49" charset="0"/>
              </a:rPr>
              <a:t>&gt;</a:t>
            </a:r>
            <a:endParaRPr lang="fr-FR" sz="1600" dirty="0">
              <a:solidFill>
                <a:srgbClr val="000000"/>
              </a:solidFill>
              <a:latin typeface="Cascadia Mono" panose="020B0609020000020004" pitchFamily="49" charset="0"/>
            </a:endParaRPr>
          </a:p>
          <a:p>
            <a:r>
              <a:rPr lang="fr-FR" sz="1600" dirty="0" smtClean="0">
                <a:solidFill>
                  <a:srgbClr val="0000FF"/>
                </a:solidFill>
                <a:latin typeface="Cascadia Mono" panose="020B0609020000020004" pitchFamily="49" charset="0"/>
              </a:rPr>
              <a:t>&lt;</a:t>
            </a:r>
            <a:r>
              <a:rPr lang="fr-FR" sz="1600" dirty="0" err="1">
                <a:solidFill>
                  <a:srgbClr val="A31515"/>
                </a:solidFill>
                <a:latin typeface="Cascadia Mono" panose="020B0609020000020004" pitchFamily="49" charset="0"/>
              </a:rPr>
              <a:t>VerticalStackLayout</a:t>
            </a:r>
            <a:r>
              <a:rPr lang="fr-FR" sz="1600" dirty="0">
                <a:solidFill>
                  <a:srgbClr val="FF0000"/>
                </a:solidFill>
                <a:latin typeface="Cascadia Mono" panose="020B0609020000020004" pitchFamily="49" charset="0"/>
              </a:rPr>
              <a:t> VerticalOptions</a:t>
            </a:r>
            <a:r>
              <a:rPr lang="fr-FR" sz="1600" dirty="0">
                <a:solidFill>
                  <a:srgbClr val="0000FF"/>
                </a:solidFill>
                <a:latin typeface="Cascadia Mono" panose="020B0609020000020004" pitchFamily="49" charset="0"/>
              </a:rPr>
              <a:t>="Center"&gt;</a:t>
            </a:r>
            <a:endParaRPr lang="fr-FR" sz="1600" dirty="0">
              <a:solidFill>
                <a:srgbClr val="000000"/>
              </a:solidFill>
              <a:latin typeface="Cascadia Mono" panose="020B0609020000020004" pitchFamily="49" charset="0"/>
            </a:endParaRPr>
          </a:p>
          <a:p>
            <a:r>
              <a:rPr lang="fr-FR" sz="1600" dirty="0">
                <a:solidFill>
                  <a:srgbClr val="000000"/>
                </a:solidFill>
                <a:latin typeface="Cascadia Mono" panose="020B0609020000020004" pitchFamily="49" charset="0"/>
              </a:rPr>
              <a:t>        </a:t>
            </a:r>
            <a:r>
              <a:rPr lang="fr-FR" sz="1600" dirty="0">
                <a:solidFill>
                  <a:srgbClr val="0000FF"/>
                </a:solidFill>
                <a:latin typeface="Cascadia Mono" panose="020B0609020000020004" pitchFamily="49" charset="0"/>
              </a:rPr>
              <a:t>&lt;</a:t>
            </a:r>
            <a:r>
              <a:rPr lang="fr-FR" sz="1600" dirty="0" err="1">
                <a:solidFill>
                  <a:srgbClr val="A31515"/>
                </a:solidFill>
                <a:latin typeface="Cascadia Mono" panose="020B0609020000020004" pitchFamily="49" charset="0"/>
              </a:rPr>
              <a:t>GraphicsView</a:t>
            </a:r>
            <a:r>
              <a:rPr lang="fr-FR" sz="1600" dirty="0">
                <a:solidFill>
                  <a:srgbClr val="000000"/>
                </a:solidFill>
                <a:latin typeface="Cascadia Mono" panose="020B0609020000020004" pitchFamily="49" charset="0"/>
              </a:rPr>
              <a:t>  </a:t>
            </a:r>
          </a:p>
          <a:p>
            <a:r>
              <a:rPr lang="fr-FR" sz="1600" dirty="0">
                <a:solidFill>
                  <a:srgbClr val="000000"/>
                </a:solidFill>
                <a:latin typeface="Cascadia Mono" panose="020B0609020000020004" pitchFamily="49" charset="0"/>
              </a:rPr>
              <a:t>                     </a:t>
            </a:r>
            <a:r>
              <a:rPr lang="fr-FR" sz="1600" dirty="0">
                <a:solidFill>
                  <a:srgbClr val="FF0000"/>
                </a:solidFill>
                <a:latin typeface="Cascadia Mono" panose="020B0609020000020004" pitchFamily="49" charset="0"/>
              </a:rPr>
              <a:t> </a:t>
            </a:r>
            <a:r>
              <a:rPr lang="fr-FR" sz="1600" dirty="0" err="1">
                <a:solidFill>
                  <a:srgbClr val="FF0000"/>
                </a:solidFill>
                <a:latin typeface="Cascadia Mono" panose="020B0609020000020004" pitchFamily="49" charset="0"/>
              </a:rPr>
              <a:t>Drawable</a:t>
            </a:r>
            <a:r>
              <a:rPr lang="fr-FR" sz="1600" dirty="0">
                <a:solidFill>
                  <a:srgbClr val="0000FF"/>
                </a:solidFill>
                <a:latin typeface="Cascadia Mono" panose="020B0609020000020004" pitchFamily="49" charset="0"/>
              </a:rPr>
              <a:t>="{</a:t>
            </a:r>
            <a:r>
              <a:rPr lang="fr-FR" sz="1600" dirty="0" err="1">
                <a:solidFill>
                  <a:srgbClr val="A31515"/>
                </a:solidFill>
                <a:latin typeface="Cascadia Mono" panose="020B0609020000020004" pitchFamily="49" charset="0"/>
              </a:rPr>
              <a:t>StaticResource</a:t>
            </a:r>
            <a:r>
              <a:rPr lang="fr-FR" sz="1600" dirty="0">
                <a:solidFill>
                  <a:srgbClr val="FF0000"/>
                </a:solidFill>
                <a:latin typeface="Cascadia Mono" panose="020B0609020000020004" pitchFamily="49" charset="0"/>
              </a:rPr>
              <a:t> </a:t>
            </a:r>
            <a:r>
              <a:rPr lang="fr-FR" sz="1600" dirty="0" err="1">
                <a:solidFill>
                  <a:srgbClr val="FF0000"/>
                </a:solidFill>
                <a:latin typeface="Cascadia Mono" panose="020B0609020000020004" pitchFamily="49" charset="0"/>
              </a:rPr>
              <a:t>drawable</a:t>
            </a:r>
            <a:r>
              <a:rPr lang="fr-FR" sz="1600" dirty="0">
                <a:solidFill>
                  <a:srgbClr val="0000FF"/>
                </a:solidFill>
                <a:latin typeface="Cascadia Mono" panose="020B0609020000020004" pitchFamily="49" charset="0"/>
              </a:rPr>
              <a:t>}"</a:t>
            </a:r>
            <a:endParaRPr lang="fr-FR" sz="1600" dirty="0">
              <a:solidFill>
                <a:srgbClr val="000000"/>
              </a:solidFill>
              <a:latin typeface="Cascadia Mono" panose="020B0609020000020004" pitchFamily="49" charset="0"/>
            </a:endParaRPr>
          </a:p>
          <a:p>
            <a:r>
              <a:rPr lang="fr-FR" sz="1600" dirty="0">
                <a:solidFill>
                  <a:srgbClr val="000000"/>
                </a:solidFill>
                <a:latin typeface="Cascadia Mono" panose="020B0609020000020004" pitchFamily="49" charset="0"/>
              </a:rPr>
              <a:t>                     </a:t>
            </a:r>
            <a:r>
              <a:rPr lang="fr-FR" sz="1600" dirty="0">
                <a:solidFill>
                  <a:srgbClr val="FF0000"/>
                </a:solidFill>
                <a:latin typeface="Cascadia Mono" panose="020B0609020000020004" pitchFamily="49" charset="0"/>
              </a:rPr>
              <a:t> </a:t>
            </a:r>
            <a:r>
              <a:rPr lang="fr-FR" sz="1600" dirty="0" err="1">
                <a:solidFill>
                  <a:srgbClr val="FF0000"/>
                </a:solidFill>
                <a:latin typeface="Cascadia Mono" panose="020B0609020000020004" pitchFamily="49" charset="0"/>
              </a:rPr>
              <a:t>HeightRequest</a:t>
            </a:r>
            <a:r>
              <a:rPr lang="fr-FR" sz="1600" dirty="0">
                <a:solidFill>
                  <a:srgbClr val="0000FF"/>
                </a:solidFill>
                <a:latin typeface="Cascadia Mono" panose="020B0609020000020004" pitchFamily="49" charset="0"/>
              </a:rPr>
              <a:t>="300"</a:t>
            </a:r>
            <a:endParaRPr lang="fr-FR" sz="1600" dirty="0">
              <a:solidFill>
                <a:srgbClr val="000000"/>
              </a:solidFill>
              <a:latin typeface="Cascadia Mono" panose="020B0609020000020004" pitchFamily="49" charset="0"/>
            </a:endParaRPr>
          </a:p>
          <a:p>
            <a:r>
              <a:rPr lang="fr-FR" sz="1600" dirty="0">
                <a:solidFill>
                  <a:srgbClr val="000000"/>
                </a:solidFill>
                <a:latin typeface="Cascadia Mono" panose="020B0609020000020004" pitchFamily="49" charset="0"/>
              </a:rPr>
              <a:t>                     </a:t>
            </a:r>
            <a:r>
              <a:rPr lang="fr-FR" sz="1600" dirty="0">
                <a:solidFill>
                  <a:srgbClr val="FF0000"/>
                </a:solidFill>
                <a:latin typeface="Cascadia Mono" panose="020B0609020000020004" pitchFamily="49" charset="0"/>
              </a:rPr>
              <a:t> </a:t>
            </a:r>
            <a:r>
              <a:rPr lang="fr-FR" sz="1600" dirty="0" err="1">
                <a:solidFill>
                  <a:srgbClr val="FF0000"/>
                </a:solidFill>
                <a:latin typeface="Cascadia Mono" panose="020B0609020000020004" pitchFamily="49" charset="0"/>
              </a:rPr>
              <a:t>WidthRequest</a:t>
            </a:r>
            <a:r>
              <a:rPr lang="fr-FR" sz="1600" dirty="0">
                <a:solidFill>
                  <a:srgbClr val="0000FF"/>
                </a:solidFill>
                <a:latin typeface="Cascadia Mono" panose="020B0609020000020004" pitchFamily="49" charset="0"/>
              </a:rPr>
              <a:t>="400" /&gt;</a:t>
            </a:r>
            <a:endParaRPr lang="fr-FR" sz="1600" dirty="0">
              <a:solidFill>
                <a:srgbClr val="000000"/>
              </a:solidFill>
              <a:latin typeface="Cascadia Mono" panose="020B0609020000020004" pitchFamily="49" charset="0"/>
            </a:endParaRPr>
          </a:p>
          <a:p>
            <a:r>
              <a:rPr lang="fr-FR" sz="1600" dirty="0" smtClean="0">
                <a:solidFill>
                  <a:srgbClr val="0000FF"/>
                </a:solidFill>
                <a:latin typeface="Cascadia Mono" panose="020B0609020000020004" pitchFamily="49" charset="0"/>
              </a:rPr>
              <a:t>&lt;/</a:t>
            </a:r>
            <a:r>
              <a:rPr lang="fr-FR" sz="1600" dirty="0" err="1">
                <a:solidFill>
                  <a:srgbClr val="A31515"/>
                </a:solidFill>
                <a:latin typeface="Cascadia Mono" panose="020B0609020000020004" pitchFamily="49" charset="0"/>
              </a:rPr>
              <a:t>VerticalStackLayout</a:t>
            </a:r>
            <a:r>
              <a:rPr lang="fr-FR" sz="1600" dirty="0">
                <a:solidFill>
                  <a:srgbClr val="0000FF"/>
                </a:solidFill>
                <a:latin typeface="Cascadia Mono" panose="020B0609020000020004" pitchFamily="49" charset="0"/>
              </a:rPr>
              <a:t>&gt;</a:t>
            </a:r>
            <a:endParaRPr lang="fr-FR" sz="1600" dirty="0"/>
          </a:p>
        </p:txBody>
      </p:sp>
    </p:spTree>
    <p:extLst>
      <p:ext uri="{BB962C8B-B14F-4D97-AF65-F5344CB8AC3E}">
        <p14:creationId xmlns:p14="http://schemas.microsoft.com/office/powerpoint/2010/main" val="26152015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8"/>
          <p:cNvSpPr txBox="1">
            <a:spLocks noChangeArrowheads="1"/>
          </p:cNvSpPr>
          <p:nvPr/>
        </p:nvSpPr>
        <p:spPr bwMode="auto">
          <a:xfrm>
            <a:off x="251166" y="617099"/>
            <a:ext cx="6362135" cy="2826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152400">
              <a:tabLst>
                <a:tab pos="5992813" algn="l"/>
              </a:tabLst>
              <a:defRPr>
                <a:solidFill>
                  <a:schemeClr val="tx1"/>
                </a:solidFill>
                <a:latin typeface="Calibri" panose="020F0502020204030204" pitchFamily="34" charset="0"/>
                <a:cs typeface="Arial" panose="020B0604020202020204" pitchFamily="34" charset="0"/>
              </a:defRPr>
            </a:lvl1pPr>
            <a:lvl2pPr marL="579438" indent="-242888">
              <a:tabLst>
                <a:tab pos="5992813" algn="l"/>
              </a:tabLst>
              <a:defRPr>
                <a:solidFill>
                  <a:schemeClr val="tx1"/>
                </a:solidFill>
                <a:latin typeface="Calibri" panose="020F0502020204030204" pitchFamily="34" charset="0"/>
                <a:cs typeface="Arial" panose="020B0604020202020204" pitchFamily="34" charset="0"/>
              </a:defRPr>
            </a:lvl2pPr>
            <a:lvl3pPr marL="1143000" indent="-228600">
              <a:tabLst>
                <a:tab pos="5992813" algn="l"/>
              </a:tabLst>
              <a:defRPr>
                <a:solidFill>
                  <a:schemeClr val="tx1"/>
                </a:solidFill>
                <a:latin typeface="Calibri" panose="020F0502020204030204" pitchFamily="34" charset="0"/>
                <a:cs typeface="Arial" panose="020B0604020202020204" pitchFamily="34" charset="0"/>
              </a:defRPr>
            </a:lvl3pPr>
            <a:lvl4pPr marL="1600200" indent="-228600">
              <a:tabLst>
                <a:tab pos="5992813" algn="l"/>
              </a:tabLst>
              <a:defRPr>
                <a:solidFill>
                  <a:schemeClr val="tx1"/>
                </a:solidFill>
                <a:latin typeface="Calibri" panose="020F0502020204030204" pitchFamily="34" charset="0"/>
                <a:cs typeface="Arial" panose="020B0604020202020204" pitchFamily="34" charset="0"/>
              </a:defRPr>
            </a:lvl4pPr>
            <a:lvl5pPr marL="2057400" indent="-228600">
              <a:tabLst>
                <a:tab pos="5992813" algn="l"/>
              </a:tabLst>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2200" u="sng" dirty="0">
                <a:latin typeface="Segoe UI Symbol" panose="020B0502040204020203" pitchFamily="34" charset="0"/>
              </a:rPr>
              <a:t>L</a:t>
            </a:r>
            <a:r>
              <a:rPr lang="en-US" altLang="en-US" sz="2200" u="sng" dirty="0" smtClean="0">
                <a:latin typeface="Segoe UI Symbol" panose="020B0502040204020203" pitchFamily="34" charset="0"/>
              </a:rPr>
              <a:t>es </a:t>
            </a:r>
            <a:r>
              <a:rPr lang="fr-FR" altLang="en-US" sz="2200" u="sng" dirty="0" smtClean="0">
                <a:latin typeface="Segoe UI Symbol" panose="020B0502040204020203" pitchFamily="34" charset="0"/>
              </a:rPr>
              <a:t>contrôles de présentation-</a:t>
            </a:r>
            <a:r>
              <a:rPr lang="fr-FR" altLang="en-US" sz="2200" u="sng" dirty="0" err="1" smtClean="0">
                <a:latin typeface="Segoe UI Symbol" panose="020B0502040204020203" pitchFamily="34" charset="0"/>
              </a:rPr>
              <a:t>WebView</a:t>
            </a:r>
            <a:endParaRPr lang="fr-FR" altLang="en-US" sz="2200" dirty="0" smtClean="0">
              <a:latin typeface="Times New Roman" panose="02020603050405020304" pitchFamily="18" charset="0"/>
              <a:cs typeface="Times New Roman" panose="02020603050405020304" pitchFamily="18" charset="0"/>
            </a:endParaRPr>
          </a:p>
          <a:p>
            <a:pPr>
              <a:lnSpc>
                <a:spcPct val="150000"/>
              </a:lnSpc>
              <a:spcBef>
                <a:spcPts val="1625"/>
              </a:spcBef>
              <a:buClr>
                <a:srgbClr val="006498"/>
              </a:buClr>
              <a:buSzPct val="61000"/>
              <a:buFont typeface="Wingdings" panose="05000000000000000000" pitchFamily="2" charset="2"/>
              <a:buChar char=""/>
            </a:pPr>
            <a:r>
              <a:rPr lang="fr-FR" dirty="0" smtClean="0">
                <a:latin typeface="Segoe UI" panose="020B0502040204020203" pitchFamily="34" charset="0"/>
                <a:cs typeface="Segoe UI" panose="020B0502040204020203" pitchFamily="34" charset="0"/>
              </a:rPr>
              <a:t>Le contrôle </a:t>
            </a:r>
            <a:r>
              <a:rPr lang="fr-FR" b="1" dirty="0" err="1">
                <a:latin typeface="Segoe UI" panose="020B0502040204020203" pitchFamily="34" charset="0"/>
                <a:cs typeface="Segoe UI" panose="020B0502040204020203" pitchFamily="34" charset="0"/>
              </a:rPr>
              <a:t>WebView</a:t>
            </a:r>
            <a:r>
              <a:rPr lang="fr-FR" dirty="0">
                <a:latin typeface="Segoe UI" panose="020B0502040204020203" pitchFamily="34" charset="0"/>
                <a:cs typeface="Segoe UI" panose="020B0502040204020203" pitchFamily="34" charset="0"/>
              </a:rPr>
              <a:t> affiche des pages web distantes, des fichiers HTML locaux et des chaînes HTML dans une </a:t>
            </a:r>
            <a:r>
              <a:rPr lang="fr-FR" dirty="0" smtClean="0">
                <a:latin typeface="Segoe UI" panose="020B0502040204020203" pitchFamily="34" charset="0"/>
                <a:cs typeface="Segoe UI" panose="020B0502040204020203" pitchFamily="34" charset="0"/>
              </a:rPr>
              <a:t>application</a:t>
            </a:r>
          </a:p>
          <a:p>
            <a:pPr>
              <a:lnSpc>
                <a:spcPct val="150000"/>
              </a:lnSpc>
              <a:spcBef>
                <a:spcPts val="1625"/>
              </a:spcBef>
              <a:buClr>
                <a:srgbClr val="006498"/>
              </a:buClr>
              <a:buSzPct val="61000"/>
              <a:buFont typeface="Wingdings" panose="05000000000000000000" pitchFamily="2" charset="2"/>
              <a:buChar char=""/>
            </a:pPr>
            <a:r>
              <a:rPr lang="fr-FR" dirty="0">
                <a:latin typeface="Segoe UI" panose="020B0502040204020203" pitchFamily="34" charset="0"/>
                <a:cs typeface="Segoe UI" panose="020B0502040204020203" pitchFamily="34" charset="0"/>
              </a:rPr>
              <a:t>Le contenu affiché inclut la </a:t>
            </a:r>
            <a:r>
              <a:rPr lang="fr-FR" b="1" dirty="0" err="1">
                <a:latin typeface="Segoe UI" panose="020B0502040204020203" pitchFamily="34" charset="0"/>
                <a:cs typeface="Segoe UI" panose="020B0502040204020203" pitchFamily="34" charset="0"/>
              </a:rPr>
              <a:t>WebView</a:t>
            </a:r>
            <a:r>
              <a:rPr lang="fr-FR" dirty="0">
                <a:latin typeface="Segoe UI" panose="020B0502040204020203" pitchFamily="34" charset="0"/>
                <a:cs typeface="Segoe UI" panose="020B0502040204020203" pitchFamily="34" charset="0"/>
              </a:rPr>
              <a:t> prise en charge </a:t>
            </a:r>
            <a:r>
              <a:rPr lang="fr-FR" dirty="0" smtClean="0">
                <a:latin typeface="Segoe UI" panose="020B0502040204020203" pitchFamily="34" charset="0"/>
                <a:cs typeface="Segoe UI" panose="020B0502040204020203" pitchFamily="34" charset="0"/>
              </a:rPr>
              <a:t>de CSS</a:t>
            </a:r>
            <a:endParaRPr lang="fr-FR" dirty="0">
              <a:latin typeface="Segoe UI" panose="020B0502040204020203" pitchFamily="34" charset="0"/>
              <a:cs typeface="Segoe UI" panose="020B0502040204020203" pitchFamily="34" charset="0"/>
            </a:endParaRPr>
          </a:p>
        </p:txBody>
      </p:sp>
      <p:pic>
        <p:nvPicPr>
          <p:cNvPr id="4" name="Image 3"/>
          <p:cNvPicPr>
            <a:picLocks noChangeAspect="1"/>
          </p:cNvPicPr>
          <p:nvPr/>
        </p:nvPicPr>
        <p:blipFill>
          <a:blip r:embed="rId3"/>
          <a:stretch>
            <a:fillRect/>
          </a:stretch>
        </p:blipFill>
        <p:spPr>
          <a:xfrm>
            <a:off x="6095997" y="-3164750"/>
            <a:ext cx="5" cy="13187500"/>
          </a:xfrm>
          <a:prstGeom prst="rect">
            <a:avLst/>
          </a:prstGeom>
        </p:spPr>
      </p:pic>
      <p:sp>
        <p:nvSpPr>
          <p:cNvPr id="3" name="Rectangle 2"/>
          <p:cNvSpPr/>
          <p:nvPr/>
        </p:nvSpPr>
        <p:spPr>
          <a:xfrm>
            <a:off x="459346" y="3633351"/>
            <a:ext cx="6096000" cy="1815882"/>
          </a:xfrm>
          <a:prstGeom prst="rect">
            <a:avLst/>
          </a:prstGeom>
        </p:spPr>
        <p:txBody>
          <a:bodyPr>
            <a:spAutoFit/>
          </a:bodyPr>
          <a:lstStyle/>
          <a:p>
            <a:r>
              <a:rPr lang="fr-FR" sz="1400" dirty="0">
                <a:solidFill>
                  <a:srgbClr val="0000FF"/>
                </a:solidFill>
                <a:latin typeface="Cascadia Mono" panose="020B0609020000020004" pitchFamily="49" charset="0"/>
              </a:rPr>
              <a:t>&lt;</a:t>
            </a:r>
            <a:r>
              <a:rPr lang="fr-FR" sz="1400" dirty="0">
                <a:solidFill>
                  <a:srgbClr val="A31515"/>
                </a:solidFill>
                <a:latin typeface="Cascadia Mono" panose="020B0609020000020004" pitchFamily="49" charset="0"/>
              </a:rPr>
              <a:t>ContentPage</a:t>
            </a:r>
            <a:r>
              <a:rPr lang="fr-FR" sz="1400" dirty="0">
                <a:solidFill>
                  <a:srgbClr val="FF0000"/>
                </a:solidFill>
                <a:latin typeface="Cascadia Mono" panose="020B0609020000020004" pitchFamily="49" charset="0"/>
              </a:rPr>
              <a:t> </a:t>
            </a:r>
            <a:r>
              <a:rPr lang="fr-FR" sz="1400" dirty="0" err="1">
                <a:solidFill>
                  <a:srgbClr val="FF0000"/>
                </a:solidFill>
                <a:latin typeface="Cascadia Mono" panose="020B0609020000020004" pitchFamily="49" charset="0"/>
              </a:rPr>
              <a:t>xmlns</a:t>
            </a:r>
            <a:r>
              <a:rPr lang="fr-FR" sz="1400" dirty="0">
                <a:solidFill>
                  <a:srgbClr val="0000FF"/>
                </a:solidFill>
                <a:latin typeface="Cascadia Mono" panose="020B0609020000020004" pitchFamily="49" charset="0"/>
              </a:rPr>
              <a:t>="http://schemas.microsoft.com/dotnet/2021/</a:t>
            </a:r>
            <a:r>
              <a:rPr lang="fr-FR" sz="1400" dirty="0" err="1">
                <a:solidFill>
                  <a:srgbClr val="0000FF"/>
                </a:solidFill>
                <a:latin typeface="Cascadia Mono" panose="020B0609020000020004" pitchFamily="49" charset="0"/>
              </a:rPr>
              <a:t>maui</a:t>
            </a:r>
            <a:r>
              <a:rPr lang="fr-FR" sz="1400" dirty="0">
                <a:solidFill>
                  <a:srgbClr val="0000FF"/>
                </a:solidFill>
                <a:latin typeface="Cascadia Mono" panose="020B0609020000020004" pitchFamily="49" charset="0"/>
              </a:rPr>
              <a:t>"</a:t>
            </a:r>
            <a:endParaRPr lang="fr-FR" sz="1400" dirty="0">
              <a:solidFill>
                <a:srgbClr val="000000"/>
              </a:solidFill>
              <a:latin typeface="Cascadia Mono" panose="020B0609020000020004" pitchFamily="49" charset="0"/>
            </a:endParaRPr>
          </a:p>
          <a:p>
            <a:r>
              <a:rPr lang="fr-FR" sz="1400" dirty="0">
                <a:solidFill>
                  <a:srgbClr val="000000"/>
                </a:solidFill>
                <a:latin typeface="Cascadia Mono" panose="020B0609020000020004" pitchFamily="49" charset="0"/>
              </a:rPr>
              <a:t>            </a:t>
            </a:r>
            <a:r>
              <a:rPr lang="fr-FR" sz="1400" dirty="0">
                <a:solidFill>
                  <a:srgbClr val="FF0000"/>
                </a:solidFill>
                <a:latin typeface="Cascadia Mono" panose="020B0609020000020004" pitchFamily="49" charset="0"/>
              </a:rPr>
              <a:t> </a:t>
            </a:r>
            <a:r>
              <a:rPr lang="fr-FR" sz="1400" dirty="0" err="1">
                <a:solidFill>
                  <a:srgbClr val="FF0000"/>
                </a:solidFill>
                <a:latin typeface="Cascadia Mono" panose="020B0609020000020004" pitchFamily="49" charset="0"/>
              </a:rPr>
              <a:t>xmlns</a:t>
            </a:r>
            <a:r>
              <a:rPr lang="fr-FR" sz="1400" dirty="0" err="1">
                <a:solidFill>
                  <a:srgbClr val="0000FF"/>
                </a:solidFill>
                <a:latin typeface="Cascadia Mono" panose="020B0609020000020004" pitchFamily="49" charset="0"/>
              </a:rPr>
              <a:t>:</a:t>
            </a:r>
            <a:r>
              <a:rPr lang="fr-FR" sz="1400" dirty="0" err="1">
                <a:solidFill>
                  <a:srgbClr val="FF0000"/>
                </a:solidFill>
                <a:latin typeface="Cascadia Mono" panose="020B0609020000020004" pitchFamily="49" charset="0"/>
              </a:rPr>
              <a:t>x</a:t>
            </a:r>
            <a:r>
              <a:rPr lang="fr-FR" sz="1400" dirty="0">
                <a:solidFill>
                  <a:srgbClr val="0000FF"/>
                </a:solidFill>
                <a:latin typeface="Cascadia Mono" panose="020B0609020000020004" pitchFamily="49" charset="0"/>
              </a:rPr>
              <a:t>="http://schemas.microsoft.com/</a:t>
            </a:r>
            <a:r>
              <a:rPr lang="fr-FR" sz="1400" dirty="0" err="1">
                <a:solidFill>
                  <a:srgbClr val="0000FF"/>
                </a:solidFill>
                <a:latin typeface="Cascadia Mono" panose="020B0609020000020004" pitchFamily="49" charset="0"/>
              </a:rPr>
              <a:t>winfx</a:t>
            </a:r>
            <a:r>
              <a:rPr lang="fr-FR" sz="1400" dirty="0">
                <a:solidFill>
                  <a:srgbClr val="0000FF"/>
                </a:solidFill>
                <a:latin typeface="Cascadia Mono" panose="020B0609020000020004" pitchFamily="49" charset="0"/>
              </a:rPr>
              <a:t>/2009/</a:t>
            </a:r>
            <a:r>
              <a:rPr lang="fr-FR" sz="1400" dirty="0" err="1">
                <a:solidFill>
                  <a:srgbClr val="0000FF"/>
                </a:solidFill>
                <a:latin typeface="Cascadia Mono" panose="020B0609020000020004" pitchFamily="49" charset="0"/>
              </a:rPr>
              <a:t>xaml</a:t>
            </a:r>
            <a:r>
              <a:rPr lang="fr-FR" sz="1400" dirty="0">
                <a:solidFill>
                  <a:srgbClr val="0000FF"/>
                </a:solidFill>
                <a:latin typeface="Cascadia Mono" panose="020B0609020000020004" pitchFamily="49" charset="0"/>
              </a:rPr>
              <a:t>"</a:t>
            </a:r>
            <a:endParaRPr lang="fr-FR" sz="1400" dirty="0">
              <a:solidFill>
                <a:srgbClr val="000000"/>
              </a:solidFill>
              <a:latin typeface="Cascadia Mono" panose="020B0609020000020004" pitchFamily="49" charset="0"/>
            </a:endParaRPr>
          </a:p>
          <a:p>
            <a:r>
              <a:rPr lang="fr-FR" sz="1400" dirty="0" err="1" smtClean="0">
                <a:solidFill>
                  <a:srgbClr val="FF0000"/>
                </a:solidFill>
                <a:latin typeface="Cascadia Mono" panose="020B0609020000020004" pitchFamily="49" charset="0"/>
              </a:rPr>
              <a:t>xmlns</a:t>
            </a:r>
            <a:r>
              <a:rPr lang="fr-FR" sz="1400" dirty="0" err="1" smtClean="0">
                <a:solidFill>
                  <a:srgbClr val="0000FF"/>
                </a:solidFill>
                <a:latin typeface="Cascadia Mono" panose="020B0609020000020004" pitchFamily="49" charset="0"/>
              </a:rPr>
              <a:t>:</a:t>
            </a:r>
            <a:r>
              <a:rPr lang="fr-FR" sz="1400" dirty="0" err="1" smtClean="0">
                <a:solidFill>
                  <a:srgbClr val="FF0000"/>
                </a:solidFill>
                <a:latin typeface="Cascadia Mono" panose="020B0609020000020004" pitchFamily="49" charset="0"/>
              </a:rPr>
              <a:t>local</a:t>
            </a:r>
            <a:r>
              <a:rPr lang="fr-FR" sz="1400" dirty="0">
                <a:solidFill>
                  <a:srgbClr val="0000FF"/>
                </a:solidFill>
                <a:latin typeface="Cascadia Mono" panose="020B0609020000020004" pitchFamily="49" charset="0"/>
              </a:rPr>
              <a:t>="clr-namespace:MauiApp1"</a:t>
            </a:r>
            <a:endParaRPr lang="fr-FR" sz="1400" dirty="0">
              <a:solidFill>
                <a:srgbClr val="000000"/>
              </a:solidFill>
              <a:latin typeface="Cascadia Mono" panose="020B0609020000020004" pitchFamily="49" charset="0"/>
            </a:endParaRPr>
          </a:p>
          <a:p>
            <a:r>
              <a:rPr lang="fr-FR" sz="1400" dirty="0" smtClean="0">
                <a:solidFill>
                  <a:srgbClr val="FF0000"/>
                </a:solidFill>
                <a:latin typeface="Cascadia Mono" panose="020B0609020000020004" pitchFamily="49" charset="0"/>
              </a:rPr>
              <a:t>x</a:t>
            </a:r>
            <a:r>
              <a:rPr lang="fr-FR" sz="1400" dirty="0" smtClean="0">
                <a:solidFill>
                  <a:srgbClr val="0000FF"/>
                </a:solidFill>
                <a:latin typeface="Cascadia Mono" panose="020B0609020000020004" pitchFamily="49" charset="0"/>
              </a:rPr>
              <a:t>:</a:t>
            </a:r>
            <a:r>
              <a:rPr lang="fr-FR" sz="1400" dirty="0" smtClean="0">
                <a:solidFill>
                  <a:srgbClr val="FF0000"/>
                </a:solidFill>
                <a:latin typeface="Cascadia Mono" panose="020B0609020000020004" pitchFamily="49" charset="0"/>
              </a:rPr>
              <a:t>Class</a:t>
            </a:r>
            <a:r>
              <a:rPr lang="fr-FR" sz="1400" dirty="0">
                <a:solidFill>
                  <a:srgbClr val="0000FF"/>
                </a:solidFill>
                <a:latin typeface="Cascadia Mono" panose="020B0609020000020004" pitchFamily="49" charset="0"/>
              </a:rPr>
              <a:t>="MauiApp1.MainPage"&gt;</a:t>
            </a:r>
            <a:endParaRPr lang="fr-FR" sz="1400" dirty="0">
              <a:solidFill>
                <a:srgbClr val="000000"/>
              </a:solidFill>
              <a:latin typeface="Cascadia Mono" panose="020B0609020000020004" pitchFamily="49" charset="0"/>
            </a:endParaRPr>
          </a:p>
          <a:p>
            <a:r>
              <a:rPr lang="fr-FR" sz="1400" dirty="0">
                <a:solidFill>
                  <a:srgbClr val="000000"/>
                </a:solidFill>
                <a:latin typeface="Cascadia Mono" panose="020B0609020000020004" pitchFamily="49" charset="0"/>
              </a:rPr>
              <a:t>    </a:t>
            </a:r>
            <a:r>
              <a:rPr lang="fr-FR" sz="1400" dirty="0">
                <a:solidFill>
                  <a:srgbClr val="0000FF"/>
                </a:solidFill>
                <a:latin typeface="Cascadia Mono" panose="020B0609020000020004" pitchFamily="49" charset="0"/>
              </a:rPr>
              <a:t>&lt;</a:t>
            </a:r>
            <a:r>
              <a:rPr lang="fr-FR" sz="1400" dirty="0" err="1">
                <a:solidFill>
                  <a:srgbClr val="A31515"/>
                </a:solidFill>
                <a:latin typeface="Cascadia Mono" panose="020B0609020000020004" pitchFamily="49" charset="0"/>
              </a:rPr>
              <a:t>WebView</a:t>
            </a:r>
            <a:r>
              <a:rPr lang="fr-FR" sz="1400" dirty="0">
                <a:solidFill>
                  <a:srgbClr val="FF0000"/>
                </a:solidFill>
                <a:latin typeface="Cascadia Mono" panose="020B0609020000020004" pitchFamily="49" charset="0"/>
              </a:rPr>
              <a:t> Source</a:t>
            </a:r>
            <a:r>
              <a:rPr lang="fr-FR" sz="1400" dirty="0">
                <a:solidFill>
                  <a:srgbClr val="0000FF"/>
                </a:solidFill>
                <a:latin typeface="Cascadia Mono" panose="020B0609020000020004" pitchFamily="49" charset="0"/>
              </a:rPr>
              <a:t>="https://www.microsoft.com/fr-fr/"/&gt;</a:t>
            </a:r>
            <a:endParaRPr lang="fr-FR" sz="1400" dirty="0">
              <a:solidFill>
                <a:srgbClr val="000000"/>
              </a:solidFill>
              <a:latin typeface="Cascadia Mono" panose="020B0609020000020004" pitchFamily="49" charset="0"/>
            </a:endParaRPr>
          </a:p>
          <a:p>
            <a:r>
              <a:rPr lang="fr-FR" sz="1400" dirty="0">
                <a:solidFill>
                  <a:srgbClr val="0000FF"/>
                </a:solidFill>
                <a:latin typeface="Cascadia Mono" panose="020B0609020000020004" pitchFamily="49" charset="0"/>
              </a:rPr>
              <a:t>&lt;/</a:t>
            </a:r>
            <a:r>
              <a:rPr lang="fr-FR" sz="1400" dirty="0">
                <a:solidFill>
                  <a:srgbClr val="A31515"/>
                </a:solidFill>
                <a:latin typeface="Cascadia Mono" panose="020B0609020000020004" pitchFamily="49" charset="0"/>
              </a:rPr>
              <a:t>ContentPage</a:t>
            </a:r>
            <a:r>
              <a:rPr lang="fr-FR" sz="1400" dirty="0">
                <a:solidFill>
                  <a:srgbClr val="0000FF"/>
                </a:solidFill>
                <a:latin typeface="Cascadia Mono" panose="020B0609020000020004" pitchFamily="49" charset="0"/>
              </a:rPr>
              <a:t>&gt;</a:t>
            </a:r>
            <a:endParaRPr lang="fr-FR" sz="1400" dirty="0"/>
          </a:p>
        </p:txBody>
      </p:sp>
      <p:pic>
        <p:nvPicPr>
          <p:cNvPr id="9" name="Image 8"/>
          <p:cNvPicPr>
            <a:picLocks noChangeAspect="1"/>
          </p:cNvPicPr>
          <p:nvPr/>
        </p:nvPicPr>
        <p:blipFill>
          <a:blip r:embed="rId4"/>
          <a:stretch>
            <a:fillRect/>
          </a:stretch>
        </p:blipFill>
        <p:spPr>
          <a:xfrm>
            <a:off x="8615409" y="599929"/>
            <a:ext cx="2521080" cy="5658141"/>
          </a:xfrm>
          <a:prstGeom prst="rect">
            <a:avLst/>
          </a:prstGeom>
        </p:spPr>
      </p:pic>
    </p:spTree>
    <p:extLst>
      <p:ext uri="{BB962C8B-B14F-4D97-AF65-F5344CB8AC3E}">
        <p14:creationId xmlns:p14="http://schemas.microsoft.com/office/powerpoint/2010/main" val="10885687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8"/>
          <p:cNvSpPr txBox="1">
            <a:spLocks noChangeArrowheads="1"/>
          </p:cNvSpPr>
          <p:nvPr/>
        </p:nvSpPr>
        <p:spPr bwMode="auto">
          <a:xfrm>
            <a:off x="251166" y="617099"/>
            <a:ext cx="8384119" cy="51039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152400">
              <a:tabLst>
                <a:tab pos="5992813" algn="l"/>
              </a:tabLst>
              <a:defRPr>
                <a:solidFill>
                  <a:schemeClr val="tx1"/>
                </a:solidFill>
                <a:latin typeface="Calibri" panose="020F0502020204030204" pitchFamily="34" charset="0"/>
                <a:cs typeface="Arial" panose="020B0604020202020204" pitchFamily="34" charset="0"/>
              </a:defRPr>
            </a:lvl1pPr>
            <a:lvl2pPr marL="579438" indent="-242888">
              <a:tabLst>
                <a:tab pos="5992813" algn="l"/>
              </a:tabLst>
              <a:defRPr>
                <a:solidFill>
                  <a:schemeClr val="tx1"/>
                </a:solidFill>
                <a:latin typeface="Calibri" panose="020F0502020204030204" pitchFamily="34" charset="0"/>
                <a:cs typeface="Arial" panose="020B0604020202020204" pitchFamily="34" charset="0"/>
              </a:defRPr>
            </a:lvl2pPr>
            <a:lvl3pPr marL="1143000" indent="-228600">
              <a:tabLst>
                <a:tab pos="5992813" algn="l"/>
              </a:tabLst>
              <a:defRPr>
                <a:solidFill>
                  <a:schemeClr val="tx1"/>
                </a:solidFill>
                <a:latin typeface="Calibri" panose="020F0502020204030204" pitchFamily="34" charset="0"/>
                <a:cs typeface="Arial" panose="020B0604020202020204" pitchFamily="34" charset="0"/>
              </a:defRPr>
            </a:lvl3pPr>
            <a:lvl4pPr marL="1600200" indent="-228600">
              <a:tabLst>
                <a:tab pos="5992813" algn="l"/>
              </a:tabLst>
              <a:defRPr>
                <a:solidFill>
                  <a:schemeClr val="tx1"/>
                </a:solidFill>
                <a:latin typeface="Calibri" panose="020F0502020204030204" pitchFamily="34" charset="0"/>
                <a:cs typeface="Arial" panose="020B0604020202020204" pitchFamily="34" charset="0"/>
              </a:defRPr>
            </a:lvl4pPr>
            <a:lvl5pPr marL="2057400" indent="-228600">
              <a:tabLst>
                <a:tab pos="5992813" algn="l"/>
              </a:tabLst>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2200" u="sng" dirty="0">
                <a:latin typeface="Segoe UI Symbol" panose="020B0502040204020203" pitchFamily="34" charset="0"/>
              </a:rPr>
              <a:t>L</a:t>
            </a:r>
            <a:r>
              <a:rPr lang="en-US" altLang="en-US" sz="2200" u="sng" dirty="0" smtClean="0">
                <a:latin typeface="Segoe UI Symbol" panose="020B0502040204020203" pitchFamily="34" charset="0"/>
              </a:rPr>
              <a:t>es </a:t>
            </a:r>
            <a:r>
              <a:rPr lang="fr-FR" altLang="en-US" sz="2200" u="sng" dirty="0" smtClean="0">
                <a:latin typeface="Segoe UI Symbol" panose="020B0502040204020203" pitchFamily="34" charset="0"/>
              </a:rPr>
              <a:t>contrôles de présentation-</a:t>
            </a:r>
            <a:r>
              <a:rPr lang="fr-FR" altLang="en-US" sz="2200" u="sng" dirty="0" err="1" smtClean="0">
                <a:latin typeface="Segoe UI Symbol" panose="020B0502040204020203" pitchFamily="34" charset="0"/>
              </a:rPr>
              <a:t>WebView</a:t>
            </a:r>
            <a:endParaRPr lang="fr-FR" altLang="en-US" sz="2200" dirty="0" smtClean="0">
              <a:latin typeface="Times New Roman" panose="02020603050405020304" pitchFamily="18" charset="0"/>
              <a:cs typeface="Times New Roman" panose="02020603050405020304" pitchFamily="18" charset="0"/>
            </a:endParaRPr>
          </a:p>
          <a:p>
            <a:pPr>
              <a:lnSpc>
                <a:spcPct val="150000"/>
              </a:lnSpc>
              <a:spcBef>
                <a:spcPts val="1625"/>
              </a:spcBef>
              <a:buClr>
                <a:srgbClr val="006498"/>
              </a:buClr>
              <a:buSzPct val="61000"/>
              <a:buFont typeface="Wingdings" panose="05000000000000000000" pitchFamily="2" charset="2"/>
              <a:buChar char=""/>
            </a:pPr>
            <a:r>
              <a:rPr lang="fr-FR" dirty="0" err="1">
                <a:latin typeface="Segoe UI" panose="020B0502040204020203" pitchFamily="34" charset="0"/>
                <a:cs typeface="Segoe UI" panose="020B0502040204020203" pitchFamily="34" charset="0"/>
              </a:rPr>
              <a:t>WebView</a:t>
            </a:r>
            <a:r>
              <a:rPr lang="fr-FR" dirty="0">
                <a:latin typeface="Segoe UI" panose="020B0502040204020203" pitchFamily="34" charset="0"/>
                <a:cs typeface="Segoe UI" panose="020B0502040204020203" pitchFamily="34" charset="0"/>
              </a:rPr>
              <a:t> définit les propriétés suivantes </a:t>
            </a:r>
            <a:r>
              <a:rPr lang="fr-FR" dirty="0" smtClean="0">
                <a:latin typeface="Segoe UI" panose="020B0502040204020203" pitchFamily="34" charset="0"/>
                <a:cs typeface="Segoe UI" panose="020B0502040204020203" pitchFamily="34" charset="0"/>
              </a:rPr>
              <a:t>:</a:t>
            </a:r>
            <a:endParaRPr lang="fr-FR" dirty="0">
              <a:latin typeface="Segoe UI" panose="020B0502040204020203" pitchFamily="34" charset="0"/>
              <a:cs typeface="Segoe UI" panose="020B0502040204020203" pitchFamily="34" charset="0"/>
            </a:endParaRPr>
          </a:p>
          <a:p>
            <a:pPr lvl="1">
              <a:lnSpc>
                <a:spcPct val="150000"/>
              </a:lnSpc>
              <a:spcBef>
                <a:spcPts val="1625"/>
              </a:spcBef>
              <a:buClr>
                <a:srgbClr val="006498"/>
              </a:buClr>
              <a:buSzPct val="61000"/>
              <a:buFont typeface="Wingdings" panose="05000000000000000000" pitchFamily="2" charset="2"/>
              <a:buChar char=""/>
            </a:pPr>
            <a:r>
              <a:rPr lang="fr-FR" b="1" dirty="0" smtClean="0">
                <a:latin typeface="Segoe UI" panose="020B0502040204020203" pitchFamily="34" charset="0"/>
                <a:cs typeface="Segoe UI" panose="020B0502040204020203" pitchFamily="34" charset="0"/>
              </a:rPr>
              <a:t>Cookies</a:t>
            </a:r>
            <a:r>
              <a:rPr lang="fr-FR" dirty="0" smtClean="0">
                <a:latin typeface="Segoe UI" panose="020B0502040204020203" pitchFamily="34" charset="0"/>
                <a:cs typeface="Segoe UI" panose="020B0502040204020203" pitchFamily="34" charset="0"/>
              </a:rPr>
              <a:t>: </a:t>
            </a:r>
            <a:r>
              <a:rPr lang="fr-FR" dirty="0">
                <a:latin typeface="Segoe UI" panose="020B0502040204020203" pitchFamily="34" charset="0"/>
                <a:cs typeface="Segoe UI" panose="020B0502040204020203" pitchFamily="34" charset="0"/>
              </a:rPr>
              <a:t>de type </a:t>
            </a:r>
            <a:r>
              <a:rPr lang="fr-FR" b="1" dirty="0" err="1">
                <a:latin typeface="Segoe UI" panose="020B0502040204020203" pitchFamily="34" charset="0"/>
                <a:cs typeface="Segoe UI" panose="020B0502040204020203" pitchFamily="34" charset="0"/>
              </a:rPr>
              <a:t>CookieContainer</a:t>
            </a:r>
            <a:r>
              <a:rPr lang="fr-FR" dirty="0">
                <a:latin typeface="Segoe UI" panose="020B0502040204020203" pitchFamily="34" charset="0"/>
                <a:cs typeface="Segoe UI" panose="020B0502040204020203" pitchFamily="34" charset="0"/>
              </a:rPr>
              <a:t>, fournit un stockage pour une collection de cookies.</a:t>
            </a:r>
          </a:p>
          <a:p>
            <a:pPr lvl="1">
              <a:lnSpc>
                <a:spcPct val="150000"/>
              </a:lnSpc>
              <a:spcBef>
                <a:spcPts val="1625"/>
              </a:spcBef>
              <a:buClr>
                <a:srgbClr val="006498"/>
              </a:buClr>
              <a:buSzPct val="61000"/>
              <a:buFont typeface="Wingdings" panose="05000000000000000000" pitchFamily="2" charset="2"/>
              <a:buChar char=""/>
            </a:pPr>
            <a:r>
              <a:rPr lang="fr-FR" b="1" dirty="0" err="1" smtClean="0">
                <a:latin typeface="Segoe UI" panose="020B0502040204020203" pitchFamily="34" charset="0"/>
                <a:cs typeface="Segoe UI" panose="020B0502040204020203" pitchFamily="34" charset="0"/>
              </a:rPr>
              <a:t>CanGoBack</a:t>
            </a:r>
            <a:r>
              <a:rPr lang="fr-FR" dirty="0" smtClean="0">
                <a:latin typeface="Segoe UI" panose="020B0502040204020203" pitchFamily="34" charset="0"/>
                <a:cs typeface="Segoe UI" panose="020B0502040204020203" pitchFamily="34" charset="0"/>
              </a:rPr>
              <a:t>: </a:t>
            </a:r>
            <a:r>
              <a:rPr lang="fr-FR" dirty="0">
                <a:latin typeface="Segoe UI" panose="020B0502040204020203" pitchFamily="34" charset="0"/>
                <a:cs typeface="Segoe UI" panose="020B0502040204020203" pitchFamily="34" charset="0"/>
              </a:rPr>
              <a:t>de type </a:t>
            </a:r>
            <a:r>
              <a:rPr lang="fr-FR" dirty="0" err="1">
                <a:latin typeface="Segoe UI" panose="020B0502040204020203" pitchFamily="34" charset="0"/>
                <a:cs typeface="Segoe UI" panose="020B0502040204020203" pitchFamily="34" charset="0"/>
              </a:rPr>
              <a:t>bool</a:t>
            </a:r>
            <a:r>
              <a:rPr lang="fr-FR" dirty="0">
                <a:latin typeface="Segoe UI" panose="020B0502040204020203" pitchFamily="34" charset="0"/>
                <a:cs typeface="Segoe UI" panose="020B0502040204020203" pitchFamily="34" charset="0"/>
              </a:rPr>
              <a:t>, indique si l’utilisateur peut accéder aux pages précédentes. Il s’agit d’une propriété en lecture seule.</a:t>
            </a:r>
          </a:p>
          <a:p>
            <a:pPr lvl="1">
              <a:lnSpc>
                <a:spcPct val="150000"/>
              </a:lnSpc>
              <a:spcBef>
                <a:spcPts val="1625"/>
              </a:spcBef>
              <a:buClr>
                <a:srgbClr val="006498"/>
              </a:buClr>
              <a:buSzPct val="61000"/>
              <a:buFont typeface="Wingdings" panose="05000000000000000000" pitchFamily="2" charset="2"/>
              <a:buChar char=""/>
            </a:pPr>
            <a:r>
              <a:rPr lang="fr-FR" b="1" dirty="0" err="1" smtClean="0">
                <a:latin typeface="Segoe UI" panose="020B0502040204020203" pitchFamily="34" charset="0"/>
                <a:cs typeface="Segoe UI" panose="020B0502040204020203" pitchFamily="34" charset="0"/>
              </a:rPr>
              <a:t>CanGoForward</a:t>
            </a:r>
            <a:r>
              <a:rPr lang="fr-FR" dirty="0" smtClean="0">
                <a:latin typeface="Segoe UI" panose="020B0502040204020203" pitchFamily="34" charset="0"/>
                <a:cs typeface="Segoe UI" panose="020B0502040204020203" pitchFamily="34" charset="0"/>
              </a:rPr>
              <a:t>: </a:t>
            </a:r>
            <a:r>
              <a:rPr lang="fr-FR" dirty="0">
                <a:latin typeface="Segoe UI" panose="020B0502040204020203" pitchFamily="34" charset="0"/>
                <a:cs typeface="Segoe UI" panose="020B0502040204020203" pitchFamily="34" charset="0"/>
              </a:rPr>
              <a:t>de type </a:t>
            </a:r>
            <a:r>
              <a:rPr lang="fr-FR" dirty="0" err="1">
                <a:latin typeface="Segoe UI" panose="020B0502040204020203" pitchFamily="34" charset="0"/>
                <a:cs typeface="Segoe UI" panose="020B0502040204020203" pitchFamily="34" charset="0"/>
              </a:rPr>
              <a:t>bool</a:t>
            </a:r>
            <a:r>
              <a:rPr lang="fr-FR" dirty="0">
                <a:latin typeface="Segoe UI" panose="020B0502040204020203" pitchFamily="34" charset="0"/>
                <a:cs typeface="Segoe UI" panose="020B0502040204020203" pitchFamily="34" charset="0"/>
              </a:rPr>
              <a:t>, indique si l’utilisateur peut naviguer vers l’avant. Il s’agit d’une propriété en lecture seule.</a:t>
            </a:r>
          </a:p>
          <a:p>
            <a:pPr lvl="1">
              <a:lnSpc>
                <a:spcPct val="150000"/>
              </a:lnSpc>
              <a:spcBef>
                <a:spcPts val="1625"/>
              </a:spcBef>
              <a:buClr>
                <a:srgbClr val="006498"/>
              </a:buClr>
              <a:buSzPct val="61000"/>
              <a:buFont typeface="Wingdings" panose="05000000000000000000" pitchFamily="2" charset="2"/>
              <a:buChar char=""/>
            </a:pPr>
            <a:r>
              <a:rPr lang="fr-FR" b="1" dirty="0" smtClean="0">
                <a:latin typeface="Segoe UI" panose="020B0502040204020203" pitchFamily="34" charset="0"/>
                <a:cs typeface="Segoe UI" panose="020B0502040204020203" pitchFamily="34" charset="0"/>
              </a:rPr>
              <a:t>Source</a:t>
            </a:r>
            <a:r>
              <a:rPr lang="fr-FR" dirty="0">
                <a:latin typeface="Segoe UI" panose="020B0502040204020203" pitchFamily="34" charset="0"/>
                <a:cs typeface="Segoe UI" panose="020B0502040204020203" pitchFamily="34" charset="0"/>
              </a:rPr>
              <a:t>:</a:t>
            </a:r>
            <a:r>
              <a:rPr lang="fr-FR" dirty="0" smtClean="0">
                <a:latin typeface="Segoe UI" panose="020B0502040204020203" pitchFamily="34" charset="0"/>
                <a:cs typeface="Segoe UI" panose="020B0502040204020203" pitchFamily="34" charset="0"/>
              </a:rPr>
              <a:t> </a:t>
            </a:r>
            <a:r>
              <a:rPr lang="fr-FR" dirty="0">
                <a:latin typeface="Segoe UI" panose="020B0502040204020203" pitchFamily="34" charset="0"/>
                <a:cs typeface="Segoe UI" panose="020B0502040204020203" pitchFamily="34" charset="0"/>
              </a:rPr>
              <a:t>de type </a:t>
            </a:r>
            <a:r>
              <a:rPr lang="fr-FR" dirty="0" err="1">
                <a:latin typeface="Segoe UI" panose="020B0502040204020203" pitchFamily="34" charset="0"/>
                <a:cs typeface="Segoe UI" panose="020B0502040204020203" pitchFamily="34" charset="0"/>
              </a:rPr>
              <a:t>WebViewSource</a:t>
            </a:r>
            <a:r>
              <a:rPr lang="fr-FR" dirty="0">
                <a:latin typeface="Segoe UI" panose="020B0502040204020203" pitchFamily="34" charset="0"/>
                <a:cs typeface="Segoe UI" panose="020B0502040204020203" pitchFamily="34" charset="0"/>
              </a:rPr>
              <a:t>, représente l’emplacement affiché par .</a:t>
            </a:r>
            <a:r>
              <a:rPr lang="fr-FR" dirty="0" err="1">
                <a:latin typeface="Segoe UI" panose="020B0502040204020203" pitchFamily="34" charset="0"/>
                <a:cs typeface="Segoe UI" panose="020B0502040204020203" pitchFamily="34" charset="0"/>
              </a:rPr>
              <a:t>WebView</a:t>
            </a:r>
            <a:endParaRPr lang="fr-FR" dirty="0">
              <a:latin typeface="Segoe UI" panose="020B0502040204020203" pitchFamily="34" charset="0"/>
              <a:cs typeface="Segoe UI" panose="020B0502040204020203" pitchFamily="34" charset="0"/>
            </a:endParaRPr>
          </a:p>
        </p:txBody>
      </p:sp>
      <p:pic>
        <p:nvPicPr>
          <p:cNvPr id="4" name="Image 3"/>
          <p:cNvPicPr>
            <a:picLocks noChangeAspect="1"/>
          </p:cNvPicPr>
          <p:nvPr/>
        </p:nvPicPr>
        <p:blipFill>
          <a:blip r:embed="rId3"/>
          <a:stretch>
            <a:fillRect/>
          </a:stretch>
        </p:blipFill>
        <p:spPr>
          <a:xfrm>
            <a:off x="6095997" y="-3164750"/>
            <a:ext cx="5" cy="13187500"/>
          </a:xfrm>
          <a:prstGeom prst="rect">
            <a:avLst/>
          </a:prstGeom>
        </p:spPr>
      </p:pic>
    </p:spTree>
    <p:extLst>
      <p:ext uri="{BB962C8B-B14F-4D97-AF65-F5344CB8AC3E}">
        <p14:creationId xmlns:p14="http://schemas.microsoft.com/office/powerpoint/2010/main" val="31811226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8"/>
          <p:cNvSpPr txBox="1">
            <a:spLocks noChangeArrowheads="1"/>
          </p:cNvSpPr>
          <p:nvPr/>
        </p:nvSpPr>
        <p:spPr bwMode="auto">
          <a:xfrm>
            <a:off x="251167" y="617099"/>
            <a:ext cx="10869739" cy="1374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152400">
              <a:tabLst>
                <a:tab pos="5992813" algn="l"/>
              </a:tabLst>
              <a:defRPr>
                <a:solidFill>
                  <a:schemeClr val="tx1"/>
                </a:solidFill>
                <a:latin typeface="Calibri" panose="020F0502020204030204" pitchFamily="34" charset="0"/>
                <a:cs typeface="Arial" panose="020B0604020202020204" pitchFamily="34" charset="0"/>
              </a:defRPr>
            </a:lvl1pPr>
            <a:lvl2pPr marL="579438" indent="-242888">
              <a:tabLst>
                <a:tab pos="5992813" algn="l"/>
              </a:tabLst>
              <a:defRPr>
                <a:solidFill>
                  <a:schemeClr val="tx1"/>
                </a:solidFill>
                <a:latin typeface="Calibri" panose="020F0502020204030204" pitchFamily="34" charset="0"/>
                <a:cs typeface="Arial" panose="020B0604020202020204" pitchFamily="34" charset="0"/>
              </a:defRPr>
            </a:lvl2pPr>
            <a:lvl3pPr marL="1143000" indent="-228600">
              <a:tabLst>
                <a:tab pos="5992813" algn="l"/>
              </a:tabLst>
              <a:defRPr>
                <a:solidFill>
                  <a:schemeClr val="tx1"/>
                </a:solidFill>
                <a:latin typeface="Calibri" panose="020F0502020204030204" pitchFamily="34" charset="0"/>
                <a:cs typeface="Arial" panose="020B0604020202020204" pitchFamily="34" charset="0"/>
              </a:defRPr>
            </a:lvl3pPr>
            <a:lvl4pPr marL="1600200" indent="-228600">
              <a:tabLst>
                <a:tab pos="5992813" algn="l"/>
              </a:tabLst>
              <a:defRPr>
                <a:solidFill>
                  <a:schemeClr val="tx1"/>
                </a:solidFill>
                <a:latin typeface="Calibri" panose="020F0502020204030204" pitchFamily="34" charset="0"/>
                <a:cs typeface="Arial" panose="020B0604020202020204" pitchFamily="34" charset="0"/>
              </a:defRPr>
            </a:lvl4pPr>
            <a:lvl5pPr marL="2057400" indent="-228600">
              <a:tabLst>
                <a:tab pos="5992813" algn="l"/>
              </a:tabLst>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9pPr>
          </a:lstStyle>
          <a:p>
            <a:r>
              <a:rPr lang="en-US" altLang="en-US" sz="2200" u="sng" dirty="0">
                <a:latin typeface="Segoe UI Symbol" panose="020B0502040204020203" pitchFamily="34" charset="0"/>
              </a:rPr>
              <a:t>L</a:t>
            </a:r>
            <a:r>
              <a:rPr lang="en-US" altLang="en-US" sz="2200" u="sng" dirty="0" smtClean="0">
                <a:latin typeface="Segoe UI Symbol" panose="020B0502040204020203" pitchFamily="34" charset="0"/>
              </a:rPr>
              <a:t>es </a:t>
            </a:r>
            <a:r>
              <a:rPr lang="fr-FR" altLang="en-US" sz="2200" u="sng" dirty="0" smtClean="0">
                <a:latin typeface="Segoe UI Symbol" panose="020B0502040204020203" pitchFamily="34" charset="0"/>
              </a:rPr>
              <a:t>contrôles</a:t>
            </a:r>
            <a:r>
              <a:rPr lang="en-US" altLang="en-US" sz="2200" u="sng" dirty="0" smtClean="0">
                <a:latin typeface="Segoe UI Symbol" panose="020B0502040204020203" pitchFamily="34" charset="0"/>
              </a:rPr>
              <a:t> </a:t>
            </a:r>
            <a:r>
              <a:rPr lang="fr-FR" altLang="en-US" sz="2200" u="sng" dirty="0">
                <a:latin typeface="Segoe UI Symbol" panose="020B0502040204020203" pitchFamily="34" charset="0"/>
              </a:rPr>
              <a:t>de présentation</a:t>
            </a:r>
            <a:r>
              <a:rPr lang="en-US" altLang="en-US" sz="2200" u="sng" dirty="0" smtClean="0">
                <a:latin typeface="Segoe UI Symbol" panose="020B0502040204020203" pitchFamily="34" charset="0"/>
              </a:rPr>
              <a:t>-Frame</a:t>
            </a:r>
            <a:endParaRPr lang="fr-FR" altLang="en-US" sz="2200" dirty="0" smtClean="0">
              <a:latin typeface="Times New Roman" panose="02020603050405020304" pitchFamily="18" charset="0"/>
              <a:cs typeface="Times New Roman" panose="02020603050405020304" pitchFamily="18" charset="0"/>
            </a:endParaRPr>
          </a:p>
          <a:p>
            <a:pPr>
              <a:lnSpc>
                <a:spcPct val="150000"/>
              </a:lnSpc>
              <a:spcBef>
                <a:spcPts val="1625"/>
              </a:spcBef>
              <a:buClr>
                <a:srgbClr val="006498"/>
              </a:buClr>
              <a:buSzPct val="61000"/>
              <a:buFont typeface="Wingdings" panose="05000000000000000000" pitchFamily="2" charset="2"/>
              <a:buChar char=""/>
            </a:pPr>
            <a:r>
              <a:rPr lang="fr-FR" dirty="0">
                <a:latin typeface="Segoe UI" panose="020B0502040204020203" pitchFamily="34" charset="0"/>
                <a:cs typeface="Segoe UI" panose="020B0502040204020203" pitchFamily="34" charset="0"/>
              </a:rPr>
              <a:t>Les </a:t>
            </a:r>
            <a:r>
              <a:rPr lang="fr-FR" b="1" dirty="0">
                <a:latin typeface="Segoe UI" panose="020B0502040204020203" pitchFamily="34" charset="0"/>
                <a:cs typeface="Segoe UI" panose="020B0502040204020203" pitchFamily="34" charset="0"/>
              </a:rPr>
              <a:t>Frame</a:t>
            </a:r>
            <a:r>
              <a:rPr lang="fr-FR" dirty="0">
                <a:latin typeface="Segoe UI" panose="020B0502040204020203" pitchFamily="34" charset="0"/>
                <a:cs typeface="Segoe UI" panose="020B0502040204020203" pitchFamily="34" charset="0"/>
              </a:rPr>
              <a:t> est utilisée pour encapsuler une vue ou une disposition avec une bordure qui peut être configurée avec </a:t>
            </a:r>
            <a:r>
              <a:rPr lang="fr-FR" dirty="0" smtClean="0">
                <a:latin typeface="Segoe UI" panose="020B0502040204020203" pitchFamily="34" charset="0"/>
                <a:cs typeface="Segoe UI" panose="020B0502040204020203" pitchFamily="34" charset="0"/>
              </a:rPr>
              <a:t>des angles arrondies et un ombre </a:t>
            </a:r>
            <a:endParaRPr lang="fr-FR" b="1" dirty="0">
              <a:latin typeface="Segoe UI" panose="020B0502040204020203" pitchFamily="34" charset="0"/>
              <a:cs typeface="Segoe UI" panose="020B0502040204020203" pitchFamily="34" charset="0"/>
            </a:endParaRPr>
          </a:p>
        </p:txBody>
      </p:sp>
      <p:pic>
        <p:nvPicPr>
          <p:cNvPr id="4" name="Image 3"/>
          <p:cNvPicPr>
            <a:picLocks noChangeAspect="1"/>
          </p:cNvPicPr>
          <p:nvPr/>
        </p:nvPicPr>
        <p:blipFill>
          <a:blip r:embed="rId2"/>
          <a:stretch>
            <a:fillRect/>
          </a:stretch>
        </p:blipFill>
        <p:spPr>
          <a:xfrm>
            <a:off x="6095997" y="-3164750"/>
            <a:ext cx="5" cy="13187500"/>
          </a:xfrm>
          <a:prstGeom prst="rect">
            <a:avLst/>
          </a:prstGeom>
        </p:spPr>
      </p:pic>
      <p:sp>
        <p:nvSpPr>
          <p:cNvPr id="3" name="Rectangle 2"/>
          <p:cNvSpPr/>
          <p:nvPr/>
        </p:nvSpPr>
        <p:spPr>
          <a:xfrm>
            <a:off x="329023" y="2194555"/>
            <a:ext cx="6096000" cy="1754326"/>
          </a:xfrm>
          <a:prstGeom prst="rect">
            <a:avLst/>
          </a:prstGeom>
        </p:spPr>
        <p:txBody>
          <a:bodyPr>
            <a:spAutoFit/>
          </a:bodyPr>
          <a:lstStyle/>
          <a:p>
            <a:r>
              <a:rPr lang="fr-FR" dirty="0">
                <a:solidFill>
                  <a:srgbClr val="000000"/>
                </a:solidFill>
                <a:latin typeface="Cascadia Mono" panose="020B0609020000020004" pitchFamily="49" charset="0"/>
              </a:rPr>
              <a:t> </a:t>
            </a:r>
            <a:r>
              <a:rPr lang="fr-FR" dirty="0">
                <a:solidFill>
                  <a:srgbClr val="0000FF"/>
                </a:solidFill>
                <a:latin typeface="Cascadia Mono" panose="020B0609020000020004" pitchFamily="49" charset="0"/>
              </a:rPr>
              <a:t>&lt;</a:t>
            </a:r>
            <a:r>
              <a:rPr lang="fr-FR" dirty="0" err="1">
                <a:solidFill>
                  <a:srgbClr val="A31515"/>
                </a:solidFill>
                <a:latin typeface="Cascadia Mono" panose="020B0609020000020004" pitchFamily="49" charset="0"/>
              </a:rPr>
              <a:t>VerticalStackLayout</a:t>
            </a:r>
            <a:r>
              <a:rPr lang="fr-FR" dirty="0">
                <a:solidFill>
                  <a:srgbClr val="0000FF"/>
                </a:solidFill>
                <a:latin typeface="Cascadia Mono" panose="020B0609020000020004" pitchFamily="49" charset="0"/>
              </a:rPr>
              <a:t>&gt;</a:t>
            </a:r>
            <a:endParaRPr lang="fr-FR" dirty="0">
              <a:solidFill>
                <a:srgbClr val="000000"/>
              </a:solidFill>
              <a:latin typeface="Cascadia Mono" panose="020B0609020000020004" pitchFamily="49" charset="0"/>
            </a:endParaRPr>
          </a:p>
          <a:p>
            <a:r>
              <a:rPr lang="fr-FR" dirty="0">
                <a:solidFill>
                  <a:srgbClr val="000000"/>
                </a:solidFill>
                <a:latin typeface="Cascadia Mono" panose="020B0609020000020004" pitchFamily="49" charset="0"/>
              </a:rPr>
              <a:t>            </a:t>
            </a:r>
            <a:r>
              <a:rPr lang="fr-FR" dirty="0">
                <a:solidFill>
                  <a:srgbClr val="0000FF"/>
                </a:solidFill>
                <a:latin typeface="Cascadia Mono" panose="020B0609020000020004" pitchFamily="49" charset="0"/>
              </a:rPr>
              <a:t>&lt;</a:t>
            </a:r>
            <a:r>
              <a:rPr lang="fr-FR" dirty="0">
                <a:solidFill>
                  <a:srgbClr val="A31515"/>
                </a:solidFill>
                <a:latin typeface="Cascadia Mono" panose="020B0609020000020004" pitchFamily="49" charset="0"/>
              </a:rPr>
              <a:t>Frame</a:t>
            </a:r>
            <a:r>
              <a:rPr lang="fr-FR" dirty="0">
                <a:solidFill>
                  <a:srgbClr val="FF0000"/>
                </a:solidFill>
                <a:latin typeface="Cascadia Mono" panose="020B0609020000020004" pitchFamily="49" charset="0"/>
              </a:rPr>
              <a:t> </a:t>
            </a:r>
            <a:r>
              <a:rPr lang="fr-FR" dirty="0" err="1">
                <a:solidFill>
                  <a:srgbClr val="FF0000"/>
                </a:solidFill>
                <a:latin typeface="Cascadia Mono" panose="020B0609020000020004" pitchFamily="49" charset="0"/>
              </a:rPr>
              <a:t>Margin</a:t>
            </a:r>
            <a:r>
              <a:rPr lang="fr-FR" dirty="0">
                <a:solidFill>
                  <a:srgbClr val="0000FF"/>
                </a:solidFill>
                <a:latin typeface="Cascadia Mono" panose="020B0609020000020004" pitchFamily="49" charset="0"/>
              </a:rPr>
              <a:t>="10"</a:t>
            </a:r>
            <a:endParaRPr lang="fr-FR" dirty="0">
              <a:solidFill>
                <a:srgbClr val="000000"/>
              </a:solidFill>
              <a:latin typeface="Cascadia Mono" panose="020B0609020000020004" pitchFamily="49" charset="0"/>
            </a:endParaRPr>
          </a:p>
          <a:p>
            <a:r>
              <a:rPr lang="fr-FR" dirty="0">
                <a:solidFill>
                  <a:srgbClr val="000000"/>
                </a:solidFill>
                <a:latin typeface="Cascadia Mono" panose="020B0609020000020004" pitchFamily="49" charset="0"/>
              </a:rPr>
              <a:t>                  </a:t>
            </a:r>
            <a:r>
              <a:rPr lang="fr-FR" dirty="0">
                <a:solidFill>
                  <a:srgbClr val="FF0000"/>
                </a:solidFill>
                <a:latin typeface="Cascadia Mono" panose="020B0609020000020004" pitchFamily="49" charset="0"/>
              </a:rPr>
              <a:t> </a:t>
            </a:r>
            <a:r>
              <a:rPr lang="fr-FR" dirty="0" err="1">
                <a:solidFill>
                  <a:srgbClr val="FF0000"/>
                </a:solidFill>
                <a:latin typeface="Cascadia Mono" panose="020B0609020000020004" pitchFamily="49" charset="0"/>
              </a:rPr>
              <a:t>CornerRadius</a:t>
            </a:r>
            <a:r>
              <a:rPr lang="fr-FR" dirty="0">
                <a:solidFill>
                  <a:srgbClr val="0000FF"/>
                </a:solidFill>
                <a:latin typeface="Cascadia Mono" panose="020B0609020000020004" pitchFamily="49" charset="0"/>
              </a:rPr>
              <a:t>="20"</a:t>
            </a:r>
            <a:endParaRPr lang="fr-FR" dirty="0">
              <a:solidFill>
                <a:srgbClr val="000000"/>
              </a:solidFill>
              <a:latin typeface="Cascadia Mono" panose="020B0609020000020004" pitchFamily="49" charset="0"/>
            </a:endParaRPr>
          </a:p>
          <a:p>
            <a:r>
              <a:rPr lang="fr-FR" dirty="0">
                <a:solidFill>
                  <a:srgbClr val="000000"/>
                </a:solidFill>
                <a:latin typeface="Cascadia Mono" panose="020B0609020000020004" pitchFamily="49" charset="0"/>
              </a:rPr>
              <a:t>                  </a:t>
            </a:r>
            <a:r>
              <a:rPr lang="fr-FR" dirty="0">
                <a:solidFill>
                  <a:srgbClr val="FF0000"/>
                </a:solidFill>
                <a:latin typeface="Cascadia Mono" panose="020B0609020000020004" pitchFamily="49" charset="0"/>
              </a:rPr>
              <a:t> </a:t>
            </a:r>
            <a:r>
              <a:rPr lang="fr-FR" dirty="0" err="1">
                <a:solidFill>
                  <a:srgbClr val="FF0000"/>
                </a:solidFill>
                <a:latin typeface="Cascadia Mono" panose="020B0609020000020004" pitchFamily="49" charset="0"/>
              </a:rPr>
              <a:t>HasShadow</a:t>
            </a:r>
            <a:r>
              <a:rPr lang="fr-FR" dirty="0">
                <a:solidFill>
                  <a:srgbClr val="0000FF"/>
                </a:solidFill>
                <a:latin typeface="Cascadia Mono" panose="020B0609020000020004" pitchFamily="49" charset="0"/>
              </a:rPr>
              <a:t>="True"&gt;</a:t>
            </a:r>
            <a:endParaRPr lang="fr-FR" dirty="0">
              <a:solidFill>
                <a:srgbClr val="000000"/>
              </a:solidFill>
              <a:latin typeface="Cascadia Mono" panose="020B0609020000020004" pitchFamily="49" charset="0"/>
            </a:endParaRPr>
          </a:p>
          <a:p>
            <a:r>
              <a:rPr lang="fr-FR" dirty="0">
                <a:solidFill>
                  <a:srgbClr val="000000"/>
                </a:solidFill>
                <a:latin typeface="Cascadia Mono" panose="020B0609020000020004" pitchFamily="49" charset="0"/>
              </a:rPr>
              <a:t>            </a:t>
            </a:r>
            <a:r>
              <a:rPr lang="fr-FR" dirty="0">
                <a:solidFill>
                  <a:srgbClr val="0000FF"/>
                </a:solidFill>
                <a:latin typeface="Cascadia Mono" panose="020B0609020000020004" pitchFamily="49" charset="0"/>
              </a:rPr>
              <a:t>&lt;/</a:t>
            </a:r>
            <a:r>
              <a:rPr lang="fr-FR" dirty="0">
                <a:solidFill>
                  <a:srgbClr val="A31515"/>
                </a:solidFill>
                <a:latin typeface="Cascadia Mono" panose="020B0609020000020004" pitchFamily="49" charset="0"/>
              </a:rPr>
              <a:t>Frame</a:t>
            </a:r>
            <a:r>
              <a:rPr lang="fr-FR" dirty="0">
                <a:solidFill>
                  <a:srgbClr val="0000FF"/>
                </a:solidFill>
                <a:latin typeface="Cascadia Mono" panose="020B0609020000020004" pitchFamily="49" charset="0"/>
              </a:rPr>
              <a:t>&gt;</a:t>
            </a:r>
            <a:endParaRPr lang="fr-FR" dirty="0">
              <a:solidFill>
                <a:srgbClr val="000000"/>
              </a:solidFill>
              <a:latin typeface="Cascadia Mono" panose="020B0609020000020004" pitchFamily="49" charset="0"/>
            </a:endParaRPr>
          </a:p>
          <a:p>
            <a:r>
              <a:rPr lang="fr-FR" dirty="0" smtClean="0">
                <a:solidFill>
                  <a:srgbClr val="0000FF"/>
                </a:solidFill>
                <a:latin typeface="Cascadia Mono" panose="020B0609020000020004" pitchFamily="49" charset="0"/>
              </a:rPr>
              <a:t>&lt;/</a:t>
            </a:r>
            <a:r>
              <a:rPr lang="fr-FR" dirty="0" err="1">
                <a:solidFill>
                  <a:srgbClr val="A31515"/>
                </a:solidFill>
                <a:latin typeface="Cascadia Mono" panose="020B0609020000020004" pitchFamily="49" charset="0"/>
              </a:rPr>
              <a:t>VerticalStackLayout</a:t>
            </a:r>
            <a:r>
              <a:rPr lang="fr-FR" dirty="0">
                <a:solidFill>
                  <a:srgbClr val="0000FF"/>
                </a:solidFill>
                <a:latin typeface="Cascadia Mono" panose="020B0609020000020004" pitchFamily="49" charset="0"/>
              </a:rPr>
              <a:t>&gt;</a:t>
            </a:r>
            <a:endParaRPr lang="fr-FR" dirty="0"/>
          </a:p>
        </p:txBody>
      </p:sp>
      <p:pic>
        <p:nvPicPr>
          <p:cNvPr id="5" name="Image 4"/>
          <p:cNvPicPr>
            <a:picLocks noChangeAspect="1"/>
          </p:cNvPicPr>
          <p:nvPr/>
        </p:nvPicPr>
        <p:blipFill>
          <a:blip r:embed="rId3"/>
          <a:stretch>
            <a:fillRect/>
          </a:stretch>
        </p:blipFill>
        <p:spPr>
          <a:xfrm>
            <a:off x="7393598" y="2194555"/>
            <a:ext cx="3621591" cy="2007919"/>
          </a:xfrm>
          <a:prstGeom prst="rect">
            <a:avLst/>
          </a:prstGeom>
        </p:spPr>
      </p:pic>
    </p:spTree>
    <p:extLst>
      <p:ext uri="{BB962C8B-B14F-4D97-AF65-F5344CB8AC3E}">
        <p14:creationId xmlns:p14="http://schemas.microsoft.com/office/powerpoint/2010/main" val="34101827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8"/>
          <p:cNvSpPr txBox="1">
            <a:spLocks noChangeArrowheads="1"/>
          </p:cNvSpPr>
          <p:nvPr/>
        </p:nvSpPr>
        <p:spPr bwMode="auto">
          <a:xfrm>
            <a:off x="392834" y="488311"/>
            <a:ext cx="6329937" cy="468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152400">
              <a:tabLst>
                <a:tab pos="5992813" algn="l"/>
              </a:tabLst>
              <a:defRPr>
                <a:solidFill>
                  <a:schemeClr val="tx1"/>
                </a:solidFill>
                <a:latin typeface="Calibri" panose="020F0502020204030204" pitchFamily="34" charset="0"/>
                <a:cs typeface="Arial" panose="020B0604020202020204" pitchFamily="34" charset="0"/>
              </a:defRPr>
            </a:lvl1pPr>
            <a:lvl2pPr marL="579438" indent="-242888">
              <a:tabLst>
                <a:tab pos="5992813" algn="l"/>
              </a:tabLst>
              <a:defRPr>
                <a:solidFill>
                  <a:schemeClr val="tx1"/>
                </a:solidFill>
                <a:latin typeface="Calibri" panose="020F0502020204030204" pitchFamily="34" charset="0"/>
                <a:cs typeface="Arial" panose="020B0604020202020204" pitchFamily="34" charset="0"/>
              </a:defRPr>
            </a:lvl2pPr>
            <a:lvl3pPr marL="1143000" indent="-228600">
              <a:tabLst>
                <a:tab pos="5992813" algn="l"/>
              </a:tabLst>
              <a:defRPr>
                <a:solidFill>
                  <a:schemeClr val="tx1"/>
                </a:solidFill>
                <a:latin typeface="Calibri" panose="020F0502020204030204" pitchFamily="34" charset="0"/>
                <a:cs typeface="Arial" panose="020B0604020202020204" pitchFamily="34" charset="0"/>
              </a:defRPr>
            </a:lvl3pPr>
            <a:lvl4pPr marL="1600200" indent="-228600">
              <a:tabLst>
                <a:tab pos="5992813" algn="l"/>
              </a:tabLst>
              <a:defRPr>
                <a:solidFill>
                  <a:schemeClr val="tx1"/>
                </a:solidFill>
                <a:latin typeface="Calibri" panose="020F0502020204030204" pitchFamily="34" charset="0"/>
                <a:cs typeface="Arial" panose="020B0604020202020204" pitchFamily="34" charset="0"/>
              </a:defRPr>
            </a:lvl4pPr>
            <a:lvl5pPr marL="2057400" indent="-228600">
              <a:tabLst>
                <a:tab pos="5992813" algn="l"/>
              </a:tabLst>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2200" u="sng" dirty="0" smtClean="0">
                <a:latin typeface="Segoe UI Symbol" panose="020B0502040204020203" pitchFamily="34" charset="0"/>
              </a:rPr>
              <a:t>Les </a:t>
            </a:r>
            <a:r>
              <a:rPr lang="en-US" altLang="en-US" sz="2200" u="sng" dirty="0" err="1" smtClean="0">
                <a:latin typeface="Segoe UI Symbol" panose="020B0502040204020203" pitchFamily="34" charset="0"/>
              </a:rPr>
              <a:t>contrôles</a:t>
            </a:r>
            <a:r>
              <a:rPr lang="en-US" altLang="en-US" sz="2200" u="sng" dirty="0" smtClean="0">
                <a:latin typeface="Segoe UI Symbol" panose="020B0502040204020203" pitchFamily="34" charset="0"/>
              </a:rPr>
              <a:t> de </a:t>
            </a:r>
            <a:r>
              <a:rPr lang="en-US" altLang="en-US" sz="2200" u="sng" dirty="0" err="1" smtClean="0">
                <a:latin typeface="Segoe UI Symbol" panose="020B0502040204020203" pitchFamily="34" charset="0"/>
              </a:rPr>
              <a:t>commande</a:t>
            </a:r>
            <a:r>
              <a:rPr lang="fr-FR" altLang="en-US" sz="2200" u="sng" dirty="0" smtClean="0">
                <a:latin typeface="Segoe UI Symbol" panose="020B0502040204020203" pitchFamily="34" charset="0"/>
              </a:rPr>
              <a:t>-</a:t>
            </a:r>
            <a:r>
              <a:rPr lang="fr-FR" altLang="en-US" sz="2200" u="sng" dirty="0" err="1" smtClean="0">
                <a:latin typeface="Segoe UI Symbol" panose="020B0502040204020203" pitchFamily="34" charset="0"/>
              </a:rPr>
              <a:t>Button</a:t>
            </a:r>
            <a:endParaRPr lang="fr-FR" altLang="en-US" sz="2200" dirty="0" smtClean="0">
              <a:latin typeface="Times New Roman" panose="02020603050405020304" pitchFamily="18" charset="0"/>
              <a:cs typeface="Times New Roman" panose="02020603050405020304" pitchFamily="18" charset="0"/>
            </a:endParaRPr>
          </a:p>
          <a:p>
            <a:pPr>
              <a:lnSpc>
                <a:spcPct val="150000"/>
              </a:lnSpc>
              <a:spcBef>
                <a:spcPts val="1625"/>
              </a:spcBef>
              <a:buClr>
                <a:srgbClr val="006498"/>
              </a:buClr>
              <a:buSzPct val="61000"/>
              <a:buFont typeface="Wingdings" panose="05000000000000000000" pitchFamily="2" charset="2"/>
              <a:buChar char=""/>
            </a:pPr>
            <a:r>
              <a:rPr lang="fr-FR" dirty="0">
                <a:latin typeface="Segoe UI" panose="020B0502040204020203" pitchFamily="34" charset="0"/>
                <a:cs typeface="Segoe UI" panose="020B0502040204020203" pitchFamily="34" charset="0"/>
              </a:rPr>
              <a:t>Un </a:t>
            </a:r>
            <a:r>
              <a:rPr lang="fr-FR" b="1" dirty="0" err="1">
                <a:latin typeface="Segoe UI" panose="020B0502040204020203" pitchFamily="34" charset="0"/>
                <a:cs typeface="Segoe UI" panose="020B0502040204020203" pitchFamily="34" charset="0"/>
              </a:rPr>
              <a:t>Button</a:t>
            </a:r>
            <a:r>
              <a:rPr lang="fr-FR" dirty="0">
                <a:latin typeface="Segoe UI" panose="020B0502040204020203" pitchFamily="34" charset="0"/>
                <a:cs typeface="Segoe UI" panose="020B0502040204020203" pitchFamily="34" charset="0"/>
              </a:rPr>
              <a:t> affiche généralement une chaîne de texte courte indiquant une </a:t>
            </a:r>
            <a:r>
              <a:rPr lang="fr-FR" dirty="0" smtClean="0">
                <a:latin typeface="Segoe UI" panose="020B0502040204020203" pitchFamily="34" charset="0"/>
                <a:cs typeface="Segoe UI" panose="020B0502040204020203" pitchFamily="34" charset="0"/>
              </a:rPr>
              <a:t>commande et déclenche une action</a:t>
            </a:r>
            <a:r>
              <a:rPr lang="fr-FR" b="1" dirty="0" smtClean="0">
                <a:latin typeface="Segoe UI" panose="020B0502040204020203" pitchFamily="34" charset="0"/>
                <a:cs typeface="Segoe UI" panose="020B0502040204020203" pitchFamily="34" charset="0"/>
              </a:rPr>
              <a:t>  </a:t>
            </a:r>
            <a:r>
              <a:rPr lang="fr-FR" dirty="0" smtClean="0">
                <a:latin typeface="Segoe UI" panose="020B0502040204020203" pitchFamily="34" charset="0"/>
                <a:cs typeface="Segoe UI" panose="020B0502040204020203" pitchFamily="34" charset="0"/>
              </a:rPr>
              <a:t>lorsqu’il est cliqué </a:t>
            </a:r>
          </a:p>
          <a:p>
            <a:pPr>
              <a:lnSpc>
                <a:spcPct val="150000"/>
              </a:lnSpc>
              <a:spcBef>
                <a:spcPts val="1625"/>
              </a:spcBef>
              <a:buClr>
                <a:srgbClr val="006498"/>
              </a:buClr>
              <a:buSzPct val="61000"/>
            </a:pPr>
            <a:endParaRPr lang="fr-FR" dirty="0" smtClean="0">
              <a:latin typeface="Segoe UI" panose="020B0502040204020203" pitchFamily="34" charset="0"/>
              <a:cs typeface="Segoe UI" panose="020B0502040204020203" pitchFamily="34" charset="0"/>
            </a:endParaRPr>
          </a:p>
          <a:p>
            <a:pPr>
              <a:lnSpc>
                <a:spcPct val="150000"/>
              </a:lnSpc>
              <a:spcBef>
                <a:spcPts val="1625"/>
              </a:spcBef>
              <a:buClr>
                <a:srgbClr val="006498"/>
              </a:buClr>
              <a:buSzPct val="61000"/>
            </a:pPr>
            <a:endParaRPr lang="fr-FR" dirty="0" smtClean="0">
              <a:latin typeface="Segoe UI" panose="020B0502040204020203" pitchFamily="34" charset="0"/>
              <a:cs typeface="Segoe UI" panose="020B0502040204020203" pitchFamily="34" charset="0"/>
            </a:endParaRPr>
          </a:p>
          <a:p>
            <a:pPr>
              <a:lnSpc>
                <a:spcPct val="150000"/>
              </a:lnSpc>
              <a:spcBef>
                <a:spcPts val="1625"/>
              </a:spcBef>
              <a:buClr>
                <a:srgbClr val="006498"/>
              </a:buClr>
              <a:buSzPct val="61000"/>
              <a:buFont typeface="Wingdings" panose="05000000000000000000" pitchFamily="2" charset="2"/>
              <a:buChar char=""/>
            </a:pPr>
            <a:endParaRPr lang="fr-FR" dirty="0" smtClean="0">
              <a:latin typeface="Segoe UI" panose="020B0502040204020203" pitchFamily="34" charset="0"/>
              <a:cs typeface="Segoe UI" panose="020B0502040204020203" pitchFamily="34" charset="0"/>
            </a:endParaRPr>
          </a:p>
          <a:p>
            <a:pPr>
              <a:lnSpc>
                <a:spcPct val="150000"/>
              </a:lnSpc>
              <a:spcBef>
                <a:spcPts val="1625"/>
              </a:spcBef>
              <a:buClr>
                <a:srgbClr val="006498"/>
              </a:buClr>
              <a:buSzPct val="61000"/>
              <a:buFont typeface="Wingdings" panose="05000000000000000000" pitchFamily="2" charset="2"/>
              <a:buChar char=""/>
            </a:pPr>
            <a:r>
              <a:rPr lang="fr-FR" dirty="0" smtClean="0">
                <a:latin typeface="Segoe UI" panose="020B0502040204020203" pitchFamily="34" charset="0"/>
                <a:cs typeface="Segoe UI" panose="020B0502040204020203" pitchFamily="34" charset="0"/>
              </a:rPr>
              <a:t>Il peut </a:t>
            </a:r>
            <a:r>
              <a:rPr lang="fr-FR" dirty="0">
                <a:latin typeface="Segoe UI" panose="020B0502040204020203" pitchFamily="34" charset="0"/>
                <a:cs typeface="Segoe UI" panose="020B0502040204020203" pitchFamily="34" charset="0"/>
              </a:rPr>
              <a:t>également afficher une image bitmap ou une combinaison de texte et d’une image</a:t>
            </a:r>
          </a:p>
        </p:txBody>
      </p:sp>
      <p:pic>
        <p:nvPicPr>
          <p:cNvPr id="4" name="Image 3"/>
          <p:cNvPicPr>
            <a:picLocks noChangeAspect="1"/>
          </p:cNvPicPr>
          <p:nvPr/>
        </p:nvPicPr>
        <p:blipFill>
          <a:blip r:embed="rId2"/>
          <a:stretch>
            <a:fillRect/>
          </a:stretch>
        </p:blipFill>
        <p:spPr>
          <a:xfrm>
            <a:off x="6095997" y="-3164750"/>
            <a:ext cx="5" cy="13187500"/>
          </a:xfrm>
          <a:prstGeom prst="rect">
            <a:avLst/>
          </a:prstGeom>
        </p:spPr>
      </p:pic>
      <p:sp>
        <p:nvSpPr>
          <p:cNvPr id="6" name="Rectangle 5"/>
          <p:cNvSpPr/>
          <p:nvPr/>
        </p:nvSpPr>
        <p:spPr>
          <a:xfrm>
            <a:off x="392834" y="5230746"/>
            <a:ext cx="6096000" cy="1077218"/>
          </a:xfrm>
          <a:prstGeom prst="rect">
            <a:avLst/>
          </a:prstGeom>
        </p:spPr>
        <p:txBody>
          <a:bodyPr>
            <a:spAutoFit/>
          </a:bodyPr>
          <a:lstStyle/>
          <a:p>
            <a:r>
              <a:rPr lang="fr-FR" sz="1600" dirty="0">
                <a:solidFill>
                  <a:srgbClr val="000000"/>
                </a:solidFill>
                <a:latin typeface="Cascadia Mono" panose="020B0609020000020004" pitchFamily="49" charset="0"/>
              </a:rPr>
              <a:t> </a:t>
            </a:r>
            <a:r>
              <a:rPr lang="fr-FR" sz="1600" dirty="0">
                <a:solidFill>
                  <a:srgbClr val="0000FF"/>
                </a:solidFill>
                <a:latin typeface="Cascadia Mono" panose="020B0609020000020004" pitchFamily="49" charset="0"/>
              </a:rPr>
              <a:t>&lt;</a:t>
            </a:r>
            <a:r>
              <a:rPr lang="fr-FR" sz="1600" dirty="0" err="1">
                <a:solidFill>
                  <a:srgbClr val="A31515"/>
                </a:solidFill>
                <a:latin typeface="Cascadia Mono" panose="020B0609020000020004" pitchFamily="49" charset="0"/>
              </a:rPr>
              <a:t>Button</a:t>
            </a:r>
            <a:r>
              <a:rPr lang="fr-FR" sz="1600" dirty="0">
                <a:solidFill>
                  <a:srgbClr val="FF0000"/>
                </a:solidFill>
                <a:latin typeface="Cascadia Mono" panose="020B0609020000020004" pitchFamily="49" charset="0"/>
              </a:rPr>
              <a:t> </a:t>
            </a:r>
            <a:r>
              <a:rPr lang="fr-FR" sz="1600" dirty="0" err="1">
                <a:solidFill>
                  <a:srgbClr val="FF0000"/>
                </a:solidFill>
                <a:latin typeface="Cascadia Mono" panose="020B0609020000020004" pitchFamily="49" charset="0"/>
              </a:rPr>
              <a:t>ImageSource</a:t>
            </a:r>
            <a:r>
              <a:rPr lang="fr-FR" sz="1600" dirty="0">
                <a:solidFill>
                  <a:srgbClr val="0000FF"/>
                </a:solidFill>
                <a:latin typeface="Cascadia Mono" panose="020B0609020000020004" pitchFamily="49" charset="0"/>
              </a:rPr>
              <a:t>="</a:t>
            </a:r>
            <a:r>
              <a:rPr lang="fr-FR" sz="1600" dirty="0" err="1">
                <a:solidFill>
                  <a:srgbClr val="0000FF"/>
                </a:solidFill>
                <a:latin typeface="Cascadia Mono" panose="020B0609020000020004" pitchFamily="49" charset="0"/>
              </a:rPr>
              <a:t>dotnet_bot.svg</a:t>
            </a:r>
            <a:r>
              <a:rPr lang="fr-FR" sz="1600" dirty="0">
                <a:solidFill>
                  <a:srgbClr val="0000FF"/>
                </a:solidFill>
                <a:latin typeface="Cascadia Mono" panose="020B0609020000020004" pitchFamily="49" charset="0"/>
              </a:rPr>
              <a:t>"</a:t>
            </a:r>
            <a:r>
              <a:rPr lang="fr-FR" sz="1600" dirty="0">
                <a:solidFill>
                  <a:srgbClr val="000000"/>
                </a:solidFill>
                <a:latin typeface="Cascadia Mono" panose="020B0609020000020004" pitchFamily="49" charset="0"/>
              </a:rPr>
              <a:t> </a:t>
            </a:r>
          </a:p>
          <a:p>
            <a:r>
              <a:rPr lang="fr-FR" sz="1600" dirty="0">
                <a:solidFill>
                  <a:srgbClr val="000000"/>
                </a:solidFill>
                <a:latin typeface="Cascadia Mono" panose="020B0609020000020004" pitchFamily="49" charset="0"/>
              </a:rPr>
              <a:t>           </a:t>
            </a:r>
            <a:r>
              <a:rPr lang="fr-FR" sz="1600" dirty="0">
                <a:solidFill>
                  <a:srgbClr val="FF0000"/>
                </a:solidFill>
                <a:latin typeface="Cascadia Mono" panose="020B0609020000020004" pitchFamily="49" charset="0"/>
              </a:rPr>
              <a:t> VerticalOptions</a:t>
            </a:r>
            <a:r>
              <a:rPr lang="fr-FR" sz="1600" dirty="0">
                <a:solidFill>
                  <a:srgbClr val="0000FF"/>
                </a:solidFill>
                <a:latin typeface="Cascadia Mono" panose="020B0609020000020004" pitchFamily="49" charset="0"/>
              </a:rPr>
              <a:t>="Center"</a:t>
            </a:r>
            <a:endParaRPr lang="fr-FR" sz="1600" dirty="0">
              <a:solidFill>
                <a:srgbClr val="000000"/>
              </a:solidFill>
              <a:latin typeface="Cascadia Mono" panose="020B0609020000020004" pitchFamily="49" charset="0"/>
            </a:endParaRPr>
          </a:p>
          <a:p>
            <a:r>
              <a:rPr lang="fr-FR" sz="1600" dirty="0">
                <a:solidFill>
                  <a:srgbClr val="000000"/>
                </a:solidFill>
                <a:latin typeface="Cascadia Mono" panose="020B0609020000020004" pitchFamily="49" charset="0"/>
              </a:rPr>
              <a:t>           </a:t>
            </a:r>
            <a:r>
              <a:rPr lang="fr-FR" sz="1600" dirty="0">
                <a:solidFill>
                  <a:srgbClr val="FF0000"/>
                </a:solidFill>
                <a:latin typeface="Cascadia Mono" panose="020B0609020000020004" pitchFamily="49" charset="0"/>
              </a:rPr>
              <a:t> </a:t>
            </a:r>
            <a:r>
              <a:rPr lang="fr-FR" sz="1600" dirty="0" err="1">
                <a:solidFill>
                  <a:srgbClr val="FF0000"/>
                </a:solidFill>
                <a:latin typeface="Cascadia Mono" panose="020B0609020000020004" pitchFamily="49" charset="0"/>
              </a:rPr>
              <a:t>HorizontalOptions</a:t>
            </a:r>
            <a:r>
              <a:rPr lang="fr-FR" sz="1600" dirty="0">
                <a:solidFill>
                  <a:srgbClr val="0000FF"/>
                </a:solidFill>
                <a:latin typeface="Cascadia Mono" panose="020B0609020000020004" pitchFamily="49" charset="0"/>
              </a:rPr>
              <a:t>="Center"</a:t>
            </a:r>
            <a:endParaRPr lang="fr-FR" sz="1600" dirty="0">
              <a:solidFill>
                <a:srgbClr val="000000"/>
              </a:solidFill>
              <a:latin typeface="Cascadia Mono" panose="020B0609020000020004" pitchFamily="49" charset="0"/>
            </a:endParaRPr>
          </a:p>
          <a:p>
            <a:r>
              <a:rPr lang="fr-FR" sz="1600" dirty="0">
                <a:solidFill>
                  <a:srgbClr val="000000"/>
                </a:solidFill>
                <a:latin typeface="Cascadia Mono" panose="020B0609020000020004" pitchFamily="49" charset="0"/>
              </a:rPr>
              <a:t>           </a:t>
            </a:r>
            <a:r>
              <a:rPr lang="fr-FR" sz="1600" dirty="0">
                <a:solidFill>
                  <a:srgbClr val="FF0000"/>
                </a:solidFill>
                <a:latin typeface="Cascadia Mono" panose="020B0609020000020004" pitchFamily="49" charset="0"/>
              </a:rPr>
              <a:t> </a:t>
            </a:r>
            <a:r>
              <a:rPr lang="fr-FR" sz="1600" dirty="0" err="1">
                <a:solidFill>
                  <a:srgbClr val="FF0000"/>
                </a:solidFill>
                <a:latin typeface="Cascadia Mono" panose="020B0609020000020004" pitchFamily="49" charset="0"/>
              </a:rPr>
              <a:t>Margin</a:t>
            </a:r>
            <a:r>
              <a:rPr lang="fr-FR" sz="1600" dirty="0">
                <a:solidFill>
                  <a:srgbClr val="0000FF"/>
                </a:solidFill>
                <a:latin typeface="Cascadia Mono" panose="020B0609020000020004" pitchFamily="49" charset="0"/>
              </a:rPr>
              <a:t>="20"/&gt;</a:t>
            </a:r>
            <a:endParaRPr lang="fr-FR" sz="1600" dirty="0"/>
          </a:p>
        </p:txBody>
      </p:sp>
      <p:sp>
        <p:nvSpPr>
          <p:cNvPr id="7" name="Rectangle 6"/>
          <p:cNvSpPr/>
          <p:nvPr/>
        </p:nvSpPr>
        <p:spPr>
          <a:xfrm>
            <a:off x="392834" y="2500292"/>
            <a:ext cx="6096000" cy="1569660"/>
          </a:xfrm>
          <a:prstGeom prst="rect">
            <a:avLst/>
          </a:prstGeom>
        </p:spPr>
        <p:txBody>
          <a:bodyPr>
            <a:spAutoFit/>
          </a:bodyPr>
          <a:lstStyle/>
          <a:p>
            <a:r>
              <a:rPr lang="fr-FR" sz="1600" dirty="0">
                <a:solidFill>
                  <a:srgbClr val="000000"/>
                </a:solidFill>
                <a:latin typeface="Cascadia Mono" panose="020B0609020000020004" pitchFamily="49" charset="0"/>
              </a:rPr>
              <a:t> </a:t>
            </a:r>
            <a:r>
              <a:rPr lang="fr-FR" sz="1600" dirty="0">
                <a:solidFill>
                  <a:srgbClr val="0000FF"/>
                </a:solidFill>
                <a:latin typeface="Cascadia Mono" panose="020B0609020000020004" pitchFamily="49" charset="0"/>
              </a:rPr>
              <a:t>&lt;</a:t>
            </a:r>
            <a:r>
              <a:rPr lang="fr-FR" sz="1600" dirty="0" err="1">
                <a:solidFill>
                  <a:srgbClr val="A31515"/>
                </a:solidFill>
                <a:latin typeface="Cascadia Mono" panose="020B0609020000020004" pitchFamily="49" charset="0"/>
              </a:rPr>
              <a:t>Button</a:t>
            </a:r>
            <a:r>
              <a:rPr lang="fr-FR" sz="1600" dirty="0">
                <a:solidFill>
                  <a:srgbClr val="FF0000"/>
                </a:solidFill>
                <a:latin typeface="Cascadia Mono" panose="020B0609020000020004" pitchFamily="49" charset="0"/>
              </a:rPr>
              <a:t> Text</a:t>
            </a:r>
            <a:r>
              <a:rPr lang="fr-FR" sz="1600" dirty="0">
                <a:solidFill>
                  <a:srgbClr val="0000FF"/>
                </a:solidFill>
                <a:latin typeface="Cascadia Mono" panose="020B0609020000020004" pitchFamily="49" charset="0"/>
              </a:rPr>
              <a:t>="Cliquer ici"</a:t>
            </a:r>
            <a:r>
              <a:rPr lang="fr-FR" sz="1600" dirty="0">
                <a:solidFill>
                  <a:srgbClr val="000000"/>
                </a:solidFill>
                <a:latin typeface="Cascadia Mono" panose="020B0609020000020004" pitchFamily="49" charset="0"/>
              </a:rPr>
              <a:t> </a:t>
            </a:r>
          </a:p>
          <a:p>
            <a:r>
              <a:rPr lang="fr-FR" sz="1600" dirty="0">
                <a:solidFill>
                  <a:srgbClr val="000000"/>
                </a:solidFill>
                <a:latin typeface="Cascadia Mono" panose="020B0609020000020004" pitchFamily="49" charset="0"/>
              </a:rPr>
              <a:t>           </a:t>
            </a:r>
            <a:r>
              <a:rPr lang="fr-FR" sz="1600" dirty="0">
                <a:solidFill>
                  <a:srgbClr val="FF0000"/>
                </a:solidFill>
                <a:latin typeface="Cascadia Mono" panose="020B0609020000020004" pitchFamily="49" charset="0"/>
              </a:rPr>
              <a:t> </a:t>
            </a:r>
            <a:r>
              <a:rPr lang="fr-FR" sz="1600" dirty="0" err="1">
                <a:solidFill>
                  <a:srgbClr val="FF0000"/>
                </a:solidFill>
                <a:latin typeface="Cascadia Mono" panose="020B0609020000020004" pitchFamily="49" charset="0"/>
              </a:rPr>
              <a:t>FontSize</a:t>
            </a:r>
            <a:r>
              <a:rPr lang="fr-FR" sz="1600" dirty="0">
                <a:solidFill>
                  <a:srgbClr val="0000FF"/>
                </a:solidFill>
                <a:latin typeface="Cascadia Mono" panose="020B0609020000020004" pitchFamily="49" charset="0"/>
              </a:rPr>
              <a:t>="20"</a:t>
            </a:r>
            <a:endParaRPr lang="fr-FR" sz="1600" dirty="0">
              <a:solidFill>
                <a:srgbClr val="000000"/>
              </a:solidFill>
              <a:latin typeface="Cascadia Mono" panose="020B0609020000020004" pitchFamily="49" charset="0"/>
            </a:endParaRPr>
          </a:p>
          <a:p>
            <a:r>
              <a:rPr lang="fr-FR" sz="1600" dirty="0">
                <a:solidFill>
                  <a:srgbClr val="000000"/>
                </a:solidFill>
                <a:latin typeface="Cascadia Mono" panose="020B0609020000020004" pitchFamily="49" charset="0"/>
              </a:rPr>
              <a:t>           </a:t>
            </a:r>
            <a:r>
              <a:rPr lang="fr-FR" sz="1600" dirty="0">
                <a:solidFill>
                  <a:srgbClr val="FF0000"/>
                </a:solidFill>
                <a:latin typeface="Cascadia Mono" panose="020B0609020000020004" pitchFamily="49" charset="0"/>
              </a:rPr>
              <a:t> </a:t>
            </a:r>
            <a:r>
              <a:rPr lang="fr-FR" sz="1600" dirty="0" err="1">
                <a:solidFill>
                  <a:srgbClr val="FF0000"/>
                </a:solidFill>
                <a:latin typeface="Cascadia Mono" panose="020B0609020000020004" pitchFamily="49" charset="0"/>
              </a:rPr>
              <a:t>FontAttributes</a:t>
            </a:r>
            <a:r>
              <a:rPr lang="fr-FR" sz="1600" dirty="0">
                <a:solidFill>
                  <a:srgbClr val="0000FF"/>
                </a:solidFill>
                <a:latin typeface="Cascadia Mono" panose="020B0609020000020004" pitchFamily="49" charset="0"/>
              </a:rPr>
              <a:t>="Bold"</a:t>
            </a:r>
            <a:endParaRPr lang="fr-FR" sz="1600" dirty="0">
              <a:solidFill>
                <a:srgbClr val="000000"/>
              </a:solidFill>
              <a:latin typeface="Cascadia Mono" panose="020B0609020000020004" pitchFamily="49" charset="0"/>
            </a:endParaRPr>
          </a:p>
          <a:p>
            <a:r>
              <a:rPr lang="fr-FR" sz="1600" dirty="0">
                <a:solidFill>
                  <a:srgbClr val="000000"/>
                </a:solidFill>
                <a:latin typeface="Cascadia Mono" panose="020B0609020000020004" pitchFamily="49" charset="0"/>
              </a:rPr>
              <a:t>           </a:t>
            </a:r>
            <a:r>
              <a:rPr lang="fr-FR" sz="1600" dirty="0">
                <a:solidFill>
                  <a:srgbClr val="FF0000"/>
                </a:solidFill>
                <a:latin typeface="Cascadia Mono" panose="020B0609020000020004" pitchFamily="49" charset="0"/>
              </a:rPr>
              <a:t> VerticalOptions</a:t>
            </a:r>
            <a:r>
              <a:rPr lang="fr-FR" sz="1600" dirty="0">
                <a:solidFill>
                  <a:srgbClr val="0000FF"/>
                </a:solidFill>
                <a:latin typeface="Cascadia Mono" panose="020B0609020000020004" pitchFamily="49" charset="0"/>
              </a:rPr>
              <a:t>="Center"</a:t>
            </a:r>
            <a:endParaRPr lang="fr-FR" sz="1600" dirty="0">
              <a:solidFill>
                <a:srgbClr val="000000"/>
              </a:solidFill>
              <a:latin typeface="Cascadia Mono" panose="020B0609020000020004" pitchFamily="49" charset="0"/>
            </a:endParaRPr>
          </a:p>
          <a:p>
            <a:r>
              <a:rPr lang="fr-FR" sz="1600" dirty="0">
                <a:solidFill>
                  <a:srgbClr val="000000"/>
                </a:solidFill>
                <a:latin typeface="Cascadia Mono" panose="020B0609020000020004" pitchFamily="49" charset="0"/>
              </a:rPr>
              <a:t>           </a:t>
            </a:r>
            <a:r>
              <a:rPr lang="fr-FR" sz="1600" dirty="0">
                <a:solidFill>
                  <a:srgbClr val="FF0000"/>
                </a:solidFill>
                <a:latin typeface="Cascadia Mono" panose="020B0609020000020004" pitchFamily="49" charset="0"/>
              </a:rPr>
              <a:t> </a:t>
            </a:r>
            <a:r>
              <a:rPr lang="fr-FR" sz="1600" dirty="0" err="1">
                <a:solidFill>
                  <a:srgbClr val="FF0000"/>
                </a:solidFill>
                <a:latin typeface="Cascadia Mono" panose="020B0609020000020004" pitchFamily="49" charset="0"/>
              </a:rPr>
              <a:t>HorizontalOptions</a:t>
            </a:r>
            <a:r>
              <a:rPr lang="fr-FR" sz="1600" dirty="0">
                <a:solidFill>
                  <a:srgbClr val="0000FF"/>
                </a:solidFill>
                <a:latin typeface="Cascadia Mono" panose="020B0609020000020004" pitchFamily="49" charset="0"/>
              </a:rPr>
              <a:t>="</a:t>
            </a:r>
            <a:r>
              <a:rPr lang="fr-FR" sz="1600" dirty="0" smtClean="0">
                <a:solidFill>
                  <a:srgbClr val="0000FF"/>
                </a:solidFill>
                <a:latin typeface="Cascadia Mono" panose="020B0609020000020004" pitchFamily="49" charset="0"/>
              </a:rPr>
              <a:t>Center"</a:t>
            </a:r>
            <a:endParaRPr lang="fr-FR" sz="1600" dirty="0" smtClean="0">
              <a:solidFill>
                <a:srgbClr val="000000"/>
              </a:solidFill>
              <a:latin typeface="Cascadia Mono" panose="020B0609020000020004" pitchFamily="49" charset="0"/>
            </a:endParaRPr>
          </a:p>
          <a:p>
            <a:r>
              <a:rPr lang="fr-FR" sz="1600" dirty="0" smtClean="0">
                <a:solidFill>
                  <a:srgbClr val="FF0000"/>
                </a:solidFill>
                <a:latin typeface="Cascadia Mono" panose="020B0609020000020004" pitchFamily="49" charset="0"/>
              </a:rPr>
              <a:t>	    </a:t>
            </a:r>
            <a:r>
              <a:rPr lang="fr-FR" sz="1600" dirty="0" err="1" smtClean="0">
                <a:solidFill>
                  <a:srgbClr val="FF0000"/>
                </a:solidFill>
                <a:latin typeface="Cascadia Mono" panose="020B0609020000020004" pitchFamily="49" charset="0"/>
              </a:rPr>
              <a:t>Margin</a:t>
            </a:r>
            <a:r>
              <a:rPr lang="fr-FR" sz="1600" dirty="0">
                <a:solidFill>
                  <a:srgbClr val="0000FF"/>
                </a:solidFill>
                <a:latin typeface="Cascadia Mono" panose="020B0609020000020004" pitchFamily="49" charset="0"/>
              </a:rPr>
              <a:t>="20"/&gt;</a:t>
            </a:r>
            <a:endParaRPr lang="fr-FR" sz="1600" dirty="0"/>
          </a:p>
        </p:txBody>
      </p:sp>
      <p:pic>
        <p:nvPicPr>
          <p:cNvPr id="8" name="Image 7"/>
          <p:cNvPicPr>
            <a:picLocks noChangeAspect="1"/>
          </p:cNvPicPr>
          <p:nvPr/>
        </p:nvPicPr>
        <p:blipFill>
          <a:blip r:embed="rId3"/>
          <a:stretch>
            <a:fillRect/>
          </a:stretch>
        </p:blipFill>
        <p:spPr>
          <a:xfrm>
            <a:off x="7289031" y="1325775"/>
            <a:ext cx="2082907" cy="4597636"/>
          </a:xfrm>
          <a:prstGeom prst="rect">
            <a:avLst/>
          </a:prstGeom>
        </p:spPr>
      </p:pic>
      <p:pic>
        <p:nvPicPr>
          <p:cNvPr id="9" name="Image 8"/>
          <p:cNvPicPr>
            <a:picLocks noChangeAspect="1"/>
          </p:cNvPicPr>
          <p:nvPr/>
        </p:nvPicPr>
        <p:blipFill>
          <a:blip r:embed="rId4"/>
          <a:stretch>
            <a:fillRect/>
          </a:stretch>
        </p:blipFill>
        <p:spPr>
          <a:xfrm>
            <a:off x="9587642" y="1306724"/>
            <a:ext cx="2044805" cy="4616687"/>
          </a:xfrm>
          <a:prstGeom prst="rect">
            <a:avLst/>
          </a:prstGeom>
        </p:spPr>
      </p:pic>
    </p:spTree>
    <p:extLst>
      <p:ext uri="{BB962C8B-B14F-4D97-AF65-F5344CB8AC3E}">
        <p14:creationId xmlns:p14="http://schemas.microsoft.com/office/powerpoint/2010/main" val="38606535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8"/>
          <p:cNvSpPr txBox="1">
            <a:spLocks noChangeArrowheads="1"/>
          </p:cNvSpPr>
          <p:nvPr/>
        </p:nvSpPr>
        <p:spPr bwMode="auto">
          <a:xfrm>
            <a:off x="392834" y="488311"/>
            <a:ext cx="6329937" cy="4478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152400">
              <a:tabLst>
                <a:tab pos="5992813" algn="l"/>
              </a:tabLst>
              <a:defRPr>
                <a:solidFill>
                  <a:schemeClr val="tx1"/>
                </a:solidFill>
                <a:latin typeface="Calibri" panose="020F0502020204030204" pitchFamily="34" charset="0"/>
                <a:cs typeface="Arial" panose="020B0604020202020204" pitchFamily="34" charset="0"/>
              </a:defRPr>
            </a:lvl1pPr>
            <a:lvl2pPr marL="579438" indent="-242888">
              <a:tabLst>
                <a:tab pos="5992813" algn="l"/>
              </a:tabLst>
              <a:defRPr>
                <a:solidFill>
                  <a:schemeClr val="tx1"/>
                </a:solidFill>
                <a:latin typeface="Calibri" panose="020F0502020204030204" pitchFamily="34" charset="0"/>
                <a:cs typeface="Arial" panose="020B0604020202020204" pitchFamily="34" charset="0"/>
              </a:defRPr>
            </a:lvl2pPr>
            <a:lvl3pPr marL="1143000" indent="-228600">
              <a:tabLst>
                <a:tab pos="5992813" algn="l"/>
              </a:tabLst>
              <a:defRPr>
                <a:solidFill>
                  <a:schemeClr val="tx1"/>
                </a:solidFill>
                <a:latin typeface="Calibri" panose="020F0502020204030204" pitchFamily="34" charset="0"/>
                <a:cs typeface="Arial" panose="020B0604020202020204" pitchFamily="34" charset="0"/>
              </a:defRPr>
            </a:lvl3pPr>
            <a:lvl4pPr marL="1600200" indent="-228600">
              <a:tabLst>
                <a:tab pos="5992813" algn="l"/>
              </a:tabLst>
              <a:defRPr>
                <a:solidFill>
                  <a:schemeClr val="tx1"/>
                </a:solidFill>
                <a:latin typeface="Calibri" panose="020F0502020204030204" pitchFamily="34" charset="0"/>
                <a:cs typeface="Arial" panose="020B0604020202020204" pitchFamily="34" charset="0"/>
              </a:defRPr>
            </a:lvl4pPr>
            <a:lvl5pPr marL="2057400" indent="-228600">
              <a:tabLst>
                <a:tab pos="5992813" algn="l"/>
              </a:tabLst>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2200" u="sng" dirty="0" smtClean="0">
                <a:latin typeface="Segoe UI Symbol" panose="020B0502040204020203" pitchFamily="34" charset="0"/>
              </a:rPr>
              <a:t>Les </a:t>
            </a:r>
            <a:r>
              <a:rPr lang="en-US" altLang="en-US" sz="2200" u="sng" dirty="0" err="1" smtClean="0">
                <a:latin typeface="Segoe UI Symbol" panose="020B0502040204020203" pitchFamily="34" charset="0"/>
              </a:rPr>
              <a:t>contrôles</a:t>
            </a:r>
            <a:r>
              <a:rPr lang="en-US" altLang="en-US" sz="2200" u="sng" dirty="0" smtClean="0">
                <a:latin typeface="Segoe UI Symbol" panose="020B0502040204020203" pitchFamily="34" charset="0"/>
              </a:rPr>
              <a:t> de </a:t>
            </a:r>
            <a:r>
              <a:rPr lang="en-US" altLang="en-US" sz="2200" u="sng" dirty="0" err="1" smtClean="0">
                <a:latin typeface="Segoe UI Symbol" panose="020B0502040204020203" pitchFamily="34" charset="0"/>
              </a:rPr>
              <a:t>commande</a:t>
            </a:r>
            <a:r>
              <a:rPr lang="fr-FR" altLang="en-US" sz="2200" u="sng" dirty="0" smtClean="0">
                <a:latin typeface="Segoe UI Symbol" panose="020B0502040204020203" pitchFamily="34" charset="0"/>
              </a:rPr>
              <a:t>-</a:t>
            </a:r>
            <a:r>
              <a:rPr lang="fr-FR" altLang="en-US" sz="2200" u="sng" dirty="0" err="1" smtClean="0">
                <a:latin typeface="Segoe UI Symbol" panose="020B0502040204020203" pitchFamily="34" charset="0"/>
              </a:rPr>
              <a:t>Button</a:t>
            </a:r>
            <a:endParaRPr lang="fr-FR" altLang="en-US" sz="2200" dirty="0" smtClean="0">
              <a:latin typeface="Times New Roman" panose="02020603050405020304" pitchFamily="18" charset="0"/>
              <a:cs typeface="Times New Roman" panose="02020603050405020304" pitchFamily="18" charset="0"/>
            </a:endParaRPr>
          </a:p>
          <a:p>
            <a:pPr>
              <a:lnSpc>
                <a:spcPct val="150000"/>
              </a:lnSpc>
              <a:spcBef>
                <a:spcPts val="1625"/>
              </a:spcBef>
              <a:buClr>
                <a:srgbClr val="006498"/>
              </a:buClr>
              <a:buSzPct val="61000"/>
              <a:buFont typeface="Wingdings" panose="05000000000000000000" pitchFamily="2" charset="2"/>
              <a:buChar char=""/>
            </a:pPr>
            <a:r>
              <a:rPr lang="fr-FR" dirty="0" smtClean="0">
                <a:latin typeface="Segoe UI" panose="020B0502040204020203" pitchFamily="34" charset="0"/>
                <a:cs typeface="Segoe UI" panose="020B0502040204020203" pitchFamily="34" charset="0"/>
              </a:rPr>
              <a:t>Le lancement des actions se fait de deux manières soit via l’événement </a:t>
            </a:r>
            <a:r>
              <a:rPr lang="fr-FR" b="1" dirty="0" smtClean="0">
                <a:latin typeface="Segoe UI" panose="020B0502040204020203" pitchFamily="34" charset="0"/>
                <a:cs typeface="Segoe UI" panose="020B0502040204020203" pitchFamily="34" charset="0"/>
              </a:rPr>
              <a:t>Clicked</a:t>
            </a:r>
            <a:r>
              <a:rPr lang="fr-FR" dirty="0" smtClean="0">
                <a:latin typeface="Segoe UI" panose="020B0502040204020203" pitchFamily="34" charset="0"/>
                <a:cs typeface="Segoe UI" panose="020B0502040204020203" pitchFamily="34" charset="0"/>
              </a:rPr>
              <a:t> </a:t>
            </a:r>
          </a:p>
          <a:p>
            <a:pPr>
              <a:lnSpc>
                <a:spcPct val="150000"/>
              </a:lnSpc>
              <a:spcBef>
                <a:spcPts val="1625"/>
              </a:spcBef>
              <a:buClr>
                <a:srgbClr val="006498"/>
              </a:buClr>
              <a:buSzPct val="61000"/>
            </a:pPr>
            <a:endParaRPr lang="fr-FR" dirty="0" smtClean="0">
              <a:latin typeface="Segoe UI" panose="020B0502040204020203" pitchFamily="34" charset="0"/>
              <a:cs typeface="Segoe UI" panose="020B0502040204020203" pitchFamily="34" charset="0"/>
            </a:endParaRPr>
          </a:p>
          <a:p>
            <a:pPr>
              <a:lnSpc>
                <a:spcPct val="150000"/>
              </a:lnSpc>
              <a:spcBef>
                <a:spcPts val="1625"/>
              </a:spcBef>
              <a:buClr>
                <a:srgbClr val="006498"/>
              </a:buClr>
              <a:buSzPct val="61000"/>
            </a:pPr>
            <a:endParaRPr lang="fr-FR" dirty="0">
              <a:latin typeface="Segoe UI" panose="020B0502040204020203" pitchFamily="34" charset="0"/>
              <a:cs typeface="Segoe UI" panose="020B0502040204020203" pitchFamily="34" charset="0"/>
            </a:endParaRPr>
          </a:p>
          <a:p>
            <a:pPr>
              <a:lnSpc>
                <a:spcPct val="150000"/>
              </a:lnSpc>
              <a:spcBef>
                <a:spcPts val="1625"/>
              </a:spcBef>
              <a:buClr>
                <a:srgbClr val="006498"/>
              </a:buClr>
              <a:buSzPct val="61000"/>
            </a:pPr>
            <a:endParaRPr lang="fr-FR" dirty="0" smtClean="0">
              <a:latin typeface="Segoe UI" panose="020B0502040204020203" pitchFamily="34" charset="0"/>
              <a:cs typeface="Segoe UI" panose="020B0502040204020203" pitchFamily="34" charset="0"/>
            </a:endParaRPr>
          </a:p>
          <a:p>
            <a:pPr>
              <a:lnSpc>
                <a:spcPct val="150000"/>
              </a:lnSpc>
              <a:spcBef>
                <a:spcPts val="1625"/>
              </a:spcBef>
              <a:buClr>
                <a:srgbClr val="006498"/>
              </a:buClr>
              <a:buSzPct val="61000"/>
            </a:pPr>
            <a:r>
              <a:rPr lang="fr-FR" dirty="0" smtClean="0">
                <a:latin typeface="Segoe UI" panose="020B0502040204020203" pitchFamily="34" charset="0"/>
                <a:cs typeface="Segoe UI" panose="020B0502040204020203" pitchFamily="34" charset="0"/>
              </a:rPr>
              <a:t>soit en liaison vers une commande dans un contexte MVVM</a:t>
            </a:r>
          </a:p>
          <a:p>
            <a:pPr>
              <a:lnSpc>
                <a:spcPct val="150000"/>
              </a:lnSpc>
              <a:spcBef>
                <a:spcPts val="1625"/>
              </a:spcBef>
              <a:buClr>
                <a:srgbClr val="006498"/>
              </a:buClr>
              <a:buSzPct val="61000"/>
            </a:pPr>
            <a:r>
              <a:rPr lang="fr-FR" dirty="0" smtClean="0">
                <a:latin typeface="Segoe UI" panose="020B0502040204020203" pitchFamily="34" charset="0"/>
                <a:cs typeface="Segoe UI" panose="020B0502040204020203" pitchFamily="34" charset="0"/>
              </a:rPr>
              <a:t> </a:t>
            </a:r>
          </a:p>
        </p:txBody>
      </p:sp>
      <p:pic>
        <p:nvPicPr>
          <p:cNvPr id="4" name="Image 3"/>
          <p:cNvPicPr>
            <a:picLocks noChangeAspect="1"/>
          </p:cNvPicPr>
          <p:nvPr/>
        </p:nvPicPr>
        <p:blipFill>
          <a:blip r:embed="rId2"/>
          <a:stretch>
            <a:fillRect/>
          </a:stretch>
        </p:blipFill>
        <p:spPr>
          <a:xfrm>
            <a:off x="6095997" y="-3164750"/>
            <a:ext cx="5" cy="13187500"/>
          </a:xfrm>
          <a:prstGeom prst="rect">
            <a:avLst/>
          </a:prstGeom>
        </p:spPr>
      </p:pic>
      <p:sp>
        <p:nvSpPr>
          <p:cNvPr id="3" name="Rectangle 2"/>
          <p:cNvSpPr/>
          <p:nvPr/>
        </p:nvSpPr>
        <p:spPr>
          <a:xfrm>
            <a:off x="678287" y="2039650"/>
            <a:ext cx="6096000" cy="1354217"/>
          </a:xfrm>
          <a:prstGeom prst="rect">
            <a:avLst/>
          </a:prstGeom>
        </p:spPr>
        <p:txBody>
          <a:bodyPr>
            <a:spAutoFit/>
          </a:bodyPr>
          <a:lstStyle/>
          <a:p>
            <a:r>
              <a:rPr lang="fr-FR" sz="1600" dirty="0">
                <a:solidFill>
                  <a:srgbClr val="0000FF"/>
                </a:solidFill>
                <a:latin typeface="Cascadia Mono" panose="020B0609020000020004" pitchFamily="49" charset="0"/>
              </a:rPr>
              <a:t>&lt;</a:t>
            </a:r>
            <a:r>
              <a:rPr lang="fr-FR" sz="1600" dirty="0" err="1">
                <a:solidFill>
                  <a:srgbClr val="A31515"/>
                </a:solidFill>
                <a:latin typeface="Cascadia Mono" panose="020B0609020000020004" pitchFamily="49" charset="0"/>
              </a:rPr>
              <a:t>Button</a:t>
            </a:r>
            <a:r>
              <a:rPr lang="fr-FR" sz="1600" dirty="0">
                <a:solidFill>
                  <a:srgbClr val="FF0000"/>
                </a:solidFill>
                <a:latin typeface="Cascadia Mono" panose="020B0609020000020004" pitchFamily="49" charset="0"/>
              </a:rPr>
              <a:t> </a:t>
            </a:r>
            <a:r>
              <a:rPr lang="fr-FR" sz="1600" dirty="0" err="1">
                <a:solidFill>
                  <a:srgbClr val="FF0000"/>
                </a:solidFill>
                <a:latin typeface="Cascadia Mono" panose="020B0609020000020004" pitchFamily="49" charset="0"/>
              </a:rPr>
              <a:t>ImageSource</a:t>
            </a:r>
            <a:r>
              <a:rPr lang="fr-FR" sz="1600" dirty="0">
                <a:solidFill>
                  <a:srgbClr val="0000FF"/>
                </a:solidFill>
                <a:latin typeface="Cascadia Mono" panose="020B0609020000020004" pitchFamily="49" charset="0"/>
              </a:rPr>
              <a:t>="</a:t>
            </a:r>
            <a:r>
              <a:rPr lang="fr-FR" sz="1600" dirty="0" err="1">
                <a:solidFill>
                  <a:srgbClr val="0000FF"/>
                </a:solidFill>
                <a:latin typeface="Cascadia Mono" panose="020B0609020000020004" pitchFamily="49" charset="0"/>
              </a:rPr>
              <a:t>dotnet_bot.svg</a:t>
            </a:r>
            <a:r>
              <a:rPr lang="fr-FR" sz="1600" dirty="0">
                <a:solidFill>
                  <a:srgbClr val="0000FF"/>
                </a:solidFill>
                <a:latin typeface="Cascadia Mono" panose="020B0609020000020004" pitchFamily="49" charset="0"/>
              </a:rPr>
              <a:t>"</a:t>
            </a:r>
            <a:r>
              <a:rPr lang="fr-FR" sz="1600" dirty="0">
                <a:solidFill>
                  <a:srgbClr val="000000"/>
                </a:solidFill>
                <a:latin typeface="Cascadia Mono" panose="020B0609020000020004" pitchFamily="49" charset="0"/>
              </a:rPr>
              <a:t> </a:t>
            </a:r>
          </a:p>
          <a:p>
            <a:r>
              <a:rPr lang="fr-FR" sz="1600" dirty="0">
                <a:solidFill>
                  <a:srgbClr val="000000"/>
                </a:solidFill>
                <a:latin typeface="Cascadia Mono" panose="020B0609020000020004" pitchFamily="49" charset="0"/>
              </a:rPr>
              <a:t>           </a:t>
            </a:r>
            <a:r>
              <a:rPr lang="fr-FR" sz="1600" dirty="0">
                <a:solidFill>
                  <a:srgbClr val="FF0000"/>
                </a:solidFill>
                <a:latin typeface="Cascadia Mono" panose="020B0609020000020004" pitchFamily="49" charset="0"/>
              </a:rPr>
              <a:t> VerticalOptions</a:t>
            </a:r>
            <a:r>
              <a:rPr lang="fr-FR" sz="1600" dirty="0">
                <a:solidFill>
                  <a:srgbClr val="0000FF"/>
                </a:solidFill>
                <a:latin typeface="Cascadia Mono" panose="020B0609020000020004" pitchFamily="49" charset="0"/>
              </a:rPr>
              <a:t>="Center"</a:t>
            </a:r>
            <a:endParaRPr lang="fr-FR" sz="1600" dirty="0">
              <a:solidFill>
                <a:srgbClr val="000000"/>
              </a:solidFill>
              <a:latin typeface="Cascadia Mono" panose="020B0609020000020004" pitchFamily="49" charset="0"/>
            </a:endParaRPr>
          </a:p>
          <a:p>
            <a:r>
              <a:rPr lang="fr-FR" sz="1600" dirty="0">
                <a:solidFill>
                  <a:srgbClr val="000000"/>
                </a:solidFill>
                <a:latin typeface="Cascadia Mono" panose="020B0609020000020004" pitchFamily="49" charset="0"/>
              </a:rPr>
              <a:t>           </a:t>
            </a:r>
            <a:r>
              <a:rPr lang="fr-FR" sz="1600" dirty="0">
                <a:solidFill>
                  <a:srgbClr val="FF0000"/>
                </a:solidFill>
                <a:latin typeface="Cascadia Mono" panose="020B0609020000020004" pitchFamily="49" charset="0"/>
              </a:rPr>
              <a:t> </a:t>
            </a:r>
            <a:r>
              <a:rPr lang="fr-FR" sz="1600" dirty="0" err="1">
                <a:solidFill>
                  <a:srgbClr val="FF0000"/>
                </a:solidFill>
                <a:latin typeface="Cascadia Mono" panose="020B0609020000020004" pitchFamily="49" charset="0"/>
              </a:rPr>
              <a:t>HorizontalOptions</a:t>
            </a:r>
            <a:r>
              <a:rPr lang="fr-FR" sz="1600" dirty="0">
                <a:solidFill>
                  <a:srgbClr val="0000FF"/>
                </a:solidFill>
                <a:latin typeface="Cascadia Mono" panose="020B0609020000020004" pitchFamily="49" charset="0"/>
              </a:rPr>
              <a:t>="Center"</a:t>
            </a:r>
            <a:endParaRPr lang="fr-FR" sz="1600" dirty="0">
              <a:solidFill>
                <a:srgbClr val="000000"/>
              </a:solidFill>
              <a:latin typeface="Cascadia Mono" panose="020B0609020000020004" pitchFamily="49" charset="0"/>
            </a:endParaRPr>
          </a:p>
          <a:p>
            <a:r>
              <a:rPr lang="fr-FR" sz="1600" dirty="0">
                <a:solidFill>
                  <a:srgbClr val="000000"/>
                </a:solidFill>
                <a:latin typeface="Cascadia Mono" panose="020B0609020000020004" pitchFamily="49" charset="0"/>
              </a:rPr>
              <a:t> </a:t>
            </a:r>
            <a:r>
              <a:rPr lang="fr-FR" sz="1600" dirty="0" smtClean="0">
                <a:solidFill>
                  <a:srgbClr val="000000"/>
                </a:solidFill>
                <a:latin typeface="Cascadia Mono" panose="020B0609020000020004" pitchFamily="49" charset="0"/>
              </a:rPr>
              <a:t>          </a:t>
            </a:r>
            <a:r>
              <a:rPr lang="fr-FR" sz="1600" dirty="0" smtClean="0">
                <a:solidFill>
                  <a:srgbClr val="FF0000"/>
                </a:solidFill>
                <a:latin typeface="Cascadia Mono" panose="020B0609020000020004" pitchFamily="49" charset="0"/>
              </a:rPr>
              <a:t> </a:t>
            </a:r>
            <a:r>
              <a:rPr lang="fr-FR" sz="1600" b="1" dirty="0">
                <a:solidFill>
                  <a:srgbClr val="FF0000"/>
                </a:solidFill>
                <a:effectLst>
                  <a:outerShdw blurRad="38100" dist="38100" dir="2700000" algn="tl">
                    <a:srgbClr val="000000">
                      <a:alpha val="43137"/>
                    </a:srgbClr>
                  </a:outerShdw>
                </a:effectLst>
                <a:latin typeface="Cascadia Mono" panose="020B0609020000020004" pitchFamily="49" charset="0"/>
              </a:rPr>
              <a:t>Clicked</a:t>
            </a:r>
            <a:r>
              <a:rPr lang="fr-FR" sz="1600" b="1" dirty="0">
                <a:solidFill>
                  <a:srgbClr val="0000FF"/>
                </a:solidFill>
                <a:effectLst>
                  <a:outerShdw blurRad="38100" dist="38100" dir="2700000" algn="tl">
                    <a:srgbClr val="000000">
                      <a:alpha val="43137"/>
                    </a:srgbClr>
                  </a:outerShdw>
                </a:effectLst>
                <a:latin typeface="Cascadia Mono" panose="020B0609020000020004" pitchFamily="49" charset="0"/>
              </a:rPr>
              <a:t>="</a:t>
            </a:r>
            <a:r>
              <a:rPr lang="fr-FR" sz="1600" b="1" dirty="0" err="1">
                <a:solidFill>
                  <a:srgbClr val="0000FF"/>
                </a:solidFill>
                <a:effectLst>
                  <a:outerShdw blurRad="38100" dist="38100" dir="2700000" algn="tl">
                    <a:srgbClr val="000000">
                      <a:alpha val="43137"/>
                    </a:srgbClr>
                  </a:outerShdw>
                </a:effectLst>
                <a:latin typeface="Cascadia Mono" panose="020B0609020000020004" pitchFamily="49" charset="0"/>
              </a:rPr>
              <a:t>Button_Clicked</a:t>
            </a:r>
            <a:r>
              <a:rPr lang="fr-FR" sz="1600" b="1" dirty="0">
                <a:solidFill>
                  <a:srgbClr val="0000FF"/>
                </a:solidFill>
                <a:effectLst>
                  <a:outerShdw blurRad="38100" dist="38100" dir="2700000" algn="tl">
                    <a:srgbClr val="000000">
                      <a:alpha val="43137"/>
                    </a:srgbClr>
                  </a:outerShdw>
                </a:effectLst>
                <a:latin typeface="Cascadia Mono" panose="020B0609020000020004" pitchFamily="49" charset="0"/>
              </a:rPr>
              <a:t>"</a:t>
            </a:r>
            <a:endParaRPr lang="fr-FR" sz="1600" b="1" dirty="0">
              <a:solidFill>
                <a:srgbClr val="000000"/>
              </a:solidFill>
              <a:effectLst>
                <a:outerShdw blurRad="38100" dist="38100" dir="2700000" algn="tl">
                  <a:srgbClr val="000000">
                    <a:alpha val="43137"/>
                  </a:srgbClr>
                </a:outerShdw>
              </a:effectLst>
              <a:latin typeface="Cascadia Mono" panose="020B0609020000020004" pitchFamily="49" charset="0"/>
            </a:endParaRPr>
          </a:p>
          <a:p>
            <a:r>
              <a:rPr lang="fr-FR" sz="1600" dirty="0">
                <a:solidFill>
                  <a:srgbClr val="000000"/>
                </a:solidFill>
                <a:latin typeface="Cascadia Mono" panose="020B0609020000020004" pitchFamily="49" charset="0"/>
              </a:rPr>
              <a:t>           </a:t>
            </a:r>
            <a:r>
              <a:rPr lang="fr-FR" sz="1600" dirty="0">
                <a:solidFill>
                  <a:srgbClr val="FF0000"/>
                </a:solidFill>
                <a:latin typeface="Cascadia Mono" panose="020B0609020000020004" pitchFamily="49" charset="0"/>
              </a:rPr>
              <a:t> </a:t>
            </a:r>
            <a:r>
              <a:rPr lang="fr-FR" sz="1600" dirty="0" err="1">
                <a:solidFill>
                  <a:srgbClr val="FF0000"/>
                </a:solidFill>
                <a:latin typeface="Cascadia Mono" panose="020B0609020000020004" pitchFamily="49" charset="0"/>
              </a:rPr>
              <a:t>Margin</a:t>
            </a:r>
            <a:r>
              <a:rPr lang="fr-FR" sz="1600" dirty="0">
                <a:solidFill>
                  <a:srgbClr val="0000FF"/>
                </a:solidFill>
                <a:latin typeface="Cascadia Mono" panose="020B0609020000020004" pitchFamily="49" charset="0"/>
              </a:rPr>
              <a:t>="20"/&gt;</a:t>
            </a:r>
            <a:endParaRPr lang="fr-FR" sz="1600" dirty="0"/>
          </a:p>
        </p:txBody>
      </p:sp>
      <p:sp>
        <p:nvSpPr>
          <p:cNvPr id="5" name="Rectangle 4"/>
          <p:cNvSpPr/>
          <p:nvPr/>
        </p:nvSpPr>
        <p:spPr>
          <a:xfrm>
            <a:off x="626771" y="4532015"/>
            <a:ext cx="6096000" cy="1200329"/>
          </a:xfrm>
          <a:prstGeom prst="rect">
            <a:avLst/>
          </a:prstGeom>
        </p:spPr>
        <p:txBody>
          <a:bodyPr>
            <a:spAutoFit/>
          </a:bodyPr>
          <a:lstStyle/>
          <a:p>
            <a:r>
              <a:rPr lang="fr-FR" sz="1400" dirty="0">
                <a:solidFill>
                  <a:srgbClr val="000000"/>
                </a:solidFill>
                <a:latin typeface="Cascadia Mono" panose="020B0609020000020004" pitchFamily="49" charset="0"/>
              </a:rPr>
              <a:t> </a:t>
            </a:r>
            <a:r>
              <a:rPr lang="fr-FR" sz="1400" dirty="0">
                <a:solidFill>
                  <a:srgbClr val="0000FF"/>
                </a:solidFill>
                <a:latin typeface="Cascadia Mono" panose="020B0609020000020004" pitchFamily="49" charset="0"/>
              </a:rPr>
              <a:t>&lt;</a:t>
            </a:r>
            <a:r>
              <a:rPr lang="fr-FR" sz="1400" dirty="0" err="1">
                <a:solidFill>
                  <a:srgbClr val="A31515"/>
                </a:solidFill>
                <a:latin typeface="Cascadia Mono" panose="020B0609020000020004" pitchFamily="49" charset="0"/>
              </a:rPr>
              <a:t>Button</a:t>
            </a:r>
            <a:r>
              <a:rPr lang="fr-FR" sz="1400" dirty="0">
                <a:solidFill>
                  <a:srgbClr val="FF0000"/>
                </a:solidFill>
                <a:latin typeface="Cascadia Mono" panose="020B0609020000020004" pitchFamily="49" charset="0"/>
              </a:rPr>
              <a:t> </a:t>
            </a:r>
            <a:r>
              <a:rPr lang="fr-FR" sz="1400" dirty="0" err="1">
                <a:solidFill>
                  <a:srgbClr val="FF0000"/>
                </a:solidFill>
                <a:latin typeface="Cascadia Mono" panose="020B0609020000020004" pitchFamily="49" charset="0"/>
              </a:rPr>
              <a:t>ImageSource</a:t>
            </a:r>
            <a:r>
              <a:rPr lang="fr-FR" sz="1400" dirty="0">
                <a:solidFill>
                  <a:srgbClr val="0000FF"/>
                </a:solidFill>
                <a:latin typeface="Cascadia Mono" panose="020B0609020000020004" pitchFamily="49" charset="0"/>
              </a:rPr>
              <a:t>="</a:t>
            </a:r>
            <a:r>
              <a:rPr lang="fr-FR" sz="1400" dirty="0" err="1">
                <a:solidFill>
                  <a:srgbClr val="0000FF"/>
                </a:solidFill>
                <a:latin typeface="Cascadia Mono" panose="020B0609020000020004" pitchFamily="49" charset="0"/>
              </a:rPr>
              <a:t>dotnet_bot.svg</a:t>
            </a:r>
            <a:r>
              <a:rPr lang="fr-FR" sz="1400" dirty="0">
                <a:solidFill>
                  <a:srgbClr val="0000FF"/>
                </a:solidFill>
                <a:latin typeface="Cascadia Mono" panose="020B0609020000020004" pitchFamily="49" charset="0"/>
              </a:rPr>
              <a:t>"</a:t>
            </a:r>
            <a:r>
              <a:rPr lang="fr-FR" sz="1400" dirty="0">
                <a:solidFill>
                  <a:srgbClr val="000000"/>
                </a:solidFill>
                <a:latin typeface="Cascadia Mono" panose="020B0609020000020004" pitchFamily="49" charset="0"/>
              </a:rPr>
              <a:t> </a:t>
            </a:r>
          </a:p>
          <a:p>
            <a:r>
              <a:rPr lang="fr-FR" sz="1400" dirty="0">
                <a:solidFill>
                  <a:srgbClr val="000000"/>
                </a:solidFill>
                <a:latin typeface="Cascadia Mono" panose="020B0609020000020004" pitchFamily="49" charset="0"/>
              </a:rPr>
              <a:t>           </a:t>
            </a:r>
            <a:r>
              <a:rPr lang="fr-FR" sz="1400" dirty="0">
                <a:solidFill>
                  <a:srgbClr val="FF0000"/>
                </a:solidFill>
                <a:latin typeface="Cascadia Mono" panose="020B0609020000020004" pitchFamily="49" charset="0"/>
              </a:rPr>
              <a:t> VerticalOptions</a:t>
            </a:r>
            <a:r>
              <a:rPr lang="fr-FR" sz="1400" dirty="0">
                <a:solidFill>
                  <a:srgbClr val="0000FF"/>
                </a:solidFill>
                <a:latin typeface="Cascadia Mono" panose="020B0609020000020004" pitchFamily="49" charset="0"/>
              </a:rPr>
              <a:t>="Center"</a:t>
            </a:r>
            <a:endParaRPr lang="fr-FR" sz="1400" dirty="0">
              <a:solidFill>
                <a:srgbClr val="000000"/>
              </a:solidFill>
              <a:latin typeface="Cascadia Mono" panose="020B0609020000020004" pitchFamily="49" charset="0"/>
            </a:endParaRPr>
          </a:p>
          <a:p>
            <a:r>
              <a:rPr lang="fr-FR" sz="1400" dirty="0">
                <a:solidFill>
                  <a:srgbClr val="000000"/>
                </a:solidFill>
                <a:latin typeface="Cascadia Mono" panose="020B0609020000020004" pitchFamily="49" charset="0"/>
              </a:rPr>
              <a:t>           </a:t>
            </a:r>
            <a:r>
              <a:rPr lang="fr-FR" sz="1400" dirty="0">
                <a:solidFill>
                  <a:srgbClr val="FF0000"/>
                </a:solidFill>
                <a:latin typeface="Cascadia Mono" panose="020B0609020000020004" pitchFamily="49" charset="0"/>
              </a:rPr>
              <a:t> </a:t>
            </a:r>
            <a:r>
              <a:rPr lang="fr-FR" sz="1400" dirty="0" err="1">
                <a:solidFill>
                  <a:srgbClr val="FF0000"/>
                </a:solidFill>
                <a:latin typeface="Cascadia Mono" panose="020B0609020000020004" pitchFamily="49" charset="0"/>
              </a:rPr>
              <a:t>HorizontalOptions</a:t>
            </a:r>
            <a:r>
              <a:rPr lang="fr-FR" sz="1400" dirty="0">
                <a:solidFill>
                  <a:srgbClr val="0000FF"/>
                </a:solidFill>
                <a:latin typeface="Cascadia Mono" panose="020B0609020000020004" pitchFamily="49" charset="0"/>
              </a:rPr>
              <a:t>="Center"</a:t>
            </a:r>
            <a:endParaRPr lang="fr-FR" sz="1400" dirty="0">
              <a:solidFill>
                <a:srgbClr val="000000"/>
              </a:solidFill>
              <a:latin typeface="Cascadia Mono" panose="020B0609020000020004" pitchFamily="49" charset="0"/>
            </a:endParaRPr>
          </a:p>
          <a:p>
            <a:r>
              <a:rPr lang="fr-FR" sz="1400" dirty="0">
                <a:solidFill>
                  <a:srgbClr val="000000"/>
                </a:solidFill>
                <a:latin typeface="Cascadia Mono" panose="020B0609020000020004" pitchFamily="49" charset="0"/>
              </a:rPr>
              <a:t>           </a:t>
            </a:r>
            <a:r>
              <a:rPr lang="fr-FR" sz="1400" dirty="0">
                <a:solidFill>
                  <a:srgbClr val="FF0000"/>
                </a:solidFill>
                <a:latin typeface="Cascadia Mono" panose="020B0609020000020004" pitchFamily="49" charset="0"/>
              </a:rPr>
              <a:t> </a:t>
            </a:r>
            <a:r>
              <a:rPr lang="fr-FR" sz="1600" b="1" dirty="0">
                <a:solidFill>
                  <a:srgbClr val="FF0000"/>
                </a:solidFill>
                <a:effectLst>
                  <a:outerShdw blurRad="38100" dist="38100" dir="2700000" algn="tl">
                    <a:srgbClr val="000000">
                      <a:alpha val="43137"/>
                    </a:srgbClr>
                  </a:outerShdw>
                </a:effectLst>
                <a:latin typeface="Cascadia Mono" panose="020B0609020000020004" pitchFamily="49" charset="0"/>
              </a:rPr>
              <a:t>Command</a:t>
            </a:r>
            <a:r>
              <a:rPr lang="fr-FR" sz="1600" b="1" dirty="0">
                <a:solidFill>
                  <a:srgbClr val="0000FF"/>
                </a:solidFill>
                <a:effectLst>
                  <a:outerShdw blurRad="38100" dist="38100" dir="2700000" algn="tl">
                    <a:srgbClr val="000000">
                      <a:alpha val="43137"/>
                    </a:srgbClr>
                  </a:outerShdw>
                </a:effectLst>
                <a:latin typeface="Cascadia Mono" panose="020B0609020000020004" pitchFamily="49" charset="0"/>
              </a:rPr>
              <a:t>="{</a:t>
            </a:r>
            <a:r>
              <a:rPr lang="fr-FR" sz="1600" b="1" dirty="0">
                <a:solidFill>
                  <a:srgbClr val="A31515"/>
                </a:solidFill>
                <a:effectLst>
                  <a:outerShdw blurRad="38100" dist="38100" dir="2700000" algn="tl">
                    <a:srgbClr val="000000">
                      <a:alpha val="43137"/>
                    </a:srgbClr>
                  </a:outerShdw>
                </a:effectLst>
                <a:latin typeface="Cascadia Mono" panose="020B0609020000020004" pitchFamily="49" charset="0"/>
              </a:rPr>
              <a:t>Binding</a:t>
            </a:r>
            <a:r>
              <a:rPr lang="fr-FR" sz="1600" b="1" dirty="0">
                <a:solidFill>
                  <a:srgbClr val="FF0000"/>
                </a:solidFill>
                <a:effectLst>
                  <a:outerShdw blurRad="38100" dist="38100" dir="2700000" algn="tl">
                    <a:srgbClr val="000000">
                      <a:alpha val="43137"/>
                    </a:srgbClr>
                  </a:outerShdw>
                </a:effectLst>
                <a:latin typeface="Cascadia Mono" panose="020B0609020000020004" pitchFamily="49" charset="0"/>
              </a:rPr>
              <a:t> </a:t>
            </a:r>
            <a:r>
              <a:rPr lang="fr-FR" sz="1600" b="1" dirty="0" err="1">
                <a:solidFill>
                  <a:srgbClr val="FF0000"/>
                </a:solidFill>
                <a:effectLst>
                  <a:outerShdw blurRad="38100" dist="38100" dir="2700000" algn="tl">
                    <a:srgbClr val="000000">
                      <a:alpha val="43137"/>
                    </a:srgbClr>
                  </a:outerShdw>
                </a:effectLst>
                <a:latin typeface="Cascadia Mono" panose="020B0609020000020004" pitchFamily="49" charset="0"/>
              </a:rPr>
              <a:t>ClickedCmd</a:t>
            </a:r>
            <a:r>
              <a:rPr lang="fr-FR" sz="1600" b="1" dirty="0">
                <a:solidFill>
                  <a:srgbClr val="0000FF"/>
                </a:solidFill>
                <a:effectLst>
                  <a:outerShdw blurRad="38100" dist="38100" dir="2700000" algn="tl">
                    <a:srgbClr val="000000">
                      <a:alpha val="43137"/>
                    </a:srgbClr>
                  </a:outerShdw>
                </a:effectLst>
                <a:latin typeface="Cascadia Mono" panose="020B0609020000020004" pitchFamily="49" charset="0"/>
              </a:rPr>
              <a:t>}"</a:t>
            </a:r>
            <a:endParaRPr lang="fr-FR" sz="1600" b="1" dirty="0">
              <a:solidFill>
                <a:srgbClr val="000000"/>
              </a:solidFill>
              <a:effectLst>
                <a:outerShdw blurRad="38100" dist="38100" dir="2700000" algn="tl">
                  <a:srgbClr val="000000">
                    <a:alpha val="43137"/>
                  </a:srgbClr>
                </a:outerShdw>
              </a:effectLst>
              <a:latin typeface="Cascadia Mono" panose="020B0609020000020004" pitchFamily="49" charset="0"/>
            </a:endParaRPr>
          </a:p>
          <a:p>
            <a:r>
              <a:rPr lang="fr-FR" sz="1400" dirty="0">
                <a:solidFill>
                  <a:srgbClr val="000000"/>
                </a:solidFill>
                <a:latin typeface="Cascadia Mono" panose="020B0609020000020004" pitchFamily="49" charset="0"/>
              </a:rPr>
              <a:t>           </a:t>
            </a:r>
            <a:r>
              <a:rPr lang="fr-FR" sz="1400" dirty="0">
                <a:solidFill>
                  <a:srgbClr val="FF0000"/>
                </a:solidFill>
                <a:latin typeface="Cascadia Mono" panose="020B0609020000020004" pitchFamily="49" charset="0"/>
              </a:rPr>
              <a:t> </a:t>
            </a:r>
            <a:r>
              <a:rPr lang="fr-FR" sz="1400" dirty="0" err="1">
                <a:solidFill>
                  <a:srgbClr val="FF0000"/>
                </a:solidFill>
                <a:latin typeface="Cascadia Mono" panose="020B0609020000020004" pitchFamily="49" charset="0"/>
              </a:rPr>
              <a:t>Margin</a:t>
            </a:r>
            <a:r>
              <a:rPr lang="fr-FR" sz="1400" dirty="0">
                <a:solidFill>
                  <a:srgbClr val="0000FF"/>
                </a:solidFill>
                <a:latin typeface="Cascadia Mono" panose="020B0609020000020004" pitchFamily="49" charset="0"/>
              </a:rPr>
              <a:t>="20"/&gt;</a:t>
            </a:r>
            <a:endParaRPr lang="fr-FR" sz="1400" dirty="0"/>
          </a:p>
        </p:txBody>
      </p:sp>
    </p:spTree>
    <p:extLst>
      <p:ext uri="{BB962C8B-B14F-4D97-AF65-F5344CB8AC3E}">
        <p14:creationId xmlns:p14="http://schemas.microsoft.com/office/powerpoint/2010/main" val="27423574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8"/>
          <p:cNvSpPr txBox="1">
            <a:spLocks noChangeArrowheads="1"/>
          </p:cNvSpPr>
          <p:nvPr/>
        </p:nvSpPr>
        <p:spPr bwMode="auto">
          <a:xfrm>
            <a:off x="392834" y="488311"/>
            <a:ext cx="6329937" cy="959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152400">
              <a:tabLst>
                <a:tab pos="5992813" algn="l"/>
              </a:tabLst>
              <a:defRPr>
                <a:solidFill>
                  <a:schemeClr val="tx1"/>
                </a:solidFill>
                <a:latin typeface="Calibri" panose="020F0502020204030204" pitchFamily="34" charset="0"/>
                <a:cs typeface="Arial" panose="020B0604020202020204" pitchFamily="34" charset="0"/>
              </a:defRPr>
            </a:lvl1pPr>
            <a:lvl2pPr marL="579438" indent="-242888">
              <a:tabLst>
                <a:tab pos="5992813" algn="l"/>
              </a:tabLst>
              <a:defRPr>
                <a:solidFill>
                  <a:schemeClr val="tx1"/>
                </a:solidFill>
                <a:latin typeface="Calibri" panose="020F0502020204030204" pitchFamily="34" charset="0"/>
                <a:cs typeface="Arial" panose="020B0604020202020204" pitchFamily="34" charset="0"/>
              </a:defRPr>
            </a:lvl2pPr>
            <a:lvl3pPr marL="1143000" indent="-228600">
              <a:tabLst>
                <a:tab pos="5992813" algn="l"/>
              </a:tabLst>
              <a:defRPr>
                <a:solidFill>
                  <a:schemeClr val="tx1"/>
                </a:solidFill>
                <a:latin typeface="Calibri" panose="020F0502020204030204" pitchFamily="34" charset="0"/>
                <a:cs typeface="Arial" panose="020B0604020202020204" pitchFamily="34" charset="0"/>
              </a:defRPr>
            </a:lvl3pPr>
            <a:lvl4pPr marL="1600200" indent="-228600">
              <a:tabLst>
                <a:tab pos="5992813" algn="l"/>
              </a:tabLst>
              <a:defRPr>
                <a:solidFill>
                  <a:schemeClr val="tx1"/>
                </a:solidFill>
                <a:latin typeface="Calibri" panose="020F0502020204030204" pitchFamily="34" charset="0"/>
                <a:cs typeface="Arial" panose="020B0604020202020204" pitchFamily="34" charset="0"/>
              </a:defRPr>
            </a:lvl4pPr>
            <a:lvl5pPr marL="2057400" indent="-228600">
              <a:tabLst>
                <a:tab pos="5992813" algn="l"/>
              </a:tabLst>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2200" u="sng" dirty="0" smtClean="0">
                <a:latin typeface="Segoe UI Symbol" panose="020B0502040204020203" pitchFamily="34" charset="0"/>
              </a:rPr>
              <a:t>Les </a:t>
            </a:r>
            <a:r>
              <a:rPr lang="en-US" altLang="en-US" sz="2200" u="sng" dirty="0" err="1" smtClean="0">
                <a:latin typeface="Segoe UI Symbol" panose="020B0502040204020203" pitchFamily="34" charset="0"/>
              </a:rPr>
              <a:t>contrôles</a:t>
            </a:r>
            <a:r>
              <a:rPr lang="en-US" altLang="en-US" sz="2200" u="sng" dirty="0" smtClean="0">
                <a:latin typeface="Segoe UI Symbol" panose="020B0502040204020203" pitchFamily="34" charset="0"/>
              </a:rPr>
              <a:t> de </a:t>
            </a:r>
            <a:r>
              <a:rPr lang="en-US" altLang="en-US" sz="2200" u="sng" dirty="0" err="1" smtClean="0">
                <a:latin typeface="Segoe UI Symbol" panose="020B0502040204020203" pitchFamily="34" charset="0"/>
              </a:rPr>
              <a:t>commande</a:t>
            </a:r>
            <a:r>
              <a:rPr lang="fr-FR" altLang="en-US" sz="2200" u="sng" dirty="0" smtClean="0">
                <a:latin typeface="Segoe UI Symbol" panose="020B0502040204020203" pitchFamily="34" charset="0"/>
              </a:rPr>
              <a:t>-</a:t>
            </a:r>
            <a:r>
              <a:rPr lang="fr-FR" altLang="en-US" sz="2200" u="sng" dirty="0" err="1" smtClean="0">
                <a:latin typeface="Segoe UI Symbol" panose="020B0502040204020203" pitchFamily="34" charset="0"/>
              </a:rPr>
              <a:t>ImageButton</a:t>
            </a:r>
            <a:endParaRPr lang="fr-FR" altLang="en-US" sz="2200" dirty="0" smtClean="0">
              <a:latin typeface="Times New Roman" panose="02020603050405020304" pitchFamily="18" charset="0"/>
              <a:cs typeface="Times New Roman" panose="02020603050405020304" pitchFamily="18" charset="0"/>
            </a:endParaRPr>
          </a:p>
          <a:p>
            <a:pPr>
              <a:lnSpc>
                <a:spcPct val="150000"/>
              </a:lnSpc>
              <a:spcBef>
                <a:spcPts val="1625"/>
              </a:spcBef>
              <a:buClr>
                <a:srgbClr val="006498"/>
              </a:buClr>
              <a:buSzPct val="61000"/>
              <a:buFont typeface="Wingdings" panose="05000000000000000000" pitchFamily="2" charset="2"/>
              <a:buChar char=""/>
            </a:pPr>
            <a:r>
              <a:rPr lang="fr-FR" dirty="0" smtClean="0">
                <a:latin typeface="Segoe UI" panose="020B0502040204020203" pitchFamily="34" charset="0"/>
                <a:cs typeface="Segoe UI" panose="020B0502040204020203" pitchFamily="34" charset="0"/>
              </a:rPr>
              <a:t>Ce contrôle est similaire au contrôle </a:t>
            </a:r>
            <a:r>
              <a:rPr lang="fr-FR" dirty="0" err="1" smtClean="0">
                <a:latin typeface="Segoe UI" panose="020B0502040204020203" pitchFamily="34" charset="0"/>
                <a:cs typeface="Segoe UI" panose="020B0502040204020203" pitchFamily="34" charset="0"/>
              </a:rPr>
              <a:t>Button</a:t>
            </a:r>
            <a:endParaRPr lang="fr-FR" dirty="0" smtClean="0">
              <a:latin typeface="Segoe UI" panose="020B0502040204020203" pitchFamily="34" charset="0"/>
              <a:cs typeface="Segoe UI" panose="020B0502040204020203" pitchFamily="34" charset="0"/>
            </a:endParaRPr>
          </a:p>
        </p:txBody>
      </p:sp>
      <p:pic>
        <p:nvPicPr>
          <p:cNvPr id="4" name="Image 3"/>
          <p:cNvPicPr>
            <a:picLocks noChangeAspect="1"/>
          </p:cNvPicPr>
          <p:nvPr/>
        </p:nvPicPr>
        <p:blipFill>
          <a:blip r:embed="rId2"/>
          <a:stretch>
            <a:fillRect/>
          </a:stretch>
        </p:blipFill>
        <p:spPr>
          <a:xfrm>
            <a:off x="6095997" y="-3164750"/>
            <a:ext cx="5" cy="13187500"/>
          </a:xfrm>
          <a:prstGeom prst="rect">
            <a:avLst/>
          </a:prstGeom>
        </p:spPr>
      </p:pic>
      <p:sp>
        <p:nvSpPr>
          <p:cNvPr id="8" name="Rectangle 7"/>
          <p:cNvSpPr/>
          <p:nvPr/>
        </p:nvSpPr>
        <p:spPr>
          <a:xfrm>
            <a:off x="509802" y="1595426"/>
            <a:ext cx="6096000" cy="1384995"/>
          </a:xfrm>
          <a:prstGeom prst="rect">
            <a:avLst/>
          </a:prstGeom>
        </p:spPr>
        <p:txBody>
          <a:bodyPr>
            <a:spAutoFit/>
          </a:bodyPr>
          <a:lstStyle/>
          <a:p>
            <a:r>
              <a:rPr lang="fr-FR" sz="1400" dirty="0">
                <a:solidFill>
                  <a:srgbClr val="000000"/>
                </a:solidFill>
                <a:latin typeface="Cascadia Mono" panose="020B0609020000020004" pitchFamily="49" charset="0"/>
              </a:rPr>
              <a:t> </a:t>
            </a:r>
            <a:r>
              <a:rPr lang="fr-FR" sz="1400" dirty="0">
                <a:solidFill>
                  <a:srgbClr val="0000FF"/>
                </a:solidFill>
                <a:latin typeface="Cascadia Mono" panose="020B0609020000020004" pitchFamily="49" charset="0"/>
              </a:rPr>
              <a:t>&lt;</a:t>
            </a:r>
            <a:r>
              <a:rPr lang="fr-FR" sz="1400" dirty="0" err="1">
                <a:solidFill>
                  <a:srgbClr val="A31515"/>
                </a:solidFill>
                <a:latin typeface="Cascadia Mono" panose="020B0609020000020004" pitchFamily="49" charset="0"/>
              </a:rPr>
              <a:t>StackLayout</a:t>
            </a:r>
            <a:r>
              <a:rPr lang="fr-FR" sz="1400" dirty="0">
                <a:solidFill>
                  <a:srgbClr val="0000FF"/>
                </a:solidFill>
                <a:latin typeface="Cascadia Mono" panose="020B0609020000020004" pitchFamily="49" charset="0"/>
              </a:rPr>
              <a:t>&gt;</a:t>
            </a:r>
            <a:endParaRPr lang="fr-FR" sz="1400" dirty="0">
              <a:solidFill>
                <a:srgbClr val="000000"/>
              </a:solidFill>
              <a:latin typeface="Cascadia Mono" panose="020B0609020000020004" pitchFamily="49" charset="0"/>
            </a:endParaRPr>
          </a:p>
          <a:p>
            <a:r>
              <a:rPr lang="fr-FR" sz="1400" dirty="0">
                <a:solidFill>
                  <a:srgbClr val="000000"/>
                </a:solidFill>
                <a:latin typeface="Cascadia Mono" panose="020B0609020000020004" pitchFamily="49" charset="0"/>
              </a:rPr>
              <a:t>        </a:t>
            </a:r>
            <a:r>
              <a:rPr lang="fr-FR" sz="1400" dirty="0">
                <a:solidFill>
                  <a:srgbClr val="0000FF"/>
                </a:solidFill>
                <a:latin typeface="Cascadia Mono" panose="020B0609020000020004" pitchFamily="49" charset="0"/>
              </a:rPr>
              <a:t>&lt;</a:t>
            </a:r>
            <a:r>
              <a:rPr lang="fr-FR" sz="1400" dirty="0" err="1">
                <a:solidFill>
                  <a:srgbClr val="A31515"/>
                </a:solidFill>
                <a:latin typeface="Cascadia Mono" panose="020B0609020000020004" pitchFamily="49" charset="0"/>
              </a:rPr>
              <a:t>ImageButton</a:t>
            </a:r>
            <a:r>
              <a:rPr lang="fr-FR" sz="1400" dirty="0">
                <a:solidFill>
                  <a:srgbClr val="FF0000"/>
                </a:solidFill>
                <a:latin typeface="Cascadia Mono" panose="020B0609020000020004" pitchFamily="49" charset="0"/>
              </a:rPr>
              <a:t> Source</a:t>
            </a:r>
            <a:r>
              <a:rPr lang="fr-FR" sz="1400" dirty="0">
                <a:solidFill>
                  <a:srgbClr val="0000FF"/>
                </a:solidFill>
                <a:latin typeface="Cascadia Mono" panose="020B0609020000020004" pitchFamily="49" charset="0"/>
              </a:rPr>
              <a:t>="image.png"</a:t>
            </a:r>
            <a:endParaRPr lang="fr-FR" sz="1400" dirty="0">
              <a:solidFill>
                <a:srgbClr val="000000"/>
              </a:solidFill>
              <a:latin typeface="Cascadia Mono" panose="020B0609020000020004" pitchFamily="49" charset="0"/>
            </a:endParaRPr>
          </a:p>
          <a:p>
            <a:r>
              <a:rPr lang="fr-FR" sz="1400" dirty="0">
                <a:solidFill>
                  <a:srgbClr val="000000"/>
                </a:solidFill>
                <a:latin typeface="Cascadia Mono" panose="020B0609020000020004" pitchFamily="49" charset="0"/>
              </a:rPr>
              <a:t>                   </a:t>
            </a:r>
            <a:r>
              <a:rPr lang="fr-FR" sz="1400" dirty="0">
                <a:solidFill>
                  <a:srgbClr val="FF0000"/>
                </a:solidFill>
                <a:latin typeface="Cascadia Mono" panose="020B0609020000020004" pitchFamily="49" charset="0"/>
              </a:rPr>
              <a:t> Clicked</a:t>
            </a:r>
            <a:r>
              <a:rPr lang="fr-FR" sz="1400" dirty="0">
                <a:solidFill>
                  <a:srgbClr val="0000FF"/>
                </a:solidFill>
                <a:latin typeface="Cascadia Mono" panose="020B0609020000020004" pitchFamily="49" charset="0"/>
              </a:rPr>
              <a:t>="</a:t>
            </a:r>
            <a:r>
              <a:rPr lang="fr-FR" sz="1400" dirty="0" err="1">
                <a:solidFill>
                  <a:srgbClr val="0000FF"/>
                </a:solidFill>
                <a:latin typeface="Cascadia Mono" panose="020B0609020000020004" pitchFamily="49" charset="0"/>
              </a:rPr>
              <a:t>OnImageButtonClicked</a:t>
            </a:r>
            <a:r>
              <a:rPr lang="fr-FR" sz="1400" dirty="0">
                <a:solidFill>
                  <a:srgbClr val="0000FF"/>
                </a:solidFill>
                <a:latin typeface="Cascadia Mono" panose="020B0609020000020004" pitchFamily="49" charset="0"/>
              </a:rPr>
              <a:t>"</a:t>
            </a:r>
            <a:endParaRPr lang="fr-FR" sz="1400" dirty="0">
              <a:solidFill>
                <a:srgbClr val="000000"/>
              </a:solidFill>
              <a:latin typeface="Cascadia Mono" panose="020B0609020000020004" pitchFamily="49" charset="0"/>
            </a:endParaRPr>
          </a:p>
          <a:p>
            <a:r>
              <a:rPr lang="fr-FR" sz="1400" dirty="0">
                <a:solidFill>
                  <a:srgbClr val="000000"/>
                </a:solidFill>
                <a:latin typeface="Cascadia Mono" panose="020B0609020000020004" pitchFamily="49" charset="0"/>
              </a:rPr>
              <a:t>                   </a:t>
            </a:r>
            <a:r>
              <a:rPr lang="fr-FR" sz="1400" dirty="0">
                <a:solidFill>
                  <a:srgbClr val="FF0000"/>
                </a:solidFill>
                <a:latin typeface="Cascadia Mono" panose="020B0609020000020004" pitchFamily="49" charset="0"/>
              </a:rPr>
              <a:t> </a:t>
            </a:r>
            <a:r>
              <a:rPr lang="fr-FR" sz="1400" dirty="0" err="1">
                <a:solidFill>
                  <a:srgbClr val="FF0000"/>
                </a:solidFill>
                <a:latin typeface="Cascadia Mono" panose="020B0609020000020004" pitchFamily="49" charset="0"/>
              </a:rPr>
              <a:t>HorizontalOptions</a:t>
            </a:r>
            <a:r>
              <a:rPr lang="fr-FR" sz="1400" dirty="0">
                <a:solidFill>
                  <a:srgbClr val="0000FF"/>
                </a:solidFill>
                <a:latin typeface="Cascadia Mono" panose="020B0609020000020004" pitchFamily="49" charset="0"/>
              </a:rPr>
              <a:t>="Center"</a:t>
            </a:r>
            <a:endParaRPr lang="fr-FR" sz="1400" dirty="0">
              <a:solidFill>
                <a:srgbClr val="000000"/>
              </a:solidFill>
              <a:latin typeface="Cascadia Mono" panose="020B0609020000020004" pitchFamily="49" charset="0"/>
            </a:endParaRPr>
          </a:p>
          <a:p>
            <a:r>
              <a:rPr lang="fr-FR" sz="1400" dirty="0">
                <a:solidFill>
                  <a:srgbClr val="000000"/>
                </a:solidFill>
                <a:latin typeface="Cascadia Mono" panose="020B0609020000020004" pitchFamily="49" charset="0"/>
              </a:rPr>
              <a:t>                   </a:t>
            </a:r>
            <a:r>
              <a:rPr lang="fr-FR" sz="1400" dirty="0">
                <a:solidFill>
                  <a:srgbClr val="FF0000"/>
                </a:solidFill>
                <a:latin typeface="Cascadia Mono" panose="020B0609020000020004" pitchFamily="49" charset="0"/>
              </a:rPr>
              <a:t> VerticalOptions</a:t>
            </a:r>
            <a:r>
              <a:rPr lang="fr-FR" sz="1400" dirty="0">
                <a:solidFill>
                  <a:srgbClr val="0000FF"/>
                </a:solidFill>
                <a:latin typeface="Cascadia Mono" panose="020B0609020000020004" pitchFamily="49" charset="0"/>
              </a:rPr>
              <a:t>="Center" /&gt;</a:t>
            </a:r>
            <a:endParaRPr lang="fr-FR" sz="1400" dirty="0">
              <a:solidFill>
                <a:srgbClr val="000000"/>
              </a:solidFill>
              <a:latin typeface="Cascadia Mono" panose="020B0609020000020004" pitchFamily="49" charset="0"/>
            </a:endParaRPr>
          </a:p>
          <a:p>
            <a:r>
              <a:rPr lang="fr-FR" sz="1400" dirty="0">
                <a:solidFill>
                  <a:srgbClr val="000000"/>
                </a:solidFill>
                <a:latin typeface="Cascadia Mono" panose="020B0609020000020004" pitchFamily="49" charset="0"/>
              </a:rPr>
              <a:t>    </a:t>
            </a:r>
            <a:r>
              <a:rPr lang="fr-FR" sz="1400" dirty="0">
                <a:solidFill>
                  <a:srgbClr val="0000FF"/>
                </a:solidFill>
                <a:latin typeface="Cascadia Mono" panose="020B0609020000020004" pitchFamily="49" charset="0"/>
              </a:rPr>
              <a:t>&lt;/</a:t>
            </a:r>
            <a:r>
              <a:rPr lang="fr-FR" sz="1400" dirty="0" err="1">
                <a:solidFill>
                  <a:srgbClr val="A31515"/>
                </a:solidFill>
                <a:latin typeface="Cascadia Mono" panose="020B0609020000020004" pitchFamily="49" charset="0"/>
              </a:rPr>
              <a:t>StackLayout</a:t>
            </a:r>
            <a:r>
              <a:rPr lang="fr-FR" sz="1400" dirty="0">
                <a:solidFill>
                  <a:srgbClr val="0000FF"/>
                </a:solidFill>
                <a:latin typeface="Cascadia Mono" panose="020B0609020000020004" pitchFamily="49" charset="0"/>
              </a:rPr>
              <a:t>&gt;</a:t>
            </a:r>
            <a:endParaRPr lang="fr-FR" sz="1400" dirty="0"/>
          </a:p>
        </p:txBody>
      </p:sp>
    </p:spTree>
    <p:extLst>
      <p:ext uri="{BB962C8B-B14F-4D97-AF65-F5344CB8AC3E}">
        <p14:creationId xmlns:p14="http://schemas.microsoft.com/office/powerpoint/2010/main" val="19664490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8"/>
          <p:cNvSpPr txBox="1">
            <a:spLocks noChangeArrowheads="1"/>
          </p:cNvSpPr>
          <p:nvPr/>
        </p:nvSpPr>
        <p:spPr bwMode="auto">
          <a:xfrm>
            <a:off x="392834" y="488311"/>
            <a:ext cx="6780698" cy="5309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152400">
              <a:tabLst>
                <a:tab pos="5992813" algn="l"/>
              </a:tabLst>
              <a:defRPr>
                <a:solidFill>
                  <a:schemeClr val="tx1"/>
                </a:solidFill>
                <a:latin typeface="Calibri" panose="020F0502020204030204" pitchFamily="34" charset="0"/>
                <a:cs typeface="Arial" panose="020B0604020202020204" pitchFamily="34" charset="0"/>
              </a:defRPr>
            </a:lvl1pPr>
            <a:lvl2pPr marL="579438" indent="-242888">
              <a:tabLst>
                <a:tab pos="5992813" algn="l"/>
              </a:tabLst>
              <a:defRPr>
                <a:solidFill>
                  <a:schemeClr val="tx1"/>
                </a:solidFill>
                <a:latin typeface="Calibri" panose="020F0502020204030204" pitchFamily="34" charset="0"/>
                <a:cs typeface="Arial" panose="020B0604020202020204" pitchFamily="34" charset="0"/>
              </a:defRPr>
            </a:lvl2pPr>
            <a:lvl3pPr marL="1143000" indent="-228600">
              <a:tabLst>
                <a:tab pos="5992813" algn="l"/>
              </a:tabLst>
              <a:defRPr>
                <a:solidFill>
                  <a:schemeClr val="tx1"/>
                </a:solidFill>
                <a:latin typeface="Calibri" panose="020F0502020204030204" pitchFamily="34" charset="0"/>
                <a:cs typeface="Arial" panose="020B0604020202020204" pitchFamily="34" charset="0"/>
              </a:defRPr>
            </a:lvl3pPr>
            <a:lvl4pPr marL="1600200" indent="-228600">
              <a:tabLst>
                <a:tab pos="5992813" algn="l"/>
              </a:tabLst>
              <a:defRPr>
                <a:solidFill>
                  <a:schemeClr val="tx1"/>
                </a:solidFill>
                <a:latin typeface="Calibri" panose="020F0502020204030204" pitchFamily="34" charset="0"/>
                <a:cs typeface="Arial" panose="020B0604020202020204" pitchFamily="34" charset="0"/>
              </a:defRPr>
            </a:lvl4pPr>
            <a:lvl5pPr marL="2057400" indent="-228600">
              <a:tabLst>
                <a:tab pos="5992813" algn="l"/>
              </a:tabLst>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2200" u="sng" dirty="0" smtClean="0">
                <a:latin typeface="Segoe UI Symbol" panose="020B0502040204020203" pitchFamily="34" charset="0"/>
              </a:rPr>
              <a:t>Les </a:t>
            </a:r>
            <a:r>
              <a:rPr lang="en-US" altLang="en-US" sz="2200" u="sng" dirty="0" err="1" smtClean="0">
                <a:latin typeface="Segoe UI Symbol" panose="020B0502040204020203" pitchFamily="34" charset="0"/>
              </a:rPr>
              <a:t>contrôles</a:t>
            </a:r>
            <a:r>
              <a:rPr lang="en-US" altLang="en-US" sz="2200" u="sng" dirty="0" smtClean="0">
                <a:latin typeface="Segoe UI Symbol" panose="020B0502040204020203" pitchFamily="34" charset="0"/>
              </a:rPr>
              <a:t> de </a:t>
            </a:r>
            <a:r>
              <a:rPr lang="en-US" altLang="en-US" sz="2200" u="sng" dirty="0" err="1" smtClean="0">
                <a:latin typeface="Segoe UI Symbol" panose="020B0502040204020203" pitchFamily="34" charset="0"/>
              </a:rPr>
              <a:t>commande</a:t>
            </a:r>
            <a:r>
              <a:rPr lang="fr-FR" altLang="en-US" sz="2200" u="sng" dirty="0" smtClean="0">
                <a:latin typeface="Segoe UI Symbol" panose="020B0502040204020203" pitchFamily="34" charset="0"/>
              </a:rPr>
              <a:t>-</a:t>
            </a:r>
            <a:r>
              <a:rPr lang="fr-FR" altLang="en-US" sz="2200" u="sng" dirty="0" err="1" smtClean="0">
                <a:latin typeface="Segoe UI Symbol" panose="020B0502040204020203" pitchFamily="34" charset="0"/>
              </a:rPr>
              <a:t>RadioButton</a:t>
            </a:r>
            <a:endParaRPr lang="fr-FR" altLang="en-US" sz="2200" dirty="0" smtClean="0">
              <a:latin typeface="Times New Roman" panose="02020603050405020304" pitchFamily="18" charset="0"/>
              <a:cs typeface="Times New Roman" panose="02020603050405020304" pitchFamily="18" charset="0"/>
            </a:endParaRPr>
          </a:p>
          <a:p>
            <a:pPr>
              <a:lnSpc>
                <a:spcPct val="150000"/>
              </a:lnSpc>
              <a:spcBef>
                <a:spcPts val="1625"/>
              </a:spcBef>
              <a:buClr>
                <a:srgbClr val="006498"/>
              </a:buClr>
              <a:buSzPct val="61000"/>
              <a:buFont typeface="Wingdings" panose="05000000000000000000" pitchFamily="2" charset="2"/>
              <a:buChar char=""/>
            </a:pPr>
            <a:r>
              <a:rPr lang="fr-FR" dirty="0" smtClean="0">
                <a:latin typeface="Segoe UI" panose="020B0502040204020203" pitchFamily="34" charset="0"/>
                <a:cs typeface="Segoe UI" panose="020B0502040204020203" pitchFamily="34" charset="0"/>
              </a:rPr>
              <a:t>Ce contrôle est considéré comme </a:t>
            </a:r>
            <a:r>
              <a:rPr lang="fr-FR" dirty="0">
                <a:latin typeface="Segoe UI" panose="020B0502040204020203" pitchFamily="34" charset="0"/>
                <a:cs typeface="Segoe UI" panose="020B0502040204020203" pitchFamily="34" charset="0"/>
              </a:rPr>
              <a:t>un type de bouton qui permet aux utilisateurs de sélectionner une </a:t>
            </a:r>
            <a:r>
              <a:rPr lang="fr-FR" dirty="0" smtClean="0">
                <a:latin typeface="Segoe UI" panose="020B0502040204020203" pitchFamily="34" charset="0"/>
                <a:cs typeface="Segoe UI" panose="020B0502040204020203" pitchFamily="34" charset="0"/>
              </a:rPr>
              <a:t>option d’une manière exclusive parmi </a:t>
            </a:r>
            <a:r>
              <a:rPr lang="fr-FR" dirty="0">
                <a:latin typeface="Segoe UI" panose="020B0502040204020203" pitchFamily="34" charset="0"/>
                <a:cs typeface="Segoe UI" panose="020B0502040204020203" pitchFamily="34" charset="0"/>
              </a:rPr>
              <a:t>un </a:t>
            </a:r>
            <a:r>
              <a:rPr lang="fr-FR" dirty="0" smtClean="0">
                <a:latin typeface="Segoe UI" panose="020B0502040204020203" pitchFamily="34" charset="0"/>
                <a:cs typeface="Segoe UI" panose="020B0502040204020203" pitchFamily="34" charset="0"/>
              </a:rPr>
              <a:t>ensemble d’options</a:t>
            </a:r>
          </a:p>
          <a:p>
            <a:pPr>
              <a:lnSpc>
                <a:spcPct val="150000"/>
              </a:lnSpc>
              <a:spcBef>
                <a:spcPts val="1625"/>
              </a:spcBef>
              <a:buClr>
                <a:srgbClr val="006498"/>
              </a:buClr>
              <a:buSzPct val="61000"/>
              <a:buFont typeface="Wingdings" panose="05000000000000000000" pitchFamily="2" charset="2"/>
              <a:buChar char=""/>
            </a:pPr>
            <a:endParaRPr lang="fr-FR" dirty="0">
              <a:latin typeface="Segoe UI" panose="020B0502040204020203" pitchFamily="34" charset="0"/>
              <a:cs typeface="Segoe UI" panose="020B0502040204020203" pitchFamily="34" charset="0"/>
            </a:endParaRPr>
          </a:p>
          <a:p>
            <a:pPr>
              <a:lnSpc>
                <a:spcPct val="150000"/>
              </a:lnSpc>
              <a:spcBef>
                <a:spcPts val="1625"/>
              </a:spcBef>
              <a:buClr>
                <a:srgbClr val="006498"/>
              </a:buClr>
              <a:buSzPct val="61000"/>
              <a:buFont typeface="Wingdings" panose="05000000000000000000" pitchFamily="2" charset="2"/>
              <a:buChar char=""/>
            </a:pPr>
            <a:endParaRPr lang="fr-FR" dirty="0" smtClean="0">
              <a:latin typeface="Segoe UI" panose="020B0502040204020203" pitchFamily="34" charset="0"/>
              <a:cs typeface="Segoe UI" panose="020B0502040204020203" pitchFamily="34" charset="0"/>
            </a:endParaRPr>
          </a:p>
          <a:p>
            <a:pPr>
              <a:lnSpc>
                <a:spcPct val="150000"/>
              </a:lnSpc>
              <a:spcBef>
                <a:spcPts val="1625"/>
              </a:spcBef>
              <a:buClr>
                <a:srgbClr val="006498"/>
              </a:buClr>
              <a:buSzPct val="61000"/>
              <a:buFont typeface="Wingdings" panose="05000000000000000000" pitchFamily="2" charset="2"/>
              <a:buChar char=""/>
            </a:pPr>
            <a:endParaRPr lang="fr-FR" dirty="0">
              <a:latin typeface="Segoe UI" panose="020B0502040204020203" pitchFamily="34" charset="0"/>
              <a:cs typeface="Segoe UI" panose="020B0502040204020203" pitchFamily="34" charset="0"/>
            </a:endParaRPr>
          </a:p>
          <a:p>
            <a:pPr>
              <a:lnSpc>
                <a:spcPct val="150000"/>
              </a:lnSpc>
              <a:spcBef>
                <a:spcPts val="1625"/>
              </a:spcBef>
              <a:buClr>
                <a:srgbClr val="006498"/>
              </a:buClr>
              <a:buSzPct val="61000"/>
              <a:buFont typeface="Wingdings" panose="05000000000000000000" pitchFamily="2" charset="2"/>
              <a:buChar char=""/>
            </a:pPr>
            <a:endParaRPr lang="fr-FR" dirty="0" smtClean="0">
              <a:latin typeface="Segoe UI" panose="020B0502040204020203" pitchFamily="34" charset="0"/>
              <a:cs typeface="Segoe UI" panose="020B0502040204020203" pitchFamily="34" charset="0"/>
            </a:endParaRPr>
          </a:p>
          <a:p>
            <a:pPr>
              <a:lnSpc>
                <a:spcPct val="150000"/>
              </a:lnSpc>
              <a:spcBef>
                <a:spcPts val="1625"/>
              </a:spcBef>
              <a:buClr>
                <a:srgbClr val="006498"/>
              </a:buClr>
              <a:buSzPct val="61000"/>
              <a:buFont typeface="Wingdings" panose="05000000000000000000" pitchFamily="2" charset="2"/>
              <a:buChar char=""/>
            </a:pPr>
            <a:r>
              <a:rPr lang="fr-FR" dirty="0" smtClean="0">
                <a:latin typeface="Segoe UI" panose="020B0502040204020203" pitchFamily="34" charset="0"/>
                <a:cs typeface="Segoe UI" panose="020B0502040204020203" pitchFamily="34" charset="0"/>
              </a:rPr>
              <a:t> La propriété </a:t>
            </a:r>
            <a:r>
              <a:rPr lang="fr-FR" b="1" dirty="0" smtClean="0">
                <a:latin typeface="Segoe UI" panose="020B0502040204020203" pitchFamily="34" charset="0"/>
                <a:cs typeface="Segoe UI" panose="020B0502040204020203" pitchFamily="34" charset="0"/>
              </a:rPr>
              <a:t>IsChecked</a:t>
            </a:r>
            <a:r>
              <a:rPr lang="fr-FR" dirty="0" smtClean="0">
                <a:latin typeface="Segoe UI" panose="020B0502040204020203" pitchFamily="34" charset="0"/>
                <a:cs typeface="Segoe UI" panose="020B0502040204020203" pitchFamily="34" charset="0"/>
              </a:rPr>
              <a:t> permet de cocher par défaut un radio </a:t>
            </a:r>
            <a:r>
              <a:rPr lang="fr-FR" dirty="0" err="1" smtClean="0">
                <a:latin typeface="Segoe UI" panose="020B0502040204020203" pitchFamily="34" charset="0"/>
                <a:cs typeface="Segoe UI" panose="020B0502040204020203" pitchFamily="34" charset="0"/>
              </a:rPr>
              <a:t>button</a:t>
            </a:r>
            <a:r>
              <a:rPr lang="fr-FR" dirty="0" smtClean="0">
                <a:latin typeface="Segoe UI" panose="020B0502040204020203" pitchFamily="34" charset="0"/>
                <a:cs typeface="Segoe UI" panose="020B0502040204020203" pitchFamily="34" charset="0"/>
              </a:rPr>
              <a:t> </a:t>
            </a:r>
          </a:p>
        </p:txBody>
      </p:sp>
      <p:pic>
        <p:nvPicPr>
          <p:cNvPr id="4" name="Image 3"/>
          <p:cNvPicPr>
            <a:picLocks noChangeAspect="1"/>
          </p:cNvPicPr>
          <p:nvPr/>
        </p:nvPicPr>
        <p:blipFill>
          <a:blip r:embed="rId2"/>
          <a:stretch>
            <a:fillRect/>
          </a:stretch>
        </p:blipFill>
        <p:spPr>
          <a:xfrm>
            <a:off x="6095997" y="-3164750"/>
            <a:ext cx="5" cy="13187500"/>
          </a:xfrm>
          <a:prstGeom prst="rect">
            <a:avLst/>
          </a:prstGeom>
        </p:spPr>
      </p:pic>
      <p:sp>
        <p:nvSpPr>
          <p:cNvPr id="3" name="Rectangle 2"/>
          <p:cNvSpPr/>
          <p:nvPr/>
        </p:nvSpPr>
        <p:spPr>
          <a:xfrm>
            <a:off x="510862" y="2413337"/>
            <a:ext cx="6096000" cy="2062103"/>
          </a:xfrm>
          <a:prstGeom prst="rect">
            <a:avLst/>
          </a:prstGeom>
        </p:spPr>
        <p:txBody>
          <a:bodyPr>
            <a:spAutoFit/>
          </a:bodyPr>
          <a:lstStyle/>
          <a:p>
            <a:r>
              <a:rPr lang="fr-FR" sz="1400" dirty="0">
                <a:solidFill>
                  <a:srgbClr val="0000FF"/>
                </a:solidFill>
                <a:latin typeface="Cascadia Mono" panose="020B0609020000020004" pitchFamily="49" charset="0"/>
              </a:rPr>
              <a:t>&lt;</a:t>
            </a:r>
            <a:r>
              <a:rPr lang="fr-FR" sz="1400" dirty="0" err="1">
                <a:solidFill>
                  <a:srgbClr val="A31515"/>
                </a:solidFill>
                <a:latin typeface="Cascadia Mono" panose="020B0609020000020004" pitchFamily="49" charset="0"/>
              </a:rPr>
              <a:t>StackLayout</a:t>
            </a:r>
            <a:r>
              <a:rPr lang="fr-FR" sz="1400" dirty="0">
                <a:solidFill>
                  <a:srgbClr val="FF0000"/>
                </a:solidFill>
                <a:latin typeface="Cascadia Mono" panose="020B0609020000020004" pitchFamily="49" charset="0"/>
              </a:rPr>
              <a:t> </a:t>
            </a:r>
            <a:r>
              <a:rPr lang="fr-FR" sz="1400" dirty="0" err="1">
                <a:solidFill>
                  <a:srgbClr val="FF0000"/>
                </a:solidFill>
                <a:latin typeface="Cascadia Mono" panose="020B0609020000020004" pitchFamily="49" charset="0"/>
              </a:rPr>
              <a:t>Margin</a:t>
            </a:r>
            <a:r>
              <a:rPr lang="fr-FR" sz="1400" dirty="0">
                <a:solidFill>
                  <a:srgbClr val="0000FF"/>
                </a:solidFill>
                <a:latin typeface="Cascadia Mono" panose="020B0609020000020004" pitchFamily="49" charset="0"/>
              </a:rPr>
              <a:t>="20"&gt;</a:t>
            </a:r>
            <a:endParaRPr lang="fr-FR" sz="1400" dirty="0">
              <a:solidFill>
                <a:srgbClr val="000000"/>
              </a:solidFill>
              <a:latin typeface="Cascadia Mono" panose="020B0609020000020004" pitchFamily="49" charset="0"/>
            </a:endParaRPr>
          </a:p>
          <a:p>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&lt;</a:t>
            </a:r>
            <a:r>
              <a:rPr lang="en-US" sz="1400" dirty="0">
                <a:solidFill>
                  <a:srgbClr val="A31515"/>
                </a:solidFill>
                <a:latin typeface="Cascadia Mono" panose="020B0609020000020004" pitchFamily="49" charset="0"/>
              </a:rPr>
              <a:t>Label</a:t>
            </a:r>
            <a:r>
              <a:rPr lang="en-US" sz="1400" dirty="0">
                <a:solidFill>
                  <a:srgbClr val="FF0000"/>
                </a:solidFill>
                <a:latin typeface="Cascadia Mono" panose="020B0609020000020004" pitchFamily="49" charset="0"/>
              </a:rPr>
              <a:t> Text</a:t>
            </a:r>
            <a:r>
              <a:rPr lang="en-US" sz="1400" dirty="0">
                <a:solidFill>
                  <a:srgbClr val="0000FF"/>
                </a:solidFill>
                <a:latin typeface="Cascadia Mono" panose="020B0609020000020004" pitchFamily="49" charset="0"/>
              </a:rPr>
              <a:t>="What's your favorite animal?"</a:t>
            </a:r>
            <a:r>
              <a:rPr lang="en-US" sz="1400" dirty="0">
                <a:solidFill>
                  <a:srgbClr val="000000"/>
                </a:solidFill>
                <a:latin typeface="Cascadia Mono" panose="020B0609020000020004" pitchFamily="49" charset="0"/>
              </a:rPr>
              <a:t> </a:t>
            </a:r>
          </a:p>
          <a:p>
            <a:r>
              <a:rPr lang="fr-FR" sz="1400" dirty="0">
                <a:solidFill>
                  <a:srgbClr val="000000"/>
                </a:solidFill>
                <a:latin typeface="Cascadia Mono" panose="020B0609020000020004" pitchFamily="49" charset="0"/>
              </a:rPr>
              <a:t>              </a:t>
            </a:r>
            <a:r>
              <a:rPr lang="fr-FR" sz="1400" dirty="0">
                <a:solidFill>
                  <a:srgbClr val="FF0000"/>
                </a:solidFill>
                <a:latin typeface="Cascadia Mono" panose="020B0609020000020004" pitchFamily="49" charset="0"/>
              </a:rPr>
              <a:t> </a:t>
            </a:r>
            <a:r>
              <a:rPr lang="fr-FR" sz="1400" dirty="0" err="1">
                <a:solidFill>
                  <a:srgbClr val="FF0000"/>
                </a:solidFill>
                <a:latin typeface="Cascadia Mono" panose="020B0609020000020004" pitchFamily="49" charset="0"/>
              </a:rPr>
              <a:t>FontSize</a:t>
            </a:r>
            <a:r>
              <a:rPr lang="fr-FR" sz="1400" dirty="0">
                <a:solidFill>
                  <a:srgbClr val="0000FF"/>
                </a:solidFill>
                <a:latin typeface="Cascadia Mono" panose="020B0609020000020004" pitchFamily="49" charset="0"/>
              </a:rPr>
              <a:t>="30" /&gt;</a:t>
            </a:r>
            <a:endParaRPr lang="fr-FR" sz="1400" dirty="0">
              <a:solidFill>
                <a:srgbClr val="000000"/>
              </a:solidFill>
              <a:latin typeface="Cascadia Mono" panose="020B0609020000020004" pitchFamily="49" charset="0"/>
            </a:endParaRPr>
          </a:p>
          <a:p>
            <a:r>
              <a:rPr lang="fr-FR" sz="1400" dirty="0">
                <a:solidFill>
                  <a:srgbClr val="000000"/>
                </a:solidFill>
                <a:latin typeface="Cascadia Mono" panose="020B0609020000020004" pitchFamily="49" charset="0"/>
              </a:rPr>
              <a:t>        </a:t>
            </a:r>
            <a:r>
              <a:rPr lang="fr-FR" sz="1400" dirty="0">
                <a:solidFill>
                  <a:srgbClr val="0000FF"/>
                </a:solidFill>
                <a:latin typeface="Cascadia Mono" panose="020B0609020000020004" pitchFamily="49" charset="0"/>
              </a:rPr>
              <a:t>&lt;</a:t>
            </a:r>
            <a:r>
              <a:rPr lang="fr-FR" sz="1400" dirty="0" err="1">
                <a:solidFill>
                  <a:srgbClr val="A31515"/>
                </a:solidFill>
                <a:latin typeface="Cascadia Mono" panose="020B0609020000020004" pitchFamily="49" charset="0"/>
              </a:rPr>
              <a:t>RadioButton</a:t>
            </a:r>
            <a:r>
              <a:rPr lang="fr-FR" sz="1400" dirty="0">
                <a:solidFill>
                  <a:srgbClr val="FF0000"/>
                </a:solidFill>
                <a:latin typeface="Cascadia Mono" panose="020B0609020000020004" pitchFamily="49" charset="0"/>
              </a:rPr>
              <a:t> Content</a:t>
            </a:r>
            <a:r>
              <a:rPr lang="fr-FR" sz="1400" dirty="0">
                <a:solidFill>
                  <a:srgbClr val="0000FF"/>
                </a:solidFill>
                <a:latin typeface="Cascadia Mono" panose="020B0609020000020004" pitchFamily="49" charset="0"/>
              </a:rPr>
              <a:t>="Cat"</a:t>
            </a:r>
            <a:r>
              <a:rPr lang="fr-FR" sz="1400" dirty="0">
                <a:solidFill>
                  <a:srgbClr val="FF0000"/>
                </a:solidFill>
                <a:latin typeface="Cascadia Mono" panose="020B0609020000020004" pitchFamily="49" charset="0"/>
              </a:rPr>
              <a:t> </a:t>
            </a:r>
            <a:r>
              <a:rPr lang="fr-FR" sz="1400" dirty="0" err="1">
                <a:solidFill>
                  <a:srgbClr val="FF0000"/>
                </a:solidFill>
                <a:latin typeface="Cascadia Mono" panose="020B0609020000020004" pitchFamily="49" charset="0"/>
              </a:rPr>
              <a:t>FontSize</a:t>
            </a:r>
            <a:r>
              <a:rPr lang="fr-FR" sz="1400" dirty="0">
                <a:solidFill>
                  <a:srgbClr val="0000FF"/>
                </a:solidFill>
                <a:latin typeface="Cascadia Mono" panose="020B0609020000020004" pitchFamily="49" charset="0"/>
              </a:rPr>
              <a:t>="25" /&gt;</a:t>
            </a:r>
            <a:endParaRPr lang="fr-FR" sz="1400" dirty="0">
              <a:solidFill>
                <a:srgbClr val="000000"/>
              </a:solidFill>
              <a:latin typeface="Cascadia Mono" panose="020B0609020000020004" pitchFamily="49" charset="0"/>
            </a:endParaRPr>
          </a:p>
          <a:p>
            <a:r>
              <a:rPr lang="fr-FR" sz="1400" dirty="0">
                <a:solidFill>
                  <a:srgbClr val="000000"/>
                </a:solidFill>
                <a:latin typeface="Cascadia Mono" panose="020B0609020000020004" pitchFamily="49" charset="0"/>
              </a:rPr>
              <a:t>        </a:t>
            </a:r>
            <a:r>
              <a:rPr lang="fr-FR" sz="1400" dirty="0">
                <a:solidFill>
                  <a:srgbClr val="0000FF"/>
                </a:solidFill>
                <a:latin typeface="Cascadia Mono" panose="020B0609020000020004" pitchFamily="49" charset="0"/>
              </a:rPr>
              <a:t>&lt;</a:t>
            </a:r>
            <a:r>
              <a:rPr lang="fr-FR" sz="1400" dirty="0" err="1">
                <a:solidFill>
                  <a:srgbClr val="A31515"/>
                </a:solidFill>
                <a:latin typeface="Cascadia Mono" panose="020B0609020000020004" pitchFamily="49" charset="0"/>
              </a:rPr>
              <a:t>RadioButton</a:t>
            </a:r>
            <a:r>
              <a:rPr lang="fr-FR" sz="1400" dirty="0">
                <a:solidFill>
                  <a:srgbClr val="FF0000"/>
                </a:solidFill>
                <a:latin typeface="Cascadia Mono" panose="020B0609020000020004" pitchFamily="49" charset="0"/>
              </a:rPr>
              <a:t> Content</a:t>
            </a:r>
            <a:r>
              <a:rPr lang="fr-FR" sz="1400" dirty="0">
                <a:solidFill>
                  <a:srgbClr val="0000FF"/>
                </a:solidFill>
                <a:latin typeface="Cascadia Mono" panose="020B0609020000020004" pitchFamily="49" charset="0"/>
              </a:rPr>
              <a:t>="Dog"</a:t>
            </a:r>
            <a:r>
              <a:rPr lang="fr-FR" sz="1400" dirty="0">
                <a:solidFill>
                  <a:srgbClr val="FF0000"/>
                </a:solidFill>
                <a:latin typeface="Cascadia Mono" panose="020B0609020000020004" pitchFamily="49" charset="0"/>
              </a:rPr>
              <a:t> </a:t>
            </a:r>
            <a:r>
              <a:rPr lang="fr-FR" sz="1400" dirty="0" err="1">
                <a:solidFill>
                  <a:srgbClr val="FF0000"/>
                </a:solidFill>
                <a:latin typeface="Cascadia Mono" panose="020B0609020000020004" pitchFamily="49" charset="0"/>
              </a:rPr>
              <a:t>FontSize</a:t>
            </a:r>
            <a:r>
              <a:rPr lang="fr-FR" sz="1400" dirty="0">
                <a:solidFill>
                  <a:srgbClr val="0000FF"/>
                </a:solidFill>
                <a:latin typeface="Cascadia Mono" panose="020B0609020000020004" pitchFamily="49" charset="0"/>
              </a:rPr>
              <a:t>="25" /&gt;</a:t>
            </a:r>
            <a:endParaRPr lang="fr-FR" sz="1400" dirty="0">
              <a:solidFill>
                <a:srgbClr val="000000"/>
              </a:solidFill>
              <a:latin typeface="Cascadia Mono" panose="020B0609020000020004" pitchFamily="49" charset="0"/>
            </a:endParaRPr>
          </a:p>
          <a:p>
            <a:r>
              <a:rPr lang="fr-FR" sz="1400" dirty="0">
                <a:solidFill>
                  <a:srgbClr val="000000"/>
                </a:solidFill>
                <a:latin typeface="Cascadia Mono" panose="020B0609020000020004" pitchFamily="49" charset="0"/>
              </a:rPr>
              <a:t>        </a:t>
            </a:r>
            <a:r>
              <a:rPr lang="fr-FR" sz="1400" dirty="0">
                <a:solidFill>
                  <a:srgbClr val="0000FF"/>
                </a:solidFill>
                <a:latin typeface="Cascadia Mono" panose="020B0609020000020004" pitchFamily="49" charset="0"/>
              </a:rPr>
              <a:t>&lt;</a:t>
            </a:r>
            <a:r>
              <a:rPr lang="fr-FR" sz="1400" dirty="0" err="1">
                <a:solidFill>
                  <a:srgbClr val="A31515"/>
                </a:solidFill>
                <a:latin typeface="Cascadia Mono" panose="020B0609020000020004" pitchFamily="49" charset="0"/>
              </a:rPr>
              <a:t>RadioButton</a:t>
            </a:r>
            <a:r>
              <a:rPr lang="fr-FR" sz="1400" dirty="0">
                <a:solidFill>
                  <a:srgbClr val="FF0000"/>
                </a:solidFill>
                <a:latin typeface="Cascadia Mono" panose="020B0609020000020004" pitchFamily="49" charset="0"/>
              </a:rPr>
              <a:t> Content</a:t>
            </a:r>
            <a:r>
              <a:rPr lang="fr-FR" sz="1400" dirty="0">
                <a:solidFill>
                  <a:srgbClr val="0000FF"/>
                </a:solidFill>
                <a:latin typeface="Cascadia Mono" panose="020B0609020000020004" pitchFamily="49" charset="0"/>
              </a:rPr>
              <a:t>="</a:t>
            </a:r>
            <a:r>
              <a:rPr lang="fr-FR" sz="1400" dirty="0" err="1">
                <a:solidFill>
                  <a:srgbClr val="0000FF"/>
                </a:solidFill>
                <a:latin typeface="Cascadia Mono" panose="020B0609020000020004" pitchFamily="49" charset="0"/>
              </a:rPr>
              <a:t>Elephant</a:t>
            </a:r>
            <a:r>
              <a:rPr lang="fr-FR" sz="1400" dirty="0">
                <a:solidFill>
                  <a:srgbClr val="0000FF"/>
                </a:solidFill>
                <a:latin typeface="Cascadia Mono" panose="020B0609020000020004" pitchFamily="49" charset="0"/>
              </a:rPr>
              <a:t>"</a:t>
            </a:r>
            <a:r>
              <a:rPr lang="fr-FR" sz="1400" dirty="0">
                <a:solidFill>
                  <a:srgbClr val="FF0000"/>
                </a:solidFill>
                <a:latin typeface="Cascadia Mono" panose="020B0609020000020004" pitchFamily="49" charset="0"/>
              </a:rPr>
              <a:t> </a:t>
            </a:r>
            <a:r>
              <a:rPr lang="fr-FR" sz="1400" dirty="0" err="1">
                <a:solidFill>
                  <a:srgbClr val="FF0000"/>
                </a:solidFill>
                <a:latin typeface="Cascadia Mono" panose="020B0609020000020004" pitchFamily="49" charset="0"/>
              </a:rPr>
              <a:t>FontSize</a:t>
            </a:r>
            <a:r>
              <a:rPr lang="fr-FR" sz="1400" dirty="0">
                <a:solidFill>
                  <a:srgbClr val="0000FF"/>
                </a:solidFill>
                <a:latin typeface="Cascadia Mono" panose="020B0609020000020004" pitchFamily="49" charset="0"/>
              </a:rPr>
              <a:t>="25" /&gt;</a:t>
            </a:r>
            <a:endParaRPr lang="fr-FR" sz="1400" dirty="0">
              <a:solidFill>
                <a:srgbClr val="000000"/>
              </a:solidFill>
              <a:latin typeface="Cascadia Mono" panose="020B0609020000020004" pitchFamily="49" charset="0"/>
            </a:endParaRPr>
          </a:p>
          <a:p>
            <a:r>
              <a:rPr lang="fr-FR" sz="1400" dirty="0">
                <a:solidFill>
                  <a:srgbClr val="000000"/>
                </a:solidFill>
                <a:latin typeface="Cascadia Mono" panose="020B0609020000020004" pitchFamily="49" charset="0"/>
              </a:rPr>
              <a:t>        </a:t>
            </a:r>
            <a:r>
              <a:rPr lang="fr-FR" sz="1400" dirty="0">
                <a:solidFill>
                  <a:srgbClr val="0000FF"/>
                </a:solidFill>
                <a:latin typeface="Cascadia Mono" panose="020B0609020000020004" pitchFamily="49" charset="0"/>
              </a:rPr>
              <a:t>&lt;</a:t>
            </a:r>
            <a:r>
              <a:rPr lang="fr-FR" sz="1400" dirty="0" err="1">
                <a:solidFill>
                  <a:srgbClr val="A31515"/>
                </a:solidFill>
                <a:latin typeface="Cascadia Mono" panose="020B0609020000020004" pitchFamily="49" charset="0"/>
              </a:rPr>
              <a:t>RadioButton</a:t>
            </a:r>
            <a:r>
              <a:rPr lang="fr-FR" sz="1400" dirty="0">
                <a:solidFill>
                  <a:srgbClr val="FF0000"/>
                </a:solidFill>
                <a:latin typeface="Cascadia Mono" panose="020B0609020000020004" pitchFamily="49" charset="0"/>
              </a:rPr>
              <a:t> Content</a:t>
            </a:r>
            <a:r>
              <a:rPr lang="fr-FR" sz="1400" dirty="0">
                <a:solidFill>
                  <a:srgbClr val="0000FF"/>
                </a:solidFill>
                <a:latin typeface="Cascadia Mono" panose="020B0609020000020004" pitchFamily="49" charset="0"/>
              </a:rPr>
              <a:t>="Monkey"</a:t>
            </a:r>
            <a:r>
              <a:rPr lang="fr-FR" sz="1400" dirty="0">
                <a:solidFill>
                  <a:srgbClr val="FF0000"/>
                </a:solidFill>
                <a:latin typeface="Cascadia Mono" panose="020B0609020000020004" pitchFamily="49" charset="0"/>
              </a:rPr>
              <a:t> </a:t>
            </a:r>
            <a:r>
              <a:rPr lang="fr-FR" sz="1400" dirty="0" err="1">
                <a:solidFill>
                  <a:srgbClr val="FF0000"/>
                </a:solidFill>
                <a:latin typeface="Cascadia Mono" panose="020B0609020000020004" pitchFamily="49" charset="0"/>
              </a:rPr>
              <a:t>FontSize</a:t>
            </a:r>
            <a:r>
              <a:rPr lang="fr-FR" sz="1400" dirty="0">
                <a:solidFill>
                  <a:srgbClr val="0000FF"/>
                </a:solidFill>
                <a:latin typeface="Cascadia Mono" panose="020B0609020000020004" pitchFamily="49" charset="0"/>
              </a:rPr>
              <a:t>="25"</a:t>
            </a:r>
            <a:endParaRPr lang="fr-FR" sz="1400" dirty="0">
              <a:solidFill>
                <a:srgbClr val="000000"/>
              </a:solidFill>
              <a:latin typeface="Cascadia Mono" panose="020B0609020000020004" pitchFamily="49" charset="0"/>
            </a:endParaRPr>
          </a:p>
          <a:p>
            <a:r>
              <a:rPr lang="fr-FR" sz="1400" dirty="0">
                <a:solidFill>
                  <a:srgbClr val="000000"/>
                </a:solidFill>
                <a:latin typeface="Cascadia Mono" panose="020B0609020000020004" pitchFamily="49" charset="0"/>
              </a:rPr>
              <a:t>                </a:t>
            </a:r>
            <a:r>
              <a:rPr lang="fr-FR" sz="1400" dirty="0">
                <a:solidFill>
                  <a:srgbClr val="FF0000"/>
                </a:solidFill>
                <a:latin typeface="Cascadia Mono" panose="020B0609020000020004" pitchFamily="49" charset="0"/>
              </a:rPr>
              <a:t> </a:t>
            </a:r>
            <a:r>
              <a:rPr lang="fr-FR" sz="1600" b="1" dirty="0">
                <a:solidFill>
                  <a:srgbClr val="FF0000"/>
                </a:solidFill>
                <a:effectLst>
                  <a:outerShdw blurRad="38100" dist="38100" dir="2700000" algn="tl">
                    <a:srgbClr val="000000">
                      <a:alpha val="43137"/>
                    </a:srgbClr>
                  </a:outerShdw>
                </a:effectLst>
                <a:latin typeface="Cascadia Mono" panose="020B0609020000020004" pitchFamily="49" charset="0"/>
              </a:rPr>
              <a:t>IsChecked</a:t>
            </a:r>
            <a:r>
              <a:rPr lang="fr-FR" sz="1600" b="1" dirty="0">
                <a:solidFill>
                  <a:srgbClr val="0000FF"/>
                </a:solidFill>
                <a:effectLst>
                  <a:outerShdw blurRad="38100" dist="38100" dir="2700000" algn="tl">
                    <a:srgbClr val="000000">
                      <a:alpha val="43137"/>
                    </a:srgbClr>
                  </a:outerShdw>
                </a:effectLst>
                <a:latin typeface="Cascadia Mono" panose="020B0609020000020004" pitchFamily="49" charset="0"/>
              </a:rPr>
              <a:t>="</a:t>
            </a:r>
            <a:r>
              <a:rPr lang="fr-FR" sz="1600" b="1" dirty="0" err="1">
                <a:solidFill>
                  <a:srgbClr val="0000FF"/>
                </a:solidFill>
                <a:effectLst>
                  <a:outerShdw blurRad="38100" dist="38100" dir="2700000" algn="tl">
                    <a:srgbClr val="000000">
                      <a:alpha val="43137"/>
                    </a:srgbClr>
                  </a:outerShdw>
                </a:effectLst>
                <a:latin typeface="Cascadia Mono" panose="020B0609020000020004" pitchFamily="49" charset="0"/>
              </a:rPr>
              <a:t>true</a:t>
            </a:r>
            <a:r>
              <a:rPr lang="fr-FR" sz="1600" b="1" dirty="0">
                <a:solidFill>
                  <a:srgbClr val="0000FF"/>
                </a:solidFill>
                <a:effectLst>
                  <a:outerShdw blurRad="38100" dist="38100" dir="2700000" algn="tl">
                    <a:srgbClr val="000000">
                      <a:alpha val="43137"/>
                    </a:srgbClr>
                  </a:outerShdw>
                </a:effectLst>
                <a:latin typeface="Cascadia Mono" panose="020B0609020000020004" pitchFamily="49" charset="0"/>
              </a:rPr>
              <a:t>" </a:t>
            </a:r>
            <a:r>
              <a:rPr lang="fr-FR" sz="1400" dirty="0">
                <a:solidFill>
                  <a:srgbClr val="0000FF"/>
                </a:solidFill>
                <a:latin typeface="Cascadia Mono" panose="020B0609020000020004" pitchFamily="49" charset="0"/>
              </a:rPr>
              <a:t>/&gt;</a:t>
            </a:r>
            <a:endParaRPr lang="fr-FR" sz="1400" dirty="0">
              <a:solidFill>
                <a:srgbClr val="000000"/>
              </a:solidFill>
              <a:latin typeface="Cascadia Mono" panose="020B0609020000020004" pitchFamily="49" charset="0"/>
            </a:endParaRPr>
          </a:p>
          <a:p>
            <a:r>
              <a:rPr lang="fr-FR" sz="1400" dirty="0">
                <a:solidFill>
                  <a:srgbClr val="000000"/>
                </a:solidFill>
                <a:latin typeface="Cascadia Mono" panose="020B0609020000020004" pitchFamily="49" charset="0"/>
              </a:rPr>
              <a:t>    </a:t>
            </a:r>
            <a:r>
              <a:rPr lang="fr-FR" sz="1400" dirty="0">
                <a:solidFill>
                  <a:srgbClr val="0000FF"/>
                </a:solidFill>
                <a:latin typeface="Cascadia Mono" panose="020B0609020000020004" pitchFamily="49" charset="0"/>
              </a:rPr>
              <a:t>&lt;/</a:t>
            </a:r>
            <a:r>
              <a:rPr lang="fr-FR" sz="1400" dirty="0" err="1">
                <a:solidFill>
                  <a:srgbClr val="A31515"/>
                </a:solidFill>
                <a:latin typeface="Cascadia Mono" panose="020B0609020000020004" pitchFamily="49" charset="0"/>
              </a:rPr>
              <a:t>StackLayout</a:t>
            </a:r>
            <a:r>
              <a:rPr lang="fr-FR" sz="1400" dirty="0">
                <a:solidFill>
                  <a:srgbClr val="0000FF"/>
                </a:solidFill>
                <a:latin typeface="Cascadia Mono" panose="020B0609020000020004" pitchFamily="49" charset="0"/>
              </a:rPr>
              <a:t>&gt;</a:t>
            </a:r>
            <a:endParaRPr lang="fr-FR" sz="1400" dirty="0"/>
          </a:p>
        </p:txBody>
      </p:sp>
      <p:pic>
        <p:nvPicPr>
          <p:cNvPr id="5" name="Image 4"/>
          <p:cNvPicPr>
            <a:picLocks noChangeAspect="1"/>
          </p:cNvPicPr>
          <p:nvPr/>
        </p:nvPicPr>
        <p:blipFill>
          <a:blip r:embed="rId3"/>
          <a:stretch>
            <a:fillRect/>
          </a:stretch>
        </p:blipFill>
        <p:spPr>
          <a:xfrm>
            <a:off x="9133528" y="1194754"/>
            <a:ext cx="2025754" cy="4623038"/>
          </a:xfrm>
          <a:prstGeom prst="rect">
            <a:avLst/>
          </a:prstGeom>
        </p:spPr>
      </p:pic>
    </p:spTree>
    <p:extLst>
      <p:ext uri="{BB962C8B-B14F-4D97-AF65-F5344CB8AC3E}">
        <p14:creationId xmlns:p14="http://schemas.microsoft.com/office/powerpoint/2010/main" val="7822984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8"/>
          <p:cNvSpPr txBox="1">
            <a:spLocks noChangeArrowheads="1"/>
          </p:cNvSpPr>
          <p:nvPr/>
        </p:nvSpPr>
        <p:spPr bwMode="auto">
          <a:xfrm>
            <a:off x="392834" y="488311"/>
            <a:ext cx="6780698" cy="1374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152400">
              <a:tabLst>
                <a:tab pos="5992813" algn="l"/>
              </a:tabLst>
              <a:defRPr>
                <a:solidFill>
                  <a:schemeClr val="tx1"/>
                </a:solidFill>
                <a:latin typeface="Calibri" panose="020F0502020204030204" pitchFamily="34" charset="0"/>
                <a:cs typeface="Arial" panose="020B0604020202020204" pitchFamily="34" charset="0"/>
              </a:defRPr>
            </a:lvl1pPr>
            <a:lvl2pPr marL="579438" indent="-242888">
              <a:tabLst>
                <a:tab pos="5992813" algn="l"/>
              </a:tabLst>
              <a:defRPr>
                <a:solidFill>
                  <a:schemeClr val="tx1"/>
                </a:solidFill>
                <a:latin typeface="Calibri" panose="020F0502020204030204" pitchFamily="34" charset="0"/>
                <a:cs typeface="Arial" panose="020B0604020202020204" pitchFamily="34" charset="0"/>
              </a:defRPr>
            </a:lvl2pPr>
            <a:lvl3pPr marL="1143000" indent="-228600">
              <a:tabLst>
                <a:tab pos="5992813" algn="l"/>
              </a:tabLst>
              <a:defRPr>
                <a:solidFill>
                  <a:schemeClr val="tx1"/>
                </a:solidFill>
                <a:latin typeface="Calibri" panose="020F0502020204030204" pitchFamily="34" charset="0"/>
                <a:cs typeface="Arial" panose="020B0604020202020204" pitchFamily="34" charset="0"/>
              </a:defRPr>
            </a:lvl3pPr>
            <a:lvl4pPr marL="1600200" indent="-228600">
              <a:tabLst>
                <a:tab pos="5992813" algn="l"/>
              </a:tabLst>
              <a:defRPr>
                <a:solidFill>
                  <a:schemeClr val="tx1"/>
                </a:solidFill>
                <a:latin typeface="Calibri" panose="020F0502020204030204" pitchFamily="34" charset="0"/>
                <a:cs typeface="Arial" panose="020B0604020202020204" pitchFamily="34" charset="0"/>
              </a:defRPr>
            </a:lvl4pPr>
            <a:lvl5pPr marL="2057400" indent="-228600">
              <a:tabLst>
                <a:tab pos="5992813" algn="l"/>
              </a:tabLst>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2200" u="sng" dirty="0" smtClean="0">
                <a:latin typeface="Segoe UI Symbol" panose="020B0502040204020203" pitchFamily="34" charset="0"/>
              </a:rPr>
              <a:t>Les </a:t>
            </a:r>
            <a:r>
              <a:rPr lang="en-US" altLang="en-US" sz="2200" u="sng" dirty="0" err="1" smtClean="0">
                <a:latin typeface="Segoe UI Symbol" panose="020B0502040204020203" pitchFamily="34" charset="0"/>
              </a:rPr>
              <a:t>contrôles</a:t>
            </a:r>
            <a:r>
              <a:rPr lang="en-US" altLang="en-US" sz="2200" u="sng" dirty="0" smtClean="0">
                <a:latin typeface="Segoe UI Symbol" panose="020B0502040204020203" pitchFamily="34" charset="0"/>
              </a:rPr>
              <a:t> de </a:t>
            </a:r>
            <a:r>
              <a:rPr lang="en-US" altLang="en-US" sz="2200" u="sng" dirty="0" err="1" smtClean="0">
                <a:latin typeface="Segoe UI Symbol" panose="020B0502040204020203" pitchFamily="34" charset="0"/>
              </a:rPr>
              <a:t>commande</a:t>
            </a:r>
            <a:r>
              <a:rPr lang="fr-FR" altLang="en-US" sz="2200" u="sng" dirty="0" smtClean="0">
                <a:latin typeface="Segoe UI Symbol" panose="020B0502040204020203" pitchFamily="34" charset="0"/>
              </a:rPr>
              <a:t>-</a:t>
            </a:r>
            <a:r>
              <a:rPr lang="fr-FR" altLang="en-US" sz="2200" u="sng" dirty="0" err="1" smtClean="0">
                <a:latin typeface="Segoe UI Symbol" panose="020B0502040204020203" pitchFamily="34" charset="0"/>
              </a:rPr>
              <a:t>RadioButton</a:t>
            </a:r>
            <a:endParaRPr lang="fr-FR" altLang="en-US" sz="2200" dirty="0" smtClean="0">
              <a:latin typeface="Times New Roman" panose="02020603050405020304" pitchFamily="18" charset="0"/>
              <a:cs typeface="Times New Roman" panose="02020603050405020304" pitchFamily="18" charset="0"/>
            </a:endParaRPr>
          </a:p>
          <a:p>
            <a:pPr>
              <a:lnSpc>
                <a:spcPct val="150000"/>
              </a:lnSpc>
              <a:spcBef>
                <a:spcPts val="1625"/>
              </a:spcBef>
              <a:buClr>
                <a:srgbClr val="006498"/>
              </a:buClr>
              <a:buSzPct val="61000"/>
              <a:buFont typeface="Wingdings" panose="05000000000000000000" pitchFamily="2" charset="2"/>
              <a:buChar char=""/>
            </a:pPr>
            <a:r>
              <a:rPr lang="fr-FR" dirty="0" smtClean="0">
                <a:latin typeface="Segoe UI" panose="020B0502040204020203" pitchFamily="34" charset="0"/>
                <a:cs typeface="Segoe UI" panose="020B0502040204020203" pitchFamily="34" charset="0"/>
              </a:rPr>
              <a:t>Il est possible de définir des groupes ou des catégorie des</a:t>
            </a:r>
            <a:r>
              <a:rPr lang="fr-FR" dirty="0">
                <a:latin typeface="Segoe UI" panose="020B0502040204020203" pitchFamily="34" charset="0"/>
                <a:cs typeface="Segoe UI" panose="020B0502040204020203" pitchFamily="34" charset="0"/>
              </a:rPr>
              <a:t> </a:t>
            </a:r>
            <a:r>
              <a:rPr lang="fr-FR" dirty="0" smtClean="0">
                <a:latin typeface="Segoe UI" panose="020B0502040204020203" pitchFamily="34" charset="0"/>
                <a:cs typeface="Segoe UI" panose="020B0502040204020203" pitchFamily="34" charset="0"/>
              </a:rPr>
              <a:t>radio buttons en définissant la propriété </a:t>
            </a:r>
            <a:r>
              <a:rPr lang="fr-FR" b="1" dirty="0" err="1" smtClean="0">
                <a:latin typeface="Segoe UI" panose="020B0502040204020203" pitchFamily="34" charset="0"/>
                <a:cs typeface="Segoe UI" panose="020B0502040204020203" pitchFamily="34" charset="0"/>
              </a:rPr>
              <a:t>GroupName</a:t>
            </a:r>
            <a:endParaRPr lang="fr-FR" b="1" dirty="0" smtClean="0">
              <a:latin typeface="Segoe UI" panose="020B0502040204020203" pitchFamily="34" charset="0"/>
              <a:cs typeface="Segoe UI" panose="020B0502040204020203" pitchFamily="34" charset="0"/>
            </a:endParaRPr>
          </a:p>
        </p:txBody>
      </p:sp>
      <p:pic>
        <p:nvPicPr>
          <p:cNvPr id="4" name="Image 3"/>
          <p:cNvPicPr>
            <a:picLocks noChangeAspect="1"/>
          </p:cNvPicPr>
          <p:nvPr/>
        </p:nvPicPr>
        <p:blipFill>
          <a:blip r:embed="rId2"/>
          <a:stretch>
            <a:fillRect/>
          </a:stretch>
        </p:blipFill>
        <p:spPr>
          <a:xfrm>
            <a:off x="6095997" y="-3164750"/>
            <a:ext cx="5" cy="13187500"/>
          </a:xfrm>
          <a:prstGeom prst="rect">
            <a:avLst/>
          </a:prstGeom>
        </p:spPr>
      </p:pic>
      <p:sp>
        <p:nvSpPr>
          <p:cNvPr id="6" name="Rectangle 5"/>
          <p:cNvSpPr/>
          <p:nvPr/>
        </p:nvSpPr>
        <p:spPr>
          <a:xfrm>
            <a:off x="445408" y="2013266"/>
            <a:ext cx="8337984" cy="3293209"/>
          </a:xfrm>
          <a:prstGeom prst="rect">
            <a:avLst/>
          </a:prstGeom>
        </p:spPr>
        <p:txBody>
          <a:bodyPr wrap="square">
            <a:spAutoFit/>
          </a:bodyPr>
          <a:lstStyle/>
          <a:p>
            <a:r>
              <a:rPr lang="fr-FR" sz="1400" dirty="0">
                <a:solidFill>
                  <a:srgbClr val="0000FF"/>
                </a:solidFill>
                <a:latin typeface="Cascadia Mono" panose="020B0609020000020004" pitchFamily="49" charset="0"/>
              </a:rPr>
              <a:t>&lt;</a:t>
            </a:r>
            <a:r>
              <a:rPr lang="fr-FR" sz="1400" dirty="0" err="1">
                <a:solidFill>
                  <a:srgbClr val="A31515"/>
                </a:solidFill>
                <a:latin typeface="Cascadia Mono" panose="020B0609020000020004" pitchFamily="49" charset="0"/>
              </a:rPr>
              <a:t>StackLayout</a:t>
            </a:r>
            <a:r>
              <a:rPr lang="fr-FR" sz="1400" dirty="0">
                <a:solidFill>
                  <a:srgbClr val="FF0000"/>
                </a:solidFill>
                <a:latin typeface="Cascadia Mono" panose="020B0609020000020004" pitchFamily="49" charset="0"/>
              </a:rPr>
              <a:t> </a:t>
            </a:r>
            <a:r>
              <a:rPr lang="fr-FR" sz="1400" dirty="0" err="1">
                <a:solidFill>
                  <a:srgbClr val="FF0000"/>
                </a:solidFill>
                <a:latin typeface="Cascadia Mono" panose="020B0609020000020004" pitchFamily="49" charset="0"/>
              </a:rPr>
              <a:t>Margin</a:t>
            </a:r>
            <a:r>
              <a:rPr lang="fr-FR" sz="1400" dirty="0">
                <a:solidFill>
                  <a:srgbClr val="0000FF"/>
                </a:solidFill>
                <a:latin typeface="Cascadia Mono" panose="020B0609020000020004" pitchFamily="49" charset="0"/>
              </a:rPr>
              <a:t>="20"&gt;</a:t>
            </a:r>
            <a:endParaRPr lang="fr-FR" sz="1400" dirty="0">
              <a:solidFill>
                <a:srgbClr val="000000"/>
              </a:solidFill>
              <a:latin typeface="Cascadia Mono" panose="020B0609020000020004" pitchFamily="49" charset="0"/>
            </a:endParaRPr>
          </a:p>
          <a:p>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&lt;</a:t>
            </a:r>
            <a:r>
              <a:rPr lang="en-US" sz="1400" dirty="0">
                <a:solidFill>
                  <a:srgbClr val="A31515"/>
                </a:solidFill>
                <a:latin typeface="Cascadia Mono" panose="020B0609020000020004" pitchFamily="49" charset="0"/>
              </a:rPr>
              <a:t>Label</a:t>
            </a:r>
            <a:r>
              <a:rPr lang="en-US" sz="1400" dirty="0">
                <a:solidFill>
                  <a:srgbClr val="FF0000"/>
                </a:solidFill>
                <a:latin typeface="Cascadia Mono" panose="020B0609020000020004" pitchFamily="49" charset="0"/>
              </a:rPr>
              <a:t> Text</a:t>
            </a:r>
            <a:r>
              <a:rPr lang="en-US" sz="1400" dirty="0">
                <a:solidFill>
                  <a:srgbClr val="0000FF"/>
                </a:solidFill>
                <a:latin typeface="Cascadia Mono" panose="020B0609020000020004" pitchFamily="49" charset="0"/>
              </a:rPr>
              <a:t>="What's your favorite animal?"</a:t>
            </a:r>
            <a:r>
              <a:rPr lang="en-US" sz="1400" dirty="0">
                <a:solidFill>
                  <a:srgbClr val="000000"/>
                </a:solidFill>
                <a:latin typeface="Cascadia Mono" panose="020B0609020000020004" pitchFamily="49" charset="0"/>
              </a:rPr>
              <a:t> </a:t>
            </a:r>
          </a:p>
          <a:p>
            <a:r>
              <a:rPr lang="fr-FR" sz="1400" dirty="0">
                <a:solidFill>
                  <a:srgbClr val="000000"/>
                </a:solidFill>
                <a:latin typeface="Cascadia Mono" panose="020B0609020000020004" pitchFamily="49" charset="0"/>
              </a:rPr>
              <a:t>              </a:t>
            </a:r>
            <a:r>
              <a:rPr lang="fr-FR" sz="1400" dirty="0">
                <a:solidFill>
                  <a:srgbClr val="FF0000"/>
                </a:solidFill>
                <a:latin typeface="Cascadia Mono" panose="020B0609020000020004" pitchFamily="49" charset="0"/>
              </a:rPr>
              <a:t> </a:t>
            </a:r>
            <a:r>
              <a:rPr lang="fr-FR" sz="1400" dirty="0" err="1">
                <a:solidFill>
                  <a:srgbClr val="FF0000"/>
                </a:solidFill>
                <a:latin typeface="Cascadia Mono" panose="020B0609020000020004" pitchFamily="49" charset="0"/>
              </a:rPr>
              <a:t>FontSize</a:t>
            </a:r>
            <a:r>
              <a:rPr lang="fr-FR" sz="1400" dirty="0">
                <a:solidFill>
                  <a:srgbClr val="0000FF"/>
                </a:solidFill>
                <a:latin typeface="Cascadia Mono" panose="020B0609020000020004" pitchFamily="49" charset="0"/>
              </a:rPr>
              <a:t>="30" /&gt;</a:t>
            </a:r>
            <a:endParaRPr lang="fr-FR" sz="1400" dirty="0">
              <a:solidFill>
                <a:srgbClr val="000000"/>
              </a:solidFill>
              <a:latin typeface="Cascadia Mono" panose="020B0609020000020004" pitchFamily="49" charset="0"/>
            </a:endParaRPr>
          </a:p>
          <a:p>
            <a:r>
              <a:rPr lang="fr-FR" sz="1400" dirty="0">
                <a:solidFill>
                  <a:srgbClr val="000000"/>
                </a:solidFill>
                <a:latin typeface="Cascadia Mono" panose="020B0609020000020004" pitchFamily="49" charset="0"/>
              </a:rPr>
              <a:t>        </a:t>
            </a:r>
            <a:r>
              <a:rPr lang="fr-FR" sz="1400" dirty="0">
                <a:solidFill>
                  <a:srgbClr val="0000FF"/>
                </a:solidFill>
                <a:latin typeface="Cascadia Mono" panose="020B0609020000020004" pitchFamily="49" charset="0"/>
              </a:rPr>
              <a:t>&lt;</a:t>
            </a:r>
            <a:r>
              <a:rPr lang="fr-FR" sz="1400" dirty="0" err="1">
                <a:solidFill>
                  <a:srgbClr val="A31515"/>
                </a:solidFill>
                <a:latin typeface="Cascadia Mono" panose="020B0609020000020004" pitchFamily="49" charset="0"/>
              </a:rPr>
              <a:t>RadioButton</a:t>
            </a:r>
            <a:r>
              <a:rPr lang="fr-FR" sz="1400" dirty="0">
                <a:solidFill>
                  <a:srgbClr val="FF0000"/>
                </a:solidFill>
                <a:latin typeface="Cascadia Mono" panose="020B0609020000020004" pitchFamily="49" charset="0"/>
              </a:rPr>
              <a:t> Content</a:t>
            </a:r>
            <a:r>
              <a:rPr lang="fr-FR" sz="1400" dirty="0">
                <a:solidFill>
                  <a:srgbClr val="0000FF"/>
                </a:solidFill>
                <a:latin typeface="Cascadia Mono" panose="020B0609020000020004" pitchFamily="49" charset="0"/>
              </a:rPr>
              <a:t>="Cat"</a:t>
            </a:r>
            <a:r>
              <a:rPr lang="fr-FR" sz="1400" dirty="0">
                <a:solidFill>
                  <a:srgbClr val="FF0000"/>
                </a:solidFill>
                <a:latin typeface="Cascadia Mono" panose="020B0609020000020004" pitchFamily="49" charset="0"/>
              </a:rPr>
              <a:t> </a:t>
            </a:r>
            <a:r>
              <a:rPr lang="fr-FR" sz="1600" b="1" dirty="0" err="1">
                <a:solidFill>
                  <a:srgbClr val="FF0000"/>
                </a:solidFill>
                <a:effectLst>
                  <a:outerShdw blurRad="38100" dist="38100" dir="2700000" algn="tl">
                    <a:srgbClr val="000000">
                      <a:alpha val="43137"/>
                    </a:srgbClr>
                  </a:outerShdw>
                </a:effectLst>
                <a:latin typeface="Cascadia Mono" panose="020B0609020000020004" pitchFamily="49" charset="0"/>
              </a:rPr>
              <a:t>GroupName</a:t>
            </a:r>
            <a:r>
              <a:rPr lang="fr-FR" sz="1600" b="1" dirty="0">
                <a:solidFill>
                  <a:srgbClr val="0000FF"/>
                </a:solidFill>
                <a:effectLst>
                  <a:outerShdw blurRad="38100" dist="38100" dir="2700000" algn="tl">
                    <a:srgbClr val="000000">
                      <a:alpha val="43137"/>
                    </a:srgbClr>
                  </a:outerShdw>
                </a:effectLst>
                <a:latin typeface="Cascadia Mono" panose="020B0609020000020004" pitchFamily="49" charset="0"/>
              </a:rPr>
              <a:t>="</a:t>
            </a:r>
            <a:r>
              <a:rPr lang="fr-FR" sz="1600" b="1" dirty="0" err="1">
                <a:solidFill>
                  <a:srgbClr val="0000FF"/>
                </a:solidFill>
                <a:effectLst>
                  <a:outerShdw blurRad="38100" dist="38100" dir="2700000" algn="tl">
                    <a:srgbClr val="000000">
                      <a:alpha val="43137"/>
                    </a:srgbClr>
                  </a:outerShdw>
                </a:effectLst>
                <a:latin typeface="Cascadia Mono" panose="020B0609020000020004" pitchFamily="49" charset="0"/>
              </a:rPr>
              <a:t>animals</a:t>
            </a:r>
            <a:r>
              <a:rPr lang="fr-FR" sz="1600" b="1" dirty="0">
                <a:solidFill>
                  <a:srgbClr val="0000FF"/>
                </a:solidFill>
                <a:effectLst>
                  <a:outerShdw blurRad="38100" dist="38100" dir="2700000" algn="tl">
                    <a:srgbClr val="000000">
                      <a:alpha val="43137"/>
                    </a:srgbClr>
                  </a:outerShdw>
                </a:effectLst>
                <a:latin typeface="Cascadia Mono" panose="020B0609020000020004" pitchFamily="49" charset="0"/>
              </a:rPr>
              <a:t>"</a:t>
            </a:r>
            <a:r>
              <a:rPr lang="fr-FR" sz="1600" b="1" dirty="0">
                <a:solidFill>
                  <a:srgbClr val="FF0000"/>
                </a:solidFill>
                <a:effectLst>
                  <a:outerShdw blurRad="38100" dist="38100" dir="2700000" algn="tl">
                    <a:srgbClr val="000000">
                      <a:alpha val="43137"/>
                    </a:srgbClr>
                  </a:outerShdw>
                </a:effectLst>
                <a:latin typeface="Cascadia Mono" panose="020B0609020000020004" pitchFamily="49" charset="0"/>
              </a:rPr>
              <a:t> </a:t>
            </a:r>
            <a:r>
              <a:rPr lang="fr-FR" sz="1400" dirty="0" err="1">
                <a:solidFill>
                  <a:srgbClr val="FF0000"/>
                </a:solidFill>
                <a:latin typeface="Cascadia Mono" panose="020B0609020000020004" pitchFamily="49" charset="0"/>
              </a:rPr>
              <a:t>FontSize</a:t>
            </a:r>
            <a:r>
              <a:rPr lang="fr-FR" sz="1400" dirty="0">
                <a:solidFill>
                  <a:srgbClr val="0000FF"/>
                </a:solidFill>
                <a:latin typeface="Cascadia Mono" panose="020B0609020000020004" pitchFamily="49" charset="0"/>
              </a:rPr>
              <a:t>="25" /&gt;</a:t>
            </a:r>
            <a:endParaRPr lang="fr-FR" sz="1400" dirty="0">
              <a:solidFill>
                <a:srgbClr val="000000"/>
              </a:solidFill>
              <a:latin typeface="Cascadia Mono" panose="020B0609020000020004" pitchFamily="49" charset="0"/>
            </a:endParaRPr>
          </a:p>
          <a:p>
            <a:r>
              <a:rPr lang="fr-FR" sz="1400" dirty="0">
                <a:solidFill>
                  <a:srgbClr val="000000"/>
                </a:solidFill>
                <a:latin typeface="Cascadia Mono" panose="020B0609020000020004" pitchFamily="49" charset="0"/>
              </a:rPr>
              <a:t>        </a:t>
            </a:r>
            <a:r>
              <a:rPr lang="fr-FR" sz="1400" dirty="0">
                <a:solidFill>
                  <a:srgbClr val="0000FF"/>
                </a:solidFill>
                <a:latin typeface="Cascadia Mono" panose="020B0609020000020004" pitchFamily="49" charset="0"/>
              </a:rPr>
              <a:t>&lt;</a:t>
            </a:r>
            <a:r>
              <a:rPr lang="fr-FR" sz="1400" dirty="0" err="1">
                <a:solidFill>
                  <a:srgbClr val="A31515"/>
                </a:solidFill>
                <a:latin typeface="Cascadia Mono" panose="020B0609020000020004" pitchFamily="49" charset="0"/>
              </a:rPr>
              <a:t>RadioButton</a:t>
            </a:r>
            <a:r>
              <a:rPr lang="fr-FR" sz="1400" dirty="0">
                <a:solidFill>
                  <a:srgbClr val="FF0000"/>
                </a:solidFill>
                <a:latin typeface="Cascadia Mono" panose="020B0609020000020004" pitchFamily="49" charset="0"/>
              </a:rPr>
              <a:t> Content</a:t>
            </a:r>
            <a:r>
              <a:rPr lang="fr-FR" sz="1400" dirty="0">
                <a:solidFill>
                  <a:srgbClr val="0000FF"/>
                </a:solidFill>
                <a:latin typeface="Cascadia Mono" panose="020B0609020000020004" pitchFamily="49" charset="0"/>
              </a:rPr>
              <a:t>="Dog"</a:t>
            </a:r>
            <a:r>
              <a:rPr lang="fr-FR" sz="1400" dirty="0">
                <a:solidFill>
                  <a:srgbClr val="FF0000"/>
                </a:solidFill>
                <a:latin typeface="Cascadia Mono" panose="020B0609020000020004" pitchFamily="49" charset="0"/>
              </a:rPr>
              <a:t> </a:t>
            </a:r>
            <a:r>
              <a:rPr lang="fr-FR" sz="1600" b="1" dirty="0" err="1">
                <a:solidFill>
                  <a:srgbClr val="FF0000"/>
                </a:solidFill>
                <a:effectLst>
                  <a:outerShdw blurRad="38100" dist="38100" dir="2700000" algn="tl">
                    <a:srgbClr val="000000">
                      <a:alpha val="43137"/>
                    </a:srgbClr>
                  </a:outerShdw>
                </a:effectLst>
                <a:latin typeface="Cascadia Mono" panose="020B0609020000020004" pitchFamily="49" charset="0"/>
              </a:rPr>
              <a:t>GroupName</a:t>
            </a:r>
            <a:r>
              <a:rPr lang="fr-FR" sz="1600" b="1" dirty="0">
                <a:solidFill>
                  <a:srgbClr val="0000FF"/>
                </a:solidFill>
                <a:effectLst>
                  <a:outerShdw blurRad="38100" dist="38100" dir="2700000" algn="tl">
                    <a:srgbClr val="000000">
                      <a:alpha val="43137"/>
                    </a:srgbClr>
                  </a:outerShdw>
                </a:effectLst>
                <a:latin typeface="Cascadia Mono" panose="020B0609020000020004" pitchFamily="49" charset="0"/>
              </a:rPr>
              <a:t>="</a:t>
            </a:r>
            <a:r>
              <a:rPr lang="fr-FR" sz="1600" b="1" dirty="0" err="1">
                <a:solidFill>
                  <a:srgbClr val="0000FF"/>
                </a:solidFill>
                <a:effectLst>
                  <a:outerShdw blurRad="38100" dist="38100" dir="2700000" algn="tl">
                    <a:srgbClr val="000000">
                      <a:alpha val="43137"/>
                    </a:srgbClr>
                  </a:outerShdw>
                </a:effectLst>
                <a:latin typeface="Cascadia Mono" panose="020B0609020000020004" pitchFamily="49" charset="0"/>
              </a:rPr>
              <a:t>animals</a:t>
            </a:r>
            <a:r>
              <a:rPr lang="fr-FR" sz="1600" b="1" dirty="0">
                <a:solidFill>
                  <a:srgbClr val="0000FF"/>
                </a:solidFill>
                <a:effectLst>
                  <a:outerShdw blurRad="38100" dist="38100" dir="2700000" algn="tl">
                    <a:srgbClr val="000000">
                      <a:alpha val="43137"/>
                    </a:srgbClr>
                  </a:outerShdw>
                </a:effectLst>
                <a:latin typeface="Cascadia Mono" panose="020B0609020000020004" pitchFamily="49" charset="0"/>
              </a:rPr>
              <a:t>"</a:t>
            </a:r>
            <a:r>
              <a:rPr lang="fr-FR" sz="1600" b="1" dirty="0">
                <a:solidFill>
                  <a:srgbClr val="FF0000"/>
                </a:solidFill>
                <a:effectLst>
                  <a:outerShdw blurRad="38100" dist="38100" dir="2700000" algn="tl">
                    <a:srgbClr val="000000">
                      <a:alpha val="43137"/>
                    </a:srgbClr>
                  </a:outerShdw>
                </a:effectLst>
                <a:latin typeface="Cascadia Mono" panose="020B0609020000020004" pitchFamily="49" charset="0"/>
              </a:rPr>
              <a:t> </a:t>
            </a:r>
            <a:r>
              <a:rPr lang="fr-FR" sz="1400" dirty="0" err="1">
                <a:solidFill>
                  <a:srgbClr val="FF0000"/>
                </a:solidFill>
                <a:latin typeface="Cascadia Mono" panose="020B0609020000020004" pitchFamily="49" charset="0"/>
              </a:rPr>
              <a:t>FontSize</a:t>
            </a:r>
            <a:r>
              <a:rPr lang="fr-FR" sz="1400" dirty="0">
                <a:solidFill>
                  <a:srgbClr val="0000FF"/>
                </a:solidFill>
                <a:latin typeface="Cascadia Mono" panose="020B0609020000020004" pitchFamily="49" charset="0"/>
              </a:rPr>
              <a:t>="25" /&gt;</a:t>
            </a:r>
            <a:endParaRPr lang="fr-FR" sz="1400" dirty="0">
              <a:solidFill>
                <a:srgbClr val="000000"/>
              </a:solidFill>
              <a:latin typeface="Cascadia Mono" panose="020B0609020000020004" pitchFamily="49" charset="0"/>
            </a:endParaRPr>
          </a:p>
          <a:p>
            <a:r>
              <a:rPr lang="fr-FR" sz="1400" dirty="0">
                <a:solidFill>
                  <a:srgbClr val="000000"/>
                </a:solidFill>
                <a:latin typeface="Cascadia Mono" panose="020B0609020000020004" pitchFamily="49" charset="0"/>
              </a:rPr>
              <a:t>        </a:t>
            </a:r>
            <a:r>
              <a:rPr lang="fr-FR" sz="1400" dirty="0">
                <a:solidFill>
                  <a:srgbClr val="0000FF"/>
                </a:solidFill>
                <a:latin typeface="Cascadia Mono" panose="020B0609020000020004" pitchFamily="49" charset="0"/>
              </a:rPr>
              <a:t>&lt;</a:t>
            </a:r>
            <a:r>
              <a:rPr lang="fr-FR" sz="1400" dirty="0" err="1">
                <a:solidFill>
                  <a:srgbClr val="A31515"/>
                </a:solidFill>
                <a:latin typeface="Cascadia Mono" panose="020B0609020000020004" pitchFamily="49" charset="0"/>
              </a:rPr>
              <a:t>RadioButton</a:t>
            </a:r>
            <a:r>
              <a:rPr lang="fr-FR" sz="1400" dirty="0">
                <a:solidFill>
                  <a:srgbClr val="FF0000"/>
                </a:solidFill>
                <a:latin typeface="Cascadia Mono" panose="020B0609020000020004" pitchFamily="49" charset="0"/>
              </a:rPr>
              <a:t> Content</a:t>
            </a:r>
            <a:r>
              <a:rPr lang="fr-FR" sz="1400" dirty="0">
                <a:solidFill>
                  <a:srgbClr val="0000FF"/>
                </a:solidFill>
                <a:latin typeface="Cascadia Mono" panose="020B0609020000020004" pitchFamily="49" charset="0"/>
              </a:rPr>
              <a:t>="</a:t>
            </a:r>
            <a:r>
              <a:rPr lang="fr-FR" sz="1400" dirty="0" err="1">
                <a:solidFill>
                  <a:srgbClr val="0000FF"/>
                </a:solidFill>
                <a:latin typeface="Cascadia Mono" panose="020B0609020000020004" pitchFamily="49" charset="0"/>
              </a:rPr>
              <a:t>Elephant</a:t>
            </a:r>
            <a:r>
              <a:rPr lang="fr-FR" sz="1400" dirty="0">
                <a:solidFill>
                  <a:srgbClr val="0000FF"/>
                </a:solidFill>
                <a:latin typeface="Cascadia Mono" panose="020B0609020000020004" pitchFamily="49" charset="0"/>
              </a:rPr>
              <a:t>"</a:t>
            </a:r>
            <a:r>
              <a:rPr lang="fr-FR" sz="1400" dirty="0">
                <a:solidFill>
                  <a:srgbClr val="FF0000"/>
                </a:solidFill>
                <a:latin typeface="Cascadia Mono" panose="020B0609020000020004" pitchFamily="49" charset="0"/>
              </a:rPr>
              <a:t> </a:t>
            </a:r>
            <a:r>
              <a:rPr lang="fr-FR" sz="1600" b="1" dirty="0" err="1">
                <a:solidFill>
                  <a:srgbClr val="FF0000"/>
                </a:solidFill>
                <a:latin typeface="Cascadia Mono" panose="020B0609020000020004" pitchFamily="49" charset="0"/>
              </a:rPr>
              <a:t>GroupName</a:t>
            </a:r>
            <a:r>
              <a:rPr lang="fr-FR" sz="1600" b="1" dirty="0">
                <a:solidFill>
                  <a:srgbClr val="0000FF"/>
                </a:solidFill>
                <a:latin typeface="Cascadia Mono" panose="020B0609020000020004" pitchFamily="49" charset="0"/>
              </a:rPr>
              <a:t>="</a:t>
            </a:r>
            <a:r>
              <a:rPr lang="fr-FR" sz="1600" b="1" dirty="0" err="1">
                <a:solidFill>
                  <a:srgbClr val="0000FF"/>
                </a:solidFill>
                <a:latin typeface="Cascadia Mono" panose="020B0609020000020004" pitchFamily="49" charset="0"/>
              </a:rPr>
              <a:t>animals</a:t>
            </a:r>
            <a:r>
              <a:rPr lang="fr-FR" sz="1600" b="1" dirty="0">
                <a:solidFill>
                  <a:srgbClr val="0000FF"/>
                </a:solidFill>
                <a:latin typeface="Cascadia Mono" panose="020B0609020000020004" pitchFamily="49" charset="0"/>
              </a:rPr>
              <a:t>"</a:t>
            </a:r>
            <a:r>
              <a:rPr lang="fr-FR" sz="1600" b="1" dirty="0">
                <a:solidFill>
                  <a:srgbClr val="FF0000"/>
                </a:solidFill>
                <a:latin typeface="Cascadia Mono" panose="020B0609020000020004" pitchFamily="49" charset="0"/>
              </a:rPr>
              <a:t> </a:t>
            </a:r>
            <a:r>
              <a:rPr lang="fr-FR" sz="1400" dirty="0" err="1">
                <a:solidFill>
                  <a:srgbClr val="FF0000"/>
                </a:solidFill>
                <a:latin typeface="Cascadia Mono" panose="020B0609020000020004" pitchFamily="49" charset="0"/>
              </a:rPr>
              <a:t>FontSize</a:t>
            </a:r>
            <a:r>
              <a:rPr lang="fr-FR" sz="1400" dirty="0">
                <a:solidFill>
                  <a:srgbClr val="0000FF"/>
                </a:solidFill>
                <a:latin typeface="Cascadia Mono" panose="020B0609020000020004" pitchFamily="49" charset="0"/>
              </a:rPr>
              <a:t>="25</a:t>
            </a:r>
            <a:r>
              <a:rPr lang="fr-FR" sz="1400" dirty="0" smtClean="0">
                <a:solidFill>
                  <a:srgbClr val="0000FF"/>
                </a:solidFill>
                <a:latin typeface="Cascadia Mono" panose="020B0609020000020004" pitchFamily="49" charset="0"/>
              </a:rPr>
              <a:t>"/&gt;</a:t>
            </a:r>
            <a:endParaRPr lang="fr-FR" sz="1400" dirty="0">
              <a:solidFill>
                <a:srgbClr val="000000"/>
              </a:solidFill>
              <a:latin typeface="Cascadia Mono" panose="020B0609020000020004" pitchFamily="49" charset="0"/>
            </a:endParaRPr>
          </a:p>
          <a:p>
            <a:r>
              <a:rPr lang="fr-FR" sz="1400" dirty="0">
                <a:solidFill>
                  <a:srgbClr val="000000"/>
                </a:solidFill>
                <a:latin typeface="Cascadia Mono" panose="020B0609020000020004" pitchFamily="49" charset="0"/>
              </a:rPr>
              <a:t>        </a:t>
            </a:r>
            <a:r>
              <a:rPr lang="fr-FR" sz="1400" dirty="0">
                <a:solidFill>
                  <a:srgbClr val="0000FF"/>
                </a:solidFill>
                <a:latin typeface="Cascadia Mono" panose="020B0609020000020004" pitchFamily="49" charset="0"/>
              </a:rPr>
              <a:t>&lt;</a:t>
            </a:r>
            <a:r>
              <a:rPr lang="fr-FR" sz="1400" dirty="0" err="1">
                <a:solidFill>
                  <a:srgbClr val="A31515"/>
                </a:solidFill>
                <a:latin typeface="Cascadia Mono" panose="020B0609020000020004" pitchFamily="49" charset="0"/>
              </a:rPr>
              <a:t>RadioButton</a:t>
            </a:r>
            <a:r>
              <a:rPr lang="fr-FR" sz="1400" dirty="0">
                <a:solidFill>
                  <a:srgbClr val="FF0000"/>
                </a:solidFill>
                <a:latin typeface="Cascadia Mono" panose="020B0609020000020004" pitchFamily="49" charset="0"/>
              </a:rPr>
              <a:t> Content</a:t>
            </a:r>
            <a:r>
              <a:rPr lang="fr-FR" sz="1400" dirty="0">
                <a:solidFill>
                  <a:srgbClr val="0000FF"/>
                </a:solidFill>
                <a:latin typeface="Cascadia Mono" panose="020B0609020000020004" pitchFamily="49" charset="0"/>
              </a:rPr>
              <a:t>="Monkey"</a:t>
            </a:r>
            <a:r>
              <a:rPr lang="fr-FR" sz="1400" dirty="0">
                <a:solidFill>
                  <a:srgbClr val="FF0000"/>
                </a:solidFill>
                <a:latin typeface="Cascadia Mono" panose="020B0609020000020004" pitchFamily="49" charset="0"/>
              </a:rPr>
              <a:t> </a:t>
            </a:r>
            <a:r>
              <a:rPr lang="fr-FR" sz="1600" b="1" dirty="0" err="1">
                <a:solidFill>
                  <a:srgbClr val="FF0000"/>
                </a:solidFill>
                <a:latin typeface="Cascadia Mono" panose="020B0609020000020004" pitchFamily="49" charset="0"/>
              </a:rPr>
              <a:t>GroupName</a:t>
            </a:r>
            <a:r>
              <a:rPr lang="fr-FR" sz="1600" b="1" dirty="0">
                <a:solidFill>
                  <a:srgbClr val="0000FF"/>
                </a:solidFill>
                <a:latin typeface="Cascadia Mono" panose="020B0609020000020004" pitchFamily="49" charset="0"/>
              </a:rPr>
              <a:t>="</a:t>
            </a:r>
            <a:r>
              <a:rPr lang="fr-FR" sz="1600" b="1" dirty="0" err="1">
                <a:solidFill>
                  <a:srgbClr val="0000FF"/>
                </a:solidFill>
                <a:latin typeface="Cascadia Mono" panose="020B0609020000020004" pitchFamily="49" charset="0"/>
              </a:rPr>
              <a:t>animals</a:t>
            </a:r>
            <a:r>
              <a:rPr lang="fr-FR" sz="1600" b="1" dirty="0">
                <a:solidFill>
                  <a:srgbClr val="0000FF"/>
                </a:solidFill>
                <a:latin typeface="Cascadia Mono" panose="020B0609020000020004" pitchFamily="49" charset="0"/>
              </a:rPr>
              <a:t>"</a:t>
            </a:r>
            <a:r>
              <a:rPr lang="fr-FR" sz="1600" b="1" dirty="0">
                <a:solidFill>
                  <a:srgbClr val="FF0000"/>
                </a:solidFill>
                <a:latin typeface="Cascadia Mono" panose="020B0609020000020004" pitchFamily="49" charset="0"/>
              </a:rPr>
              <a:t> </a:t>
            </a:r>
            <a:r>
              <a:rPr lang="fr-FR" sz="1400" dirty="0" err="1">
                <a:solidFill>
                  <a:srgbClr val="FF0000"/>
                </a:solidFill>
                <a:latin typeface="Cascadia Mono" panose="020B0609020000020004" pitchFamily="49" charset="0"/>
              </a:rPr>
              <a:t>FontSize</a:t>
            </a:r>
            <a:r>
              <a:rPr lang="fr-FR" sz="1400" dirty="0">
                <a:solidFill>
                  <a:srgbClr val="0000FF"/>
                </a:solidFill>
                <a:latin typeface="Cascadia Mono" panose="020B0609020000020004" pitchFamily="49" charset="0"/>
              </a:rPr>
              <a:t>="25"</a:t>
            </a:r>
            <a:endParaRPr lang="fr-FR" sz="1400" dirty="0">
              <a:solidFill>
                <a:srgbClr val="000000"/>
              </a:solidFill>
              <a:latin typeface="Cascadia Mono" panose="020B0609020000020004" pitchFamily="49" charset="0"/>
            </a:endParaRPr>
          </a:p>
          <a:p>
            <a:r>
              <a:rPr lang="fr-FR" sz="1400" dirty="0">
                <a:solidFill>
                  <a:srgbClr val="000000"/>
                </a:solidFill>
                <a:latin typeface="Cascadia Mono" panose="020B0609020000020004" pitchFamily="49" charset="0"/>
              </a:rPr>
              <a:t>                </a:t>
            </a:r>
            <a:r>
              <a:rPr lang="fr-FR" sz="1400" dirty="0">
                <a:solidFill>
                  <a:srgbClr val="FF0000"/>
                </a:solidFill>
                <a:latin typeface="Cascadia Mono" panose="020B0609020000020004" pitchFamily="49" charset="0"/>
              </a:rPr>
              <a:t> </a:t>
            </a:r>
            <a:r>
              <a:rPr lang="fr-FR" sz="1400" dirty="0" smtClean="0">
                <a:solidFill>
                  <a:srgbClr val="FF0000"/>
                </a:solidFill>
                <a:latin typeface="Cascadia Mono" panose="020B0609020000020004" pitchFamily="49" charset="0"/>
              </a:rPr>
              <a:t>   IsChecked</a:t>
            </a:r>
            <a:r>
              <a:rPr lang="fr-FR" sz="1400" dirty="0">
                <a:solidFill>
                  <a:srgbClr val="0000FF"/>
                </a:solidFill>
                <a:latin typeface="Cascadia Mono" panose="020B0609020000020004" pitchFamily="49" charset="0"/>
              </a:rPr>
              <a:t>="</a:t>
            </a:r>
            <a:r>
              <a:rPr lang="fr-FR" sz="1400" dirty="0" err="1">
                <a:solidFill>
                  <a:srgbClr val="0000FF"/>
                </a:solidFill>
                <a:latin typeface="Cascadia Mono" panose="020B0609020000020004" pitchFamily="49" charset="0"/>
              </a:rPr>
              <a:t>true</a:t>
            </a:r>
            <a:r>
              <a:rPr lang="fr-FR" sz="1400" dirty="0">
                <a:solidFill>
                  <a:srgbClr val="0000FF"/>
                </a:solidFill>
                <a:latin typeface="Cascadia Mono" panose="020B0609020000020004" pitchFamily="49" charset="0"/>
              </a:rPr>
              <a:t>" /&gt;</a:t>
            </a:r>
            <a:endParaRPr lang="fr-FR" sz="1400" dirty="0">
              <a:solidFill>
                <a:srgbClr val="000000"/>
              </a:solidFill>
              <a:latin typeface="Cascadia Mono" panose="020B0609020000020004" pitchFamily="49" charset="0"/>
            </a:endParaRPr>
          </a:p>
          <a:p>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&lt;</a:t>
            </a:r>
            <a:r>
              <a:rPr lang="en-US" sz="1400" dirty="0">
                <a:solidFill>
                  <a:srgbClr val="A31515"/>
                </a:solidFill>
                <a:latin typeface="Cascadia Mono" panose="020B0609020000020004" pitchFamily="49" charset="0"/>
              </a:rPr>
              <a:t>Label</a:t>
            </a:r>
            <a:r>
              <a:rPr lang="en-US" sz="1400" dirty="0">
                <a:solidFill>
                  <a:srgbClr val="FF0000"/>
                </a:solidFill>
                <a:latin typeface="Cascadia Mono" panose="020B0609020000020004" pitchFamily="49" charset="0"/>
              </a:rPr>
              <a:t> Text</a:t>
            </a:r>
            <a:r>
              <a:rPr lang="en-US" sz="1400" dirty="0">
                <a:solidFill>
                  <a:srgbClr val="0000FF"/>
                </a:solidFill>
                <a:latin typeface="Cascadia Mono" panose="020B0609020000020004" pitchFamily="49" charset="0"/>
              </a:rPr>
              <a:t>="What's your favorite color?"</a:t>
            </a:r>
            <a:r>
              <a:rPr lang="en-US" sz="1400" dirty="0">
                <a:solidFill>
                  <a:srgbClr val="000000"/>
                </a:solidFill>
                <a:latin typeface="Cascadia Mono" panose="020B0609020000020004" pitchFamily="49" charset="0"/>
              </a:rPr>
              <a:t> </a:t>
            </a:r>
          </a:p>
          <a:p>
            <a:r>
              <a:rPr lang="fr-FR" sz="1400" dirty="0">
                <a:solidFill>
                  <a:srgbClr val="000000"/>
                </a:solidFill>
                <a:latin typeface="Cascadia Mono" panose="020B0609020000020004" pitchFamily="49" charset="0"/>
              </a:rPr>
              <a:t>              </a:t>
            </a:r>
            <a:r>
              <a:rPr lang="fr-FR" sz="1400" dirty="0">
                <a:solidFill>
                  <a:srgbClr val="FF0000"/>
                </a:solidFill>
                <a:latin typeface="Cascadia Mono" panose="020B0609020000020004" pitchFamily="49" charset="0"/>
              </a:rPr>
              <a:t> </a:t>
            </a:r>
            <a:r>
              <a:rPr lang="fr-FR" sz="1400" dirty="0" err="1">
                <a:solidFill>
                  <a:srgbClr val="FF0000"/>
                </a:solidFill>
                <a:latin typeface="Cascadia Mono" panose="020B0609020000020004" pitchFamily="49" charset="0"/>
              </a:rPr>
              <a:t>FontSize</a:t>
            </a:r>
            <a:r>
              <a:rPr lang="fr-FR" sz="1400" dirty="0">
                <a:solidFill>
                  <a:srgbClr val="0000FF"/>
                </a:solidFill>
                <a:latin typeface="Cascadia Mono" panose="020B0609020000020004" pitchFamily="49" charset="0"/>
              </a:rPr>
              <a:t>="30" /&gt;</a:t>
            </a:r>
            <a:endParaRPr lang="fr-FR" sz="1400" dirty="0">
              <a:solidFill>
                <a:srgbClr val="000000"/>
              </a:solidFill>
              <a:latin typeface="Cascadia Mono" panose="020B0609020000020004" pitchFamily="49" charset="0"/>
            </a:endParaRPr>
          </a:p>
          <a:p>
            <a:r>
              <a:rPr lang="fr-FR" sz="1400" dirty="0">
                <a:solidFill>
                  <a:srgbClr val="000000"/>
                </a:solidFill>
                <a:latin typeface="Cascadia Mono" panose="020B0609020000020004" pitchFamily="49" charset="0"/>
              </a:rPr>
              <a:t>        </a:t>
            </a:r>
            <a:r>
              <a:rPr lang="fr-FR" sz="1400" dirty="0">
                <a:solidFill>
                  <a:srgbClr val="0000FF"/>
                </a:solidFill>
                <a:latin typeface="Cascadia Mono" panose="020B0609020000020004" pitchFamily="49" charset="0"/>
              </a:rPr>
              <a:t>&lt;</a:t>
            </a:r>
            <a:r>
              <a:rPr lang="fr-FR" sz="1400" dirty="0" err="1">
                <a:solidFill>
                  <a:srgbClr val="A31515"/>
                </a:solidFill>
                <a:latin typeface="Cascadia Mono" panose="020B0609020000020004" pitchFamily="49" charset="0"/>
              </a:rPr>
              <a:t>RadioButton</a:t>
            </a:r>
            <a:r>
              <a:rPr lang="fr-FR" sz="1400" dirty="0">
                <a:solidFill>
                  <a:srgbClr val="FF0000"/>
                </a:solidFill>
                <a:latin typeface="Cascadia Mono" panose="020B0609020000020004" pitchFamily="49" charset="0"/>
              </a:rPr>
              <a:t> Content</a:t>
            </a:r>
            <a:r>
              <a:rPr lang="fr-FR" sz="1400" dirty="0">
                <a:solidFill>
                  <a:srgbClr val="0000FF"/>
                </a:solidFill>
                <a:latin typeface="Cascadia Mono" panose="020B0609020000020004" pitchFamily="49" charset="0"/>
              </a:rPr>
              <a:t>="Red"</a:t>
            </a:r>
            <a:r>
              <a:rPr lang="fr-FR" sz="1400" dirty="0">
                <a:solidFill>
                  <a:srgbClr val="FF0000"/>
                </a:solidFill>
                <a:latin typeface="Cascadia Mono" panose="020B0609020000020004" pitchFamily="49" charset="0"/>
              </a:rPr>
              <a:t> </a:t>
            </a:r>
            <a:r>
              <a:rPr lang="fr-FR" sz="1600" b="1" dirty="0" err="1">
                <a:solidFill>
                  <a:srgbClr val="FF0000"/>
                </a:solidFill>
                <a:effectLst>
                  <a:outerShdw blurRad="38100" dist="38100" dir="2700000" algn="tl">
                    <a:srgbClr val="000000">
                      <a:alpha val="43137"/>
                    </a:srgbClr>
                  </a:outerShdw>
                </a:effectLst>
                <a:latin typeface="Cascadia Mono" panose="020B0609020000020004" pitchFamily="49" charset="0"/>
              </a:rPr>
              <a:t>GroupName</a:t>
            </a:r>
            <a:r>
              <a:rPr lang="fr-FR" sz="1600" b="1" dirty="0">
                <a:solidFill>
                  <a:srgbClr val="0000FF"/>
                </a:solidFill>
                <a:effectLst>
                  <a:outerShdw blurRad="38100" dist="38100" dir="2700000" algn="tl">
                    <a:srgbClr val="000000">
                      <a:alpha val="43137"/>
                    </a:srgbClr>
                  </a:outerShdw>
                </a:effectLst>
                <a:latin typeface="Cascadia Mono" panose="020B0609020000020004" pitchFamily="49" charset="0"/>
              </a:rPr>
              <a:t>="</a:t>
            </a:r>
            <a:r>
              <a:rPr lang="fr-FR" sz="1600" b="1" dirty="0" err="1">
                <a:solidFill>
                  <a:srgbClr val="0000FF"/>
                </a:solidFill>
                <a:effectLst>
                  <a:outerShdw blurRad="38100" dist="38100" dir="2700000" algn="tl">
                    <a:srgbClr val="000000">
                      <a:alpha val="43137"/>
                    </a:srgbClr>
                  </a:outerShdw>
                </a:effectLst>
                <a:latin typeface="Cascadia Mono" panose="020B0609020000020004" pitchFamily="49" charset="0"/>
              </a:rPr>
              <a:t>colors</a:t>
            </a:r>
            <a:r>
              <a:rPr lang="fr-FR" sz="1600" b="1" dirty="0">
                <a:solidFill>
                  <a:srgbClr val="0000FF"/>
                </a:solidFill>
                <a:effectLst>
                  <a:outerShdw blurRad="38100" dist="38100" dir="2700000" algn="tl">
                    <a:srgbClr val="000000">
                      <a:alpha val="43137"/>
                    </a:srgbClr>
                  </a:outerShdw>
                </a:effectLst>
                <a:latin typeface="Cascadia Mono" panose="020B0609020000020004" pitchFamily="49" charset="0"/>
              </a:rPr>
              <a:t>"</a:t>
            </a:r>
            <a:r>
              <a:rPr lang="fr-FR" sz="1600" b="1" dirty="0">
                <a:solidFill>
                  <a:srgbClr val="FF0000"/>
                </a:solidFill>
                <a:effectLst>
                  <a:outerShdw blurRad="38100" dist="38100" dir="2700000" algn="tl">
                    <a:srgbClr val="000000">
                      <a:alpha val="43137"/>
                    </a:srgbClr>
                  </a:outerShdw>
                </a:effectLst>
                <a:latin typeface="Cascadia Mono" panose="020B0609020000020004" pitchFamily="49" charset="0"/>
              </a:rPr>
              <a:t> </a:t>
            </a:r>
            <a:r>
              <a:rPr lang="fr-FR" sz="1400" dirty="0" err="1">
                <a:solidFill>
                  <a:srgbClr val="FF0000"/>
                </a:solidFill>
                <a:latin typeface="Cascadia Mono" panose="020B0609020000020004" pitchFamily="49" charset="0"/>
              </a:rPr>
              <a:t>FontSize</a:t>
            </a:r>
            <a:r>
              <a:rPr lang="fr-FR" sz="1400" dirty="0">
                <a:solidFill>
                  <a:srgbClr val="0000FF"/>
                </a:solidFill>
                <a:latin typeface="Cascadia Mono" panose="020B0609020000020004" pitchFamily="49" charset="0"/>
              </a:rPr>
              <a:t>="25" /&gt;</a:t>
            </a:r>
            <a:endParaRPr lang="fr-FR" sz="1400" dirty="0">
              <a:solidFill>
                <a:srgbClr val="000000"/>
              </a:solidFill>
              <a:latin typeface="Cascadia Mono" panose="020B0609020000020004" pitchFamily="49" charset="0"/>
            </a:endParaRPr>
          </a:p>
          <a:p>
            <a:r>
              <a:rPr lang="fr-FR" sz="1400" dirty="0">
                <a:solidFill>
                  <a:srgbClr val="000000"/>
                </a:solidFill>
                <a:latin typeface="Cascadia Mono" panose="020B0609020000020004" pitchFamily="49" charset="0"/>
              </a:rPr>
              <a:t>        </a:t>
            </a:r>
            <a:r>
              <a:rPr lang="fr-FR" sz="1400" dirty="0">
                <a:solidFill>
                  <a:srgbClr val="0000FF"/>
                </a:solidFill>
                <a:latin typeface="Cascadia Mono" panose="020B0609020000020004" pitchFamily="49" charset="0"/>
              </a:rPr>
              <a:t>&lt;</a:t>
            </a:r>
            <a:r>
              <a:rPr lang="fr-FR" sz="1400" dirty="0" err="1">
                <a:solidFill>
                  <a:srgbClr val="A31515"/>
                </a:solidFill>
                <a:latin typeface="Cascadia Mono" panose="020B0609020000020004" pitchFamily="49" charset="0"/>
              </a:rPr>
              <a:t>RadioButton</a:t>
            </a:r>
            <a:r>
              <a:rPr lang="fr-FR" sz="1400" dirty="0">
                <a:solidFill>
                  <a:srgbClr val="FF0000"/>
                </a:solidFill>
                <a:latin typeface="Cascadia Mono" panose="020B0609020000020004" pitchFamily="49" charset="0"/>
              </a:rPr>
              <a:t> Content</a:t>
            </a:r>
            <a:r>
              <a:rPr lang="fr-FR" sz="1400" dirty="0">
                <a:solidFill>
                  <a:srgbClr val="0000FF"/>
                </a:solidFill>
                <a:latin typeface="Cascadia Mono" panose="020B0609020000020004" pitchFamily="49" charset="0"/>
              </a:rPr>
              <a:t>="Green"</a:t>
            </a:r>
            <a:r>
              <a:rPr lang="fr-FR" sz="1400" dirty="0">
                <a:solidFill>
                  <a:srgbClr val="FF0000"/>
                </a:solidFill>
                <a:latin typeface="Cascadia Mono" panose="020B0609020000020004" pitchFamily="49" charset="0"/>
              </a:rPr>
              <a:t> </a:t>
            </a:r>
            <a:r>
              <a:rPr lang="fr-FR" sz="1600" b="1" dirty="0" err="1">
                <a:solidFill>
                  <a:srgbClr val="FF0000"/>
                </a:solidFill>
                <a:effectLst>
                  <a:outerShdw blurRad="38100" dist="38100" dir="2700000" algn="tl">
                    <a:srgbClr val="000000">
                      <a:alpha val="43137"/>
                    </a:srgbClr>
                  </a:outerShdw>
                </a:effectLst>
                <a:latin typeface="Cascadia Mono" panose="020B0609020000020004" pitchFamily="49" charset="0"/>
              </a:rPr>
              <a:t>GroupName</a:t>
            </a:r>
            <a:r>
              <a:rPr lang="fr-FR" sz="1600" b="1" dirty="0">
                <a:solidFill>
                  <a:srgbClr val="0000FF"/>
                </a:solidFill>
                <a:effectLst>
                  <a:outerShdw blurRad="38100" dist="38100" dir="2700000" algn="tl">
                    <a:srgbClr val="000000">
                      <a:alpha val="43137"/>
                    </a:srgbClr>
                  </a:outerShdw>
                </a:effectLst>
                <a:latin typeface="Cascadia Mono" panose="020B0609020000020004" pitchFamily="49" charset="0"/>
              </a:rPr>
              <a:t>="</a:t>
            </a:r>
            <a:r>
              <a:rPr lang="fr-FR" sz="1600" b="1" dirty="0" err="1">
                <a:solidFill>
                  <a:srgbClr val="0000FF"/>
                </a:solidFill>
                <a:effectLst>
                  <a:outerShdw blurRad="38100" dist="38100" dir="2700000" algn="tl">
                    <a:srgbClr val="000000">
                      <a:alpha val="43137"/>
                    </a:srgbClr>
                  </a:outerShdw>
                </a:effectLst>
                <a:latin typeface="Cascadia Mono" panose="020B0609020000020004" pitchFamily="49" charset="0"/>
              </a:rPr>
              <a:t>colors</a:t>
            </a:r>
            <a:r>
              <a:rPr lang="fr-FR" sz="1600" b="1" dirty="0">
                <a:solidFill>
                  <a:srgbClr val="0000FF"/>
                </a:solidFill>
                <a:effectLst>
                  <a:outerShdw blurRad="38100" dist="38100" dir="2700000" algn="tl">
                    <a:srgbClr val="000000">
                      <a:alpha val="43137"/>
                    </a:srgbClr>
                  </a:outerShdw>
                </a:effectLst>
                <a:latin typeface="Cascadia Mono" panose="020B0609020000020004" pitchFamily="49" charset="0"/>
              </a:rPr>
              <a:t>"</a:t>
            </a:r>
            <a:r>
              <a:rPr lang="fr-FR" sz="1600" b="1" dirty="0">
                <a:solidFill>
                  <a:srgbClr val="FF0000"/>
                </a:solidFill>
                <a:effectLst>
                  <a:outerShdw blurRad="38100" dist="38100" dir="2700000" algn="tl">
                    <a:srgbClr val="000000">
                      <a:alpha val="43137"/>
                    </a:srgbClr>
                  </a:outerShdw>
                </a:effectLst>
                <a:latin typeface="Cascadia Mono" panose="020B0609020000020004" pitchFamily="49" charset="0"/>
              </a:rPr>
              <a:t> </a:t>
            </a:r>
            <a:r>
              <a:rPr lang="fr-FR" sz="1400" dirty="0" err="1">
                <a:solidFill>
                  <a:srgbClr val="FF0000"/>
                </a:solidFill>
                <a:latin typeface="Cascadia Mono" panose="020B0609020000020004" pitchFamily="49" charset="0"/>
              </a:rPr>
              <a:t>FontSize</a:t>
            </a:r>
            <a:r>
              <a:rPr lang="fr-FR" sz="1400" dirty="0">
                <a:solidFill>
                  <a:srgbClr val="0000FF"/>
                </a:solidFill>
                <a:latin typeface="Cascadia Mono" panose="020B0609020000020004" pitchFamily="49" charset="0"/>
              </a:rPr>
              <a:t>="25" /&gt;</a:t>
            </a:r>
            <a:endParaRPr lang="fr-FR" sz="1400" dirty="0">
              <a:solidFill>
                <a:srgbClr val="000000"/>
              </a:solidFill>
              <a:latin typeface="Cascadia Mono" panose="020B0609020000020004" pitchFamily="49" charset="0"/>
            </a:endParaRPr>
          </a:p>
          <a:p>
            <a:r>
              <a:rPr lang="fr-FR" sz="1400" dirty="0">
                <a:solidFill>
                  <a:srgbClr val="000000"/>
                </a:solidFill>
                <a:latin typeface="Cascadia Mono" panose="020B0609020000020004" pitchFamily="49" charset="0"/>
              </a:rPr>
              <a:t>        </a:t>
            </a:r>
            <a:r>
              <a:rPr lang="fr-FR" sz="1400" dirty="0">
                <a:solidFill>
                  <a:srgbClr val="0000FF"/>
                </a:solidFill>
                <a:latin typeface="Cascadia Mono" panose="020B0609020000020004" pitchFamily="49" charset="0"/>
              </a:rPr>
              <a:t>&lt;</a:t>
            </a:r>
            <a:r>
              <a:rPr lang="fr-FR" sz="1400" dirty="0" err="1">
                <a:solidFill>
                  <a:srgbClr val="A31515"/>
                </a:solidFill>
                <a:latin typeface="Cascadia Mono" panose="020B0609020000020004" pitchFamily="49" charset="0"/>
              </a:rPr>
              <a:t>RadioButton</a:t>
            </a:r>
            <a:r>
              <a:rPr lang="fr-FR" sz="1400" dirty="0">
                <a:solidFill>
                  <a:srgbClr val="FF0000"/>
                </a:solidFill>
                <a:latin typeface="Cascadia Mono" panose="020B0609020000020004" pitchFamily="49" charset="0"/>
              </a:rPr>
              <a:t> Content</a:t>
            </a:r>
            <a:r>
              <a:rPr lang="fr-FR" sz="1400" dirty="0">
                <a:solidFill>
                  <a:srgbClr val="0000FF"/>
                </a:solidFill>
                <a:latin typeface="Cascadia Mono" panose="020B0609020000020004" pitchFamily="49" charset="0"/>
              </a:rPr>
              <a:t>="Blue"</a:t>
            </a:r>
            <a:r>
              <a:rPr lang="fr-FR" sz="1400" dirty="0">
                <a:solidFill>
                  <a:srgbClr val="FF0000"/>
                </a:solidFill>
                <a:latin typeface="Cascadia Mono" panose="020B0609020000020004" pitchFamily="49" charset="0"/>
              </a:rPr>
              <a:t> </a:t>
            </a:r>
            <a:r>
              <a:rPr lang="fr-FR" sz="1600" b="1" dirty="0" err="1">
                <a:solidFill>
                  <a:srgbClr val="FF0000"/>
                </a:solidFill>
                <a:effectLst>
                  <a:outerShdw blurRad="38100" dist="38100" dir="2700000" algn="tl">
                    <a:srgbClr val="000000">
                      <a:alpha val="43137"/>
                    </a:srgbClr>
                  </a:outerShdw>
                </a:effectLst>
                <a:latin typeface="Cascadia Mono" panose="020B0609020000020004" pitchFamily="49" charset="0"/>
              </a:rPr>
              <a:t>GroupName</a:t>
            </a:r>
            <a:r>
              <a:rPr lang="fr-FR" sz="1600" b="1" dirty="0">
                <a:solidFill>
                  <a:srgbClr val="0000FF"/>
                </a:solidFill>
                <a:effectLst>
                  <a:outerShdw blurRad="38100" dist="38100" dir="2700000" algn="tl">
                    <a:srgbClr val="000000">
                      <a:alpha val="43137"/>
                    </a:srgbClr>
                  </a:outerShdw>
                </a:effectLst>
                <a:latin typeface="Cascadia Mono" panose="020B0609020000020004" pitchFamily="49" charset="0"/>
              </a:rPr>
              <a:t>="</a:t>
            </a:r>
            <a:r>
              <a:rPr lang="fr-FR" sz="1600" b="1" dirty="0" err="1">
                <a:solidFill>
                  <a:srgbClr val="0000FF"/>
                </a:solidFill>
                <a:effectLst>
                  <a:outerShdw blurRad="38100" dist="38100" dir="2700000" algn="tl">
                    <a:srgbClr val="000000">
                      <a:alpha val="43137"/>
                    </a:srgbClr>
                  </a:outerShdw>
                </a:effectLst>
                <a:latin typeface="Cascadia Mono" panose="020B0609020000020004" pitchFamily="49" charset="0"/>
              </a:rPr>
              <a:t>colors</a:t>
            </a:r>
            <a:r>
              <a:rPr lang="fr-FR" sz="1600" b="1" dirty="0">
                <a:solidFill>
                  <a:srgbClr val="0000FF"/>
                </a:solidFill>
                <a:effectLst>
                  <a:outerShdw blurRad="38100" dist="38100" dir="2700000" algn="tl">
                    <a:srgbClr val="000000">
                      <a:alpha val="43137"/>
                    </a:srgbClr>
                  </a:outerShdw>
                </a:effectLst>
                <a:latin typeface="Cascadia Mono" panose="020B0609020000020004" pitchFamily="49" charset="0"/>
              </a:rPr>
              <a:t>"</a:t>
            </a:r>
            <a:r>
              <a:rPr lang="fr-FR" sz="1600" b="1" dirty="0">
                <a:solidFill>
                  <a:srgbClr val="FF0000"/>
                </a:solidFill>
                <a:effectLst>
                  <a:outerShdw blurRad="38100" dist="38100" dir="2700000" algn="tl">
                    <a:srgbClr val="000000">
                      <a:alpha val="43137"/>
                    </a:srgbClr>
                  </a:outerShdw>
                </a:effectLst>
                <a:latin typeface="Cascadia Mono" panose="020B0609020000020004" pitchFamily="49" charset="0"/>
              </a:rPr>
              <a:t> </a:t>
            </a:r>
            <a:r>
              <a:rPr lang="fr-FR" sz="1400" dirty="0" err="1">
                <a:solidFill>
                  <a:srgbClr val="FF0000"/>
                </a:solidFill>
                <a:latin typeface="Cascadia Mono" panose="020B0609020000020004" pitchFamily="49" charset="0"/>
              </a:rPr>
              <a:t>FontSize</a:t>
            </a:r>
            <a:r>
              <a:rPr lang="fr-FR" sz="1400" dirty="0">
                <a:solidFill>
                  <a:srgbClr val="0000FF"/>
                </a:solidFill>
                <a:latin typeface="Cascadia Mono" panose="020B0609020000020004" pitchFamily="49" charset="0"/>
              </a:rPr>
              <a:t>="25" /&gt;</a:t>
            </a:r>
            <a:endParaRPr lang="fr-FR" sz="1400" dirty="0">
              <a:solidFill>
                <a:srgbClr val="000000"/>
              </a:solidFill>
              <a:latin typeface="Cascadia Mono" panose="020B0609020000020004" pitchFamily="49" charset="0"/>
            </a:endParaRPr>
          </a:p>
          <a:p>
            <a:r>
              <a:rPr lang="fr-FR" sz="1400" dirty="0">
                <a:solidFill>
                  <a:srgbClr val="000000"/>
                </a:solidFill>
                <a:latin typeface="Cascadia Mono" panose="020B0609020000020004" pitchFamily="49" charset="0"/>
              </a:rPr>
              <a:t>    </a:t>
            </a:r>
            <a:r>
              <a:rPr lang="fr-FR" sz="1400" dirty="0">
                <a:solidFill>
                  <a:srgbClr val="0000FF"/>
                </a:solidFill>
                <a:latin typeface="Cascadia Mono" panose="020B0609020000020004" pitchFamily="49" charset="0"/>
              </a:rPr>
              <a:t>&lt;/</a:t>
            </a:r>
            <a:r>
              <a:rPr lang="fr-FR" sz="1400" dirty="0" err="1">
                <a:solidFill>
                  <a:srgbClr val="A31515"/>
                </a:solidFill>
                <a:latin typeface="Cascadia Mono" panose="020B0609020000020004" pitchFamily="49" charset="0"/>
              </a:rPr>
              <a:t>StackLayout</a:t>
            </a:r>
            <a:r>
              <a:rPr lang="fr-FR" sz="1400" dirty="0">
                <a:solidFill>
                  <a:srgbClr val="0000FF"/>
                </a:solidFill>
                <a:latin typeface="Cascadia Mono" panose="020B0609020000020004" pitchFamily="49" charset="0"/>
              </a:rPr>
              <a:t>&gt;</a:t>
            </a:r>
            <a:endParaRPr lang="fr-FR" sz="1400" dirty="0"/>
          </a:p>
        </p:txBody>
      </p:sp>
      <p:pic>
        <p:nvPicPr>
          <p:cNvPr id="7" name="Image 6"/>
          <p:cNvPicPr>
            <a:picLocks noChangeAspect="1"/>
          </p:cNvPicPr>
          <p:nvPr/>
        </p:nvPicPr>
        <p:blipFill>
          <a:blip r:embed="rId3"/>
          <a:stretch>
            <a:fillRect/>
          </a:stretch>
        </p:blipFill>
        <p:spPr>
          <a:xfrm>
            <a:off x="9400631" y="1123831"/>
            <a:ext cx="2006703" cy="4610337"/>
          </a:xfrm>
          <a:prstGeom prst="rect">
            <a:avLst/>
          </a:prstGeom>
        </p:spPr>
      </p:pic>
    </p:spTree>
    <p:extLst>
      <p:ext uri="{BB962C8B-B14F-4D97-AF65-F5344CB8AC3E}">
        <p14:creationId xmlns:p14="http://schemas.microsoft.com/office/powerpoint/2010/main" val="17888838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8"/>
          <p:cNvSpPr txBox="1">
            <a:spLocks noChangeArrowheads="1"/>
          </p:cNvSpPr>
          <p:nvPr/>
        </p:nvSpPr>
        <p:spPr bwMode="auto">
          <a:xfrm>
            <a:off x="392833" y="488311"/>
            <a:ext cx="7347369" cy="2205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152400">
              <a:tabLst>
                <a:tab pos="5992813" algn="l"/>
              </a:tabLst>
              <a:defRPr>
                <a:solidFill>
                  <a:schemeClr val="tx1"/>
                </a:solidFill>
                <a:latin typeface="Calibri" panose="020F0502020204030204" pitchFamily="34" charset="0"/>
                <a:cs typeface="Arial" panose="020B0604020202020204" pitchFamily="34" charset="0"/>
              </a:defRPr>
            </a:lvl1pPr>
            <a:lvl2pPr marL="579438" indent="-242888">
              <a:tabLst>
                <a:tab pos="5992813" algn="l"/>
              </a:tabLst>
              <a:defRPr>
                <a:solidFill>
                  <a:schemeClr val="tx1"/>
                </a:solidFill>
                <a:latin typeface="Calibri" panose="020F0502020204030204" pitchFamily="34" charset="0"/>
                <a:cs typeface="Arial" panose="020B0604020202020204" pitchFamily="34" charset="0"/>
              </a:defRPr>
            </a:lvl2pPr>
            <a:lvl3pPr marL="1143000" indent="-228600">
              <a:tabLst>
                <a:tab pos="5992813" algn="l"/>
              </a:tabLst>
              <a:defRPr>
                <a:solidFill>
                  <a:schemeClr val="tx1"/>
                </a:solidFill>
                <a:latin typeface="Calibri" panose="020F0502020204030204" pitchFamily="34" charset="0"/>
                <a:cs typeface="Arial" panose="020B0604020202020204" pitchFamily="34" charset="0"/>
              </a:defRPr>
            </a:lvl3pPr>
            <a:lvl4pPr marL="1600200" indent="-228600">
              <a:tabLst>
                <a:tab pos="5992813" algn="l"/>
              </a:tabLst>
              <a:defRPr>
                <a:solidFill>
                  <a:schemeClr val="tx1"/>
                </a:solidFill>
                <a:latin typeface="Calibri" panose="020F0502020204030204" pitchFamily="34" charset="0"/>
                <a:cs typeface="Arial" panose="020B0604020202020204" pitchFamily="34" charset="0"/>
              </a:defRPr>
            </a:lvl4pPr>
            <a:lvl5pPr marL="2057400" indent="-228600">
              <a:tabLst>
                <a:tab pos="5992813" algn="l"/>
              </a:tabLst>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2200" u="sng" dirty="0" smtClean="0">
                <a:latin typeface="Segoe UI Symbol" panose="020B0502040204020203" pitchFamily="34" charset="0"/>
              </a:rPr>
              <a:t>Les </a:t>
            </a:r>
            <a:r>
              <a:rPr lang="en-US" altLang="en-US" sz="2200" u="sng" dirty="0" err="1" smtClean="0">
                <a:latin typeface="Segoe UI Symbol" panose="020B0502040204020203" pitchFamily="34" charset="0"/>
              </a:rPr>
              <a:t>contrôles</a:t>
            </a:r>
            <a:r>
              <a:rPr lang="en-US" altLang="en-US" sz="2200" u="sng" dirty="0" smtClean="0">
                <a:latin typeface="Segoe UI Symbol" panose="020B0502040204020203" pitchFamily="34" charset="0"/>
              </a:rPr>
              <a:t> de </a:t>
            </a:r>
            <a:r>
              <a:rPr lang="en-US" altLang="en-US" sz="2200" u="sng" dirty="0" err="1" smtClean="0">
                <a:latin typeface="Segoe UI Symbol" panose="020B0502040204020203" pitchFamily="34" charset="0"/>
              </a:rPr>
              <a:t>commande</a:t>
            </a:r>
            <a:r>
              <a:rPr lang="fr-FR" altLang="en-US" sz="2200" u="sng" dirty="0" smtClean="0">
                <a:latin typeface="Segoe UI Symbol" panose="020B0502040204020203" pitchFamily="34" charset="0"/>
              </a:rPr>
              <a:t>-</a:t>
            </a:r>
            <a:r>
              <a:rPr lang="fr-FR" altLang="en-US" sz="2200" u="sng" dirty="0" err="1" smtClean="0">
                <a:latin typeface="Segoe UI Symbol" panose="020B0502040204020203" pitchFamily="34" charset="0"/>
              </a:rPr>
              <a:t>RefreshView</a:t>
            </a:r>
            <a:endParaRPr lang="fr-FR" altLang="en-US" sz="2200" dirty="0" smtClean="0">
              <a:latin typeface="Times New Roman" panose="02020603050405020304" pitchFamily="18" charset="0"/>
              <a:cs typeface="Times New Roman" panose="02020603050405020304" pitchFamily="18" charset="0"/>
            </a:endParaRPr>
          </a:p>
          <a:p>
            <a:pPr>
              <a:lnSpc>
                <a:spcPct val="150000"/>
              </a:lnSpc>
              <a:spcBef>
                <a:spcPts val="1625"/>
              </a:spcBef>
              <a:buClr>
                <a:srgbClr val="006498"/>
              </a:buClr>
              <a:buSzPct val="61000"/>
              <a:buFont typeface="Wingdings" panose="05000000000000000000" pitchFamily="2" charset="2"/>
              <a:buChar char=""/>
            </a:pPr>
            <a:r>
              <a:rPr lang="fr-FR" dirty="0" smtClean="0">
                <a:latin typeface="Segoe UI" panose="020B0502040204020203" pitchFamily="34" charset="0"/>
                <a:cs typeface="Segoe UI" panose="020B0502040204020203" pitchFamily="34" charset="0"/>
              </a:rPr>
              <a:t>Le contrôle </a:t>
            </a:r>
            <a:r>
              <a:rPr lang="fr-FR" b="1" dirty="0" err="1" smtClean="0">
                <a:latin typeface="Segoe UI" panose="020B0502040204020203" pitchFamily="34" charset="0"/>
                <a:cs typeface="Segoe UI" panose="020B0502040204020203" pitchFamily="34" charset="0"/>
              </a:rPr>
              <a:t>RefreshView</a:t>
            </a:r>
            <a:r>
              <a:rPr lang="fr-FR" dirty="0">
                <a:latin typeface="Segoe UI" panose="020B0502040204020203" pitchFamily="34" charset="0"/>
                <a:cs typeface="Segoe UI" panose="020B0502040204020203" pitchFamily="34" charset="0"/>
              </a:rPr>
              <a:t> est un contrôle de conteneur qui fournit une fonctionnalité d'extraction pour actualiser le contenu défilable. Par conséquent, l'enfant d'un </a:t>
            </a:r>
            <a:r>
              <a:rPr lang="fr-FR" dirty="0" err="1">
                <a:latin typeface="Segoe UI" panose="020B0502040204020203" pitchFamily="34" charset="0"/>
                <a:cs typeface="Segoe UI" panose="020B0502040204020203" pitchFamily="34" charset="0"/>
              </a:rPr>
              <a:t>RefreshView</a:t>
            </a:r>
            <a:r>
              <a:rPr lang="fr-FR" dirty="0">
                <a:latin typeface="Segoe UI" panose="020B0502040204020203" pitchFamily="34" charset="0"/>
                <a:cs typeface="Segoe UI" panose="020B0502040204020203" pitchFamily="34" charset="0"/>
              </a:rPr>
              <a:t> doit être un contrôle déroulant, tel que </a:t>
            </a:r>
            <a:r>
              <a:rPr lang="fr-FR" b="1" dirty="0" err="1">
                <a:latin typeface="Segoe UI" panose="020B0502040204020203" pitchFamily="34" charset="0"/>
                <a:cs typeface="Segoe UI" panose="020B0502040204020203" pitchFamily="34" charset="0"/>
              </a:rPr>
              <a:t>ScrollView</a:t>
            </a:r>
            <a:r>
              <a:rPr lang="fr-FR" dirty="0">
                <a:latin typeface="Segoe UI" panose="020B0502040204020203" pitchFamily="34" charset="0"/>
                <a:cs typeface="Segoe UI" panose="020B0502040204020203" pitchFamily="34" charset="0"/>
              </a:rPr>
              <a:t> , </a:t>
            </a:r>
            <a:r>
              <a:rPr lang="fr-FR" b="1" dirty="0" err="1">
                <a:latin typeface="Segoe UI" panose="020B0502040204020203" pitchFamily="34" charset="0"/>
                <a:cs typeface="Segoe UI" panose="020B0502040204020203" pitchFamily="34" charset="0"/>
              </a:rPr>
              <a:t>CollectionView</a:t>
            </a:r>
            <a:r>
              <a:rPr lang="fr-FR" dirty="0">
                <a:latin typeface="Segoe UI" panose="020B0502040204020203" pitchFamily="34" charset="0"/>
                <a:cs typeface="Segoe UI" panose="020B0502040204020203" pitchFamily="34" charset="0"/>
              </a:rPr>
              <a:t> ou </a:t>
            </a:r>
            <a:r>
              <a:rPr lang="fr-FR" b="1" dirty="0" err="1">
                <a:latin typeface="Segoe UI" panose="020B0502040204020203" pitchFamily="34" charset="0"/>
                <a:cs typeface="Segoe UI" panose="020B0502040204020203" pitchFamily="34" charset="0"/>
              </a:rPr>
              <a:t>ListView</a:t>
            </a:r>
            <a:r>
              <a:rPr lang="fr-FR" dirty="0">
                <a:latin typeface="Segoe UI" panose="020B0502040204020203" pitchFamily="34" charset="0"/>
                <a:cs typeface="Segoe UI" panose="020B0502040204020203" pitchFamily="34" charset="0"/>
              </a:rPr>
              <a:t> </a:t>
            </a:r>
            <a:endParaRPr lang="fr-FR" b="1" dirty="0" smtClean="0">
              <a:latin typeface="Segoe UI" panose="020B0502040204020203" pitchFamily="34" charset="0"/>
              <a:cs typeface="Segoe UI" panose="020B0502040204020203" pitchFamily="34" charset="0"/>
            </a:endParaRPr>
          </a:p>
        </p:txBody>
      </p:sp>
      <p:pic>
        <p:nvPicPr>
          <p:cNvPr id="4" name="Image 3"/>
          <p:cNvPicPr>
            <a:picLocks noChangeAspect="1"/>
          </p:cNvPicPr>
          <p:nvPr/>
        </p:nvPicPr>
        <p:blipFill>
          <a:blip r:embed="rId2"/>
          <a:stretch>
            <a:fillRect/>
          </a:stretch>
        </p:blipFill>
        <p:spPr>
          <a:xfrm>
            <a:off x="6095997" y="-3164750"/>
            <a:ext cx="5" cy="13187500"/>
          </a:xfrm>
          <a:prstGeom prst="rect">
            <a:avLst/>
          </a:prstGeom>
        </p:spPr>
      </p:pic>
      <p:sp>
        <p:nvSpPr>
          <p:cNvPr id="5" name="Rectangle 4"/>
          <p:cNvSpPr/>
          <p:nvPr/>
        </p:nvSpPr>
        <p:spPr>
          <a:xfrm>
            <a:off x="491543" y="2873603"/>
            <a:ext cx="7036158" cy="2862322"/>
          </a:xfrm>
          <a:prstGeom prst="rect">
            <a:avLst/>
          </a:prstGeom>
        </p:spPr>
        <p:txBody>
          <a:bodyPr wrap="square">
            <a:spAutoFit/>
          </a:bodyPr>
          <a:lstStyle/>
          <a:p>
            <a:r>
              <a:rPr lang="fr-FR" dirty="0" err="1">
                <a:latin typeface="Segoe UI" panose="020B0502040204020203" pitchFamily="34" charset="0"/>
                <a:cs typeface="Segoe UI" panose="020B0502040204020203" pitchFamily="34" charset="0"/>
              </a:rPr>
              <a:t>RefreshView</a:t>
            </a:r>
            <a:r>
              <a:rPr lang="fr-FR" dirty="0">
                <a:latin typeface="Segoe UI" panose="020B0502040204020203" pitchFamily="34" charset="0"/>
                <a:cs typeface="Segoe UI" panose="020B0502040204020203" pitchFamily="34" charset="0"/>
              </a:rPr>
              <a:t> définit les propriétés suivantes :</a:t>
            </a:r>
          </a:p>
          <a:p>
            <a:endParaRPr lang="fr-FR" dirty="0">
              <a:latin typeface="Segoe UI" panose="020B0502040204020203" pitchFamily="34" charset="0"/>
              <a:cs typeface="Segoe UI" panose="020B0502040204020203" pitchFamily="34" charset="0"/>
            </a:endParaRPr>
          </a:p>
          <a:p>
            <a:r>
              <a:rPr lang="fr-FR" b="1" dirty="0" smtClean="0">
                <a:latin typeface="Segoe UI" panose="020B0502040204020203" pitchFamily="34" charset="0"/>
                <a:cs typeface="Segoe UI" panose="020B0502040204020203" pitchFamily="34" charset="0"/>
              </a:rPr>
              <a:t>Command: </a:t>
            </a:r>
            <a:r>
              <a:rPr lang="fr-FR" dirty="0">
                <a:latin typeface="Segoe UI" panose="020B0502040204020203" pitchFamily="34" charset="0"/>
                <a:cs typeface="Segoe UI" panose="020B0502040204020203" pitchFamily="34" charset="0"/>
              </a:rPr>
              <a:t>de type </a:t>
            </a:r>
            <a:r>
              <a:rPr lang="fr-FR" b="1" dirty="0" err="1">
                <a:latin typeface="Segoe UI" panose="020B0502040204020203" pitchFamily="34" charset="0"/>
                <a:cs typeface="Segoe UI" panose="020B0502040204020203" pitchFamily="34" charset="0"/>
              </a:rPr>
              <a:t>ICommand</a:t>
            </a:r>
            <a:r>
              <a:rPr lang="fr-FR" dirty="0">
                <a:latin typeface="Segoe UI" panose="020B0502040204020203" pitchFamily="34" charset="0"/>
                <a:cs typeface="Segoe UI" panose="020B0502040204020203" pitchFamily="34" charset="0"/>
              </a:rPr>
              <a:t>, qui est exécuté lorsqu'une actualisation est déclenchée.</a:t>
            </a:r>
          </a:p>
          <a:p>
            <a:r>
              <a:rPr lang="fr-FR" b="1" dirty="0" err="1" smtClean="0">
                <a:latin typeface="Segoe UI" panose="020B0502040204020203" pitchFamily="34" charset="0"/>
                <a:cs typeface="Segoe UI" panose="020B0502040204020203" pitchFamily="34" charset="0"/>
              </a:rPr>
              <a:t>CommandParameter</a:t>
            </a:r>
            <a:r>
              <a:rPr lang="fr-FR" b="1" dirty="0" smtClean="0">
                <a:latin typeface="Segoe UI" panose="020B0502040204020203" pitchFamily="34" charset="0"/>
                <a:cs typeface="Segoe UI" panose="020B0502040204020203" pitchFamily="34" charset="0"/>
              </a:rPr>
              <a:t>: </a:t>
            </a:r>
            <a:r>
              <a:rPr lang="fr-FR" dirty="0">
                <a:latin typeface="Segoe UI" panose="020B0502040204020203" pitchFamily="34" charset="0"/>
                <a:cs typeface="Segoe UI" panose="020B0502040204020203" pitchFamily="34" charset="0"/>
              </a:rPr>
              <a:t>de type object, qui est le paramètre passé à Command.</a:t>
            </a:r>
          </a:p>
          <a:p>
            <a:r>
              <a:rPr lang="fr-FR" b="1" dirty="0" err="1" smtClean="0">
                <a:latin typeface="Segoe UI" panose="020B0502040204020203" pitchFamily="34" charset="0"/>
                <a:cs typeface="Segoe UI" panose="020B0502040204020203" pitchFamily="34" charset="0"/>
              </a:rPr>
              <a:t>IsRefreshing</a:t>
            </a:r>
            <a:r>
              <a:rPr lang="fr-FR" b="1" dirty="0" smtClean="0">
                <a:latin typeface="Segoe UI" panose="020B0502040204020203" pitchFamily="34" charset="0"/>
                <a:cs typeface="Segoe UI" panose="020B0502040204020203" pitchFamily="34" charset="0"/>
              </a:rPr>
              <a:t>: </a:t>
            </a:r>
            <a:r>
              <a:rPr lang="fr-FR" dirty="0">
                <a:latin typeface="Segoe UI" panose="020B0502040204020203" pitchFamily="34" charset="0"/>
                <a:cs typeface="Segoe UI" panose="020B0502040204020203" pitchFamily="34" charset="0"/>
              </a:rPr>
              <a:t>de type </a:t>
            </a:r>
            <a:r>
              <a:rPr lang="fr-FR" dirty="0" err="1">
                <a:latin typeface="Segoe UI" panose="020B0502040204020203" pitchFamily="34" charset="0"/>
                <a:cs typeface="Segoe UI" panose="020B0502040204020203" pitchFamily="34" charset="0"/>
              </a:rPr>
              <a:t>bool</a:t>
            </a:r>
            <a:r>
              <a:rPr lang="fr-FR" dirty="0">
                <a:latin typeface="Segoe UI" panose="020B0502040204020203" pitchFamily="34" charset="0"/>
                <a:cs typeface="Segoe UI" panose="020B0502040204020203" pitchFamily="34" charset="0"/>
              </a:rPr>
              <a:t>, qui indique l'état actuel de </a:t>
            </a:r>
            <a:r>
              <a:rPr lang="fr-FR" dirty="0" err="1">
                <a:latin typeface="Segoe UI" panose="020B0502040204020203" pitchFamily="34" charset="0"/>
                <a:cs typeface="Segoe UI" panose="020B0502040204020203" pitchFamily="34" charset="0"/>
              </a:rPr>
              <a:t>RefreshView</a:t>
            </a:r>
            <a:r>
              <a:rPr lang="fr-FR" dirty="0">
                <a:latin typeface="Segoe UI" panose="020B0502040204020203" pitchFamily="34" charset="0"/>
                <a:cs typeface="Segoe UI" panose="020B0502040204020203" pitchFamily="34" charset="0"/>
              </a:rPr>
              <a:t> .</a:t>
            </a:r>
          </a:p>
          <a:p>
            <a:r>
              <a:rPr lang="fr-FR" b="1" dirty="0" err="1" smtClean="0">
                <a:latin typeface="Segoe UI" panose="020B0502040204020203" pitchFamily="34" charset="0"/>
                <a:cs typeface="Segoe UI" panose="020B0502040204020203" pitchFamily="34" charset="0"/>
              </a:rPr>
              <a:t>RefreshColor</a:t>
            </a:r>
            <a:r>
              <a:rPr lang="fr-FR" b="1" dirty="0" smtClean="0">
                <a:latin typeface="Segoe UI" panose="020B0502040204020203" pitchFamily="34" charset="0"/>
                <a:cs typeface="Segoe UI" panose="020B0502040204020203" pitchFamily="34" charset="0"/>
              </a:rPr>
              <a:t>: </a:t>
            </a:r>
            <a:r>
              <a:rPr lang="fr-FR" dirty="0">
                <a:latin typeface="Segoe UI" panose="020B0502040204020203" pitchFamily="34" charset="0"/>
                <a:cs typeface="Segoe UI" panose="020B0502040204020203" pitchFamily="34" charset="0"/>
              </a:rPr>
              <a:t>de type </a:t>
            </a:r>
            <a:r>
              <a:rPr lang="fr-FR" dirty="0" err="1">
                <a:latin typeface="Segoe UI" panose="020B0502040204020203" pitchFamily="34" charset="0"/>
                <a:cs typeface="Segoe UI" panose="020B0502040204020203" pitchFamily="34" charset="0"/>
              </a:rPr>
              <a:t>Color</a:t>
            </a:r>
            <a:r>
              <a:rPr lang="fr-FR" dirty="0">
                <a:latin typeface="Segoe UI" panose="020B0502040204020203" pitchFamily="34" charset="0"/>
                <a:cs typeface="Segoe UI" panose="020B0502040204020203" pitchFamily="34" charset="0"/>
              </a:rPr>
              <a:t> , la couleur du cercle de progression qui apparaît lors de l'actualisation.</a:t>
            </a:r>
          </a:p>
        </p:txBody>
      </p:sp>
    </p:spTree>
    <p:extLst>
      <p:ext uri="{BB962C8B-B14F-4D97-AF65-F5344CB8AC3E}">
        <p14:creationId xmlns:p14="http://schemas.microsoft.com/office/powerpoint/2010/main" val="7834544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8"/>
          <p:cNvSpPr txBox="1">
            <a:spLocks noChangeArrowheads="1"/>
          </p:cNvSpPr>
          <p:nvPr/>
        </p:nvSpPr>
        <p:spPr bwMode="auto">
          <a:xfrm>
            <a:off x="354196" y="475432"/>
            <a:ext cx="7347369" cy="4683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152400">
              <a:tabLst>
                <a:tab pos="5992813" algn="l"/>
              </a:tabLst>
              <a:defRPr>
                <a:solidFill>
                  <a:schemeClr val="tx1"/>
                </a:solidFill>
                <a:latin typeface="Calibri" panose="020F0502020204030204" pitchFamily="34" charset="0"/>
                <a:cs typeface="Arial" panose="020B0604020202020204" pitchFamily="34" charset="0"/>
              </a:defRPr>
            </a:lvl1pPr>
            <a:lvl2pPr marL="579438" indent="-242888">
              <a:tabLst>
                <a:tab pos="5992813" algn="l"/>
              </a:tabLst>
              <a:defRPr>
                <a:solidFill>
                  <a:schemeClr val="tx1"/>
                </a:solidFill>
                <a:latin typeface="Calibri" panose="020F0502020204030204" pitchFamily="34" charset="0"/>
                <a:cs typeface="Arial" panose="020B0604020202020204" pitchFamily="34" charset="0"/>
              </a:defRPr>
            </a:lvl2pPr>
            <a:lvl3pPr marL="1143000" indent="-228600">
              <a:tabLst>
                <a:tab pos="5992813" algn="l"/>
              </a:tabLst>
              <a:defRPr>
                <a:solidFill>
                  <a:schemeClr val="tx1"/>
                </a:solidFill>
                <a:latin typeface="Calibri" panose="020F0502020204030204" pitchFamily="34" charset="0"/>
                <a:cs typeface="Arial" panose="020B0604020202020204" pitchFamily="34" charset="0"/>
              </a:defRPr>
            </a:lvl3pPr>
            <a:lvl4pPr marL="1600200" indent="-228600">
              <a:tabLst>
                <a:tab pos="5992813" algn="l"/>
              </a:tabLst>
              <a:defRPr>
                <a:solidFill>
                  <a:schemeClr val="tx1"/>
                </a:solidFill>
                <a:latin typeface="Calibri" panose="020F0502020204030204" pitchFamily="34" charset="0"/>
                <a:cs typeface="Arial" panose="020B0604020202020204" pitchFamily="34" charset="0"/>
              </a:defRPr>
            </a:lvl4pPr>
            <a:lvl5pPr marL="2057400" indent="-228600">
              <a:tabLst>
                <a:tab pos="5992813" algn="l"/>
              </a:tabLst>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2200" u="sng" dirty="0" smtClean="0">
                <a:latin typeface="Segoe UI Symbol" panose="020B0502040204020203" pitchFamily="34" charset="0"/>
              </a:rPr>
              <a:t>Les </a:t>
            </a:r>
            <a:r>
              <a:rPr lang="en-US" altLang="en-US" sz="2200" u="sng" dirty="0" err="1" smtClean="0">
                <a:latin typeface="Segoe UI Symbol" panose="020B0502040204020203" pitchFamily="34" charset="0"/>
              </a:rPr>
              <a:t>contrôles</a:t>
            </a:r>
            <a:r>
              <a:rPr lang="en-US" altLang="en-US" sz="2200" u="sng" dirty="0" smtClean="0">
                <a:latin typeface="Segoe UI Symbol" panose="020B0502040204020203" pitchFamily="34" charset="0"/>
              </a:rPr>
              <a:t> de </a:t>
            </a:r>
            <a:r>
              <a:rPr lang="en-US" altLang="en-US" sz="2200" u="sng" dirty="0" err="1" smtClean="0">
                <a:latin typeface="Segoe UI Symbol" panose="020B0502040204020203" pitchFamily="34" charset="0"/>
              </a:rPr>
              <a:t>commande</a:t>
            </a:r>
            <a:r>
              <a:rPr lang="fr-FR" altLang="en-US" sz="2200" u="sng" dirty="0" smtClean="0">
                <a:latin typeface="Segoe UI Symbol" panose="020B0502040204020203" pitchFamily="34" charset="0"/>
              </a:rPr>
              <a:t>-</a:t>
            </a:r>
            <a:r>
              <a:rPr lang="fr-FR" altLang="en-US" sz="2200" u="sng" dirty="0" err="1" smtClean="0">
                <a:latin typeface="Segoe UI Symbol" panose="020B0502040204020203" pitchFamily="34" charset="0"/>
              </a:rPr>
              <a:t>RefreshView</a:t>
            </a:r>
            <a:endParaRPr lang="fr-FR" altLang="en-US" sz="2200" dirty="0" smtClean="0">
              <a:latin typeface="Times New Roman" panose="02020603050405020304" pitchFamily="18" charset="0"/>
              <a:cs typeface="Times New Roman" panose="02020603050405020304" pitchFamily="18" charset="0"/>
            </a:endParaRPr>
          </a:p>
          <a:p>
            <a:pPr>
              <a:lnSpc>
                <a:spcPct val="150000"/>
              </a:lnSpc>
              <a:spcBef>
                <a:spcPts val="1625"/>
              </a:spcBef>
              <a:buClr>
                <a:srgbClr val="006498"/>
              </a:buClr>
              <a:buSzPct val="61000"/>
              <a:buFont typeface="Wingdings" panose="05000000000000000000" pitchFamily="2" charset="2"/>
              <a:buChar char=""/>
            </a:pPr>
            <a:r>
              <a:rPr lang="fr-FR" dirty="0" smtClean="0">
                <a:latin typeface="Segoe UI" panose="020B0502040204020203" pitchFamily="34" charset="0"/>
                <a:cs typeface="Segoe UI" panose="020B0502040204020203" pitchFamily="34" charset="0"/>
              </a:rPr>
              <a:t>Un exemple d’implémentation du contrôle </a:t>
            </a:r>
            <a:r>
              <a:rPr lang="fr-FR" b="1" dirty="0" err="1" smtClean="0">
                <a:latin typeface="Segoe UI" panose="020B0502040204020203" pitchFamily="34" charset="0"/>
                <a:cs typeface="Segoe UI" panose="020B0502040204020203" pitchFamily="34" charset="0"/>
              </a:rPr>
              <a:t>RefreshView</a:t>
            </a:r>
            <a:endParaRPr lang="fr-FR" b="1" dirty="0" smtClean="0">
              <a:latin typeface="Segoe UI" panose="020B0502040204020203" pitchFamily="34" charset="0"/>
              <a:cs typeface="Segoe UI" panose="020B0502040204020203" pitchFamily="34" charset="0"/>
            </a:endParaRPr>
          </a:p>
          <a:p>
            <a:pPr>
              <a:lnSpc>
                <a:spcPct val="150000"/>
              </a:lnSpc>
              <a:spcBef>
                <a:spcPts val="1625"/>
              </a:spcBef>
              <a:buClr>
                <a:srgbClr val="006498"/>
              </a:buClr>
              <a:buSzPct val="61000"/>
              <a:buFont typeface="Wingdings" panose="05000000000000000000" pitchFamily="2" charset="2"/>
              <a:buChar char=""/>
            </a:pPr>
            <a:endParaRPr lang="fr-FR" b="1" dirty="0">
              <a:latin typeface="Segoe UI" panose="020B0502040204020203" pitchFamily="34" charset="0"/>
              <a:cs typeface="Segoe UI" panose="020B0502040204020203" pitchFamily="34" charset="0"/>
            </a:endParaRPr>
          </a:p>
          <a:p>
            <a:pPr>
              <a:lnSpc>
                <a:spcPct val="150000"/>
              </a:lnSpc>
              <a:spcBef>
                <a:spcPts val="1625"/>
              </a:spcBef>
              <a:buClr>
                <a:srgbClr val="006498"/>
              </a:buClr>
              <a:buSzPct val="61000"/>
              <a:buFont typeface="Wingdings" panose="05000000000000000000" pitchFamily="2" charset="2"/>
              <a:buChar char=""/>
            </a:pPr>
            <a:endParaRPr lang="fr-FR" b="1" dirty="0" smtClean="0">
              <a:latin typeface="Segoe UI" panose="020B0502040204020203" pitchFamily="34" charset="0"/>
              <a:cs typeface="Segoe UI" panose="020B0502040204020203" pitchFamily="34" charset="0"/>
            </a:endParaRPr>
          </a:p>
          <a:p>
            <a:pPr>
              <a:lnSpc>
                <a:spcPct val="150000"/>
              </a:lnSpc>
              <a:spcBef>
                <a:spcPts val="1625"/>
              </a:spcBef>
              <a:buClr>
                <a:srgbClr val="006498"/>
              </a:buClr>
              <a:buSzPct val="61000"/>
              <a:buFont typeface="Wingdings" panose="05000000000000000000" pitchFamily="2" charset="2"/>
              <a:buChar char=""/>
            </a:pPr>
            <a:endParaRPr lang="fr-FR" b="1" dirty="0">
              <a:latin typeface="Segoe UI" panose="020B0502040204020203" pitchFamily="34" charset="0"/>
              <a:cs typeface="Segoe UI" panose="020B0502040204020203" pitchFamily="34" charset="0"/>
            </a:endParaRPr>
          </a:p>
          <a:p>
            <a:pPr>
              <a:lnSpc>
                <a:spcPct val="150000"/>
              </a:lnSpc>
              <a:spcBef>
                <a:spcPts val="1625"/>
              </a:spcBef>
              <a:buClr>
                <a:srgbClr val="006498"/>
              </a:buClr>
              <a:buSzPct val="61000"/>
              <a:buFont typeface="Wingdings" panose="05000000000000000000" pitchFamily="2" charset="2"/>
              <a:buChar char=""/>
            </a:pPr>
            <a:endParaRPr lang="fr-FR" b="1" dirty="0" smtClean="0">
              <a:latin typeface="Segoe UI" panose="020B0502040204020203" pitchFamily="34" charset="0"/>
              <a:cs typeface="Segoe UI" panose="020B0502040204020203" pitchFamily="34" charset="0"/>
            </a:endParaRPr>
          </a:p>
          <a:p>
            <a:pPr>
              <a:lnSpc>
                <a:spcPct val="150000"/>
              </a:lnSpc>
              <a:spcBef>
                <a:spcPts val="1625"/>
              </a:spcBef>
              <a:buClr>
                <a:srgbClr val="006498"/>
              </a:buClr>
              <a:buSzPct val="61000"/>
            </a:pPr>
            <a:endParaRPr lang="fr-FR" b="1" dirty="0" smtClean="0">
              <a:latin typeface="Segoe UI" panose="020B0502040204020203" pitchFamily="34" charset="0"/>
              <a:cs typeface="Segoe UI" panose="020B0502040204020203" pitchFamily="34" charset="0"/>
            </a:endParaRPr>
          </a:p>
          <a:p>
            <a:pPr marL="438150" indent="-285750">
              <a:lnSpc>
                <a:spcPct val="150000"/>
              </a:lnSpc>
              <a:spcBef>
                <a:spcPts val="1625"/>
              </a:spcBef>
              <a:buClr>
                <a:srgbClr val="006498"/>
              </a:buClr>
              <a:buSzPct val="61000"/>
              <a:buFont typeface="Wingdings" panose="05000000000000000000" pitchFamily="2" charset="2"/>
              <a:buChar char="§"/>
            </a:pPr>
            <a:r>
              <a:rPr lang="fr-FR" dirty="0" smtClean="0">
                <a:latin typeface="Segoe UI" panose="020B0502040204020203" pitchFamily="34" charset="0"/>
                <a:cs typeface="Segoe UI" panose="020B0502040204020203" pitchFamily="34" charset="0"/>
              </a:rPr>
              <a:t>Généralement en lie </a:t>
            </a:r>
            <a:r>
              <a:rPr lang="fr-FR" dirty="0">
                <a:latin typeface="Segoe UI" panose="020B0502040204020203" pitchFamily="34" charset="0"/>
                <a:cs typeface="Segoe UI" panose="020B0502040204020203" pitchFamily="34" charset="0"/>
              </a:rPr>
              <a:t>  </a:t>
            </a:r>
            <a:r>
              <a:rPr lang="fr-FR" dirty="0" smtClean="0">
                <a:latin typeface="Segoe UI" panose="020B0502040204020203" pitchFamily="34" charset="0"/>
                <a:cs typeface="Segoe UI" panose="020B0502040204020203" pitchFamily="34" charset="0"/>
              </a:rPr>
              <a:t>le </a:t>
            </a:r>
            <a:r>
              <a:rPr lang="fr-FR" dirty="0">
                <a:latin typeface="Segoe UI" panose="020B0502040204020203" pitchFamily="34" charset="0"/>
                <a:cs typeface="Segoe UI" panose="020B0502040204020203" pitchFamily="34" charset="0"/>
              </a:rPr>
              <a:t>contrôle </a:t>
            </a:r>
            <a:r>
              <a:rPr lang="fr-FR" b="1" dirty="0" err="1" smtClean="0">
                <a:latin typeface="Segoe UI" panose="020B0502040204020203" pitchFamily="34" charset="0"/>
                <a:cs typeface="Segoe UI" panose="020B0502040204020203" pitchFamily="34" charset="0"/>
              </a:rPr>
              <a:t>RefreshView</a:t>
            </a:r>
            <a:r>
              <a:rPr lang="fr-FR" b="1" dirty="0" smtClean="0">
                <a:latin typeface="Segoe UI" panose="020B0502040204020203" pitchFamily="34" charset="0"/>
                <a:cs typeface="Segoe UI" panose="020B0502040204020203" pitchFamily="34" charset="0"/>
              </a:rPr>
              <a:t> </a:t>
            </a:r>
            <a:r>
              <a:rPr lang="fr-FR" dirty="0" smtClean="0">
                <a:latin typeface="Segoe UI" panose="020B0502040204020203" pitchFamily="34" charset="0"/>
                <a:cs typeface="Segoe UI" panose="020B0502040204020203" pitchFamily="34" charset="0"/>
              </a:rPr>
              <a:t>à un ViewModel</a:t>
            </a:r>
          </a:p>
        </p:txBody>
      </p:sp>
      <p:pic>
        <p:nvPicPr>
          <p:cNvPr id="4" name="Image 3"/>
          <p:cNvPicPr>
            <a:picLocks noChangeAspect="1"/>
          </p:cNvPicPr>
          <p:nvPr/>
        </p:nvPicPr>
        <p:blipFill>
          <a:blip r:embed="rId3"/>
          <a:stretch>
            <a:fillRect/>
          </a:stretch>
        </p:blipFill>
        <p:spPr>
          <a:xfrm>
            <a:off x="6095997" y="-3164750"/>
            <a:ext cx="5" cy="13187500"/>
          </a:xfrm>
          <a:prstGeom prst="rect">
            <a:avLst/>
          </a:prstGeom>
        </p:spPr>
      </p:pic>
      <p:sp>
        <p:nvSpPr>
          <p:cNvPr id="3" name="Rectangle 2"/>
          <p:cNvSpPr/>
          <p:nvPr/>
        </p:nvSpPr>
        <p:spPr>
          <a:xfrm>
            <a:off x="620331" y="1624043"/>
            <a:ext cx="10732396" cy="2800767"/>
          </a:xfrm>
          <a:prstGeom prst="rect">
            <a:avLst/>
          </a:prstGeom>
        </p:spPr>
        <p:txBody>
          <a:bodyPr wrap="square">
            <a:spAutoFit/>
          </a:bodyPr>
          <a:lstStyle/>
          <a:p>
            <a:r>
              <a:rPr lang="fr-FR" sz="1600" dirty="0">
                <a:solidFill>
                  <a:srgbClr val="0000FF"/>
                </a:solidFill>
                <a:latin typeface="Cascadia Mono" panose="020B0609020000020004" pitchFamily="49" charset="0"/>
              </a:rPr>
              <a:t>&lt;</a:t>
            </a:r>
            <a:r>
              <a:rPr lang="fr-FR" sz="1600" dirty="0" err="1">
                <a:solidFill>
                  <a:srgbClr val="A31515"/>
                </a:solidFill>
                <a:latin typeface="Cascadia Mono" panose="020B0609020000020004" pitchFamily="49" charset="0"/>
              </a:rPr>
              <a:t>RefreshView</a:t>
            </a:r>
            <a:r>
              <a:rPr lang="fr-FR" sz="1600" dirty="0">
                <a:solidFill>
                  <a:srgbClr val="FF0000"/>
                </a:solidFill>
                <a:latin typeface="Cascadia Mono" panose="020B0609020000020004" pitchFamily="49" charset="0"/>
              </a:rPr>
              <a:t> </a:t>
            </a:r>
            <a:r>
              <a:rPr lang="fr-FR" sz="1600" dirty="0" err="1">
                <a:solidFill>
                  <a:srgbClr val="FF0000"/>
                </a:solidFill>
                <a:latin typeface="Cascadia Mono" panose="020B0609020000020004" pitchFamily="49" charset="0"/>
              </a:rPr>
              <a:t>IsRefreshing</a:t>
            </a:r>
            <a:r>
              <a:rPr lang="fr-FR" sz="1600" dirty="0">
                <a:solidFill>
                  <a:srgbClr val="0000FF"/>
                </a:solidFill>
                <a:latin typeface="Cascadia Mono" panose="020B0609020000020004" pitchFamily="49" charset="0"/>
              </a:rPr>
              <a:t>="{</a:t>
            </a:r>
            <a:r>
              <a:rPr lang="fr-FR" sz="1600" dirty="0">
                <a:solidFill>
                  <a:srgbClr val="A31515"/>
                </a:solidFill>
                <a:latin typeface="Cascadia Mono" panose="020B0609020000020004" pitchFamily="49" charset="0"/>
              </a:rPr>
              <a:t>Binding</a:t>
            </a:r>
            <a:r>
              <a:rPr lang="fr-FR" sz="1600" dirty="0">
                <a:solidFill>
                  <a:srgbClr val="FF0000"/>
                </a:solidFill>
                <a:latin typeface="Cascadia Mono" panose="020B0609020000020004" pitchFamily="49" charset="0"/>
              </a:rPr>
              <a:t> </a:t>
            </a:r>
            <a:r>
              <a:rPr lang="fr-FR" sz="1600" dirty="0" err="1">
                <a:solidFill>
                  <a:srgbClr val="FF0000"/>
                </a:solidFill>
                <a:latin typeface="Cascadia Mono" panose="020B0609020000020004" pitchFamily="49" charset="0"/>
              </a:rPr>
              <a:t>IsRefreshing</a:t>
            </a:r>
            <a:r>
              <a:rPr lang="fr-FR" sz="1600" dirty="0">
                <a:solidFill>
                  <a:srgbClr val="0000FF"/>
                </a:solidFill>
                <a:latin typeface="Cascadia Mono" panose="020B0609020000020004" pitchFamily="49" charset="0"/>
              </a:rPr>
              <a:t>}"</a:t>
            </a:r>
            <a:endParaRPr lang="fr-FR" sz="1600" dirty="0">
              <a:solidFill>
                <a:srgbClr val="000000"/>
              </a:solidFill>
              <a:latin typeface="Cascadia Mono" panose="020B0609020000020004" pitchFamily="49" charset="0"/>
            </a:endParaRPr>
          </a:p>
          <a:p>
            <a:r>
              <a:rPr lang="fr-FR" sz="1600" dirty="0">
                <a:solidFill>
                  <a:srgbClr val="000000"/>
                </a:solidFill>
                <a:latin typeface="Cascadia Mono" panose="020B0609020000020004" pitchFamily="49" charset="0"/>
              </a:rPr>
              <a:t>            </a:t>
            </a:r>
            <a:r>
              <a:rPr lang="fr-FR" sz="1600" dirty="0">
                <a:solidFill>
                  <a:srgbClr val="FF0000"/>
                </a:solidFill>
                <a:latin typeface="Cascadia Mono" panose="020B0609020000020004" pitchFamily="49" charset="0"/>
              </a:rPr>
              <a:t> Command</a:t>
            </a:r>
            <a:r>
              <a:rPr lang="fr-FR" sz="1600" dirty="0">
                <a:solidFill>
                  <a:srgbClr val="0000FF"/>
                </a:solidFill>
                <a:latin typeface="Cascadia Mono" panose="020B0609020000020004" pitchFamily="49" charset="0"/>
              </a:rPr>
              <a:t>="{</a:t>
            </a:r>
            <a:r>
              <a:rPr lang="fr-FR" sz="1600" dirty="0">
                <a:solidFill>
                  <a:srgbClr val="A31515"/>
                </a:solidFill>
                <a:latin typeface="Cascadia Mono" panose="020B0609020000020004" pitchFamily="49" charset="0"/>
              </a:rPr>
              <a:t>Binding</a:t>
            </a:r>
            <a:r>
              <a:rPr lang="fr-FR" sz="1600" dirty="0">
                <a:solidFill>
                  <a:srgbClr val="FF0000"/>
                </a:solidFill>
                <a:latin typeface="Cascadia Mono" panose="020B0609020000020004" pitchFamily="49" charset="0"/>
              </a:rPr>
              <a:t> </a:t>
            </a:r>
            <a:r>
              <a:rPr lang="fr-FR" sz="1600" dirty="0" err="1">
                <a:solidFill>
                  <a:srgbClr val="FF0000"/>
                </a:solidFill>
                <a:latin typeface="Cascadia Mono" panose="020B0609020000020004" pitchFamily="49" charset="0"/>
              </a:rPr>
              <a:t>RefreshCommand</a:t>
            </a:r>
            <a:r>
              <a:rPr lang="fr-FR" sz="1600" dirty="0">
                <a:solidFill>
                  <a:srgbClr val="0000FF"/>
                </a:solidFill>
                <a:latin typeface="Cascadia Mono" panose="020B0609020000020004" pitchFamily="49" charset="0"/>
              </a:rPr>
              <a:t>}"&gt;</a:t>
            </a:r>
            <a:endParaRPr lang="fr-FR" sz="1600" dirty="0">
              <a:solidFill>
                <a:srgbClr val="000000"/>
              </a:solidFill>
              <a:latin typeface="Cascadia Mono" panose="020B0609020000020004" pitchFamily="49" charset="0"/>
            </a:endParaRPr>
          </a:p>
          <a:p>
            <a:r>
              <a:rPr lang="fr-FR" sz="1600" dirty="0">
                <a:solidFill>
                  <a:srgbClr val="000000"/>
                </a:solidFill>
                <a:latin typeface="Cascadia Mono" panose="020B0609020000020004" pitchFamily="49" charset="0"/>
              </a:rPr>
              <a:t>        </a:t>
            </a:r>
            <a:r>
              <a:rPr lang="fr-FR" sz="1600" dirty="0">
                <a:solidFill>
                  <a:srgbClr val="0000FF"/>
                </a:solidFill>
                <a:latin typeface="Cascadia Mono" panose="020B0609020000020004" pitchFamily="49" charset="0"/>
              </a:rPr>
              <a:t>&lt;</a:t>
            </a:r>
            <a:r>
              <a:rPr lang="fr-FR" sz="1600" dirty="0" err="1">
                <a:solidFill>
                  <a:srgbClr val="A31515"/>
                </a:solidFill>
                <a:latin typeface="Cascadia Mono" panose="020B0609020000020004" pitchFamily="49" charset="0"/>
              </a:rPr>
              <a:t>ScrollView</a:t>
            </a:r>
            <a:r>
              <a:rPr lang="fr-FR" sz="1600" dirty="0">
                <a:solidFill>
                  <a:srgbClr val="0000FF"/>
                </a:solidFill>
                <a:latin typeface="Cascadia Mono" panose="020B0609020000020004" pitchFamily="49" charset="0"/>
              </a:rPr>
              <a:t>&gt;</a:t>
            </a:r>
            <a:endParaRPr lang="fr-FR" sz="1600" dirty="0">
              <a:solidFill>
                <a:srgbClr val="000000"/>
              </a:solidFill>
              <a:latin typeface="Cascadia Mono" panose="020B0609020000020004" pitchFamily="49" charset="0"/>
            </a:endParaRPr>
          </a:p>
          <a:p>
            <a:r>
              <a:rPr lang="fr-FR" sz="1600" dirty="0">
                <a:solidFill>
                  <a:srgbClr val="000000"/>
                </a:solidFill>
                <a:latin typeface="Cascadia Mono" panose="020B0609020000020004" pitchFamily="49" charset="0"/>
              </a:rPr>
              <a:t>            </a:t>
            </a:r>
            <a:r>
              <a:rPr lang="fr-FR" sz="1600" dirty="0">
                <a:solidFill>
                  <a:srgbClr val="0000FF"/>
                </a:solidFill>
                <a:latin typeface="Cascadia Mono" panose="020B0609020000020004" pitchFamily="49" charset="0"/>
              </a:rPr>
              <a:t>&lt;</a:t>
            </a:r>
            <a:r>
              <a:rPr lang="fr-FR" sz="1600" dirty="0">
                <a:solidFill>
                  <a:srgbClr val="A31515"/>
                </a:solidFill>
                <a:latin typeface="Cascadia Mono" panose="020B0609020000020004" pitchFamily="49" charset="0"/>
              </a:rPr>
              <a:t>FlexLayout</a:t>
            </a:r>
            <a:r>
              <a:rPr lang="fr-FR" sz="1600" dirty="0">
                <a:solidFill>
                  <a:srgbClr val="FF0000"/>
                </a:solidFill>
                <a:latin typeface="Cascadia Mono" panose="020B0609020000020004" pitchFamily="49" charset="0"/>
              </a:rPr>
              <a:t> Direction</a:t>
            </a:r>
            <a:r>
              <a:rPr lang="fr-FR" sz="1600" dirty="0">
                <a:solidFill>
                  <a:srgbClr val="0000FF"/>
                </a:solidFill>
                <a:latin typeface="Cascadia Mono" panose="020B0609020000020004" pitchFamily="49" charset="0"/>
              </a:rPr>
              <a:t>="Row"</a:t>
            </a:r>
            <a:endParaRPr lang="fr-FR" sz="1600" dirty="0">
              <a:solidFill>
                <a:srgbClr val="000000"/>
              </a:solidFill>
              <a:latin typeface="Cascadia Mono" panose="020B0609020000020004" pitchFamily="49" charset="0"/>
            </a:endParaRPr>
          </a:p>
          <a:p>
            <a:r>
              <a:rPr lang="fr-FR" sz="1600" dirty="0">
                <a:solidFill>
                  <a:srgbClr val="000000"/>
                </a:solidFill>
                <a:latin typeface="Cascadia Mono" panose="020B0609020000020004" pitchFamily="49" charset="0"/>
              </a:rPr>
              <a:t>                   </a:t>
            </a:r>
            <a:r>
              <a:rPr lang="fr-FR" sz="1600" dirty="0">
                <a:solidFill>
                  <a:srgbClr val="FF0000"/>
                </a:solidFill>
                <a:latin typeface="Cascadia Mono" panose="020B0609020000020004" pitchFamily="49" charset="0"/>
              </a:rPr>
              <a:t> Wrap</a:t>
            </a:r>
            <a:r>
              <a:rPr lang="fr-FR" sz="1600" dirty="0">
                <a:solidFill>
                  <a:srgbClr val="0000FF"/>
                </a:solidFill>
                <a:latin typeface="Cascadia Mono" panose="020B0609020000020004" pitchFamily="49" charset="0"/>
              </a:rPr>
              <a:t>="Wrap"</a:t>
            </a:r>
            <a:endParaRPr lang="fr-FR" sz="1600" dirty="0">
              <a:solidFill>
                <a:srgbClr val="000000"/>
              </a:solidFill>
              <a:latin typeface="Cascadia Mono" panose="020B0609020000020004" pitchFamily="49" charset="0"/>
            </a:endParaRPr>
          </a:p>
          <a:p>
            <a:r>
              <a:rPr lang="fr-FR" sz="1600" dirty="0">
                <a:solidFill>
                  <a:srgbClr val="000000"/>
                </a:solidFill>
                <a:latin typeface="Cascadia Mono" panose="020B0609020000020004" pitchFamily="49" charset="0"/>
              </a:rPr>
              <a:t>                   </a:t>
            </a:r>
            <a:r>
              <a:rPr lang="fr-FR" sz="1600" dirty="0">
                <a:solidFill>
                  <a:srgbClr val="FF0000"/>
                </a:solidFill>
                <a:latin typeface="Cascadia Mono" panose="020B0609020000020004" pitchFamily="49" charset="0"/>
              </a:rPr>
              <a:t> AlignItems</a:t>
            </a:r>
            <a:r>
              <a:rPr lang="fr-FR" sz="1600" dirty="0">
                <a:solidFill>
                  <a:srgbClr val="0000FF"/>
                </a:solidFill>
                <a:latin typeface="Cascadia Mono" panose="020B0609020000020004" pitchFamily="49" charset="0"/>
              </a:rPr>
              <a:t>="Center"</a:t>
            </a:r>
            <a:endParaRPr lang="fr-FR" sz="1600" dirty="0">
              <a:solidFill>
                <a:srgbClr val="000000"/>
              </a:solidFill>
              <a:latin typeface="Cascadia Mono" panose="020B0609020000020004" pitchFamily="49" charset="0"/>
            </a:endParaRPr>
          </a:p>
          <a:p>
            <a:r>
              <a:rPr lang="fr-FR" sz="1600" dirty="0">
                <a:solidFill>
                  <a:srgbClr val="000000"/>
                </a:solidFill>
                <a:latin typeface="Cascadia Mono" panose="020B0609020000020004" pitchFamily="49" charset="0"/>
              </a:rPr>
              <a:t>                   </a:t>
            </a:r>
            <a:r>
              <a:rPr lang="fr-FR" sz="1600" dirty="0">
                <a:solidFill>
                  <a:srgbClr val="FF0000"/>
                </a:solidFill>
                <a:latin typeface="Cascadia Mono" panose="020B0609020000020004" pitchFamily="49" charset="0"/>
              </a:rPr>
              <a:t> </a:t>
            </a:r>
            <a:r>
              <a:rPr lang="fr-FR" sz="1600" dirty="0" err="1">
                <a:solidFill>
                  <a:srgbClr val="FF0000"/>
                </a:solidFill>
                <a:latin typeface="Cascadia Mono" panose="020B0609020000020004" pitchFamily="49" charset="0"/>
              </a:rPr>
              <a:t>AlignContent</a:t>
            </a:r>
            <a:r>
              <a:rPr lang="fr-FR" sz="1600" dirty="0">
                <a:solidFill>
                  <a:srgbClr val="0000FF"/>
                </a:solidFill>
                <a:latin typeface="Cascadia Mono" panose="020B0609020000020004" pitchFamily="49" charset="0"/>
              </a:rPr>
              <a:t>="Center"</a:t>
            </a:r>
            <a:endParaRPr lang="fr-FR" sz="1600" dirty="0">
              <a:solidFill>
                <a:srgbClr val="000000"/>
              </a:solidFill>
              <a:latin typeface="Cascadia Mono" panose="020B0609020000020004" pitchFamily="49" charset="0"/>
            </a:endParaRPr>
          </a:p>
          <a:p>
            <a:r>
              <a:rPr lang="fr-FR" sz="1600" dirty="0">
                <a:solidFill>
                  <a:srgbClr val="000000"/>
                </a:solidFill>
                <a:latin typeface="Cascadia Mono" panose="020B0609020000020004" pitchFamily="49" charset="0"/>
              </a:rPr>
              <a:t>                   </a:t>
            </a:r>
            <a:r>
              <a:rPr lang="fr-FR" sz="1600" dirty="0">
                <a:solidFill>
                  <a:srgbClr val="FF0000"/>
                </a:solidFill>
                <a:latin typeface="Cascadia Mono" panose="020B0609020000020004" pitchFamily="49" charset="0"/>
              </a:rPr>
              <a:t> </a:t>
            </a:r>
            <a:r>
              <a:rPr lang="fr-FR" sz="1600" dirty="0" err="1">
                <a:solidFill>
                  <a:srgbClr val="FF0000"/>
                </a:solidFill>
                <a:latin typeface="Cascadia Mono" panose="020B0609020000020004" pitchFamily="49" charset="0"/>
              </a:rPr>
              <a:t>BindableLayout.ItemsSource</a:t>
            </a:r>
            <a:r>
              <a:rPr lang="fr-FR" sz="1600" dirty="0">
                <a:solidFill>
                  <a:srgbClr val="0000FF"/>
                </a:solidFill>
                <a:latin typeface="Cascadia Mono" panose="020B0609020000020004" pitchFamily="49" charset="0"/>
              </a:rPr>
              <a:t>="{</a:t>
            </a:r>
            <a:r>
              <a:rPr lang="fr-FR" sz="1600" dirty="0">
                <a:solidFill>
                  <a:srgbClr val="A31515"/>
                </a:solidFill>
                <a:latin typeface="Cascadia Mono" panose="020B0609020000020004" pitchFamily="49" charset="0"/>
              </a:rPr>
              <a:t>Binding</a:t>
            </a:r>
            <a:r>
              <a:rPr lang="fr-FR" sz="1600" dirty="0">
                <a:solidFill>
                  <a:srgbClr val="FF0000"/>
                </a:solidFill>
                <a:latin typeface="Cascadia Mono" panose="020B0609020000020004" pitchFamily="49" charset="0"/>
              </a:rPr>
              <a:t> Items</a:t>
            </a:r>
            <a:r>
              <a:rPr lang="fr-FR" sz="1600" dirty="0">
                <a:solidFill>
                  <a:srgbClr val="0000FF"/>
                </a:solidFill>
                <a:latin typeface="Cascadia Mono" panose="020B0609020000020004" pitchFamily="49" charset="0"/>
              </a:rPr>
              <a:t>}"</a:t>
            </a:r>
            <a:endParaRPr lang="fr-FR" sz="1600" dirty="0">
              <a:solidFill>
                <a:srgbClr val="000000"/>
              </a:solidFill>
              <a:latin typeface="Cascadia Mono" panose="020B0609020000020004" pitchFamily="49" charset="0"/>
            </a:endParaRPr>
          </a:p>
          <a:p>
            <a:r>
              <a:rPr lang="fr-FR" sz="1600" dirty="0">
                <a:solidFill>
                  <a:srgbClr val="000000"/>
                </a:solidFill>
                <a:latin typeface="Cascadia Mono" panose="020B0609020000020004" pitchFamily="49" charset="0"/>
              </a:rPr>
              <a:t>                   </a:t>
            </a:r>
            <a:r>
              <a:rPr lang="fr-FR" sz="1600" dirty="0">
                <a:solidFill>
                  <a:srgbClr val="FF0000"/>
                </a:solidFill>
                <a:latin typeface="Cascadia Mono" panose="020B0609020000020004" pitchFamily="49" charset="0"/>
              </a:rPr>
              <a:t> </a:t>
            </a:r>
            <a:r>
              <a:rPr lang="fr-FR" sz="1600" dirty="0" err="1">
                <a:solidFill>
                  <a:srgbClr val="FF0000"/>
                </a:solidFill>
                <a:latin typeface="Cascadia Mono" panose="020B0609020000020004" pitchFamily="49" charset="0"/>
              </a:rPr>
              <a:t>BindableLayout.ItemTemplate</a:t>
            </a:r>
            <a:r>
              <a:rPr lang="fr-FR" sz="1600" dirty="0">
                <a:solidFill>
                  <a:srgbClr val="0000FF"/>
                </a:solidFill>
                <a:latin typeface="Cascadia Mono" panose="020B0609020000020004" pitchFamily="49" charset="0"/>
              </a:rPr>
              <a:t>="{</a:t>
            </a:r>
            <a:r>
              <a:rPr lang="fr-FR" sz="1600" dirty="0" err="1">
                <a:solidFill>
                  <a:srgbClr val="A31515"/>
                </a:solidFill>
                <a:latin typeface="Cascadia Mono" panose="020B0609020000020004" pitchFamily="49" charset="0"/>
              </a:rPr>
              <a:t>StaticResource</a:t>
            </a:r>
            <a:r>
              <a:rPr lang="fr-FR" sz="1600" dirty="0">
                <a:solidFill>
                  <a:srgbClr val="FF0000"/>
                </a:solidFill>
                <a:latin typeface="Cascadia Mono" panose="020B0609020000020004" pitchFamily="49" charset="0"/>
              </a:rPr>
              <a:t> </a:t>
            </a:r>
            <a:r>
              <a:rPr lang="fr-FR" sz="1600" dirty="0" err="1">
                <a:solidFill>
                  <a:srgbClr val="FF0000"/>
                </a:solidFill>
                <a:latin typeface="Cascadia Mono" panose="020B0609020000020004" pitchFamily="49" charset="0"/>
              </a:rPr>
              <a:t>ColorItemTemplate</a:t>
            </a:r>
            <a:r>
              <a:rPr lang="fr-FR" sz="1600" dirty="0">
                <a:solidFill>
                  <a:srgbClr val="0000FF"/>
                </a:solidFill>
                <a:latin typeface="Cascadia Mono" panose="020B0609020000020004" pitchFamily="49" charset="0"/>
              </a:rPr>
              <a:t>}" /&gt;</a:t>
            </a:r>
            <a:endParaRPr lang="fr-FR" sz="1600" dirty="0">
              <a:solidFill>
                <a:srgbClr val="000000"/>
              </a:solidFill>
              <a:latin typeface="Cascadia Mono" panose="020B0609020000020004" pitchFamily="49" charset="0"/>
            </a:endParaRPr>
          </a:p>
          <a:p>
            <a:r>
              <a:rPr lang="fr-FR" sz="1600" dirty="0">
                <a:solidFill>
                  <a:srgbClr val="000000"/>
                </a:solidFill>
                <a:latin typeface="Cascadia Mono" panose="020B0609020000020004" pitchFamily="49" charset="0"/>
              </a:rPr>
              <a:t>        </a:t>
            </a:r>
            <a:r>
              <a:rPr lang="fr-FR" sz="1600" dirty="0">
                <a:solidFill>
                  <a:srgbClr val="0000FF"/>
                </a:solidFill>
                <a:latin typeface="Cascadia Mono" panose="020B0609020000020004" pitchFamily="49" charset="0"/>
              </a:rPr>
              <a:t>&lt;/</a:t>
            </a:r>
            <a:r>
              <a:rPr lang="fr-FR" sz="1600" dirty="0" err="1">
                <a:solidFill>
                  <a:srgbClr val="A31515"/>
                </a:solidFill>
                <a:latin typeface="Cascadia Mono" panose="020B0609020000020004" pitchFamily="49" charset="0"/>
              </a:rPr>
              <a:t>ScrollView</a:t>
            </a:r>
            <a:r>
              <a:rPr lang="fr-FR" sz="1600" dirty="0">
                <a:solidFill>
                  <a:srgbClr val="0000FF"/>
                </a:solidFill>
                <a:latin typeface="Cascadia Mono" panose="020B0609020000020004" pitchFamily="49" charset="0"/>
              </a:rPr>
              <a:t>&gt;</a:t>
            </a:r>
            <a:endParaRPr lang="fr-FR" sz="1600" dirty="0">
              <a:solidFill>
                <a:srgbClr val="000000"/>
              </a:solidFill>
              <a:latin typeface="Cascadia Mono" panose="020B0609020000020004" pitchFamily="49" charset="0"/>
            </a:endParaRPr>
          </a:p>
          <a:p>
            <a:r>
              <a:rPr lang="fr-FR" sz="1600" dirty="0" smtClean="0">
                <a:solidFill>
                  <a:srgbClr val="0000FF"/>
                </a:solidFill>
                <a:latin typeface="Cascadia Mono" panose="020B0609020000020004" pitchFamily="49" charset="0"/>
              </a:rPr>
              <a:t>&lt;/</a:t>
            </a:r>
            <a:r>
              <a:rPr lang="fr-FR" sz="1600" dirty="0" err="1">
                <a:solidFill>
                  <a:srgbClr val="A31515"/>
                </a:solidFill>
                <a:latin typeface="Cascadia Mono" panose="020B0609020000020004" pitchFamily="49" charset="0"/>
              </a:rPr>
              <a:t>RefreshView</a:t>
            </a:r>
            <a:r>
              <a:rPr lang="fr-FR" sz="1600" dirty="0">
                <a:solidFill>
                  <a:srgbClr val="0000FF"/>
                </a:solidFill>
                <a:latin typeface="Cascadia Mono" panose="020B0609020000020004" pitchFamily="49" charset="0"/>
              </a:rPr>
              <a:t>&gt;</a:t>
            </a:r>
            <a:endParaRPr lang="fr-FR" sz="1600" dirty="0"/>
          </a:p>
        </p:txBody>
      </p:sp>
    </p:spTree>
    <p:extLst>
      <p:ext uri="{BB962C8B-B14F-4D97-AF65-F5344CB8AC3E}">
        <p14:creationId xmlns:p14="http://schemas.microsoft.com/office/powerpoint/2010/main" val="5976369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8"/>
          <p:cNvSpPr txBox="1">
            <a:spLocks noChangeArrowheads="1"/>
          </p:cNvSpPr>
          <p:nvPr/>
        </p:nvSpPr>
        <p:spPr bwMode="auto">
          <a:xfrm>
            <a:off x="341317" y="340204"/>
            <a:ext cx="11011410" cy="26468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152400">
              <a:tabLst>
                <a:tab pos="5992813" algn="l"/>
              </a:tabLst>
              <a:defRPr>
                <a:solidFill>
                  <a:schemeClr val="tx1"/>
                </a:solidFill>
                <a:latin typeface="Calibri" panose="020F0502020204030204" pitchFamily="34" charset="0"/>
                <a:cs typeface="Arial" panose="020B0604020202020204" pitchFamily="34" charset="0"/>
              </a:defRPr>
            </a:lvl1pPr>
            <a:lvl2pPr marL="579438" indent="-242888">
              <a:tabLst>
                <a:tab pos="5992813" algn="l"/>
              </a:tabLst>
              <a:defRPr>
                <a:solidFill>
                  <a:schemeClr val="tx1"/>
                </a:solidFill>
                <a:latin typeface="Calibri" panose="020F0502020204030204" pitchFamily="34" charset="0"/>
                <a:cs typeface="Arial" panose="020B0604020202020204" pitchFamily="34" charset="0"/>
              </a:defRPr>
            </a:lvl2pPr>
            <a:lvl3pPr marL="1143000" indent="-228600">
              <a:tabLst>
                <a:tab pos="5992813" algn="l"/>
              </a:tabLst>
              <a:defRPr>
                <a:solidFill>
                  <a:schemeClr val="tx1"/>
                </a:solidFill>
                <a:latin typeface="Calibri" panose="020F0502020204030204" pitchFamily="34" charset="0"/>
                <a:cs typeface="Arial" panose="020B0604020202020204" pitchFamily="34" charset="0"/>
              </a:defRPr>
            </a:lvl3pPr>
            <a:lvl4pPr marL="1600200" indent="-228600">
              <a:tabLst>
                <a:tab pos="5992813" algn="l"/>
              </a:tabLst>
              <a:defRPr>
                <a:solidFill>
                  <a:schemeClr val="tx1"/>
                </a:solidFill>
                <a:latin typeface="Calibri" panose="020F0502020204030204" pitchFamily="34" charset="0"/>
                <a:cs typeface="Arial" panose="020B0604020202020204" pitchFamily="34" charset="0"/>
              </a:defRPr>
            </a:lvl4pPr>
            <a:lvl5pPr marL="2057400" indent="-228600">
              <a:tabLst>
                <a:tab pos="5992813" algn="l"/>
              </a:tabLst>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2400" u="sng" dirty="0" smtClean="0">
                <a:latin typeface="Segoe UI Symbol" panose="020B0502040204020203" pitchFamily="34" charset="0"/>
                <a:ea typeface="Segoe UI Symbol" panose="020B0502040204020203" pitchFamily="34" charset="0"/>
                <a:cs typeface="Segoe UI" panose="020B0502040204020203" pitchFamily="34" charset="0"/>
              </a:rPr>
              <a:t>Les </a:t>
            </a:r>
            <a:r>
              <a:rPr lang="en-US" altLang="en-US" sz="2400" u="sng" dirty="0" err="1" smtClean="0">
                <a:latin typeface="Segoe UI Symbol" panose="020B0502040204020203" pitchFamily="34" charset="0"/>
                <a:ea typeface="Segoe UI Symbol" panose="020B0502040204020203" pitchFamily="34" charset="0"/>
                <a:cs typeface="Segoe UI" panose="020B0502040204020203" pitchFamily="34" charset="0"/>
              </a:rPr>
              <a:t>contrôles</a:t>
            </a:r>
            <a:r>
              <a:rPr lang="en-US" altLang="en-US" sz="2400" u="sng" dirty="0" smtClean="0">
                <a:latin typeface="Segoe UI Symbol" panose="020B0502040204020203" pitchFamily="34" charset="0"/>
                <a:ea typeface="Segoe UI Symbol" panose="020B0502040204020203" pitchFamily="34" charset="0"/>
                <a:cs typeface="Segoe UI" panose="020B0502040204020203" pitchFamily="34" charset="0"/>
              </a:rPr>
              <a:t> de </a:t>
            </a:r>
            <a:r>
              <a:rPr lang="en-US" altLang="en-US" sz="2400" u="sng" dirty="0" err="1" smtClean="0">
                <a:latin typeface="Segoe UI Symbol" panose="020B0502040204020203" pitchFamily="34" charset="0"/>
                <a:ea typeface="Segoe UI Symbol" panose="020B0502040204020203" pitchFamily="34" charset="0"/>
                <a:cs typeface="Segoe UI" panose="020B0502040204020203" pitchFamily="34" charset="0"/>
              </a:rPr>
              <a:t>commande</a:t>
            </a:r>
            <a:r>
              <a:rPr lang="fr-FR" altLang="en-US" sz="2400" u="sng" dirty="0" smtClean="0">
                <a:latin typeface="Segoe UI Symbol" panose="020B0502040204020203" pitchFamily="34" charset="0"/>
                <a:ea typeface="Segoe UI Symbol" panose="020B0502040204020203" pitchFamily="34" charset="0"/>
                <a:cs typeface="Segoe UI" panose="020B0502040204020203" pitchFamily="34" charset="0"/>
              </a:rPr>
              <a:t>-</a:t>
            </a:r>
            <a:r>
              <a:rPr lang="fr-FR" altLang="en-US" sz="2400" u="sng" dirty="0" err="1" smtClean="0">
                <a:latin typeface="Segoe UI Symbol" panose="020B0502040204020203" pitchFamily="34" charset="0"/>
                <a:ea typeface="Segoe UI Symbol" panose="020B0502040204020203" pitchFamily="34" charset="0"/>
                <a:cs typeface="Segoe UI" panose="020B0502040204020203" pitchFamily="34" charset="0"/>
              </a:rPr>
              <a:t>RefreshView</a:t>
            </a:r>
            <a:endParaRPr lang="fr-FR" altLang="en-US" sz="2400" dirty="0" smtClean="0">
              <a:latin typeface="Segoe UI Symbol" panose="020B0502040204020203" pitchFamily="34" charset="0"/>
              <a:ea typeface="Segoe UI Symbol" panose="020B0502040204020203" pitchFamily="34" charset="0"/>
              <a:cs typeface="Segoe UI" panose="020B0502040204020203" pitchFamily="34" charset="0"/>
            </a:endParaRPr>
          </a:p>
          <a:p>
            <a:pPr>
              <a:lnSpc>
                <a:spcPct val="150000"/>
              </a:lnSpc>
              <a:spcBef>
                <a:spcPts val="1625"/>
              </a:spcBef>
              <a:buClr>
                <a:srgbClr val="006498"/>
              </a:buClr>
              <a:buSzPct val="61000"/>
              <a:buFont typeface="Wingdings" panose="05000000000000000000" pitchFamily="2" charset="2"/>
              <a:buChar char=""/>
            </a:pPr>
            <a:r>
              <a:rPr lang="en-US" altLang="en-US" dirty="0" smtClean="0">
                <a:latin typeface="Segoe UI" panose="020B0502040204020203" pitchFamily="34" charset="0"/>
                <a:cs typeface="Segoe UI" panose="020B0502040204020203" pitchFamily="34" charset="0"/>
              </a:rPr>
              <a:t> Lie </a:t>
            </a:r>
            <a:r>
              <a:rPr lang="en-US" altLang="en-US" b="1" dirty="0" err="1">
                <a:latin typeface="Segoe UI" panose="020B0502040204020203" pitchFamily="34" charset="0"/>
                <a:cs typeface="Segoe UI" panose="020B0502040204020203" pitchFamily="34" charset="0"/>
              </a:rPr>
              <a:t>IsRefreshing</a:t>
            </a:r>
            <a:r>
              <a:rPr lang="en-US" altLang="en-US" dirty="0">
                <a:latin typeface="Segoe UI" panose="020B0502040204020203" pitchFamily="34" charset="0"/>
                <a:cs typeface="Segoe UI" panose="020B0502040204020203" pitchFamily="34" charset="0"/>
              </a:rPr>
              <a:t> au </a:t>
            </a:r>
            <a:r>
              <a:rPr lang="en-US" altLang="en-US" b="1" dirty="0" err="1">
                <a:latin typeface="Segoe UI" panose="020B0502040204020203" pitchFamily="34" charset="0"/>
                <a:cs typeface="Segoe UI" panose="020B0502040204020203" pitchFamily="34" charset="0"/>
              </a:rPr>
              <a:t>ViewModel</a:t>
            </a:r>
            <a:r>
              <a:rPr lang="en-US" altLang="en-US" dirty="0">
                <a:latin typeface="Segoe UI" panose="020B0502040204020203" pitchFamily="34" charset="0"/>
                <a:cs typeface="Segoe UI" panose="020B0502040204020203" pitchFamily="34" charset="0"/>
              </a:rPr>
              <a:t> pour </a:t>
            </a:r>
            <a:r>
              <a:rPr lang="en-US" altLang="en-US" dirty="0" err="1">
                <a:latin typeface="Segoe UI" panose="020B0502040204020203" pitchFamily="34" charset="0"/>
                <a:cs typeface="Segoe UI" panose="020B0502040204020203" pitchFamily="34" charset="0"/>
              </a:rPr>
              <a:t>afficher</a:t>
            </a:r>
            <a:r>
              <a:rPr lang="en-US" altLang="en-US" dirty="0">
                <a:latin typeface="Segoe UI" panose="020B0502040204020203" pitchFamily="34" charset="0"/>
                <a:cs typeface="Segoe UI" panose="020B0502040204020203" pitchFamily="34" charset="0"/>
              </a:rPr>
              <a:t> </a:t>
            </a:r>
            <a:r>
              <a:rPr lang="en-US" altLang="en-US" dirty="0" err="1" smtClean="0">
                <a:latin typeface="Segoe UI" panose="020B0502040204020203" pitchFamily="34" charset="0"/>
                <a:cs typeface="Segoe UI" panose="020B0502040204020203" pitchFamily="34" charset="0"/>
              </a:rPr>
              <a:t>l'animation</a:t>
            </a:r>
            <a:endParaRPr lang="en-US" altLang="en-US" dirty="0" smtClean="0">
              <a:latin typeface="Segoe UI" panose="020B0502040204020203" pitchFamily="34" charset="0"/>
              <a:cs typeface="Segoe UI" panose="020B0502040204020203" pitchFamily="34" charset="0"/>
            </a:endParaRPr>
          </a:p>
          <a:p>
            <a:pPr>
              <a:lnSpc>
                <a:spcPct val="150000"/>
              </a:lnSpc>
              <a:spcBef>
                <a:spcPts val="1625"/>
              </a:spcBef>
              <a:buClr>
                <a:srgbClr val="006498"/>
              </a:buClr>
              <a:buSzPct val="61000"/>
              <a:buFont typeface="Wingdings" panose="05000000000000000000" pitchFamily="2" charset="2"/>
              <a:buChar char=""/>
            </a:pPr>
            <a:r>
              <a:rPr lang="en-US" altLang="en-US" dirty="0">
                <a:latin typeface="Segoe UI" panose="020B0502040204020203" pitchFamily="34" charset="0"/>
                <a:cs typeface="Segoe UI" panose="020B0502040204020203" pitchFamily="34" charset="0"/>
              </a:rPr>
              <a:t>Lie Command au </a:t>
            </a:r>
            <a:r>
              <a:rPr lang="fr-FR" altLang="en-US" b="1" dirty="0" err="1" smtClean="0">
                <a:latin typeface="Segoe UI" panose="020B0502040204020203" pitchFamily="34" charset="0"/>
                <a:cs typeface="Segoe UI" panose="020B0502040204020203" pitchFamily="34" charset="0"/>
              </a:rPr>
              <a:t>RefreshCommand</a:t>
            </a:r>
            <a:r>
              <a:rPr lang="en-US" altLang="en-US" dirty="0" smtClean="0">
                <a:latin typeface="Segoe UI" panose="020B0502040204020203" pitchFamily="34" charset="0"/>
                <a:cs typeface="Segoe UI" panose="020B0502040204020203" pitchFamily="34" charset="0"/>
              </a:rPr>
              <a:t> </a:t>
            </a:r>
            <a:r>
              <a:rPr lang="en-US" altLang="en-US" dirty="0">
                <a:latin typeface="Segoe UI" panose="020B0502040204020203" pitchFamily="34" charset="0"/>
                <a:cs typeface="Segoe UI" panose="020B0502040204020203" pitchFamily="34" charset="0"/>
              </a:rPr>
              <a:t>pour lancer la </a:t>
            </a:r>
            <a:r>
              <a:rPr lang="en-US" altLang="en-US" dirty="0" err="1">
                <a:latin typeface="Segoe UI" panose="020B0502040204020203" pitchFamily="34" charset="0"/>
                <a:cs typeface="Segoe UI" panose="020B0502040204020203" pitchFamily="34" charset="0"/>
              </a:rPr>
              <a:t>logique</a:t>
            </a:r>
            <a:r>
              <a:rPr lang="en-US" altLang="en-US" dirty="0">
                <a:latin typeface="Segoe UI" panose="020B0502040204020203" pitchFamily="34" charset="0"/>
                <a:cs typeface="Segoe UI" panose="020B0502040204020203" pitchFamily="34" charset="0"/>
              </a:rPr>
              <a:t> de "refresh". </a:t>
            </a:r>
            <a:endParaRPr lang="en-US" altLang="en-US" dirty="0" smtClean="0">
              <a:latin typeface="Segoe UI" panose="020B0502040204020203" pitchFamily="34" charset="0"/>
              <a:cs typeface="Segoe UI" panose="020B0502040204020203" pitchFamily="34" charset="0"/>
            </a:endParaRPr>
          </a:p>
          <a:p>
            <a:pPr>
              <a:lnSpc>
                <a:spcPct val="150000"/>
              </a:lnSpc>
              <a:spcBef>
                <a:spcPts val="1625"/>
              </a:spcBef>
              <a:buClr>
                <a:srgbClr val="006498"/>
              </a:buClr>
              <a:buSzPct val="61000"/>
              <a:buFont typeface="Wingdings" panose="05000000000000000000" pitchFamily="2" charset="2"/>
              <a:buChar char=""/>
            </a:pPr>
            <a:r>
              <a:rPr lang="fr-FR" dirty="0">
                <a:latin typeface="Segoe UI" panose="020B0502040204020203" pitchFamily="34" charset="0"/>
                <a:cs typeface="Segoe UI" panose="020B0502040204020203" pitchFamily="34" charset="0"/>
              </a:rPr>
              <a:t>Lorsqu'on </a:t>
            </a:r>
            <a:r>
              <a:rPr lang="fr-FR" b="1" dirty="0">
                <a:latin typeface="Segoe UI" panose="020B0502040204020203" pitchFamily="34" charset="0"/>
                <a:cs typeface="Segoe UI" panose="020B0502040204020203" pitchFamily="34" charset="0"/>
              </a:rPr>
              <a:t>tire pour rafraîchir</a:t>
            </a:r>
            <a:r>
              <a:rPr lang="fr-FR" dirty="0">
                <a:latin typeface="Segoe UI" panose="020B0502040204020203" pitchFamily="34" charset="0"/>
                <a:cs typeface="Segoe UI" panose="020B0502040204020203" pitchFamily="34" charset="0"/>
              </a:rPr>
              <a:t>, on simule un appel (2 secondes) puis on recharge une liste de nouvelles </a:t>
            </a:r>
            <a:r>
              <a:rPr lang="fr-FR" dirty="0" smtClean="0">
                <a:latin typeface="Segoe UI" panose="020B0502040204020203" pitchFamily="34" charset="0"/>
                <a:cs typeface="Segoe UI" panose="020B0502040204020203" pitchFamily="34" charset="0"/>
              </a:rPr>
              <a:t>couleurs</a:t>
            </a:r>
            <a:endParaRPr lang="fr-FR" b="1" dirty="0" smtClean="0">
              <a:latin typeface="Segoe UI" panose="020B0502040204020203" pitchFamily="34" charset="0"/>
              <a:cs typeface="Segoe UI" panose="020B0502040204020203" pitchFamily="34" charset="0"/>
            </a:endParaRPr>
          </a:p>
        </p:txBody>
      </p:sp>
      <p:sp>
        <p:nvSpPr>
          <p:cNvPr id="5" name="Rectangle 1"/>
          <p:cNvSpPr>
            <a:spLocks noChangeArrowheads="1"/>
          </p:cNvSpPr>
          <p:nvPr/>
        </p:nvSpPr>
        <p:spPr bwMode="auto">
          <a:xfrm>
            <a:off x="0" y="-184666"/>
            <a:ext cx="29687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smtClean="0">
                <a:ln>
                  <a:noFill/>
                </a:ln>
                <a:solidFill>
                  <a:schemeClr val="tx1"/>
                </a:solidFill>
                <a:effectLst/>
                <a:latin typeface="Segoe UI" panose="020B0502040204020203" pitchFamily="34" charset="0"/>
                <a:cs typeface="Segoe UI" panose="020B0502040204020203" pitchFamily="34" charset="0"/>
              </a:rPr>
              <a:t>. </a:t>
            </a:r>
          </a:p>
        </p:txBody>
      </p:sp>
    </p:spTree>
    <p:extLst>
      <p:ext uri="{BB962C8B-B14F-4D97-AF65-F5344CB8AC3E}">
        <p14:creationId xmlns:p14="http://schemas.microsoft.com/office/powerpoint/2010/main" val="34068461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8"/>
          <p:cNvSpPr txBox="1">
            <a:spLocks noChangeArrowheads="1"/>
          </p:cNvSpPr>
          <p:nvPr/>
        </p:nvSpPr>
        <p:spPr bwMode="auto">
          <a:xfrm>
            <a:off x="373515" y="539827"/>
            <a:ext cx="11475048" cy="3652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152400">
              <a:tabLst>
                <a:tab pos="5992813" algn="l"/>
              </a:tabLst>
              <a:defRPr>
                <a:solidFill>
                  <a:schemeClr val="tx1"/>
                </a:solidFill>
                <a:latin typeface="Calibri" panose="020F0502020204030204" pitchFamily="34" charset="0"/>
                <a:cs typeface="Arial" panose="020B0604020202020204" pitchFamily="34" charset="0"/>
              </a:defRPr>
            </a:lvl1pPr>
            <a:lvl2pPr marL="579438" indent="-242888">
              <a:tabLst>
                <a:tab pos="5992813" algn="l"/>
              </a:tabLst>
              <a:defRPr>
                <a:solidFill>
                  <a:schemeClr val="tx1"/>
                </a:solidFill>
                <a:latin typeface="Calibri" panose="020F0502020204030204" pitchFamily="34" charset="0"/>
                <a:cs typeface="Arial" panose="020B0604020202020204" pitchFamily="34" charset="0"/>
              </a:defRPr>
            </a:lvl2pPr>
            <a:lvl3pPr marL="1143000" indent="-228600">
              <a:tabLst>
                <a:tab pos="5992813" algn="l"/>
              </a:tabLst>
              <a:defRPr>
                <a:solidFill>
                  <a:schemeClr val="tx1"/>
                </a:solidFill>
                <a:latin typeface="Calibri" panose="020F0502020204030204" pitchFamily="34" charset="0"/>
                <a:cs typeface="Arial" panose="020B0604020202020204" pitchFamily="34" charset="0"/>
              </a:defRPr>
            </a:lvl3pPr>
            <a:lvl4pPr marL="1600200" indent="-228600">
              <a:tabLst>
                <a:tab pos="5992813" algn="l"/>
              </a:tabLst>
              <a:defRPr>
                <a:solidFill>
                  <a:schemeClr val="tx1"/>
                </a:solidFill>
                <a:latin typeface="Calibri" panose="020F0502020204030204" pitchFamily="34" charset="0"/>
                <a:cs typeface="Arial" panose="020B0604020202020204" pitchFamily="34" charset="0"/>
              </a:defRPr>
            </a:lvl4pPr>
            <a:lvl5pPr marL="2057400" indent="-228600">
              <a:tabLst>
                <a:tab pos="5992813" algn="l"/>
              </a:tabLst>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2200" u="sng" dirty="0" smtClean="0">
                <a:latin typeface="Segoe UI Symbol" panose="020B0502040204020203" pitchFamily="34" charset="0"/>
              </a:rPr>
              <a:t>Les </a:t>
            </a:r>
            <a:r>
              <a:rPr lang="en-US" altLang="en-US" sz="2200" u="sng" dirty="0" err="1" smtClean="0">
                <a:latin typeface="Segoe UI Symbol" panose="020B0502040204020203" pitchFamily="34" charset="0"/>
              </a:rPr>
              <a:t>contrôles</a:t>
            </a:r>
            <a:r>
              <a:rPr lang="en-US" altLang="en-US" sz="2200" u="sng" dirty="0" smtClean="0">
                <a:latin typeface="Segoe UI Symbol" panose="020B0502040204020203" pitchFamily="34" charset="0"/>
              </a:rPr>
              <a:t> de </a:t>
            </a:r>
            <a:r>
              <a:rPr lang="en-US" altLang="en-US" sz="2200" u="sng" dirty="0" err="1" smtClean="0">
                <a:latin typeface="Segoe UI Symbol" panose="020B0502040204020203" pitchFamily="34" charset="0"/>
              </a:rPr>
              <a:t>commande</a:t>
            </a:r>
            <a:r>
              <a:rPr lang="fr-FR" altLang="en-US" sz="2200" u="sng" dirty="0" smtClean="0">
                <a:latin typeface="Segoe UI Symbol" panose="020B0502040204020203" pitchFamily="34" charset="0"/>
              </a:rPr>
              <a:t>-</a:t>
            </a:r>
            <a:r>
              <a:rPr lang="fr-FR" altLang="en-US" sz="2200" u="sng" dirty="0" err="1" smtClean="0">
                <a:latin typeface="Segoe UI Symbol" panose="020B0502040204020203" pitchFamily="34" charset="0"/>
              </a:rPr>
              <a:t>SearchBar</a:t>
            </a:r>
            <a:endParaRPr lang="fr-FR" altLang="en-US" sz="2200" dirty="0" smtClean="0">
              <a:latin typeface="Times New Roman" panose="02020603050405020304" pitchFamily="18" charset="0"/>
              <a:cs typeface="Times New Roman" panose="02020603050405020304" pitchFamily="18" charset="0"/>
            </a:endParaRPr>
          </a:p>
          <a:p>
            <a:pPr>
              <a:lnSpc>
                <a:spcPct val="150000"/>
              </a:lnSpc>
              <a:spcBef>
                <a:spcPts val="1625"/>
              </a:spcBef>
              <a:buClr>
                <a:srgbClr val="006498"/>
              </a:buClr>
              <a:buSzPct val="61000"/>
              <a:buFont typeface="Wingdings" panose="05000000000000000000" pitchFamily="2" charset="2"/>
              <a:buChar char=""/>
            </a:pPr>
            <a:r>
              <a:rPr lang="fr-FR" dirty="0">
                <a:latin typeface="Segoe UI" panose="020B0502040204020203" pitchFamily="34" charset="0"/>
                <a:cs typeface="Segoe UI" panose="020B0502040204020203" pitchFamily="34" charset="0"/>
              </a:rPr>
              <a:t>Le contrôle </a:t>
            </a:r>
            <a:r>
              <a:rPr lang="fr-FR" b="1" dirty="0" err="1">
                <a:latin typeface="Segoe UI" panose="020B0502040204020203" pitchFamily="34" charset="0"/>
                <a:cs typeface="Segoe UI" panose="020B0502040204020203" pitchFamily="34" charset="0"/>
              </a:rPr>
              <a:t>SearchBar</a:t>
            </a:r>
            <a:r>
              <a:rPr lang="fr-FR" dirty="0">
                <a:latin typeface="Segoe UI" panose="020B0502040204020203" pitchFamily="34" charset="0"/>
                <a:cs typeface="Segoe UI" panose="020B0502040204020203" pitchFamily="34" charset="0"/>
              </a:rPr>
              <a:t> </a:t>
            </a:r>
            <a:r>
              <a:rPr lang="fr-FR" dirty="0" smtClean="0">
                <a:latin typeface="Segoe UI" panose="020B0502040204020203" pitchFamily="34" charset="0"/>
                <a:cs typeface="Segoe UI" panose="020B0502040204020203" pitchFamily="34" charset="0"/>
              </a:rPr>
              <a:t>est tout simplement une barre de </a:t>
            </a:r>
            <a:r>
              <a:rPr lang="fr-FR" dirty="0" err="1" smtClean="0">
                <a:latin typeface="Segoe UI" panose="020B0502040204020203" pitchFamily="34" charset="0"/>
                <a:cs typeface="Segoe UI" panose="020B0502040204020203" pitchFamily="34" charset="0"/>
              </a:rPr>
              <a:t>recherches.Une</a:t>
            </a:r>
            <a:r>
              <a:rPr lang="fr-FR" dirty="0" smtClean="0">
                <a:latin typeface="Segoe UI" panose="020B0502040204020203" pitchFamily="34" charset="0"/>
                <a:cs typeface="Segoe UI" panose="020B0502040204020203" pitchFamily="34" charset="0"/>
              </a:rPr>
              <a:t> </a:t>
            </a:r>
            <a:r>
              <a:rPr lang="fr-FR" dirty="0">
                <a:latin typeface="Segoe UI" panose="020B0502040204020203" pitchFamily="34" charset="0"/>
                <a:cs typeface="Segoe UI" panose="020B0502040204020203" pitchFamily="34" charset="0"/>
              </a:rPr>
              <a:t>recherche peut être exécutée à l'aide du contrôle </a:t>
            </a:r>
            <a:r>
              <a:rPr lang="fr-FR" b="1" dirty="0" err="1">
                <a:latin typeface="Segoe UI" panose="020B0502040204020203" pitchFamily="34" charset="0"/>
                <a:cs typeface="Segoe UI" panose="020B0502040204020203" pitchFamily="34" charset="0"/>
              </a:rPr>
              <a:t>SearchBar</a:t>
            </a:r>
            <a:r>
              <a:rPr lang="fr-FR" dirty="0">
                <a:latin typeface="Segoe UI" panose="020B0502040204020203" pitchFamily="34" charset="0"/>
                <a:cs typeface="Segoe UI" panose="020B0502040204020203" pitchFamily="34" charset="0"/>
              </a:rPr>
              <a:t> en attachant un gestionnaire d'événements à l'un des événements suivants </a:t>
            </a:r>
            <a:r>
              <a:rPr lang="fr-FR" dirty="0" smtClean="0">
                <a:latin typeface="Segoe UI" panose="020B0502040204020203" pitchFamily="34" charset="0"/>
                <a:cs typeface="Segoe UI" panose="020B0502040204020203" pitchFamily="34" charset="0"/>
              </a:rPr>
              <a:t>:</a:t>
            </a:r>
            <a:endParaRPr lang="fr-FR" dirty="0">
              <a:latin typeface="Segoe UI" panose="020B0502040204020203" pitchFamily="34" charset="0"/>
              <a:cs typeface="Segoe UI" panose="020B0502040204020203" pitchFamily="34" charset="0"/>
            </a:endParaRPr>
          </a:p>
          <a:p>
            <a:pPr>
              <a:lnSpc>
                <a:spcPct val="150000"/>
              </a:lnSpc>
              <a:spcBef>
                <a:spcPts val="1625"/>
              </a:spcBef>
              <a:buClr>
                <a:srgbClr val="006498"/>
              </a:buClr>
              <a:buSzPct val="61000"/>
              <a:buFont typeface="Wingdings" panose="05000000000000000000" pitchFamily="2" charset="2"/>
              <a:buChar char=""/>
            </a:pPr>
            <a:r>
              <a:rPr lang="fr-FR" b="1" dirty="0" err="1" smtClean="0">
                <a:latin typeface="Segoe UI" panose="020B0502040204020203" pitchFamily="34" charset="0"/>
                <a:cs typeface="Segoe UI" panose="020B0502040204020203" pitchFamily="34" charset="0"/>
              </a:rPr>
              <a:t>SearchButtonPressed</a:t>
            </a:r>
            <a:r>
              <a:rPr lang="fr-FR" dirty="0" smtClean="0">
                <a:latin typeface="Segoe UI" panose="020B0502040204020203" pitchFamily="34" charset="0"/>
                <a:cs typeface="Segoe UI" panose="020B0502040204020203" pitchFamily="34" charset="0"/>
              </a:rPr>
              <a:t>: </a:t>
            </a:r>
            <a:r>
              <a:rPr lang="fr-FR" dirty="0">
                <a:latin typeface="Segoe UI" panose="020B0502040204020203" pitchFamily="34" charset="0"/>
                <a:cs typeface="Segoe UI" panose="020B0502040204020203" pitchFamily="34" charset="0"/>
              </a:rPr>
              <a:t>qui est appelée lorsque l'utilisateur clique sur le bouton de recherche ou appuie sur la touche Entrée</a:t>
            </a:r>
            <a:r>
              <a:rPr lang="fr-FR" dirty="0" smtClean="0">
                <a:latin typeface="Segoe UI" panose="020B0502040204020203" pitchFamily="34" charset="0"/>
                <a:cs typeface="Segoe UI" panose="020B0502040204020203" pitchFamily="34" charset="0"/>
              </a:rPr>
              <a:t>.</a:t>
            </a:r>
          </a:p>
          <a:p>
            <a:pPr>
              <a:lnSpc>
                <a:spcPct val="150000"/>
              </a:lnSpc>
              <a:spcBef>
                <a:spcPts val="1625"/>
              </a:spcBef>
              <a:buClr>
                <a:srgbClr val="006498"/>
              </a:buClr>
              <a:buSzPct val="61000"/>
            </a:pPr>
            <a:endParaRPr lang="fr-FR" dirty="0" smtClean="0">
              <a:latin typeface="Segoe UI" panose="020B0502040204020203" pitchFamily="34" charset="0"/>
              <a:cs typeface="Segoe UI" panose="020B0502040204020203" pitchFamily="34" charset="0"/>
            </a:endParaRPr>
          </a:p>
          <a:p>
            <a:pPr>
              <a:lnSpc>
                <a:spcPct val="150000"/>
              </a:lnSpc>
              <a:spcBef>
                <a:spcPts val="1625"/>
              </a:spcBef>
              <a:buClr>
                <a:srgbClr val="006498"/>
              </a:buClr>
              <a:buSzPct val="61000"/>
            </a:pPr>
            <a:endParaRPr lang="fr-FR" dirty="0">
              <a:latin typeface="Segoe UI" panose="020B0502040204020203" pitchFamily="34" charset="0"/>
              <a:cs typeface="Segoe UI" panose="020B0502040204020203" pitchFamily="34" charset="0"/>
            </a:endParaRPr>
          </a:p>
        </p:txBody>
      </p:sp>
      <p:pic>
        <p:nvPicPr>
          <p:cNvPr id="4" name="Image 3"/>
          <p:cNvPicPr>
            <a:picLocks noChangeAspect="1"/>
          </p:cNvPicPr>
          <p:nvPr/>
        </p:nvPicPr>
        <p:blipFill>
          <a:blip r:embed="rId3"/>
          <a:stretch>
            <a:fillRect/>
          </a:stretch>
        </p:blipFill>
        <p:spPr>
          <a:xfrm>
            <a:off x="6095997" y="-3164750"/>
            <a:ext cx="5" cy="13187500"/>
          </a:xfrm>
          <a:prstGeom prst="rect">
            <a:avLst/>
          </a:prstGeom>
        </p:spPr>
      </p:pic>
      <p:sp>
        <p:nvSpPr>
          <p:cNvPr id="6" name="Rectangle 5"/>
          <p:cNvSpPr/>
          <p:nvPr/>
        </p:nvSpPr>
        <p:spPr>
          <a:xfrm>
            <a:off x="517299" y="2941474"/>
            <a:ext cx="8307523" cy="1477328"/>
          </a:xfrm>
          <a:prstGeom prst="rect">
            <a:avLst/>
          </a:prstGeom>
        </p:spPr>
        <p:txBody>
          <a:bodyPr wrap="square">
            <a:spAutoFit/>
          </a:bodyPr>
          <a:lstStyle/>
          <a:p>
            <a:r>
              <a:rPr lang="en-US" dirty="0">
                <a:solidFill>
                  <a:srgbClr val="0000FF"/>
                </a:solidFill>
                <a:latin typeface="Cascadia Mono" panose="020B0609020000020004" pitchFamily="49" charset="0"/>
              </a:rPr>
              <a:t>private</a:t>
            </a:r>
            <a:r>
              <a:rPr lang="en-US" dirty="0">
                <a:solidFill>
                  <a:srgbClr val="000000"/>
                </a:solidFill>
                <a:latin typeface="Cascadia Mono" panose="020B0609020000020004" pitchFamily="49" charset="0"/>
              </a:rPr>
              <a:t> </a:t>
            </a:r>
            <a:r>
              <a:rPr lang="en-US" dirty="0">
                <a:solidFill>
                  <a:srgbClr val="0000FF"/>
                </a:solidFill>
                <a:latin typeface="Cascadia Mono" panose="020B0609020000020004" pitchFamily="49" charset="0"/>
              </a:rPr>
              <a:t>void</a:t>
            </a:r>
            <a:r>
              <a:rPr lang="en-US" dirty="0">
                <a:solidFill>
                  <a:srgbClr val="000000"/>
                </a:solidFill>
                <a:latin typeface="Cascadia Mono" panose="020B0609020000020004" pitchFamily="49" charset="0"/>
              </a:rPr>
              <a:t> </a:t>
            </a:r>
            <a:r>
              <a:rPr lang="en-US" dirty="0" err="1">
                <a:solidFill>
                  <a:srgbClr val="000000"/>
                </a:solidFill>
                <a:latin typeface="Cascadia Mono" panose="020B0609020000020004" pitchFamily="49" charset="0"/>
              </a:rPr>
              <a:t>searchbar_TextChanged</a:t>
            </a:r>
            <a:r>
              <a:rPr lang="en-US" dirty="0">
                <a:solidFill>
                  <a:srgbClr val="000000"/>
                </a:solidFill>
                <a:latin typeface="Cascadia Mono" panose="020B0609020000020004" pitchFamily="49" charset="0"/>
              </a:rPr>
              <a:t>(</a:t>
            </a:r>
            <a:r>
              <a:rPr lang="en-US" dirty="0">
                <a:solidFill>
                  <a:srgbClr val="0000FF"/>
                </a:solidFill>
                <a:latin typeface="Cascadia Mono" panose="020B0609020000020004" pitchFamily="49" charset="0"/>
              </a:rPr>
              <a:t>object</a:t>
            </a:r>
            <a:r>
              <a:rPr lang="en-US" dirty="0">
                <a:solidFill>
                  <a:srgbClr val="000000"/>
                </a:solidFill>
                <a:latin typeface="Cascadia Mono" panose="020B0609020000020004" pitchFamily="49" charset="0"/>
              </a:rPr>
              <a:t> sender, </a:t>
            </a:r>
            <a:r>
              <a:rPr lang="en-US" dirty="0" smtClean="0">
                <a:solidFill>
                  <a:srgbClr val="000000"/>
                </a:solidFill>
                <a:latin typeface="Cascadia Mono" panose="020B0609020000020004" pitchFamily="49" charset="0"/>
              </a:rPr>
              <a:t>			</a:t>
            </a:r>
            <a:r>
              <a:rPr lang="en-US" dirty="0" err="1" smtClean="0">
                <a:solidFill>
                  <a:srgbClr val="000000"/>
                </a:solidFill>
                <a:latin typeface="Cascadia Mono" panose="020B0609020000020004" pitchFamily="49" charset="0"/>
              </a:rPr>
              <a:t>TextChangedEventArgs</a:t>
            </a:r>
            <a:r>
              <a:rPr lang="en-US" dirty="0" smtClean="0">
                <a:solidFill>
                  <a:srgbClr val="000000"/>
                </a:solidFill>
                <a:latin typeface="Cascadia Mono" panose="020B0609020000020004" pitchFamily="49" charset="0"/>
              </a:rPr>
              <a:t> </a:t>
            </a:r>
            <a:r>
              <a:rPr lang="en-US" dirty="0">
                <a:solidFill>
                  <a:srgbClr val="000000"/>
                </a:solidFill>
                <a:latin typeface="Cascadia Mono" panose="020B0609020000020004" pitchFamily="49" charset="0"/>
              </a:rPr>
              <a:t>e)</a:t>
            </a:r>
          </a:p>
          <a:p>
            <a:r>
              <a:rPr lang="fr-FR" dirty="0" smtClean="0">
                <a:solidFill>
                  <a:srgbClr val="000000"/>
                </a:solidFill>
                <a:latin typeface="Cascadia Mono" panose="020B0609020000020004" pitchFamily="49" charset="0"/>
              </a:rPr>
              <a:t>{</a:t>
            </a:r>
            <a:endParaRPr lang="fr-FR" dirty="0">
              <a:solidFill>
                <a:srgbClr val="000000"/>
              </a:solidFill>
              <a:latin typeface="Cascadia Mono" panose="020B0609020000020004" pitchFamily="49" charset="0"/>
            </a:endParaRPr>
          </a:p>
          <a:p>
            <a:endParaRPr lang="fr-FR" dirty="0">
              <a:solidFill>
                <a:srgbClr val="000000"/>
              </a:solidFill>
              <a:latin typeface="Cascadia Mono" panose="020B0609020000020004" pitchFamily="49" charset="0"/>
            </a:endParaRPr>
          </a:p>
          <a:p>
            <a:r>
              <a:rPr lang="fr-FR" dirty="0" smtClean="0">
                <a:solidFill>
                  <a:srgbClr val="000000"/>
                </a:solidFill>
                <a:latin typeface="Cascadia Mono" panose="020B0609020000020004" pitchFamily="49" charset="0"/>
              </a:rPr>
              <a:t>}</a:t>
            </a:r>
            <a:endParaRPr lang="fr-FR" dirty="0"/>
          </a:p>
        </p:txBody>
      </p:sp>
    </p:spTree>
    <p:extLst>
      <p:ext uri="{BB962C8B-B14F-4D97-AF65-F5344CB8AC3E}">
        <p14:creationId xmlns:p14="http://schemas.microsoft.com/office/powerpoint/2010/main" val="340104631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8"/>
          <p:cNvSpPr txBox="1">
            <a:spLocks noChangeArrowheads="1"/>
          </p:cNvSpPr>
          <p:nvPr/>
        </p:nvSpPr>
        <p:spPr bwMode="auto">
          <a:xfrm>
            <a:off x="373515" y="539827"/>
            <a:ext cx="11475048" cy="1231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152400">
              <a:tabLst>
                <a:tab pos="5992813" algn="l"/>
              </a:tabLst>
              <a:defRPr>
                <a:solidFill>
                  <a:schemeClr val="tx1"/>
                </a:solidFill>
                <a:latin typeface="Calibri" panose="020F0502020204030204" pitchFamily="34" charset="0"/>
                <a:cs typeface="Arial" panose="020B0604020202020204" pitchFamily="34" charset="0"/>
              </a:defRPr>
            </a:lvl1pPr>
            <a:lvl2pPr marL="579438" indent="-242888">
              <a:tabLst>
                <a:tab pos="5992813" algn="l"/>
              </a:tabLst>
              <a:defRPr>
                <a:solidFill>
                  <a:schemeClr val="tx1"/>
                </a:solidFill>
                <a:latin typeface="Calibri" panose="020F0502020204030204" pitchFamily="34" charset="0"/>
                <a:cs typeface="Arial" panose="020B0604020202020204" pitchFamily="34" charset="0"/>
              </a:defRPr>
            </a:lvl2pPr>
            <a:lvl3pPr marL="1143000" indent="-228600">
              <a:tabLst>
                <a:tab pos="5992813" algn="l"/>
              </a:tabLst>
              <a:defRPr>
                <a:solidFill>
                  <a:schemeClr val="tx1"/>
                </a:solidFill>
                <a:latin typeface="Calibri" panose="020F0502020204030204" pitchFamily="34" charset="0"/>
                <a:cs typeface="Arial" panose="020B0604020202020204" pitchFamily="34" charset="0"/>
              </a:defRPr>
            </a:lvl3pPr>
            <a:lvl4pPr marL="1600200" indent="-228600">
              <a:tabLst>
                <a:tab pos="5992813" algn="l"/>
              </a:tabLst>
              <a:defRPr>
                <a:solidFill>
                  <a:schemeClr val="tx1"/>
                </a:solidFill>
                <a:latin typeface="Calibri" panose="020F0502020204030204" pitchFamily="34" charset="0"/>
                <a:cs typeface="Arial" panose="020B0604020202020204" pitchFamily="34" charset="0"/>
              </a:defRPr>
            </a:lvl4pPr>
            <a:lvl5pPr marL="2057400" indent="-228600">
              <a:tabLst>
                <a:tab pos="5992813" algn="l"/>
              </a:tabLst>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2200" u="sng" dirty="0" smtClean="0">
                <a:latin typeface="Segoe UI Symbol" panose="020B0502040204020203" pitchFamily="34" charset="0"/>
              </a:rPr>
              <a:t>Les </a:t>
            </a:r>
            <a:r>
              <a:rPr lang="en-US" altLang="en-US" sz="2200" u="sng" dirty="0" err="1" smtClean="0">
                <a:latin typeface="Segoe UI Symbol" panose="020B0502040204020203" pitchFamily="34" charset="0"/>
              </a:rPr>
              <a:t>contrôles</a:t>
            </a:r>
            <a:r>
              <a:rPr lang="en-US" altLang="en-US" sz="2200" u="sng" dirty="0" smtClean="0">
                <a:latin typeface="Segoe UI Symbol" panose="020B0502040204020203" pitchFamily="34" charset="0"/>
              </a:rPr>
              <a:t> de </a:t>
            </a:r>
            <a:r>
              <a:rPr lang="en-US" altLang="en-US" sz="2200" u="sng" dirty="0" err="1" smtClean="0">
                <a:latin typeface="Segoe UI Symbol" panose="020B0502040204020203" pitchFamily="34" charset="0"/>
              </a:rPr>
              <a:t>commande</a:t>
            </a:r>
            <a:r>
              <a:rPr lang="fr-FR" altLang="en-US" sz="2200" u="sng" dirty="0" smtClean="0">
                <a:latin typeface="Segoe UI Symbol" panose="020B0502040204020203" pitchFamily="34" charset="0"/>
              </a:rPr>
              <a:t>-</a:t>
            </a:r>
            <a:r>
              <a:rPr lang="fr-FR" altLang="en-US" sz="2200" u="sng" dirty="0" err="1" smtClean="0">
                <a:latin typeface="Segoe UI Symbol" panose="020B0502040204020203" pitchFamily="34" charset="0"/>
              </a:rPr>
              <a:t>SearchBar</a:t>
            </a:r>
            <a:endParaRPr lang="fr-FR" altLang="en-US" sz="2200" dirty="0">
              <a:latin typeface="Times New Roman" panose="02020603050405020304" pitchFamily="18" charset="0"/>
              <a:cs typeface="Times New Roman" panose="02020603050405020304" pitchFamily="18" charset="0"/>
            </a:endParaRPr>
          </a:p>
          <a:p>
            <a:pPr eaLnBrk="1" hangingPunct="1"/>
            <a:endParaRPr lang="fr-FR" sz="2200" b="1" dirty="0" smtClean="0">
              <a:latin typeface="Times New Roman" panose="02020603050405020304" pitchFamily="18" charset="0"/>
              <a:cs typeface="Times New Roman" panose="02020603050405020304" pitchFamily="18" charset="0"/>
            </a:endParaRPr>
          </a:p>
          <a:p>
            <a:pPr marL="438150" indent="-285750" eaLnBrk="1" hangingPunct="1">
              <a:buClr>
                <a:schemeClr val="accent5"/>
              </a:buClr>
              <a:buFont typeface="Wingdings" panose="05000000000000000000" pitchFamily="2" charset="2"/>
              <a:buChar char="§"/>
            </a:pPr>
            <a:r>
              <a:rPr lang="fr-FR" b="1" dirty="0" err="1" smtClean="0">
                <a:latin typeface="Segoe UI" panose="020B0502040204020203" pitchFamily="34" charset="0"/>
                <a:cs typeface="Segoe UI" panose="020B0502040204020203" pitchFamily="34" charset="0"/>
              </a:rPr>
              <a:t>TextChanged</a:t>
            </a:r>
            <a:r>
              <a:rPr lang="fr-FR" b="1" dirty="0" smtClean="0">
                <a:latin typeface="Segoe UI" panose="020B0502040204020203" pitchFamily="34" charset="0"/>
                <a:cs typeface="Segoe UI" panose="020B0502040204020203" pitchFamily="34" charset="0"/>
              </a:rPr>
              <a:t>: </a:t>
            </a:r>
            <a:r>
              <a:rPr lang="fr-FR" dirty="0">
                <a:latin typeface="Segoe UI" panose="020B0502040204020203" pitchFamily="34" charset="0"/>
                <a:cs typeface="Segoe UI" panose="020B0502040204020203" pitchFamily="34" charset="0"/>
              </a:rPr>
              <a:t>qui est appelée chaque fois que le texte de la zone de requête est modifié. Cet événement est hérité de la </a:t>
            </a:r>
            <a:r>
              <a:rPr lang="fr-FR" b="1" dirty="0" err="1">
                <a:latin typeface="Segoe UI" panose="020B0502040204020203" pitchFamily="34" charset="0"/>
                <a:cs typeface="Segoe UI" panose="020B0502040204020203" pitchFamily="34" charset="0"/>
              </a:rPr>
              <a:t>InputViewclasse</a:t>
            </a:r>
            <a:endParaRPr lang="fr-FR" b="1" dirty="0" smtClean="0">
              <a:latin typeface="Segoe UI" panose="020B0502040204020203" pitchFamily="34" charset="0"/>
              <a:cs typeface="Segoe UI" panose="020B0502040204020203" pitchFamily="34" charset="0"/>
            </a:endParaRPr>
          </a:p>
        </p:txBody>
      </p:sp>
      <p:pic>
        <p:nvPicPr>
          <p:cNvPr id="4" name="Image 3"/>
          <p:cNvPicPr>
            <a:picLocks noChangeAspect="1"/>
          </p:cNvPicPr>
          <p:nvPr/>
        </p:nvPicPr>
        <p:blipFill>
          <a:blip r:embed="rId3"/>
          <a:stretch>
            <a:fillRect/>
          </a:stretch>
        </p:blipFill>
        <p:spPr>
          <a:xfrm>
            <a:off x="6095997" y="-3164750"/>
            <a:ext cx="5" cy="13187500"/>
          </a:xfrm>
          <a:prstGeom prst="rect">
            <a:avLst/>
          </a:prstGeom>
        </p:spPr>
      </p:pic>
      <p:sp>
        <p:nvSpPr>
          <p:cNvPr id="7" name="Rectangle 6"/>
          <p:cNvSpPr/>
          <p:nvPr/>
        </p:nvSpPr>
        <p:spPr>
          <a:xfrm>
            <a:off x="793711" y="2089694"/>
            <a:ext cx="10023814" cy="1631216"/>
          </a:xfrm>
          <a:prstGeom prst="rect">
            <a:avLst/>
          </a:prstGeom>
        </p:spPr>
        <p:txBody>
          <a:bodyPr wrap="square">
            <a:spAutoFit/>
          </a:bodyPr>
          <a:lstStyle/>
          <a:p>
            <a:r>
              <a:rPr lang="en-US" sz="2000" dirty="0">
                <a:solidFill>
                  <a:srgbClr val="0000FF"/>
                </a:solidFill>
                <a:latin typeface="Cascadia Mono" panose="020B0609020000020004" pitchFamily="49" charset="0"/>
              </a:rPr>
              <a:t>private</a:t>
            </a:r>
            <a:r>
              <a:rPr lang="en-US" sz="2000" dirty="0">
                <a:solidFill>
                  <a:srgbClr val="000000"/>
                </a:solidFill>
                <a:latin typeface="Cascadia Mono" panose="020B0609020000020004" pitchFamily="49" charset="0"/>
              </a:rPr>
              <a:t> </a:t>
            </a:r>
            <a:r>
              <a:rPr lang="en-US" sz="2000" dirty="0" smtClean="0">
                <a:solidFill>
                  <a:srgbClr val="0000FF"/>
                </a:solidFill>
                <a:latin typeface="Cascadia Mono" panose="020B0609020000020004" pitchFamily="49" charset="0"/>
              </a:rPr>
              <a:t>void</a:t>
            </a:r>
            <a:r>
              <a:rPr lang="en-US" sz="2000" dirty="0" smtClean="0">
                <a:solidFill>
                  <a:srgbClr val="000000"/>
                </a:solidFill>
                <a:latin typeface="Cascadia Mono" panose="020B0609020000020004" pitchFamily="49" charset="0"/>
              </a:rPr>
              <a:t> </a:t>
            </a:r>
            <a:r>
              <a:rPr lang="en-US" sz="2000" dirty="0" err="1" smtClean="0">
                <a:solidFill>
                  <a:srgbClr val="000000"/>
                </a:solidFill>
                <a:latin typeface="Cascadia Mono" panose="020B0609020000020004" pitchFamily="49" charset="0"/>
              </a:rPr>
              <a:t>searchbar_SearchButtonPressed</a:t>
            </a:r>
            <a:r>
              <a:rPr lang="en-US" sz="2000" dirty="0" smtClean="0">
                <a:solidFill>
                  <a:srgbClr val="000000"/>
                </a:solidFill>
                <a:latin typeface="Cascadia Mono" panose="020B0609020000020004" pitchFamily="49" charset="0"/>
              </a:rPr>
              <a:t>(</a:t>
            </a:r>
            <a:r>
              <a:rPr lang="en-US" sz="2000" dirty="0" smtClean="0">
                <a:solidFill>
                  <a:srgbClr val="0000FF"/>
                </a:solidFill>
                <a:latin typeface="Cascadia Mono" panose="020B0609020000020004" pitchFamily="49" charset="0"/>
              </a:rPr>
              <a:t>object</a:t>
            </a:r>
            <a:r>
              <a:rPr lang="en-US" sz="2000" dirty="0" smtClean="0">
                <a:solidFill>
                  <a:srgbClr val="000000"/>
                </a:solidFill>
                <a:latin typeface="Cascadia Mono" panose="020B0609020000020004" pitchFamily="49" charset="0"/>
              </a:rPr>
              <a:t> </a:t>
            </a:r>
            <a:r>
              <a:rPr lang="en-US" sz="2000" dirty="0">
                <a:solidFill>
                  <a:srgbClr val="000000"/>
                </a:solidFill>
                <a:latin typeface="Cascadia Mono" panose="020B0609020000020004" pitchFamily="49" charset="0"/>
              </a:rPr>
              <a:t>sender, EventArgs e</a:t>
            </a:r>
            <a:r>
              <a:rPr lang="en-US" sz="2000" dirty="0" smtClean="0">
                <a:solidFill>
                  <a:srgbClr val="000000"/>
                </a:solidFill>
                <a:latin typeface="Cascadia Mono" panose="020B0609020000020004" pitchFamily="49" charset="0"/>
              </a:rPr>
              <a:t>)</a:t>
            </a:r>
          </a:p>
          <a:p>
            <a:r>
              <a:rPr lang="fr-FR" sz="2000" dirty="0" smtClean="0">
                <a:solidFill>
                  <a:srgbClr val="000000"/>
                </a:solidFill>
                <a:latin typeface="Cascadia Mono" panose="020B0609020000020004" pitchFamily="49" charset="0"/>
              </a:rPr>
              <a:t>{</a:t>
            </a:r>
            <a:endParaRPr lang="fr-FR" sz="2000" dirty="0">
              <a:solidFill>
                <a:srgbClr val="000000"/>
              </a:solidFill>
              <a:latin typeface="Cascadia Mono" panose="020B0609020000020004" pitchFamily="49" charset="0"/>
            </a:endParaRPr>
          </a:p>
          <a:p>
            <a:endParaRPr lang="fr-FR" sz="2000" dirty="0">
              <a:solidFill>
                <a:srgbClr val="000000"/>
              </a:solidFill>
              <a:latin typeface="Cascadia Mono" panose="020B0609020000020004" pitchFamily="49" charset="0"/>
            </a:endParaRPr>
          </a:p>
          <a:p>
            <a:r>
              <a:rPr lang="fr-FR" sz="2000" dirty="0" smtClean="0">
                <a:solidFill>
                  <a:srgbClr val="000000"/>
                </a:solidFill>
                <a:latin typeface="Cascadia Mono" panose="020B0609020000020004" pitchFamily="49" charset="0"/>
              </a:rPr>
              <a:t>}</a:t>
            </a:r>
            <a:endParaRPr lang="fr-FR" sz="2000" dirty="0"/>
          </a:p>
        </p:txBody>
      </p:sp>
    </p:spTree>
    <p:extLst>
      <p:ext uri="{BB962C8B-B14F-4D97-AF65-F5344CB8AC3E}">
        <p14:creationId xmlns:p14="http://schemas.microsoft.com/office/powerpoint/2010/main" val="29182607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8"/>
          <p:cNvSpPr txBox="1">
            <a:spLocks noChangeArrowheads="1"/>
          </p:cNvSpPr>
          <p:nvPr/>
        </p:nvSpPr>
        <p:spPr bwMode="auto">
          <a:xfrm>
            <a:off x="373515" y="539827"/>
            <a:ext cx="11475048" cy="1169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152400">
              <a:tabLst>
                <a:tab pos="5992813" algn="l"/>
              </a:tabLst>
              <a:defRPr>
                <a:solidFill>
                  <a:schemeClr val="tx1"/>
                </a:solidFill>
                <a:latin typeface="Calibri" panose="020F0502020204030204" pitchFamily="34" charset="0"/>
                <a:cs typeface="Arial" panose="020B0604020202020204" pitchFamily="34" charset="0"/>
              </a:defRPr>
            </a:lvl1pPr>
            <a:lvl2pPr marL="579438" indent="-242888">
              <a:tabLst>
                <a:tab pos="5992813" algn="l"/>
              </a:tabLst>
              <a:defRPr>
                <a:solidFill>
                  <a:schemeClr val="tx1"/>
                </a:solidFill>
                <a:latin typeface="Calibri" panose="020F0502020204030204" pitchFamily="34" charset="0"/>
                <a:cs typeface="Arial" panose="020B0604020202020204" pitchFamily="34" charset="0"/>
              </a:defRPr>
            </a:lvl2pPr>
            <a:lvl3pPr marL="1143000" indent="-228600">
              <a:tabLst>
                <a:tab pos="5992813" algn="l"/>
              </a:tabLst>
              <a:defRPr>
                <a:solidFill>
                  <a:schemeClr val="tx1"/>
                </a:solidFill>
                <a:latin typeface="Calibri" panose="020F0502020204030204" pitchFamily="34" charset="0"/>
                <a:cs typeface="Arial" panose="020B0604020202020204" pitchFamily="34" charset="0"/>
              </a:defRPr>
            </a:lvl3pPr>
            <a:lvl4pPr marL="1600200" indent="-228600">
              <a:tabLst>
                <a:tab pos="5992813" algn="l"/>
              </a:tabLst>
              <a:defRPr>
                <a:solidFill>
                  <a:schemeClr val="tx1"/>
                </a:solidFill>
                <a:latin typeface="Calibri" panose="020F0502020204030204" pitchFamily="34" charset="0"/>
                <a:cs typeface="Arial" panose="020B0604020202020204" pitchFamily="34" charset="0"/>
              </a:defRPr>
            </a:lvl4pPr>
            <a:lvl5pPr marL="2057400" indent="-228600">
              <a:tabLst>
                <a:tab pos="5992813" algn="l"/>
              </a:tabLst>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2200" u="sng" dirty="0" smtClean="0">
                <a:latin typeface="Segoe UI Symbol" panose="020B0502040204020203" pitchFamily="34" charset="0"/>
              </a:rPr>
              <a:t>Les </a:t>
            </a:r>
            <a:r>
              <a:rPr lang="en-US" altLang="en-US" sz="2200" u="sng" dirty="0" err="1" smtClean="0">
                <a:latin typeface="Segoe UI Symbol" panose="020B0502040204020203" pitchFamily="34" charset="0"/>
              </a:rPr>
              <a:t>contrôles</a:t>
            </a:r>
            <a:r>
              <a:rPr lang="en-US" altLang="en-US" sz="2200" u="sng" dirty="0" smtClean="0">
                <a:latin typeface="Segoe UI Symbol" panose="020B0502040204020203" pitchFamily="34" charset="0"/>
              </a:rPr>
              <a:t> de </a:t>
            </a:r>
            <a:r>
              <a:rPr lang="en-US" altLang="en-US" sz="2200" u="sng" dirty="0" err="1" smtClean="0">
                <a:latin typeface="Segoe UI Symbol" panose="020B0502040204020203" pitchFamily="34" charset="0"/>
              </a:rPr>
              <a:t>commande</a:t>
            </a:r>
            <a:r>
              <a:rPr lang="fr-FR" altLang="en-US" sz="2200" u="sng" dirty="0" smtClean="0">
                <a:latin typeface="Segoe UI Symbol" panose="020B0502040204020203" pitchFamily="34" charset="0"/>
              </a:rPr>
              <a:t>-</a:t>
            </a:r>
            <a:r>
              <a:rPr lang="fr-FR" altLang="en-US" sz="2200" u="sng" dirty="0" err="1" smtClean="0">
                <a:latin typeface="Segoe UI Symbol" panose="020B0502040204020203" pitchFamily="34" charset="0"/>
              </a:rPr>
              <a:t>SwipeView</a:t>
            </a:r>
            <a:endParaRPr lang="fr-FR" altLang="en-US" sz="2200" u="sng" dirty="0" smtClean="0">
              <a:latin typeface="Segoe UI Symbol" panose="020B0502040204020203" pitchFamily="34" charset="0"/>
            </a:endParaRPr>
          </a:p>
          <a:p>
            <a:pPr marL="438150" indent="-285750">
              <a:lnSpc>
                <a:spcPct val="150000"/>
              </a:lnSpc>
              <a:buFont typeface="Wingdings" panose="05000000000000000000" pitchFamily="2" charset="2"/>
              <a:buChar char="§"/>
            </a:pPr>
            <a:r>
              <a:rPr lang="fr-FR" dirty="0" smtClean="0">
                <a:latin typeface="Segoe UI" panose="020B0502040204020203" pitchFamily="34" charset="0"/>
                <a:cs typeface="Segoe UI" panose="020B0502040204020203" pitchFamily="34" charset="0"/>
              </a:rPr>
              <a:t>Le contrôle </a:t>
            </a:r>
            <a:r>
              <a:rPr lang="fr-FR" b="1" dirty="0" err="1" smtClean="0">
                <a:latin typeface="Segoe UI" panose="020B0502040204020203" pitchFamily="34" charset="0"/>
                <a:cs typeface="Segoe UI" panose="020B0502040204020203" pitchFamily="34" charset="0"/>
              </a:rPr>
              <a:t>SwipeView</a:t>
            </a:r>
            <a:r>
              <a:rPr lang="fr-FR" b="1" dirty="0">
                <a:latin typeface="Segoe UI" panose="020B0502040204020203" pitchFamily="34" charset="0"/>
                <a:cs typeface="Segoe UI" panose="020B0502040204020203" pitchFamily="34" charset="0"/>
              </a:rPr>
              <a:t> </a:t>
            </a:r>
            <a:r>
              <a:rPr lang="fr-FR" dirty="0">
                <a:latin typeface="Segoe UI" panose="020B0502040204020203" pitchFamily="34" charset="0"/>
                <a:cs typeface="Segoe UI" panose="020B0502040204020203" pitchFamily="34" charset="0"/>
              </a:rPr>
              <a:t>est un contrôle de conteneur qui encapsule </a:t>
            </a:r>
            <a:r>
              <a:rPr lang="fr-FR" dirty="0" smtClean="0">
                <a:latin typeface="Segoe UI" panose="020B0502040204020203" pitchFamily="34" charset="0"/>
                <a:cs typeface="Segoe UI" panose="020B0502040204020203" pitchFamily="34" charset="0"/>
              </a:rPr>
              <a:t>et montre </a:t>
            </a:r>
            <a:r>
              <a:rPr lang="fr-FR" dirty="0">
                <a:latin typeface="Segoe UI" panose="020B0502040204020203" pitchFamily="34" charset="0"/>
                <a:cs typeface="Segoe UI" panose="020B0502040204020203" pitchFamily="34" charset="0"/>
              </a:rPr>
              <a:t>des éléments de menu contextuel qui sont </a:t>
            </a:r>
            <a:r>
              <a:rPr lang="fr-FR" dirty="0" smtClean="0">
                <a:latin typeface="Segoe UI" panose="020B0502040204020203" pitchFamily="34" charset="0"/>
                <a:cs typeface="Segoe UI" panose="020B0502040204020203" pitchFamily="34" charset="0"/>
              </a:rPr>
              <a:t>consultés </a:t>
            </a:r>
            <a:r>
              <a:rPr lang="fr-FR" dirty="0">
                <a:latin typeface="Segoe UI" panose="020B0502040204020203" pitchFamily="34" charset="0"/>
                <a:cs typeface="Segoe UI" panose="020B0502040204020203" pitchFamily="34" charset="0"/>
              </a:rPr>
              <a:t>par un mouvement de </a:t>
            </a:r>
            <a:r>
              <a:rPr lang="fr-FR" dirty="0" smtClean="0">
                <a:latin typeface="Segoe UI" panose="020B0502040204020203" pitchFamily="34" charset="0"/>
                <a:cs typeface="Segoe UI" panose="020B0502040204020203" pitchFamily="34" charset="0"/>
              </a:rPr>
              <a:t>balayage, Le </a:t>
            </a:r>
            <a:r>
              <a:rPr lang="fr-FR" b="1" dirty="0" err="1" smtClean="0">
                <a:latin typeface="Segoe UI" panose="020B0502040204020203" pitchFamily="34" charset="0"/>
                <a:cs typeface="Segoe UI" panose="020B0502040204020203" pitchFamily="34" charset="0"/>
              </a:rPr>
              <a:t>SwipeView</a:t>
            </a:r>
            <a:r>
              <a:rPr lang="fr-FR" dirty="0" smtClean="0">
                <a:latin typeface="Segoe UI" panose="020B0502040204020203" pitchFamily="34" charset="0"/>
                <a:cs typeface="Segoe UI" panose="020B0502040204020203" pitchFamily="34" charset="0"/>
              </a:rPr>
              <a:t> est définit sur trois blocks</a:t>
            </a:r>
            <a:endParaRPr lang="fr-FR" altLang="en-US" sz="2200" dirty="0" smtClean="0">
              <a:latin typeface="Segoe UI" panose="020B0502040204020203" pitchFamily="34" charset="0"/>
              <a:cs typeface="Segoe UI" panose="020B0502040204020203" pitchFamily="34" charset="0"/>
            </a:endParaRPr>
          </a:p>
        </p:txBody>
      </p:sp>
      <p:pic>
        <p:nvPicPr>
          <p:cNvPr id="4" name="Image 3"/>
          <p:cNvPicPr>
            <a:picLocks noChangeAspect="1"/>
          </p:cNvPicPr>
          <p:nvPr/>
        </p:nvPicPr>
        <p:blipFill>
          <a:blip r:embed="rId3"/>
          <a:stretch>
            <a:fillRect/>
          </a:stretch>
        </p:blipFill>
        <p:spPr>
          <a:xfrm>
            <a:off x="6095997" y="-3164750"/>
            <a:ext cx="5" cy="13187500"/>
          </a:xfrm>
          <a:prstGeom prst="rect">
            <a:avLst/>
          </a:prstGeom>
        </p:spPr>
      </p:pic>
      <p:sp>
        <p:nvSpPr>
          <p:cNvPr id="5" name="Rectangle 4"/>
          <p:cNvSpPr/>
          <p:nvPr/>
        </p:nvSpPr>
        <p:spPr>
          <a:xfrm>
            <a:off x="167424" y="2058550"/>
            <a:ext cx="4524777" cy="2308324"/>
          </a:xfrm>
          <a:prstGeom prst="rect">
            <a:avLst/>
          </a:prstGeom>
        </p:spPr>
        <p:txBody>
          <a:bodyPr wrap="square">
            <a:spAutoFit/>
          </a:bodyPr>
          <a:lstStyle/>
          <a:p>
            <a:r>
              <a:rPr lang="fr-FR" sz="1200" dirty="0">
                <a:solidFill>
                  <a:srgbClr val="0000FF"/>
                </a:solidFill>
                <a:latin typeface="Cascadia Mono" panose="020B0609020000020004" pitchFamily="49" charset="0"/>
              </a:rPr>
              <a:t>&lt;</a:t>
            </a:r>
            <a:r>
              <a:rPr lang="fr-FR" sz="1200" dirty="0" err="1">
                <a:solidFill>
                  <a:srgbClr val="A31515"/>
                </a:solidFill>
                <a:latin typeface="Cascadia Mono" panose="020B0609020000020004" pitchFamily="49" charset="0"/>
              </a:rPr>
              <a:t>SwipeView.LeftItems</a:t>
            </a:r>
            <a:r>
              <a:rPr lang="fr-FR" sz="1200" dirty="0">
                <a:solidFill>
                  <a:srgbClr val="0000FF"/>
                </a:solidFill>
                <a:latin typeface="Cascadia Mono" panose="020B0609020000020004" pitchFamily="49" charset="0"/>
              </a:rPr>
              <a:t>&gt;</a:t>
            </a:r>
            <a:endParaRPr lang="fr-FR" sz="1200" dirty="0">
              <a:solidFill>
                <a:srgbClr val="000000"/>
              </a:solidFill>
              <a:latin typeface="Cascadia Mono" panose="020B0609020000020004" pitchFamily="49" charset="0"/>
            </a:endParaRPr>
          </a:p>
          <a:p>
            <a:r>
              <a:rPr lang="fr-FR" sz="1200" dirty="0" smtClean="0">
                <a:solidFill>
                  <a:srgbClr val="0000FF"/>
                </a:solidFill>
                <a:latin typeface="Cascadia Mono" panose="020B0609020000020004" pitchFamily="49" charset="0"/>
              </a:rPr>
              <a:t>   &lt;</a:t>
            </a:r>
            <a:r>
              <a:rPr lang="fr-FR" sz="1200" dirty="0" err="1">
                <a:solidFill>
                  <a:srgbClr val="A31515"/>
                </a:solidFill>
                <a:latin typeface="Cascadia Mono" panose="020B0609020000020004" pitchFamily="49" charset="0"/>
              </a:rPr>
              <a:t>SwipeItems</a:t>
            </a:r>
            <a:r>
              <a:rPr lang="fr-FR" sz="1200" dirty="0">
                <a:solidFill>
                  <a:srgbClr val="0000FF"/>
                </a:solidFill>
                <a:latin typeface="Cascadia Mono" panose="020B0609020000020004" pitchFamily="49" charset="0"/>
              </a:rPr>
              <a:t>&gt;</a:t>
            </a:r>
            <a:endParaRPr lang="fr-FR" sz="1200" dirty="0">
              <a:solidFill>
                <a:srgbClr val="000000"/>
              </a:solidFill>
              <a:latin typeface="Cascadia Mono" panose="020B0609020000020004" pitchFamily="49" charset="0"/>
            </a:endParaRPr>
          </a:p>
          <a:p>
            <a:r>
              <a:rPr lang="fr-FR" sz="1200" dirty="0" smtClean="0">
                <a:solidFill>
                  <a:srgbClr val="0000FF"/>
                </a:solidFill>
                <a:latin typeface="Cascadia Mono" panose="020B0609020000020004" pitchFamily="49" charset="0"/>
              </a:rPr>
              <a:t>     &lt;</a:t>
            </a:r>
            <a:r>
              <a:rPr lang="fr-FR" sz="1200" dirty="0" err="1">
                <a:solidFill>
                  <a:srgbClr val="A31515"/>
                </a:solidFill>
                <a:latin typeface="Cascadia Mono" panose="020B0609020000020004" pitchFamily="49" charset="0"/>
              </a:rPr>
              <a:t>SwipeItem</a:t>
            </a:r>
            <a:r>
              <a:rPr lang="fr-FR" sz="1200" dirty="0">
                <a:solidFill>
                  <a:srgbClr val="FF0000"/>
                </a:solidFill>
                <a:latin typeface="Cascadia Mono" panose="020B0609020000020004" pitchFamily="49" charset="0"/>
              </a:rPr>
              <a:t> Text</a:t>
            </a:r>
            <a:r>
              <a:rPr lang="fr-FR" sz="1200" dirty="0">
                <a:solidFill>
                  <a:srgbClr val="0000FF"/>
                </a:solidFill>
                <a:latin typeface="Cascadia Mono" panose="020B0609020000020004" pitchFamily="49" charset="0"/>
              </a:rPr>
              <a:t>="Favorite"</a:t>
            </a:r>
            <a:endParaRPr lang="fr-FR" sz="1200" dirty="0">
              <a:solidFill>
                <a:srgbClr val="000000"/>
              </a:solidFill>
              <a:latin typeface="Cascadia Mono" panose="020B0609020000020004" pitchFamily="49" charset="0"/>
            </a:endParaRPr>
          </a:p>
          <a:p>
            <a:r>
              <a:rPr lang="fr-FR" sz="1200" dirty="0" smtClean="0">
                <a:solidFill>
                  <a:srgbClr val="FF0000"/>
                </a:solidFill>
                <a:latin typeface="Cascadia Mono" panose="020B0609020000020004" pitchFamily="49" charset="0"/>
              </a:rPr>
              <a:t>                </a:t>
            </a:r>
            <a:r>
              <a:rPr lang="fr-FR" sz="1200" dirty="0" err="1" smtClean="0">
                <a:solidFill>
                  <a:srgbClr val="FF0000"/>
                </a:solidFill>
                <a:latin typeface="Cascadia Mono" panose="020B0609020000020004" pitchFamily="49" charset="0"/>
              </a:rPr>
              <a:t>IconImageSource</a:t>
            </a:r>
            <a:r>
              <a:rPr lang="fr-FR" sz="1200" dirty="0">
                <a:solidFill>
                  <a:srgbClr val="0000FF"/>
                </a:solidFill>
                <a:latin typeface="Cascadia Mono" panose="020B0609020000020004" pitchFamily="49" charset="0"/>
              </a:rPr>
              <a:t>="cat.png"</a:t>
            </a:r>
            <a:endParaRPr lang="fr-FR" sz="1200" dirty="0">
              <a:solidFill>
                <a:srgbClr val="000000"/>
              </a:solidFill>
              <a:latin typeface="Cascadia Mono" panose="020B0609020000020004" pitchFamily="49" charset="0"/>
            </a:endParaRPr>
          </a:p>
          <a:p>
            <a:r>
              <a:rPr lang="fr-FR" sz="1200" dirty="0" smtClean="0">
                <a:solidFill>
                  <a:srgbClr val="FF0000"/>
                </a:solidFill>
                <a:latin typeface="Cascadia Mono" panose="020B0609020000020004" pitchFamily="49" charset="0"/>
              </a:rPr>
              <a:t>                </a:t>
            </a:r>
            <a:r>
              <a:rPr lang="fr-FR" sz="1200" dirty="0" err="1" smtClean="0">
                <a:solidFill>
                  <a:srgbClr val="FF0000"/>
                </a:solidFill>
                <a:latin typeface="Cascadia Mono" panose="020B0609020000020004" pitchFamily="49" charset="0"/>
              </a:rPr>
              <a:t>BackgroundColor</a:t>
            </a:r>
            <a:r>
              <a:rPr lang="fr-FR" sz="1200" dirty="0">
                <a:solidFill>
                  <a:srgbClr val="0000FF"/>
                </a:solidFill>
                <a:latin typeface="Cascadia Mono" panose="020B0609020000020004" pitchFamily="49" charset="0"/>
              </a:rPr>
              <a:t>="</a:t>
            </a:r>
            <a:r>
              <a:rPr lang="fr-FR" sz="1200" dirty="0" err="1">
                <a:solidFill>
                  <a:srgbClr val="0000FF"/>
                </a:solidFill>
                <a:latin typeface="Cascadia Mono" panose="020B0609020000020004" pitchFamily="49" charset="0"/>
              </a:rPr>
              <a:t>LightGreen</a:t>
            </a:r>
            <a:r>
              <a:rPr lang="fr-FR" sz="1200" dirty="0">
                <a:solidFill>
                  <a:srgbClr val="0000FF"/>
                </a:solidFill>
                <a:latin typeface="Cascadia Mono" panose="020B0609020000020004" pitchFamily="49" charset="0"/>
              </a:rPr>
              <a:t>"</a:t>
            </a:r>
            <a:endParaRPr lang="fr-FR" sz="1200" dirty="0">
              <a:solidFill>
                <a:srgbClr val="000000"/>
              </a:solidFill>
              <a:latin typeface="Cascadia Mono" panose="020B0609020000020004" pitchFamily="49" charset="0"/>
            </a:endParaRPr>
          </a:p>
          <a:p>
            <a:r>
              <a:rPr lang="fr-FR" sz="1200" dirty="0" smtClean="0">
                <a:solidFill>
                  <a:srgbClr val="FF0000"/>
                </a:solidFill>
                <a:latin typeface="Cascadia Mono" panose="020B0609020000020004" pitchFamily="49" charset="0"/>
              </a:rPr>
              <a:t>                </a:t>
            </a:r>
            <a:r>
              <a:rPr lang="fr-FR" sz="1200" dirty="0" err="1" smtClean="0">
                <a:solidFill>
                  <a:srgbClr val="FF0000"/>
                </a:solidFill>
                <a:latin typeface="Cascadia Mono" panose="020B0609020000020004" pitchFamily="49" charset="0"/>
              </a:rPr>
              <a:t>Invoked</a:t>
            </a:r>
            <a:r>
              <a:rPr lang="fr-FR" sz="1200" dirty="0">
                <a:solidFill>
                  <a:srgbClr val="0000FF"/>
                </a:solidFill>
                <a:latin typeface="Cascadia Mono" panose="020B0609020000020004" pitchFamily="49" charset="0"/>
              </a:rPr>
              <a:t>="</a:t>
            </a:r>
            <a:r>
              <a:rPr lang="fr-FR" sz="1200" dirty="0" err="1">
                <a:solidFill>
                  <a:srgbClr val="0000FF"/>
                </a:solidFill>
                <a:latin typeface="Cascadia Mono" panose="020B0609020000020004" pitchFamily="49" charset="0"/>
              </a:rPr>
              <a:t>SwipeItem_Invoked</a:t>
            </a:r>
            <a:r>
              <a:rPr lang="fr-FR" sz="1200" dirty="0" smtClean="0">
                <a:solidFill>
                  <a:srgbClr val="0000FF"/>
                </a:solidFill>
                <a:latin typeface="Cascadia Mono" panose="020B0609020000020004" pitchFamily="49" charset="0"/>
              </a:rPr>
              <a:t>"/&gt;</a:t>
            </a:r>
            <a:endParaRPr lang="fr-FR" sz="1200" dirty="0">
              <a:solidFill>
                <a:srgbClr val="000000"/>
              </a:solidFill>
              <a:latin typeface="Cascadia Mono" panose="020B0609020000020004" pitchFamily="49" charset="0"/>
            </a:endParaRPr>
          </a:p>
          <a:p>
            <a:r>
              <a:rPr lang="fr-FR" sz="1200" dirty="0">
                <a:solidFill>
                  <a:srgbClr val="000000"/>
                </a:solidFill>
                <a:latin typeface="Cascadia Mono" panose="020B0609020000020004" pitchFamily="49" charset="0"/>
              </a:rPr>
              <a:t>                </a:t>
            </a:r>
            <a:r>
              <a:rPr lang="fr-FR" sz="1200" dirty="0">
                <a:solidFill>
                  <a:srgbClr val="0000FF"/>
                </a:solidFill>
                <a:latin typeface="Cascadia Mono" panose="020B0609020000020004" pitchFamily="49" charset="0"/>
              </a:rPr>
              <a:t>&lt;</a:t>
            </a:r>
            <a:r>
              <a:rPr lang="fr-FR" sz="1200" dirty="0" err="1">
                <a:solidFill>
                  <a:srgbClr val="A31515"/>
                </a:solidFill>
                <a:latin typeface="Cascadia Mono" panose="020B0609020000020004" pitchFamily="49" charset="0"/>
              </a:rPr>
              <a:t>SwipeItem</a:t>
            </a:r>
            <a:r>
              <a:rPr lang="fr-FR" sz="1200" dirty="0">
                <a:solidFill>
                  <a:srgbClr val="FF0000"/>
                </a:solidFill>
                <a:latin typeface="Cascadia Mono" panose="020B0609020000020004" pitchFamily="49" charset="0"/>
              </a:rPr>
              <a:t> Text</a:t>
            </a:r>
            <a:r>
              <a:rPr lang="fr-FR" sz="1200" dirty="0">
                <a:solidFill>
                  <a:srgbClr val="0000FF"/>
                </a:solidFill>
                <a:latin typeface="Cascadia Mono" panose="020B0609020000020004" pitchFamily="49" charset="0"/>
              </a:rPr>
              <a:t>="Delete"</a:t>
            </a:r>
            <a:endParaRPr lang="fr-FR" sz="1200" dirty="0">
              <a:solidFill>
                <a:srgbClr val="000000"/>
              </a:solidFill>
              <a:latin typeface="Cascadia Mono" panose="020B0609020000020004" pitchFamily="49" charset="0"/>
            </a:endParaRPr>
          </a:p>
          <a:p>
            <a:r>
              <a:rPr lang="fr-FR" sz="1200" dirty="0" smtClean="0">
                <a:solidFill>
                  <a:srgbClr val="FF0000"/>
                </a:solidFill>
                <a:latin typeface="Cascadia Mono" panose="020B0609020000020004" pitchFamily="49" charset="0"/>
              </a:rPr>
              <a:t>                 </a:t>
            </a:r>
            <a:r>
              <a:rPr lang="fr-FR" sz="1200" dirty="0" err="1" smtClean="0">
                <a:solidFill>
                  <a:srgbClr val="FF0000"/>
                </a:solidFill>
                <a:latin typeface="Cascadia Mono" panose="020B0609020000020004" pitchFamily="49" charset="0"/>
              </a:rPr>
              <a:t>IconImageSource</a:t>
            </a:r>
            <a:r>
              <a:rPr lang="fr-FR" sz="1200" dirty="0">
                <a:solidFill>
                  <a:srgbClr val="0000FF"/>
                </a:solidFill>
                <a:latin typeface="Cascadia Mono" panose="020B0609020000020004" pitchFamily="49" charset="0"/>
              </a:rPr>
              <a:t>="dog.png"</a:t>
            </a:r>
            <a:endParaRPr lang="fr-FR" sz="1200" dirty="0">
              <a:solidFill>
                <a:srgbClr val="000000"/>
              </a:solidFill>
              <a:latin typeface="Cascadia Mono" panose="020B0609020000020004" pitchFamily="49" charset="0"/>
            </a:endParaRPr>
          </a:p>
          <a:p>
            <a:r>
              <a:rPr lang="fr-FR" sz="1200" dirty="0" smtClean="0">
                <a:solidFill>
                  <a:srgbClr val="FF0000"/>
                </a:solidFill>
                <a:latin typeface="Cascadia Mono" panose="020B0609020000020004" pitchFamily="49" charset="0"/>
              </a:rPr>
              <a:t>                 </a:t>
            </a:r>
            <a:r>
              <a:rPr lang="fr-FR" sz="1200" dirty="0" err="1" smtClean="0">
                <a:solidFill>
                  <a:srgbClr val="FF0000"/>
                </a:solidFill>
                <a:latin typeface="Cascadia Mono" panose="020B0609020000020004" pitchFamily="49" charset="0"/>
              </a:rPr>
              <a:t>BackgroundColor</a:t>
            </a:r>
            <a:r>
              <a:rPr lang="fr-FR" sz="1200" dirty="0">
                <a:solidFill>
                  <a:srgbClr val="0000FF"/>
                </a:solidFill>
                <a:latin typeface="Cascadia Mono" panose="020B0609020000020004" pitchFamily="49" charset="0"/>
              </a:rPr>
              <a:t>="</a:t>
            </a:r>
            <a:r>
              <a:rPr lang="fr-FR" sz="1200" dirty="0" err="1">
                <a:solidFill>
                  <a:srgbClr val="0000FF"/>
                </a:solidFill>
                <a:latin typeface="Cascadia Mono" panose="020B0609020000020004" pitchFamily="49" charset="0"/>
              </a:rPr>
              <a:t>LightPink</a:t>
            </a:r>
            <a:r>
              <a:rPr lang="fr-FR" sz="1200" dirty="0">
                <a:solidFill>
                  <a:srgbClr val="0000FF"/>
                </a:solidFill>
                <a:latin typeface="Cascadia Mono" panose="020B0609020000020004" pitchFamily="49" charset="0"/>
              </a:rPr>
              <a:t>"</a:t>
            </a:r>
            <a:endParaRPr lang="fr-FR" sz="1200" dirty="0">
              <a:solidFill>
                <a:srgbClr val="000000"/>
              </a:solidFill>
              <a:latin typeface="Cascadia Mono" panose="020B0609020000020004" pitchFamily="49" charset="0"/>
            </a:endParaRPr>
          </a:p>
          <a:p>
            <a:r>
              <a:rPr lang="fr-FR" sz="1200" dirty="0" smtClean="0">
                <a:solidFill>
                  <a:srgbClr val="FF0000"/>
                </a:solidFill>
                <a:latin typeface="Cascadia Mono" panose="020B0609020000020004" pitchFamily="49" charset="0"/>
              </a:rPr>
              <a:t>                 </a:t>
            </a:r>
            <a:r>
              <a:rPr lang="fr-FR" sz="1200" dirty="0" err="1" smtClean="0">
                <a:solidFill>
                  <a:srgbClr val="FF0000"/>
                </a:solidFill>
                <a:latin typeface="Cascadia Mono" panose="020B0609020000020004" pitchFamily="49" charset="0"/>
              </a:rPr>
              <a:t>Invoked</a:t>
            </a:r>
            <a:r>
              <a:rPr lang="fr-FR" sz="1200" dirty="0">
                <a:solidFill>
                  <a:srgbClr val="0000FF"/>
                </a:solidFill>
                <a:latin typeface="Cascadia Mono" panose="020B0609020000020004" pitchFamily="49" charset="0"/>
              </a:rPr>
              <a:t>="</a:t>
            </a:r>
            <a:r>
              <a:rPr lang="fr-FR" sz="1200" dirty="0" err="1">
                <a:solidFill>
                  <a:srgbClr val="0000FF"/>
                </a:solidFill>
                <a:latin typeface="Cascadia Mono" panose="020B0609020000020004" pitchFamily="49" charset="0"/>
              </a:rPr>
              <a:t>SwipeItem_Invoked</a:t>
            </a:r>
            <a:r>
              <a:rPr lang="fr-FR" sz="1200" dirty="0" smtClean="0">
                <a:solidFill>
                  <a:srgbClr val="0000FF"/>
                </a:solidFill>
                <a:latin typeface="Cascadia Mono" panose="020B0609020000020004" pitchFamily="49" charset="0"/>
              </a:rPr>
              <a:t>"/&gt;</a:t>
            </a:r>
            <a:endParaRPr lang="fr-FR" sz="1200" dirty="0">
              <a:solidFill>
                <a:srgbClr val="000000"/>
              </a:solidFill>
              <a:latin typeface="Cascadia Mono" panose="020B0609020000020004" pitchFamily="49" charset="0"/>
            </a:endParaRPr>
          </a:p>
          <a:p>
            <a:r>
              <a:rPr lang="fr-FR" sz="1200" dirty="0" smtClean="0">
                <a:solidFill>
                  <a:srgbClr val="0000FF"/>
                </a:solidFill>
                <a:latin typeface="Cascadia Mono" panose="020B0609020000020004" pitchFamily="49" charset="0"/>
              </a:rPr>
              <a:t>      &lt;/</a:t>
            </a:r>
            <a:r>
              <a:rPr lang="fr-FR" sz="1200" dirty="0" err="1">
                <a:solidFill>
                  <a:srgbClr val="A31515"/>
                </a:solidFill>
                <a:latin typeface="Cascadia Mono" panose="020B0609020000020004" pitchFamily="49" charset="0"/>
              </a:rPr>
              <a:t>SwipeItems</a:t>
            </a:r>
            <a:r>
              <a:rPr lang="fr-FR" sz="1200" dirty="0">
                <a:solidFill>
                  <a:srgbClr val="0000FF"/>
                </a:solidFill>
                <a:latin typeface="Cascadia Mono" panose="020B0609020000020004" pitchFamily="49" charset="0"/>
              </a:rPr>
              <a:t>&gt;</a:t>
            </a:r>
            <a:endParaRPr lang="fr-FR" sz="1200" dirty="0">
              <a:solidFill>
                <a:srgbClr val="000000"/>
              </a:solidFill>
              <a:latin typeface="Cascadia Mono" panose="020B0609020000020004" pitchFamily="49" charset="0"/>
            </a:endParaRPr>
          </a:p>
          <a:p>
            <a:r>
              <a:rPr lang="fr-FR" sz="1200" dirty="0" smtClean="0">
                <a:solidFill>
                  <a:srgbClr val="0000FF"/>
                </a:solidFill>
                <a:latin typeface="Cascadia Mono" panose="020B0609020000020004" pitchFamily="49" charset="0"/>
              </a:rPr>
              <a:t>&lt;/</a:t>
            </a:r>
            <a:r>
              <a:rPr lang="fr-FR" sz="1200" dirty="0" err="1">
                <a:solidFill>
                  <a:srgbClr val="A31515"/>
                </a:solidFill>
                <a:latin typeface="Cascadia Mono" panose="020B0609020000020004" pitchFamily="49" charset="0"/>
              </a:rPr>
              <a:t>SwipeView.LeftItems</a:t>
            </a:r>
            <a:r>
              <a:rPr lang="fr-FR" sz="1200" dirty="0">
                <a:solidFill>
                  <a:srgbClr val="0000FF"/>
                </a:solidFill>
                <a:latin typeface="Cascadia Mono" panose="020B0609020000020004" pitchFamily="49" charset="0"/>
              </a:rPr>
              <a:t>&gt;</a:t>
            </a:r>
            <a:endParaRPr lang="fr-FR" sz="1200" dirty="0"/>
          </a:p>
        </p:txBody>
      </p:sp>
      <p:sp>
        <p:nvSpPr>
          <p:cNvPr id="8" name="Rectangle 7"/>
          <p:cNvSpPr/>
          <p:nvPr/>
        </p:nvSpPr>
        <p:spPr>
          <a:xfrm>
            <a:off x="4535509" y="2058550"/>
            <a:ext cx="4595612" cy="2308324"/>
          </a:xfrm>
          <a:prstGeom prst="rect">
            <a:avLst/>
          </a:prstGeom>
        </p:spPr>
        <p:txBody>
          <a:bodyPr wrap="square">
            <a:spAutoFit/>
          </a:bodyPr>
          <a:lstStyle/>
          <a:p>
            <a:r>
              <a:rPr lang="fr-FR" sz="1200" dirty="0">
                <a:solidFill>
                  <a:srgbClr val="0000FF"/>
                </a:solidFill>
                <a:latin typeface="Cascadia Mono" panose="020B0609020000020004" pitchFamily="49" charset="0"/>
              </a:rPr>
              <a:t>&lt;</a:t>
            </a:r>
            <a:r>
              <a:rPr lang="fr-FR" sz="1200" dirty="0" err="1">
                <a:solidFill>
                  <a:srgbClr val="A31515"/>
                </a:solidFill>
                <a:latin typeface="Cascadia Mono" panose="020B0609020000020004" pitchFamily="49" charset="0"/>
              </a:rPr>
              <a:t>SwipeView.RightItems</a:t>
            </a:r>
            <a:r>
              <a:rPr lang="fr-FR" sz="1200" dirty="0">
                <a:solidFill>
                  <a:srgbClr val="0000FF"/>
                </a:solidFill>
                <a:latin typeface="Cascadia Mono" panose="020B0609020000020004" pitchFamily="49" charset="0"/>
              </a:rPr>
              <a:t>&gt;</a:t>
            </a:r>
            <a:endParaRPr lang="fr-FR" sz="1200" dirty="0">
              <a:solidFill>
                <a:srgbClr val="000000"/>
              </a:solidFill>
              <a:latin typeface="Cascadia Mono" panose="020B0609020000020004" pitchFamily="49" charset="0"/>
            </a:endParaRPr>
          </a:p>
          <a:p>
            <a:r>
              <a:rPr lang="fr-FR" sz="1200" dirty="0" smtClean="0">
                <a:solidFill>
                  <a:srgbClr val="0000FF"/>
                </a:solidFill>
                <a:latin typeface="Cascadia Mono" panose="020B0609020000020004" pitchFamily="49" charset="0"/>
              </a:rPr>
              <a:t>   &lt;</a:t>
            </a:r>
            <a:r>
              <a:rPr lang="fr-FR" sz="1200" dirty="0" err="1">
                <a:solidFill>
                  <a:srgbClr val="A31515"/>
                </a:solidFill>
                <a:latin typeface="Cascadia Mono" panose="020B0609020000020004" pitchFamily="49" charset="0"/>
              </a:rPr>
              <a:t>SwipeItems</a:t>
            </a:r>
            <a:r>
              <a:rPr lang="fr-FR" sz="1200" dirty="0">
                <a:solidFill>
                  <a:srgbClr val="0000FF"/>
                </a:solidFill>
                <a:latin typeface="Cascadia Mono" panose="020B0609020000020004" pitchFamily="49" charset="0"/>
              </a:rPr>
              <a:t>&gt;</a:t>
            </a:r>
            <a:endParaRPr lang="fr-FR" sz="1200" dirty="0">
              <a:solidFill>
                <a:srgbClr val="000000"/>
              </a:solidFill>
              <a:latin typeface="Cascadia Mono" panose="020B0609020000020004" pitchFamily="49" charset="0"/>
            </a:endParaRPr>
          </a:p>
          <a:p>
            <a:r>
              <a:rPr lang="fr-FR" sz="1200" dirty="0" smtClean="0">
                <a:solidFill>
                  <a:srgbClr val="0000FF"/>
                </a:solidFill>
                <a:latin typeface="Cascadia Mono" panose="020B0609020000020004" pitchFamily="49" charset="0"/>
              </a:rPr>
              <a:t>      &lt;</a:t>
            </a:r>
            <a:r>
              <a:rPr lang="fr-FR" sz="1200" dirty="0" err="1">
                <a:solidFill>
                  <a:srgbClr val="A31515"/>
                </a:solidFill>
                <a:latin typeface="Cascadia Mono" panose="020B0609020000020004" pitchFamily="49" charset="0"/>
              </a:rPr>
              <a:t>SwipeItem</a:t>
            </a:r>
            <a:r>
              <a:rPr lang="fr-FR" sz="1200" dirty="0">
                <a:solidFill>
                  <a:srgbClr val="FF0000"/>
                </a:solidFill>
                <a:latin typeface="Cascadia Mono" panose="020B0609020000020004" pitchFamily="49" charset="0"/>
              </a:rPr>
              <a:t> Text</a:t>
            </a:r>
            <a:r>
              <a:rPr lang="fr-FR" sz="1200" dirty="0">
                <a:solidFill>
                  <a:srgbClr val="0000FF"/>
                </a:solidFill>
                <a:latin typeface="Cascadia Mono" panose="020B0609020000020004" pitchFamily="49" charset="0"/>
              </a:rPr>
              <a:t>="Favorite"</a:t>
            </a:r>
            <a:endParaRPr lang="fr-FR" sz="1200" dirty="0">
              <a:solidFill>
                <a:srgbClr val="000000"/>
              </a:solidFill>
              <a:latin typeface="Cascadia Mono" panose="020B0609020000020004" pitchFamily="49" charset="0"/>
            </a:endParaRPr>
          </a:p>
          <a:p>
            <a:r>
              <a:rPr lang="fr-FR" sz="1200" dirty="0" smtClean="0">
                <a:solidFill>
                  <a:srgbClr val="FF0000"/>
                </a:solidFill>
                <a:latin typeface="Cascadia Mono" panose="020B0609020000020004" pitchFamily="49" charset="0"/>
              </a:rPr>
              <a:t>                 </a:t>
            </a:r>
            <a:r>
              <a:rPr lang="fr-FR" sz="1200" dirty="0" err="1" smtClean="0">
                <a:solidFill>
                  <a:srgbClr val="FF0000"/>
                </a:solidFill>
                <a:latin typeface="Cascadia Mono" panose="020B0609020000020004" pitchFamily="49" charset="0"/>
              </a:rPr>
              <a:t>IconImageSource</a:t>
            </a:r>
            <a:r>
              <a:rPr lang="fr-FR" sz="1200" dirty="0">
                <a:solidFill>
                  <a:srgbClr val="0000FF"/>
                </a:solidFill>
                <a:latin typeface="Cascadia Mono" panose="020B0609020000020004" pitchFamily="49" charset="0"/>
              </a:rPr>
              <a:t>="elephant.png"</a:t>
            </a:r>
            <a:endParaRPr lang="fr-FR" sz="1200" dirty="0">
              <a:solidFill>
                <a:srgbClr val="000000"/>
              </a:solidFill>
              <a:latin typeface="Cascadia Mono" panose="020B0609020000020004" pitchFamily="49" charset="0"/>
            </a:endParaRPr>
          </a:p>
          <a:p>
            <a:r>
              <a:rPr lang="fr-FR" sz="1200" dirty="0" smtClean="0">
                <a:solidFill>
                  <a:srgbClr val="FF0000"/>
                </a:solidFill>
                <a:latin typeface="Cascadia Mono" panose="020B0609020000020004" pitchFamily="49" charset="0"/>
              </a:rPr>
              <a:t>                 </a:t>
            </a:r>
            <a:r>
              <a:rPr lang="fr-FR" sz="1200" dirty="0" err="1" smtClean="0">
                <a:solidFill>
                  <a:srgbClr val="FF0000"/>
                </a:solidFill>
                <a:latin typeface="Cascadia Mono" panose="020B0609020000020004" pitchFamily="49" charset="0"/>
              </a:rPr>
              <a:t>BackgroundColor</a:t>
            </a:r>
            <a:r>
              <a:rPr lang="fr-FR" sz="1200" dirty="0">
                <a:solidFill>
                  <a:srgbClr val="0000FF"/>
                </a:solidFill>
                <a:latin typeface="Cascadia Mono" panose="020B0609020000020004" pitchFamily="49" charset="0"/>
              </a:rPr>
              <a:t>="</a:t>
            </a:r>
            <a:r>
              <a:rPr lang="fr-FR" sz="1200" dirty="0" err="1">
                <a:solidFill>
                  <a:srgbClr val="0000FF"/>
                </a:solidFill>
                <a:latin typeface="Cascadia Mono" panose="020B0609020000020004" pitchFamily="49" charset="0"/>
              </a:rPr>
              <a:t>LightBlue</a:t>
            </a:r>
            <a:r>
              <a:rPr lang="fr-FR" sz="1200" dirty="0">
                <a:solidFill>
                  <a:srgbClr val="0000FF"/>
                </a:solidFill>
                <a:latin typeface="Cascadia Mono" panose="020B0609020000020004" pitchFamily="49" charset="0"/>
              </a:rPr>
              <a:t>"</a:t>
            </a:r>
            <a:endParaRPr lang="fr-FR" sz="1200" dirty="0">
              <a:solidFill>
                <a:srgbClr val="000000"/>
              </a:solidFill>
              <a:latin typeface="Cascadia Mono" panose="020B0609020000020004" pitchFamily="49" charset="0"/>
            </a:endParaRPr>
          </a:p>
          <a:p>
            <a:r>
              <a:rPr lang="fr-FR" sz="1200" dirty="0" smtClean="0">
                <a:solidFill>
                  <a:srgbClr val="FF0000"/>
                </a:solidFill>
                <a:latin typeface="Cascadia Mono" panose="020B0609020000020004" pitchFamily="49" charset="0"/>
              </a:rPr>
              <a:t>                 </a:t>
            </a:r>
            <a:r>
              <a:rPr lang="fr-FR" sz="1200" dirty="0" err="1" smtClean="0">
                <a:solidFill>
                  <a:srgbClr val="FF0000"/>
                </a:solidFill>
                <a:latin typeface="Cascadia Mono" panose="020B0609020000020004" pitchFamily="49" charset="0"/>
              </a:rPr>
              <a:t>Invoked</a:t>
            </a:r>
            <a:r>
              <a:rPr lang="fr-FR" sz="1200" dirty="0">
                <a:solidFill>
                  <a:srgbClr val="0000FF"/>
                </a:solidFill>
                <a:latin typeface="Cascadia Mono" panose="020B0609020000020004" pitchFamily="49" charset="0"/>
              </a:rPr>
              <a:t>="</a:t>
            </a:r>
            <a:r>
              <a:rPr lang="fr-FR" sz="1200" dirty="0" err="1">
                <a:solidFill>
                  <a:srgbClr val="0000FF"/>
                </a:solidFill>
                <a:latin typeface="Cascadia Mono" panose="020B0609020000020004" pitchFamily="49" charset="0"/>
              </a:rPr>
              <a:t>SwipeItem_Invoked</a:t>
            </a:r>
            <a:r>
              <a:rPr lang="fr-FR" sz="1200" dirty="0" smtClean="0">
                <a:solidFill>
                  <a:srgbClr val="0000FF"/>
                </a:solidFill>
                <a:latin typeface="Cascadia Mono" panose="020B0609020000020004" pitchFamily="49" charset="0"/>
              </a:rPr>
              <a:t>"/&gt;</a:t>
            </a:r>
            <a:endParaRPr lang="fr-FR" sz="1200" dirty="0">
              <a:solidFill>
                <a:srgbClr val="000000"/>
              </a:solidFill>
              <a:latin typeface="Cascadia Mono" panose="020B0609020000020004" pitchFamily="49" charset="0"/>
            </a:endParaRPr>
          </a:p>
          <a:p>
            <a:r>
              <a:rPr lang="fr-FR" sz="1200" dirty="0" smtClean="0">
                <a:solidFill>
                  <a:srgbClr val="0000FF"/>
                </a:solidFill>
                <a:latin typeface="Cascadia Mono" panose="020B0609020000020004" pitchFamily="49" charset="0"/>
              </a:rPr>
              <a:t>      &lt;</a:t>
            </a:r>
            <a:r>
              <a:rPr lang="fr-FR" sz="1200" dirty="0" err="1">
                <a:solidFill>
                  <a:srgbClr val="A31515"/>
                </a:solidFill>
                <a:latin typeface="Cascadia Mono" panose="020B0609020000020004" pitchFamily="49" charset="0"/>
              </a:rPr>
              <a:t>SwipeItem</a:t>
            </a:r>
            <a:r>
              <a:rPr lang="fr-FR" sz="1200" dirty="0">
                <a:solidFill>
                  <a:srgbClr val="FF0000"/>
                </a:solidFill>
                <a:latin typeface="Cascadia Mono" panose="020B0609020000020004" pitchFamily="49" charset="0"/>
              </a:rPr>
              <a:t> Text</a:t>
            </a:r>
            <a:r>
              <a:rPr lang="fr-FR" sz="1200" dirty="0">
                <a:solidFill>
                  <a:srgbClr val="0000FF"/>
                </a:solidFill>
                <a:latin typeface="Cascadia Mono" panose="020B0609020000020004" pitchFamily="49" charset="0"/>
              </a:rPr>
              <a:t>="Delete"</a:t>
            </a:r>
            <a:endParaRPr lang="fr-FR" sz="1200" dirty="0">
              <a:solidFill>
                <a:srgbClr val="000000"/>
              </a:solidFill>
              <a:latin typeface="Cascadia Mono" panose="020B0609020000020004" pitchFamily="49" charset="0"/>
            </a:endParaRPr>
          </a:p>
          <a:p>
            <a:r>
              <a:rPr lang="fr-FR" sz="1200" dirty="0" smtClean="0">
                <a:solidFill>
                  <a:srgbClr val="FF0000"/>
                </a:solidFill>
                <a:latin typeface="Cascadia Mono" panose="020B0609020000020004" pitchFamily="49" charset="0"/>
              </a:rPr>
              <a:t>                 </a:t>
            </a:r>
            <a:r>
              <a:rPr lang="fr-FR" sz="1200" dirty="0" err="1" smtClean="0">
                <a:solidFill>
                  <a:srgbClr val="FF0000"/>
                </a:solidFill>
                <a:latin typeface="Cascadia Mono" panose="020B0609020000020004" pitchFamily="49" charset="0"/>
              </a:rPr>
              <a:t>IconImageSource</a:t>
            </a:r>
            <a:r>
              <a:rPr lang="fr-FR" sz="1200" dirty="0">
                <a:solidFill>
                  <a:srgbClr val="0000FF"/>
                </a:solidFill>
                <a:latin typeface="Cascadia Mono" panose="020B0609020000020004" pitchFamily="49" charset="0"/>
              </a:rPr>
              <a:t>="monkey.png"</a:t>
            </a:r>
            <a:endParaRPr lang="fr-FR" sz="1200" dirty="0">
              <a:solidFill>
                <a:srgbClr val="000000"/>
              </a:solidFill>
              <a:latin typeface="Cascadia Mono" panose="020B0609020000020004" pitchFamily="49" charset="0"/>
            </a:endParaRPr>
          </a:p>
          <a:p>
            <a:r>
              <a:rPr lang="fr-FR" sz="1200" dirty="0" smtClean="0">
                <a:solidFill>
                  <a:srgbClr val="FF0000"/>
                </a:solidFill>
                <a:latin typeface="Cascadia Mono" panose="020B0609020000020004" pitchFamily="49" charset="0"/>
              </a:rPr>
              <a:t>                 </a:t>
            </a:r>
            <a:r>
              <a:rPr lang="fr-FR" sz="1200" dirty="0" err="1" smtClean="0">
                <a:solidFill>
                  <a:srgbClr val="FF0000"/>
                </a:solidFill>
                <a:latin typeface="Cascadia Mono" panose="020B0609020000020004" pitchFamily="49" charset="0"/>
              </a:rPr>
              <a:t>BackgroundColor</a:t>
            </a:r>
            <a:r>
              <a:rPr lang="fr-FR" sz="1200" dirty="0">
                <a:solidFill>
                  <a:srgbClr val="0000FF"/>
                </a:solidFill>
                <a:latin typeface="Cascadia Mono" panose="020B0609020000020004" pitchFamily="49" charset="0"/>
              </a:rPr>
              <a:t>="</a:t>
            </a:r>
            <a:r>
              <a:rPr lang="fr-FR" sz="1200" dirty="0" err="1">
                <a:solidFill>
                  <a:srgbClr val="0000FF"/>
                </a:solidFill>
                <a:latin typeface="Cascadia Mono" panose="020B0609020000020004" pitchFamily="49" charset="0"/>
              </a:rPr>
              <a:t>LightSeaGreen</a:t>
            </a:r>
            <a:r>
              <a:rPr lang="fr-FR" sz="1200" dirty="0">
                <a:solidFill>
                  <a:srgbClr val="0000FF"/>
                </a:solidFill>
                <a:latin typeface="Cascadia Mono" panose="020B0609020000020004" pitchFamily="49" charset="0"/>
              </a:rPr>
              <a:t>"</a:t>
            </a:r>
            <a:endParaRPr lang="fr-FR" sz="1200" dirty="0">
              <a:solidFill>
                <a:srgbClr val="000000"/>
              </a:solidFill>
              <a:latin typeface="Cascadia Mono" panose="020B0609020000020004" pitchFamily="49" charset="0"/>
            </a:endParaRPr>
          </a:p>
          <a:p>
            <a:r>
              <a:rPr lang="fr-FR" sz="1200" dirty="0" smtClean="0">
                <a:solidFill>
                  <a:srgbClr val="FF0000"/>
                </a:solidFill>
                <a:latin typeface="Cascadia Mono" panose="020B0609020000020004" pitchFamily="49" charset="0"/>
              </a:rPr>
              <a:t>                 </a:t>
            </a:r>
            <a:r>
              <a:rPr lang="fr-FR" sz="1200" dirty="0" err="1" smtClean="0">
                <a:solidFill>
                  <a:srgbClr val="FF0000"/>
                </a:solidFill>
                <a:latin typeface="Cascadia Mono" panose="020B0609020000020004" pitchFamily="49" charset="0"/>
              </a:rPr>
              <a:t>Invoked</a:t>
            </a:r>
            <a:r>
              <a:rPr lang="fr-FR" sz="1200" dirty="0">
                <a:solidFill>
                  <a:srgbClr val="0000FF"/>
                </a:solidFill>
                <a:latin typeface="Cascadia Mono" panose="020B0609020000020004" pitchFamily="49" charset="0"/>
              </a:rPr>
              <a:t>="</a:t>
            </a:r>
            <a:r>
              <a:rPr lang="fr-FR" sz="1200" dirty="0" err="1">
                <a:solidFill>
                  <a:srgbClr val="0000FF"/>
                </a:solidFill>
                <a:latin typeface="Cascadia Mono" panose="020B0609020000020004" pitchFamily="49" charset="0"/>
              </a:rPr>
              <a:t>SwipeItem_Invoked</a:t>
            </a:r>
            <a:r>
              <a:rPr lang="fr-FR" sz="1200" dirty="0" smtClean="0">
                <a:solidFill>
                  <a:srgbClr val="0000FF"/>
                </a:solidFill>
                <a:latin typeface="Cascadia Mono" panose="020B0609020000020004" pitchFamily="49" charset="0"/>
              </a:rPr>
              <a:t>"/&gt;</a:t>
            </a:r>
            <a:endParaRPr lang="fr-FR" sz="1200" dirty="0">
              <a:solidFill>
                <a:srgbClr val="000000"/>
              </a:solidFill>
              <a:latin typeface="Cascadia Mono" panose="020B0609020000020004" pitchFamily="49" charset="0"/>
            </a:endParaRPr>
          </a:p>
          <a:p>
            <a:r>
              <a:rPr lang="fr-FR" sz="1200" dirty="0" smtClean="0">
                <a:solidFill>
                  <a:srgbClr val="0000FF"/>
                </a:solidFill>
                <a:latin typeface="Cascadia Mono" panose="020B0609020000020004" pitchFamily="49" charset="0"/>
              </a:rPr>
              <a:t>      &lt;/</a:t>
            </a:r>
            <a:r>
              <a:rPr lang="fr-FR" sz="1200" dirty="0" err="1">
                <a:solidFill>
                  <a:srgbClr val="A31515"/>
                </a:solidFill>
                <a:latin typeface="Cascadia Mono" panose="020B0609020000020004" pitchFamily="49" charset="0"/>
              </a:rPr>
              <a:t>SwipeItems</a:t>
            </a:r>
            <a:r>
              <a:rPr lang="fr-FR" sz="1200" dirty="0">
                <a:solidFill>
                  <a:srgbClr val="0000FF"/>
                </a:solidFill>
                <a:latin typeface="Cascadia Mono" panose="020B0609020000020004" pitchFamily="49" charset="0"/>
              </a:rPr>
              <a:t>&gt;</a:t>
            </a:r>
            <a:endParaRPr lang="fr-FR" sz="1200" dirty="0">
              <a:solidFill>
                <a:srgbClr val="000000"/>
              </a:solidFill>
              <a:latin typeface="Cascadia Mono" panose="020B0609020000020004" pitchFamily="49" charset="0"/>
            </a:endParaRPr>
          </a:p>
          <a:p>
            <a:r>
              <a:rPr lang="fr-FR" sz="1200" dirty="0" smtClean="0">
                <a:solidFill>
                  <a:srgbClr val="0000FF"/>
                </a:solidFill>
                <a:latin typeface="Cascadia Mono" panose="020B0609020000020004" pitchFamily="49" charset="0"/>
              </a:rPr>
              <a:t>&lt;/</a:t>
            </a:r>
            <a:r>
              <a:rPr lang="fr-FR" sz="1200" dirty="0" err="1">
                <a:solidFill>
                  <a:srgbClr val="A31515"/>
                </a:solidFill>
                <a:latin typeface="Cascadia Mono" panose="020B0609020000020004" pitchFamily="49" charset="0"/>
              </a:rPr>
              <a:t>SwipeView.RightItems</a:t>
            </a:r>
            <a:r>
              <a:rPr lang="fr-FR" sz="1200" dirty="0">
                <a:solidFill>
                  <a:srgbClr val="0000FF"/>
                </a:solidFill>
                <a:latin typeface="Cascadia Mono" panose="020B0609020000020004" pitchFamily="49" charset="0"/>
              </a:rPr>
              <a:t>&gt;</a:t>
            </a:r>
            <a:endParaRPr lang="fr-FR" sz="1200" dirty="0"/>
          </a:p>
        </p:txBody>
      </p:sp>
      <p:sp>
        <p:nvSpPr>
          <p:cNvPr id="9" name="Rectangle 8"/>
          <p:cNvSpPr/>
          <p:nvPr/>
        </p:nvSpPr>
        <p:spPr>
          <a:xfrm>
            <a:off x="8980867" y="2058550"/>
            <a:ext cx="3741315" cy="1277273"/>
          </a:xfrm>
          <a:prstGeom prst="rect">
            <a:avLst/>
          </a:prstGeom>
        </p:spPr>
        <p:txBody>
          <a:bodyPr wrap="square">
            <a:spAutoFit/>
          </a:bodyPr>
          <a:lstStyle/>
          <a:p>
            <a:r>
              <a:rPr lang="fr-FR" sz="1100" dirty="0">
                <a:solidFill>
                  <a:srgbClr val="0000FF"/>
                </a:solidFill>
                <a:latin typeface="Cascadia Mono" panose="020B0609020000020004" pitchFamily="49" charset="0"/>
              </a:rPr>
              <a:t>&lt;</a:t>
            </a:r>
            <a:r>
              <a:rPr lang="fr-FR" sz="1100" dirty="0">
                <a:solidFill>
                  <a:srgbClr val="A31515"/>
                </a:solidFill>
                <a:latin typeface="Cascadia Mono" panose="020B0609020000020004" pitchFamily="49" charset="0"/>
              </a:rPr>
              <a:t>Grid</a:t>
            </a:r>
            <a:r>
              <a:rPr lang="fr-FR" sz="1100" dirty="0">
                <a:solidFill>
                  <a:srgbClr val="FF0000"/>
                </a:solidFill>
                <a:latin typeface="Cascadia Mono" panose="020B0609020000020004" pitchFamily="49" charset="0"/>
              </a:rPr>
              <a:t> </a:t>
            </a:r>
            <a:r>
              <a:rPr lang="fr-FR" sz="1100" dirty="0" err="1">
                <a:solidFill>
                  <a:srgbClr val="FF0000"/>
                </a:solidFill>
                <a:latin typeface="Cascadia Mono" panose="020B0609020000020004" pitchFamily="49" charset="0"/>
              </a:rPr>
              <a:t>HeightRequest</a:t>
            </a:r>
            <a:r>
              <a:rPr lang="fr-FR" sz="1100" dirty="0">
                <a:solidFill>
                  <a:srgbClr val="0000FF"/>
                </a:solidFill>
                <a:latin typeface="Cascadia Mono" panose="020B0609020000020004" pitchFamily="49" charset="0"/>
              </a:rPr>
              <a:t>="60"</a:t>
            </a:r>
            <a:endParaRPr lang="fr-FR" sz="1100" dirty="0">
              <a:solidFill>
                <a:srgbClr val="000000"/>
              </a:solidFill>
              <a:latin typeface="Cascadia Mono" panose="020B0609020000020004" pitchFamily="49" charset="0"/>
            </a:endParaRPr>
          </a:p>
          <a:p>
            <a:r>
              <a:rPr lang="fr-FR" sz="1100" dirty="0" smtClean="0">
                <a:solidFill>
                  <a:srgbClr val="FF0000"/>
                </a:solidFill>
                <a:latin typeface="Cascadia Mono" panose="020B0609020000020004" pitchFamily="49" charset="0"/>
              </a:rPr>
              <a:t>    </a:t>
            </a:r>
            <a:r>
              <a:rPr lang="fr-FR" sz="1100" dirty="0" err="1" smtClean="0">
                <a:solidFill>
                  <a:srgbClr val="FF0000"/>
                </a:solidFill>
                <a:latin typeface="Cascadia Mono" panose="020B0609020000020004" pitchFamily="49" charset="0"/>
              </a:rPr>
              <a:t>WidthRequest</a:t>
            </a:r>
            <a:r>
              <a:rPr lang="fr-FR" sz="1100" dirty="0">
                <a:solidFill>
                  <a:srgbClr val="0000FF"/>
                </a:solidFill>
                <a:latin typeface="Cascadia Mono" panose="020B0609020000020004" pitchFamily="49" charset="0"/>
              </a:rPr>
              <a:t>="300"</a:t>
            </a:r>
            <a:endParaRPr lang="fr-FR" sz="1100" dirty="0">
              <a:solidFill>
                <a:srgbClr val="000000"/>
              </a:solidFill>
              <a:latin typeface="Cascadia Mono" panose="020B0609020000020004" pitchFamily="49" charset="0"/>
            </a:endParaRPr>
          </a:p>
          <a:p>
            <a:r>
              <a:rPr lang="fr-FR" sz="1100" dirty="0" smtClean="0">
                <a:solidFill>
                  <a:srgbClr val="FF0000"/>
                </a:solidFill>
                <a:latin typeface="Cascadia Mono" panose="020B0609020000020004" pitchFamily="49" charset="0"/>
              </a:rPr>
              <a:t>    </a:t>
            </a:r>
            <a:r>
              <a:rPr lang="fr-FR" sz="1100" dirty="0" err="1" smtClean="0">
                <a:solidFill>
                  <a:srgbClr val="FF0000"/>
                </a:solidFill>
                <a:latin typeface="Cascadia Mono" panose="020B0609020000020004" pitchFamily="49" charset="0"/>
              </a:rPr>
              <a:t>BackgroundColor</a:t>
            </a:r>
            <a:r>
              <a:rPr lang="fr-FR" sz="1100" dirty="0">
                <a:solidFill>
                  <a:srgbClr val="0000FF"/>
                </a:solidFill>
                <a:latin typeface="Cascadia Mono" panose="020B0609020000020004" pitchFamily="49" charset="0"/>
              </a:rPr>
              <a:t>="</a:t>
            </a:r>
            <a:r>
              <a:rPr lang="fr-FR" sz="1100" dirty="0" err="1">
                <a:solidFill>
                  <a:srgbClr val="0000FF"/>
                </a:solidFill>
                <a:latin typeface="Cascadia Mono" panose="020B0609020000020004" pitchFamily="49" charset="0"/>
              </a:rPr>
              <a:t>LightGray</a:t>
            </a:r>
            <a:r>
              <a:rPr lang="fr-FR" sz="1100" dirty="0" smtClean="0">
                <a:solidFill>
                  <a:srgbClr val="0000FF"/>
                </a:solidFill>
                <a:latin typeface="Cascadia Mono" panose="020B0609020000020004" pitchFamily="49" charset="0"/>
              </a:rPr>
              <a:t>"&gt;</a:t>
            </a:r>
            <a:endParaRPr lang="fr-FR" sz="1100" dirty="0" smtClean="0">
              <a:solidFill>
                <a:srgbClr val="000000"/>
              </a:solidFill>
              <a:latin typeface="Cascadia Mono" panose="020B0609020000020004" pitchFamily="49" charset="0"/>
            </a:endParaRPr>
          </a:p>
          <a:p>
            <a:r>
              <a:rPr lang="fr-FR" sz="1100" dirty="0">
                <a:solidFill>
                  <a:srgbClr val="000000"/>
                </a:solidFill>
                <a:latin typeface="Cascadia Mono" panose="020B0609020000020004" pitchFamily="49" charset="0"/>
              </a:rPr>
              <a:t> </a:t>
            </a:r>
            <a:r>
              <a:rPr lang="fr-FR" sz="1100" dirty="0" smtClean="0">
                <a:solidFill>
                  <a:srgbClr val="000000"/>
                </a:solidFill>
                <a:latin typeface="Cascadia Mono" panose="020B0609020000020004" pitchFamily="49" charset="0"/>
              </a:rPr>
              <a:t>   </a:t>
            </a:r>
            <a:r>
              <a:rPr lang="fr-FR" sz="1100" dirty="0" smtClean="0">
                <a:solidFill>
                  <a:srgbClr val="0000FF"/>
                </a:solidFill>
                <a:latin typeface="Cascadia Mono" panose="020B0609020000020004" pitchFamily="49" charset="0"/>
              </a:rPr>
              <a:t>&lt;</a:t>
            </a:r>
            <a:r>
              <a:rPr lang="fr-FR" sz="1100" dirty="0">
                <a:solidFill>
                  <a:srgbClr val="A31515"/>
                </a:solidFill>
                <a:latin typeface="Cascadia Mono" panose="020B0609020000020004" pitchFamily="49" charset="0"/>
              </a:rPr>
              <a:t>Label</a:t>
            </a:r>
            <a:r>
              <a:rPr lang="fr-FR" sz="1100" dirty="0">
                <a:solidFill>
                  <a:srgbClr val="FF0000"/>
                </a:solidFill>
                <a:latin typeface="Cascadia Mono" panose="020B0609020000020004" pitchFamily="49" charset="0"/>
              </a:rPr>
              <a:t> Text</a:t>
            </a:r>
            <a:r>
              <a:rPr lang="fr-FR" sz="1100" dirty="0">
                <a:solidFill>
                  <a:srgbClr val="0000FF"/>
                </a:solidFill>
                <a:latin typeface="Cascadia Mono" panose="020B0609020000020004" pitchFamily="49" charset="0"/>
              </a:rPr>
              <a:t>="</a:t>
            </a:r>
            <a:r>
              <a:rPr lang="fr-FR" sz="1100" dirty="0" err="1">
                <a:solidFill>
                  <a:srgbClr val="0000FF"/>
                </a:solidFill>
                <a:latin typeface="Cascadia Mono" panose="020B0609020000020004" pitchFamily="49" charset="0"/>
              </a:rPr>
              <a:t>Swipe</a:t>
            </a:r>
            <a:r>
              <a:rPr lang="fr-FR" sz="1100" dirty="0">
                <a:solidFill>
                  <a:srgbClr val="0000FF"/>
                </a:solidFill>
                <a:latin typeface="Cascadia Mono" panose="020B0609020000020004" pitchFamily="49" charset="0"/>
              </a:rPr>
              <a:t> </a:t>
            </a:r>
            <a:r>
              <a:rPr lang="fr-FR" sz="1100" dirty="0" err="1">
                <a:solidFill>
                  <a:srgbClr val="0000FF"/>
                </a:solidFill>
                <a:latin typeface="Cascadia Mono" panose="020B0609020000020004" pitchFamily="49" charset="0"/>
              </a:rPr>
              <a:t>elements</a:t>
            </a:r>
            <a:r>
              <a:rPr lang="fr-FR" sz="1100" dirty="0">
                <a:solidFill>
                  <a:srgbClr val="0000FF"/>
                </a:solidFill>
                <a:latin typeface="Cascadia Mono" panose="020B0609020000020004" pitchFamily="49" charset="0"/>
              </a:rPr>
              <a:t>"</a:t>
            </a:r>
            <a:endParaRPr lang="fr-FR" sz="1100" dirty="0">
              <a:solidFill>
                <a:srgbClr val="000000"/>
              </a:solidFill>
              <a:latin typeface="Cascadia Mono" panose="020B0609020000020004" pitchFamily="49" charset="0"/>
            </a:endParaRPr>
          </a:p>
          <a:p>
            <a:r>
              <a:rPr lang="fr-FR" sz="1100" dirty="0" smtClean="0">
                <a:solidFill>
                  <a:srgbClr val="FF0000"/>
                </a:solidFill>
                <a:latin typeface="Cascadia Mono" panose="020B0609020000020004" pitchFamily="49" charset="0"/>
              </a:rPr>
              <a:t>           </a:t>
            </a:r>
            <a:r>
              <a:rPr lang="fr-FR" sz="1100" dirty="0" err="1" smtClean="0">
                <a:solidFill>
                  <a:srgbClr val="FF0000"/>
                </a:solidFill>
                <a:latin typeface="Cascadia Mono" panose="020B0609020000020004" pitchFamily="49" charset="0"/>
              </a:rPr>
              <a:t>HorizontalOptions</a:t>
            </a:r>
            <a:r>
              <a:rPr lang="fr-FR" sz="1100" dirty="0">
                <a:solidFill>
                  <a:srgbClr val="0000FF"/>
                </a:solidFill>
                <a:latin typeface="Cascadia Mono" panose="020B0609020000020004" pitchFamily="49" charset="0"/>
              </a:rPr>
              <a:t>="Center"</a:t>
            </a:r>
            <a:endParaRPr lang="fr-FR" sz="1100" dirty="0">
              <a:solidFill>
                <a:srgbClr val="000000"/>
              </a:solidFill>
              <a:latin typeface="Cascadia Mono" panose="020B0609020000020004" pitchFamily="49" charset="0"/>
            </a:endParaRPr>
          </a:p>
          <a:p>
            <a:r>
              <a:rPr lang="fr-FR" sz="1100" dirty="0" smtClean="0">
                <a:solidFill>
                  <a:srgbClr val="FF0000"/>
                </a:solidFill>
                <a:latin typeface="Cascadia Mono" panose="020B0609020000020004" pitchFamily="49" charset="0"/>
              </a:rPr>
              <a:t>           VerticalOptions</a:t>
            </a:r>
            <a:r>
              <a:rPr lang="fr-FR" sz="1100" dirty="0">
                <a:solidFill>
                  <a:srgbClr val="0000FF"/>
                </a:solidFill>
                <a:latin typeface="Cascadia Mono" panose="020B0609020000020004" pitchFamily="49" charset="0"/>
              </a:rPr>
              <a:t>="Center" /&gt;</a:t>
            </a:r>
            <a:endParaRPr lang="fr-FR" sz="1100" dirty="0">
              <a:solidFill>
                <a:srgbClr val="000000"/>
              </a:solidFill>
              <a:latin typeface="Cascadia Mono" panose="020B0609020000020004" pitchFamily="49" charset="0"/>
            </a:endParaRPr>
          </a:p>
          <a:p>
            <a:r>
              <a:rPr lang="fr-FR" sz="1100" dirty="0" smtClean="0">
                <a:solidFill>
                  <a:srgbClr val="0000FF"/>
                </a:solidFill>
                <a:latin typeface="Cascadia Mono" panose="020B0609020000020004" pitchFamily="49" charset="0"/>
              </a:rPr>
              <a:t>&lt;/</a:t>
            </a:r>
            <a:r>
              <a:rPr lang="fr-FR" sz="1100" dirty="0">
                <a:solidFill>
                  <a:srgbClr val="A31515"/>
                </a:solidFill>
                <a:latin typeface="Cascadia Mono" panose="020B0609020000020004" pitchFamily="49" charset="0"/>
              </a:rPr>
              <a:t>Grid</a:t>
            </a:r>
            <a:r>
              <a:rPr lang="fr-FR" sz="1100" dirty="0">
                <a:solidFill>
                  <a:srgbClr val="0000FF"/>
                </a:solidFill>
                <a:latin typeface="Cascadia Mono" panose="020B0609020000020004" pitchFamily="49" charset="0"/>
              </a:rPr>
              <a:t>&gt;</a:t>
            </a:r>
            <a:endParaRPr lang="fr-FR" sz="1100" dirty="0"/>
          </a:p>
        </p:txBody>
      </p:sp>
      <p:sp>
        <p:nvSpPr>
          <p:cNvPr id="10" name="Rectangle 9"/>
          <p:cNvSpPr/>
          <p:nvPr/>
        </p:nvSpPr>
        <p:spPr>
          <a:xfrm>
            <a:off x="797381" y="4648131"/>
            <a:ext cx="2707921" cy="276999"/>
          </a:xfrm>
          <a:prstGeom prst="rect">
            <a:avLst/>
          </a:prstGeom>
        </p:spPr>
        <p:txBody>
          <a:bodyPr wrap="none">
            <a:spAutoFit/>
          </a:bodyPr>
          <a:lstStyle/>
          <a:p>
            <a:r>
              <a:rPr lang="fr-FR" sz="1200" b="1" dirty="0" smtClean="0">
                <a:latin typeface="Segoe UI" panose="020B0502040204020203" pitchFamily="34" charset="0"/>
                <a:cs typeface="Segoe UI" panose="020B0502040204020203" pitchFamily="34" charset="0"/>
              </a:rPr>
              <a:t>Les éléments de balayage à gauche</a:t>
            </a:r>
            <a:endParaRPr lang="fr-FR" sz="1200" b="1" dirty="0"/>
          </a:p>
        </p:txBody>
      </p:sp>
      <p:sp>
        <p:nvSpPr>
          <p:cNvPr id="11" name="Rectangle 10"/>
          <p:cNvSpPr/>
          <p:nvPr/>
        </p:nvSpPr>
        <p:spPr>
          <a:xfrm>
            <a:off x="5637691" y="4577546"/>
            <a:ext cx="2621808" cy="276999"/>
          </a:xfrm>
          <a:prstGeom prst="rect">
            <a:avLst/>
          </a:prstGeom>
        </p:spPr>
        <p:txBody>
          <a:bodyPr wrap="none">
            <a:spAutoFit/>
          </a:bodyPr>
          <a:lstStyle/>
          <a:p>
            <a:r>
              <a:rPr lang="fr-FR" sz="1200" b="1" dirty="0" smtClean="0">
                <a:latin typeface="Segoe UI" panose="020B0502040204020203" pitchFamily="34" charset="0"/>
                <a:cs typeface="Segoe UI" panose="020B0502040204020203" pitchFamily="34" charset="0"/>
              </a:rPr>
              <a:t>Les éléments de balayage à droite</a:t>
            </a:r>
            <a:endParaRPr lang="fr-FR" sz="1200" b="1" dirty="0"/>
          </a:p>
        </p:txBody>
      </p:sp>
      <p:sp>
        <p:nvSpPr>
          <p:cNvPr id="12" name="Rectangle 11"/>
          <p:cNvSpPr/>
          <p:nvPr/>
        </p:nvSpPr>
        <p:spPr>
          <a:xfrm>
            <a:off x="9973448" y="4577545"/>
            <a:ext cx="1369990" cy="276999"/>
          </a:xfrm>
          <a:prstGeom prst="rect">
            <a:avLst/>
          </a:prstGeom>
        </p:spPr>
        <p:txBody>
          <a:bodyPr wrap="none">
            <a:spAutoFit/>
          </a:bodyPr>
          <a:lstStyle/>
          <a:p>
            <a:r>
              <a:rPr lang="fr-FR" sz="1200" b="1" dirty="0" smtClean="0">
                <a:latin typeface="Segoe UI" panose="020B0502040204020203" pitchFamily="34" charset="0"/>
                <a:cs typeface="Segoe UI" panose="020B0502040204020203" pitchFamily="34" charset="0"/>
              </a:rPr>
              <a:t>Le bloc principal</a:t>
            </a:r>
            <a:endParaRPr lang="fr-FR" sz="1200" b="1" dirty="0"/>
          </a:p>
        </p:txBody>
      </p:sp>
    </p:spTree>
    <p:extLst>
      <p:ext uri="{BB962C8B-B14F-4D97-AF65-F5344CB8AC3E}">
        <p14:creationId xmlns:p14="http://schemas.microsoft.com/office/powerpoint/2010/main" val="47846705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8"/>
          <p:cNvSpPr txBox="1">
            <a:spLocks noChangeArrowheads="1"/>
          </p:cNvSpPr>
          <p:nvPr/>
        </p:nvSpPr>
        <p:spPr bwMode="auto">
          <a:xfrm>
            <a:off x="373515" y="539827"/>
            <a:ext cx="11475048" cy="1169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152400">
              <a:tabLst>
                <a:tab pos="5992813" algn="l"/>
              </a:tabLst>
              <a:defRPr>
                <a:solidFill>
                  <a:schemeClr val="tx1"/>
                </a:solidFill>
                <a:latin typeface="Calibri" panose="020F0502020204030204" pitchFamily="34" charset="0"/>
                <a:cs typeface="Arial" panose="020B0604020202020204" pitchFamily="34" charset="0"/>
              </a:defRPr>
            </a:lvl1pPr>
            <a:lvl2pPr marL="579438" indent="-242888">
              <a:tabLst>
                <a:tab pos="5992813" algn="l"/>
              </a:tabLst>
              <a:defRPr>
                <a:solidFill>
                  <a:schemeClr val="tx1"/>
                </a:solidFill>
                <a:latin typeface="Calibri" panose="020F0502020204030204" pitchFamily="34" charset="0"/>
                <a:cs typeface="Arial" panose="020B0604020202020204" pitchFamily="34" charset="0"/>
              </a:defRPr>
            </a:lvl2pPr>
            <a:lvl3pPr marL="1143000" indent="-228600">
              <a:tabLst>
                <a:tab pos="5992813" algn="l"/>
              </a:tabLst>
              <a:defRPr>
                <a:solidFill>
                  <a:schemeClr val="tx1"/>
                </a:solidFill>
                <a:latin typeface="Calibri" panose="020F0502020204030204" pitchFamily="34" charset="0"/>
                <a:cs typeface="Arial" panose="020B0604020202020204" pitchFamily="34" charset="0"/>
              </a:defRPr>
            </a:lvl3pPr>
            <a:lvl4pPr marL="1600200" indent="-228600">
              <a:tabLst>
                <a:tab pos="5992813" algn="l"/>
              </a:tabLst>
              <a:defRPr>
                <a:solidFill>
                  <a:schemeClr val="tx1"/>
                </a:solidFill>
                <a:latin typeface="Calibri" panose="020F0502020204030204" pitchFamily="34" charset="0"/>
                <a:cs typeface="Arial" panose="020B0604020202020204" pitchFamily="34" charset="0"/>
              </a:defRPr>
            </a:lvl4pPr>
            <a:lvl5pPr marL="2057400" indent="-228600">
              <a:tabLst>
                <a:tab pos="5992813" algn="l"/>
              </a:tabLst>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2200" u="sng" dirty="0" smtClean="0">
                <a:latin typeface="Segoe UI Symbol" panose="020B0502040204020203" pitchFamily="34" charset="0"/>
              </a:rPr>
              <a:t>Les </a:t>
            </a:r>
            <a:r>
              <a:rPr lang="en-US" altLang="en-US" sz="2200" u="sng" dirty="0" err="1" smtClean="0">
                <a:latin typeface="Segoe UI Symbol" panose="020B0502040204020203" pitchFamily="34" charset="0"/>
              </a:rPr>
              <a:t>contrôles</a:t>
            </a:r>
            <a:r>
              <a:rPr lang="en-US" altLang="en-US" sz="2200" u="sng" dirty="0" smtClean="0">
                <a:latin typeface="Segoe UI Symbol" panose="020B0502040204020203" pitchFamily="34" charset="0"/>
              </a:rPr>
              <a:t> de </a:t>
            </a:r>
            <a:r>
              <a:rPr lang="en-US" altLang="en-US" sz="2200" u="sng" dirty="0" err="1" smtClean="0">
                <a:latin typeface="Segoe UI Symbol" panose="020B0502040204020203" pitchFamily="34" charset="0"/>
              </a:rPr>
              <a:t>commande</a:t>
            </a:r>
            <a:r>
              <a:rPr lang="fr-FR" altLang="en-US" sz="2200" u="sng" dirty="0" smtClean="0">
                <a:latin typeface="Segoe UI Symbol" panose="020B0502040204020203" pitchFamily="34" charset="0"/>
              </a:rPr>
              <a:t>-</a:t>
            </a:r>
            <a:r>
              <a:rPr lang="fr-FR" altLang="en-US" sz="2200" u="sng" dirty="0" err="1" smtClean="0">
                <a:latin typeface="Segoe UI Symbol" panose="020B0502040204020203" pitchFamily="34" charset="0"/>
              </a:rPr>
              <a:t>SwipeView</a:t>
            </a:r>
            <a:endParaRPr lang="fr-FR" altLang="en-US" sz="2200" u="sng" dirty="0" smtClean="0">
              <a:latin typeface="Segoe UI Symbol" panose="020B0502040204020203" pitchFamily="34" charset="0"/>
            </a:endParaRPr>
          </a:p>
          <a:p>
            <a:pPr marL="438150" indent="-285750">
              <a:lnSpc>
                <a:spcPct val="150000"/>
              </a:lnSpc>
              <a:buFont typeface="Wingdings" panose="05000000000000000000" pitchFamily="2" charset="2"/>
              <a:buChar char="§"/>
            </a:pPr>
            <a:r>
              <a:rPr lang="fr-FR" dirty="0" smtClean="0">
                <a:latin typeface="Segoe UI" panose="020B0502040204020203" pitchFamily="34" charset="0"/>
                <a:cs typeface="Segoe UI" panose="020B0502040204020203" pitchFamily="34" charset="0"/>
              </a:rPr>
              <a:t>Le contrôle </a:t>
            </a:r>
            <a:r>
              <a:rPr lang="fr-FR" b="1" dirty="0" err="1" smtClean="0">
                <a:latin typeface="Segoe UI" panose="020B0502040204020203" pitchFamily="34" charset="0"/>
                <a:cs typeface="Segoe UI" panose="020B0502040204020203" pitchFamily="34" charset="0"/>
              </a:rPr>
              <a:t>SwipeView</a:t>
            </a:r>
            <a:r>
              <a:rPr lang="fr-FR" b="1" dirty="0">
                <a:latin typeface="Segoe UI" panose="020B0502040204020203" pitchFamily="34" charset="0"/>
                <a:cs typeface="Segoe UI" panose="020B0502040204020203" pitchFamily="34" charset="0"/>
              </a:rPr>
              <a:t> </a:t>
            </a:r>
            <a:r>
              <a:rPr lang="fr-FR" dirty="0" smtClean="0">
                <a:latin typeface="Segoe UI" panose="020B0502040204020203" pitchFamily="34" charset="0"/>
                <a:cs typeface="Segoe UI" panose="020B0502040204020203" pitchFamily="34" charset="0"/>
              </a:rPr>
              <a:t>présente un événement qui </a:t>
            </a:r>
            <a:r>
              <a:rPr lang="fr-FR" b="1" dirty="0" err="1" smtClean="0">
                <a:latin typeface="Segoe UI" panose="020B0502040204020203" pitchFamily="34" charset="0"/>
                <a:cs typeface="Segoe UI" panose="020B0502040204020203" pitchFamily="34" charset="0"/>
              </a:rPr>
              <a:t>Invoked</a:t>
            </a:r>
            <a:r>
              <a:rPr lang="fr-FR" dirty="0" smtClean="0">
                <a:latin typeface="Segoe UI" panose="020B0502040204020203" pitchFamily="34" charset="0"/>
                <a:cs typeface="Segoe UI" panose="020B0502040204020203" pitchFamily="34" charset="0"/>
              </a:rPr>
              <a:t>, qui se déclenche suite au click d’un élément </a:t>
            </a:r>
          </a:p>
          <a:p>
            <a:pPr>
              <a:lnSpc>
                <a:spcPct val="150000"/>
              </a:lnSpc>
            </a:pPr>
            <a:r>
              <a:rPr lang="fr-FR" dirty="0">
                <a:latin typeface="Segoe UI" panose="020B0502040204020203" pitchFamily="34" charset="0"/>
                <a:cs typeface="Segoe UI" panose="020B0502040204020203" pitchFamily="34" charset="0"/>
              </a:rPr>
              <a:t> </a:t>
            </a:r>
            <a:r>
              <a:rPr lang="fr-FR" dirty="0" smtClean="0">
                <a:latin typeface="Segoe UI" panose="020B0502040204020203" pitchFamily="34" charset="0"/>
                <a:cs typeface="Segoe UI" panose="020B0502040204020203" pitchFamily="34" charset="0"/>
              </a:rPr>
              <a:t>   </a:t>
            </a:r>
            <a:r>
              <a:rPr lang="fr-FR" b="1" dirty="0" err="1" smtClean="0">
                <a:latin typeface="Segoe UI" panose="020B0502040204020203" pitchFamily="34" charset="0"/>
                <a:cs typeface="Segoe UI" panose="020B0502040204020203" pitchFamily="34" charset="0"/>
              </a:rPr>
              <a:t>SwipeItem</a:t>
            </a:r>
            <a:r>
              <a:rPr lang="fr-FR" dirty="0" smtClean="0">
                <a:latin typeface="Segoe UI" panose="020B0502040204020203" pitchFamily="34" charset="0"/>
                <a:cs typeface="Segoe UI" panose="020B0502040204020203" pitchFamily="34" charset="0"/>
              </a:rPr>
              <a:t> </a:t>
            </a:r>
            <a:endParaRPr lang="fr-FR" altLang="en-US" sz="2200" dirty="0" smtClean="0">
              <a:latin typeface="Segoe UI" panose="020B0502040204020203" pitchFamily="34" charset="0"/>
              <a:cs typeface="Segoe UI" panose="020B0502040204020203" pitchFamily="34" charset="0"/>
            </a:endParaRPr>
          </a:p>
        </p:txBody>
      </p:sp>
      <p:sp>
        <p:nvSpPr>
          <p:cNvPr id="3" name="Rectangle 2"/>
          <p:cNvSpPr/>
          <p:nvPr/>
        </p:nvSpPr>
        <p:spPr>
          <a:xfrm>
            <a:off x="665407" y="1820807"/>
            <a:ext cx="5046373" cy="1384995"/>
          </a:xfrm>
          <a:prstGeom prst="rect">
            <a:avLst/>
          </a:prstGeom>
        </p:spPr>
        <p:txBody>
          <a:bodyPr wrap="square">
            <a:spAutoFit/>
          </a:bodyPr>
          <a:lstStyle/>
          <a:p>
            <a:r>
              <a:rPr lang="fr-FR" sz="1600" dirty="0">
                <a:solidFill>
                  <a:srgbClr val="0000FF"/>
                </a:solidFill>
                <a:latin typeface="Cascadia Mono" panose="020B0609020000020004" pitchFamily="49" charset="0"/>
              </a:rPr>
              <a:t>&lt;</a:t>
            </a:r>
            <a:r>
              <a:rPr lang="fr-FR" sz="1600" dirty="0" err="1">
                <a:solidFill>
                  <a:srgbClr val="A31515"/>
                </a:solidFill>
                <a:latin typeface="Cascadia Mono" panose="020B0609020000020004" pitchFamily="49" charset="0"/>
              </a:rPr>
              <a:t>SwipeItems</a:t>
            </a:r>
            <a:r>
              <a:rPr lang="fr-FR" sz="1600" dirty="0">
                <a:solidFill>
                  <a:srgbClr val="0000FF"/>
                </a:solidFill>
                <a:latin typeface="Cascadia Mono" panose="020B0609020000020004" pitchFamily="49" charset="0"/>
              </a:rPr>
              <a:t>&gt;</a:t>
            </a:r>
            <a:endParaRPr lang="fr-FR" sz="1600" dirty="0">
              <a:solidFill>
                <a:srgbClr val="000000"/>
              </a:solidFill>
              <a:latin typeface="Cascadia Mono" panose="020B0609020000020004" pitchFamily="49" charset="0"/>
            </a:endParaRPr>
          </a:p>
          <a:p>
            <a:r>
              <a:rPr lang="fr-FR" sz="1600" dirty="0" smtClean="0">
                <a:solidFill>
                  <a:srgbClr val="0000FF"/>
                </a:solidFill>
                <a:latin typeface="Cascadia Mono" panose="020B0609020000020004" pitchFamily="49" charset="0"/>
              </a:rPr>
              <a:t>    &lt;</a:t>
            </a:r>
            <a:r>
              <a:rPr lang="fr-FR" sz="1600" dirty="0" err="1">
                <a:solidFill>
                  <a:srgbClr val="A31515"/>
                </a:solidFill>
                <a:latin typeface="Cascadia Mono" panose="020B0609020000020004" pitchFamily="49" charset="0"/>
              </a:rPr>
              <a:t>SwipeItem</a:t>
            </a:r>
            <a:r>
              <a:rPr lang="fr-FR" sz="1600" dirty="0">
                <a:solidFill>
                  <a:srgbClr val="FF0000"/>
                </a:solidFill>
                <a:latin typeface="Cascadia Mono" panose="020B0609020000020004" pitchFamily="49" charset="0"/>
              </a:rPr>
              <a:t> Text</a:t>
            </a:r>
            <a:r>
              <a:rPr lang="fr-FR" sz="1600" dirty="0" smtClean="0">
                <a:solidFill>
                  <a:srgbClr val="0000FF"/>
                </a:solidFill>
                <a:latin typeface="Cascadia Mono" panose="020B0609020000020004" pitchFamily="49" charset="0"/>
              </a:rPr>
              <a:t>="Cat"</a:t>
            </a:r>
            <a:endParaRPr lang="fr-FR" sz="1600" dirty="0">
              <a:solidFill>
                <a:srgbClr val="000000"/>
              </a:solidFill>
              <a:latin typeface="Cascadia Mono" panose="020B0609020000020004" pitchFamily="49" charset="0"/>
            </a:endParaRPr>
          </a:p>
          <a:p>
            <a:r>
              <a:rPr lang="fr-FR" sz="1600" dirty="0" smtClean="0">
                <a:solidFill>
                  <a:srgbClr val="FF0000"/>
                </a:solidFill>
                <a:latin typeface="Cascadia Mono" panose="020B0609020000020004" pitchFamily="49" charset="0"/>
              </a:rPr>
              <a:t>       </a:t>
            </a:r>
            <a:r>
              <a:rPr lang="fr-FR" sz="1600" dirty="0" err="1" smtClean="0">
                <a:solidFill>
                  <a:srgbClr val="FF0000"/>
                </a:solidFill>
                <a:latin typeface="Cascadia Mono" panose="020B0609020000020004" pitchFamily="49" charset="0"/>
              </a:rPr>
              <a:t>IconImageSource</a:t>
            </a:r>
            <a:r>
              <a:rPr lang="fr-FR" sz="1600" dirty="0">
                <a:solidFill>
                  <a:srgbClr val="0000FF"/>
                </a:solidFill>
                <a:latin typeface="Cascadia Mono" panose="020B0609020000020004" pitchFamily="49" charset="0"/>
              </a:rPr>
              <a:t>="cat.png"</a:t>
            </a:r>
            <a:endParaRPr lang="fr-FR" sz="1600" dirty="0">
              <a:solidFill>
                <a:srgbClr val="000000"/>
              </a:solidFill>
              <a:latin typeface="Cascadia Mono" panose="020B0609020000020004" pitchFamily="49" charset="0"/>
            </a:endParaRPr>
          </a:p>
          <a:p>
            <a:r>
              <a:rPr lang="fr-FR" sz="1600" dirty="0" smtClean="0">
                <a:solidFill>
                  <a:srgbClr val="FF0000"/>
                </a:solidFill>
                <a:latin typeface="Cascadia Mono" panose="020B0609020000020004" pitchFamily="49" charset="0"/>
              </a:rPr>
              <a:t>       </a:t>
            </a:r>
            <a:r>
              <a:rPr lang="fr-FR" sz="1600" dirty="0" err="1" smtClean="0">
                <a:solidFill>
                  <a:srgbClr val="FF0000"/>
                </a:solidFill>
                <a:latin typeface="Cascadia Mono" panose="020B0609020000020004" pitchFamily="49" charset="0"/>
              </a:rPr>
              <a:t>BackgroundColor</a:t>
            </a:r>
            <a:r>
              <a:rPr lang="fr-FR" sz="1600" dirty="0">
                <a:solidFill>
                  <a:srgbClr val="0000FF"/>
                </a:solidFill>
                <a:latin typeface="Cascadia Mono" panose="020B0609020000020004" pitchFamily="49" charset="0"/>
              </a:rPr>
              <a:t>="</a:t>
            </a:r>
            <a:r>
              <a:rPr lang="fr-FR" sz="1600" dirty="0" err="1">
                <a:solidFill>
                  <a:srgbClr val="0000FF"/>
                </a:solidFill>
                <a:latin typeface="Cascadia Mono" panose="020B0609020000020004" pitchFamily="49" charset="0"/>
              </a:rPr>
              <a:t>LightGreen</a:t>
            </a:r>
            <a:r>
              <a:rPr lang="fr-FR" sz="1600" dirty="0">
                <a:solidFill>
                  <a:srgbClr val="0000FF"/>
                </a:solidFill>
                <a:latin typeface="Cascadia Mono" panose="020B0609020000020004" pitchFamily="49" charset="0"/>
              </a:rPr>
              <a:t>"</a:t>
            </a:r>
            <a:endParaRPr lang="fr-FR" sz="1600" dirty="0">
              <a:solidFill>
                <a:srgbClr val="000000"/>
              </a:solidFill>
              <a:latin typeface="Cascadia Mono" panose="020B0609020000020004" pitchFamily="49" charset="0"/>
            </a:endParaRPr>
          </a:p>
          <a:p>
            <a:r>
              <a:rPr lang="fr-FR" b="1" dirty="0" smtClean="0">
                <a:solidFill>
                  <a:srgbClr val="FF0000"/>
                </a:solidFill>
                <a:effectLst>
                  <a:outerShdw blurRad="38100" dist="38100" dir="2700000" algn="tl">
                    <a:srgbClr val="000000">
                      <a:alpha val="43137"/>
                    </a:srgbClr>
                  </a:outerShdw>
                </a:effectLst>
                <a:latin typeface="Cascadia Mono" panose="020B0609020000020004" pitchFamily="49" charset="0"/>
              </a:rPr>
              <a:t>      </a:t>
            </a:r>
            <a:r>
              <a:rPr lang="fr-FR" b="1" dirty="0" err="1" smtClean="0">
                <a:solidFill>
                  <a:srgbClr val="FF0000"/>
                </a:solidFill>
                <a:effectLst>
                  <a:outerShdw blurRad="38100" dist="38100" dir="2700000" algn="tl">
                    <a:srgbClr val="000000">
                      <a:alpha val="43137"/>
                    </a:srgbClr>
                  </a:outerShdw>
                </a:effectLst>
                <a:latin typeface="Cascadia Mono" panose="020B0609020000020004" pitchFamily="49" charset="0"/>
              </a:rPr>
              <a:t>Invoked</a:t>
            </a:r>
            <a:r>
              <a:rPr lang="fr-FR" b="1" dirty="0">
                <a:solidFill>
                  <a:srgbClr val="0000FF"/>
                </a:solidFill>
                <a:effectLst>
                  <a:outerShdw blurRad="38100" dist="38100" dir="2700000" algn="tl">
                    <a:srgbClr val="000000">
                      <a:alpha val="43137"/>
                    </a:srgbClr>
                  </a:outerShdw>
                </a:effectLst>
                <a:latin typeface="Cascadia Mono" panose="020B0609020000020004" pitchFamily="49" charset="0"/>
              </a:rPr>
              <a:t>="</a:t>
            </a:r>
            <a:r>
              <a:rPr lang="fr-FR" b="1" dirty="0" err="1">
                <a:solidFill>
                  <a:srgbClr val="0000FF"/>
                </a:solidFill>
                <a:effectLst>
                  <a:outerShdw blurRad="38100" dist="38100" dir="2700000" algn="tl">
                    <a:srgbClr val="000000">
                      <a:alpha val="43137"/>
                    </a:srgbClr>
                  </a:outerShdw>
                </a:effectLst>
                <a:latin typeface="Cascadia Mono" panose="020B0609020000020004" pitchFamily="49" charset="0"/>
              </a:rPr>
              <a:t>SwipeItem_Invoked</a:t>
            </a:r>
            <a:r>
              <a:rPr lang="fr-FR" b="1" dirty="0" smtClean="0">
                <a:solidFill>
                  <a:srgbClr val="0000FF"/>
                </a:solidFill>
                <a:effectLst>
                  <a:outerShdw blurRad="38100" dist="38100" dir="2700000" algn="tl">
                    <a:srgbClr val="000000">
                      <a:alpha val="43137"/>
                    </a:srgbClr>
                  </a:outerShdw>
                </a:effectLst>
                <a:latin typeface="Cascadia Mono" panose="020B0609020000020004" pitchFamily="49" charset="0"/>
              </a:rPr>
              <a:t>"</a:t>
            </a:r>
            <a:r>
              <a:rPr lang="fr-FR" sz="1600" dirty="0" smtClean="0">
                <a:solidFill>
                  <a:srgbClr val="0000FF"/>
                </a:solidFill>
                <a:latin typeface="Cascadia Mono" panose="020B0609020000020004" pitchFamily="49" charset="0"/>
              </a:rPr>
              <a:t>/&gt;</a:t>
            </a:r>
            <a:endParaRPr lang="fr-FR" sz="1600" dirty="0"/>
          </a:p>
        </p:txBody>
      </p:sp>
      <p:sp>
        <p:nvSpPr>
          <p:cNvPr id="6" name="Rectangle 5"/>
          <p:cNvSpPr/>
          <p:nvPr/>
        </p:nvSpPr>
        <p:spPr>
          <a:xfrm>
            <a:off x="5759002" y="1709378"/>
            <a:ext cx="6096000" cy="3108543"/>
          </a:xfrm>
          <a:prstGeom prst="rect">
            <a:avLst/>
          </a:prstGeom>
        </p:spPr>
        <p:txBody>
          <a:bodyPr>
            <a:spAutoFit/>
          </a:bodyPr>
          <a:lstStyle/>
          <a:p>
            <a:r>
              <a:rPr lang="fr-FR" sz="1600" dirty="0">
                <a:solidFill>
                  <a:srgbClr val="0000FF"/>
                </a:solidFill>
                <a:latin typeface="Cascadia Mono" panose="020B0609020000020004" pitchFamily="49" charset="0"/>
              </a:rPr>
              <a:t>private</a:t>
            </a:r>
            <a:r>
              <a:rPr lang="fr-FR" sz="1600" dirty="0">
                <a:solidFill>
                  <a:srgbClr val="000000"/>
                </a:solidFill>
                <a:latin typeface="Cascadia Mono" panose="020B0609020000020004" pitchFamily="49" charset="0"/>
              </a:rPr>
              <a:t> </a:t>
            </a:r>
            <a:r>
              <a:rPr lang="fr-FR" sz="1600" dirty="0" err="1">
                <a:solidFill>
                  <a:srgbClr val="0000FF"/>
                </a:solidFill>
                <a:latin typeface="Cascadia Mono" panose="020B0609020000020004" pitchFamily="49" charset="0"/>
              </a:rPr>
              <a:t>void</a:t>
            </a:r>
            <a:r>
              <a:rPr lang="fr-FR" sz="1600" dirty="0">
                <a:solidFill>
                  <a:srgbClr val="000000"/>
                </a:solidFill>
                <a:latin typeface="Cascadia Mono" panose="020B0609020000020004" pitchFamily="49" charset="0"/>
              </a:rPr>
              <a:t> </a:t>
            </a:r>
            <a:r>
              <a:rPr lang="fr-FR" sz="1600" dirty="0" err="1">
                <a:solidFill>
                  <a:srgbClr val="000000"/>
                </a:solidFill>
                <a:latin typeface="Cascadia Mono" panose="020B0609020000020004" pitchFamily="49" charset="0"/>
              </a:rPr>
              <a:t>SwipeItem_Invoked</a:t>
            </a:r>
            <a:r>
              <a:rPr lang="fr-FR" sz="1600" dirty="0">
                <a:solidFill>
                  <a:srgbClr val="000000"/>
                </a:solidFill>
                <a:latin typeface="Cascadia Mono" panose="020B0609020000020004" pitchFamily="49" charset="0"/>
              </a:rPr>
              <a:t>(</a:t>
            </a:r>
            <a:r>
              <a:rPr lang="fr-FR" sz="1600" dirty="0">
                <a:solidFill>
                  <a:srgbClr val="0000FF"/>
                </a:solidFill>
                <a:latin typeface="Cascadia Mono" panose="020B0609020000020004" pitchFamily="49" charset="0"/>
              </a:rPr>
              <a:t>object</a:t>
            </a:r>
            <a:r>
              <a:rPr lang="fr-FR" sz="1600" dirty="0">
                <a:solidFill>
                  <a:srgbClr val="000000"/>
                </a:solidFill>
                <a:latin typeface="Cascadia Mono" panose="020B0609020000020004" pitchFamily="49" charset="0"/>
              </a:rPr>
              <a:t> </a:t>
            </a:r>
            <a:r>
              <a:rPr lang="fr-FR" sz="1600" dirty="0" err="1">
                <a:solidFill>
                  <a:srgbClr val="000000"/>
                </a:solidFill>
                <a:latin typeface="Cascadia Mono" panose="020B0609020000020004" pitchFamily="49" charset="0"/>
              </a:rPr>
              <a:t>sender</a:t>
            </a:r>
            <a:r>
              <a:rPr lang="fr-FR" sz="1600" dirty="0">
                <a:solidFill>
                  <a:srgbClr val="000000"/>
                </a:solidFill>
                <a:latin typeface="Cascadia Mono" panose="020B0609020000020004" pitchFamily="49" charset="0"/>
              </a:rPr>
              <a:t>, EventArgs e)</a:t>
            </a:r>
          </a:p>
          <a:p>
            <a:r>
              <a:rPr lang="fr-FR" sz="1600" dirty="0">
                <a:solidFill>
                  <a:srgbClr val="000000"/>
                </a:solidFill>
                <a:latin typeface="Cascadia Mono" panose="020B0609020000020004" pitchFamily="49" charset="0"/>
              </a:rPr>
              <a:t>    {</a:t>
            </a:r>
          </a:p>
          <a:p>
            <a:r>
              <a:rPr lang="fr-FR" sz="1600" dirty="0">
                <a:solidFill>
                  <a:srgbClr val="000000"/>
                </a:solidFill>
                <a:latin typeface="Cascadia Mono" panose="020B0609020000020004" pitchFamily="49" charset="0"/>
              </a:rPr>
              <a:t>        </a:t>
            </a:r>
            <a:r>
              <a:rPr lang="fr-FR" sz="1600" dirty="0" err="1">
                <a:solidFill>
                  <a:srgbClr val="000000"/>
                </a:solidFill>
                <a:latin typeface="Cascadia Mono" panose="020B0609020000020004" pitchFamily="49" charset="0"/>
              </a:rPr>
              <a:t>SwipeItem</a:t>
            </a:r>
            <a:r>
              <a:rPr lang="fr-FR" sz="1600" dirty="0">
                <a:solidFill>
                  <a:srgbClr val="000000"/>
                </a:solidFill>
                <a:latin typeface="Cascadia Mono" panose="020B0609020000020004" pitchFamily="49" charset="0"/>
              </a:rPr>
              <a:t> item = (</a:t>
            </a:r>
            <a:r>
              <a:rPr lang="fr-FR" sz="1600" dirty="0" err="1">
                <a:solidFill>
                  <a:srgbClr val="000000"/>
                </a:solidFill>
                <a:latin typeface="Cascadia Mono" panose="020B0609020000020004" pitchFamily="49" charset="0"/>
              </a:rPr>
              <a:t>SwipeItem</a:t>
            </a:r>
            <a:r>
              <a:rPr lang="fr-FR" sz="1600" dirty="0">
                <a:solidFill>
                  <a:srgbClr val="000000"/>
                </a:solidFill>
                <a:latin typeface="Cascadia Mono" panose="020B0609020000020004" pitchFamily="49" charset="0"/>
              </a:rPr>
              <a:t>)</a:t>
            </a:r>
            <a:r>
              <a:rPr lang="fr-FR" sz="1600" dirty="0" err="1">
                <a:solidFill>
                  <a:srgbClr val="000000"/>
                </a:solidFill>
                <a:latin typeface="Cascadia Mono" panose="020B0609020000020004" pitchFamily="49" charset="0"/>
              </a:rPr>
              <a:t>sender</a:t>
            </a:r>
            <a:r>
              <a:rPr lang="fr-FR" sz="1600" dirty="0">
                <a:solidFill>
                  <a:srgbClr val="000000"/>
                </a:solidFill>
                <a:latin typeface="Cascadia Mono" panose="020B0609020000020004" pitchFamily="49" charset="0"/>
              </a:rPr>
              <a:t>; </a:t>
            </a:r>
          </a:p>
          <a:p>
            <a:r>
              <a:rPr lang="fr-FR" sz="1600" dirty="0">
                <a:solidFill>
                  <a:srgbClr val="000000"/>
                </a:solidFill>
                <a:latin typeface="Cascadia Mono" panose="020B0609020000020004" pitchFamily="49" charset="0"/>
              </a:rPr>
              <a:t>        </a:t>
            </a:r>
            <a:r>
              <a:rPr lang="fr-FR" sz="1600" dirty="0">
                <a:solidFill>
                  <a:srgbClr val="0000FF"/>
                </a:solidFill>
                <a:latin typeface="Cascadia Mono" panose="020B0609020000020004" pitchFamily="49" charset="0"/>
              </a:rPr>
              <a:t>if</a:t>
            </a:r>
            <a:r>
              <a:rPr lang="fr-FR" sz="1600" dirty="0">
                <a:solidFill>
                  <a:srgbClr val="000000"/>
                </a:solidFill>
                <a:latin typeface="Cascadia Mono" panose="020B0609020000020004" pitchFamily="49" charset="0"/>
              </a:rPr>
              <a:t> (item != </a:t>
            </a:r>
            <a:r>
              <a:rPr lang="fr-FR" sz="1600" dirty="0">
                <a:solidFill>
                  <a:srgbClr val="0000FF"/>
                </a:solidFill>
                <a:latin typeface="Cascadia Mono" panose="020B0609020000020004" pitchFamily="49" charset="0"/>
              </a:rPr>
              <a:t>null</a:t>
            </a:r>
            <a:r>
              <a:rPr lang="fr-FR" sz="1600" dirty="0">
                <a:solidFill>
                  <a:srgbClr val="000000"/>
                </a:solidFill>
                <a:latin typeface="Cascadia Mono" panose="020B0609020000020004" pitchFamily="49" charset="0"/>
              </a:rPr>
              <a:t>)</a:t>
            </a:r>
          </a:p>
          <a:p>
            <a:r>
              <a:rPr lang="fr-FR" sz="1600" dirty="0">
                <a:solidFill>
                  <a:srgbClr val="000000"/>
                </a:solidFill>
                <a:latin typeface="Cascadia Mono" panose="020B0609020000020004" pitchFamily="49" charset="0"/>
              </a:rPr>
              <a:t>        {</a:t>
            </a:r>
          </a:p>
          <a:p>
            <a:r>
              <a:rPr lang="fr-FR" sz="1600" dirty="0">
                <a:solidFill>
                  <a:srgbClr val="000000"/>
                </a:solidFill>
                <a:latin typeface="Cascadia Mono" panose="020B0609020000020004" pitchFamily="49" charset="0"/>
              </a:rPr>
              <a:t>            </a:t>
            </a:r>
            <a:r>
              <a:rPr lang="fr-FR" sz="1600" dirty="0">
                <a:solidFill>
                  <a:srgbClr val="0000FF"/>
                </a:solidFill>
                <a:latin typeface="Cascadia Mono" panose="020B0609020000020004" pitchFamily="49" charset="0"/>
              </a:rPr>
              <a:t>if</a:t>
            </a:r>
            <a:r>
              <a:rPr lang="fr-FR" sz="1600" dirty="0">
                <a:solidFill>
                  <a:srgbClr val="000000"/>
                </a:solidFill>
                <a:latin typeface="Cascadia Mono" panose="020B0609020000020004" pitchFamily="49" charset="0"/>
              </a:rPr>
              <a:t> (</a:t>
            </a:r>
            <a:r>
              <a:rPr lang="fr-FR" sz="1600" dirty="0" err="1">
                <a:solidFill>
                  <a:srgbClr val="000000"/>
                </a:solidFill>
                <a:latin typeface="Cascadia Mono" panose="020B0609020000020004" pitchFamily="49" charset="0"/>
              </a:rPr>
              <a:t>item.Text.Equals</a:t>
            </a:r>
            <a:r>
              <a:rPr lang="fr-FR" sz="1600" dirty="0">
                <a:solidFill>
                  <a:srgbClr val="000000"/>
                </a:solidFill>
                <a:latin typeface="Cascadia Mono" panose="020B0609020000020004" pitchFamily="49" charset="0"/>
              </a:rPr>
              <a:t>(</a:t>
            </a:r>
            <a:r>
              <a:rPr lang="fr-FR" sz="1600" dirty="0">
                <a:solidFill>
                  <a:srgbClr val="A31515"/>
                </a:solidFill>
                <a:latin typeface="Cascadia Mono" panose="020B0609020000020004" pitchFamily="49" charset="0"/>
              </a:rPr>
              <a:t>"Cat"</a:t>
            </a:r>
            <a:r>
              <a:rPr lang="fr-FR" sz="1600" dirty="0">
                <a:solidFill>
                  <a:srgbClr val="000000"/>
                </a:solidFill>
                <a:latin typeface="Cascadia Mono" panose="020B0609020000020004" pitchFamily="49" charset="0"/>
              </a:rPr>
              <a:t>))</a:t>
            </a:r>
          </a:p>
          <a:p>
            <a:r>
              <a:rPr lang="fr-FR" sz="1600" dirty="0">
                <a:solidFill>
                  <a:srgbClr val="000000"/>
                </a:solidFill>
                <a:latin typeface="Cascadia Mono" panose="020B0609020000020004" pitchFamily="49" charset="0"/>
              </a:rPr>
              <a:t>            {</a:t>
            </a:r>
          </a:p>
          <a:p>
            <a:r>
              <a:rPr lang="fr-FR" sz="1600" dirty="0">
                <a:solidFill>
                  <a:srgbClr val="000000"/>
                </a:solidFill>
                <a:latin typeface="Cascadia Mono" panose="020B0609020000020004" pitchFamily="49" charset="0"/>
              </a:rPr>
              <a:t>                </a:t>
            </a:r>
            <a:r>
              <a:rPr lang="fr-FR" sz="1600" dirty="0">
                <a:solidFill>
                  <a:srgbClr val="008000"/>
                </a:solidFill>
                <a:latin typeface="Cascadia Mono" panose="020B0609020000020004" pitchFamily="49" charset="0"/>
              </a:rPr>
              <a:t>//Le code à déclencher ici</a:t>
            </a:r>
            <a:endParaRPr lang="fr-FR" sz="1600" dirty="0">
              <a:solidFill>
                <a:srgbClr val="000000"/>
              </a:solidFill>
              <a:latin typeface="Cascadia Mono" panose="020B0609020000020004" pitchFamily="49" charset="0"/>
            </a:endParaRPr>
          </a:p>
          <a:p>
            <a:r>
              <a:rPr lang="fr-FR" sz="1600" dirty="0">
                <a:solidFill>
                  <a:srgbClr val="000000"/>
                </a:solidFill>
                <a:latin typeface="Cascadia Mono" panose="020B0609020000020004" pitchFamily="49" charset="0"/>
              </a:rPr>
              <a:t>            }</a:t>
            </a:r>
          </a:p>
          <a:p>
            <a:r>
              <a:rPr lang="fr-FR" sz="1600" dirty="0">
                <a:solidFill>
                  <a:srgbClr val="000000"/>
                </a:solidFill>
                <a:latin typeface="Cascadia Mono" panose="020B0609020000020004" pitchFamily="49" charset="0"/>
              </a:rPr>
              <a:t>        }</a:t>
            </a:r>
          </a:p>
          <a:p>
            <a:r>
              <a:rPr lang="fr-FR" sz="1600" dirty="0">
                <a:solidFill>
                  <a:srgbClr val="000000"/>
                </a:solidFill>
                <a:latin typeface="Cascadia Mono" panose="020B0609020000020004" pitchFamily="49" charset="0"/>
              </a:rPr>
              <a:t>    }</a:t>
            </a:r>
            <a:endParaRPr lang="fr-FR" sz="1600" dirty="0"/>
          </a:p>
        </p:txBody>
      </p:sp>
      <p:sp>
        <p:nvSpPr>
          <p:cNvPr id="7" name="Rectangle 6"/>
          <p:cNvSpPr/>
          <p:nvPr/>
        </p:nvSpPr>
        <p:spPr>
          <a:xfrm>
            <a:off x="2308359" y="4817921"/>
            <a:ext cx="1515800" cy="338554"/>
          </a:xfrm>
          <a:prstGeom prst="rect">
            <a:avLst/>
          </a:prstGeom>
        </p:spPr>
        <p:txBody>
          <a:bodyPr wrap="none">
            <a:spAutoFit/>
          </a:bodyPr>
          <a:lstStyle/>
          <a:p>
            <a:r>
              <a:rPr lang="fr-FR" sz="1600" b="1" dirty="0" smtClean="0">
                <a:latin typeface="Segoe UI" panose="020B0502040204020203" pitchFamily="34" charset="0"/>
                <a:cs typeface="Segoe UI" panose="020B0502040204020203" pitchFamily="34" charset="0"/>
              </a:rPr>
              <a:t>L’ événement </a:t>
            </a:r>
            <a:endParaRPr lang="fr-FR" sz="1600" b="1" dirty="0"/>
          </a:p>
        </p:txBody>
      </p:sp>
      <p:sp>
        <p:nvSpPr>
          <p:cNvPr id="13" name="Rectangle 12"/>
          <p:cNvSpPr/>
          <p:nvPr/>
        </p:nvSpPr>
        <p:spPr>
          <a:xfrm>
            <a:off x="7820947" y="4796319"/>
            <a:ext cx="3015954" cy="338554"/>
          </a:xfrm>
          <a:prstGeom prst="rect">
            <a:avLst/>
          </a:prstGeom>
        </p:spPr>
        <p:txBody>
          <a:bodyPr wrap="none">
            <a:spAutoFit/>
          </a:bodyPr>
          <a:lstStyle/>
          <a:p>
            <a:r>
              <a:rPr lang="fr-FR" sz="1600" b="1" dirty="0" smtClean="0">
                <a:latin typeface="Segoe UI" panose="020B0502040204020203" pitchFamily="34" charset="0"/>
                <a:cs typeface="Segoe UI" panose="020B0502040204020203" pitchFamily="34" charset="0"/>
              </a:rPr>
              <a:t>Le gestionnaire d’événement </a:t>
            </a:r>
            <a:endParaRPr lang="fr-FR" sz="1600" b="1" dirty="0"/>
          </a:p>
        </p:txBody>
      </p:sp>
    </p:spTree>
    <p:extLst>
      <p:ext uri="{BB962C8B-B14F-4D97-AF65-F5344CB8AC3E}">
        <p14:creationId xmlns:p14="http://schemas.microsoft.com/office/powerpoint/2010/main" val="129641021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8"/>
          <p:cNvSpPr txBox="1">
            <a:spLocks noChangeArrowheads="1"/>
          </p:cNvSpPr>
          <p:nvPr/>
        </p:nvSpPr>
        <p:spPr bwMode="auto">
          <a:xfrm>
            <a:off x="398915" y="552527"/>
            <a:ext cx="11475048" cy="289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152400">
              <a:tabLst>
                <a:tab pos="5992813" algn="l"/>
              </a:tabLst>
              <a:defRPr>
                <a:solidFill>
                  <a:schemeClr val="tx1"/>
                </a:solidFill>
                <a:latin typeface="Calibri" panose="020F0502020204030204" pitchFamily="34" charset="0"/>
                <a:cs typeface="Arial" panose="020B0604020202020204" pitchFamily="34" charset="0"/>
              </a:defRPr>
            </a:lvl1pPr>
            <a:lvl2pPr marL="579438" indent="-242888">
              <a:tabLst>
                <a:tab pos="5992813" algn="l"/>
              </a:tabLst>
              <a:defRPr>
                <a:solidFill>
                  <a:schemeClr val="tx1"/>
                </a:solidFill>
                <a:latin typeface="Calibri" panose="020F0502020204030204" pitchFamily="34" charset="0"/>
                <a:cs typeface="Arial" panose="020B0604020202020204" pitchFamily="34" charset="0"/>
              </a:defRPr>
            </a:lvl2pPr>
            <a:lvl3pPr marL="1143000" indent="-228600">
              <a:tabLst>
                <a:tab pos="5992813" algn="l"/>
              </a:tabLst>
              <a:defRPr>
                <a:solidFill>
                  <a:schemeClr val="tx1"/>
                </a:solidFill>
                <a:latin typeface="Calibri" panose="020F0502020204030204" pitchFamily="34" charset="0"/>
                <a:cs typeface="Arial" panose="020B0604020202020204" pitchFamily="34" charset="0"/>
              </a:defRPr>
            </a:lvl3pPr>
            <a:lvl4pPr marL="1600200" indent="-228600">
              <a:tabLst>
                <a:tab pos="5992813" algn="l"/>
              </a:tabLst>
              <a:defRPr>
                <a:solidFill>
                  <a:schemeClr val="tx1"/>
                </a:solidFill>
                <a:latin typeface="Calibri" panose="020F0502020204030204" pitchFamily="34" charset="0"/>
                <a:cs typeface="Arial" panose="020B0604020202020204" pitchFamily="34" charset="0"/>
              </a:defRPr>
            </a:lvl4pPr>
            <a:lvl5pPr marL="2057400" indent="-228600">
              <a:tabLst>
                <a:tab pos="5992813" algn="l"/>
              </a:tabLst>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2200" u="sng" dirty="0" smtClean="0">
                <a:latin typeface="Segoe UI Symbol" panose="020B0502040204020203" pitchFamily="34" charset="0"/>
              </a:rPr>
              <a:t>Les </a:t>
            </a:r>
            <a:r>
              <a:rPr lang="en-US" altLang="en-US" sz="2200" u="sng" dirty="0" err="1" smtClean="0">
                <a:latin typeface="Segoe UI Symbol" panose="020B0502040204020203" pitchFamily="34" charset="0"/>
              </a:rPr>
              <a:t>contrôles</a:t>
            </a:r>
            <a:r>
              <a:rPr lang="en-US" altLang="en-US" sz="2200" u="sng" dirty="0" smtClean="0">
                <a:latin typeface="Segoe UI Symbol" panose="020B0502040204020203" pitchFamily="34" charset="0"/>
              </a:rPr>
              <a:t> de </a:t>
            </a:r>
            <a:r>
              <a:rPr lang="en-US" altLang="en-US" sz="2200" u="sng" dirty="0" err="1" smtClean="0">
                <a:latin typeface="Segoe UI Symbol" panose="020B0502040204020203" pitchFamily="34" charset="0"/>
              </a:rPr>
              <a:t>commande</a:t>
            </a:r>
            <a:r>
              <a:rPr lang="fr-FR" altLang="en-US" sz="2200" u="sng" dirty="0" smtClean="0">
                <a:latin typeface="Segoe UI Symbol" panose="020B0502040204020203" pitchFamily="34" charset="0"/>
              </a:rPr>
              <a:t>-Switch</a:t>
            </a:r>
            <a:endParaRPr lang="fr-FR" altLang="en-US" sz="2200" u="sng" dirty="0" smtClean="0">
              <a:latin typeface="Segoe UI Symbol" panose="020B0502040204020203" pitchFamily="34" charset="0"/>
            </a:endParaRPr>
          </a:p>
          <a:p>
            <a:pPr eaLnBrk="1" hangingPunct="1"/>
            <a:endParaRPr lang="fr-FR" sz="2200" u="sng" dirty="0">
              <a:latin typeface="Segoe UI Symbol" panose="020B0502040204020203" pitchFamily="34" charset="0"/>
              <a:cs typeface="Segoe UI" panose="020B0502040204020203" pitchFamily="34" charset="0"/>
            </a:endParaRPr>
          </a:p>
          <a:p>
            <a:r>
              <a:rPr lang="fr-FR" dirty="0">
                <a:latin typeface="Segoe UI" panose="020B0502040204020203" pitchFamily="34" charset="0"/>
                <a:cs typeface="Segoe UI" panose="020B0502040204020203" pitchFamily="34" charset="0"/>
              </a:rPr>
              <a:t>Le </a:t>
            </a:r>
            <a:r>
              <a:rPr lang="fr-FR" dirty="0" smtClean="0">
                <a:latin typeface="Segoe UI" panose="020B0502040204020203" pitchFamily="34" charset="0"/>
                <a:cs typeface="Segoe UI" panose="020B0502040204020203" pitchFamily="34" charset="0"/>
              </a:rPr>
              <a:t>contrôle </a:t>
            </a:r>
            <a:r>
              <a:rPr lang="fr-FR" b="1" dirty="0">
                <a:latin typeface="Segoe UI" panose="020B0502040204020203" pitchFamily="34" charset="0"/>
                <a:cs typeface="Segoe UI" panose="020B0502040204020203" pitchFamily="34" charset="0"/>
              </a:rPr>
              <a:t>Switch</a:t>
            </a:r>
            <a:r>
              <a:rPr lang="fr-FR" dirty="0">
                <a:latin typeface="Segoe UI" panose="020B0502040204020203" pitchFamily="34" charset="0"/>
                <a:cs typeface="Segoe UI" panose="020B0502040204020203" pitchFamily="34" charset="0"/>
              </a:rPr>
              <a:t> est un bouton </a:t>
            </a:r>
            <a:r>
              <a:rPr lang="fr-FR" dirty="0" smtClean="0">
                <a:latin typeface="Segoe UI" panose="020B0502040204020203" pitchFamily="34" charset="0"/>
                <a:cs typeface="Segoe UI" panose="020B0502040204020203" pitchFamily="34" charset="0"/>
              </a:rPr>
              <a:t>qui bascule </a:t>
            </a:r>
            <a:r>
              <a:rPr lang="fr-FR" dirty="0">
                <a:latin typeface="Segoe UI" panose="020B0502040204020203" pitchFamily="34" charset="0"/>
                <a:cs typeface="Segoe UI" panose="020B0502040204020203" pitchFamily="34" charset="0"/>
              </a:rPr>
              <a:t>horizontal qui peut être manipulé par l'utilisateur pour basculer entre les états activé et désactivé, qui sont représentés par une </a:t>
            </a:r>
            <a:r>
              <a:rPr lang="fr-FR" dirty="0" smtClean="0">
                <a:latin typeface="Segoe UI" panose="020B0502040204020203" pitchFamily="34" charset="0"/>
                <a:cs typeface="Segoe UI" panose="020B0502040204020203" pitchFamily="34" charset="0"/>
              </a:rPr>
              <a:t>valeur booléenne </a:t>
            </a:r>
          </a:p>
          <a:p>
            <a:endParaRPr lang="fr-FR" dirty="0">
              <a:latin typeface="Segoe UI" panose="020B0502040204020203" pitchFamily="34" charset="0"/>
              <a:cs typeface="Segoe UI" panose="020B0502040204020203" pitchFamily="34" charset="0"/>
            </a:endParaRPr>
          </a:p>
          <a:p>
            <a:r>
              <a:rPr lang="fr-FR" dirty="0" smtClean="0">
                <a:latin typeface="Segoe UI" panose="020B0502040204020203" pitchFamily="34" charset="0"/>
                <a:cs typeface="Segoe UI" panose="020B0502040204020203" pitchFamily="34" charset="0"/>
              </a:rPr>
              <a:t>Le contrôle </a:t>
            </a:r>
            <a:r>
              <a:rPr lang="fr-FR" b="1" dirty="0">
                <a:latin typeface="Segoe UI" panose="020B0502040204020203" pitchFamily="34" charset="0"/>
                <a:cs typeface="Segoe UI" panose="020B0502040204020203" pitchFamily="34" charset="0"/>
              </a:rPr>
              <a:t>Switch</a:t>
            </a:r>
            <a:r>
              <a:rPr lang="fr-FR" dirty="0">
                <a:latin typeface="Segoe UI" panose="020B0502040204020203" pitchFamily="34" charset="0"/>
                <a:cs typeface="Segoe UI" panose="020B0502040204020203" pitchFamily="34" charset="0"/>
              </a:rPr>
              <a:t> définit </a:t>
            </a:r>
            <a:r>
              <a:rPr lang="fr-FR" dirty="0" smtClean="0">
                <a:latin typeface="Segoe UI" panose="020B0502040204020203" pitchFamily="34" charset="0"/>
                <a:cs typeface="Segoe UI" panose="020B0502040204020203" pitchFamily="34" charset="0"/>
              </a:rPr>
              <a:t>la propriété suivante </a:t>
            </a:r>
            <a:r>
              <a:rPr lang="fr-FR" dirty="0">
                <a:latin typeface="Segoe UI" panose="020B0502040204020203" pitchFamily="34" charset="0"/>
                <a:cs typeface="Segoe UI" panose="020B0502040204020203" pitchFamily="34" charset="0"/>
              </a:rPr>
              <a:t>:</a:t>
            </a:r>
          </a:p>
          <a:p>
            <a:endParaRPr lang="fr-FR" dirty="0">
              <a:latin typeface="Segoe UI" panose="020B0502040204020203" pitchFamily="34" charset="0"/>
              <a:cs typeface="Segoe UI" panose="020B0502040204020203" pitchFamily="34" charset="0"/>
            </a:endParaRPr>
          </a:p>
          <a:p>
            <a:pPr marL="865188" lvl="1" indent="-285750">
              <a:buFont typeface="Wingdings" panose="05000000000000000000" pitchFamily="2" charset="2"/>
              <a:buChar char="§"/>
            </a:pPr>
            <a:r>
              <a:rPr lang="fr-FR" b="1" dirty="0" smtClean="0">
                <a:latin typeface="Segoe UI" panose="020B0502040204020203" pitchFamily="34" charset="0"/>
                <a:cs typeface="Segoe UI" panose="020B0502040204020203" pitchFamily="34" charset="0"/>
              </a:rPr>
              <a:t>IsToggled:</a:t>
            </a:r>
            <a:r>
              <a:rPr lang="fr-FR" dirty="0" smtClean="0">
                <a:latin typeface="Segoe UI" panose="020B0502040204020203" pitchFamily="34" charset="0"/>
                <a:cs typeface="Segoe UI" panose="020B0502040204020203" pitchFamily="34" charset="0"/>
              </a:rPr>
              <a:t> est </a:t>
            </a:r>
            <a:r>
              <a:rPr lang="fr-FR" dirty="0">
                <a:latin typeface="Segoe UI" panose="020B0502040204020203" pitchFamily="34" charset="0"/>
                <a:cs typeface="Segoe UI" panose="020B0502040204020203" pitchFamily="34" charset="0"/>
              </a:rPr>
              <a:t>une </a:t>
            </a:r>
            <a:r>
              <a:rPr lang="fr-FR" dirty="0" smtClean="0">
                <a:latin typeface="Segoe UI" panose="020B0502040204020203" pitchFamily="34" charset="0"/>
                <a:cs typeface="Segoe UI" panose="020B0502040204020203" pitchFamily="34" charset="0"/>
              </a:rPr>
              <a:t>booléen  valeur </a:t>
            </a:r>
            <a:r>
              <a:rPr lang="fr-FR" dirty="0">
                <a:latin typeface="Segoe UI" panose="020B0502040204020203" pitchFamily="34" charset="0"/>
                <a:cs typeface="Segoe UI" panose="020B0502040204020203" pitchFamily="34" charset="0"/>
              </a:rPr>
              <a:t>qui indique si le commutateur est activé. La valeur par défaut de cette </a:t>
            </a:r>
            <a:endParaRPr lang="fr-FR" dirty="0" smtClean="0">
              <a:latin typeface="Segoe UI" panose="020B0502040204020203" pitchFamily="34" charset="0"/>
              <a:cs typeface="Segoe UI" panose="020B0502040204020203" pitchFamily="34" charset="0"/>
            </a:endParaRPr>
          </a:p>
          <a:p>
            <a:endParaRPr lang="fr-FR" dirty="0" smtClean="0">
              <a:latin typeface="Segoe UI" panose="020B0502040204020203" pitchFamily="34" charset="0"/>
              <a:cs typeface="Segoe UI" panose="020B0502040204020203" pitchFamily="34" charset="0"/>
            </a:endParaRPr>
          </a:p>
          <a:p>
            <a:r>
              <a:rPr lang="fr-FR" dirty="0" smtClean="0">
                <a:latin typeface="Segoe UI" panose="020B0502040204020203" pitchFamily="34" charset="0"/>
                <a:cs typeface="Segoe UI" panose="020B0502040204020203" pitchFamily="34" charset="0"/>
              </a:rPr>
              <a:t>             propriété </a:t>
            </a:r>
            <a:r>
              <a:rPr lang="fr-FR" dirty="0">
                <a:latin typeface="Segoe UI" panose="020B0502040204020203" pitchFamily="34" charset="0"/>
                <a:cs typeface="Segoe UI" panose="020B0502040204020203" pitchFamily="34" charset="0"/>
              </a:rPr>
              <a:t>est </a:t>
            </a:r>
            <a:r>
              <a:rPr lang="fr-FR" b="1" dirty="0" smtClean="0">
                <a:latin typeface="Segoe UI" panose="020B0502040204020203" pitchFamily="34" charset="0"/>
                <a:cs typeface="Segoe UI" panose="020B0502040204020203" pitchFamily="34" charset="0"/>
              </a:rPr>
              <a:t>false</a:t>
            </a:r>
            <a:endParaRPr lang="fr-FR"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74748266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8"/>
          <p:cNvSpPr txBox="1">
            <a:spLocks noChangeArrowheads="1"/>
          </p:cNvSpPr>
          <p:nvPr/>
        </p:nvSpPr>
        <p:spPr bwMode="auto">
          <a:xfrm>
            <a:off x="373515" y="539827"/>
            <a:ext cx="11475048" cy="449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152400">
              <a:tabLst>
                <a:tab pos="5992813" algn="l"/>
              </a:tabLst>
              <a:defRPr>
                <a:solidFill>
                  <a:schemeClr val="tx1"/>
                </a:solidFill>
                <a:latin typeface="Calibri" panose="020F0502020204030204" pitchFamily="34" charset="0"/>
                <a:cs typeface="Arial" panose="020B0604020202020204" pitchFamily="34" charset="0"/>
              </a:defRPr>
            </a:lvl1pPr>
            <a:lvl2pPr marL="579438" indent="-242888">
              <a:tabLst>
                <a:tab pos="5992813" algn="l"/>
              </a:tabLst>
              <a:defRPr>
                <a:solidFill>
                  <a:schemeClr val="tx1"/>
                </a:solidFill>
                <a:latin typeface="Calibri" panose="020F0502020204030204" pitchFamily="34" charset="0"/>
                <a:cs typeface="Arial" panose="020B0604020202020204" pitchFamily="34" charset="0"/>
              </a:defRPr>
            </a:lvl2pPr>
            <a:lvl3pPr marL="1143000" indent="-228600">
              <a:tabLst>
                <a:tab pos="5992813" algn="l"/>
              </a:tabLst>
              <a:defRPr>
                <a:solidFill>
                  <a:schemeClr val="tx1"/>
                </a:solidFill>
                <a:latin typeface="Calibri" panose="020F0502020204030204" pitchFamily="34" charset="0"/>
                <a:cs typeface="Arial" panose="020B0604020202020204" pitchFamily="34" charset="0"/>
              </a:defRPr>
            </a:lvl3pPr>
            <a:lvl4pPr marL="1600200" indent="-228600">
              <a:tabLst>
                <a:tab pos="5992813" algn="l"/>
              </a:tabLst>
              <a:defRPr>
                <a:solidFill>
                  <a:schemeClr val="tx1"/>
                </a:solidFill>
                <a:latin typeface="Calibri" panose="020F0502020204030204" pitchFamily="34" charset="0"/>
                <a:cs typeface="Arial" panose="020B0604020202020204" pitchFamily="34" charset="0"/>
              </a:defRPr>
            </a:lvl4pPr>
            <a:lvl5pPr marL="2057400" indent="-228600">
              <a:tabLst>
                <a:tab pos="5992813" algn="l"/>
              </a:tabLst>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2200" u="sng" dirty="0" smtClean="0">
                <a:latin typeface="Segoe UI Symbol" panose="020B0502040204020203" pitchFamily="34" charset="0"/>
              </a:rPr>
              <a:t>Les </a:t>
            </a:r>
            <a:r>
              <a:rPr lang="en-US" altLang="en-US" sz="2200" u="sng" dirty="0" err="1" smtClean="0">
                <a:latin typeface="Segoe UI Symbol" panose="020B0502040204020203" pitchFamily="34" charset="0"/>
              </a:rPr>
              <a:t>contrôles</a:t>
            </a:r>
            <a:r>
              <a:rPr lang="en-US" altLang="en-US" sz="2200" u="sng" dirty="0" smtClean="0">
                <a:latin typeface="Segoe UI Symbol" panose="020B0502040204020203" pitchFamily="34" charset="0"/>
              </a:rPr>
              <a:t> </a:t>
            </a:r>
            <a:r>
              <a:rPr lang="en-US" altLang="en-US" sz="2200" u="sng" dirty="0" err="1" smtClean="0">
                <a:latin typeface="Segoe UI Symbol" panose="020B0502040204020203" pitchFamily="34" charset="0"/>
              </a:rPr>
              <a:t>d'entrées</a:t>
            </a:r>
            <a:r>
              <a:rPr lang="fr-FR" altLang="en-US" sz="2200" u="sng" dirty="0" smtClean="0">
                <a:latin typeface="Segoe UI Symbol" panose="020B0502040204020203" pitchFamily="34" charset="0"/>
              </a:rPr>
              <a:t>-Entry</a:t>
            </a:r>
            <a:endParaRPr lang="fr-FR" altLang="en-US" sz="2200" u="sng" dirty="0" smtClean="0">
              <a:latin typeface="Segoe UI Symbol" panose="020B0502040204020203" pitchFamily="34" charset="0"/>
            </a:endParaRPr>
          </a:p>
          <a:p>
            <a:pPr marL="438150" indent="-285750">
              <a:lnSpc>
                <a:spcPct val="150000"/>
              </a:lnSpc>
              <a:buFont typeface="Wingdings" panose="05000000000000000000" pitchFamily="2" charset="2"/>
              <a:buChar char="§"/>
            </a:pPr>
            <a:r>
              <a:rPr lang="fr-FR" dirty="0" smtClean="0">
                <a:latin typeface="Segoe UI" panose="020B0502040204020203" pitchFamily="34" charset="0"/>
                <a:cs typeface="Segoe UI" panose="020B0502040204020203" pitchFamily="34" charset="0"/>
              </a:rPr>
              <a:t>Le contrôle </a:t>
            </a:r>
            <a:r>
              <a:rPr lang="fr-FR" b="1" dirty="0" smtClean="0">
                <a:latin typeface="Segoe UI" panose="020B0502040204020203" pitchFamily="34" charset="0"/>
                <a:cs typeface="Segoe UI" panose="020B0502040204020203" pitchFamily="34" charset="0"/>
              </a:rPr>
              <a:t>Entry</a:t>
            </a:r>
            <a:r>
              <a:rPr lang="fr-FR" dirty="0">
                <a:latin typeface="Segoe UI" panose="020B0502040204020203" pitchFamily="34" charset="0"/>
                <a:cs typeface="Segoe UI" panose="020B0502040204020203" pitchFamily="34" charset="0"/>
              </a:rPr>
              <a:t> vous permet d’entrer et de modifier une seule ligne de </a:t>
            </a:r>
            <a:r>
              <a:rPr lang="fr-FR" dirty="0" smtClean="0">
                <a:latin typeface="Segoe UI" panose="020B0502040204020203" pitchFamily="34" charset="0"/>
                <a:cs typeface="Segoe UI" panose="020B0502040204020203" pitchFamily="34" charset="0"/>
              </a:rPr>
              <a:t>texte en claire ou caché pour les mots de passes, les propriétés les plus fréquentes à utiliser</a:t>
            </a:r>
            <a:endParaRPr lang="fr-FR" altLang="en-US" sz="2200" dirty="0" smtClean="0">
              <a:latin typeface="Segoe UI" panose="020B0502040204020203" pitchFamily="34" charset="0"/>
              <a:cs typeface="Segoe UI" panose="020B0502040204020203" pitchFamily="34" charset="0"/>
            </a:endParaRPr>
          </a:p>
          <a:p>
            <a:pPr marL="865188" lvl="1" indent="-285750">
              <a:lnSpc>
                <a:spcPct val="150000"/>
              </a:lnSpc>
              <a:buFont typeface="Wingdings" panose="05000000000000000000" pitchFamily="2" charset="2"/>
              <a:buChar char="§"/>
            </a:pPr>
            <a:r>
              <a:rPr lang="fr-FR" altLang="en-US" b="1" dirty="0" smtClean="0">
                <a:latin typeface="Segoe UI" panose="020B0502040204020203" pitchFamily="34" charset="0"/>
                <a:cs typeface="Segoe UI" panose="020B0502040204020203" pitchFamily="34" charset="0"/>
              </a:rPr>
              <a:t>Text: </a:t>
            </a:r>
            <a:r>
              <a:rPr lang="fr-FR" altLang="en-US" dirty="0">
                <a:latin typeface="Segoe UI" panose="020B0502040204020203" pitchFamily="34" charset="0"/>
                <a:cs typeface="Segoe UI" panose="020B0502040204020203" pitchFamily="34" charset="0"/>
              </a:rPr>
              <a:t>de type string, définit le texte entré dans l’entrée.</a:t>
            </a:r>
          </a:p>
          <a:p>
            <a:pPr marL="865188" lvl="1" indent="-285750">
              <a:lnSpc>
                <a:spcPct val="150000"/>
              </a:lnSpc>
              <a:buFont typeface="Wingdings" panose="05000000000000000000" pitchFamily="2" charset="2"/>
              <a:buChar char="§"/>
            </a:pPr>
            <a:r>
              <a:rPr lang="fr-FR" altLang="en-US" b="1" dirty="0" err="1" smtClean="0">
                <a:latin typeface="Segoe UI" panose="020B0502040204020203" pitchFamily="34" charset="0"/>
                <a:cs typeface="Segoe UI" panose="020B0502040204020203" pitchFamily="34" charset="0"/>
              </a:rPr>
              <a:t>TextColor</a:t>
            </a:r>
            <a:r>
              <a:rPr lang="fr-FR" altLang="en-US" b="1" dirty="0" smtClean="0">
                <a:latin typeface="Segoe UI" panose="020B0502040204020203" pitchFamily="34" charset="0"/>
                <a:cs typeface="Segoe UI" panose="020B0502040204020203" pitchFamily="34" charset="0"/>
              </a:rPr>
              <a:t>: </a:t>
            </a:r>
            <a:r>
              <a:rPr lang="fr-FR" altLang="en-US" dirty="0">
                <a:latin typeface="Segoe UI" panose="020B0502040204020203" pitchFamily="34" charset="0"/>
                <a:cs typeface="Segoe UI" panose="020B0502040204020203" pitchFamily="34" charset="0"/>
              </a:rPr>
              <a:t>de type </a:t>
            </a:r>
            <a:r>
              <a:rPr lang="fr-FR" altLang="en-US" dirty="0" err="1">
                <a:latin typeface="Segoe UI" panose="020B0502040204020203" pitchFamily="34" charset="0"/>
                <a:cs typeface="Segoe UI" panose="020B0502040204020203" pitchFamily="34" charset="0"/>
              </a:rPr>
              <a:t>Color</a:t>
            </a:r>
            <a:r>
              <a:rPr lang="fr-FR" altLang="en-US" dirty="0">
                <a:latin typeface="Segoe UI" panose="020B0502040204020203" pitchFamily="34" charset="0"/>
                <a:cs typeface="Segoe UI" panose="020B0502040204020203" pitchFamily="34" charset="0"/>
              </a:rPr>
              <a:t>, définit la couleur du texte entré</a:t>
            </a:r>
          </a:p>
          <a:p>
            <a:pPr marL="865188" lvl="1" indent="-285750">
              <a:lnSpc>
                <a:spcPct val="150000"/>
              </a:lnSpc>
              <a:buFont typeface="Wingdings" panose="05000000000000000000" pitchFamily="2" charset="2"/>
              <a:buChar char="§"/>
            </a:pPr>
            <a:r>
              <a:rPr lang="fr-FR" altLang="en-US" b="1" dirty="0" err="1" smtClean="0">
                <a:latin typeface="Segoe UI" panose="020B0502040204020203" pitchFamily="34" charset="0"/>
                <a:cs typeface="Segoe UI" panose="020B0502040204020203" pitchFamily="34" charset="0"/>
              </a:rPr>
              <a:t>FontFamily</a:t>
            </a:r>
            <a:r>
              <a:rPr lang="fr-FR" altLang="en-US" b="1" dirty="0" smtClean="0">
                <a:latin typeface="Segoe UI" panose="020B0502040204020203" pitchFamily="34" charset="0"/>
                <a:cs typeface="Segoe UI" panose="020B0502040204020203" pitchFamily="34" charset="0"/>
              </a:rPr>
              <a:t>:</a:t>
            </a:r>
            <a:r>
              <a:rPr lang="fr-FR" altLang="en-US" dirty="0" smtClean="0">
                <a:latin typeface="Segoe UI" panose="020B0502040204020203" pitchFamily="34" charset="0"/>
                <a:cs typeface="Segoe UI" panose="020B0502040204020203" pitchFamily="34" charset="0"/>
              </a:rPr>
              <a:t> </a:t>
            </a:r>
            <a:r>
              <a:rPr lang="fr-FR" altLang="en-US" dirty="0">
                <a:latin typeface="Segoe UI" panose="020B0502040204020203" pitchFamily="34" charset="0"/>
                <a:cs typeface="Segoe UI" panose="020B0502040204020203" pitchFamily="34" charset="0"/>
              </a:rPr>
              <a:t>de type string, définit la famille de polices.</a:t>
            </a:r>
          </a:p>
          <a:p>
            <a:pPr marL="865188" lvl="1" indent="-285750">
              <a:lnSpc>
                <a:spcPct val="150000"/>
              </a:lnSpc>
              <a:buFont typeface="Wingdings" panose="05000000000000000000" pitchFamily="2" charset="2"/>
              <a:buChar char="§"/>
            </a:pPr>
            <a:r>
              <a:rPr lang="fr-FR" altLang="en-US" b="1" dirty="0" err="1" smtClean="0">
                <a:latin typeface="Segoe UI" panose="020B0502040204020203" pitchFamily="34" charset="0"/>
                <a:cs typeface="Segoe UI" panose="020B0502040204020203" pitchFamily="34" charset="0"/>
              </a:rPr>
              <a:t>FontSize</a:t>
            </a:r>
            <a:r>
              <a:rPr lang="fr-FR" altLang="en-US" b="1" dirty="0" smtClean="0">
                <a:latin typeface="Segoe UI" panose="020B0502040204020203" pitchFamily="34" charset="0"/>
                <a:cs typeface="Segoe UI" panose="020B0502040204020203" pitchFamily="34" charset="0"/>
              </a:rPr>
              <a:t>: </a:t>
            </a:r>
            <a:r>
              <a:rPr lang="fr-FR" altLang="en-US" dirty="0" smtClean="0">
                <a:latin typeface="Segoe UI" panose="020B0502040204020203" pitchFamily="34" charset="0"/>
                <a:cs typeface="Segoe UI" panose="020B0502040204020203" pitchFamily="34" charset="0"/>
              </a:rPr>
              <a:t>de </a:t>
            </a:r>
            <a:r>
              <a:rPr lang="fr-FR" altLang="en-US" dirty="0">
                <a:latin typeface="Segoe UI" panose="020B0502040204020203" pitchFamily="34" charset="0"/>
                <a:cs typeface="Segoe UI" panose="020B0502040204020203" pitchFamily="34" charset="0"/>
              </a:rPr>
              <a:t>type double, définit la taille de police</a:t>
            </a:r>
          </a:p>
          <a:p>
            <a:pPr marL="865188" lvl="1" indent="-285750">
              <a:lnSpc>
                <a:spcPct val="150000"/>
              </a:lnSpc>
              <a:buFont typeface="Wingdings" panose="05000000000000000000" pitchFamily="2" charset="2"/>
              <a:buChar char="§"/>
            </a:pPr>
            <a:r>
              <a:rPr lang="fr-FR" altLang="en-US" b="1" dirty="0" err="1" smtClean="0">
                <a:latin typeface="Segoe UI" panose="020B0502040204020203" pitchFamily="34" charset="0"/>
                <a:cs typeface="Segoe UI" panose="020B0502040204020203" pitchFamily="34" charset="0"/>
              </a:rPr>
              <a:t>IsPassword</a:t>
            </a:r>
            <a:r>
              <a:rPr lang="fr-FR" altLang="en-US" b="1" dirty="0" smtClean="0">
                <a:latin typeface="Segoe UI" panose="020B0502040204020203" pitchFamily="34" charset="0"/>
                <a:cs typeface="Segoe UI" panose="020B0502040204020203" pitchFamily="34" charset="0"/>
              </a:rPr>
              <a:t>: </a:t>
            </a:r>
            <a:r>
              <a:rPr lang="fr-FR" altLang="en-US" dirty="0">
                <a:latin typeface="Segoe UI" panose="020B0502040204020203" pitchFamily="34" charset="0"/>
                <a:cs typeface="Segoe UI" panose="020B0502040204020203" pitchFamily="34" charset="0"/>
              </a:rPr>
              <a:t>de type </a:t>
            </a:r>
            <a:r>
              <a:rPr lang="fr-FR" altLang="en-US" dirty="0" err="1">
                <a:latin typeface="Segoe UI" panose="020B0502040204020203" pitchFamily="34" charset="0"/>
                <a:cs typeface="Segoe UI" panose="020B0502040204020203" pitchFamily="34" charset="0"/>
              </a:rPr>
              <a:t>bool</a:t>
            </a:r>
            <a:r>
              <a:rPr lang="fr-FR" altLang="en-US" dirty="0">
                <a:latin typeface="Segoe UI" panose="020B0502040204020203" pitchFamily="34" charset="0"/>
                <a:cs typeface="Segoe UI" panose="020B0502040204020203" pitchFamily="34" charset="0"/>
              </a:rPr>
              <a:t>, spécifie si l’entrée doit masquer visuellement le texte typé.</a:t>
            </a:r>
          </a:p>
          <a:p>
            <a:pPr marL="865188" lvl="1" indent="-285750">
              <a:lnSpc>
                <a:spcPct val="150000"/>
              </a:lnSpc>
              <a:buFont typeface="Wingdings" panose="05000000000000000000" pitchFamily="2" charset="2"/>
              <a:buChar char="§"/>
            </a:pPr>
            <a:r>
              <a:rPr lang="fr-FR" altLang="en-US" b="1" dirty="0" err="1" smtClean="0">
                <a:latin typeface="Segoe UI" panose="020B0502040204020203" pitchFamily="34" charset="0"/>
                <a:cs typeface="Segoe UI" panose="020B0502040204020203" pitchFamily="34" charset="0"/>
              </a:rPr>
              <a:t>Placeholder</a:t>
            </a:r>
            <a:r>
              <a:rPr lang="fr-FR" altLang="en-US" b="1" dirty="0" smtClean="0">
                <a:latin typeface="Segoe UI" panose="020B0502040204020203" pitchFamily="34" charset="0"/>
                <a:cs typeface="Segoe UI" panose="020B0502040204020203" pitchFamily="34" charset="0"/>
              </a:rPr>
              <a:t>: </a:t>
            </a:r>
            <a:r>
              <a:rPr lang="fr-FR" altLang="en-US" dirty="0">
                <a:latin typeface="Segoe UI" panose="020B0502040204020203" pitchFamily="34" charset="0"/>
                <a:cs typeface="Segoe UI" panose="020B0502040204020203" pitchFamily="34" charset="0"/>
              </a:rPr>
              <a:t>de type string, définit le texte affiché lorsque le contrôle est vide</a:t>
            </a:r>
          </a:p>
          <a:p>
            <a:pPr marL="865188" lvl="1" indent="-285750">
              <a:lnSpc>
                <a:spcPct val="150000"/>
              </a:lnSpc>
              <a:buFont typeface="Wingdings" panose="05000000000000000000" pitchFamily="2" charset="2"/>
              <a:buChar char="§"/>
            </a:pPr>
            <a:r>
              <a:rPr lang="fr-FR" altLang="en-US" b="1" dirty="0" err="1" smtClean="0">
                <a:latin typeface="Segoe UI" panose="020B0502040204020203" pitchFamily="34" charset="0"/>
                <a:cs typeface="Segoe UI" panose="020B0502040204020203" pitchFamily="34" charset="0"/>
              </a:rPr>
              <a:t>IsReadOnly</a:t>
            </a:r>
            <a:r>
              <a:rPr lang="fr-FR" altLang="en-US" b="1" dirty="0" smtClean="0">
                <a:latin typeface="Segoe UI" panose="020B0502040204020203" pitchFamily="34" charset="0"/>
                <a:cs typeface="Segoe UI" panose="020B0502040204020203" pitchFamily="34" charset="0"/>
              </a:rPr>
              <a:t>:</a:t>
            </a:r>
            <a:r>
              <a:rPr lang="fr-FR" altLang="en-US" dirty="0" smtClean="0">
                <a:latin typeface="Segoe UI" panose="020B0502040204020203" pitchFamily="34" charset="0"/>
                <a:cs typeface="Segoe UI" panose="020B0502040204020203" pitchFamily="34" charset="0"/>
              </a:rPr>
              <a:t> </a:t>
            </a:r>
            <a:r>
              <a:rPr lang="fr-FR" altLang="en-US" dirty="0">
                <a:latin typeface="Segoe UI" panose="020B0502040204020203" pitchFamily="34" charset="0"/>
                <a:cs typeface="Segoe UI" panose="020B0502040204020203" pitchFamily="34" charset="0"/>
              </a:rPr>
              <a:t>de type </a:t>
            </a:r>
            <a:r>
              <a:rPr lang="fr-FR" altLang="en-US" dirty="0" err="1">
                <a:latin typeface="Segoe UI" panose="020B0502040204020203" pitchFamily="34" charset="0"/>
                <a:cs typeface="Segoe UI" panose="020B0502040204020203" pitchFamily="34" charset="0"/>
              </a:rPr>
              <a:t>bool</a:t>
            </a:r>
            <a:r>
              <a:rPr lang="fr-FR" altLang="en-US" dirty="0">
                <a:latin typeface="Segoe UI" panose="020B0502040204020203" pitchFamily="34" charset="0"/>
                <a:cs typeface="Segoe UI" panose="020B0502040204020203" pitchFamily="34" charset="0"/>
              </a:rPr>
              <a:t>, rend l'entrée en mode lecture seule</a:t>
            </a:r>
          </a:p>
          <a:p>
            <a:pPr marL="865188" lvl="1" indent="-285750">
              <a:lnSpc>
                <a:spcPct val="150000"/>
              </a:lnSpc>
              <a:buFont typeface="Wingdings" panose="05000000000000000000" pitchFamily="2" charset="2"/>
              <a:buChar char="§"/>
            </a:pPr>
            <a:r>
              <a:rPr lang="fr-FR" altLang="en-US" b="1" dirty="0" err="1" smtClean="0">
                <a:latin typeface="Segoe UI" panose="020B0502040204020203" pitchFamily="34" charset="0"/>
                <a:cs typeface="Segoe UI" panose="020B0502040204020203" pitchFamily="34" charset="0"/>
              </a:rPr>
              <a:t>ClearButtonVisibility</a:t>
            </a:r>
            <a:r>
              <a:rPr lang="fr-FR" altLang="en-US" b="1" dirty="0" smtClean="0">
                <a:latin typeface="Segoe UI" panose="020B0502040204020203" pitchFamily="34" charset="0"/>
                <a:cs typeface="Segoe UI" panose="020B0502040204020203" pitchFamily="34" charset="0"/>
              </a:rPr>
              <a:t>: </a:t>
            </a:r>
            <a:r>
              <a:rPr lang="fr-FR" altLang="en-US" dirty="0">
                <a:latin typeface="Segoe UI" panose="020B0502040204020203" pitchFamily="34" charset="0"/>
                <a:cs typeface="Segoe UI" panose="020B0502040204020203" pitchFamily="34" charset="0"/>
              </a:rPr>
              <a:t>de type </a:t>
            </a:r>
            <a:r>
              <a:rPr lang="fr-FR" altLang="en-US" dirty="0" err="1">
                <a:latin typeface="Segoe UI" panose="020B0502040204020203" pitchFamily="34" charset="0"/>
                <a:cs typeface="Segoe UI" panose="020B0502040204020203" pitchFamily="34" charset="0"/>
              </a:rPr>
              <a:t>enumeration</a:t>
            </a:r>
            <a:r>
              <a:rPr lang="fr-FR" altLang="en-US" dirty="0">
                <a:latin typeface="Segoe UI" panose="020B0502040204020203" pitchFamily="34" charset="0"/>
                <a:cs typeface="Segoe UI" panose="020B0502040204020203" pitchFamily="34" charset="0"/>
              </a:rPr>
              <a:t> qui active ou désactive l'</a:t>
            </a:r>
            <a:r>
              <a:rPr lang="fr-FR" altLang="en-US" dirty="0" err="1">
                <a:latin typeface="Segoe UI" panose="020B0502040204020203" pitchFamily="34" charset="0"/>
                <a:cs typeface="Segoe UI" panose="020B0502040204020203" pitchFamily="34" charset="0"/>
              </a:rPr>
              <a:t>apprence</a:t>
            </a:r>
            <a:r>
              <a:rPr lang="fr-FR" altLang="en-US" dirty="0">
                <a:latin typeface="Segoe UI" panose="020B0502040204020203" pitchFamily="34" charset="0"/>
                <a:cs typeface="Segoe UI" panose="020B0502040204020203" pitchFamily="34" charset="0"/>
              </a:rPr>
              <a:t> d'un bouton d'annulation</a:t>
            </a:r>
            <a:endParaRPr lang="fr-FR" altLang="en-US" dirty="0" smtClean="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250822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8"/>
          <p:cNvSpPr txBox="1">
            <a:spLocks noChangeArrowheads="1"/>
          </p:cNvSpPr>
          <p:nvPr/>
        </p:nvSpPr>
        <p:spPr bwMode="auto">
          <a:xfrm>
            <a:off x="373515" y="539827"/>
            <a:ext cx="11475048" cy="24160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152400">
              <a:tabLst>
                <a:tab pos="5992813" algn="l"/>
              </a:tabLst>
              <a:defRPr>
                <a:solidFill>
                  <a:schemeClr val="tx1"/>
                </a:solidFill>
                <a:latin typeface="Calibri" panose="020F0502020204030204" pitchFamily="34" charset="0"/>
                <a:cs typeface="Arial" panose="020B0604020202020204" pitchFamily="34" charset="0"/>
              </a:defRPr>
            </a:lvl1pPr>
            <a:lvl2pPr marL="579438" indent="-242888">
              <a:tabLst>
                <a:tab pos="5992813" algn="l"/>
              </a:tabLst>
              <a:defRPr>
                <a:solidFill>
                  <a:schemeClr val="tx1"/>
                </a:solidFill>
                <a:latin typeface="Calibri" panose="020F0502020204030204" pitchFamily="34" charset="0"/>
                <a:cs typeface="Arial" panose="020B0604020202020204" pitchFamily="34" charset="0"/>
              </a:defRPr>
            </a:lvl2pPr>
            <a:lvl3pPr marL="1143000" indent="-228600">
              <a:tabLst>
                <a:tab pos="5992813" algn="l"/>
              </a:tabLst>
              <a:defRPr>
                <a:solidFill>
                  <a:schemeClr val="tx1"/>
                </a:solidFill>
                <a:latin typeface="Calibri" panose="020F0502020204030204" pitchFamily="34" charset="0"/>
                <a:cs typeface="Arial" panose="020B0604020202020204" pitchFamily="34" charset="0"/>
              </a:defRPr>
            </a:lvl3pPr>
            <a:lvl4pPr marL="1600200" indent="-228600">
              <a:tabLst>
                <a:tab pos="5992813" algn="l"/>
              </a:tabLst>
              <a:defRPr>
                <a:solidFill>
                  <a:schemeClr val="tx1"/>
                </a:solidFill>
                <a:latin typeface="Calibri" panose="020F0502020204030204" pitchFamily="34" charset="0"/>
                <a:cs typeface="Arial" panose="020B0604020202020204" pitchFamily="34" charset="0"/>
              </a:defRPr>
            </a:lvl4pPr>
            <a:lvl5pPr marL="2057400" indent="-228600">
              <a:tabLst>
                <a:tab pos="5992813" algn="l"/>
              </a:tabLst>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2200" u="sng" dirty="0" smtClean="0">
                <a:latin typeface="Segoe UI Symbol" panose="020B0502040204020203" pitchFamily="34" charset="0"/>
              </a:rPr>
              <a:t>Les </a:t>
            </a:r>
            <a:r>
              <a:rPr lang="en-US" altLang="en-US" sz="2200" u="sng" dirty="0" err="1" smtClean="0">
                <a:latin typeface="Segoe UI Symbol" panose="020B0502040204020203" pitchFamily="34" charset="0"/>
              </a:rPr>
              <a:t>contrôles</a:t>
            </a:r>
            <a:r>
              <a:rPr lang="en-US" altLang="en-US" sz="2200" u="sng" dirty="0" smtClean="0">
                <a:latin typeface="Segoe UI Symbol" panose="020B0502040204020203" pitchFamily="34" charset="0"/>
              </a:rPr>
              <a:t> </a:t>
            </a:r>
            <a:r>
              <a:rPr lang="en-US" altLang="en-US" sz="2200" u="sng" dirty="0" err="1" smtClean="0">
                <a:latin typeface="Segoe UI Symbol" panose="020B0502040204020203" pitchFamily="34" charset="0"/>
              </a:rPr>
              <a:t>d'entrées</a:t>
            </a:r>
            <a:r>
              <a:rPr lang="fr-FR" altLang="en-US" sz="2200" u="sng" dirty="0" smtClean="0">
                <a:latin typeface="Segoe UI Symbol" panose="020B0502040204020203" pitchFamily="34" charset="0"/>
              </a:rPr>
              <a:t>-Entry</a:t>
            </a:r>
            <a:endParaRPr lang="fr-FR" altLang="en-US" sz="2200" u="sng" dirty="0" smtClean="0">
              <a:latin typeface="Segoe UI Symbol" panose="020B0502040204020203" pitchFamily="34" charset="0"/>
            </a:endParaRPr>
          </a:p>
          <a:p>
            <a:pPr marL="438150" indent="-285750">
              <a:lnSpc>
                <a:spcPct val="150000"/>
              </a:lnSpc>
              <a:buFont typeface="Wingdings" panose="05000000000000000000" pitchFamily="2" charset="2"/>
              <a:buChar char="§"/>
            </a:pPr>
            <a:r>
              <a:rPr lang="fr-FR" dirty="0" smtClean="0">
                <a:latin typeface="Segoe UI" panose="020B0502040204020203" pitchFamily="34" charset="0"/>
                <a:cs typeface="Segoe UI" panose="020B0502040204020203" pitchFamily="34" charset="0"/>
              </a:rPr>
              <a:t>Le contrôle </a:t>
            </a:r>
            <a:r>
              <a:rPr lang="fr-FR" b="1" dirty="0" smtClean="0">
                <a:latin typeface="Segoe UI" panose="020B0502040204020203" pitchFamily="34" charset="0"/>
                <a:cs typeface="Segoe UI" panose="020B0502040204020203" pitchFamily="34" charset="0"/>
              </a:rPr>
              <a:t>Entry</a:t>
            </a:r>
            <a:r>
              <a:rPr lang="fr-FR" dirty="0">
                <a:latin typeface="Segoe UI" panose="020B0502040204020203" pitchFamily="34" charset="0"/>
                <a:cs typeface="Segoe UI" panose="020B0502040204020203" pitchFamily="34" charset="0"/>
              </a:rPr>
              <a:t> </a:t>
            </a:r>
            <a:r>
              <a:rPr lang="fr-FR" dirty="0" smtClean="0">
                <a:latin typeface="Segoe UI" panose="020B0502040204020203" pitchFamily="34" charset="0"/>
                <a:cs typeface="Segoe UI" panose="020B0502040204020203" pitchFamily="34" charset="0"/>
              </a:rPr>
              <a:t>présente également d’autre propriétés moins fréquente mais très utiles</a:t>
            </a:r>
          </a:p>
          <a:p>
            <a:pPr marL="438150" indent="-285750">
              <a:lnSpc>
                <a:spcPct val="150000"/>
              </a:lnSpc>
              <a:buFont typeface="Wingdings" panose="05000000000000000000" pitchFamily="2" charset="2"/>
              <a:buChar char="§"/>
            </a:pPr>
            <a:endParaRPr lang="fr-FR" altLang="en-US" dirty="0">
              <a:latin typeface="Segoe UI" panose="020B0502040204020203" pitchFamily="34" charset="0"/>
              <a:cs typeface="Segoe UI" panose="020B0502040204020203" pitchFamily="34" charset="0"/>
            </a:endParaRPr>
          </a:p>
          <a:p>
            <a:pPr marL="865188" lvl="1" indent="-285750">
              <a:lnSpc>
                <a:spcPct val="150000"/>
              </a:lnSpc>
              <a:buFont typeface="Wingdings" panose="05000000000000000000" pitchFamily="2" charset="2"/>
              <a:buChar char="§"/>
            </a:pPr>
            <a:r>
              <a:rPr lang="fr-FR" altLang="en-US" b="1" dirty="0" smtClean="0">
                <a:latin typeface="Segoe UI" panose="020B0502040204020203" pitchFamily="34" charset="0"/>
                <a:cs typeface="Segoe UI" panose="020B0502040204020203" pitchFamily="34" charset="0"/>
              </a:rPr>
              <a:t>MaxLength:</a:t>
            </a:r>
            <a:r>
              <a:rPr lang="fr-FR" altLang="en-US" dirty="0" smtClean="0">
                <a:latin typeface="Segoe UI" panose="020B0502040204020203" pitchFamily="34" charset="0"/>
                <a:cs typeface="Segoe UI" panose="020B0502040204020203" pitchFamily="34" charset="0"/>
              </a:rPr>
              <a:t> de type entier permet de définir un nombre maximum de caractères à entrer</a:t>
            </a:r>
          </a:p>
          <a:p>
            <a:pPr marL="865188" lvl="1" indent="-285750">
              <a:lnSpc>
                <a:spcPct val="150000"/>
              </a:lnSpc>
              <a:buFont typeface="Wingdings" panose="05000000000000000000" pitchFamily="2" charset="2"/>
              <a:buChar char="§"/>
            </a:pPr>
            <a:r>
              <a:rPr lang="fr-FR" altLang="en-US" b="1" dirty="0" smtClean="0">
                <a:latin typeface="Segoe UI" panose="020B0502040204020203" pitchFamily="34" charset="0"/>
                <a:cs typeface="Segoe UI" panose="020B0502040204020203" pitchFamily="34" charset="0"/>
              </a:rPr>
              <a:t>Keyboard: </a:t>
            </a:r>
            <a:r>
              <a:rPr lang="fr-FR" altLang="en-US" dirty="0" smtClean="0">
                <a:latin typeface="Segoe UI" panose="020B0502040204020203" pitchFamily="34" charset="0"/>
                <a:cs typeface="Segoe UI" panose="020B0502040204020203" pitchFamily="34" charset="0"/>
              </a:rPr>
              <a:t>de type énumération permet de conditionner automatiquement le clavier selon la nature d’entrée</a:t>
            </a:r>
          </a:p>
        </p:txBody>
      </p:sp>
      <p:pic>
        <p:nvPicPr>
          <p:cNvPr id="8" name="Image 7"/>
          <p:cNvPicPr>
            <a:picLocks noChangeAspect="1"/>
          </p:cNvPicPr>
          <p:nvPr/>
        </p:nvPicPr>
        <p:blipFill>
          <a:blip r:embed="rId3"/>
          <a:stretch>
            <a:fillRect/>
          </a:stretch>
        </p:blipFill>
        <p:spPr>
          <a:xfrm>
            <a:off x="7710405" y="2800349"/>
            <a:ext cx="1509795" cy="3386419"/>
          </a:xfrm>
          <a:prstGeom prst="rect">
            <a:avLst/>
          </a:prstGeom>
        </p:spPr>
      </p:pic>
      <p:sp>
        <p:nvSpPr>
          <p:cNvPr id="11" name="Rectangle 10"/>
          <p:cNvSpPr/>
          <p:nvPr/>
        </p:nvSpPr>
        <p:spPr>
          <a:xfrm>
            <a:off x="928451" y="2955873"/>
            <a:ext cx="6096000" cy="2123658"/>
          </a:xfrm>
          <a:prstGeom prst="rect">
            <a:avLst/>
          </a:prstGeom>
        </p:spPr>
        <p:txBody>
          <a:bodyPr>
            <a:spAutoFit/>
          </a:bodyPr>
          <a:lstStyle/>
          <a:p>
            <a:r>
              <a:rPr lang="fr-FR" sz="1600" dirty="0">
                <a:solidFill>
                  <a:srgbClr val="0000FF"/>
                </a:solidFill>
                <a:latin typeface="Cascadia Mono" panose="020B0609020000020004" pitchFamily="49" charset="0"/>
              </a:rPr>
              <a:t>&lt;</a:t>
            </a:r>
            <a:r>
              <a:rPr lang="fr-FR" sz="1600" dirty="0">
                <a:solidFill>
                  <a:srgbClr val="A31515"/>
                </a:solidFill>
                <a:latin typeface="Cascadia Mono" panose="020B0609020000020004" pitchFamily="49" charset="0"/>
              </a:rPr>
              <a:t>Entry</a:t>
            </a:r>
            <a:r>
              <a:rPr lang="fr-FR" sz="1600" dirty="0">
                <a:solidFill>
                  <a:srgbClr val="FF0000"/>
                </a:solidFill>
                <a:latin typeface="Cascadia Mono" panose="020B0609020000020004" pitchFamily="49" charset="0"/>
              </a:rPr>
              <a:t> VerticalOptions</a:t>
            </a:r>
            <a:r>
              <a:rPr lang="fr-FR" sz="1600" dirty="0">
                <a:solidFill>
                  <a:srgbClr val="0000FF"/>
                </a:solidFill>
                <a:latin typeface="Cascadia Mono" panose="020B0609020000020004" pitchFamily="49" charset="0"/>
              </a:rPr>
              <a:t>="Center"</a:t>
            </a:r>
            <a:endParaRPr lang="fr-FR" sz="1600" dirty="0">
              <a:solidFill>
                <a:srgbClr val="000000"/>
              </a:solidFill>
              <a:latin typeface="Cascadia Mono" panose="020B0609020000020004" pitchFamily="49" charset="0"/>
            </a:endParaRPr>
          </a:p>
          <a:p>
            <a:r>
              <a:rPr lang="fr-FR" sz="1600" dirty="0">
                <a:solidFill>
                  <a:srgbClr val="000000"/>
                </a:solidFill>
                <a:latin typeface="Cascadia Mono" panose="020B0609020000020004" pitchFamily="49" charset="0"/>
              </a:rPr>
              <a:t>              </a:t>
            </a:r>
            <a:r>
              <a:rPr lang="fr-FR" sz="1600" dirty="0">
                <a:solidFill>
                  <a:srgbClr val="FF0000"/>
                </a:solidFill>
                <a:latin typeface="Cascadia Mono" panose="020B0609020000020004" pitchFamily="49" charset="0"/>
              </a:rPr>
              <a:t> </a:t>
            </a:r>
            <a:r>
              <a:rPr lang="fr-FR" sz="1600" dirty="0" err="1">
                <a:solidFill>
                  <a:srgbClr val="FF0000"/>
                </a:solidFill>
                <a:latin typeface="Cascadia Mono" panose="020B0609020000020004" pitchFamily="49" charset="0"/>
              </a:rPr>
              <a:t>WidthRequest</a:t>
            </a:r>
            <a:r>
              <a:rPr lang="fr-FR" sz="1600" dirty="0">
                <a:solidFill>
                  <a:srgbClr val="0000FF"/>
                </a:solidFill>
                <a:latin typeface="Cascadia Mono" panose="020B0609020000020004" pitchFamily="49" charset="0"/>
              </a:rPr>
              <a:t>="100"</a:t>
            </a:r>
            <a:endParaRPr lang="fr-FR" sz="1600" dirty="0">
              <a:solidFill>
                <a:srgbClr val="000000"/>
              </a:solidFill>
              <a:latin typeface="Cascadia Mono" panose="020B0609020000020004" pitchFamily="49" charset="0"/>
            </a:endParaRPr>
          </a:p>
          <a:p>
            <a:r>
              <a:rPr lang="fr-FR" sz="1600" dirty="0">
                <a:solidFill>
                  <a:srgbClr val="000000"/>
                </a:solidFill>
                <a:latin typeface="Cascadia Mono" panose="020B0609020000020004" pitchFamily="49" charset="0"/>
              </a:rPr>
              <a:t>              </a:t>
            </a:r>
            <a:r>
              <a:rPr lang="fr-FR" sz="1600" dirty="0">
                <a:solidFill>
                  <a:srgbClr val="FF0000"/>
                </a:solidFill>
                <a:latin typeface="Cascadia Mono" panose="020B0609020000020004" pitchFamily="49" charset="0"/>
              </a:rPr>
              <a:t> </a:t>
            </a:r>
            <a:r>
              <a:rPr lang="fr-FR" sz="1600" dirty="0" err="1">
                <a:solidFill>
                  <a:srgbClr val="FF0000"/>
                </a:solidFill>
                <a:latin typeface="Cascadia Mono" panose="020B0609020000020004" pitchFamily="49" charset="0"/>
              </a:rPr>
              <a:t>HorizontalOptions</a:t>
            </a:r>
            <a:r>
              <a:rPr lang="fr-FR" sz="1600" dirty="0">
                <a:solidFill>
                  <a:srgbClr val="0000FF"/>
                </a:solidFill>
                <a:latin typeface="Cascadia Mono" panose="020B0609020000020004" pitchFamily="49" charset="0"/>
              </a:rPr>
              <a:t>="Center"</a:t>
            </a:r>
            <a:endParaRPr lang="fr-FR" sz="1600" dirty="0">
              <a:solidFill>
                <a:srgbClr val="000000"/>
              </a:solidFill>
              <a:latin typeface="Cascadia Mono" panose="020B0609020000020004" pitchFamily="49" charset="0"/>
            </a:endParaRPr>
          </a:p>
          <a:p>
            <a:r>
              <a:rPr lang="fr-FR" sz="1600" dirty="0">
                <a:solidFill>
                  <a:srgbClr val="000000"/>
                </a:solidFill>
                <a:latin typeface="Cascadia Mono" panose="020B0609020000020004" pitchFamily="49" charset="0"/>
              </a:rPr>
              <a:t>              </a:t>
            </a:r>
            <a:r>
              <a:rPr lang="fr-FR" sz="1600" dirty="0">
                <a:solidFill>
                  <a:srgbClr val="FF0000"/>
                </a:solidFill>
                <a:latin typeface="Cascadia Mono" panose="020B0609020000020004" pitchFamily="49" charset="0"/>
              </a:rPr>
              <a:t> </a:t>
            </a:r>
            <a:r>
              <a:rPr lang="fr-FR" sz="1600" dirty="0" err="1">
                <a:solidFill>
                  <a:srgbClr val="FF0000"/>
                </a:solidFill>
                <a:latin typeface="Cascadia Mono" panose="020B0609020000020004" pitchFamily="49" charset="0"/>
              </a:rPr>
              <a:t>ReturnType</a:t>
            </a:r>
            <a:r>
              <a:rPr lang="fr-FR" sz="1600" dirty="0">
                <a:solidFill>
                  <a:srgbClr val="0000FF"/>
                </a:solidFill>
                <a:latin typeface="Cascadia Mono" panose="020B0609020000020004" pitchFamily="49" charset="0"/>
              </a:rPr>
              <a:t>="Next"</a:t>
            </a:r>
            <a:endParaRPr lang="fr-FR" sz="1600" dirty="0">
              <a:solidFill>
                <a:srgbClr val="000000"/>
              </a:solidFill>
              <a:latin typeface="Cascadia Mono" panose="020B0609020000020004" pitchFamily="49" charset="0"/>
            </a:endParaRPr>
          </a:p>
          <a:p>
            <a:r>
              <a:rPr lang="fr-FR" sz="1600" dirty="0">
                <a:solidFill>
                  <a:srgbClr val="000000"/>
                </a:solidFill>
                <a:latin typeface="Cascadia Mono" panose="020B0609020000020004" pitchFamily="49" charset="0"/>
              </a:rPr>
              <a:t>              </a:t>
            </a:r>
            <a:r>
              <a:rPr lang="fr-FR" sz="1600" dirty="0">
                <a:solidFill>
                  <a:srgbClr val="FF0000"/>
                </a:solidFill>
                <a:latin typeface="Cascadia Mono" panose="020B0609020000020004" pitchFamily="49" charset="0"/>
              </a:rPr>
              <a:t> </a:t>
            </a:r>
            <a:r>
              <a:rPr lang="fr-FR" sz="1600" dirty="0" err="1">
                <a:solidFill>
                  <a:srgbClr val="FF0000"/>
                </a:solidFill>
                <a:latin typeface="Cascadia Mono" panose="020B0609020000020004" pitchFamily="49" charset="0"/>
              </a:rPr>
              <a:t>ClearButtonVisibility</a:t>
            </a:r>
            <a:r>
              <a:rPr lang="fr-FR" sz="1600" dirty="0">
                <a:solidFill>
                  <a:srgbClr val="0000FF"/>
                </a:solidFill>
                <a:latin typeface="Cascadia Mono" panose="020B0609020000020004" pitchFamily="49" charset="0"/>
              </a:rPr>
              <a:t>="Never"</a:t>
            </a:r>
            <a:endParaRPr lang="fr-FR" sz="1600" dirty="0">
              <a:solidFill>
                <a:srgbClr val="000000"/>
              </a:solidFill>
              <a:latin typeface="Cascadia Mono" panose="020B0609020000020004" pitchFamily="49" charset="0"/>
            </a:endParaRPr>
          </a:p>
          <a:p>
            <a:r>
              <a:rPr lang="fr-FR" sz="1600" dirty="0">
                <a:solidFill>
                  <a:srgbClr val="000000"/>
                </a:solidFill>
                <a:latin typeface="Cascadia Mono" panose="020B0609020000020004" pitchFamily="49" charset="0"/>
              </a:rPr>
              <a:t>              </a:t>
            </a:r>
            <a:r>
              <a:rPr lang="fr-FR" sz="1600" dirty="0">
                <a:solidFill>
                  <a:srgbClr val="FF0000"/>
                </a:solidFill>
                <a:latin typeface="Cascadia Mono" panose="020B0609020000020004" pitchFamily="49" charset="0"/>
              </a:rPr>
              <a:t> Completed</a:t>
            </a:r>
            <a:r>
              <a:rPr lang="fr-FR" sz="1600" dirty="0">
                <a:solidFill>
                  <a:srgbClr val="0000FF"/>
                </a:solidFill>
                <a:latin typeface="Cascadia Mono" panose="020B0609020000020004" pitchFamily="49" charset="0"/>
              </a:rPr>
              <a:t>="</a:t>
            </a:r>
            <a:r>
              <a:rPr lang="fr-FR" sz="1600" dirty="0" err="1">
                <a:solidFill>
                  <a:srgbClr val="0000FF"/>
                </a:solidFill>
                <a:latin typeface="Cascadia Mono" panose="020B0609020000020004" pitchFamily="49" charset="0"/>
              </a:rPr>
              <a:t>Entry_Completed</a:t>
            </a:r>
            <a:r>
              <a:rPr lang="fr-FR" sz="1600" dirty="0">
                <a:solidFill>
                  <a:srgbClr val="0000FF"/>
                </a:solidFill>
                <a:latin typeface="Cascadia Mono" panose="020B0609020000020004" pitchFamily="49" charset="0"/>
              </a:rPr>
              <a:t>"</a:t>
            </a:r>
            <a:endParaRPr lang="fr-FR" sz="1600" dirty="0">
              <a:solidFill>
                <a:srgbClr val="000000"/>
              </a:solidFill>
              <a:latin typeface="Cascadia Mono" panose="020B0609020000020004" pitchFamily="49" charset="0"/>
            </a:endParaRPr>
          </a:p>
          <a:p>
            <a:r>
              <a:rPr lang="fr-FR" sz="1600" dirty="0" smtClean="0">
                <a:solidFill>
                  <a:srgbClr val="000000"/>
                </a:solidFill>
                <a:latin typeface="Cascadia Mono" panose="020B0609020000020004" pitchFamily="49" charset="0"/>
              </a:rPr>
              <a:t>              </a:t>
            </a:r>
            <a:r>
              <a:rPr lang="fr-FR" sz="1600" dirty="0" smtClean="0">
                <a:solidFill>
                  <a:srgbClr val="FF0000"/>
                </a:solidFill>
                <a:latin typeface="Cascadia Mono" panose="020B0609020000020004" pitchFamily="49" charset="0"/>
              </a:rPr>
              <a:t> </a:t>
            </a:r>
            <a:r>
              <a:rPr lang="fr-FR" b="1" dirty="0" smtClean="0">
                <a:solidFill>
                  <a:srgbClr val="FF0000"/>
                </a:solidFill>
                <a:effectLst>
                  <a:outerShdw blurRad="38100" dist="38100" dir="2700000" algn="tl">
                    <a:srgbClr val="000000">
                      <a:alpha val="43137"/>
                    </a:srgbClr>
                  </a:outerShdw>
                </a:effectLst>
                <a:latin typeface="Cascadia Mono" panose="020B0609020000020004" pitchFamily="49" charset="0"/>
              </a:rPr>
              <a:t>Keyboard</a:t>
            </a:r>
            <a:r>
              <a:rPr lang="fr-FR" b="1" dirty="0" smtClean="0">
                <a:solidFill>
                  <a:srgbClr val="0000FF"/>
                </a:solidFill>
                <a:effectLst>
                  <a:outerShdw blurRad="38100" dist="38100" dir="2700000" algn="tl">
                    <a:srgbClr val="000000">
                      <a:alpha val="43137"/>
                    </a:srgbClr>
                  </a:outerShdw>
                </a:effectLst>
                <a:latin typeface="Cascadia Mono" panose="020B0609020000020004" pitchFamily="49" charset="0"/>
              </a:rPr>
              <a:t>="Numeric"</a:t>
            </a:r>
            <a:endParaRPr lang="fr-FR" b="1" dirty="0" smtClean="0">
              <a:solidFill>
                <a:srgbClr val="000000"/>
              </a:solidFill>
              <a:effectLst>
                <a:outerShdw blurRad="38100" dist="38100" dir="2700000" algn="tl">
                  <a:srgbClr val="000000">
                    <a:alpha val="43137"/>
                  </a:srgbClr>
                </a:outerShdw>
              </a:effectLst>
              <a:latin typeface="Cascadia Mono" panose="020B0609020000020004" pitchFamily="49" charset="0"/>
            </a:endParaRPr>
          </a:p>
          <a:p>
            <a:r>
              <a:rPr lang="fr-FR" sz="1600" dirty="0" smtClean="0">
                <a:solidFill>
                  <a:srgbClr val="000000"/>
                </a:solidFill>
                <a:latin typeface="Cascadia Mono" panose="020B0609020000020004" pitchFamily="49" charset="0"/>
              </a:rPr>
              <a:t>              </a:t>
            </a:r>
            <a:r>
              <a:rPr lang="fr-FR" sz="1600" dirty="0" smtClean="0">
                <a:solidFill>
                  <a:srgbClr val="FF0000"/>
                </a:solidFill>
                <a:latin typeface="Cascadia Mono" panose="020B0609020000020004" pitchFamily="49" charset="0"/>
              </a:rPr>
              <a:t> MaxLength</a:t>
            </a:r>
            <a:r>
              <a:rPr lang="fr-FR" sz="1600" dirty="0" smtClean="0">
                <a:solidFill>
                  <a:srgbClr val="0000FF"/>
                </a:solidFill>
                <a:latin typeface="Cascadia Mono" panose="020B0609020000020004" pitchFamily="49" charset="0"/>
              </a:rPr>
              <a:t>="20"/&gt;</a:t>
            </a:r>
            <a:endParaRPr lang="fr-FR" sz="1600" dirty="0"/>
          </a:p>
        </p:txBody>
      </p:sp>
    </p:spTree>
    <p:extLst>
      <p:ext uri="{BB962C8B-B14F-4D97-AF65-F5344CB8AC3E}">
        <p14:creationId xmlns:p14="http://schemas.microsoft.com/office/powerpoint/2010/main" val="218176770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8"/>
          <p:cNvSpPr txBox="1">
            <a:spLocks noChangeArrowheads="1"/>
          </p:cNvSpPr>
          <p:nvPr/>
        </p:nvSpPr>
        <p:spPr bwMode="auto">
          <a:xfrm>
            <a:off x="341765" y="552527"/>
            <a:ext cx="11475048" cy="53245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152400">
              <a:tabLst>
                <a:tab pos="5992813" algn="l"/>
              </a:tabLst>
              <a:defRPr>
                <a:solidFill>
                  <a:schemeClr val="tx1"/>
                </a:solidFill>
                <a:latin typeface="Calibri" panose="020F0502020204030204" pitchFamily="34" charset="0"/>
                <a:cs typeface="Arial" panose="020B0604020202020204" pitchFamily="34" charset="0"/>
              </a:defRPr>
            </a:lvl1pPr>
            <a:lvl2pPr marL="579438" indent="-242888">
              <a:tabLst>
                <a:tab pos="5992813" algn="l"/>
              </a:tabLst>
              <a:defRPr>
                <a:solidFill>
                  <a:schemeClr val="tx1"/>
                </a:solidFill>
                <a:latin typeface="Calibri" panose="020F0502020204030204" pitchFamily="34" charset="0"/>
                <a:cs typeface="Arial" panose="020B0604020202020204" pitchFamily="34" charset="0"/>
              </a:defRPr>
            </a:lvl2pPr>
            <a:lvl3pPr marL="1143000" indent="-228600">
              <a:tabLst>
                <a:tab pos="5992813" algn="l"/>
              </a:tabLst>
              <a:defRPr>
                <a:solidFill>
                  <a:schemeClr val="tx1"/>
                </a:solidFill>
                <a:latin typeface="Calibri" panose="020F0502020204030204" pitchFamily="34" charset="0"/>
                <a:cs typeface="Arial" panose="020B0604020202020204" pitchFamily="34" charset="0"/>
              </a:defRPr>
            </a:lvl3pPr>
            <a:lvl4pPr marL="1600200" indent="-228600">
              <a:tabLst>
                <a:tab pos="5992813" algn="l"/>
              </a:tabLst>
              <a:defRPr>
                <a:solidFill>
                  <a:schemeClr val="tx1"/>
                </a:solidFill>
                <a:latin typeface="Calibri" panose="020F0502020204030204" pitchFamily="34" charset="0"/>
                <a:cs typeface="Arial" panose="020B0604020202020204" pitchFamily="34" charset="0"/>
              </a:defRPr>
            </a:lvl4pPr>
            <a:lvl5pPr marL="2057400" indent="-228600">
              <a:tabLst>
                <a:tab pos="5992813" algn="l"/>
              </a:tabLst>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2200" u="sng" dirty="0" smtClean="0">
                <a:latin typeface="Segoe UI Symbol" panose="020B0502040204020203" pitchFamily="34" charset="0"/>
              </a:rPr>
              <a:t>Les </a:t>
            </a:r>
            <a:r>
              <a:rPr lang="en-US" altLang="en-US" sz="2200" u="sng" dirty="0" err="1" smtClean="0">
                <a:latin typeface="Segoe UI Symbol" panose="020B0502040204020203" pitchFamily="34" charset="0"/>
              </a:rPr>
              <a:t>contrôles</a:t>
            </a:r>
            <a:r>
              <a:rPr lang="en-US" altLang="en-US" sz="2200" u="sng" dirty="0" smtClean="0">
                <a:latin typeface="Segoe UI Symbol" panose="020B0502040204020203" pitchFamily="34" charset="0"/>
              </a:rPr>
              <a:t> </a:t>
            </a:r>
            <a:r>
              <a:rPr lang="en-US" altLang="en-US" sz="2200" u="sng" dirty="0" err="1" smtClean="0">
                <a:latin typeface="Segoe UI Symbol" panose="020B0502040204020203" pitchFamily="34" charset="0"/>
              </a:rPr>
              <a:t>d'entrées</a:t>
            </a:r>
            <a:r>
              <a:rPr lang="fr-FR" altLang="en-US" sz="2200" u="sng" dirty="0" smtClean="0">
                <a:latin typeface="Segoe UI Symbol" panose="020B0502040204020203" pitchFamily="34" charset="0"/>
              </a:rPr>
              <a:t>-Entry</a:t>
            </a:r>
            <a:endParaRPr lang="fr-FR" altLang="en-US" sz="2200" u="sng" dirty="0" smtClean="0">
              <a:latin typeface="Segoe UI Symbol" panose="020B0502040204020203" pitchFamily="34" charset="0"/>
            </a:endParaRPr>
          </a:p>
          <a:p>
            <a:pPr marL="438150" indent="-285750">
              <a:lnSpc>
                <a:spcPct val="150000"/>
              </a:lnSpc>
              <a:buFont typeface="Wingdings" panose="05000000000000000000" pitchFamily="2" charset="2"/>
              <a:buChar char="§"/>
            </a:pPr>
            <a:r>
              <a:rPr lang="fr-FR" dirty="0" smtClean="0">
                <a:latin typeface="Segoe UI" panose="020B0502040204020203" pitchFamily="34" charset="0"/>
                <a:cs typeface="Segoe UI" panose="020B0502040204020203" pitchFamily="34" charset="0"/>
              </a:rPr>
              <a:t>Le contrôle </a:t>
            </a:r>
            <a:r>
              <a:rPr lang="fr-FR" b="1" dirty="0" smtClean="0">
                <a:latin typeface="Segoe UI" panose="020B0502040204020203" pitchFamily="34" charset="0"/>
                <a:cs typeface="Segoe UI" panose="020B0502040204020203" pitchFamily="34" charset="0"/>
              </a:rPr>
              <a:t>Entry</a:t>
            </a:r>
            <a:r>
              <a:rPr lang="fr-FR" dirty="0">
                <a:latin typeface="Segoe UI" panose="020B0502040204020203" pitchFamily="34" charset="0"/>
                <a:cs typeface="Segoe UI" panose="020B0502040204020203" pitchFamily="34" charset="0"/>
              </a:rPr>
              <a:t> </a:t>
            </a:r>
            <a:r>
              <a:rPr lang="fr-FR" dirty="0" smtClean="0">
                <a:latin typeface="Segoe UI" panose="020B0502040204020203" pitchFamily="34" charset="0"/>
                <a:cs typeface="Segoe UI" panose="020B0502040204020203" pitchFamily="34" charset="0"/>
              </a:rPr>
              <a:t>présente également deux événements important </a:t>
            </a:r>
          </a:p>
          <a:p>
            <a:pPr marL="865188" lvl="1" indent="-285750">
              <a:lnSpc>
                <a:spcPct val="150000"/>
              </a:lnSpc>
              <a:buFont typeface="Wingdings" panose="05000000000000000000" pitchFamily="2" charset="2"/>
              <a:buChar char="§"/>
            </a:pPr>
            <a:r>
              <a:rPr lang="fr-FR" altLang="en-US" b="1" dirty="0" smtClean="0">
                <a:latin typeface="Segoe UI" panose="020B0502040204020203" pitchFamily="34" charset="0"/>
                <a:cs typeface="Segoe UI" panose="020B0502040204020203" pitchFamily="34" charset="0"/>
              </a:rPr>
              <a:t>Completed</a:t>
            </a:r>
            <a:r>
              <a:rPr lang="fr-FR" altLang="en-US" dirty="0" smtClean="0">
                <a:latin typeface="Segoe UI" panose="020B0502040204020203" pitchFamily="34" charset="0"/>
                <a:cs typeface="Segoe UI" panose="020B0502040204020203" pitchFamily="34" charset="0"/>
              </a:rPr>
              <a:t>: qui se déclenche à la fin d’entrée des caractère </a:t>
            </a:r>
          </a:p>
          <a:p>
            <a:pPr marL="865188" lvl="1" indent="-285750">
              <a:lnSpc>
                <a:spcPct val="150000"/>
              </a:lnSpc>
              <a:buFont typeface="Wingdings" panose="05000000000000000000" pitchFamily="2" charset="2"/>
              <a:buChar char="§"/>
            </a:pPr>
            <a:r>
              <a:rPr lang="fr-FR" altLang="en-US" b="1" dirty="0" err="1" smtClean="0">
                <a:latin typeface="Segoe UI" panose="020B0502040204020203" pitchFamily="34" charset="0"/>
                <a:cs typeface="Segoe UI" panose="020B0502040204020203" pitchFamily="34" charset="0"/>
              </a:rPr>
              <a:t>TextChanged</a:t>
            </a:r>
            <a:r>
              <a:rPr lang="fr-FR" altLang="en-US" dirty="0" smtClean="0">
                <a:latin typeface="Segoe UI" panose="020B0502040204020203" pitchFamily="34" charset="0"/>
                <a:cs typeface="Segoe UI" panose="020B0502040204020203" pitchFamily="34" charset="0"/>
              </a:rPr>
              <a:t>: qui se déclenche à chaque changement de texte</a:t>
            </a:r>
          </a:p>
          <a:p>
            <a:pPr marL="865188" lvl="1" indent="-285750">
              <a:lnSpc>
                <a:spcPct val="150000"/>
              </a:lnSpc>
              <a:buFont typeface="Wingdings" panose="05000000000000000000" pitchFamily="2" charset="2"/>
              <a:buChar char="§"/>
            </a:pPr>
            <a:endParaRPr lang="fr-FR" altLang="en-US" dirty="0">
              <a:latin typeface="Segoe UI" panose="020B0502040204020203" pitchFamily="34" charset="0"/>
              <a:cs typeface="Segoe UI" panose="020B0502040204020203" pitchFamily="34" charset="0"/>
            </a:endParaRPr>
          </a:p>
          <a:p>
            <a:pPr marL="865188" lvl="1" indent="-285750">
              <a:lnSpc>
                <a:spcPct val="150000"/>
              </a:lnSpc>
              <a:buFont typeface="Wingdings" panose="05000000000000000000" pitchFamily="2" charset="2"/>
              <a:buChar char="§"/>
            </a:pPr>
            <a:endParaRPr lang="fr-FR" altLang="en-US" dirty="0" smtClean="0">
              <a:latin typeface="Segoe UI" panose="020B0502040204020203" pitchFamily="34" charset="0"/>
              <a:cs typeface="Segoe UI" panose="020B0502040204020203" pitchFamily="34" charset="0"/>
            </a:endParaRPr>
          </a:p>
          <a:p>
            <a:pPr marL="865188" lvl="1" indent="-285750">
              <a:lnSpc>
                <a:spcPct val="150000"/>
              </a:lnSpc>
              <a:buFont typeface="Wingdings" panose="05000000000000000000" pitchFamily="2" charset="2"/>
              <a:buChar char="§"/>
            </a:pPr>
            <a:endParaRPr lang="fr-FR" altLang="en-US" dirty="0">
              <a:latin typeface="Segoe UI" panose="020B0502040204020203" pitchFamily="34" charset="0"/>
              <a:cs typeface="Segoe UI" panose="020B0502040204020203" pitchFamily="34" charset="0"/>
            </a:endParaRPr>
          </a:p>
          <a:p>
            <a:pPr marL="865188" lvl="1" indent="-285750">
              <a:lnSpc>
                <a:spcPct val="150000"/>
              </a:lnSpc>
              <a:buFont typeface="Wingdings" panose="05000000000000000000" pitchFamily="2" charset="2"/>
              <a:buChar char="§"/>
            </a:pPr>
            <a:endParaRPr lang="fr-FR" altLang="en-US" dirty="0" smtClean="0">
              <a:latin typeface="Segoe UI" panose="020B0502040204020203" pitchFamily="34" charset="0"/>
              <a:cs typeface="Segoe UI" panose="020B0502040204020203" pitchFamily="34" charset="0"/>
            </a:endParaRPr>
          </a:p>
          <a:p>
            <a:pPr marL="865188" lvl="1" indent="-285750">
              <a:lnSpc>
                <a:spcPct val="150000"/>
              </a:lnSpc>
              <a:buFont typeface="Wingdings" panose="05000000000000000000" pitchFamily="2" charset="2"/>
              <a:buChar char="§"/>
            </a:pPr>
            <a:endParaRPr lang="fr-FR" altLang="en-US" dirty="0">
              <a:latin typeface="Segoe UI" panose="020B0502040204020203" pitchFamily="34" charset="0"/>
              <a:cs typeface="Segoe UI" panose="020B0502040204020203" pitchFamily="34" charset="0"/>
            </a:endParaRPr>
          </a:p>
          <a:p>
            <a:pPr marL="865188" lvl="1" indent="-285750">
              <a:lnSpc>
                <a:spcPct val="150000"/>
              </a:lnSpc>
              <a:buFont typeface="Wingdings" panose="05000000000000000000" pitchFamily="2" charset="2"/>
              <a:buChar char="§"/>
            </a:pPr>
            <a:endParaRPr lang="fr-FR" altLang="en-US" dirty="0" smtClean="0">
              <a:latin typeface="Segoe UI" panose="020B0502040204020203" pitchFamily="34" charset="0"/>
              <a:cs typeface="Segoe UI" panose="020B0502040204020203" pitchFamily="34" charset="0"/>
            </a:endParaRPr>
          </a:p>
          <a:p>
            <a:pPr marL="865188" lvl="1" indent="-285750">
              <a:lnSpc>
                <a:spcPct val="150000"/>
              </a:lnSpc>
              <a:buFont typeface="Wingdings" panose="05000000000000000000" pitchFamily="2" charset="2"/>
              <a:buChar char="§"/>
            </a:pPr>
            <a:endParaRPr lang="fr-FR" altLang="en-US" dirty="0">
              <a:latin typeface="Segoe UI" panose="020B0502040204020203" pitchFamily="34" charset="0"/>
              <a:cs typeface="Segoe UI" panose="020B0502040204020203" pitchFamily="34" charset="0"/>
            </a:endParaRPr>
          </a:p>
          <a:p>
            <a:pPr marL="177800" lvl="1" indent="0">
              <a:lnSpc>
                <a:spcPct val="150000"/>
              </a:lnSpc>
              <a:buFont typeface="Wingdings" panose="05000000000000000000" pitchFamily="2" charset="2"/>
              <a:buChar char="§"/>
            </a:pPr>
            <a:r>
              <a:rPr lang="fr-FR" altLang="en-US" dirty="0" smtClean="0">
                <a:latin typeface="Segoe UI" panose="020B0502040204020203" pitchFamily="34" charset="0"/>
                <a:cs typeface="Segoe UI" panose="020B0502040204020203" pitchFamily="34" charset="0"/>
              </a:rPr>
              <a:t> Le type présente deux membres importants </a:t>
            </a:r>
            <a:r>
              <a:rPr lang="fr-FR" altLang="en-US" b="1" dirty="0" err="1" smtClean="0">
                <a:latin typeface="Segoe UI" panose="020B0502040204020203" pitchFamily="34" charset="0"/>
                <a:cs typeface="Segoe UI" panose="020B0502040204020203" pitchFamily="34" charset="0"/>
              </a:rPr>
              <a:t>OldValue</a:t>
            </a:r>
            <a:r>
              <a:rPr lang="fr-FR" altLang="en-US" dirty="0" smtClean="0">
                <a:latin typeface="Segoe UI" panose="020B0502040204020203" pitchFamily="34" charset="0"/>
                <a:cs typeface="Segoe UI" panose="020B0502040204020203" pitchFamily="34" charset="0"/>
              </a:rPr>
              <a:t> et </a:t>
            </a:r>
            <a:r>
              <a:rPr lang="fr-FR" altLang="en-US" b="1" dirty="0" err="1" smtClean="0">
                <a:latin typeface="Segoe UI" panose="020B0502040204020203" pitchFamily="34" charset="0"/>
                <a:cs typeface="Segoe UI" panose="020B0502040204020203" pitchFamily="34" charset="0"/>
              </a:rPr>
              <a:t>NewValue</a:t>
            </a:r>
            <a:r>
              <a:rPr lang="fr-FR" altLang="en-US" dirty="0" smtClean="0">
                <a:latin typeface="Segoe UI" panose="020B0502040204020203" pitchFamily="34" charset="0"/>
                <a:cs typeface="Segoe UI" panose="020B0502040204020203" pitchFamily="34" charset="0"/>
              </a:rPr>
              <a:t> qui représentent respectivement les valeurs avant et après le changement </a:t>
            </a:r>
          </a:p>
        </p:txBody>
      </p:sp>
      <p:sp>
        <p:nvSpPr>
          <p:cNvPr id="3" name="Rectangle 2"/>
          <p:cNvSpPr/>
          <p:nvPr/>
        </p:nvSpPr>
        <p:spPr>
          <a:xfrm>
            <a:off x="882650" y="2310190"/>
            <a:ext cx="9607550" cy="2339102"/>
          </a:xfrm>
          <a:prstGeom prst="rect">
            <a:avLst/>
          </a:prstGeom>
        </p:spPr>
        <p:txBody>
          <a:bodyPr wrap="square">
            <a:spAutoFit/>
          </a:bodyPr>
          <a:lstStyle/>
          <a:p>
            <a:r>
              <a:rPr lang="en-US" sz="1600" dirty="0">
                <a:solidFill>
                  <a:srgbClr val="0000FF"/>
                </a:solidFill>
                <a:latin typeface="Cascadia Mono" panose="020B0609020000020004" pitchFamily="49" charset="0"/>
              </a:rPr>
              <a:t>private</a:t>
            </a:r>
            <a:r>
              <a:rPr lang="en-US" sz="1600" dirty="0">
                <a:solidFill>
                  <a:srgbClr val="000000"/>
                </a:solidFill>
                <a:latin typeface="Cascadia Mono" panose="020B0609020000020004" pitchFamily="49" charset="0"/>
              </a:rPr>
              <a:t> </a:t>
            </a:r>
            <a:r>
              <a:rPr lang="en-US" sz="1600" dirty="0">
                <a:solidFill>
                  <a:srgbClr val="0000FF"/>
                </a:solidFill>
                <a:latin typeface="Cascadia Mono" panose="020B0609020000020004" pitchFamily="49" charset="0"/>
              </a:rPr>
              <a:t>void</a:t>
            </a:r>
            <a:r>
              <a:rPr lang="en-US" sz="1600" dirty="0">
                <a:solidFill>
                  <a:srgbClr val="000000"/>
                </a:solidFill>
                <a:latin typeface="Cascadia Mono" panose="020B0609020000020004" pitchFamily="49" charset="0"/>
              </a:rPr>
              <a:t> </a:t>
            </a:r>
            <a:r>
              <a:rPr lang="en-US" sz="1600" dirty="0" err="1">
                <a:solidFill>
                  <a:srgbClr val="000000"/>
                </a:solidFill>
                <a:latin typeface="Cascadia Mono" panose="020B0609020000020004" pitchFamily="49" charset="0"/>
              </a:rPr>
              <a:t>Entry_Completed</a:t>
            </a:r>
            <a:r>
              <a:rPr lang="en-US" sz="1600" dirty="0">
                <a:solidFill>
                  <a:srgbClr val="000000"/>
                </a:solidFill>
                <a:latin typeface="Cascadia Mono" panose="020B0609020000020004" pitchFamily="49" charset="0"/>
              </a:rPr>
              <a:t>(</a:t>
            </a:r>
            <a:r>
              <a:rPr lang="en-US" sz="1600" dirty="0">
                <a:solidFill>
                  <a:srgbClr val="0000FF"/>
                </a:solidFill>
                <a:latin typeface="Cascadia Mono" panose="020B0609020000020004" pitchFamily="49" charset="0"/>
              </a:rPr>
              <a:t>object</a:t>
            </a:r>
            <a:r>
              <a:rPr lang="en-US" sz="1600" dirty="0">
                <a:solidFill>
                  <a:srgbClr val="000000"/>
                </a:solidFill>
                <a:latin typeface="Cascadia Mono" panose="020B0609020000020004" pitchFamily="49" charset="0"/>
              </a:rPr>
              <a:t> sender, EventArgs e)</a:t>
            </a:r>
          </a:p>
          <a:p>
            <a:r>
              <a:rPr lang="fr-FR" sz="1600" dirty="0" smtClean="0">
                <a:solidFill>
                  <a:srgbClr val="000000"/>
                </a:solidFill>
                <a:latin typeface="Cascadia Mono" panose="020B0609020000020004" pitchFamily="49" charset="0"/>
              </a:rPr>
              <a:t>{</a:t>
            </a:r>
            <a:endParaRPr lang="fr-FR" sz="1600" dirty="0">
              <a:solidFill>
                <a:srgbClr val="000000"/>
              </a:solidFill>
              <a:latin typeface="Cascadia Mono" panose="020B0609020000020004" pitchFamily="49" charset="0"/>
            </a:endParaRPr>
          </a:p>
          <a:p>
            <a:r>
              <a:rPr lang="fr-FR" sz="1600" dirty="0" smtClean="0">
                <a:solidFill>
                  <a:srgbClr val="008000"/>
                </a:solidFill>
                <a:latin typeface="Cascadia Mono" panose="020B0609020000020004" pitchFamily="49" charset="0"/>
              </a:rPr>
              <a:t>   //Se lance lorsque l’utilisateur valide (Presse le bouton entrée)</a:t>
            </a:r>
            <a:endParaRPr lang="fr-FR" sz="1600" dirty="0">
              <a:solidFill>
                <a:srgbClr val="000000"/>
              </a:solidFill>
              <a:latin typeface="Cascadia Mono" panose="020B0609020000020004" pitchFamily="49" charset="0"/>
            </a:endParaRPr>
          </a:p>
          <a:p>
            <a:r>
              <a:rPr lang="fr-FR" sz="1600" dirty="0" smtClean="0">
                <a:solidFill>
                  <a:srgbClr val="000000"/>
                </a:solidFill>
                <a:latin typeface="Cascadia Mono" panose="020B0609020000020004" pitchFamily="49" charset="0"/>
              </a:rPr>
              <a:t>}</a:t>
            </a:r>
            <a:endParaRPr lang="fr-FR" sz="1600" dirty="0">
              <a:solidFill>
                <a:srgbClr val="000000"/>
              </a:solidFill>
              <a:latin typeface="Cascadia Mono" panose="020B0609020000020004" pitchFamily="49" charset="0"/>
            </a:endParaRPr>
          </a:p>
          <a:p>
            <a:endParaRPr lang="fr-FR" sz="1600" dirty="0">
              <a:solidFill>
                <a:srgbClr val="000000"/>
              </a:solidFill>
              <a:latin typeface="Cascadia Mono" panose="020B0609020000020004" pitchFamily="49" charset="0"/>
            </a:endParaRPr>
          </a:p>
          <a:p>
            <a:r>
              <a:rPr lang="en-US" sz="1600" dirty="0" smtClean="0">
                <a:solidFill>
                  <a:srgbClr val="0000FF"/>
                </a:solidFill>
                <a:latin typeface="Cascadia Mono" panose="020B0609020000020004" pitchFamily="49" charset="0"/>
              </a:rPr>
              <a:t>private</a:t>
            </a:r>
            <a:r>
              <a:rPr lang="en-US" sz="1600" dirty="0" smtClean="0">
                <a:solidFill>
                  <a:srgbClr val="000000"/>
                </a:solidFill>
                <a:latin typeface="Cascadia Mono" panose="020B0609020000020004" pitchFamily="49" charset="0"/>
              </a:rPr>
              <a:t> </a:t>
            </a:r>
            <a:r>
              <a:rPr lang="en-US" sz="1600" dirty="0">
                <a:solidFill>
                  <a:srgbClr val="0000FF"/>
                </a:solidFill>
                <a:latin typeface="Cascadia Mono" panose="020B0609020000020004" pitchFamily="49" charset="0"/>
              </a:rPr>
              <a:t>void</a:t>
            </a:r>
            <a:r>
              <a:rPr lang="en-US" sz="1600" dirty="0">
                <a:solidFill>
                  <a:srgbClr val="000000"/>
                </a:solidFill>
                <a:latin typeface="Cascadia Mono" panose="020B0609020000020004" pitchFamily="49" charset="0"/>
              </a:rPr>
              <a:t> </a:t>
            </a:r>
            <a:r>
              <a:rPr lang="en-US" sz="1600" dirty="0" err="1">
                <a:solidFill>
                  <a:srgbClr val="000000"/>
                </a:solidFill>
                <a:latin typeface="Cascadia Mono" panose="020B0609020000020004" pitchFamily="49" charset="0"/>
              </a:rPr>
              <a:t>Entry_TextChanged</a:t>
            </a:r>
            <a:r>
              <a:rPr lang="en-US" sz="1600" dirty="0">
                <a:solidFill>
                  <a:srgbClr val="000000"/>
                </a:solidFill>
                <a:latin typeface="Cascadia Mono" panose="020B0609020000020004" pitchFamily="49" charset="0"/>
              </a:rPr>
              <a:t>(</a:t>
            </a:r>
            <a:r>
              <a:rPr lang="en-US" sz="1600" dirty="0">
                <a:solidFill>
                  <a:srgbClr val="0000FF"/>
                </a:solidFill>
                <a:latin typeface="Cascadia Mono" panose="020B0609020000020004" pitchFamily="49" charset="0"/>
              </a:rPr>
              <a:t>object</a:t>
            </a:r>
            <a:r>
              <a:rPr lang="en-US" sz="1600" dirty="0">
                <a:solidFill>
                  <a:srgbClr val="000000"/>
                </a:solidFill>
                <a:latin typeface="Cascadia Mono" panose="020B0609020000020004" pitchFamily="49" charset="0"/>
              </a:rPr>
              <a:t> sender, </a:t>
            </a:r>
            <a:r>
              <a:rPr lang="en-US" b="1" dirty="0" err="1">
                <a:solidFill>
                  <a:srgbClr val="000000"/>
                </a:solidFill>
                <a:effectLst>
                  <a:outerShdw blurRad="38100" dist="38100" dir="2700000" algn="tl">
                    <a:srgbClr val="000000">
                      <a:alpha val="43137"/>
                    </a:srgbClr>
                  </a:outerShdw>
                </a:effectLst>
                <a:latin typeface="Cascadia Mono" panose="020B0609020000020004" pitchFamily="49" charset="0"/>
              </a:rPr>
              <a:t>TextChangedEventArgs</a:t>
            </a:r>
            <a:r>
              <a:rPr lang="en-US" b="1" dirty="0">
                <a:solidFill>
                  <a:srgbClr val="000000"/>
                </a:solidFill>
                <a:effectLst>
                  <a:outerShdw blurRad="38100" dist="38100" dir="2700000" algn="tl">
                    <a:srgbClr val="000000">
                      <a:alpha val="43137"/>
                    </a:srgbClr>
                  </a:outerShdw>
                </a:effectLst>
                <a:latin typeface="Cascadia Mono" panose="020B0609020000020004" pitchFamily="49" charset="0"/>
              </a:rPr>
              <a:t> e</a:t>
            </a:r>
            <a:r>
              <a:rPr lang="en-US" sz="1600" dirty="0">
                <a:solidFill>
                  <a:srgbClr val="000000"/>
                </a:solidFill>
                <a:latin typeface="Cascadia Mono" panose="020B0609020000020004" pitchFamily="49" charset="0"/>
              </a:rPr>
              <a:t>)</a:t>
            </a:r>
          </a:p>
          <a:p>
            <a:r>
              <a:rPr lang="fr-FR" sz="1600" dirty="0" smtClean="0">
                <a:solidFill>
                  <a:srgbClr val="000000"/>
                </a:solidFill>
                <a:latin typeface="Cascadia Mono" panose="020B0609020000020004" pitchFamily="49" charset="0"/>
              </a:rPr>
              <a:t>{</a:t>
            </a:r>
            <a:endParaRPr lang="fr-FR" sz="1600" dirty="0">
              <a:solidFill>
                <a:srgbClr val="000000"/>
              </a:solidFill>
              <a:latin typeface="Cascadia Mono" panose="020B0609020000020004" pitchFamily="49" charset="0"/>
            </a:endParaRPr>
          </a:p>
          <a:p>
            <a:r>
              <a:rPr lang="fr-FR" sz="1600" dirty="0">
                <a:solidFill>
                  <a:srgbClr val="000000"/>
                </a:solidFill>
                <a:latin typeface="Cascadia Mono" panose="020B0609020000020004" pitchFamily="49" charset="0"/>
              </a:rPr>
              <a:t> </a:t>
            </a:r>
            <a:r>
              <a:rPr lang="fr-FR" sz="1600" dirty="0" smtClean="0">
                <a:solidFill>
                  <a:srgbClr val="000000"/>
                </a:solidFill>
                <a:latin typeface="Cascadia Mono" panose="020B0609020000020004" pitchFamily="49" charset="0"/>
              </a:rPr>
              <a:t>  </a:t>
            </a:r>
            <a:r>
              <a:rPr lang="fr-FR" sz="1600" dirty="0" smtClean="0">
                <a:solidFill>
                  <a:srgbClr val="008000"/>
                </a:solidFill>
                <a:latin typeface="Cascadia Mono" panose="020B0609020000020004" pitchFamily="49" charset="0"/>
              </a:rPr>
              <a:t>//Se lance lorsque le texte change</a:t>
            </a:r>
            <a:endParaRPr lang="fr-FR" sz="1600" dirty="0">
              <a:solidFill>
                <a:srgbClr val="008000"/>
              </a:solidFill>
              <a:latin typeface="Cascadia Mono" panose="020B0609020000020004" pitchFamily="49" charset="0"/>
            </a:endParaRPr>
          </a:p>
          <a:p>
            <a:r>
              <a:rPr lang="fr-FR" sz="1600" dirty="0" smtClean="0">
                <a:solidFill>
                  <a:srgbClr val="000000"/>
                </a:solidFill>
                <a:latin typeface="Cascadia Mono" panose="020B0609020000020004" pitchFamily="49" charset="0"/>
              </a:rPr>
              <a:t>}</a:t>
            </a:r>
            <a:endParaRPr lang="fr-FR" sz="1600" dirty="0"/>
          </a:p>
        </p:txBody>
      </p:sp>
    </p:spTree>
    <p:extLst>
      <p:ext uri="{BB962C8B-B14F-4D97-AF65-F5344CB8AC3E}">
        <p14:creationId xmlns:p14="http://schemas.microsoft.com/office/powerpoint/2010/main" val="381700778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8"/>
          <p:cNvSpPr txBox="1">
            <a:spLocks noChangeArrowheads="1"/>
          </p:cNvSpPr>
          <p:nvPr/>
        </p:nvSpPr>
        <p:spPr bwMode="auto">
          <a:xfrm>
            <a:off x="341765" y="552527"/>
            <a:ext cx="11475048" cy="7540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152400">
              <a:tabLst>
                <a:tab pos="5992813" algn="l"/>
              </a:tabLst>
              <a:defRPr>
                <a:solidFill>
                  <a:schemeClr val="tx1"/>
                </a:solidFill>
                <a:latin typeface="Calibri" panose="020F0502020204030204" pitchFamily="34" charset="0"/>
                <a:cs typeface="Arial" panose="020B0604020202020204" pitchFamily="34" charset="0"/>
              </a:defRPr>
            </a:lvl1pPr>
            <a:lvl2pPr marL="579438" indent="-242888">
              <a:tabLst>
                <a:tab pos="5992813" algn="l"/>
              </a:tabLst>
              <a:defRPr>
                <a:solidFill>
                  <a:schemeClr val="tx1"/>
                </a:solidFill>
                <a:latin typeface="Calibri" panose="020F0502020204030204" pitchFamily="34" charset="0"/>
                <a:cs typeface="Arial" panose="020B0604020202020204" pitchFamily="34" charset="0"/>
              </a:defRPr>
            </a:lvl2pPr>
            <a:lvl3pPr marL="1143000" indent="-228600">
              <a:tabLst>
                <a:tab pos="5992813" algn="l"/>
              </a:tabLst>
              <a:defRPr>
                <a:solidFill>
                  <a:schemeClr val="tx1"/>
                </a:solidFill>
                <a:latin typeface="Calibri" panose="020F0502020204030204" pitchFamily="34" charset="0"/>
                <a:cs typeface="Arial" panose="020B0604020202020204" pitchFamily="34" charset="0"/>
              </a:defRPr>
            </a:lvl3pPr>
            <a:lvl4pPr marL="1600200" indent="-228600">
              <a:tabLst>
                <a:tab pos="5992813" algn="l"/>
              </a:tabLst>
              <a:defRPr>
                <a:solidFill>
                  <a:schemeClr val="tx1"/>
                </a:solidFill>
                <a:latin typeface="Calibri" panose="020F0502020204030204" pitchFamily="34" charset="0"/>
                <a:cs typeface="Arial" panose="020B0604020202020204" pitchFamily="34" charset="0"/>
              </a:defRPr>
            </a:lvl4pPr>
            <a:lvl5pPr marL="2057400" indent="-228600">
              <a:tabLst>
                <a:tab pos="5992813" algn="l"/>
              </a:tabLst>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2200" u="sng" dirty="0" smtClean="0">
                <a:latin typeface="Segoe UI Symbol" panose="020B0502040204020203" pitchFamily="34" charset="0"/>
              </a:rPr>
              <a:t>Les </a:t>
            </a:r>
            <a:r>
              <a:rPr lang="en-US" altLang="en-US" sz="2200" u="sng" dirty="0" err="1" smtClean="0">
                <a:latin typeface="Segoe UI Symbol" panose="020B0502040204020203" pitchFamily="34" charset="0"/>
              </a:rPr>
              <a:t>contrôles</a:t>
            </a:r>
            <a:r>
              <a:rPr lang="en-US" altLang="en-US" sz="2200" u="sng" dirty="0" smtClean="0">
                <a:latin typeface="Segoe UI Symbol" panose="020B0502040204020203" pitchFamily="34" charset="0"/>
              </a:rPr>
              <a:t> </a:t>
            </a:r>
            <a:r>
              <a:rPr lang="en-US" altLang="en-US" sz="2200" u="sng" dirty="0" err="1" smtClean="0">
                <a:latin typeface="Segoe UI Symbol" panose="020B0502040204020203" pitchFamily="34" charset="0"/>
              </a:rPr>
              <a:t>d'entrées</a:t>
            </a:r>
            <a:r>
              <a:rPr lang="fr-FR" altLang="en-US" sz="2200" u="sng" dirty="0" smtClean="0">
                <a:latin typeface="Segoe UI Symbol" panose="020B0502040204020203" pitchFamily="34" charset="0"/>
              </a:rPr>
              <a:t>-Editor</a:t>
            </a:r>
            <a:endParaRPr lang="fr-FR" altLang="en-US" sz="2200" u="sng" dirty="0" smtClean="0">
              <a:latin typeface="Segoe UI Symbol" panose="020B0502040204020203" pitchFamily="34" charset="0"/>
            </a:endParaRPr>
          </a:p>
          <a:p>
            <a:pPr marL="438150" indent="-285750">
              <a:lnSpc>
                <a:spcPct val="150000"/>
              </a:lnSpc>
              <a:buClr>
                <a:srgbClr val="0070C0"/>
              </a:buClr>
              <a:buFont typeface="Wingdings" panose="05000000000000000000" pitchFamily="2" charset="2"/>
              <a:buChar char="§"/>
            </a:pPr>
            <a:r>
              <a:rPr lang="fr-FR" dirty="0" smtClean="0">
                <a:latin typeface="Segoe UI" panose="020B0502040204020203" pitchFamily="34" charset="0"/>
                <a:cs typeface="Segoe UI" panose="020B0502040204020203" pitchFamily="34" charset="0"/>
              </a:rPr>
              <a:t>Le contrôle </a:t>
            </a:r>
            <a:r>
              <a:rPr lang="fr-FR" b="1" dirty="0">
                <a:latin typeface="Segoe UI" panose="020B0502040204020203" pitchFamily="34" charset="0"/>
                <a:cs typeface="Segoe UI" panose="020B0502040204020203" pitchFamily="34" charset="0"/>
              </a:rPr>
              <a:t>Editor</a:t>
            </a:r>
            <a:r>
              <a:rPr lang="fr-FR" dirty="0">
                <a:latin typeface="Segoe UI" panose="020B0502040204020203" pitchFamily="34" charset="0"/>
                <a:cs typeface="Segoe UI" panose="020B0502040204020203" pitchFamily="34" charset="0"/>
              </a:rPr>
              <a:t> </a:t>
            </a:r>
            <a:r>
              <a:rPr lang="fr-FR" dirty="0" smtClean="0">
                <a:latin typeface="Segoe UI" panose="020B0502040204020203" pitchFamily="34" charset="0"/>
                <a:cs typeface="Segoe UI" panose="020B0502040204020203" pitchFamily="34" charset="0"/>
              </a:rPr>
              <a:t> </a:t>
            </a:r>
            <a:r>
              <a:rPr lang="fr-FR" dirty="0">
                <a:latin typeface="Segoe UI" panose="020B0502040204020203" pitchFamily="34" charset="0"/>
                <a:cs typeface="Segoe UI" panose="020B0502040204020203" pitchFamily="34" charset="0"/>
              </a:rPr>
              <a:t>permet d’entrer et de modifier plusieurs lignes de texte</a:t>
            </a:r>
            <a:endParaRPr lang="fr-FR" dirty="0" smtClean="0">
              <a:latin typeface="Segoe UI" panose="020B0502040204020203" pitchFamily="34" charset="0"/>
              <a:cs typeface="Segoe UI" panose="020B0502040204020203" pitchFamily="34" charset="0"/>
            </a:endParaRPr>
          </a:p>
        </p:txBody>
      </p:sp>
      <p:pic>
        <p:nvPicPr>
          <p:cNvPr id="5" name="Image 4"/>
          <p:cNvPicPr>
            <a:picLocks noChangeAspect="1"/>
          </p:cNvPicPr>
          <p:nvPr/>
        </p:nvPicPr>
        <p:blipFill>
          <a:blip r:embed="rId3"/>
          <a:stretch>
            <a:fillRect/>
          </a:stretch>
        </p:blipFill>
        <p:spPr>
          <a:xfrm>
            <a:off x="8901031" y="1306580"/>
            <a:ext cx="2116282" cy="4788906"/>
          </a:xfrm>
          <a:prstGeom prst="rect">
            <a:avLst/>
          </a:prstGeom>
        </p:spPr>
      </p:pic>
      <p:sp>
        <p:nvSpPr>
          <p:cNvPr id="3" name="Rectangle 2"/>
          <p:cNvSpPr/>
          <p:nvPr/>
        </p:nvSpPr>
        <p:spPr>
          <a:xfrm>
            <a:off x="613804" y="1403396"/>
            <a:ext cx="6096000" cy="923330"/>
          </a:xfrm>
          <a:prstGeom prst="rect">
            <a:avLst/>
          </a:prstGeom>
        </p:spPr>
        <p:txBody>
          <a:bodyPr>
            <a:spAutoFit/>
          </a:bodyPr>
          <a:lstStyle/>
          <a:p>
            <a:r>
              <a:rPr lang="en-US" dirty="0">
                <a:solidFill>
                  <a:srgbClr val="000000"/>
                </a:solidFill>
                <a:latin typeface="Cascadia Mono" panose="020B0609020000020004" pitchFamily="49" charset="0"/>
              </a:rPr>
              <a:t> </a:t>
            </a:r>
            <a:r>
              <a:rPr lang="en-US" dirty="0">
                <a:solidFill>
                  <a:srgbClr val="0000FF"/>
                </a:solidFill>
                <a:latin typeface="Cascadia Mono" panose="020B0609020000020004" pitchFamily="49" charset="0"/>
              </a:rPr>
              <a:t>&lt;</a:t>
            </a:r>
            <a:r>
              <a:rPr lang="en-US" dirty="0">
                <a:solidFill>
                  <a:srgbClr val="A31515"/>
                </a:solidFill>
                <a:latin typeface="Cascadia Mono" panose="020B0609020000020004" pitchFamily="49" charset="0"/>
              </a:rPr>
              <a:t>Editor</a:t>
            </a:r>
            <a:r>
              <a:rPr lang="en-US" dirty="0">
                <a:solidFill>
                  <a:srgbClr val="FF0000"/>
                </a:solidFill>
                <a:latin typeface="Cascadia Mono" panose="020B0609020000020004" pitchFamily="49" charset="0"/>
              </a:rPr>
              <a:t> Margin</a:t>
            </a:r>
            <a:r>
              <a:rPr lang="en-US" dirty="0">
                <a:solidFill>
                  <a:srgbClr val="0000FF"/>
                </a:solidFill>
                <a:latin typeface="Cascadia Mono" panose="020B0609020000020004" pitchFamily="49" charset="0"/>
              </a:rPr>
              <a:t>="0.20"</a:t>
            </a:r>
            <a:r>
              <a:rPr lang="en-US" dirty="0">
                <a:solidFill>
                  <a:srgbClr val="000000"/>
                </a:solidFill>
                <a:latin typeface="Cascadia Mono" panose="020B0609020000020004" pitchFamily="49" charset="0"/>
              </a:rPr>
              <a:t> </a:t>
            </a:r>
          </a:p>
          <a:p>
            <a:r>
              <a:rPr lang="en-US" dirty="0">
                <a:solidFill>
                  <a:srgbClr val="000000"/>
                </a:solidFill>
                <a:latin typeface="Cascadia Mono" panose="020B0609020000020004" pitchFamily="49" charset="0"/>
              </a:rPr>
              <a:t>        </a:t>
            </a:r>
            <a:r>
              <a:rPr lang="en-US" dirty="0">
                <a:solidFill>
                  <a:srgbClr val="FF0000"/>
                </a:solidFill>
                <a:latin typeface="Cascadia Mono" panose="020B0609020000020004" pitchFamily="49" charset="0"/>
              </a:rPr>
              <a:t> </a:t>
            </a:r>
            <a:r>
              <a:rPr lang="en-US" dirty="0" err="1">
                <a:solidFill>
                  <a:srgbClr val="FF0000"/>
                </a:solidFill>
                <a:effectLst>
                  <a:outerShdw blurRad="38100" dist="38100" dir="2700000" algn="tl">
                    <a:srgbClr val="000000">
                      <a:alpha val="43137"/>
                    </a:srgbClr>
                  </a:outerShdw>
                </a:effectLst>
                <a:latin typeface="Cascadia Mono" panose="020B0609020000020004" pitchFamily="49" charset="0"/>
              </a:rPr>
              <a:t>AutoSize</a:t>
            </a:r>
            <a:r>
              <a:rPr lang="en-US" dirty="0">
                <a:solidFill>
                  <a:srgbClr val="0000FF"/>
                </a:solidFill>
                <a:effectLst>
                  <a:outerShdw blurRad="38100" dist="38100" dir="2700000" algn="tl">
                    <a:srgbClr val="000000">
                      <a:alpha val="43137"/>
                    </a:srgbClr>
                  </a:outerShdw>
                </a:effectLst>
                <a:latin typeface="Cascadia Mono" panose="020B0609020000020004" pitchFamily="49" charset="0"/>
              </a:rPr>
              <a:t>="</a:t>
            </a:r>
            <a:r>
              <a:rPr lang="en-US" dirty="0" err="1">
                <a:solidFill>
                  <a:srgbClr val="0000FF"/>
                </a:solidFill>
                <a:effectLst>
                  <a:outerShdw blurRad="38100" dist="38100" dir="2700000" algn="tl">
                    <a:srgbClr val="000000">
                      <a:alpha val="43137"/>
                    </a:srgbClr>
                  </a:outerShdw>
                </a:effectLst>
                <a:latin typeface="Cascadia Mono" panose="020B0609020000020004" pitchFamily="49" charset="0"/>
              </a:rPr>
              <a:t>TextChanges</a:t>
            </a:r>
            <a:r>
              <a:rPr lang="en-US" dirty="0">
                <a:solidFill>
                  <a:srgbClr val="0000FF"/>
                </a:solidFill>
                <a:effectLst>
                  <a:outerShdw blurRad="38100" dist="38100" dir="2700000" algn="tl">
                    <a:srgbClr val="000000">
                      <a:alpha val="43137"/>
                    </a:srgbClr>
                  </a:outerShdw>
                </a:effectLst>
                <a:latin typeface="Cascadia Mono" panose="020B0609020000020004" pitchFamily="49" charset="0"/>
              </a:rPr>
              <a:t>"</a:t>
            </a:r>
          </a:p>
          <a:p>
            <a:r>
              <a:rPr lang="en-US" dirty="0">
                <a:solidFill>
                  <a:srgbClr val="000000"/>
                </a:solidFill>
                <a:latin typeface="Cascadia Mono" panose="020B0609020000020004" pitchFamily="49" charset="0"/>
              </a:rPr>
              <a:t>        </a:t>
            </a:r>
            <a:r>
              <a:rPr lang="en-US" dirty="0">
                <a:solidFill>
                  <a:srgbClr val="FF0000"/>
                </a:solidFill>
                <a:latin typeface="Cascadia Mono" panose="020B0609020000020004" pitchFamily="49" charset="0"/>
              </a:rPr>
              <a:t> Background</a:t>
            </a:r>
            <a:r>
              <a:rPr lang="en-US" dirty="0">
                <a:solidFill>
                  <a:srgbClr val="0000FF"/>
                </a:solidFill>
                <a:latin typeface="Cascadia Mono" panose="020B0609020000020004" pitchFamily="49" charset="0"/>
              </a:rPr>
              <a:t>="Wheat"/&gt;</a:t>
            </a:r>
            <a:endParaRPr lang="en-US" dirty="0"/>
          </a:p>
        </p:txBody>
      </p:sp>
      <p:sp>
        <p:nvSpPr>
          <p:cNvPr id="6" name="Rectangle 1"/>
          <p:cNvSpPr>
            <a:spLocks noChangeArrowheads="1"/>
          </p:cNvSpPr>
          <p:nvPr/>
        </p:nvSpPr>
        <p:spPr bwMode="auto">
          <a:xfrm>
            <a:off x="406706" y="2695723"/>
            <a:ext cx="7795724"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
                <a:srgbClr val="0070C0"/>
              </a:buClr>
              <a:buSzTx/>
              <a:buFont typeface="Wingdings" panose="05000000000000000000" pitchFamily="2" charset="2"/>
              <a:buChar char="§"/>
              <a:tabLst/>
            </a:pPr>
            <a:r>
              <a:rPr kumimoji="0" lang="fr-FR" altLang="en-US" b="1" i="0" u="none" strike="noStrike" cap="none" normalizeH="0" baseline="0" dirty="0" err="1" smtClean="0">
                <a:ln>
                  <a:noFill/>
                </a:ln>
                <a:solidFill>
                  <a:schemeClr val="tx1"/>
                </a:solidFill>
                <a:effectLst/>
                <a:latin typeface="Segoe UI "/>
              </a:rPr>
              <a:t>AutoSize</a:t>
            </a:r>
            <a:r>
              <a:rPr kumimoji="0" lang="fr-FR" altLang="en-US" b="0" i="0" u="none" strike="noStrike" cap="none" normalizeH="0" baseline="0" dirty="0" smtClean="0">
                <a:ln>
                  <a:noFill/>
                </a:ln>
                <a:solidFill>
                  <a:schemeClr val="tx1"/>
                </a:solidFill>
                <a:effectLst/>
                <a:latin typeface="Segoe UI "/>
              </a:rPr>
              <a:t> est une propriété spécifique à </a:t>
            </a:r>
            <a:r>
              <a:rPr kumimoji="0" lang="fr-FR" altLang="en-US" b="1" i="0" u="none" strike="noStrike" cap="none" normalizeH="0" baseline="0" dirty="0" smtClean="0">
                <a:ln>
                  <a:noFill/>
                </a:ln>
                <a:solidFill>
                  <a:schemeClr val="tx1"/>
                </a:solidFill>
                <a:effectLst/>
                <a:latin typeface="Segoe UI "/>
              </a:rPr>
              <a:t>Editor</a:t>
            </a:r>
            <a:r>
              <a:rPr kumimoji="0" lang="fr-FR" altLang="en-US" b="0" i="0" u="none" strike="noStrike" cap="none" normalizeH="0" baseline="0" dirty="0" smtClean="0">
                <a:ln>
                  <a:noFill/>
                </a:ln>
                <a:solidFill>
                  <a:schemeClr val="tx1"/>
                </a:solidFill>
                <a:effectLst/>
                <a:latin typeface="Segoe UI "/>
              </a:rPr>
              <a:t> (le contrôle multi-lignes).</a:t>
            </a:r>
          </a:p>
          <a:p>
            <a:pPr marR="0" lvl="0" algn="l" defTabSz="914400" rtl="0" eaLnBrk="0" fontAlgn="base" latinLnBrk="0" hangingPunct="0">
              <a:lnSpc>
                <a:spcPct val="100000"/>
              </a:lnSpc>
              <a:spcBef>
                <a:spcPct val="0"/>
              </a:spcBef>
              <a:spcAft>
                <a:spcPct val="0"/>
              </a:spcAft>
              <a:buClr>
                <a:srgbClr val="0070C0"/>
              </a:buClr>
              <a:buSzTx/>
              <a:tabLst/>
            </a:pPr>
            <a:r>
              <a:rPr kumimoji="0" lang="fr-FR" altLang="en-US" b="0" i="0" u="none" strike="noStrike" cap="none" normalizeH="0" baseline="0" dirty="0" smtClean="0">
                <a:ln>
                  <a:noFill/>
                </a:ln>
                <a:solidFill>
                  <a:schemeClr val="tx1"/>
                </a:solidFill>
                <a:effectLst/>
                <a:latin typeface="Segoe UI "/>
              </a:rPr>
              <a:t>    Elle permet de </a:t>
            </a:r>
            <a:r>
              <a:rPr kumimoji="0" lang="fr-FR" altLang="en-US" b="1" i="0" u="none" strike="noStrike" cap="none" normalizeH="0" baseline="0" dirty="0" smtClean="0">
                <a:ln>
                  <a:noFill/>
                </a:ln>
                <a:solidFill>
                  <a:schemeClr val="tx1"/>
                </a:solidFill>
                <a:effectLst/>
                <a:latin typeface="Segoe UI "/>
              </a:rPr>
              <a:t>contrôler automatiquement la hauteur</a:t>
            </a:r>
            <a:r>
              <a:rPr kumimoji="0" lang="fr-FR" altLang="en-US" b="0" i="0" u="none" strike="noStrike" cap="none" normalizeH="0" baseline="0" dirty="0" smtClean="0">
                <a:ln>
                  <a:noFill/>
                </a:ln>
                <a:solidFill>
                  <a:schemeClr val="tx1"/>
                </a:solidFill>
                <a:effectLst/>
                <a:latin typeface="Segoe UI "/>
              </a:rPr>
              <a:t> de l'éditeur </a:t>
            </a:r>
          </a:p>
          <a:p>
            <a:pPr marR="0" lvl="0" algn="l" defTabSz="914400" rtl="0" eaLnBrk="0" fontAlgn="base" latinLnBrk="0" hangingPunct="0">
              <a:lnSpc>
                <a:spcPct val="100000"/>
              </a:lnSpc>
              <a:spcBef>
                <a:spcPct val="0"/>
              </a:spcBef>
              <a:spcAft>
                <a:spcPct val="0"/>
              </a:spcAft>
              <a:buClr>
                <a:srgbClr val="0070C0"/>
              </a:buClr>
              <a:buSzTx/>
              <a:tabLst/>
            </a:pPr>
            <a:r>
              <a:rPr kumimoji="0" lang="fr-FR" altLang="en-US" b="0" i="0" u="none" strike="noStrike" cap="none" normalizeH="0" baseline="0" dirty="0" smtClean="0">
                <a:ln>
                  <a:noFill/>
                </a:ln>
                <a:solidFill>
                  <a:schemeClr val="tx1"/>
                </a:solidFill>
                <a:effectLst/>
                <a:latin typeface="Segoe UI "/>
              </a:rPr>
              <a:t>    en fonction du texte tapé.</a:t>
            </a:r>
          </a:p>
        </p:txBody>
      </p:sp>
    </p:spTree>
    <p:extLst>
      <p:ext uri="{BB962C8B-B14F-4D97-AF65-F5344CB8AC3E}">
        <p14:creationId xmlns:p14="http://schemas.microsoft.com/office/powerpoint/2010/main" val="60269993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8"/>
          <p:cNvSpPr txBox="1">
            <a:spLocks noChangeArrowheads="1"/>
          </p:cNvSpPr>
          <p:nvPr/>
        </p:nvSpPr>
        <p:spPr bwMode="auto">
          <a:xfrm>
            <a:off x="341765" y="552527"/>
            <a:ext cx="11475048" cy="36625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152400">
              <a:tabLst>
                <a:tab pos="5992813" algn="l"/>
              </a:tabLst>
              <a:defRPr>
                <a:solidFill>
                  <a:schemeClr val="tx1"/>
                </a:solidFill>
                <a:latin typeface="Calibri" panose="020F0502020204030204" pitchFamily="34" charset="0"/>
                <a:cs typeface="Arial" panose="020B0604020202020204" pitchFamily="34" charset="0"/>
              </a:defRPr>
            </a:lvl1pPr>
            <a:lvl2pPr marL="579438" indent="-242888">
              <a:tabLst>
                <a:tab pos="5992813" algn="l"/>
              </a:tabLst>
              <a:defRPr>
                <a:solidFill>
                  <a:schemeClr val="tx1"/>
                </a:solidFill>
                <a:latin typeface="Calibri" panose="020F0502020204030204" pitchFamily="34" charset="0"/>
                <a:cs typeface="Arial" panose="020B0604020202020204" pitchFamily="34" charset="0"/>
              </a:defRPr>
            </a:lvl2pPr>
            <a:lvl3pPr marL="1143000" indent="-228600">
              <a:tabLst>
                <a:tab pos="5992813" algn="l"/>
              </a:tabLst>
              <a:defRPr>
                <a:solidFill>
                  <a:schemeClr val="tx1"/>
                </a:solidFill>
                <a:latin typeface="Calibri" panose="020F0502020204030204" pitchFamily="34" charset="0"/>
                <a:cs typeface="Arial" panose="020B0604020202020204" pitchFamily="34" charset="0"/>
              </a:defRPr>
            </a:lvl3pPr>
            <a:lvl4pPr marL="1600200" indent="-228600">
              <a:tabLst>
                <a:tab pos="5992813" algn="l"/>
              </a:tabLst>
              <a:defRPr>
                <a:solidFill>
                  <a:schemeClr val="tx1"/>
                </a:solidFill>
                <a:latin typeface="Calibri" panose="020F0502020204030204" pitchFamily="34" charset="0"/>
                <a:cs typeface="Arial" panose="020B0604020202020204" pitchFamily="34" charset="0"/>
              </a:defRPr>
            </a:lvl4pPr>
            <a:lvl5pPr marL="2057400" indent="-228600">
              <a:tabLst>
                <a:tab pos="5992813" algn="l"/>
              </a:tabLst>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2200" u="sng" dirty="0" smtClean="0">
                <a:latin typeface="Segoe UI Symbol" panose="020B0502040204020203" pitchFamily="34" charset="0"/>
              </a:rPr>
              <a:t>Les </a:t>
            </a:r>
            <a:r>
              <a:rPr lang="en-US" altLang="en-US" sz="2200" u="sng" dirty="0" err="1" smtClean="0">
                <a:latin typeface="Segoe UI Symbol" panose="020B0502040204020203" pitchFamily="34" charset="0"/>
              </a:rPr>
              <a:t>contrôles</a:t>
            </a:r>
            <a:r>
              <a:rPr lang="en-US" altLang="en-US" sz="2200" u="sng" dirty="0" smtClean="0">
                <a:latin typeface="Segoe UI Symbol" panose="020B0502040204020203" pitchFamily="34" charset="0"/>
              </a:rPr>
              <a:t> </a:t>
            </a:r>
            <a:r>
              <a:rPr lang="en-US" altLang="en-US" sz="2200" u="sng" dirty="0" err="1" smtClean="0">
                <a:latin typeface="Segoe UI Symbol" panose="020B0502040204020203" pitchFamily="34" charset="0"/>
              </a:rPr>
              <a:t>d'entrées</a:t>
            </a:r>
            <a:r>
              <a:rPr lang="fr-FR" altLang="en-US" sz="2200" u="sng" dirty="0" smtClean="0">
                <a:latin typeface="Segoe UI Symbol" panose="020B0502040204020203" pitchFamily="34" charset="0"/>
              </a:rPr>
              <a:t>-</a:t>
            </a:r>
            <a:r>
              <a:rPr lang="fr-FR" altLang="en-US" sz="2200" u="sng" dirty="0" err="1" smtClean="0">
                <a:latin typeface="Segoe UI Symbol" panose="020B0502040204020203" pitchFamily="34" charset="0"/>
              </a:rPr>
              <a:t>CheckBox</a:t>
            </a:r>
            <a:endParaRPr lang="fr-FR" altLang="en-US" sz="2200" u="sng" dirty="0" smtClean="0">
              <a:latin typeface="Segoe UI Symbol" panose="020B0502040204020203" pitchFamily="34" charset="0"/>
            </a:endParaRPr>
          </a:p>
          <a:p>
            <a:pPr marL="438150" indent="-285750">
              <a:lnSpc>
                <a:spcPct val="150000"/>
              </a:lnSpc>
              <a:buFont typeface="Wingdings" panose="05000000000000000000" pitchFamily="2" charset="2"/>
              <a:buChar char="§"/>
            </a:pPr>
            <a:r>
              <a:rPr lang="fr-FR" dirty="0" smtClean="0">
                <a:latin typeface="Segoe UI" panose="020B0502040204020203" pitchFamily="34" charset="0"/>
                <a:cs typeface="Segoe UI" panose="020B0502040204020203" pitchFamily="34" charset="0"/>
              </a:rPr>
              <a:t>Le contrôle </a:t>
            </a:r>
            <a:r>
              <a:rPr lang="fr-FR" b="1" dirty="0" err="1" smtClean="0">
                <a:latin typeface="Segoe UI" panose="020B0502040204020203" pitchFamily="34" charset="0"/>
                <a:cs typeface="Segoe UI" panose="020B0502040204020203" pitchFamily="34" charset="0"/>
              </a:rPr>
              <a:t>CheckBox</a:t>
            </a:r>
            <a:r>
              <a:rPr lang="fr-FR" b="1" dirty="0" smtClean="0">
                <a:latin typeface="Segoe UI" panose="020B0502040204020203" pitchFamily="34" charset="0"/>
                <a:cs typeface="Segoe UI" panose="020B0502040204020203" pitchFamily="34" charset="0"/>
              </a:rPr>
              <a:t> </a:t>
            </a:r>
            <a:r>
              <a:rPr lang="fr-FR" dirty="0">
                <a:latin typeface="Segoe UI" panose="020B0502040204020203" pitchFamily="34" charset="0"/>
                <a:cs typeface="Segoe UI" panose="020B0502040204020203" pitchFamily="34" charset="0"/>
              </a:rPr>
              <a:t>est un type de bouton qui peut être coché ou vide. Lorsqu'une case est cochée, elle est considérée comme activée. Lorsqu'une case à cocher est vide, elle est considérée comme </a:t>
            </a:r>
            <a:r>
              <a:rPr lang="fr-FR" dirty="0" smtClean="0">
                <a:latin typeface="Segoe UI" panose="020B0502040204020203" pitchFamily="34" charset="0"/>
                <a:cs typeface="Segoe UI" panose="020B0502040204020203" pitchFamily="34" charset="0"/>
              </a:rPr>
              <a:t>désactivée</a:t>
            </a:r>
          </a:p>
          <a:p>
            <a:pPr>
              <a:lnSpc>
                <a:spcPct val="150000"/>
              </a:lnSpc>
            </a:pPr>
            <a:endParaRPr lang="fr-FR" b="1" dirty="0" smtClean="0">
              <a:latin typeface="Segoe UI" panose="020B0502040204020203" pitchFamily="34" charset="0"/>
              <a:cs typeface="Segoe UI" panose="020B0502040204020203" pitchFamily="34" charset="0"/>
            </a:endParaRPr>
          </a:p>
          <a:p>
            <a:pPr marL="438150" indent="-285750">
              <a:lnSpc>
                <a:spcPct val="150000"/>
              </a:lnSpc>
              <a:buFont typeface="Wingdings" panose="05000000000000000000" pitchFamily="2" charset="2"/>
              <a:buChar char="§"/>
            </a:pPr>
            <a:r>
              <a:rPr lang="fr-FR" dirty="0" smtClean="0">
                <a:latin typeface="Segoe UI" panose="020B0502040204020203" pitchFamily="34" charset="0"/>
                <a:cs typeface="Segoe UI" panose="020B0502040204020203" pitchFamily="34" charset="0"/>
              </a:rPr>
              <a:t>Le</a:t>
            </a:r>
            <a:r>
              <a:rPr lang="fr-FR" b="1" dirty="0" smtClean="0">
                <a:latin typeface="Segoe UI" panose="020B0502040204020203" pitchFamily="34" charset="0"/>
                <a:cs typeface="Segoe UI" panose="020B0502040204020203" pitchFamily="34" charset="0"/>
              </a:rPr>
              <a:t>  </a:t>
            </a:r>
            <a:r>
              <a:rPr lang="fr-FR" b="1" dirty="0" err="1">
                <a:latin typeface="Segoe UI" panose="020B0502040204020203" pitchFamily="34" charset="0"/>
                <a:cs typeface="Segoe UI" panose="020B0502040204020203" pitchFamily="34" charset="0"/>
              </a:rPr>
              <a:t>CheckBox</a:t>
            </a:r>
            <a:r>
              <a:rPr lang="fr-FR" dirty="0">
                <a:latin typeface="Segoe UI" panose="020B0502040204020203" pitchFamily="34" charset="0"/>
                <a:cs typeface="Segoe UI" panose="020B0502040204020203" pitchFamily="34" charset="0"/>
              </a:rPr>
              <a:t> définit </a:t>
            </a:r>
            <a:r>
              <a:rPr lang="fr-FR" dirty="0" smtClean="0">
                <a:latin typeface="Segoe UI" panose="020B0502040204020203" pitchFamily="34" charset="0"/>
                <a:cs typeface="Segoe UI" panose="020B0502040204020203" pitchFamily="34" charset="0"/>
              </a:rPr>
              <a:t>la propriété et l’événement  suivant :</a:t>
            </a:r>
          </a:p>
          <a:p>
            <a:pPr>
              <a:lnSpc>
                <a:spcPct val="150000"/>
              </a:lnSpc>
            </a:pPr>
            <a:endParaRPr lang="fr-FR" dirty="0">
              <a:latin typeface="Segoe UI" panose="020B0502040204020203" pitchFamily="34" charset="0"/>
              <a:cs typeface="Segoe UI" panose="020B0502040204020203" pitchFamily="34" charset="0"/>
            </a:endParaRPr>
          </a:p>
          <a:p>
            <a:pPr marL="1200150" lvl="2" indent="-285750">
              <a:lnSpc>
                <a:spcPct val="150000"/>
              </a:lnSpc>
              <a:buFont typeface="Wingdings" panose="05000000000000000000" pitchFamily="2" charset="2"/>
              <a:buChar char="§"/>
            </a:pPr>
            <a:r>
              <a:rPr lang="fr-FR" b="1" dirty="0" smtClean="0">
                <a:latin typeface="Segoe UI" panose="020B0502040204020203" pitchFamily="34" charset="0"/>
                <a:cs typeface="Segoe UI" panose="020B0502040204020203" pitchFamily="34" charset="0"/>
              </a:rPr>
              <a:t>IsChecked: </a:t>
            </a:r>
            <a:r>
              <a:rPr lang="fr-FR" dirty="0">
                <a:latin typeface="Segoe UI" panose="020B0502040204020203" pitchFamily="34" charset="0"/>
                <a:cs typeface="Segoe UI" panose="020B0502040204020203" pitchFamily="34" charset="0"/>
              </a:rPr>
              <a:t>de type </a:t>
            </a:r>
            <a:r>
              <a:rPr lang="fr-FR" b="1" dirty="0" err="1">
                <a:latin typeface="Segoe UI" panose="020B0502040204020203" pitchFamily="34" charset="0"/>
                <a:cs typeface="Segoe UI" panose="020B0502040204020203" pitchFamily="34" charset="0"/>
              </a:rPr>
              <a:t>bool</a:t>
            </a:r>
            <a:r>
              <a:rPr lang="fr-FR" dirty="0">
                <a:latin typeface="Segoe UI" panose="020B0502040204020203" pitchFamily="34" charset="0"/>
                <a:cs typeface="Segoe UI" panose="020B0502040204020203" pitchFamily="34" charset="0"/>
              </a:rPr>
              <a:t>, qui indique si la </a:t>
            </a:r>
            <a:r>
              <a:rPr lang="fr-FR" b="1" dirty="0" err="1">
                <a:latin typeface="Segoe UI" panose="020B0502040204020203" pitchFamily="34" charset="0"/>
                <a:cs typeface="Segoe UI" panose="020B0502040204020203" pitchFamily="34" charset="0"/>
              </a:rPr>
              <a:t>CheckBox</a:t>
            </a:r>
            <a:r>
              <a:rPr lang="fr-FR" dirty="0">
                <a:latin typeface="Segoe UI" panose="020B0502040204020203" pitchFamily="34" charset="0"/>
                <a:cs typeface="Segoe UI" panose="020B0502040204020203" pitchFamily="34" charset="0"/>
              </a:rPr>
              <a:t> est </a:t>
            </a:r>
            <a:r>
              <a:rPr lang="fr-FR" dirty="0" smtClean="0">
                <a:latin typeface="Segoe UI" panose="020B0502040204020203" pitchFamily="34" charset="0"/>
                <a:cs typeface="Segoe UI" panose="020B0502040204020203" pitchFamily="34" charset="0"/>
              </a:rPr>
              <a:t>cochée</a:t>
            </a:r>
          </a:p>
          <a:p>
            <a:pPr marL="914400" lvl="2" indent="0">
              <a:lnSpc>
                <a:spcPct val="150000"/>
              </a:lnSpc>
            </a:pPr>
            <a:r>
              <a:rPr lang="fr-FR" dirty="0" smtClean="0">
                <a:latin typeface="Segoe UI" panose="020B0502040204020203" pitchFamily="34" charset="0"/>
                <a:cs typeface="Segoe UI" panose="020B0502040204020203" pitchFamily="34" charset="0"/>
              </a:rPr>
              <a:t>. </a:t>
            </a:r>
            <a:r>
              <a:rPr lang="fr-FR" dirty="0">
                <a:latin typeface="Segoe UI" panose="020B0502040204020203" pitchFamily="34" charset="0"/>
                <a:cs typeface="Segoe UI" panose="020B0502040204020203" pitchFamily="34" charset="0"/>
              </a:rPr>
              <a:t>Cette propriété a un mode de liaison par défaut de </a:t>
            </a:r>
            <a:r>
              <a:rPr lang="fr-FR" b="1" dirty="0" err="1">
                <a:latin typeface="Segoe UI" panose="020B0502040204020203" pitchFamily="34" charset="0"/>
                <a:cs typeface="Segoe UI" panose="020B0502040204020203" pitchFamily="34" charset="0"/>
              </a:rPr>
              <a:t>TwoWay</a:t>
            </a:r>
            <a:r>
              <a:rPr lang="fr-FR" dirty="0" smtClean="0">
                <a:latin typeface="Segoe UI" panose="020B0502040204020203" pitchFamily="34" charset="0"/>
                <a:cs typeface="Segoe UI" panose="020B0502040204020203" pitchFamily="34" charset="0"/>
              </a:rPr>
              <a:t>.</a:t>
            </a:r>
          </a:p>
          <a:p>
            <a:pPr marL="1200150" lvl="2" indent="-285750">
              <a:lnSpc>
                <a:spcPct val="150000"/>
              </a:lnSpc>
              <a:buFont typeface="Wingdings" panose="05000000000000000000" pitchFamily="2" charset="2"/>
              <a:buChar char="§"/>
            </a:pPr>
            <a:r>
              <a:rPr lang="fr-FR" b="1" dirty="0" err="1" smtClean="0">
                <a:latin typeface="Segoe UI" panose="020B0502040204020203" pitchFamily="34" charset="0"/>
                <a:cs typeface="Segoe UI" panose="020B0502040204020203" pitchFamily="34" charset="0"/>
              </a:rPr>
              <a:t>IsCheckedChanged</a:t>
            </a:r>
            <a:r>
              <a:rPr lang="fr-FR" dirty="0" smtClean="0">
                <a:latin typeface="Segoe UI" panose="020B0502040204020203" pitchFamily="34" charset="0"/>
                <a:cs typeface="Segoe UI" panose="020B0502040204020203" pitchFamily="34" charset="0"/>
              </a:rPr>
              <a:t> : Un événement qui se déclenche lors du changement d’état </a:t>
            </a:r>
            <a:endParaRPr lang="fr-FR" dirty="0">
              <a:latin typeface="Segoe UI" panose="020B0502040204020203" pitchFamily="34" charset="0"/>
              <a:cs typeface="Segoe UI" panose="020B0502040204020203" pitchFamily="34" charset="0"/>
            </a:endParaRPr>
          </a:p>
        </p:txBody>
      </p:sp>
      <p:sp>
        <p:nvSpPr>
          <p:cNvPr id="7" name="Rectangle 6"/>
          <p:cNvSpPr/>
          <p:nvPr/>
        </p:nvSpPr>
        <p:spPr>
          <a:xfrm>
            <a:off x="1409700" y="4252089"/>
            <a:ext cx="6096000" cy="1600438"/>
          </a:xfrm>
          <a:prstGeom prst="rect">
            <a:avLst/>
          </a:prstGeom>
        </p:spPr>
        <p:txBody>
          <a:bodyPr>
            <a:spAutoFit/>
          </a:bodyPr>
          <a:lstStyle/>
          <a:p>
            <a:r>
              <a:rPr lang="en-US" sz="1400" dirty="0">
                <a:solidFill>
                  <a:srgbClr val="0000FF"/>
                </a:solidFill>
                <a:latin typeface="Cascadia Mono" panose="020B0609020000020004" pitchFamily="49" charset="0"/>
              </a:rPr>
              <a:t>&lt;</a:t>
            </a:r>
            <a:r>
              <a:rPr lang="en-US" sz="1400" dirty="0" err="1">
                <a:solidFill>
                  <a:srgbClr val="A31515"/>
                </a:solidFill>
                <a:latin typeface="Cascadia Mono" panose="020B0609020000020004" pitchFamily="49" charset="0"/>
              </a:rPr>
              <a:t>VerticalStackLayout</a:t>
            </a:r>
            <a:r>
              <a:rPr lang="en-US" sz="1400" dirty="0">
                <a:solidFill>
                  <a:srgbClr val="FF0000"/>
                </a:solidFill>
                <a:latin typeface="Cascadia Mono" panose="020B0609020000020004" pitchFamily="49" charset="0"/>
              </a:rPr>
              <a:t> Margin</a:t>
            </a:r>
            <a:r>
              <a:rPr lang="en-US" sz="1400" dirty="0">
                <a:solidFill>
                  <a:srgbClr val="0000FF"/>
                </a:solidFill>
                <a:latin typeface="Cascadia Mono" panose="020B0609020000020004" pitchFamily="49" charset="0"/>
              </a:rPr>
              <a:t>="20"</a:t>
            </a:r>
            <a:r>
              <a:rPr lang="en-US" sz="1400" dirty="0">
                <a:solidFill>
                  <a:srgbClr val="FF0000"/>
                </a:solidFill>
                <a:latin typeface="Cascadia Mono" panose="020B0609020000020004" pitchFamily="49" charset="0"/>
              </a:rPr>
              <a:t> Spacing</a:t>
            </a:r>
            <a:r>
              <a:rPr lang="en-US" sz="1400" dirty="0">
                <a:solidFill>
                  <a:srgbClr val="0000FF"/>
                </a:solidFill>
                <a:latin typeface="Cascadia Mono" panose="020B0609020000020004" pitchFamily="49" charset="0"/>
              </a:rPr>
              <a:t>="20"&gt;</a:t>
            </a:r>
            <a:endParaRPr lang="en-US" sz="1400" dirty="0">
              <a:solidFill>
                <a:srgbClr val="000000"/>
              </a:solidFill>
              <a:latin typeface="Cascadia Mono" panose="020B0609020000020004" pitchFamily="49" charset="0"/>
            </a:endParaRPr>
          </a:p>
          <a:p>
            <a:r>
              <a:rPr lang="fr-FR" sz="1400" dirty="0">
                <a:solidFill>
                  <a:srgbClr val="000000"/>
                </a:solidFill>
                <a:latin typeface="Cascadia Mono" panose="020B0609020000020004" pitchFamily="49" charset="0"/>
              </a:rPr>
              <a:t>        </a:t>
            </a:r>
            <a:r>
              <a:rPr lang="fr-FR" sz="1400" dirty="0">
                <a:solidFill>
                  <a:srgbClr val="0000FF"/>
                </a:solidFill>
                <a:latin typeface="Cascadia Mono" panose="020B0609020000020004" pitchFamily="49" charset="0"/>
              </a:rPr>
              <a:t>&lt;</a:t>
            </a:r>
            <a:r>
              <a:rPr lang="fr-FR" sz="1400" dirty="0" err="1">
                <a:solidFill>
                  <a:srgbClr val="A31515"/>
                </a:solidFill>
                <a:latin typeface="Cascadia Mono" panose="020B0609020000020004" pitchFamily="49" charset="0"/>
              </a:rPr>
              <a:t>HorizontalStackLayout</a:t>
            </a:r>
            <a:r>
              <a:rPr lang="fr-FR" sz="1400" dirty="0">
                <a:solidFill>
                  <a:srgbClr val="0000FF"/>
                </a:solidFill>
                <a:latin typeface="Cascadia Mono" panose="020B0609020000020004" pitchFamily="49" charset="0"/>
              </a:rPr>
              <a:t>&gt;</a:t>
            </a:r>
            <a:endParaRPr lang="fr-FR" sz="1400" dirty="0">
              <a:solidFill>
                <a:srgbClr val="000000"/>
              </a:solidFill>
              <a:latin typeface="Cascadia Mono" panose="020B0609020000020004" pitchFamily="49" charset="0"/>
            </a:endParaRPr>
          </a:p>
          <a:p>
            <a:r>
              <a:rPr lang="fr-FR" sz="1400" dirty="0">
                <a:solidFill>
                  <a:srgbClr val="000000"/>
                </a:solidFill>
                <a:latin typeface="Cascadia Mono" panose="020B0609020000020004" pitchFamily="49" charset="0"/>
              </a:rPr>
              <a:t>            </a:t>
            </a:r>
            <a:r>
              <a:rPr lang="fr-FR" sz="1400" dirty="0">
                <a:solidFill>
                  <a:srgbClr val="0000FF"/>
                </a:solidFill>
                <a:latin typeface="Cascadia Mono" panose="020B0609020000020004" pitchFamily="49" charset="0"/>
              </a:rPr>
              <a:t>&lt;</a:t>
            </a:r>
            <a:r>
              <a:rPr lang="fr-FR" sz="1400" dirty="0">
                <a:solidFill>
                  <a:srgbClr val="A31515"/>
                </a:solidFill>
                <a:latin typeface="Cascadia Mono" panose="020B0609020000020004" pitchFamily="49" charset="0"/>
              </a:rPr>
              <a:t>Label</a:t>
            </a:r>
            <a:r>
              <a:rPr lang="fr-FR" sz="1400" dirty="0">
                <a:solidFill>
                  <a:srgbClr val="FF0000"/>
                </a:solidFill>
                <a:latin typeface="Cascadia Mono" panose="020B0609020000020004" pitchFamily="49" charset="0"/>
              </a:rPr>
              <a:t> Text</a:t>
            </a:r>
            <a:r>
              <a:rPr lang="fr-FR" sz="1400" dirty="0">
                <a:solidFill>
                  <a:srgbClr val="0000FF"/>
                </a:solidFill>
                <a:latin typeface="Cascadia Mono" panose="020B0609020000020004" pitchFamily="49" charset="0"/>
              </a:rPr>
              <a:t>="Marié(e)"</a:t>
            </a:r>
            <a:r>
              <a:rPr lang="fr-FR" sz="1400" dirty="0">
                <a:solidFill>
                  <a:srgbClr val="FF0000"/>
                </a:solidFill>
                <a:latin typeface="Cascadia Mono" panose="020B0609020000020004" pitchFamily="49" charset="0"/>
              </a:rPr>
              <a:t> </a:t>
            </a:r>
            <a:r>
              <a:rPr lang="fr-FR" sz="1400" dirty="0" err="1">
                <a:solidFill>
                  <a:srgbClr val="FF0000"/>
                </a:solidFill>
                <a:latin typeface="Cascadia Mono" panose="020B0609020000020004" pitchFamily="49" charset="0"/>
              </a:rPr>
              <a:t>FontSize</a:t>
            </a:r>
            <a:r>
              <a:rPr lang="fr-FR" sz="1400" dirty="0">
                <a:solidFill>
                  <a:srgbClr val="0000FF"/>
                </a:solidFill>
                <a:latin typeface="Cascadia Mono" panose="020B0609020000020004" pitchFamily="49" charset="0"/>
              </a:rPr>
              <a:t>="20"</a:t>
            </a:r>
            <a:endParaRPr lang="fr-FR" sz="1400" dirty="0">
              <a:solidFill>
                <a:srgbClr val="000000"/>
              </a:solidFill>
              <a:latin typeface="Cascadia Mono" panose="020B0609020000020004" pitchFamily="49" charset="0"/>
            </a:endParaRPr>
          </a:p>
          <a:p>
            <a:r>
              <a:rPr lang="fr-FR" sz="1400" dirty="0">
                <a:solidFill>
                  <a:srgbClr val="000000"/>
                </a:solidFill>
                <a:latin typeface="Cascadia Mono" panose="020B0609020000020004" pitchFamily="49" charset="0"/>
              </a:rPr>
              <a:t>                  </a:t>
            </a:r>
            <a:r>
              <a:rPr lang="fr-FR" sz="1400" dirty="0">
                <a:solidFill>
                  <a:srgbClr val="FF0000"/>
                </a:solidFill>
                <a:latin typeface="Cascadia Mono" panose="020B0609020000020004" pitchFamily="49" charset="0"/>
              </a:rPr>
              <a:t> VerticalOptions</a:t>
            </a:r>
            <a:r>
              <a:rPr lang="fr-FR" sz="1400" dirty="0">
                <a:solidFill>
                  <a:srgbClr val="0000FF"/>
                </a:solidFill>
                <a:latin typeface="Cascadia Mono" panose="020B0609020000020004" pitchFamily="49" charset="0"/>
              </a:rPr>
              <a:t>="Center"/&gt;</a:t>
            </a:r>
            <a:endParaRPr lang="fr-FR" sz="1400" dirty="0">
              <a:solidFill>
                <a:srgbClr val="000000"/>
              </a:solidFill>
              <a:latin typeface="Cascadia Mono" panose="020B0609020000020004" pitchFamily="49" charset="0"/>
            </a:endParaRPr>
          </a:p>
          <a:p>
            <a:r>
              <a:rPr lang="fr-FR" sz="1400" dirty="0">
                <a:solidFill>
                  <a:srgbClr val="000000"/>
                </a:solidFill>
                <a:latin typeface="Cascadia Mono" panose="020B0609020000020004" pitchFamily="49" charset="0"/>
              </a:rPr>
              <a:t>            </a:t>
            </a:r>
            <a:r>
              <a:rPr lang="fr-FR" sz="1400" dirty="0">
                <a:solidFill>
                  <a:srgbClr val="0000FF"/>
                </a:solidFill>
                <a:latin typeface="Cascadia Mono" panose="020B0609020000020004" pitchFamily="49" charset="0"/>
              </a:rPr>
              <a:t>&lt;</a:t>
            </a:r>
            <a:r>
              <a:rPr lang="fr-FR" sz="1400" dirty="0" err="1">
                <a:solidFill>
                  <a:srgbClr val="A31515"/>
                </a:solidFill>
                <a:latin typeface="Cascadia Mono" panose="020B0609020000020004" pitchFamily="49" charset="0"/>
              </a:rPr>
              <a:t>CheckBox</a:t>
            </a:r>
            <a:r>
              <a:rPr lang="fr-FR" sz="1400" dirty="0">
                <a:solidFill>
                  <a:srgbClr val="FF0000"/>
                </a:solidFill>
                <a:latin typeface="Cascadia Mono" panose="020B0609020000020004" pitchFamily="49" charset="0"/>
              </a:rPr>
              <a:t> IsChecked</a:t>
            </a:r>
            <a:r>
              <a:rPr lang="fr-FR" sz="1400" dirty="0">
                <a:solidFill>
                  <a:srgbClr val="0000FF"/>
                </a:solidFill>
                <a:latin typeface="Cascadia Mono" panose="020B0609020000020004" pitchFamily="49" charset="0"/>
              </a:rPr>
              <a:t>="False"/&gt;</a:t>
            </a:r>
            <a:endParaRPr lang="fr-FR" sz="1400" dirty="0">
              <a:solidFill>
                <a:srgbClr val="000000"/>
              </a:solidFill>
              <a:latin typeface="Cascadia Mono" panose="020B0609020000020004" pitchFamily="49" charset="0"/>
            </a:endParaRPr>
          </a:p>
          <a:p>
            <a:r>
              <a:rPr lang="fr-FR" sz="1400" dirty="0">
                <a:solidFill>
                  <a:srgbClr val="000000"/>
                </a:solidFill>
                <a:latin typeface="Cascadia Mono" panose="020B0609020000020004" pitchFamily="49" charset="0"/>
              </a:rPr>
              <a:t>        </a:t>
            </a:r>
            <a:r>
              <a:rPr lang="fr-FR" sz="1400" dirty="0">
                <a:solidFill>
                  <a:srgbClr val="0000FF"/>
                </a:solidFill>
                <a:latin typeface="Cascadia Mono" panose="020B0609020000020004" pitchFamily="49" charset="0"/>
              </a:rPr>
              <a:t>&lt;/</a:t>
            </a:r>
            <a:r>
              <a:rPr lang="fr-FR" sz="1400" dirty="0" err="1">
                <a:solidFill>
                  <a:srgbClr val="A31515"/>
                </a:solidFill>
                <a:latin typeface="Cascadia Mono" panose="020B0609020000020004" pitchFamily="49" charset="0"/>
              </a:rPr>
              <a:t>HorizontalStackLayout</a:t>
            </a:r>
            <a:r>
              <a:rPr lang="fr-FR" sz="1400" dirty="0">
                <a:solidFill>
                  <a:srgbClr val="0000FF"/>
                </a:solidFill>
                <a:latin typeface="Cascadia Mono" panose="020B0609020000020004" pitchFamily="49" charset="0"/>
              </a:rPr>
              <a:t>&gt;</a:t>
            </a:r>
            <a:endParaRPr lang="fr-FR" sz="1400" dirty="0">
              <a:solidFill>
                <a:srgbClr val="000000"/>
              </a:solidFill>
              <a:latin typeface="Cascadia Mono" panose="020B0609020000020004" pitchFamily="49" charset="0"/>
            </a:endParaRPr>
          </a:p>
          <a:p>
            <a:r>
              <a:rPr lang="fr-FR" sz="1400" dirty="0">
                <a:solidFill>
                  <a:srgbClr val="000000"/>
                </a:solidFill>
                <a:latin typeface="Cascadia Mono" panose="020B0609020000020004" pitchFamily="49" charset="0"/>
              </a:rPr>
              <a:t>    </a:t>
            </a:r>
            <a:r>
              <a:rPr lang="fr-FR" sz="1400" dirty="0">
                <a:solidFill>
                  <a:srgbClr val="0000FF"/>
                </a:solidFill>
                <a:latin typeface="Cascadia Mono" panose="020B0609020000020004" pitchFamily="49" charset="0"/>
              </a:rPr>
              <a:t>&lt;/</a:t>
            </a:r>
            <a:r>
              <a:rPr lang="fr-FR" sz="1400" dirty="0" err="1">
                <a:solidFill>
                  <a:srgbClr val="A31515"/>
                </a:solidFill>
                <a:latin typeface="Cascadia Mono" panose="020B0609020000020004" pitchFamily="49" charset="0"/>
              </a:rPr>
              <a:t>VerticalStackLayout</a:t>
            </a:r>
            <a:r>
              <a:rPr lang="fr-FR" sz="1400" dirty="0">
                <a:solidFill>
                  <a:srgbClr val="0000FF"/>
                </a:solidFill>
                <a:latin typeface="Cascadia Mono" panose="020B0609020000020004" pitchFamily="49" charset="0"/>
              </a:rPr>
              <a:t>&gt;</a:t>
            </a:r>
            <a:endParaRPr lang="fr-FR" sz="1400" dirty="0"/>
          </a:p>
        </p:txBody>
      </p:sp>
      <p:pic>
        <p:nvPicPr>
          <p:cNvPr id="8" name="Image 7"/>
          <p:cNvPicPr>
            <a:picLocks noChangeAspect="1"/>
          </p:cNvPicPr>
          <p:nvPr/>
        </p:nvPicPr>
        <p:blipFill>
          <a:blip r:embed="rId3"/>
          <a:stretch>
            <a:fillRect/>
          </a:stretch>
        </p:blipFill>
        <p:spPr>
          <a:xfrm>
            <a:off x="8239061" y="4315589"/>
            <a:ext cx="3019489" cy="1754254"/>
          </a:xfrm>
          <a:prstGeom prst="rect">
            <a:avLst/>
          </a:prstGeom>
        </p:spPr>
      </p:pic>
    </p:spTree>
    <p:extLst>
      <p:ext uri="{BB962C8B-B14F-4D97-AF65-F5344CB8AC3E}">
        <p14:creationId xmlns:p14="http://schemas.microsoft.com/office/powerpoint/2010/main" val="345371871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8"/>
          <p:cNvSpPr txBox="1">
            <a:spLocks noChangeArrowheads="1"/>
          </p:cNvSpPr>
          <p:nvPr/>
        </p:nvSpPr>
        <p:spPr bwMode="auto">
          <a:xfrm>
            <a:off x="341765" y="552527"/>
            <a:ext cx="11475048" cy="4955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152400">
              <a:tabLst>
                <a:tab pos="5992813" algn="l"/>
              </a:tabLst>
              <a:defRPr>
                <a:solidFill>
                  <a:schemeClr val="tx1"/>
                </a:solidFill>
                <a:latin typeface="Calibri" panose="020F0502020204030204" pitchFamily="34" charset="0"/>
                <a:cs typeface="Arial" panose="020B0604020202020204" pitchFamily="34" charset="0"/>
              </a:defRPr>
            </a:lvl1pPr>
            <a:lvl2pPr marL="579438" indent="-242888">
              <a:tabLst>
                <a:tab pos="5992813" algn="l"/>
              </a:tabLst>
              <a:defRPr>
                <a:solidFill>
                  <a:schemeClr val="tx1"/>
                </a:solidFill>
                <a:latin typeface="Calibri" panose="020F0502020204030204" pitchFamily="34" charset="0"/>
                <a:cs typeface="Arial" panose="020B0604020202020204" pitchFamily="34" charset="0"/>
              </a:defRPr>
            </a:lvl2pPr>
            <a:lvl3pPr marL="1143000" indent="-228600">
              <a:tabLst>
                <a:tab pos="5992813" algn="l"/>
              </a:tabLst>
              <a:defRPr>
                <a:solidFill>
                  <a:schemeClr val="tx1"/>
                </a:solidFill>
                <a:latin typeface="Calibri" panose="020F0502020204030204" pitchFamily="34" charset="0"/>
                <a:cs typeface="Arial" panose="020B0604020202020204" pitchFamily="34" charset="0"/>
              </a:defRPr>
            </a:lvl3pPr>
            <a:lvl4pPr marL="1600200" indent="-228600">
              <a:tabLst>
                <a:tab pos="5992813" algn="l"/>
              </a:tabLst>
              <a:defRPr>
                <a:solidFill>
                  <a:schemeClr val="tx1"/>
                </a:solidFill>
                <a:latin typeface="Calibri" panose="020F0502020204030204" pitchFamily="34" charset="0"/>
                <a:cs typeface="Arial" panose="020B0604020202020204" pitchFamily="34" charset="0"/>
              </a:defRPr>
            </a:lvl4pPr>
            <a:lvl5pPr marL="2057400" indent="-228600">
              <a:tabLst>
                <a:tab pos="5992813" algn="l"/>
              </a:tabLst>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2200" u="sng" dirty="0" smtClean="0">
                <a:latin typeface="Segoe UI Symbol" panose="020B0502040204020203" pitchFamily="34" charset="0"/>
              </a:rPr>
              <a:t>Les </a:t>
            </a:r>
            <a:r>
              <a:rPr lang="en-US" altLang="en-US" sz="2200" u="sng" dirty="0" err="1" smtClean="0">
                <a:latin typeface="Segoe UI Symbol" panose="020B0502040204020203" pitchFamily="34" charset="0"/>
              </a:rPr>
              <a:t>contrôles</a:t>
            </a:r>
            <a:r>
              <a:rPr lang="en-US" altLang="en-US" sz="2200" u="sng" dirty="0" smtClean="0">
                <a:latin typeface="Segoe UI Symbol" panose="020B0502040204020203" pitchFamily="34" charset="0"/>
              </a:rPr>
              <a:t> </a:t>
            </a:r>
            <a:r>
              <a:rPr lang="en-US" altLang="en-US" sz="2200" u="sng" dirty="0" err="1" smtClean="0">
                <a:latin typeface="Segoe UI Symbol" panose="020B0502040204020203" pitchFamily="34" charset="0"/>
              </a:rPr>
              <a:t>d'entrées</a:t>
            </a:r>
            <a:r>
              <a:rPr lang="fr-FR" altLang="en-US" sz="2200" u="sng" dirty="0" smtClean="0">
                <a:latin typeface="Segoe UI Symbol" panose="020B0502040204020203" pitchFamily="34" charset="0"/>
              </a:rPr>
              <a:t>-</a:t>
            </a:r>
            <a:r>
              <a:rPr lang="fr-FR" altLang="en-US" sz="2200" u="sng" dirty="0" err="1" smtClean="0">
                <a:latin typeface="Segoe UI Symbol" panose="020B0502040204020203" pitchFamily="34" charset="0"/>
              </a:rPr>
              <a:t>DatePicker</a:t>
            </a:r>
            <a:endParaRPr lang="fr-FR" altLang="en-US" sz="2200" u="sng" dirty="0" smtClean="0">
              <a:latin typeface="Segoe UI Symbol" panose="020B0502040204020203" pitchFamily="34" charset="0"/>
            </a:endParaRPr>
          </a:p>
          <a:p>
            <a:pPr marL="438150" indent="-285750">
              <a:lnSpc>
                <a:spcPct val="150000"/>
              </a:lnSpc>
              <a:buFont typeface="Wingdings" panose="05000000000000000000" pitchFamily="2" charset="2"/>
              <a:buChar char="§"/>
            </a:pPr>
            <a:r>
              <a:rPr lang="fr-FR" dirty="0" smtClean="0">
                <a:latin typeface="Segoe UI" panose="020B0502040204020203" pitchFamily="34" charset="0"/>
                <a:cs typeface="Segoe UI" panose="020B0502040204020203" pitchFamily="34" charset="0"/>
              </a:rPr>
              <a:t>Le contrôle </a:t>
            </a:r>
            <a:r>
              <a:rPr lang="fr-FR" b="1" dirty="0" err="1">
                <a:latin typeface="Segoe UI" panose="020B0502040204020203" pitchFamily="34" charset="0"/>
                <a:cs typeface="Segoe UI" panose="020B0502040204020203" pitchFamily="34" charset="0"/>
              </a:rPr>
              <a:t>DatePicker</a:t>
            </a:r>
            <a:r>
              <a:rPr lang="fr-FR" dirty="0">
                <a:latin typeface="Segoe UI" panose="020B0502040204020203" pitchFamily="34" charset="0"/>
                <a:cs typeface="Segoe UI" panose="020B0502040204020203" pitchFamily="34" charset="0"/>
              </a:rPr>
              <a:t> appelle le contrôle sélecteur de date de </a:t>
            </a:r>
            <a:endParaRPr lang="fr-FR" dirty="0" smtClean="0">
              <a:latin typeface="Segoe UI" panose="020B0502040204020203" pitchFamily="34" charset="0"/>
              <a:cs typeface="Segoe UI" panose="020B0502040204020203" pitchFamily="34" charset="0"/>
            </a:endParaRPr>
          </a:p>
          <a:p>
            <a:pPr>
              <a:lnSpc>
                <a:spcPct val="150000"/>
              </a:lnSpc>
            </a:pPr>
            <a:r>
              <a:rPr lang="fr-FR" dirty="0">
                <a:latin typeface="Segoe UI" panose="020B0502040204020203" pitchFamily="34" charset="0"/>
                <a:cs typeface="Segoe UI" panose="020B0502040204020203" pitchFamily="34" charset="0"/>
              </a:rPr>
              <a:t> </a:t>
            </a:r>
            <a:r>
              <a:rPr lang="fr-FR" dirty="0" smtClean="0">
                <a:latin typeface="Segoe UI" panose="020B0502040204020203" pitchFamily="34" charset="0"/>
                <a:cs typeface="Segoe UI" panose="020B0502040204020203" pitchFamily="34" charset="0"/>
              </a:rPr>
              <a:t>    la </a:t>
            </a:r>
            <a:r>
              <a:rPr lang="fr-FR" dirty="0">
                <a:latin typeface="Segoe UI" panose="020B0502040204020203" pitchFamily="34" charset="0"/>
                <a:cs typeface="Segoe UI" panose="020B0502040204020203" pitchFamily="34" charset="0"/>
              </a:rPr>
              <a:t>plateforme </a:t>
            </a:r>
            <a:r>
              <a:rPr lang="fr-FR" dirty="0" smtClean="0">
                <a:latin typeface="Segoe UI" panose="020B0502040204020203" pitchFamily="34" charset="0"/>
                <a:cs typeface="Segoe UI" panose="020B0502040204020203" pitchFamily="34" charset="0"/>
              </a:rPr>
              <a:t>et </a:t>
            </a:r>
            <a:r>
              <a:rPr lang="fr-FR" dirty="0">
                <a:latin typeface="Segoe UI" panose="020B0502040204020203" pitchFamily="34" charset="0"/>
                <a:cs typeface="Segoe UI" panose="020B0502040204020203" pitchFamily="34" charset="0"/>
              </a:rPr>
              <a:t>vous permet de sélectionner une </a:t>
            </a:r>
            <a:r>
              <a:rPr lang="fr-FR" dirty="0" smtClean="0">
                <a:latin typeface="Segoe UI" panose="020B0502040204020203" pitchFamily="34" charset="0"/>
                <a:cs typeface="Segoe UI" panose="020B0502040204020203" pitchFamily="34" charset="0"/>
              </a:rPr>
              <a:t>date, </a:t>
            </a:r>
            <a:r>
              <a:rPr lang="fr-FR" sz="2000" b="1" dirty="0" err="1"/>
              <a:t>DatePicker</a:t>
            </a:r>
            <a:r>
              <a:rPr lang="fr-FR" dirty="0"/>
              <a:t> </a:t>
            </a:r>
            <a:endParaRPr lang="fr-FR" dirty="0" smtClean="0"/>
          </a:p>
          <a:p>
            <a:pPr>
              <a:lnSpc>
                <a:spcPct val="150000"/>
              </a:lnSpc>
            </a:pPr>
            <a:r>
              <a:rPr lang="fr-FR" dirty="0" smtClean="0"/>
              <a:t>      définit huit propriétés parmi les propriétés communes:</a:t>
            </a:r>
          </a:p>
          <a:p>
            <a:pPr>
              <a:lnSpc>
                <a:spcPct val="150000"/>
              </a:lnSpc>
            </a:pPr>
            <a:endParaRPr lang="fr-FR" b="1" dirty="0" smtClean="0">
              <a:latin typeface="Segoe UI" panose="020B0502040204020203" pitchFamily="34" charset="0"/>
              <a:cs typeface="Segoe UI" panose="020B0502040204020203" pitchFamily="34" charset="0"/>
            </a:endParaRPr>
          </a:p>
          <a:p>
            <a:pPr marL="1185862" lvl="2" indent="-285750">
              <a:lnSpc>
                <a:spcPct val="150000"/>
              </a:lnSpc>
              <a:buFont typeface="Wingdings" panose="05000000000000000000" pitchFamily="2" charset="2"/>
              <a:buChar char="§"/>
            </a:pPr>
            <a:r>
              <a:rPr lang="fr-FR" dirty="0">
                <a:latin typeface="Segoe UI" panose="020B0502040204020203" pitchFamily="34" charset="0"/>
                <a:cs typeface="Segoe UI" panose="020B0502040204020203" pitchFamily="34" charset="0"/>
              </a:rPr>
              <a:t>  </a:t>
            </a:r>
            <a:r>
              <a:rPr lang="fr-FR" b="1" dirty="0" smtClean="0">
                <a:latin typeface="Segoe UI" panose="020B0502040204020203" pitchFamily="34" charset="0"/>
                <a:cs typeface="Segoe UI" panose="020B0502040204020203" pitchFamily="34" charset="0"/>
              </a:rPr>
              <a:t>Date: </a:t>
            </a:r>
            <a:r>
              <a:rPr lang="fr-FR" dirty="0">
                <a:latin typeface="Segoe UI" panose="020B0502040204020203" pitchFamily="34" charset="0"/>
                <a:cs typeface="Segoe UI" panose="020B0502040204020203" pitchFamily="34" charset="0"/>
              </a:rPr>
              <a:t>de type DateTime, la date </a:t>
            </a:r>
            <a:r>
              <a:rPr lang="fr-FR" dirty="0" smtClean="0">
                <a:latin typeface="Segoe UI" panose="020B0502040204020203" pitchFamily="34" charset="0"/>
                <a:cs typeface="Segoe UI" panose="020B0502040204020203" pitchFamily="34" charset="0"/>
              </a:rPr>
              <a:t>sélectionnée </a:t>
            </a:r>
          </a:p>
          <a:p>
            <a:pPr marL="900112" lvl="2" indent="0">
              <a:lnSpc>
                <a:spcPct val="150000"/>
              </a:lnSpc>
            </a:pPr>
            <a:r>
              <a:rPr lang="fr-FR" dirty="0">
                <a:latin typeface="Segoe UI" panose="020B0502040204020203" pitchFamily="34" charset="0"/>
                <a:cs typeface="Segoe UI" panose="020B0502040204020203" pitchFamily="34" charset="0"/>
              </a:rPr>
              <a:t> </a:t>
            </a:r>
            <a:r>
              <a:rPr lang="fr-FR" dirty="0" smtClean="0">
                <a:latin typeface="Segoe UI" panose="020B0502040204020203" pitchFamily="34" charset="0"/>
                <a:cs typeface="Segoe UI" panose="020B0502040204020203" pitchFamily="34" charset="0"/>
              </a:rPr>
              <a:t>      correspond </a:t>
            </a:r>
            <a:r>
              <a:rPr lang="fr-FR" dirty="0">
                <a:latin typeface="Segoe UI" panose="020B0502040204020203" pitchFamily="34" charset="0"/>
                <a:cs typeface="Segoe UI" panose="020B0502040204020203" pitchFamily="34" charset="0"/>
              </a:rPr>
              <a:t>par défaut à la valeur </a:t>
            </a:r>
            <a:r>
              <a:rPr lang="fr-FR" b="1" dirty="0" err="1" smtClean="0">
                <a:latin typeface="Segoe UI" panose="020B0502040204020203" pitchFamily="34" charset="0"/>
                <a:cs typeface="Segoe UI" panose="020B0502040204020203" pitchFamily="34" charset="0"/>
              </a:rPr>
              <a:t>DateTime.Today</a:t>
            </a:r>
            <a:endParaRPr lang="fr-FR" b="1" dirty="0" smtClean="0">
              <a:latin typeface="Segoe UI" panose="020B0502040204020203" pitchFamily="34" charset="0"/>
              <a:cs typeface="Segoe UI" panose="020B0502040204020203" pitchFamily="34" charset="0"/>
            </a:endParaRPr>
          </a:p>
          <a:p>
            <a:pPr marL="1185862" lvl="2" indent="-285750">
              <a:lnSpc>
                <a:spcPct val="150000"/>
              </a:lnSpc>
              <a:buFont typeface="Wingdings" panose="05000000000000000000" pitchFamily="2" charset="2"/>
              <a:buChar char="§"/>
            </a:pPr>
            <a:r>
              <a:rPr lang="fr-FR" dirty="0" smtClean="0">
                <a:latin typeface="Segoe UI" panose="020B0502040204020203" pitchFamily="34" charset="0"/>
                <a:cs typeface="Segoe UI" panose="020B0502040204020203" pitchFamily="34" charset="0"/>
              </a:rPr>
              <a:t>  </a:t>
            </a:r>
            <a:r>
              <a:rPr lang="fr-FR" b="1" dirty="0" err="1" smtClean="0">
                <a:latin typeface="Segoe UI" panose="020B0502040204020203" pitchFamily="34" charset="0"/>
                <a:cs typeface="Segoe UI" panose="020B0502040204020203" pitchFamily="34" charset="0"/>
              </a:rPr>
              <a:t>MinimumDate</a:t>
            </a:r>
            <a:r>
              <a:rPr lang="fr-FR" dirty="0" smtClean="0">
                <a:latin typeface="Segoe UI" panose="020B0502040204020203" pitchFamily="34" charset="0"/>
                <a:cs typeface="Segoe UI" panose="020B0502040204020203" pitchFamily="34" charset="0"/>
              </a:rPr>
              <a:t>: </a:t>
            </a:r>
            <a:r>
              <a:rPr lang="fr-FR" dirty="0">
                <a:latin typeface="Segoe UI" panose="020B0502040204020203" pitchFamily="34" charset="0"/>
                <a:cs typeface="Segoe UI" panose="020B0502040204020203" pitchFamily="34" charset="0"/>
              </a:rPr>
              <a:t>de type DateTime, qui correspond </a:t>
            </a:r>
          </a:p>
          <a:p>
            <a:pPr marL="900112" lvl="2" indent="0">
              <a:lnSpc>
                <a:spcPct val="150000"/>
              </a:lnSpc>
            </a:pPr>
            <a:r>
              <a:rPr lang="fr-FR" dirty="0" smtClean="0">
                <a:latin typeface="Segoe UI" panose="020B0502040204020203" pitchFamily="34" charset="0"/>
                <a:cs typeface="Segoe UI" panose="020B0502040204020203" pitchFamily="34" charset="0"/>
              </a:rPr>
              <a:t>        par </a:t>
            </a:r>
            <a:r>
              <a:rPr lang="fr-FR" dirty="0">
                <a:latin typeface="Segoe UI" panose="020B0502040204020203" pitchFamily="34" charset="0"/>
                <a:cs typeface="Segoe UI" panose="020B0502040204020203" pitchFamily="34" charset="0"/>
              </a:rPr>
              <a:t>défaut au premier jour de l’année </a:t>
            </a:r>
            <a:r>
              <a:rPr lang="fr-FR" dirty="0" smtClean="0">
                <a:latin typeface="Segoe UI" panose="020B0502040204020203" pitchFamily="34" charset="0"/>
                <a:cs typeface="Segoe UI" panose="020B0502040204020203" pitchFamily="34" charset="0"/>
              </a:rPr>
              <a:t>1900</a:t>
            </a:r>
          </a:p>
          <a:p>
            <a:pPr marL="1185862" lvl="2" indent="-285750">
              <a:lnSpc>
                <a:spcPct val="150000"/>
              </a:lnSpc>
              <a:buFont typeface="Wingdings" panose="05000000000000000000" pitchFamily="2" charset="2"/>
              <a:buChar char="§"/>
            </a:pPr>
            <a:r>
              <a:rPr lang="fr-FR" b="1" dirty="0" smtClean="0">
                <a:latin typeface="Segoe UI" panose="020B0502040204020203" pitchFamily="34" charset="0"/>
                <a:cs typeface="Segoe UI" panose="020B0502040204020203" pitchFamily="34" charset="0"/>
              </a:rPr>
              <a:t>  </a:t>
            </a:r>
            <a:r>
              <a:rPr lang="fr-FR" b="1" dirty="0" err="1" smtClean="0">
                <a:latin typeface="Segoe UI" panose="020B0502040204020203" pitchFamily="34" charset="0"/>
                <a:cs typeface="Segoe UI" panose="020B0502040204020203" pitchFamily="34" charset="0"/>
              </a:rPr>
              <a:t>MaximumDate</a:t>
            </a:r>
            <a:r>
              <a:rPr lang="fr-FR" b="1" dirty="0" smtClean="0">
                <a:latin typeface="Segoe UI" panose="020B0502040204020203" pitchFamily="34" charset="0"/>
                <a:cs typeface="Segoe UI" panose="020B0502040204020203" pitchFamily="34" charset="0"/>
              </a:rPr>
              <a:t>:</a:t>
            </a:r>
            <a:r>
              <a:rPr lang="fr-FR" dirty="0" smtClean="0">
                <a:latin typeface="Segoe UI" panose="020B0502040204020203" pitchFamily="34" charset="0"/>
                <a:cs typeface="Segoe UI" panose="020B0502040204020203" pitchFamily="34" charset="0"/>
              </a:rPr>
              <a:t> </a:t>
            </a:r>
            <a:r>
              <a:rPr lang="fr-FR" dirty="0">
                <a:latin typeface="Segoe UI" panose="020B0502040204020203" pitchFamily="34" charset="0"/>
                <a:cs typeface="Segoe UI" panose="020B0502040204020203" pitchFamily="34" charset="0"/>
              </a:rPr>
              <a:t>de type DateTime, qui correspond </a:t>
            </a:r>
            <a:endParaRPr lang="fr-FR" dirty="0" smtClean="0">
              <a:latin typeface="Segoe UI" panose="020B0502040204020203" pitchFamily="34" charset="0"/>
              <a:cs typeface="Segoe UI" panose="020B0502040204020203" pitchFamily="34" charset="0"/>
            </a:endParaRPr>
          </a:p>
          <a:p>
            <a:pPr marL="900112" lvl="2" indent="0">
              <a:lnSpc>
                <a:spcPct val="150000"/>
              </a:lnSpc>
            </a:pPr>
            <a:r>
              <a:rPr lang="fr-FR" dirty="0">
                <a:latin typeface="Segoe UI" panose="020B0502040204020203" pitchFamily="34" charset="0"/>
                <a:cs typeface="Segoe UI" panose="020B0502040204020203" pitchFamily="34" charset="0"/>
              </a:rPr>
              <a:t> </a:t>
            </a:r>
            <a:r>
              <a:rPr lang="fr-FR" dirty="0" smtClean="0">
                <a:latin typeface="Segoe UI" panose="020B0502040204020203" pitchFamily="34" charset="0"/>
                <a:cs typeface="Segoe UI" panose="020B0502040204020203" pitchFamily="34" charset="0"/>
              </a:rPr>
              <a:t>       par </a:t>
            </a:r>
            <a:r>
              <a:rPr lang="fr-FR" dirty="0">
                <a:latin typeface="Segoe UI" panose="020B0502040204020203" pitchFamily="34" charset="0"/>
                <a:cs typeface="Segoe UI" panose="020B0502040204020203" pitchFamily="34" charset="0"/>
              </a:rPr>
              <a:t>défaut au dernier jour de l’année </a:t>
            </a:r>
            <a:r>
              <a:rPr lang="fr-FR" dirty="0" smtClean="0">
                <a:latin typeface="Segoe UI" panose="020B0502040204020203" pitchFamily="34" charset="0"/>
                <a:cs typeface="Segoe UI" panose="020B0502040204020203" pitchFamily="34" charset="0"/>
              </a:rPr>
              <a:t>2100</a:t>
            </a:r>
          </a:p>
          <a:p>
            <a:pPr marL="1185862" lvl="2" indent="-285750">
              <a:lnSpc>
                <a:spcPct val="150000"/>
              </a:lnSpc>
              <a:buFont typeface="Wingdings" panose="05000000000000000000" pitchFamily="2" charset="2"/>
              <a:buChar char="§"/>
            </a:pPr>
            <a:r>
              <a:rPr lang="fr-FR" b="1" dirty="0" smtClean="0">
                <a:latin typeface="Segoe UI" panose="020B0502040204020203" pitchFamily="34" charset="0"/>
                <a:cs typeface="Segoe UI" panose="020B0502040204020203" pitchFamily="34" charset="0"/>
              </a:rPr>
              <a:t>  Format:</a:t>
            </a:r>
            <a:r>
              <a:rPr lang="fr-FR" dirty="0" smtClean="0">
                <a:latin typeface="Segoe UI" panose="020B0502040204020203" pitchFamily="34" charset="0"/>
                <a:cs typeface="Segoe UI" panose="020B0502040204020203" pitchFamily="34" charset="0"/>
              </a:rPr>
              <a:t> </a:t>
            </a:r>
            <a:r>
              <a:rPr lang="fr-FR" dirty="0">
                <a:latin typeface="Segoe UI" panose="020B0502040204020203" pitchFamily="34" charset="0"/>
                <a:cs typeface="Segoe UI" panose="020B0502040204020203" pitchFamily="34" charset="0"/>
              </a:rPr>
              <a:t>de type string, </a:t>
            </a:r>
            <a:r>
              <a:rPr lang="fr-FR" dirty="0" smtClean="0">
                <a:latin typeface="Segoe UI" panose="020B0502040204020203" pitchFamily="34" charset="0"/>
                <a:cs typeface="Segoe UI" panose="020B0502040204020203" pitchFamily="34" charset="0"/>
              </a:rPr>
              <a:t>permet la </a:t>
            </a:r>
            <a:r>
              <a:rPr lang="fr-FR" dirty="0">
                <a:latin typeface="Segoe UI" panose="020B0502040204020203" pitchFamily="34" charset="0"/>
                <a:cs typeface="Segoe UI" panose="020B0502040204020203" pitchFamily="34" charset="0"/>
              </a:rPr>
              <a:t>mise en </a:t>
            </a:r>
            <a:r>
              <a:rPr lang="fr-FR" dirty="0" smtClean="0">
                <a:latin typeface="Segoe UI" panose="020B0502040204020203" pitchFamily="34" charset="0"/>
                <a:cs typeface="Segoe UI" panose="020B0502040204020203" pitchFamily="34" charset="0"/>
              </a:rPr>
              <a:t>forme</a:t>
            </a:r>
            <a:endParaRPr lang="fr-FR" dirty="0">
              <a:latin typeface="Segoe UI" panose="020B0502040204020203" pitchFamily="34" charset="0"/>
              <a:cs typeface="Segoe UI" panose="020B0502040204020203" pitchFamily="34" charset="0"/>
            </a:endParaRPr>
          </a:p>
        </p:txBody>
      </p:sp>
      <p:pic>
        <p:nvPicPr>
          <p:cNvPr id="3" name="Image 2"/>
          <p:cNvPicPr>
            <a:picLocks noChangeAspect="1"/>
          </p:cNvPicPr>
          <p:nvPr/>
        </p:nvPicPr>
        <p:blipFill>
          <a:blip r:embed="rId3"/>
          <a:stretch>
            <a:fillRect/>
          </a:stretch>
        </p:blipFill>
        <p:spPr>
          <a:xfrm>
            <a:off x="8837592" y="831849"/>
            <a:ext cx="2303546" cy="5277215"/>
          </a:xfrm>
          <a:prstGeom prst="rect">
            <a:avLst/>
          </a:prstGeom>
        </p:spPr>
      </p:pic>
    </p:spTree>
    <p:extLst>
      <p:ext uri="{BB962C8B-B14F-4D97-AF65-F5344CB8AC3E}">
        <p14:creationId xmlns:p14="http://schemas.microsoft.com/office/powerpoint/2010/main" val="406248021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8"/>
          <p:cNvSpPr txBox="1">
            <a:spLocks noChangeArrowheads="1"/>
          </p:cNvSpPr>
          <p:nvPr/>
        </p:nvSpPr>
        <p:spPr bwMode="auto">
          <a:xfrm>
            <a:off x="341765" y="552527"/>
            <a:ext cx="11475048" cy="7540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152400">
              <a:tabLst>
                <a:tab pos="5992813" algn="l"/>
              </a:tabLst>
              <a:defRPr>
                <a:solidFill>
                  <a:schemeClr val="tx1"/>
                </a:solidFill>
                <a:latin typeface="Calibri" panose="020F0502020204030204" pitchFamily="34" charset="0"/>
                <a:cs typeface="Arial" panose="020B0604020202020204" pitchFamily="34" charset="0"/>
              </a:defRPr>
            </a:lvl1pPr>
            <a:lvl2pPr marL="579438" indent="-242888">
              <a:tabLst>
                <a:tab pos="5992813" algn="l"/>
              </a:tabLst>
              <a:defRPr>
                <a:solidFill>
                  <a:schemeClr val="tx1"/>
                </a:solidFill>
                <a:latin typeface="Calibri" panose="020F0502020204030204" pitchFamily="34" charset="0"/>
                <a:cs typeface="Arial" panose="020B0604020202020204" pitchFamily="34" charset="0"/>
              </a:defRPr>
            </a:lvl2pPr>
            <a:lvl3pPr marL="1143000" indent="-228600">
              <a:tabLst>
                <a:tab pos="5992813" algn="l"/>
              </a:tabLst>
              <a:defRPr>
                <a:solidFill>
                  <a:schemeClr val="tx1"/>
                </a:solidFill>
                <a:latin typeface="Calibri" panose="020F0502020204030204" pitchFamily="34" charset="0"/>
                <a:cs typeface="Arial" panose="020B0604020202020204" pitchFamily="34" charset="0"/>
              </a:defRPr>
            </a:lvl3pPr>
            <a:lvl4pPr marL="1600200" indent="-228600">
              <a:tabLst>
                <a:tab pos="5992813" algn="l"/>
              </a:tabLst>
              <a:defRPr>
                <a:solidFill>
                  <a:schemeClr val="tx1"/>
                </a:solidFill>
                <a:latin typeface="Calibri" panose="020F0502020204030204" pitchFamily="34" charset="0"/>
                <a:cs typeface="Arial" panose="020B0604020202020204" pitchFamily="34" charset="0"/>
              </a:defRPr>
            </a:lvl4pPr>
            <a:lvl5pPr marL="2057400" indent="-228600">
              <a:tabLst>
                <a:tab pos="5992813" algn="l"/>
              </a:tabLst>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2200" u="sng" dirty="0" smtClean="0">
                <a:latin typeface="Segoe UI Symbol" panose="020B0502040204020203" pitchFamily="34" charset="0"/>
              </a:rPr>
              <a:t>Les </a:t>
            </a:r>
            <a:r>
              <a:rPr lang="en-US" altLang="en-US" sz="2200" u="sng" dirty="0" err="1" smtClean="0">
                <a:latin typeface="Segoe UI Symbol" panose="020B0502040204020203" pitchFamily="34" charset="0"/>
              </a:rPr>
              <a:t>contrôles</a:t>
            </a:r>
            <a:r>
              <a:rPr lang="en-US" altLang="en-US" sz="2200" u="sng" dirty="0" smtClean="0">
                <a:latin typeface="Segoe UI Symbol" panose="020B0502040204020203" pitchFamily="34" charset="0"/>
              </a:rPr>
              <a:t> </a:t>
            </a:r>
            <a:r>
              <a:rPr lang="en-US" altLang="en-US" sz="2200" u="sng" dirty="0" err="1" smtClean="0">
                <a:latin typeface="Segoe UI Symbol" panose="020B0502040204020203" pitchFamily="34" charset="0"/>
              </a:rPr>
              <a:t>d'entrées</a:t>
            </a:r>
            <a:r>
              <a:rPr lang="fr-FR" altLang="en-US" sz="2200" u="sng" dirty="0" smtClean="0">
                <a:latin typeface="Segoe UI Symbol" panose="020B0502040204020203" pitchFamily="34" charset="0"/>
              </a:rPr>
              <a:t>-</a:t>
            </a:r>
            <a:r>
              <a:rPr lang="fr-FR" altLang="en-US" sz="2200" u="sng" dirty="0" err="1" smtClean="0">
                <a:latin typeface="Segoe UI Symbol" panose="020B0502040204020203" pitchFamily="34" charset="0"/>
              </a:rPr>
              <a:t>DatePicker</a:t>
            </a:r>
            <a:endParaRPr lang="fr-FR" altLang="en-US" sz="2200" u="sng" dirty="0" smtClean="0">
              <a:latin typeface="Segoe UI Symbol" panose="020B0502040204020203" pitchFamily="34" charset="0"/>
            </a:endParaRPr>
          </a:p>
          <a:p>
            <a:pPr marL="438150" indent="-285750">
              <a:lnSpc>
                <a:spcPct val="150000"/>
              </a:lnSpc>
              <a:buFont typeface="Wingdings" panose="05000000000000000000" pitchFamily="2" charset="2"/>
              <a:buChar char="§"/>
            </a:pPr>
            <a:r>
              <a:rPr lang="fr-FR" dirty="0" smtClean="0">
                <a:latin typeface="Segoe UI" panose="020B0502040204020203" pitchFamily="34" charset="0"/>
                <a:cs typeface="Segoe UI" panose="020B0502040204020203" pitchFamily="34" charset="0"/>
              </a:rPr>
              <a:t>Exemple</a:t>
            </a:r>
            <a:r>
              <a:rPr lang="fr-FR" dirty="0" smtClean="0">
                <a:latin typeface="Segoe UI" panose="020B0502040204020203" pitchFamily="34" charset="0"/>
                <a:cs typeface="Segoe UI" panose="020B0502040204020203" pitchFamily="34" charset="0"/>
              </a:rPr>
              <a:t> </a:t>
            </a:r>
            <a:r>
              <a:rPr lang="fr-FR" b="1" dirty="0" err="1">
                <a:latin typeface="Segoe UI" panose="020B0502040204020203" pitchFamily="34" charset="0"/>
                <a:cs typeface="Segoe UI" panose="020B0502040204020203" pitchFamily="34" charset="0"/>
              </a:rPr>
              <a:t>DatePicker</a:t>
            </a:r>
            <a:r>
              <a:rPr lang="fr-FR" dirty="0">
                <a:latin typeface="Segoe UI" panose="020B0502040204020203" pitchFamily="34" charset="0"/>
                <a:cs typeface="Segoe UI" panose="020B0502040204020203" pitchFamily="34" charset="0"/>
              </a:rPr>
              <a:t> </a:t>
            </a:r>
          </a:p>
        </p:txBody>
      </p:sp>
      <p:pic>
        <p:nvPicPr>
          <p:cNvPr id="3" name="Image 2"/>
          <p:cNvPicPr>
            <a:picLocks noChangeAspect="1"/>
          </p:cNvPicPr>
          <p:nvPr/>
        </p:nvPicPr>
        <p:blipFill>
          <a:blip r:embed="rId3"/>
          <a:stretch>
            <a:fillRect/>
          </a:stretch>
        </p:blipFill>
        <p:spPr>
          <a:xfrm>
            <a:off x="8837592" y="831849"/>
            <a:ext cx="2303546" cy="5277215"/>
          </a:xfrm>
          <a:prstGeom prst="rect">
            <a:avLst/>
          </a:prstGeom>
        </p:spPr>
      </p:pic>
      <p:sp>
        <p:nvSpPr>
          <p:cNvPr id="4" name="Rectangle 3"/>
          <p:cNvSpPr/>
          <p:nvPr/>
        </p:nvSpPr>
        <p:spPr>
          <a:xfrm>
            <a:off x="750277" y="1373668"/>
            <a:ext cx="6096000" cy="1815882"/>
          </a:xfrm>
          <a:prstGeom prst="rect">
            <a:avLst/>
          </a:prstGeom>
        </p:spPr>
        <p:txBody>
          <a:bodyPr>
            <a:spAutoFit/>
          </a:bodyPr>
          <a:lstStyle/>
          <a:p>
            <a:r>
              <a:rPr lang="en-US" sz="1600" dirty="0">
                <a:solidFill>
                  <a:srgbClr val="0000FF"/>
                </a:solidFill>
                <a:latin typeface="Cascadia Mono" panose="020B0609020000020004" pitchFamily="49" charset="0"/>
              </a:rPr>
              <a:t>&lt;</a:t>
            </a:r>
            <a:r>
              <a:rPr lang="en-US" sz="1600" dirty="0" err="1">
                <a:solidFill>
                  <a:srgbClr val="A31515"/>
                </a:solidFill>
                <a:latin typeface="Cascadia Mono" panose="020B0609020000020004" pitchFamily="49" charset="0"/>
              </a:rPr>
              <a:t>VerticalStackLayout</a:t>
            </a:r>
            <a:r>
              <a:rPr lang="en-US" sz="1600" dirty="0">
                <a:solidFill>
                  <a:srgbClr val="FF0000"/>
                </a:solidFill>
                <a:latin typeface="Cascadia Mono" panose="020B0609020000020004" pitchFamily="49" charset="0"/>
              </a:rPr>
              <a:t> Margin</a:t>
            </a:r>
            <a:r>
              <a:rPr lang="en-US" sz="1600" dirty="0">
                <a:solidFill>
                  <a:srgbClr val="0000FF"/>
                </a:solidFill>
                <a:latin typeface="Cascadia Mono" panose="020B0609020000020004" pitchFamily="49" charset="0"/>
              </a:rPr>
              <a:t>="20"</a:t>
            </a:r>
            <a:r>
              <a:rPr lang="en-US" sz="1600" dirty="0">
                <a:solidFill>
                  <a:srgbClr val="FF0000"/>
                </a:solidFill>
                <a:latin typeface="Cascadia Mono" panose="020B0609020000020004" pitchFamily="49" charset="0"/>
              </a:rPr>
              <a:t> Spacing</a:t>
            </a:r>
            <a:r>
              <a:rPr lang="en-US" sz="1600" dirty="0">
                <a:solidFill>
                  <a:srgbClr val="0000FF"/>
                </a:solidFill>
                <a:latin typeface="Cascadia Mono" panose="020B0609020000020004" pitchFamily="49" charset="0"/>
              </a:rPr>
              <a:t>="20"&gt;</a:t>
            </a:r>
          </a:p>
          <a:p>
            <a:r>
              <a:rPr lang="en-US" sz="1600" dirty="0">
                <a:solidFill>
                  <a:srgbClr val="000000"/>
                </a:solidFill>
                <a:latin typeface="Cascadia Mono" panose="020B0609020000020004" pitchFamily="49" charset="0"/>
              </a:rPr>
              <a:t>    </a:t>
            </a:r>
            <a:r>
              <a:rPr lang="en-US" sz="1600" dirty="0">
                <a:solidFill>
                  <a:srgbClr val="0000FF"/>
                </a:solidFill>
                <a:latin typeface="Cascadia Mono" panose="020B0609020000020004" pitchFamily="49" charset="0"/>
              </a:rPr>
              <a:t>&lt;</a:t>
            </a:r>
            <a:r>
              <a:rPr lang="en-US" sz="1600" dirty="0" err="1">
                <a:solidFill>
                  <a:srgbClr val="A31515"/>
                </a:solidFill>
                <a:latin typeface="Cascadia Mono" panose="020B0609020000020004" pitchFamily="49" charset="0"/>
              </a:rPr>
              <a:t>DatePicker</a:t>
            </a:r>
            <a:r>
              <a:rPr lang="en-US" sz="1600" dirty="0">
                <a:solidFill>
                  <a:srgbClr val="FF0000"/>
                </a:solidFill>
                <a:latin typeface="Cascadia Mono" panose="020B0609020000020004" pitchFamily="49" charset="0"/>
              </a:rPr>
              <a:t> </a:t>
            </a:r>
            <a:r>
              <a:rPr lang="en-US" sz="1600" dirty="0" err="1">
                <a:solidFill>
                  <a:srgbClr val="FF0000"/>
                </a:solidFill>
                <a:latin typeface="Cascadia Mono" panose="020B0609020000020004" pitchFamily="49" charset="0"/>
              </a:rPr>
              <a:t>MinimumDate</a:t>
            </a:r>
            <a:r>
              <a:rPr lang="en-US" sz="1600" dirty="0">
                <a:solidFill>
                  <a:srgbClr val="0000FF"/>
                </a:solidFill>
                <a:latin typeface="Cascadia Mono" panose="020B0609020000020004" pitchFamily="49" charset="0"/>
              </a:rPr>
              <a:t>="10/07/2023"</a:t>
            </a:r>
          </a:p>
          <a:p>
            <a:r>
              <a:rPr lang="en-US" sz="1600" dirty="0">
                <a:solidFill>
                  <a:srgbClr val="000000"/>
                </a:solidFill>
                <a:latin typeface="Cascadia Mono" panose="020B0609020000020004" pitchFamily="49" charset="0"/>
              </a:rPr>
              <a:t>           </a:t>
            </a:r>
            <a:r>
              <a:rPr lang="en-US" sz="1600" dirty="0">
                <a:solidFill>
                  <a:srgbClr val="FF0000"/>
                </a:solidFill>
                <a:latin typeface="Cascadia Mono" panose="020B0609020000020004" pitchFamily="49" charset="0"/>
              </a:rPr>
              <a:t> </a:t>
            </a:r>
            <a:r>
              <a:rPr lang="en-US" sz="1600" dirty="0" err="1">
                <a:solidFill>
                  <a:srgbClr val="FF0000"/>
                </a:solidFill>
                <a:latin typeface="Cascadia Mono" panose="020B0609020000020004" pitchFamily="49" charset="0"/>
              </a:rPr>
              <a:t>MaximumDate</a:t>
            </a:r>
            <a:r>
              <a:rPr lang="en-US" sz="1600" dirty="0">
                <a:solidFill>
                  <a:srgbClr val="0000FF"/>
                </a:solidFill>
                <a:latin typeface="Cascadia Mono" panose="020B0609020000020004" pitchFamily="49" charset="0"/>
              </a:rPr>
              <a:t>="10/07/2024"</a:t>
            </a:r>
          </a:p>
          <a:p>
            <a:r>
              <a:rPr lang="en-US" sz="1600" dirty="0">
                <a:solidFill>
                  <a:srgbClr val="000000"/>
                </a:solidFill>
                <a:latin typeface="Cascadia Mono" panose="020B0609020000020004" pitchFamily="49" charset="0"/>
              </a:rPr>
              <a:t>           </a:t>
            </a:r>
            <a:r>
              <a:rPr lang="en-US" sz="1600" dirty="0">
                <a:solidFill>
                  <a:srgbClr val="FF0000"/>
                </a:solidFill>
                <a:latin typeface="Cascadia Mono" panose="020B0609020000020004" pitchFamily="49" charset="0"/>
              </a:rPr>
              <a:t> Format</a:t>
            </a:r>
            <a:r>
              <a:rPr lang="en-US" sz="1600" dirty="0">
                <a:solidFill>
                  <a:srgbClr val="0000FF"/>
                </a:solidFill>
                <a:latin typeface="Cascadia Mono" panose="020B0609020000020004" pitchFamily="49" charset="0"/>
              </a:rPr>
              <a:t>="</a:t>
            </a:r>
            <a:r>
              <a:rPr lang="en-US" sz="1600" dirty="0" err="1" smtClean="0">
                <a:solidFill>
                  <a:srgbClr val="0000FF"/>
                </a:solidFill>
                <a:latin typeface="Cascadia Mono" panose="020B0609020000020004" pitchFamily="49" charset="0"/>
              </a:rPr>
              <a:t>dd</a:t>
            </a:r>
            <a:r>
              <a:rPr lang="en-US" sz="1600" dirty="0" smtClean="0">
                <a:solidFill>
                  <a:srgbClr val="0000FF"/>
                </a:solidFill>
                <a:latin typeface="Cascadia Mono" panose="020B0609020000020004" pitchFamily="49" charset="0"/>
              </a:rPr>
              <a:t>/MM/</a:t>
            </a:r>
            <a:r>
              <a:rPr lang="en-US" sz="1600" dirty="0" err="1" smtClean="0">
                <a:solidFill>
                  <a:srgbClr val="0000FF"/>
                </a:solidFill>
                <a:latin typeface="Cascadia Mono" panose="020B0609020000020004" pitchFamily="49" charset="0"/>
              </a:rPr>
              <a:t>yyyy</a:t>
            </a:r>
            <a:r>
              <a:rPr lang="en-US" sz="1600" dirty="0" smtClean="0">
                <a:solidFill>
                  <a:srgbClr val="0000FF"/>
                </a:solidFill>
                <a:latin typeface="Cascadia Mono" panose="020B0609020000020004" pitchFamily="49" charset="0"/>
              </a:rPr>
              <a:t>"</a:t>
            </a:r>
          </a:p>
          <a:p>
            <a:r>
              <a:rPr lang="en-US" sz="1600" dirty="0" smtClean="0">
                <a:solidFill>
                  <a:srgbClr val="FF0000"/>
                </a:solidFill>
                <a:latin typeface="Cascadia Mono" panose="020B0609020000020004" pitchFamily="49" charset="0"/>
              </a:rPr>
              <a:t>	    </a:t>
            </a:r>
            <a:r>
              <a:rPr lang="en-US" sz="1600" dirty="0" err="1" smtClean="0">
                <a:solidFill>
                  <a:srgbClr val="FF0000"/>
                </a:solidFill>
                <a:latin typeface="Cascadia Mono" panose="020B0609020000020004" pitchFamily="49" charset="0"/>
              </a:rPr>
              <a:t>DateSelected</a:t>
            </a:r>
            <a:r>
              <a:rPr lang="en-US" sz="1600" dirty="0" smtClean="0">
                <a:solidFill>
                  <a:srgbClr val="0000FF"/>
                </a:solidFill>
                <a:latin typeface="Cascadia Mono" panose="020B0609020000020004" pitchFamily="49" charset="0"/>
              </a:rPr>
              <a:t>="</a:t>
            </a:r>
            <a:r>
              <a:rPr lang="en-US" sz="1600" dirty="0" err="1" smtClean="0">
                <a:solidFill>
                  <a:srgbClr val="0000FF"/>
                </a:solidFill>
                <a:latin typeface="Cascadia Mono" panose="020B0609020000020004" pitchFamily="49" charset="0"/>
              </a:rPr>
              <a:t>OnDateSelected</a:t>
            </a:r>
            <a:r>
              <a:rPr lang="en-US" sz="1600" dirty="0" smtClean="0">
                <a:solidFill>
                  <a:srgbClr val="0000FF"/>
                </a:solidFill>
                <a:latin typeface="Cascadia Mono" panose="020B0609020000020004" pitchFamily="49" charset="0"/>
              </a:rPr>
              <a:t>"</a:t>
            </a:r>
          </a:p>
          <a:p>
            <a:r>
              <a:rPr lang="en-US" sz="1600" dirty="0" smtClean="0">
                <a:solidFill>
                  <a:srgbClr val="0000FF"/>
                </a:solidFill>
                <a:latin typeface="Cascadia Mono" panose="020B0609020000020004" pitchFamily="49" charset="0"/>
              </a:rPr>
              <a:t>/&gt;</a:t>
            </a:r>
            <a:endParaRPr lang="en-US" sz="1600" dirty="0">
              <a:solidFill>
                <a:srgbClr val="0000FF"/>
              </a:solidFill>
              <a:latin typeface="Cascadia Mono" panose="020B0609020000020004" pitchFamily="49" charset="0"/>
            </a:endParaRPr>
          </a:p>
          <a:p>
            <a:r>
              <a:rPr lang="en-US" sz="1600" dirty="0">
                <a:solidFill>
                  <a:srgbClr val="0000FF"/>
                </a:solidFill>
                <a:latin typeface="Cascadia Mono" panose="020B0609020000020004" pitchFamily="49" charset="0"/>
              </a:rPr>
              <a:t>&lt;/</a:t>
            </a:r>
            <a:r>
              <a:rPr lang="en-US" sz="1600" dirty="0" err="1">
                <a:solidFill>
                  <a:srgbClr val="A31515"/>
                </a:solidFill>
                <a:latin typeface="Cascadia Mono" panose="020B0609020000020004" pitchFamily="49" charset="0"/>
              </a:rPr>
              <a:t>VerticalStackLayout</a:t>
            </a:r>
            <a:r>
              <a:rPr lang="en-US" sz="1600" dirty="0">
                <a:solidFill>
                  <a:srgbClr val="0000FF"/>
                </a:solidFill>
                <a:latin typeface="Cascadia Mono" panose="020B0609020000020004" pitchFamily="49" charset="0"/>
              </a:rPr>
              <a:t>&gt;</a:t>
            </a:r>
            <a:endParaRPr lang="en-US" sz="1600" dirty="0"/>
          </a:p>
        </p:txBody>
      </p:sp>
      <p:pic>
        <p:nvPicPr>
          <p:cNvPr id="10" name="Picture 9"/>
          <p:cNvPicPr>
            <a:picLocks noChangeAspect="1"/>
          </p:cNvPicPr>
          <p:nvPr/>
        </p:nvPicPr>
        <p:blipFill rotWithShape="1">
          <a:blip r:embed="rId4"/>
          <a:srcRect t="5518"/>
          <a:stretch/>
        </p:blipFill>
        <p:spPr>
          <a:xfrm>
            <a:off x="679939" y="4146328"/>
            <a:ext cx="7052798" cy="1250302"/>
          </a:xfrm>
          <a:prstGeom prst="rect">
            <a:avLst/>
          </a:prstGeom>
        </p:spPr>
      </p:pic>
      <p:sp>
        <p:nvSpPr>
          <p:cNvPr id="11" name="Rectangle 10"/>
          <p:cNvSpPr/>
          <p:nvPr/>
        </p:nvSpPr>
        <p:spPr>
          <a:xfrm>
            <a:off x="431136" y="3414023"/>
            <a:ext cx="5445978" cy="456215"/>
          </a:xfrm>
          <a:prstGeom prst="rect">
            <a:avLst/>
          </a:prstGeom>
        </p:spPr>
        <p:txBody>
          <a:bodyPr wrap="none">
            <a:spAutoFit/>
          </a:bodyPr>
          <a:lstStyle/>
          <a:p>
            <a:pPr marL="438150" indent="-285750">
              <a:lnSpc>
                <a:spcPct val="150000"/>
              </a:lnSpc>
              <a:buFont typeface="Wingdings" panose="05000000000000000000" pitchFamily="2" charset="2"/>
              <a:buChar char="§"/>
            </a:pPr>
            <a:r>
              <a:rPr lang="fr-FR" dirty="0" smtClean="0">
                <a:latin typeface="Segoe UI" panose="020B0502040204020203" pitchFamily="34" charset="0"/>
                <a:cs typeface="Segoe UI" panose="020B0502040204020203" pitchFamily="34" charset="0"/>
              </a:rPr>
              <a:t>Le gestionnaire d’événements </a:t>
            </a:r>
            <a:r>
              <a:rPr lang="fr-FR" b="1" dirty="0" err="1" smtClean="0">
                <a:latin typeface="Segoe UI" panose="020B0502040204020203" pitchFamily="34" charset="0"/>
                <a:cs typeface="Segoe UI" panose="020B0502040204020203" pitchFamily="34" charset="0"/>
              </a:rPr>
              <a:t>OnDateSelected</a:t>
            </a:r>
            <a:endParaRPr lang="fr-FR" b="1"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05988982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8"/>
          <p:cNvSpPr txBox="1">
            <a:spLocks noChangeArrowheads="1"/>
          </p:cNvSpPr>
          <p:nvPr/>
        </p:nvSpPr>
        <p:spPr bwMode="auto">
          <a:xfrm>
            <a:off x="341765" y="552527"/>
            <a:ext cx="11475048" cy="36625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152400">
              <a:tabLst>
                <a:tab pos="5992813" algn="l"/>
              </a:tabLst>
              <a:defRPr>
                <a:solidFill>
                  <a:schemeClr val="tx1"/>
                </a:solidFill>
                <a:latin typeface="Calibri" panose="020F0502020204030204" pitchFamily="34" charset="0"/>
                <a:cs typeface="Arial" panose="020B0604020202020204" pitchFamily="34" charset="0"/>
              </a:defRPr>
            </a:lvl1pPr>
            <a:lvl2pPr marL="579438" indent="-242888">
              <a:tabLst>
                <a:tab pos="5992813" algn="l"/>
              </a:tabLst>
              <a:defRPr>
                <a:solidFill>
                  <a:schemeClr val="tx1"/>
                </a:solidFill>
                <a:latin typeface="Calibri" panose="020F0502020204030204" pitchFamily="34" charset="0"/>
                <a:cs typeface="Arial" panose="020B0604020202020204" pitchFamily="34" charset="0"/>
              </a:defRPr>
            </a:lvl2pPr>
            <a:lvl3pPr marL="1143000" indent="-228600">
              <a:tabLst>
                <a:tab pos="5992813" algn="l"/>
              </a:tabLst>
              <a:defRPr>
                <a:solidFill>
                  <a:schemeClr val="tx1"/>
                </a:solidFill>
                <a:latin typeface="Calibri" panose="020F0502020204030204" pitchFamily="34" charset="0"/>
                <a:cs typeface="Arial" panose="020B0604020202020204" pitchFamily="34" charset="0"/>
              </a:defRPr>
            </a:lvl3pPr>
            <a:lvl4pPr marL="1600200" indent="-228600">
              <a:tabLst>
                <a:tab pos="5992813" algn="l"/>
              </a:tabLst>
              <a:defRPr>
                <a:solidFill>
                  <a:schemeClr val="tx1"/>
                </a:solidFill>
                <a:latin typeface="Calibri" panose="020F0502020204030204" pitchFamily="34" charset="0"/>
                <a:cs typeface="Arial" panose="020B0604020202020204" pitchFamily="34" charset="0"/>
              </a:defRPr>
            </a:lvl4pPr>
            <a:lvl5pPr marL="2057400" indent="-228600">
              <a:tabLst>
                <a:tab pos="5992813" algn="l"/>
              </a:tabLst>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2200" u="sng" dirty="0" smtClean="0">
                <a:latin typeface="Segoe UI Symbol" panose="020B0502040204020203" pitchFamily="34" charset="0"/>
              </a:rPr>
              <a:t>Les </a:t>
            </a:r>
            <a:r>
              <a:rPr lang="en-US" altLang="en-US" sz="2200" u="sng" dirty="0" err="1" smtClean="0">
                <a:latin typeface="Segoe UI Symbol" panose="020B0502040204020203" pitchFamily="34" charset="0"/>
              </a:rPr>
              <a:t>contrôles</a:t>
            </a:r>
            <a:r>
              <a:rPr lang="en-US" altLang="en-US" sz="2200" u="sng" dirty="0" smtClean="0">
                <a:latin typeface="Segoe UI Symbol" panose="020B0502040204020203" pitchFamily="34" charset="0"/>
              </a:rPr>
              <a:t> </a:t>
            </a:r>
            <a:r>
              <a:rPr lang="en-US" altLang="en-US" sz="2200" u="sng" dirty="0" err="1" smtClean="0">
                <a:latin typeface="Segoe UI Symbol" panose="020B0502040204020203" pitchFamily="34" charset="0"/>
              </a:rPr>
              <a:t>d'entrées</a:t>
            </a:r>
            <a:r>
              <a:rPr lang="fr-FR" altLang="en-US" sz="2200" u="sng" dirty="0" smtClean="0">
                <a:latin typeface="Segoe UI Symbol" panose="020B0502040204020203" pitchFamily="34" charset="0"/>
              </a:rPr>
              <a:t>-</a:t>
            </a:r>
            <a:r>
              <a:rPr lang="fr-FR" altLang="en-US" sz="2200" u="sng" dirty="0" err="1" smtClean="0">
                <a:latin typeface="Segoe UI Symbol" panose="020B0502040204020203" pitchFamily="34" charset="0"/>
              </a:rPr>
              <a:t>TimePicker</a:t>
            </a:r>
            <a:endParaRPr lang="fr-FR" altLang="en-US" sz="2200" u="sng" dirty="0" smtClean="0">
              <a:latin typeface="Segoe UI Symbol" panose="020B0502040204020203" pitchFamily="34" charset="0"/>
            </a:endParaRPr>
          </a:p>
          <a:p>
            <a:pPr marL="438150" indent="-285750">
              <a:lnSpc>
                <a:spcPct val="150000"/>
              </a:lnSpc>
              <a:buFont typeface="Wingdings" panose="05000000000000000000" pitchFamily="2" charset="2"/>
              <a:buChar char="§"/>
            </a:pPr>
            <a:endParaRPr lang="fr-FR" dirty="0" smtClean="0">
              <a:latin typeface="Segoe UI "/>
              <a:cs typeface="Segoe UI" panose="020B0502040204020203" pitchFamily="34" charset="0"/>
            </a:endParaRPr>
          </a:p>
          <a:p>
            <a:pPr marL="438150" indent="-285750">
              <a:lnSpc>
                <a:spcPct val="150000"/>
              </a:lnSpc>
              <a:buFont typeface="Wingdings" panose="05000000000000000000" pitchFamily="2" charset="2"/>
              <a:buChar char="§"/>
            </a:pPr>
            <a:r>
              <a:rPr lang="fr-FR" dirty="0" smtClean="0">
                <a:latin typeface="Segoe UI "/>
                <a:cs typeface="Segoe UI" panose="020B0502040204020203" pitchFamily="34" charset="0"/>
              </a:rPr>
              <a:t>Le </a:t>
            </a:r>
            <a:r>
              <a:rPr lang="fr-FR" dirty="0" smtClean="0">
                <a:latin typeface="Segoe UI "/>
                <a:cs typeface="Segoe UI" panose="020B0502040204020203" pitchFamily="34" charset="0"/>
              </a:rPr>
              <a:t>contrôle </a:t>
            </a:r>
            <a:r>
              <a:rPr lang="fr-FR" b="1" dirty="0" err="1" smtClean="0">
                <a:latin typeface="Segoe UI "/>
                <a:cs typeface="Segoe UI" panose="020B0502040204020203" pitchFamily="34" charset="0"/>
              </a:rPr>
              <a:t>TimePicker</a:t>
            </a:r>
            <a:r>
              <a:rPr lang="fr-FR" dirty="0">
                <a:latin typeface="Segoe UI "/>
                <a:cs typeface="Segoe UI" panose="020B0502040204020203" pitchFamily="34" charset="0"/>
              </a:rPr>
              <a:t> appelle le </a:t>
            </a:r>
            <a:r>
              <a:rPr lang="fr-FR" dirty="0" smtClean="0">
                <a:latin typeface="Segoe UI "/>
                <a:cs typeface="Segoe UI" panose="020B0502040204020203" pitchFamily="34" charset="0"/>
              </a:rPr>
              <a:t>contrôle  </a:t>
            </a:r>
            <a:r>
              <a:rPr lang="fr-FR" dirty="0" smtClean="0">
                <a:latin typeface="Segoe UI "/>
                <a:cs typeface="Segoe UI" panose="020B0502040204020203" pitchFamily="34" charset="0"/>
              </a:rPr>
              <a:t>sélecteur d’heure minutes, </a:t>
            </a:r>
            <a:r>
              <a:rPr lang="fr-FR" dirty="0">
                <a:latin typeface="Segoe UI "/>
              </a:rPr>
              <a:t> </a:t>
            </a:r>
            <a:r>
              <a:rPr lang="fr-FR" dirty="0" smtClean="0">
                <a:latin typeface="Segoe UI "/>
              </a:rPr>
              <a:t>parmi les propriétés </a:t>
            </a:r>
          </a:p>
          <a:p>
            <a:pPr>
              <a:lnSpc>
                <a:spcPct val="150000"/>
              </a:lnSpc>
            </a:pPr>
            <a:r>
              <a:rPr lang="fr-FR" dirty="0">
                <a:latin typeface="Segoe UI "/>
              </a:rPr>
              <a:t> </a:t>
            </a:r>
            <a:r>
              <a:rPr lang="fr-FR" dirty="0" smtClean="0">
                <a:latin typeface="Segoe UI "/>
              </a:rPr>
              <a:t>     communes de </a:t>
            </a:r>
            <a:r>
              <a:rPr lang="fr-FR" b="1" dirty="0" err="1" smtClean="0">
                <a:latin typeface="Segoe UI "/>
                <a:cs typeface="Segoe UI" panose="020B0502040204020203" pitchFamily="34" charset="0"/>
              </a:rPr>
              <a:t>TimePicker</a:t>
            </a:r>
            <a:r>
              <a:rPr lang="fr-FR" dirty="0" smtClean="0">
                <a:latin typeface="Segoe UI "/>
              </a:rPr>
              <a:t>:</a:t>
            </a:r>
          </a:p>
          <a:p>
            <a:pPr>
              <a:lnSpc>
                <a:spcPct val="150000"/>
              </a:lnSpc>
            </a:pPr>
            <a:endParaRPr lang="fr-FR" b="1" dirty="0" smtClean="0">
              <a:latin typeface="Segoe UI" panose="020B0502040204020203" pitchFamily="34" charset="0"/>
              <a:cs typeface="Segoe UI" panose="020B0502040204020203" pitchFamily="34" charset="0"/>
            </a:endParaRPr>
          </a:p>
          <a:p>
            <a:pPr marL="622300" lvl="1" indent="-285750">
              <a:lnSpc>
                <a:spcPct val="150000"/>
              </a:lnSpc>
              <a:buFont typeface="Wingdings" panose="05000000000000000000" pitchFamily="2" charset="2"/>
              <a:buChar char="§"/>
            </a:pPr>
            <a:r>
              <a:rPr lang="fr-FR" dirty="0">
                <a:latin typeface="Segoe UI" panose="020B0502040204020203" pitchFamily="34" charset="0"/>
                <a:cs typeface="Segoe UI" panose="020B0502040204020203" pitchFamily="34" charset="0"/>
              </a:rPr>
              <a:t>  </a:t>
            </a:r>
            <a:r>
              <a:rPr lang="fr-FR" b="1" dirty="0" smtClean="0">
                <a:latin typeface="Segoe UI" panose="020B0502040204020203" pitchFamily="34" charset="0"/>
                <a:cs typeface="Segoe UI" panose="020B0502040204020203" pitchFamily="34" charset="0"/>
              </a:rPr>
              <a:t>Time: </a:t>
            </a:r>
            <a:r>
              <a:rPr lang="fr-FR" dirty="0">
                <a:latin typeface="Segoe UI" panose="020B0502040204020203" pitchFamily="34" charset="0"/>
                <a:cs typeface="Segoe UI" panose="020B0502040204020203" pitchFamily="34" charset="0"/>
              </a:rPr>
              <a:t>de type </a:t>
            </a:r>
            <a:r>
              <a:rPr lang="fr-FR" b="1" dirty="0" err="1">
                <a:latin typeface="Segoe UI" panose="020B0502040204020203" pitchFamily="34" charset="0"/>
                <a:cs typeface="Segoe UI" panose="020B0502040204020203" pitchFamily="34" charset="0"/>
              </a:rPr>
              <a:t>TimeSpan</a:t>
            </a:r>
            <a:r>
              <a:rPr lang="fr-FR" dirty="0">
                <a:latin typeface="Segoe UI" panose="020B0502040204020203" pitchFamily="34" charset="0"/>
                <a:cs typeface="Segoe UI" panose="020B0502040204020203" pitchFamily="34" charset="0"/>
              </a:rPr>
              <a:t>, heure sélectionnée, qui est </a:t>
            </a:r>
            <a:r>
              <a:rPr lang="fr-FR" dirty="0" err="1" smtClean="0">
                <a:latin typeface="Segoe UI" panose="020B0502040204020203" pitchFamily="34" charset="0"/>
                <a:cs typeface="Segoe UI" panose="020B0502040204020203" pitchFamily="34" charset="0"/>
              </a:rPr>
              <a:t>définiepar</a:t>
            </a:r>
            <a:r>
              <a:rPr lang="fr-FR" dirty="0" smtClean="0">
                <a:latin typeface="Segoe UI" panose="020B0502040204020203" pitchFamily="34" charset="0"/>
                <a:cs typeface="Segoe UI" panose="020B0502040204020203" pitchFamily="34" charset="0"/>
              </a:rPr>
              <a:t> </a:t>
            </a:r>
            <a:r>
              <a:rPr lang="fr-FR" dirty="0">
                <a:latin typeface="Segoe UI" panose="020B0502040204020203" pitchFamily="34" charset="0"/>
                <a:cs typeface="Segoe UI" panose="020B0502040204020203" pitchFamily="34" charset="0"/>
              </a:rPr>
              <a:t>défaut sur </a:t>
            </a:r>
            <a:r>
              <a:rPr lang="fr-FR" b="1" dirty="0" err="1">
                <a:latin typeface="Segoe UI" panose="020B0502040204020203" pitchFamily="34" charset="0"/>
                <a:cs typeface="Segoe UI" panose="020B0502040204020203" pitchFamily="34" charset="0"/>
              </a:rPr>
              <a:t>TimeSpan</a:t>
            </a:r>
            <a:r>
              <a:rPr lang="fr-FR" dirty="0">
                <a:latin typeface="Segoe UI" panose="020B0502040204020203" pitchFamily="34" charset="0"/>
                <a:cs typeface="Segoe UI" panose="020B0502040204020203" pitchFamily="34" charset="0"/>
              </a:rPr>
              <a:t> </a:t>
            </a:r>
            <a:r>
              <a:rPr lang="fr-FR" dirty="0" smtClean="0">
                <a:latin typeface="Segoe UI" panose="020B0502040204020203" pitchFamily="34" charset="0"/>
                <a:cs typeface="Segoe UI" panose="020B0502040204020203" pitchFamily="34" charset="0"/>
              </a:rPr>
              <a:t>0</a:t>
            </a:r>
            <a:r>
              <a:rPr lang="fr-FR" dirty="0">
                <a:latin typeface="Segoe UI" panose="020B0502040204020203" pitchFamily="34" charset="0"/>
                <a:cs typeface="Segoe UI" panose="020B0502040204020203" pitchFamily="34" charset="0"/>
              </a:rPr>
              <a:t> </a:t>
            </a:r>
            <a:r>
              <a:rPr lang="fr-FR" dirty="0" smtClean="0">
                <a:latin typeface="Segoe UI" panose="020B0502040204020203" pitchFamily="34" charset="0"/>
                <a:cs typeface="Segoe UI" panose="020B0502040204020203" pitchFamily="34" charset="0"/>
              </a:rPr>
              <a:t> qui indique </a:t>
            </a:r>
            <a:r>
              <a:rPr lang="fr-FR" dirty="0">
                <a:latin typeface="Segoe UI" panose="020B0502040204020203" pitchFamily="34" charset="0"/>
                <a:cs typeface="Segoe UI" panose="020B0502040204020203" pitchFamily="34" charset="0"/>
              </a:rPr>
              <a:t>une </a:t>
            </a:r>
            <a:r>
              <a:rPr lang="fr-FR" dirty="0" smtClean="0">
                <a:latin typeface="Segoe UI" panose="020B0502040204020203" pitchFamily="34" charset="0"/>
                <a:cs typeface="Segoe UI" panose="020B0502040204020203" pitchFamily="34" charset="0"/>
              </a:rPr>
              <a:t>durée entre </a:t>
            </a:r>
            <a:r>
              <a:rPr lang="fr-FR" dirty="0" smtClean="0">
                <a:latin typeface="Segoe UI" panose="020B0502040204020203" pitchFamily="34" charset="0"/>
                <a:cs typeface="Segoe UI" panose="020B0502040204020203" pitchFamily="34" charset="0"/>
              </a:rPr>
              <a:t>deux temps depuis minuit.</a:t>
            </a:r>
            <a:endParaRPr lang="fr-FR" dirty="0">
              <a:latin typeface="Segoe UI" panose="020B0502040204020203" pitchFamily="34" charset="0"/>
              <a:cs typeface="Segoe UI" panose="020B0502040204020203" pitchFamily="34" charset="0"/>
            </a:endParaRPr>
          </a:p>
          <a:p>
            <a:pPr marL="622300" lvl="1" indent="-285750">
              <a:lnSpc>
                <a:spcPct val="150000"/>
              </a:lnSpc>
              <a:buFont typeface="Wingdings" panose="05000000000000000000" pitchFamily="2" charset="2"/>
              <a:buChar char="§"/>
            </a:pPr>
            <a:r>
              <a:rPr lang="fr-FR" b="1" dirty="0" smtClean="0">
                <a:latin typeface="Segoe UI" panose="020B0502040204020203" pitchFamily="34" charset="0"/>
                <a:cs typeface="Segoe UI" panose="020B0502040204020203" pitchFamily="34" charset="0"/>
              </a:rPr>
              <a:t> Format: </a:t>
            </a:r>
            <a:r>
              <a:rPr lang="fr-FR" dirty="0">
                <a:latin typeface="Segoe UI" panose="020B0502040204020203" pitchFamily="34" charset="0"/>
                <a:cs typeface="Segoe UI" panose="020B0502040204020203" pitchFamily="34" charset="0"/>
              </a:rPr>
              <a:t>de type string, chaîne de mise en forme .</a:t>
            </a:r>
            <a:r>
              <a:rPr lang="fr-FR" dirty="0" err="1" smtClean="0">
                <a:latin typeface="Segoe UI" panose="020B0502040204020203" pitchFamily="34" charset="0"/>
                <a:cs typeface="Segoe UI" panose="020B0502040204020203" pitchFamily="34" charset="0"/>
              </a:rPr>
              <a:t>NETstandard</a:t>
            </a:r>
            <a:r>
              <a:rPr lang="fr-FR" dirty="0" smtClean="0">
                <a:latin typeface="Segoe UI" panose="020B0502040204020203" pitchFamily="34" charset="0"/>
                <a:cs typeface="Segoe UI" panose="020B0502040204020203" pitchFamily="34" charset="0"/>
              </a:rPr>
              <a:t> </a:t>
            </a:r>
            <a:r>
              <a:rPr lang="fr-FR" dirty="0">
                <a:latin typeface="Segoe UI" panose="020B0502040204020203" pitchFamily="34" charset="0"/>
                <a:cs typeface="Segoe UI" panose="020B0502040204020203" pitchFamily="34" charset="0"/>
              </a:rPr>
              <a:t>ou personnalisée , dont la valeur par défaut </a:t>
            </a:r>
            <a:endParaRPr lang="fr-FR" dirty="0" smtClean="0">
              <a:latin typeface="Segoe UI" panose="020B0502040204020203" pitchFamily="34" charset="0"/>
              <a:cs typeface="Segoe UI" panose="020B0502040204020203" pitchFamily="34" charset="0"/>
            </a:endParaRPr>
          </a:p>
          <a:p>
            <a:pPr marL="336550" lvl="1" indent="0">
              <a:lnSpc>
                <a:spcPct val="150000"/>
              </a:lnSpc>
            </a:pPr>
            <a:r>
              <a:rPr lang="fr-FR" dirty="0" smtClean="0">
                <a:latin typeface="Segoe UI" panose="020B0502040204020203" pitchFamily="34" charset="0"/>
                <a:cs typeface="Segoe UI" panose="020B0502040204020203" pitchFamily="34" charset="0"/>
              </a:rPr>
              <a:t>      est </a:t>
            </a:r>
            <a:r>
              <a:rPr lang="fr-FR" dirty="0">
                <a:latin typeface="Segoe UI" panose="020B0502040204020203" pitchFamily="34" charset="0"/>
                <a:cs typeface="Segoe UI" panose="020B0502040204020203" pitchFamily="34" charset="0"/>
              </a:rPr>
              <a:t>« t », le modèle de temps court.</a:t>
            </a:r>
          </a:p>
        </p:txBody>
      </p:sp>
    </p:spTree>
    <p:extLst>
      <p:ext uri="{BB962C8B-B14F-4D97-AF65-F5344CB8AC3E}">
        <p14:creationId xmlns:p14="http://schemas.microsoft.com/office/powerpoint/2010/main" val="21530116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8"/>
          <p:cNvSpPr txBox="1">
            <a:spLocks noChangeArrowheads="1"/>
          </p:cNvSpPr>
          <p:nvPr/>
        </p:nvSpPr>
        <p:spPr bwMode="auto">
          <a:xfrm>
            <a:off x="341765" y="552527"/>
            <a:ext cx="11475048" cy="7540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152400">
              <a:tabLst>
                <a:tab pos="5992813" algn="l"/>
              </a:tabLst>
              <a:defRPr>
                <a:solidFill>
                  <a:schemeClr val="tx1"/>
                </a:solidFill>
                <a:latin typeface="Calibri" panose="020F0502020204030204" pitchFamily="34" charset="0"/>
                <a:cs typeface="Arial" panose="020B0604020202020204" pitchFamily="34" charset="0"/>
              </a:defRPr>
            </a:lvl1pPr>
            <a:lvl2pPr marL="579438" indent="-242888">
              <a:tabLst>
                <a:tab pos="5992813" algn="l"/>
              </a:tabLst>
              <a:defRPr>
                <a:solidFill>
                  <a:schemeClr val="tx1"/>
                </a:solidFill>
                <a:latin typeface="Calibri" panose="020F0502020204030204" pitchFamily="34" charset="0"/>
                <a:cs typeface="Arial" panose="020B0604020202020204" pitchFamily="34" charset="0"/>
              </a:defRPr>
            </a:lvl2pPr>
            <a:lvl3pPr marL="1143000" indent="-228600">
              <a:tabLst>
                <a:tab pos="5992813" algn="l"/>
              </a:tabLst>
              <a:defRPr>
                <a:solidFill>
                  <a:schemeClr val="tx1"/>
                </a:solidFill>
                <a:latin typeface="Calibri" panose="020F0502020204030204" pitchFamily="34" charset="0"/>
                <a:cs typeface="Arial" panose="020B0604020202020204" pitchFamily="34" charset="0"/>
              </a:defRPr>
            </a:lvl3pPr>
            <a:lvl4pPr marL="1600200" indent="-228600">
              <a:tabLst>
                <a:tab pos="5992813" algn="l"/>
              </a:tabLst>
              <a:defRPr>
                <a:solidFill>
                  <a:schemeClr val="tx1"/>
                </a:solidFill>
                <a:latin typeface="Calibri" panose="020F0502020204030204" pitchFamily="34" charset="0"/>
                <a:cs typeface="Arial" panose="020B0604020202020204" pitchFamily="34" charset="0"/>
              </a:defRPr>
            </a:lvl4pPr>
            <a:lvl5pPr marL="2057400" indent="-228600">
              <a:tabLst>
                <a:tab pos="5992813" algn="l"/>
              </a:tabLst>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2200" u="sng" dirty="0" smtClean="0">
                <a:latin typeface="Segoe UI Symbol" panose="020B0502040204020203" pitchFamily="34" charset="0"/>
              </a:rPr>
              <a:t>Les </a:t>
            </a:r>
            <a:r>
              <a:rPr lang="en-US" altLang="en-US" sz="2200" u="sng" dirty="0" err="1" smtClean="0">
                <a:latin typeface="Segoe UI Symbol" panose="020B0502040204020203" pitchFamily="34" charset="0"/>
              </a:rPr>
              <a:t>contrôles</a:t>
            </a:r>
            <a:r>
              <a:rPr lang="en-US" altLang="en-US" sz="2200" u="sng" dirty="0" smtClean="0">
                <a:latin typeface="Segoe UI Symbol" panose="020B0502040204020203" pitchFamily="34" charset="0"/>
              </a:rPr>
              <a:t> </a:t>
            </a:r>
            <a:r>
              <a:rPr lang="en-US" altLang="en-US" sz="2200" u="sng" dirty="0" err="1" smtClean="0">
                <a:latin typeface="Segoe UI Symbol" panose="020B0502040204020203" pitchFamily="34" charset="0"/>
              </a:rPr>
              <a:t>d'entrées</a:t>
            </a:r>
            <a:r>
              <a:rPr lang="fr-FR" altLang="en-US" sz="2200" u="sng" dirty="0" smtClean="0">
                <a:latin typeface="Segoe UI Symbol" panose="020B0502040204020203" pitchFamily="34" charset="0"/>
              </a:rPr>
              <a:t>-</a:t>
            </a:r>
            <a:r>
              <a:rPr lang="fr-FR" altLang="en-US" sz="2200" u="sng" dirty="0" err="1" smtClean="0">
                <a:latin typeface="Segoe UI Symbol" panose="020B0502040204020203" pitchFamily="34" charset="0"/>
              </a:rPr>
              <a:t>TimePicker</a:t>
            </a:r>
            <a:endParaRPr lang="fr-FR" altLang="en-US" sz="2200" u="sng" dirty="0" smtClean="0">
              <a:latin typeface="Segoe UI Symbol" panose="020B0502040204020203" pitchFamily="34" charset="0"/>
            </a:endParaRPr>
          </a:p>
          <a:p>
            <a:pPr marL="438150" indent="-285750">
              <a:lnSpc>
                <a:spcPct val="150000"/>
              </a:lnSpc>
              <a:buFont typeface="Wingdings" panose="05000000000000000000" pitchFamily="2" charset="2"/>
              <a:buChar char="§"/>
            </a:pPr>
            <a:r>
              <a:rPr lang="fr-FR" dirty="0" smtClean="0">
                <a:latin typeface="Segoe UI" panose="020B0502040204020203" pitchFamily="34" charset="0"/>
                <a:cs typeface="Segoe UI" panose="020B0502040204020203" pitchFamily="34" charset="0"/>
              </a:rPr>
              <a:t>L’événement </a:t>
            </a:r>
            <a:r>
              <a:rPr lang="fr-FR" b="1" dirty="0" err="1" smtClean="0">
                <a:latin typeface="Segoe UI" panose="020B0502040204020203" pitchFamily="34" charset="0"/>
                <a:cs typeface="Segoe UI" panose="020B0502040204020203" pitchFamily="34" charset="0"/>
              </a:rPr>
              <a:t>PropertyChanged</a:t>
            </a:r>
            <a:r>
              <a:rPr lang="fr-FR" dirty="0" smtClean="0">
                <a:latin typeface="Segoe UI" panose="020B0502040204020203" pitchFamily="34" charset="0"/>
                <a:cs typeface="Segoe UI" panose="020B0502040204020203" pitchFamily="34" charset="0"/>
              </a:rPr>
              <a:t> permet de déclencher une action sur la base du  changement  du temps </a:t>
            </a:r>
            <a:endParaRPr lang="fr-FR" dirty="0">
              <a:latin typeface="Segoe UI" panose="020B0502040204020203" pitchFamily="34" charset="0"/>
              <a:cs typeface="Segoe UI" panose="020B0502040204020203" pitchFamily="34" charset="0"/>
            </a:endParaRPr>
          </a:p>
        </p:txBody>
      </p:sp>
      <p:sp>
        <p:nvSpPr>
          <p:cNvPr id="4" name="Rectangle 3"/>
          <p:cNvSpPr/>
          <p:nvPr/>
        </p:nvSpPr>
        <p:spPr>
          <a:xfrm>
            <a:off x="690683" y="3758073"/>
            <a:ext cx="9309101" cy="1077218"/>
          </a:xfrm>
          <a:prstGeom prst="rect">
            <a:avLst/>
          </a:prstGeom>
        </p:spPr>
        <p:txBody>
          <a:bodyPr wrap="square">
            <a:spAutoFit/>
          </a:bodyPr>
          <a:lstStyle/>
          <a:p>
            <a:r>
              <a:rPr lang="fr-FR" sz="1600" dirty="0">
                <a:solidFill>
                  <a:srgbClr val="000000"/>
                </a:solidFill>
                <a:latin typeface="Cascadia Mono" panose="020B0609020000020004" pitchFamily="49" charset="0"/>
              </a:rPr>
              <a:t> </a:t>
            </a:r>
            <a:r>
              <a:rPr lang="fr-FR" sz="1600" dirty="0">
                <a:solidFill>
                  <a:srgbClr val="0000FF"/>
                </a:solidFill>
                <a:latin typeface="Cascadia Mono" panose="020B0609020000020004" pitchFamily="49" charset="0"/>
              </a:rPr>
              <a:t>private</a:t>
            </a:r>
            <a:r>
              <a:rPr lang="fr-FR" sz="1600" dirty="0">
                <a:solidFill>
                  <a:srgbClr val="000000"/>
                </a:solidFill>
                <a:latin typeface="Cascadia Mono" panose="020B0609020000020004" pitchFamily="49" charset="0"/>
              </a:rPr>
              <a:t> </a:t>
            </a:r>
            <a:r>
              <a:rPr lang="fr-FR" sz="1600" dirty="0" err="1">
                <a:solidFill>
                  <a:srgbClr val="0000FF"/>
                </a:solidFill>
                <a:latin typeface="Cascadia Mono" panose="020B0609020000020004" pitchFamily="49" charset="0"/>
              </a:rPr>
              <a:t>void</a:t>
            </a:r>
            <a:r>
              <a:rPr lang="fr-FR" sz="1600" dirty="0">
                <a:solidFill>
                  <a:srgbClr val="000000"/>
                </a:solidFill>
                <a:latin typeface="Cascadia Mono" panose="020B0609020000020004" pitchFamily="49" charset="0"/>
              </a:rPr>
              <a:t> </a:t>
            </a:r>
            <a:r>
              <a:rPr lang="fr-FR" sz="1600" dirty="0" err="1" smtClean="0">
                <a:solidFill>
                  <a:srgbClr val="000000"/>
                </a:solidFill>
                <a:latin typeface="Cascadia Mono" panose="020B0609020000020004" pitchFamily="49" charset="0"/>
              </a:rPr>
              <a:t>OnTime</a:t>
            </a:r>
            <a:r>
              <a:rPr lang="fr-FR" sz="1600" dirty="0" err="1" smtClean="0">
                <a:solidFill>
                  <a:srgbClr val="000000"/>
                </a:solidFill>
                <a:latin typeface="Cascadia Mono" panose="020B0609020000020004" pitchFamily="49" charset="0"/>
              </a:rPr>
              <a:t>Changed</a:t>
            </a:r>
            <a:r>
              <a:rPr lang="fr-FR" sz="1600" dirty="0" smtClean="0">
                <a:solidFill>
                  <a:srgbClr val="000000"/>
                </a:solidFill>
                <a:latin typeface="Cascadia Mono" panose="020B0609020000020004" pitchFamily="49" charset="0"/>
              </a:rPr>
              <a:t>(</a:t>
            </a:r>
            <a:r>
              <a:rPr lang="fr-FR" sz="1600" dirty="0" err="1" smtClean="0">
                <a:solidFill>
                  <a:srgbClr val="0000FF"/>
                </a:solidFill>
                <a:latin typeface="Cascadia Mono" panose="020B0609020000020004" pitchFamily="49" charset="0"/>
              </a:rPr>
              <a:t>object</a:t>
            </a:r>
            <a:r>
              <a:rPr lang="fr-FR" sz="1600" dirty="0" smtClean="0">
                <a:solidFill>
                  <a:srgbClr val="000000"/>
                </a:solidFill>
                <a:latin typeface="Cascadia Mono" panose="020B0609020000020004" pitchFamily="49" charset="0"/>
              </a:rPr>
              <a:t> </a:t>
            </a:r>
            <a:r>
              <a:rPr lang="fr-FR" sz="1600" dirty="0" err="1" smtClean="0">
                <a:solidFill>
                  <a:srgbClr val="000000"/>
                </a:solidFill>
                <a:latin typeface="Cascadia Mono" panose="020B0609020000020004" pitchFamily="49" charset="0"/>
              </a:rPr>
              <a:t>sender,PropertyChangedEventArgs</a:t>
            </a:r>
            <a:r>
              <a:rPr lang="fr-FR" sz="1600" dirty="0" smtClean="0">
                <a:solidFill>
                  <a:srgbClr val="000000"/>
                </a:solidFill>
                <a:latin typeface="Cascadia Mono" panose="020B0609020000020004" pitchFamily="49" charset="0"/>
              </a:rPr>
              <a:t> </a:t>
            </a:r>
            <a:r>
              <a:rPr lang="fr-FR" sz="1600" dirty="0">
                <a:solidFill>
                  <a:srgbClr val="000000"/>
                </a:solidFill>
                <a:latin typeface="Cascadia Mono" panose="020B0609020000020004" pitchFamily="49" charset="0"/>
              </a:rPr>
              <a:t>e)</a:t>
            </a:r>
          </a:p>
          <a:p>
            <a:r>
              <a:rPr lang="fr-FR" sz="1600" dirty="0">
                <a:solidFill>
                  <a:srgbClr val="000000"/>
                </a:solidFill>
                <a:latin typeface="Cascadia Mono" panose="020B0609020000020004" pitchFamily="49" charset="0"/>
              </a:rPr>
              <a:t>    {</a:t>
            </a:r>
          </a:p>
          <a:p>
            <a:r>
              <a:rPr lang="fr-FR" sz="1600" dirty="0">
                <a:solidFill>
                  <a:srgbClr val="000000"/>
                </a:solidFill>
                <a:latin typeface="Cascadia Mono" panose="020B0609020000020004" pitchFamily="49" charset="0"/>
              </a:rPr>
              <a:t>      </a:t>
            </a:r>
            <a:r>
              <a:rPr lang="fr-FR" sz="1600" dirty="0">
                <a:solidFill>
                  <a:srgbClr val="008000"/>
                </a:solidFill>
                <a:latin typeface="Cascadia Mono" panose="020B0609020000020004" pitchFamily="49" charset="0"/>
              </a:rPr>
              <a:t>//Le code déclenché ici   </a:t>
            </a:r>
            <a:endParaRPr lang="fr-FR" sz="1600" dirty="0">
              <a:solidFill>
                <a:srgbClr val="000000"/>
              </a:solidFill>
              <a:latin typeface="Cascadia Mono" panose="020B0609020000020004" pitchFamily="49" charset="0"/>
            </a:endParaRPr>
          </a:p>
          <a:p>
            <a:r>
              <a:rPr lang="fr-FR" sz="1600" dirty="0">
                <a:solidFill>
                  <a:srgbClr val="000000"/>
                </a:solidFill>
                <a:latin typeface="Cascadia Mono" panose="020B0609020000020004" pitchFamily="49" charset="0"/>
              </a:rPr>
              <a:t>    }</a:t>
            </a:r>
            <a:endParaRPr lang="fr-FR" sz="1600" dirty="0"/>
          </a:p>
        </p:txBody>
      </p:sp>
      <p:sp>
        <p:nvSpPr>
          <p:cNvPr id="5" name="Rectangle 4"/>
          <p:cNvSpPr/>
          <p:nvPr/>
        </p:nvSpPr>
        <p:spPr>
          <a:xfrm>
            <a:off x="808893" y="1372239"/>
            <a:ext cx="8042030" cy="1200329"/>
          </a:xfrm>
          <a:prstGeom prst="rect">
            <a:avLst/>
          </a:prstGeom>
        </p:spPr>
        <p:txBody>
          <a:bodyPr wrap="square">
            <a:spAutoFit/>
          </a:bodyPr>
          <a:lstStyle/>
          <a:p>
            <a:r>
              <a:rPr lang="en-US" dirty="0">
                <a:solidFill>
                  <a:srgbClr val="0000FF"/>
                </a:solidFill>
                <a:latin typeface="Cascadia Mono" panose="020B0609020000020004" pitchFamily="49" charset="0"/>
              </a:rPr>
              <a:t>&lt;</a:t>
            </a:r>
            <a:r>
              <a:rPr lang="en-US" dirty="0" err="1">
                <a:solidFill>
                  <a:srgbClr val="A31515"/>
                </a:solidFill>
                <a:latin typeface="Cascadia Mono" panose="020B0609020000020004" pitchFamily="49" charset="0"/>
              </a:rPr>
              <a:t>TimePicker</a:t>
            </a:r>
            <a:r>
              <a:rPr lang="en-US" dirty="0">
                <a:solidFill>
                  <a:srgbClr val="FF0000"/>
                </a:solidFill>
                <a:latin typeface="Cascadia Mono" panose="020B0609020000020004" pitchFamily="49" charset="0"/>
              </a:rPr>
              <a:t> x</a:t>
            </a:r>
            <a:r>
              <a:rPr lang="en-US" dirty="0">
                <a:solidFill>
                  <a:srgbClr val="0000FF"/>
                </a:solidFill>
                <a:latin typeface="Cascadia Mono" panose="020B0609020000020004" pitchFamily="49" charset="0"/>
              </a:rPr>
              <a:t>:</a:t>
            </a:r>
            <a:r>
              <a:rPr lang="en-US" dirty="0">
                <a:solidFill>
                  <a:srgbClr val="FF0000"/>
                </a:solidFill>
                <a:latin typeface="Cascadia Mono" panose="020B0609020000020004" pitchFamily="49" charset="0"/>
              </a:rPr>
              <a:t>Name</a:t>
            </a:r>
            <a:r>
              <a:rPr lang="en-US" dirty="0">
                <a:solidFill>
                  <a:srgbClr val="0000FF"/>
                </a:solidFill>
                <a:latin typeface="Cascadia Mono" panose="020B0609020000020004" pitchFamily="49" charset="0"/>
              </a:rPr>
              <a:t>="myTimePicker"</a:t>
            </a:r>
          </a:p>
          <a:p>
            <a:r>
              <a:rPr lang="en-US" dirty="0">
                <a:solidFill>
                  <a:srgbClr val="000000"/>
                </a:solidFill>
                <a:latin typeface="Cascadia Mono" panose="020B0609020000020004" pitchFamily="49" charset="0"/>
              </a:rPr>
              <a:t>           </a:t>
            </a:r>
            <a:r>
              <a:rPr lang="en-US" dirty="0">
                <a:solidFill>
                  <a:srgbClr val="FF0000"/>
                </a:solidFill>
                <a:latin typeface="Cascadia Mono" panose="020B0609020000020004" pitchFamily="49" charset="0"/>
              </a:rPr>
              <a:t> Time</a:t>
            </a:r>
            <a:r>
              <a:rPr lang="en-US" dirty="0">
                <a:solidFill>
                  <a:srgbClr val="0000FF"/>
                </a:solidFill>
                <a:latin typeface="Cascadia Mono" panose="020B0609020000020004" pitchFamily="49" charset="0"/>
              </a:rPr>
              <a:t>="08:30"</a:t>
            </a:r>
          </a:p>
          <a:p>
            <a:r>
              <a:rPr lang="en-US" dirty="0">
                <a:solidFill>
                  <a:srgbClr val="000000"/>
                </a:solidFill>
                <a:latin typeface="Cascadia Mono" panose="020B0609020000020004" pitchFamily="49" charset="0"/>
              </a:rPr>
              <a:t>           </a:t>
            </a:r>
            <a:r>
              <a:rPr lang="en-US" dirty="0">
                <a:solidFill>
                  <a:srgbClr val="FF0000"/>
                </a:solidFill>
                <a:latin typeface="Cascadia Mono" panose="020B0609020000020004" pitchFamily="49" charset="0"/>
              </a:rPr>
              <a:t> Format</a:t>
            </a:r>
            <a:r>
              <a:rPr lang="en-US" dirty="0">
                <a:solidFill>
                  <a:srgbClr val="0000FF"/>
                </a:solidFill>
                <a:latin typeface="Cascadia Mono" panose="020B0609020000020004" pitchFamily="49" charset="0"/>
              </a:rPr>
              <a:t>="</a:t>
            </a:r>
            <a:r>
              <a:rPr lang="en-US" dirty="0" err="1">
                <a:solidFill>
                  <a:srgbClr val="0000FF"/>
                </a:solidFill>
                <a:latin typeface="Cascadia Mono" panose="020B0609020000020004" pitchFamily="49" charset="0"/>
              </a:rPr>
              <a:t>HH:mm</a:t>
            </a:r>
            <a:r>
              <a:rPr lang="en-US" dirty="0">
                <a:solidFill>
                  <a:srgbClr val="0000FF"/>
                </a:solidFill>
                <a:latin typeface="Cascadia Mono" panose="020B0609020000020004" pitchFamily="49" charset="0"/>
              </a:rPr>
              <a:t>"</a:t>
            </a:r>
          </a:p>
          <a:p>
            <a:r>
              <a:rPr lang="en-US" dirty="0">
                <a:solidFill>
                  <a:srgbClr val="000000"/>
                </a:solidFill>
                <a:latin typeface="Cascadia Mono" panose="020B0609020000020004" pitchFamily="49" charset="0"/>
              </a:rPr>
              <a:t>           </a:t>
            </a:r>
            <a:r>
              <a:rPr lang="en-US" dirty="0">
                <a:solidFill>
                  <a:srgbClr val="FF0000"/>
                </a:solidFill>
                <a:latin typeface="Cascadia Mono" panose="020B0609020000020004" pitchFamily="49" charset="0"/>
              </a:rPr>
              <a:t> </a:t>
            </a:r>
            <a:r>
              <a:rPr lang="en-US" dirty="0" err="1">
                <a:solidFill>
                  <a:srgbClr val="FF0000"/>
                </a:solidFill>
                <a:latin typeface="Cascadia Mono" panose="020B0609020000020004" pitchFamily="49" charset="0"/>
              </a:rPr>
              <a:t>PropertyChanged</a:t>
            </a:r>
            <a:r>
              <a:rPr lang="en-US" dirty="0">
                <a:solidFill>
                  <a:srgbClr val="0000FF"/>
                </a:solidFill>
                <a:latin typeface="Cascadia Mono" panose="020B0609020000020004" pitchFamily="49" charset="0"/>
              </a:rPr>
              <a:t>="</a:t>
            </a:r>
            <a:r>
              <a:rPr lang="en-US" dirty="0" err="1">
                <a:solidFill>
                  <a:srgbClr val="0000FF"/>
                </a:solidFill>
                <a:latin typeface="Cascadia Mono" panose="020B0609020000020004" pitchFamily="49" charset="0"/>
              </a:rPr>
              <a:t>OnTimeChanged</a:t>
            </a:r>
            <a:r>
              <a:rPr lang="en-US" dirty="0">
                <a:solidFill>
                  <a:srgbClr val="0000FF"/>
                </a:solidFill>
                <a:latin typeface="Cascadia Mono" panose="020B0609020000020004" pitchFamily="49" charset="0"/>
              </a:rPr>
              <a:t>"/&gt;</a:t>
            </a:r>
            <a:endParaRPr lang="en-US" dirty="0"/>
          </a:p>
        </p:txBody>
      </p:sp>
      <p:sp>
        <p:nvSpPr>
          <p:cNvPr id="7" name="Rectangle 6"/>
          <p:cNvSpPr/>
          <p:nvPr/>
        </p:nvSpPr>
        <p:spPr>
          <a:xfrm>
            <a:off x="633311" y="2964070"/>
            <a:ext cx="5519909" cy="456215"/>
          </a:xfrm>
          <a:prstGeom prst="rect">
            <a:avLst/>
          </a:prstGeom>
        </p:spPr>
        <p:txBody>
          <a:bodyPr wrap="none">
            <a:spAutoFit/>
          </a:bodyPr>
          <a:lstStyle/>
          <a:p>
            <a:pPr marL="438150" indent="-285750">
              <a:lnSpc>
                <a:spcPct val="150000"/>
              </a:lnSpc>
              <a:buFont typeface="Wingdings" panose="05000000000000000000" pitchFamily="2" charset="2"/>
              <a:buChar char="§"/>
            </a:pPr>
            <a:r>
              <a:rPr lang="fr-FR" dirty="0">
                <a:latin typeface="Segoe UI" panose="020B0502040204020203" pitchFamily="34" charset="0"/>
                <a:cs typeface="Segoe UI" panose="020B0502040204020203" pitchFamily="34" charset="0"/>
              </a:rPr>
              <a:t>Le gestionnaire d’événements </a:t>
            </a:r>
            <a:r>
              <a:rPr lang="fr-FR" b="1" dirty="0" err="1" smtClean="0">
                <a:latin typeface="Segoe UI" panose="020B0502040204020203" pitchFamily="34" charset="0"/>
                <a:cs typeface="Segoe UI" panose="020B0502040204020203" pitchFamily="34" charset="0"/>
              </a:rPr>
              <a:t>OnTimeChanged</a:t>
            </a:r>
            <a:endParaRPr lang="fr-FR" b="1"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99444277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8"/>
          <p:cNvSpPr txBox="1">
            <a:spLocks noChangeArrowheads="1"/>
          </p:cNvSpPr>
          <p:nvPr/>
        </p:nvSpPr>
        <p:spPr bwMode="auto">
          <a:xfrm>
            <a:off x="398915" y="552527"/>
            <a:ext cx="10834235" cy="53245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152400">
              <a:tabLst>
                <a:tab pos="5992813" algn="l"/>
              </a:tabLst>
              <a:defRPr>
                <a:solidFill>
                  <a:schemeClr val="tx1"/>
                </a:solidFill>
                <a:latin typeface="Calibri" panose="020F0502020204030204" pitchFamily="34" charset="0"/>
                <a:cs typeface="Arial" panose="020B0604020202020204" pitchFamily="34" charset="0"/>
              </a:defRPr>
            </a:lvl1pPr>
            <a:lvl2pPr marL="579438" indent="-242888">
              <a:tabLst>
                <a:tab pos="5992813" algn="l"/>
              </a:tabLst>
              <a:defRPr>
                <a:solidFill>
                  <a:schemeClr val="tx1"/>
                </a:solidFill>
                <a:latin typeface="Calibri" panose="020F0502020204030204" pitchFamily="34" charset="0"/>
                <a:cs typeface="Arial" panose="020B0604020202020204" pitchFamily="34" charset="0"/>
              </a:defRPr>
            </a:lvl2pPr>
            <a:lvl3pPr marL="1143000" indent="-228600">
              <a:tabLst>
                <a:tab pos="5992813" algn="l"/>
              </a:tabLst>
              <a:defRPr>
                <a:solidFill>
                  <a:schemeClr val="tx1"/>
                </a:solidFill>
                <a:latin typeface="Calibri" panose="020F0502020204030204" pitchFamily="34" charset="0"/>
                <a:cs typeface="Arial" panose="020B0604020202020204" pitchFamily="34" charset="0"/>
              </a:defRPr>
            </a:lvl3pPr>
            <a:lvl4pPr marL="1600200" indent="-228600">
              <a:tabLst>
                <a:tab pos="5992813" algn="l"/>
              </a:tabLst>
              <a:defRPr>
                <a:solidFill>
                  <a:schemeClr val="tx1"/>
                </a:solidFill>
                <a:latin typeface="Calibri" panose="020F0502020204030204" pitchFamily="34" charset="0"/>
                <a:cs typeface="Arial" panose="020B0604020202020204" pitchFamily="34" charset="0"/>
              </a:defRPr>
            </a:lvl4pPr>
            <a:lvl5pPr marL="2057400" indent="-228600">
              <a:tabLst>
                <a:tab pos="5992813" algn="l"/>
              </a:tabLst>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2200" u="sng" dirty="0" smtClean="0">
                <a:latin typeface="Segoe UI Symbol" panose="020B0502040204020203" pitchFamily="34" charset="0"/>
              </a:rPr>
              <a:t>Les </a:t>
            </a:r>
            <a:r>
              <a:rPr lang="en-US" altLang="en-US" sz="2200" u="sng" dirty="0" err="1" smtClean="0">
                <a:latin typeface="Segoe UI Symbol" panose="020B0502040204020203" pitchFamily="34" charset="0"/>
              </a:rPr>
              <a:t>contrôles</a:t>
            </a:r>
            <a:r>
              <a:rPr lang="en-US" altLang="en-US" sz="2200" u="sng" dirty="0" smtClean="0">
                <a:latin typeface="Segoe UI Symbol" panose="020B0502040204020203" pitchFamily="34" charset="0"/>
              </a:rPr>
              <a:t> </a:t>
            </a:r>
            <a:r>
              <a:rPr lang="en-US" altLang="en-US" sz="2200" u="sng" dirty="0" err="1" smtClean="0">
                <a:latin typeface="Segoe UI Symbol" panose="020B0502040204020203" pitchFamily="34" charset="0"/>
              </a:rPr>
              <a:t>d'entrées</a:t>
            </a:r>
            <a:r>
              <a:rPr lang="fr-FR" altLang="en-US" sz="2200" u="sng" dirty="0" smtClean="0">
                <a:latin typeface="Segoe UI Symbol" panose="020B0502040204020203" pitchFamily="34" charset="0"/>
              </a:rPr>
              <a:t>-</a:t>
            </a:r>
            <a:r>
              <a:rPr lang="fr-FR" altLang="en-US" sz="2200" u="sng" dirty="0" err="1" smtClean="0">
                <a:latin typeface="Segoe UI Symbol" panose="020B0502040204020203" pitchFamily="34" charset="0"/>
              </a:rPr>
              <a:t>Slider</a:t>
            </a:r>
            <a:endParaRPr lang="fr-FR" altLang="en-US" sz="2200" u="sng" dirty="0" smtClean="0">
              <a:latin typeface="Segoe UI Symbol" panose="020B0502040204020203" pitchFamily="34" charset="0"/>
            </a:endParaRPr>
          </a:p>
          <a:p>
            <a:pPr marL="438150" indent="-285750">
              <a:lnSpc>
                <a:spcPct val="150000"/>
              </a:lnSpc>
              <a:buFont typeface="Wingdings" panose="05000000000000000000" pitchFamily="2" charset="2"/>
              <a:buChar char="§"/>
            </a:pPr>
            <a:r>
              <a:rPr lang="fr-FR" dirty="0" smtClean="0">
                <a:latin typeface="Segoe UI" panose="020B0502040204020203" pitchFamily="34" charset="0"/>
                <a:cs typeface="Segoe UI" panose="020B0502040204020203" pitchFamily="34" charset="0"/>
              </a:rPr>
              <a:t>Le </a:t>
            </a:r>
            <a:r>
              <a:rPr lang="fr-FR" b="1" dirty="0" smtClean="0">
                <a:latin typeface="Segoe UI" panose="020B0502040204020203" pitchFamily="34" charset="0"/>
                <a:cs typeface="Segoe UI" panose="020B0502040204020203" pitchFamily="34" charset="0"/>
              </a:rPr>
              <a:t>Slider</a:t>
            </a:r>
            <a:r>
              <a:rPr lang="fr-FR" dirty="0" smtClean="0">
                <a:latin typeface="Segoe UI" panose="020B0502040204020203" pitchFamily="34" charset="0"/>
                <a:cs typeface="Segoe UI" panose="020B0502040204020203" pitchFamily="34" charset="0"/>
              </a:rPr>
              <a:t> </a:t>
            </a:r>
            <a:r>
              <a:rPr lang="fr-FR" dirty="0">
                <a:latin typeface="Segoe UI" panose="020B0502040204020203" pitchFamily="34" charset="0"/>
                <a:cs typeface="Segoe UI" panose="020B0502040204020203" pitchFamily="34" charset="0"/>
              </a:rPr>
              <a:t>est une barre </a:t>
            </a:r>
            <a:r>
              <a:rPr lang="fr-FR" dirty="0" smtClean="0">
                <a:latin typeface="Segoe UI" panose="020B0502040204020203" pitchFamily="34" charset="0"/>
                <a:cs typeface="Segoe UI" panose="020B0502040204020203" pitchFamily="34" charset="0"/>
              </a:rPr>
              <a:t>horizontale avec curseur </a:t>
            </a:r>
            <a:r>
              <a:rPr lang="fr-FR" dirty="0" err="1" smtClean="0">
                <a:latin typeface="Segoe UI" panose="020B0502040204020203" pitchFamily="34" charset="0"/>
                <a:cs typeface="Segoe UI" panose="020B0502040204020203" pitchFamily="34" charset="0"/>
              </a:rPr>
              <a:t>utlisé</a:t>
            </a:r>
            <a:r>
              <a:rPr lang="fr-FR" dirty="0" smtClean="0">
                <a:latin typeface="Segoe UI" panose="020B0502040204020203" pitchFamily="34" charset="0"/>
                <a:cs typeface="Segoe UI" panose="020B0502040204020203" pitchFamily="34" charset="0"/>
              </a:rPr>
              <a:t> pour définir </a:t>
            </a:r>
            <a:r>
              <a:rPr lang="fr-FR" dirty="0">
                <a:latin typeface="Segoe UI" panose="020B0502040204020203" pitchFamily="34" charset="0"/>
                <a:cs typeface="Segoe UI" panose="020B0502040204020203" pitchFamily="34" charset="0"/>
              </a:rPr>
              <a:t>une </a:t>
            </a:r>
            <a:r>
              <a:rPr lang="fr-FR" dirty="0" smtClean="0">
                <a:latin typeface="Segoe UI" panose="020B0502040204020203" pitchFamily="34" charset="0"/>
                <a:cs typeface="Segoe UI" panose="020B0502040204020203" pitchFamily="34" charset="0"/>
              </a:rPr>
              <a:t>valeur double </a:t>
            </a:r>
            <a:r>
              <a:rPr lang="fr-FR" dirty="0">
                <a:latin typeface="Segoe UI" panose="020B0502040204020203" pitchFamily="34" charset="0"/>
                <a:cs typeface="Segoe UI" panose="020B0502040204020203" pitchFamily="34" charset="0"/>
              </a:rPr>
              <a:t>à partir d’une plage </a:t>
            </a:r>
            <a:r>
              <a:rPr lang="fr-FR" dirty="0" smtClean="0">
                <a:latin typeface="Segoe UI" panose="020B0502040204020203" pitchFamily="34" charset="0"/>
                <a:cs typeface="Segoe UI" panose="020B0502040204020203" pitchFamily="34" charset="0"/>
              </a:rPr>
              <a:t>continue qui définit une valeur minimale et une valeur maximale.</a:t>
            </a:r>
            <a:endParaRPr lang="fr-FR" dirty="0">
              <a:latin typeface="Segoe UI" panose="020B0502040204020203" pitchFamily="34" charset="0"/>
              <a:cs typeface="Segoe UI" panose="020B0502040204020203" pitchFamily="34" charset="0"/>
            </a:endParaRPr>
          </a:p>
          <a:p>
            <a:pPr marL="865188" lvl="1" indent="-285750">
              <a:lnSpc>
                <a:spcPct val="150000"/>
              </a:lnSpc>
              <a:buFont typeface="Wingdings" panose="05000000000000000000" pitchFamily="2" charset="2"/>
              <a:buChar char="§"/>
            </a:pPr>
            <a:r>
              <a:rPr lang="fr-FR" dirty="0">
                <a:latin typeface="Segoe UI" panose="020B0502040204020203" pitchFamily="34" charset="0"/>
                <a:cs typeface="Segoe UI" panose="020B0502040204020203" pitchFamily="34" charset="0"/>
              </a:rPr>
              <a:t>L</a:t>
            </a:r>
            <a:r>
              <a:rPr lang="fr-FR" dirty="0" smtClean="0">
                <a:latin typeface="Segoe UI" panose="020B0502040204020203" pitchFamily="34" charset="0"/>
                <a:cs typeface="Segoe UI" panose="020B0502040204020203" pitchFamily="34" charset="0"/>
              </a:rPr>
              <a:t>es </a:t>
            </a:r>
            <a:r>
              <a:rPr lang="fr-FR" dirty="0">
                <a:latin typeface="Segoe UI" panose="020B0502040204020203" pitchFamily="34" charset="0"/>
                <a:cs typeface="Segoe UI" panose="020B0502040204020203" pitchFamily="34" charset="0"/>
              </a:rPr>
              <a:t>propriétés </a:t>
            </a:r>
            <a:r>
              <a:rPr lang="fr-FR" dirty="0" smtClean="0">
                <a:latin typeface="Segoe UI" panose="020B0502040204020203" pitchFamily="34" charset="0"/>
                <a:cs typeface="Segoe UI" panose="020B0502040204020203" pitchFamily="34" charset="0"/>
              </a:rPr>
              <a:t>communes du </a:t>
            </a:r>
            <a:r>
              <a:rPr lang="fr-FR" b="1" dirty="0" smtClean="0">
                <a:latin typeface="Segoe UI" panose="020B0502040204020203" pitchFamily="34" charset="0"/>
                <a:cs typeface="Segoe UI" panose="020B0502040204020203" pitchFamily="34" charset="0"/>
              </a:rPr>
              <a:t>Slider</a:t>
            </a:r>
            <a:r>
              <a:rPr lang="fr-FR" dirty="0" smtClean="0">
                <a:latin typeface="Segoe UI" panose="020B0502040204020203" pitchFamily="34" charset="0"/>
                <a:cs typeface="Segoe UI" panose="020B0502040204020203" pitchFamily="34" charset="0"/>
              </a:rPr>
              <a:t> sont :</a:t>
            </a:r>
            <a:endParaRPr lang="fr-FR" dirty="0">
              <a:latin typeface="Segoe UI" panose="020B0502040204020203" pitchFamily="34" charset="0"/>
              <a:cs typeface="Segoe UI" panose="020B0502040204020203" pitchFamily="34" charset="0"/>
            </a:endParaRPr>
          </a:p>
          <a:p>
            <a:pPr marL="865188" lvl="1" indent="-285750">
              <a:lnSpc>
                <a:spcPct val="150000"/>
              </a:lnSpc>
              <a:buFont typeface="Wingdings" panose="05000000000000000000" pitchFamily="2" charset="2"/>
              <a:buChar char="§"/>
            </a:pPr>
            <a:r>
              <a:rPr lang="fr-FR" b="1" dirty="0" smtClean="0">
                <a:latin typeface="Segoe UI" panose="020B0502040204020203" pitchFamily="34" charset="0"/>
                <a:cs typeface="Segoe UI" panose="020B0502040204020203" pitchFamily="34" charset="0"/>
              </a:rPr>
              <a:t>Minimum:</a:t>
            </a:r>
            <a:r>
              <a:rPr lang="fr-FR" dirty="0" smtClean="0">
                <a:latin typeface="Segoe UI" panose="020B0502040204020203" pitchFamily="34" charset="0"/>
                <a:cs typeface="Segoe UI" panose="020B0502040204020203" pitchFamily="34" charset="0"/>
              </a:rPr>
              <a:t> </a:t>
            </a:r>
            <a:r>
              <a:rPr lang="fr-FR" dirty="0">
                <a:latin typeface="Segoe UI" panose="020B0502040204020203" pitchFamily="34" charset="0"/>
                <a:cs typeface="Segoe UI" panose="020B0502040204020203" pitchFamily="34" charset="0"/>
              </a:rPr>
              <a:t>de type double, est le minimum de la plage, </a:t>
            </a:r>
            <a:endParaRPr lang="fr-FR" dirty="0" smtClean="0">
              <a:latin typeface="Segoe UI" panose="020B0502040204020203" pitchFamily="34" charset="0"/>
              <a:cs typeface="Segoe UI" panose="020B0502040204020203" pitchFamily="34" charset="0"/>
            </a:endParaRPr>
          </a:p>
          <a:p>
            <a:pPr lvl="1" indent="0">
              <a:lnSpc>
                <a:spcPct val="150000"/>
              </a:lnSpc>
            </a:pPr>
            <a:r>
              <a:rPr lang="fr-FR" dirty="0">
                <a:latin typeface="Segoe UI" panose="020B0502040204020203" pitchFamily="34" charset="0"/>
                <a:cs typeface="Segoe UI" panose="020B0502040204020203" pitchFamily="34" charset="0"/>
              </a:rPr>
              <a:t> </a:t>
            </a:r>
            <a:r>
              <a:rPr lang="fr-FR" dirty="0" smtClean="0">
                <a:latin typeface="Segoe UI" panose="020B0502040204020203" pitchFamily="34" charset="0"/>
                <a:cs typeface="Segoe UI" panose="020B0502040204020203" pitchFamily="34" charset="0"/>
              </a:rPr>
              <a:t>    avec </a:t>
            </a:r>
            <a:r>
              <a:rPr lang="fr-FR" dirty="0">
                <a:latin typeface="Segoe UI" panose="020B0502040204020203" pitchFamily="34" charset="0"/>
                <a:cs typeface="Segoe UI" panose="020B0502040204020203" pitchFamily="34" charset="0"/>
              </a:rPr>
              <a:t>une valeur par défaut de 0.</a:t>
            </a:r>
          </a:p>
          <a:p>
            <a:pPr marL="865188" lvl="1" indent="-285750">
              <a:lnSpc>
                <a:spcPct val="150000"/>
              </a:lnSpc>
              <a:buFont typeface="Wingdings" panose="05000000000000000000" pitchFamily="2" charset="2"/>
              <a:buChar char="§"/>
            </a:pPr>
            <a:r>
              <a:rPr lang="fr-FR" b="1" dirty="0" smtClean="0">
                <a:latin typeface="Segoe UI" panose="020B0502040204020203" pitchFamily="34" charset="0"/>
                <a:cs typeface="Segoe UI" panose="020B0502040204020203" pitchFamily="34" charset="0"/>
              </a:rPr>
              <a:t>Maximum: </a:t>
            </a:r>
            <a:r>
              <a:rPr lang="fr-FR" dirty="0">
                <a:latin typeface="Segoe UI" panose="020B0502040204020203" pitchFamily="34" charset="0"/>
                <a:cs typeface="Segoe UI" panose="020B0502040204020203" pitchFamily="34" charset="0"/>
              </a:rPr>
              <a:t>de type double, est le maximum de la plage, </a:t>
            </a:r>
            <a:endParaRPr lang="fr-FR" dirty="0" smtClean="0">
              <a:latin typeface="Segoe UI" panose="020B0502040204020203" pitchFamily="34" charset="0"/>
              <a:cs typeface="Segoe UI" panose="020B0502040204020203" pitchFamily="34" charset="0"/>
            </a:endParaRPr>
          </a:p>
          <a:p>
            <a:pPr lvl="1" indent="0">
              <a:lnSpc>
                <a:spcPct val="150000"/>
              </a:lnSpc>
            </a:pPr>
            <a:r>
              <a:rPr lang="fr-FR" dirty="0">
                <a:latin typeface="Segoe UI" panose="020B0502040204020203" pitchFamily="34" charset="0"/>
                <a:cs typeface="Segoe UI" panose="020B0502040204020203" pitchFamily="34" charset="0"/>
              </a:rPr>
              <a:t> </a:t>
            </a:r>
            <a:r>
              <a:rPr lang="fr-FR" dirty="0" smtClean="0">
                <a:latin typeface="Segoe UI" panose="020B0502040204020203" pitchFamily="34" charset="0"/>
                <a:cs typeface="Segoe UI" panose="020B0502040204020203" pitchFamily="34" charset="0"/>
              </a:rPr>
              <a:t>    avec </a:t>
            </a:r>
            <a:r>
              <a:rPr lang="fr-FR" dirty="0">
                <a:latin typeface="Segoe UI" panose="020B0502040204020203" pitchFamily="34" charset="0"/>
                <a:cs typeface="Segoe UI" panose="020B0502040204020203" pitchFamily="34" charset="0"/>
              </a:rPr>
              <a:t>une valeur par défaut de 1.</a:t>
            </a:r>
          </a:p>
          <a:p>
            <a:pPr marL="865188" lvl="1" indent="-285750">
              <a:lnSpc>
                <a:spcPct val="150000"/>
              </a:lnSpc>
              <a:buFont typeface="Wingdings" panose="05000000000000000000" pitchFamily="2" charset="2"/>
              <a:buChar char="§"/>
            </a:pPr>
            <a:r>
              <a:rPr lang="fr-FR" b="1" dirty="0" smtClean="0">
                <a:latin typeface="Segoe UI" panose="020B0502040204020203" pitchFamily="34" charset="0"/>
                <a:cs typeface="Segoe UI" panose="020B0502040204020203" pitchFamily="34" charset="0"/>
              </a:rPr>
              <a:t>Value: </a:t>
            </a:r>
            <a:r>
              <a:rPr lang="fr-FR" dirty="0">
                <a:latin typeface="Segoe UI" panose="020B0502040204020203" pitchFamily="34" charset="0"/>
                <a:cs typeface="Segoe UI" panose="020B0502040204020203" pitchFamily="34" charset="0"/>
              </a:rPr>
              <a:t>de type double, est la valeur du </a:t>
            </a:r>
            <a:r>
              <a:rPr lang="fr-FR" dirty="0" smtClean="0">
                <a:latin typeface="Segoe UI" panose="020B0502040204020203" pitchFamily="34" charset="0"/>
                <a:cs typeface="Segoe UI" panose="020B0502040204020203" pitchFamily="34" charset="0"/>
              </a:rPr>
              <a:t>curseur</a:t>
            </a:r>
            <a:endParaRPr lang="fr-FR" dirty="0">
              <a:latin typeface="Segoe UI" panose="020B0502040204020203" pitchFamily="34" charset="0"/>
              <a:cs typeface="Segoe UI" panose="020B0502040204020203" pitchFamily="34" charset="0"/>
            </a:endParaRPr>
          </a:p>
          <a:p>
            <a:pPr marL="865188" lvl="1" indent="-285750">
              <a:lnSpc>
                <a:spcPct val="150000"/>
              </a:lnSpc>
              <a:buFont typeface="Wingdings" panose="05000000000000000000" pitchFamily="2" charset="2"/>
              <a:buChar char="§"/>
            </a:pPr>
            <a:r>
              <a:rPr lang="fr-FR" b="1" dirty="0" err="1" smtClean="0">
                <a:latin typeface="Segoe UI" panose="020B0502040204020203" pitchFamily="34" charset="0"/>
                <a:cs typeface="Segoe UI" panose="020B0502040204020203" pitchFamily="34" charset="0"/>
              </a:rPr>
              <a:t>MinimumTrackColor</a:t>
            </a:r>
            <a:r>
              <a:rPr lang="fr-FR" b="1" dirty="0" smtClean="0">
                <a:latin typeface="Segoe UI" panose="020B0502040204020203" pitchFamily="34" charset="0"/>
                <a:cs typeface="Segoe UI" panose="020B0502040204020203" pitchFamily="34" charset="0"/>
              </a:rPr>
              <a:t>: </a:t>
            </a:r>
            <a:r>
              <a:rPr lang="fr-FR" dirty="0">
                <a:latin typeface="Segoe UI" panose="020B0502040204020203" pitchFamily="34" charset="0"/>
                <a:cs typeface="Segoe UI" panose="020B0502040204020203" pitchFamily="34" charset="0"/>
              </a:rPr>
              <a:t>de type </a:t>
            </a:r>
            <a:r>
              <a:rPr lang="fr-FR" dirty="0" err="1">
                <a:latin typeface="Segoe UI" panose="020B0502040204020203" pitchFamily="34" charset="0"/>
                <a:cs typeface="Segoe UI" panose="020B0502040204020203" pitchFamily="34" charset="0"/>
              </a:rPr>
              <a:t>Color</a:t>
            </a:r>
            <a:r>
              <a:rPr lang="fr-FR" dirty="0">
                <a:latin typeface="Segoe UI" panose="020B0502040204020203" pitchFamily="34" charset="0"/>
                <a:cs typeface="Segoe UI" panose="020B0502040204020203" pitchFamily="34" charset="0"/>
              </a:rPr>
              <a:t>, </a:t>
            </a:r>
            <a:r>
              <a:rPr lang="fr-FR" dirty="0" smtClean="0">
                <a:latin typeface="Segoe UI" panose="020B0502040204020203" pitchFamily="34" charset="0"/>
                <a:cs typeface="Segoe UI" panose="020B0502040204020203" pitchFamily="34" charset="0"/>
              </a:rPr>
              <a:t>c’est </a:t>
            </a:r>
            <a:r>
              <a:rPr lang="fr-FR" dirty="0">
                <a:latin typeface="Segoe UI" panose="020B0502040204020203" pitchFamily="34" charset="0"/>
                <a:cs typeface="Segoe UI" panose="020B0502040204020203" pitchFamily="34" charset="0"/>
              </a:rPr>
              <a:t>la couleur de la barre sur le côté gauche du pouce.</a:t>
            </a:r>
          </a:p>
          <a:p>
            <a:pPr marL="865188" lvl="1" indent="-285750">
              <a:lnSpc>
                <a:spcPct val="150000"/>
              </a:lnSpc>
              <a:buFont typeface="Wingdings" panose="05000000000000000000" pitchFamily="2" charset="2"/>
              <a:buChar char="§"/>
            </a:pPr>
            <a:r>
              <a:rPr lang="fr-FR" b="1" dirty="0" err="1" smtClean="0">
                <a:latin typeface="Segoe UI" panose="020B0502040204020203" pitchFamily="34" charset="0"/>
                <a:cs typeface="Segoe UI" panose="020B0502040204020203" pitchFamily="34" charset="0"/>
              </a:rPr>
              <a:t>MaximumTrackColor</a:t>
            </a:r>
            <a:r>
              <a:rPr lang="fr-FR" b="1" dirty="0" smtClean="0">
                <a:latin typeface="Segoe UI" panose="020B0502040204020203" pitchFamily="34" charset="0"/>
                <a:cs typeface="Segoe UI" panose="020B0502040204020203" pitchFamily="34" charset="0"/>
              </a:rPr>
              <a:t>: </a:t>
            </a:r>
            <a:r>
              <a:rPr lang="fr-FR" dirty="0">
                <a:latin typeface="Segoe UI" panose="020B0502040204020203" pitchFamily="34" charset="0"/>
                <a:cs typeface="Segoe UI" panose="020B0502040204020203" pitchFamily="34" charset="0"/>
              </a:rPr>
              <a:t>de type </a:t>
            </a:r>
            <a:r>
              <a:rPr lang="fr-FR" dirty="0" err="1">
                <a:latin typeface="Segoe UI" panose="020B0502040204020203" pitchFamily="34" charset="0"/>
                <a:cs typeface="Segoe UI" panose="020B0502040204020203" pitchFamily="34" charset="0"/>
              </a:rPr>
              <a:t>Color</a:t>
            </a:r>
            <a:r>
              <a:rPr lang="fr-FR" dirty="0">
                <a:latin typeface="Segoe UI" panose="020B0502040204020203" pitchFamily="34" charset="0"/>
                <a:cs typeface="Segoe UI" panose="020B0502040204020203" pitchFamily="34" charset="0"/>
              </a:rPr>
              <a:t>, </a:t>
            </a:r>
            <a:r>
              <a:rPr lang="fr-FR" dirty="0" smtClean="0">
                <a:latin typeface="Segoe UI" panose="020B0502040204020203" pitchFamily="34" charset="0"/>
                <a:cs typeface="Segoe UI" panose="020B0502040204020203" pitchFamily="34" charset="0"/>
              </a:rPr>
              <a:t>c’est </a:t>
            </a:r>
            <a:r>
              <a:rPr lang="fr-FR" dirty="0">
                <a:latin typeface="Segoe UI" panose="020B0502040204020203" pitchFamily="34" charset="0"/>
                <a:cs typeface="Segoe UI" panose="020B0502040204020203" pitchFamily="34" charset="0"/>
              </a:rPr>
              <a:t>la couleur de barre sur le côté droit du pouce.</a:t>
            </a:r>
          </a:p>
          <a:p>
            <a:pPr marL="865188" lvl="1" indent="-285750">
              <a:lnSpc>
                <a:spcPct val="150000"/>
              </a:lnSpc>
              <a:buFont typeface="Wingdings" panose="05000000000000000000" pitchFamily="2" charset="2"/>
              <a:buChar char="§"/>
            </a:pPr>
            <a:r>
              <a:rPr lang="fr-FR" b="1" dirty="0" err="1" smtClean="0">
                <a:latin typeface="Segoe UI" panose="020B0502040204020203" pitchFamily="34" charset="0"/>
                <a:cs typeface="Segoe UI" panose="020B0502040204020203" pitchFamily="34" charset="0"/>
              </a:rPr>
              <a:t>ThumbColor</a:t>
            </a:r>
            <a:r>
              <a:rPr lang="fr-FR" b="1" dirty="0" smtClean="0">
                <a:latin typeface="Segoe UI" panose="020B0502040204020203" pitchFamily="34" charset="0"/>
                <a:cs typeface="Segoe UI" panose="020B0502040204020203" pitchFamily="34" charset="0"/>
              </a:rPr>
              <a:t>: </a:t>
            </a:r>
            <a:r>
              <a:rPr lang="fr-FR" dirty="0">
                <a:latin typeface="Segoe UI" panose="020B0502040204020203" pitchFamily="34" charset="0"/>
                <a:cs typeface="Segoe UI" panose="020B0502040204020203" pitchFamily="34" charset="0"/>
              </a:rPr>
              <a:t>de type </a:t>
            </a:r>
            <a:r>
              <a:rPr lang="fr-FR" dirty="0" err="1">
                <a:latin typeface="Segoe UI" panose="020B0502040204020203" pitchFamily="34" charset="0"/>
                <a:cs typeface="Segoe UI" panose="020B0502040204020203" pitchFamily="34" charset="0"/>
              </a:rPr>
              <a:t>Color</a:t>
            </a:r>
            <a:r>
              <a:rPr lang="fr-FR" dirty="0">
                <a:latin typeface="Segoe UI" panose="020B0502040204020203" pitchFamily="34" charset="0"/>
                <a:cs typeface="Segoe UI" panose="020B0502040204020203" pitchFamily="34" charset="0"/>
              </a:rPr>
              <a:t>, </a:t>
            </a:r>
            <a:r>
              <a:rPr lang="fr-FR" dirty="0" smtClean="0">
                <a:latin typeface="Segoe UI" panose="020B0502040204020203" pitchFamily="34" charset="0"/>
                <a:cs typeface="Segoe UI" panose="020B0502040204020203" pitchFamily="34" charset="0"/>
              </a:rPr>
              <a:t>c’est </a:t>
            </a:r>
            <a:r>
              <a:rPr lang="fr-FR" dirty="0">
                <a:latin typeface="Segoe UI" panose="020B0502040204020203" pitchFamily="34" charset="0"/>
                <a:cs typeface="Segoe UI" panose="020B0502040204020203" pitchFamily="34" charset="0"/>
              </a:rPr>
              <a:t>la couleur du pouce.</a:t>
            </a:r>
          </a:p>
          <a:p>
            <a:pPr marL="865188" lvl="1" indent="-285750">
              <a:lnSpc>
                <a:spcPct val="150000"/>
              </a:lnSpc>
              <a:buFont typeface="Wingdings" panose="05000000000000000000" pitchFamily="2" charset="2"/>
              <a:buChar char="§"/>
            </a:pPr>
            <a:r>
              <a:rPr lang="fr-FR" b="1" dirty="0" err="1" smtClean="0">
                <a:latin typeface="Segoe UI" panose="020B0502040204020203" pitchFamily="34" charset="0"/>
                <a:cs typeface="Segoe UI" panose="020B0502040204020203" pitchFamily="34" charset="0"/>
              </a:rPr>
              <a:t>ThumbImageSource</a:t>
            </a:r>
            <a:r>
              <a:rPr lang="fr-FR" b="1" dirty="0" smtClean="0">
                <a:latin typeface="Segoe UI" panose="020B0502040204020203" pitchFamily="34" charset="0"/>
                <a:cs typeface="Segoe UI" panose="020B0502040204020203" pitchFamily="34" charset="0"/>
              </a:rPr>
              <a:t>: </a:t>
            </a:r>
            <a:r>
              <a:rPr lang="fr-FR" dirty="0">
                <a:latin typeface="Segoe UI" panose="020B0502040204020203" pitchFamily="34" charset="0"/>
                <a:cs typeface="Segoe UI" panose="020B0502040204020203" pitchFamily="34" charset="0"/>
              </a:rPr>
              <a:t>de type </a:t>
            </a:r>
            <a:r>
              <a:rPr lang="fr-FR" b="1" dirty="0" err="1">
                <a:latin typeface="Segoe UI" panose="020B0502040204020203" pitchFamily="34" charset="0"/>
                <a:cs typeface="Segoe UI" panose="020B0502040204020203" pitchFamily="34" charset="0"/>
              </a:rPr>
              <a:t>ImageSource</a:t>
            </a:r>
            <a:r>
              <a:rPr lang="fr-FR" dirty="0">
                <a:latin typeface="Segoe UI" panose="020B0502040204020203" pitchFamily="34" charset="0"/>
                <a:cs typeface="Segoe UI" panose="020B0502040204020203" pitchFamily="34" charset="0"/>
              </a:rPr>
              <a:t>, est </a:t>
            </a:r>
            <a:r>
              <a:rPr lang="fr-FR" dirty="0" smtClean="0">
                <a:latin typeface="Segoe UI" panose="020B0502040204020203" pitchFamily="34" charset="0"/>
                <a:cs typeface="Segoe UI" panose="020B0502040204020203" pitchFamily="34" charset="0"/>
              </a:rPr>
              <a:t>l’image qui représente le curseur</a:t>
            </a:r>
            <a:endParaRPr lang="fr-FR"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87123434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8"/>
          <p:cNvSpPr txBox="1">
            <a:spLocks noChangeArrowheads="1"/>
          </p:cNvSpPr>
          <p:nvPr/>
        </p:nvSpPr>
        <p:spPr bwMode="auto">
          <a:xfrm>
            <a:off x="398915" y="552527"/>
            <a:ext cx="11475048" cy="449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152400">
              <a:tabLst>
                <a:tab pos="5992813" algn="l"/>
              </a:tabLst>
              <a:defRPr>
                <a:solidFill>
                  <a:schemeClr val="tx1"/>
                </a:solidFill>
                <a:latin typeface="Calibri" panose="020F0502020204030204" pitchFamily="34" charset="0"/>
                <a:cs typeface="Arial" panose="020B0604020202020204" pitchFamily="34" charset="0"/>
              </a:defRPr>
            </a:lvl1pPr>
            <a:lvl2pPr marL="579438" indent="-242888">
              <a:tabLst>
                <a:tab pos="5992813" algn="l"/>
              </a:tabLst>
              <a:defRPr>
                <a:solidFill>
                  <a:schemeClr val="tx1"/>
                </a:solidFill>
                <a:latin typeface="Calibri" panose="020F0502020204030204" pitchFamily="34" charset="0"/>
                <a:cs typeface="Arial" panose="020B0604020202020204" pitchFamily="34" charset="0"/>
              </a:defRPr>
            </a:lvl2pPr>
            <a:lvl3pPr marL="1143000" indent="-228600">
              <a:tabLst>
                <a:tab pos="5992813" algn="l"/>
              </a:tabLst>
              <a:defRPr>
                <a:solidFill>
                  <a:schemeClr val="tx1"/>
                </a:solidFill>
                <a:latin typeface="Calibri" panose="020F0502020204030204" pitchFamily="34" charset="0"/>
                <a:cs typeface="Arial" panose="020B0604020202020204" pitchFamily="34" charset="0"/>
              </a:defRPr>
            </a:lvl3pPr>
            <a:lvl4pPr marL="1600200" indent="-228600">
              <a:tabLst>
                <a:tab pos="5992813" algn="l"/>
              </a:tabLst>
              <a:defRPr>
                <a:solidFill>
                  <a:schemeClr val="tx1"/>
                </a:solidFill>
                <a:latin typeface="Calibri" panose="020F0502020204030204" pitchFamily="34" charset="0"/>
                <a:cs typeface="Arial" panose="020B0604020202020204" pitchFamily="34" charset="0"/>
              </a:defRPr>
            </a:lvl4pPr>
            <a:lvl5pPr marL="2057400" indent="-228600">
              <a:tabLst>
                <a:tab pos="5992813" algn="l"/>
              </a:tabLst>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2200" u="sng" dirty="0" smtClean="0">
                <a:latin typeface="Segoe UI Symbol" panose="020B0502040204020203" pitchFamily="34" charset="0"/>
              </a:rPr>
              <a:t>Les </a:t>
            </a:r>
            <a:r>
              <a:rPr lang="en-US" altLang="en-US" sz="2200" u="sng" dirty="0" err="1" smtClean="0">
                <a:latin typeface="Segoe UI Symbol" panose="020B0502040204020203" pitchFamily="34" charset="0"/>
              </a:rPr>
              <a:t>contrôles</a:t>
            </a:r>
            <a:r>
              <a:rPr lang="en-US" altLang="en-US" sz="2200" u="sng" dirty="0" smtClean="0">
                <a:latin typeface="Segoe UI Symbol" panose="020B0502040204020203" pitchFamily="34" charset="0"/>
              </a:rPr>
              <a:t> </a:t>
            </a:r>
            <a:r>
              <a:rPr lang="en-US" altLang="en-US" sz="2200" u="sng" dirty="0" err="1" smtClean="0">
                <a:latin typeface="Segoe UI Symbol" panose="020B0502040204020203" pitchFamily="34" charset="0"/>
              </a:rPr>
              <a:t>d'entrées</a:t>
            </a:r>
            <a:r>
              <a:rPr lang="fr-FR" altLang="en-US" sz="2200" u="sng" dirty="0" smtClean="0">
                <a:latin typeface="Segoe UI Symbol" panose="020B0502040204020203" pitchFamily="34" charset="0"/>
              </a:rPr>
              <a:t>-Stepper</a:t>
            </a:r>
            <a:endParaRPr lang="fr-FR" altLang="en-US" sz="2200" u="sng" dirty="0" smtClean="0">
              <a:latin typeface="Segoe UI Symbol" panose="020B0502040204020203" pitchFamily="34" charset="0"/>
            </a:endParaRPr>
          </a:p>
          <a:p>
            <a:pPr marL="438150" indent="-285750">
              <a:lnSpc>
                <a:spcPct val="150000"/>
              </a:lnSpc>
              <a:buFont typeface="Wingdings" panose="05000000000000000000" pitchFamily="2" charset="2"/>
              <a:buChar char="§"/>
            </a:pPr>
            <a:r>
              <a:rPr lang="fr-FR" dirty="0">
                <a:latin typeface="Segoe UI" panose="020B0502040204020203" pitchFamily="34" charset="0"/>
                <a:cs typeface="Segoe UI" panose="020B0502040204020203" pitchFamily="34" charset="0"/>
              </a:rPr>
              <a:t>Le contrôle </a:t>
            </a:r>
            <a:r>
              <a:rPr lang="fr-FR" b="1" dirty="0">
                <a:latin typeface="Segoe UI" panose="020B0502040204020203" pitchFamily="34" charset="0"/>
                <a:cs typeface="Segoe UI" panose="020B0502040204020203" pitchFamily="34" charset="0"/>
              </a:rPr>
              <a:t>Stepper</a:t>
            </a:r>
            <a:r>
              <a:rPr lang="fr-FR" dirty="0">
                <a:latin typeface="Segoe UI" panose="020B0502040204020203" pitchFamily="34" charset="0"/>
                <a:cs typeface="Segoe UI" panose="020B0502040204020203" pitchFamily="34" charset="0"/>
              </a:rPr>
              <a:t> permet de sélectionner une valeur numérique à partir d’une plage de valeurs. Il se compose de deux boutons étiquetés avec des signes moins et plus. Ces boutons peuvent être manipulés par l’utilisateur pour sélectionner de manière incrémentielle une </a:t>
            </a:r>
            <a:r>
              <a:rPr lang="fr-FR" dirty="0" smtClean="0">
                <a:latin typeface="Segoe UI" panose="020B0502040204020203" pitchFamily="34" charset="0"/>
                <a:cs typeface="Segoe UI" panose="020B0502040204020203" pitchFamily="34" charset="0"/>
              </a:rPr>
              <a:t>valeur double</a:t>
            </a:r>
            <a:endParaRPr lang="fr-FR" dirty="0">
              <a:latin typeface="Segoe UI" panose="020B0502040204020203" pitchFamily="34" charset="0"/>
              <a:cs typeface="Segoe UI" panose="020B0502040204020203" pitchFamily="34" charset="0"/>
            </a:endParaRPr>
          </a:p>
          <a:p>
            <a:pPr marL="438150" indent="-285750">
              <a:lnSpc>
                <a:spcPct val="150000"/>
              </a:lnSpc>
              <a:buFont typeface="Wingdings" panose="05000000000000000000" pitchFamily="2" charset="2"/>
              <a:buChar char="§"/>
            </a:pPr>
            <a:r>
              <a:rPr lang="fr-FR" dirty="0" smtClean="0">
                <a:latin typeface="Segoe UI" panose="020B0502040204020203" pitchFamily="34" charset="0"/>
                <a:cs typeface="Segoe UI" panose="020B0502040204020203" pitchFamily="34" charset="0"/>
              </a:rPr>
              <a:t>Le </a:t>
            </a:r>
            <a:r>
              <a:rPr lang="fr-FR" b="1" dirty="0" smtClean="0">
                <a:latin typeface="Segoe UI" panose="020B0502040204020203" pitchFamily="34" charset="0"/>
                <a:cs typeface="Segoe UI" panose="020B0502040204020203" pitchFamily="34" charset="0"/>
              </a:rPr>
              <a:t>Stepper</a:t>
            </a:r>
            <a:r>
              <a:rPr lang="fr-FR" dirty="0" smtClean="0">
                <a:latin typeface="Segoe UI" panose="020B0502040204020203" pitchFamily="34" charset="0"/>
                <a:cs typeface="Segoe UI" panose="020B0502040204020203" pitchFamily="34" charset="0"/>
              </a:rPr>
              <a:t> définit </a:t>
            </a:r>
            <a:r>
              <a:rPr lang="fr-FR" dirty="0">
                <a:latin typeface="Segoe UI" panose="020B0502040204020203" pitchFamily="34" charset="0"/>
                <a:cs typeface="Segoe UI" panose="020B0502040204020203" pitchFamily="34" charset="0"/>
              </a:rPr>
              <a:t>quatre propriétés de type double:</a:t>
            </a:r>
          </a:p>
          <a:p>
            <a:pPr marL="438150" indent="-285750">
              <a:lnSpc>
                <a:spcPct val="150000"/>
              </a:lnSpc>
              <a:buFont typeface="Wingdings" panose="05000000000000000000" pitchFamily="2" charset="2"/>
              <a:buChar char="§"/>
            </a:pPr>
            <a:endParaRPr lang="fr-FR" dirty="0">
              <a:latin typeface="Segoe UI" panose="020B0502040204020203" pitchFamily="34" charset="0"/>
              <a:cs typeface="Segoe UI" panose="020B0502040204020203" pitchFamily="34" charset="0"/>
            </a:endParaRPr>
          </a:p>
          <a:p>
            <a:pPr marL="865188" lvl="1" indent="-285750">
              <a:lnSpc>
                <a:spcPct val="150000"/>
              </a:lnSpc>
              <a:buFont typeface="Wingdings" panose="05000000000000000000" pitchFamily="2" charset="2"/>
              <a:buChar char="§"/>
            </a:pPr>
            <a:r>
              <a:rPr lang="fr-FR" dirty="0">
                <a:latin typeface="Segoe UI" panose="020B0502040204020203" pitchFamily="34" charset="0"/>
                <a:cs typeface="Segoe UI" panose="020B0502040204020203" pitchFamily="34" charset="0"/>
              </a:rPr>
              <a:t>Increment est la quantité par laquelle modifier la valeur sélectionnée par, avec une valeur par défaut de 1.</a:t>
            </a:r>
          </a:p>
          <a:p>
            <a:pPr marL="865188" lvl="1" indent="-285750">
              <a:lnSpc>
                <a:spcPct val="150000"/>
              </a:lnSpc>
              <a:buFont typeface="Wingdings" panose="05000000000000000000" pitchFamily="2" charset="2"/>
              <a:buChar char="§"/>
            </a:pPr>
            <a:r>
              <a:rPr lang="fr-FR" dirty="0">
                <a:latin typeface="Segoe UI" panose="020B0502040204020203" pitchFamily="34" charset="0"/>
                <a:cs typeface="Segoe UI" panose="020B0502040204020203" pitchFamily="34" charset="0"/>
              </a:rPr>
              <a:t>Minimum est le minimum de la plage, avec une valeur par défaut de 0.</a:t>
            </a:r>
          </a:p>
          <a:p>
            <a:pPr marL="865188" lvl="1" indent="-285750">
              <a:lnSpc>
                <a:spcPct val="150000"/>
              </a:lnSpc>
              <a:buFont typeface="Wingdings" panose="05000000000000000000" pitchFamily="2" charset="2"/>
              <a:buChar char="§"/>
            </a:pPr>
            <a:r>
              <a:rPr lang="fr-FR" dirty="0">
                <a:latin typeface="Segoe UI" panose="020B0502040204020203" pitchFamily="34" charset="0"/>
                <a:cs typeface="Segoe UI" panose="020B0502040204020203" pitchFamily="34" charset="0"/>
              </a:rPr>
              <a:t>Maximum est la valeur maximale de la plage, avec une valeur par défaut de 100.</a:t>
            </a:r>
          </a:p>
          <a:p>
            <a:pPr marL="865188" lvl="1" indent="-285750">
              <a:lnSpc>
                <a:spcPct val="150000"/>
              </a:lnSpc>
              <a:buFont typeface="Wingdings" panose="05000000000000000000" pitchFamily="2" charset="2"/>
              <a:buChar char="§"/>
            </a:pPr>
            <a:r>
              <a:rPr lang="fr-FR" dirty="0">
                <a:latin typeface="Segoe UI" panose="020B0502040204020203" pitchFamily="34" charset="0"/>
                <a:cs typeface="Segoe UI" panose="020B0502040204020203" pitchFamily="34" charset="0"/>
              </a:rPr>
              <a:t>Value est la valeur du pas à pas, qui peut être comprise entre Minimum et Maximum et a une valeur par défaut de 0.</a:t>
            </a:r>
          </a:p>
        </p:txBody>
      </p:sp>
    </p:spTree>
    <p:extLst>
      <p:ext uri="{BB962C8B-B14F-4D97-AF65-F5344CB8AC3E}">
        <p14:creationId xmlns:p14="http://schemas.microsoft.com/office/powerpoint/2010/main" val="307930796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8"/>
          <p:cNvSpPr txBox="1">
            <a:spLocks noChangeArrowheads="1"/>
          </p:cNvSpPr>
          <p:nvPr/>
        </p:nvSpPr>
        <p:spPr bwMode="auto">
          <a:xfrm>
            <a:off x="398915" y="552527"/>
            <a:ext cx="11475048" cy="4078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152400">
              <a:tabLst>
                <a:tab pos="5992813" algn="l"/>
              </a:tabLst>
              <a:defRPr>
                <a:solidFill>
                  <a:schemeClr val="tx1"/>
                </a:solidFill>
                <a:latin typeface="Calibri" panose="020F0502020204030204" pitchFamily="34" charset="0"/>
                <a:cs typeface="Arial" panose="020B0604020202020204" pitchFamily="34" charset="0"/>
              </a:defRPr>
            </a:lvl1pPr>
            <a:lvl2pPr marL="579438" indent="-242888">
              <a:tabLst>
                <a:tab pos="5992813" algn="l"/>
              </a:tabLst>
              <a:defRPr>
                <a:solidFill>
                  <a:schemeClr val="tx1"/>
                </a:solidFill>
                <a:latin typeface="Calibri" panose="020F0502020204030204" pitchFamily="34" charset="0"/>
                <a:cs typeface="Arial" panose="020B0604020202020204" pitchFamily="34" charset="0"/>
              </a:defRPr>
            </a:lvl2pPr>
            <a:lvl3pPr marL="1143000" indent="-228600">
              <a:tabLst>
                <a:tab pos="5992813" algn="l"/>
              </a:tabLst>
              <a:defRPr>
                <a:solidFill>
                  <a:schemeClr val="tx1"/>
                </a:solidFill>
                <a:latin typeface="Calibri" panose="020F0502020204030204" pitchFamily="34" charset="0"/>
                <a:cs typeface="Arial" panose="020B0604020202020204" pitchFamily="34" charset="0"/>
              </a:defRPr>
            </a:lvl3pPr>
            <a:lvl4pPr marL="1600200" indent="-228600">
              <a:tabLst>
                <a:tab pos="5992813" algn="l"/>
              </a:tabLst>
              <a:defRPr>
                <a:solidFill>
                  <a:schemeClr val="tx1"/>
                </a:solidFill>
                <a:latin typeface="Calibri" panose="020F0502020204030204" pitchFamily="34" charset="0"/>
                <a:cs typeface="Arial" panose="020B0604020202020204" pitchFamily="34" charset="0"/>
              </a:defRPr>
            </a:lvl4pPr>
            <a:lvl5pPr marL="2057400" indent="-228600">
              <a:tabLst>
                <a:tab pos="5992813" algn="l"/>
              </a:tabLst>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2200" u="sng" dirty="0">
                <a:latin typeface="Segoe UI Symbol" panose="020B0502040204020203" pitchFamily="34" charset="0"/>
              </a:rPr>
              <a:t>L</a:t>
            </a:r>
            <a:r>
              <a:rPr lang="en-US" altLang="en-US" sz="2200" u="sng" dirty="0" smtClean="0">
                <a:latin typeface="Segoe UI Symbol" panose="020B0502040204020203" pitchFamily="34" charset="0"/>
              </a:rPr>
              <a:t>es </a:t>
            </a:r>
            <a:r>
              <a:rPr lang="fr-FR" altLang="en-US" sz="2200" u="sng" dirty="0" smtClean="0">
                <a:latin typeface="Segoe UI Symbol" panose="020B0502040204020203" pitchFamily="34" charset="0"/>
              </a:rPr>
              <a:t>collections</a:t>
            </a:r>
          </a:p>
          <a:p>
            <a:pPr marL="438150" indent="-285750">
              <a:lnSpc>
                <a:spcPct val="150000"/>
              </a:lnSpc>
              <a:buFont typeface="Wingdings" panose="05000000000000000000" pitchFamily="2" charset="2"/>
              <a:buChar char="§"/>
            </a:pPr>
            <a:r>
              <a:rPr lang="fr-FR" dirty="0" smtClean="0">
                <a:latin typeface="Segoe UI" panose="020B0502040204020203" pitchFamily="34" charset="0"/>
                <a:cs typeface="Segoe UI" panose="020B0502040204020203" pitchFamily="34" charset="0"/>
              </a:rPr>
              <a:t>Avant de commencer avec les collections, il faut tout d’abord savoir qu’il  y a deux propriétés communes qui sont partagées et utilisées par l’ensemble des collections </a:t>
            </a:r>
          </a:p>
          <a:p>
            <a:pPr marL="865188" lvl="1" indent="-285750">
              <a:lnSpc>
                <a:spcPct val="150000"/>
              </a:lnSpc>
              <a:buFont typeface="Wingdings" panose="05000000000000000000" pitchFamily="2" charset="2"/>
              <a:buChar char="§"/>
            </a:pPr>
            <a:r>
              <a:rPr lang="fr-FR" b="1" dirty="0" err="1" smtClean="0">
                <a:latin typeface="Segoe UI" panose="020B0502040204020203" pitchFamily="34" charset="0"/>
                <a:cs typeface="Segoe UI" panose="020B0502040204020203" pitchFamily="34" charset="0"/>
              </a:rPr>
              <a:t>ItemsSource</a:t>
            </a:r>
            <a:r>
              <a:rPr lang="fr-FR" b="1" dirty="0" smtClean="0">
                <a:latin typeface="Segoe UI" panose="020B0502040204020203" pitchFamily="34" charset="0"/>
                <a:cs typeface="Segoe UI" panose="020B0502040204020203" pitchFamily="34" charset="0"/>
              </a:rPr>
              <a:t>: </a:t>
            </a:r>
            <a:r>
              <a:rPr lang="fr-FR" dirty="0" smtClean="0">
                <a:latin typeface="Segoe UI" panose="020B0502040204020203" pitchFamily="34" charset="0"/>
                <a:cs typeface="Segoe UI" panose="020B0502040204020203" pitchFamily="34" charset="0"/>
              </a:rPr>
              <a:t>de type IEnumerable&lt;T&gt; où T est un type générique, </a:t>
            </a:r>
            <a:r>
              <a:rPr lang="fr-FR" dirty="0" err="1" smtClean="0">
                <a:latin typeface="Segoe UI" panose="020B0502040204020203" pitchFamily="34" charset="0"/>
                <a:cs typeface="Segoe UI" panose="020B0502040204020203" pitchFamily="34" charset="0"/>
              </a:rPr>
              <a:t>ItemsSource</a:t>
            </a:r>
            <a:r>
              <a:rPr lang="fr-FR" dirty="0" smtClean="0">
                <a:latin typeface="Segoe UI" panose="020B0502040204020203" pitchFamily="34" charset="0"/>
                <a:cs typeface="Segoe UI" panose="020B0502040204020203" pitchFamily="34" charset="0"/>
              </a:rPr>
              <a:t> alimente la collection avec les éléments</a:t>
            </a:r>
          </a:p>
          <a:p>
            <a:pPr marL="865188" lvl="1" indent="-285750">
              <a:lnSpc>
                <a:spcPct val="150000"/>
              </a:lnSpc>
              <a:buFont typeface="Wingdings" panose="05000000000000000000" pitchFamily="2" charset="2"/>
              <a:buChar char="§"/>
            </a:pPr>
            <a:r>
              <a:rPr lang="fr-FR" b="1" dirty="0" err="1" smtClean="0">
                <a:latin typeface="Segoe UI" panose="020B0502040204020203" pitchFamily="34" charset="0"/>
                <a:cs typeface="Segoe UI" panose="020B0502040204020203" pitchFamily="34" charset="0"/>
              </a:rPr>
              <a:t>ItemsTemplace</a:t>
            </a:r>
            <a:r>
              <a:rPr lang="fr-FR" b="1" dirty="0" smtClean="0">
                <a:latin typeface="Segoe UI" panose="020B0502040204020203" pitchFamily="34" charset="0"/>
                <a:cs typeface="Segoe UI" panose="020B0502040204020203" pitchFamily="34" charset="0"/>
              </a:rPr>
              <a:t>:</a:t>
            </a:r>
            <a:r>
              <a:rPr lang="fr-FR" dirty="0" smtClean="0">
                <a:latin typeface="Segoe UI" panose="020B0502040204020203" pitchFamily="34" charset="0"/>
                <a:cs typeface="Segoe UI" panose="020B0502040204020203" pitchFamily="34" charset="0"/>
              </a:rPr>
              <a:t> de type DataTemplate qui permet de définir l’aspect visuel des éléments affiché dans la collection </a:t>
            </a:r>
          </a:p>
          <a:p>
            <a:pPr marL="266700" lvl="1" indent="184150">
              <a:lnSpc>
                <a:spcPct val="150000"/>
              </a:lnSpc>
              <a:buFont typeface="Wingdings" panose="05000000000000000000" pitchFamily="2" charset="2"/>
              <a:buChar char="§"/>
              <a:tabLst>
                <a:tab pos="177800" algn="l"/>
                <a:tab pos="5992813" algn="l"/>
              </a:tabLst>
            </a:pPr>
            <a:r>
              <a:rPr lang="fr-FR" dirty="0" smtClean="0">
                <a:latin typeface="Segoe UI" panose="020B0502040204020203" pitchFamily="34" charset="0"/>
                <a:cs typeface="Segoe UI" panose="020B0502040204020203" pitchFamily="34" charset="0"/>
              </a:rPr>
              <a:t>Les collections peuvent être </a:t>
            </a:r>
            <a:r>
              <a:rPr lang="fr-FR" dirty="0" smtClean="0">
                <a:latin typeface="Segoe UI" panose="020B0502040204020203" pitchFamily="34" charset="0"/>
                <a:cs typeface="Segoe UI" panose="020B0502040204020203" pitchFamily="34" charset="0"/>
              </a:rPr>
              <a:t>traitées </a:t>
            </a:r>
            <a:r>
              <a:rPr lang="fr-FR" dirty="0" smtClean="0">
                <a:latin typeface="Segoe UI" panose="020B0502040204020203" pitchFamily="34" charset="0"/>
                <a:cs typeface="Segoe UI" panose="020B0502040204020203" pitchFamily="34" charset="0"/>
              </a:rPr>
              <a:t>en XAML ou via le code </a:t>
            </a:r>
          </a:p>
          <a:p>
            <a:pPr marL="266700" lvl="1" indent="184150">
              <a:lnSpc>
                <a:spcPct val="150000"/>
              </a:lnSpc>
              <a:buFont typeface="Wingdings" panose="05000000000000000000" pitchFamily="2" charset="2"/>
              <a:buChar char="§"/>
              <a:tabLst>
                <a:tab pos="177800" algn="l"/>
                <a:tab pos="5992813" algn="l"/>
              </a:tabLst>
            </a:pPr>
            <a:r>
              <a:rPr lang="fr-FR" dirty="0" smtClean="0">
                <a:latin typeface="Segoe UI" panose="020B0502040204020203" pitchFamily="34" charset="0"/>
                <a:cs typeface="Segoe UI" panose="020B0502040204020203" pitchFamily="34" charset="0"/>
              </a:rPr>
              <a:t>Dans la plupart des cas elles sont liées via une classe </a:t>
            </a:r>
            <a:r>
              <a:rPr lang="fr-FR" b="1" dirty="0" smtClean="0">
                <a:latin typeface="Segoe UI" panose="020B0502040204020203" pitchFamily="34" charset="0"/>
                <a:cs typeface="Segoe UI" panose="020B0502040204020203" pitchFamily="34" charset="0"/>
              </a:rPr>
              <a:t>ViewModel</a:t>
            </a:r>
          </a:p>
          <a:p>
            <a:pPr marL="266700" lvl="1" indent="184150">
              <a:lnSpc>
                <a:spcPct val="150000"/>
              </a:lnSpc>
              <a:buFont typeface="Wingdings" panose="05000000000000000000" pitchFamily="2" charset="2"/>
              <a:buChar char="§"/>
              <a:tabLst>
                <a:tab pos="177800" algn="l"/>
                <a:tab pos="5992813" algn="l"/>
              </a:tabLst>
            </a:pPr>
            <a:r>
              <a:rPr lang="fr-FR" dirty="0" smtClean="0">
                <a:latin typeface="Segoe UI" panose="020B0502040204020203" pitchFamily="34" charset="0"/>
                <a:cs typeface="Segoe UI" panose="020B0502040204020203" pitchFamily="34" charset="0"/>
              </a:rPr>
              <a:t>Le type de liste utilisée dans ce cas est </a:t>
            </a:r>
            <a:r>
              <a:rPr lang="fr-FR" b="1" dirty="0" err="1" smtClean="0">
                <a:latin typeface="Segoe UI" panose="020B0502040204020203" pitchFamily="34" charset="0"/>
                <a:cs typeface="Segoe UI" panose="020B0502040204020203" pitchFamily="34" charset="0"/>
              </a:rPr>
              <a:t>ObservableCollection</a:t>
            </a:r>
            <a:r>
              <a:rPr lang="fr-FR" b="1" dirty="0" smtClean="0">
                <a:latin typeface="Segoe UI" panose="020B0502040204020203" pitchFamily="34" charset="0"/>
                <a:cs typeface="Segoe UI" panose="020B0502040204020203" pitchFamily="34" charset="0"/>
              </a:rPr>
              <a:t>&lt;T&gt;</a:t>
            </a:r>
            <a:r>
              <a:rPr lang="fr-FR" dirty="0" smtClean="0">
                <a:latin typeface="Segoe UI" panose="020B0502040204020203" pitchFamily="34" charset="0"/>
                <a:cs typeface="Segoe UI" panose="020B0502040204020203" pitchFamily="34" charset="0"/>
              </a:rPr>
              <a:t> </a:t>
            </a:r>
            <a:endParaRPr lang="fr-FR"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16100270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8"/>
          <p:cNvSpPr txBox="1">
            <a:spLocks noChangeArrowheads="1"/>
          </p:cNvSpPr>
          <p:nvPr/>
        </p:nvSpPr>
        <p:spPr bwMode="auto">
          <a:xfrm>
            <a:off x="398915" y="552527"/>
            <a:ext cx="11475048" cy="15850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152400">
              <a:tabLst>
                <a:tab pos="5992813" algn="l"/>
              </a:tabLst>
              <a:defRPr>
                <a:solidFill>
                  <a:schemeClr val="tx1"/>
                </a:solidFill>
                <a:latin typeface="Calibri" panose="020F0502020204030204" pitchFamily="34" charset="0"/>
                <a:cs typeface="Arial" panose="020B0604020202020204" pitchFamily="34" charset="0"/>
              </a:defRPr>
            </a:lvl1pPr>
            <a:lvl2pPr marL="579438" indent="-242888">
              <a:tabLst>
                <a:tab pos="5992813" algn="l"/>
              </a:tabLst>
              <a:defRPr>
                <a:solidFill>
                  <a:schemeClr val="tx1"/>
                </a:solidFill>
                <a:latin typeface="Calibri" panose="020F0502020204030204" pitchFamily="34" charset="0"/>
                <a:cs typeface="Arial" panose="020B0604020202020204" pitchFamily="34" charset="0"/>
              </a:defRPr>
            </a:lvl2pPr>
            <a:lvl3pPr marL="1143000" indent="-228600">
              <a:tabLst>
                <a:tab pos="5992813" algn="l"/>
              </a:tabLst>
              <a:defRPr>
                <a:solidFill>
                  <a:schemeClr val="tx1"/>
                </a:solidFill>
                <a:latin typeface="Calibri" panose="020F0502020204030204" pitchFamily="34" charset="0"/>
                <a:cs typeface="Arial" panose="020B0604020202020204" pitchFamily="34" charset="0"/>
              </a:defRPr>
            </a:lvl3pPr>
            <a:lvl4pPr marL="1600200" indent="-228600">
              <a:tabLst>
                <a:tab pos="5992813" algn="l"/>
              </a:tabLst>
              <a:defRPr>
                <a:solidFill>
                  <a:schemeClr val="tx1"/>
                </a:solidFill>
                <a:latin typeface="Calibri" panose="020F0502020204030204" pitchFamily="34" charset="0"/>
                <a:cs typeface="Arial" panose="020B0604020202020204" pitchFamily="34" charset="0"/>
              </a:defRPr>
            </a:lvl4pPr>
            <a:lvl5pPr marL="2057400" indent="-228600">
              <a:tabLst>
                <a:tab pos="5992813" algn="l"/>
              </a:tabLst>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2200" u="sng" dirty="0">
                <a:latin typeface="Segoe UI Symbol" panose="020B0502040204020203" pitchFamily="34" charset="0"/>
              </a:rPr>
              <a:t>L</a:t>
            </a:r>
            <a:r>
              <a:rPr lang="en-US" altLang="en-US" sz="2200" u="sng" dirty="0" smtClean="0">
                <a:latin typeface="Segoe UI Symbol" panose="020B0502040204020203" pitchFamily="34" charset="0"/>
              </a:rPr>
              <a:t>es </a:t>
            </a:r>
            <a:r>
              <a:rPr lang="fr-FR" altLang="en-US" sz="2200" u="sng" dirty="0" smtClean="0">
                <a:latin typeface="Segoe UI Symbol" panose="020B0502040204020203" pitchFamily="34" charset="0"/>
              </a:rPr>
              <a:t>collections-</a:t>
            </a:r>
            <a:r>
              <a:rPr lang="fr-FR" altLang="en-US" sz="2200" u="sng" dirty="0" err="1" smtClean="0">
                <a:latin typeface="Segoe UI Symbol" panose="020B0502040204020203" pitchFamily="34" charset="0"/>
              </a:rPr>
              <a:t>CarrouselView</a:t>
            </a:r>
            <a:endParaRPr lang="fr-FR" altLang="en-US" sz="2200" u="sng" dirty="0" smtClean="0">
              <a:latin typeface="Segoe UI Symbol" panose="020B0502040204020203" pitchFamily="34" charset="0"/>
            </a:endParaRPr>
          </a:p>
          <a:p>
            <a:pPr marL="438150" indent="-285750">
              <a:lnSpc>
                <a:spcPct val="150000"/>
              </a:lnSpc>
              <a:buFont typeface="Wingdings" panose="05000000000000000000" pitchFamily="2" charset="2"/>
              <a:buChar char="§"/>
            </a:pPr>
            <a:r>
              <a:rPr lang="fr-FR" dirty="0" smtClean="0"/>
              <a:t>Le contrôle </a:t>
            </a:r>
            <a:r>
              <a:rPr lang="fr-FR" b="1" dirty="0" err="1" smtClean="0"/>
              <a:t>CarouselView</a:t>
            </a:r>
            <a:r>
              <a:rPr lang="fr-FR" dirty="0"/>
              <a:t> affiche ses éléments dans une orientation horizontale. Un seul élément s’affiche à l’écran, avec des mouvements de balayage qui entraînent une navigation vers l’avant et vers l’arrière dans la collection d’éléments. En outre, des indicateurs peuvent être affichés qui représentent chaque élément dans le </a:t>
            </a:r>
            <a:r>
              <a:rPr lang="fr-FR" b="1" dirty="0" err="1"/>
              <a:t>CarouselView</a:t>
            </a:r>
            <a:endParaRPr lang="fr-FR" b="1" dirty="0">
              <a:latin typeface="Segoe UI" panose="020B0502040204020203" pitchFamily="34" charset="0"/>
              <a:cs typeface="Segoe UI" panose="020B0502040204020203" pitchFamily="34" charset="0"/>
            </a:endParaRPr>
          </a:p>
        </p:txBody>
      </p:sp>
      <p:sp>
        <p:nvSpPr>
          <p:cNvPr id="5" name="Rectangle 4"/>
          <p:cNvSpPr/>
          <p:nvPr/>
        </p:nvSpPr>
        <p:spPr>
          <a:xfrm>
            <a:off x="876299" y="2247702"/>
            <a:ext cx="8818685" cy="4001095"/>
          </a:xfrm>
          <a:prstGeom prst="rect">
            <a:avLst/>
          </a:prstGeom>
        </p:spPr>
        <p:txBody>
          <a:bodyPr wrap="square">
            <a:spAutoFit/>
          </a:bodyPr>
          <a:lstStyle/>
          <a:p>
            <a:r>
              <a:rPr lang="fr-FR" sz="1200" dirty="0">
                <a:solidFill>
                  <a:srgbClr val="000000"/>
                </a:solidFill>
                <a:latin typeface="Cascadia Mono" panose="020B0609020000020004" pitchFamily="49" charset="0"/>
              </a:rPr>
              <a:t> </a:t>
            </a:r>
            <a:r>
              <a:rPr lang="fr-FR" sz="1200" dirty="0">
                <a:solidFill>
                  <a:srgbClr val="0000FF"/>
                </a:solidFill>
                <a:latin typeface="Cascadia Mono" panose="020B0609020000020004" pitchFamily="49" charset="0"/>
              </a:rPr>
              <a:t>&lt;</a:t>
            </a:r>
            <a:r>
              <a:rPr lang="fr-FR" sz="1200" dirty="0" err="1">
                <a:solidFill>
                  <a:srgbClr val="A31515"/>
                </a:solidFill>
                <a:latin typeface="Cascadia Mono" panose="020B0609020000020004" pitchFamily="49" charset="0"/>
              </a:rPr>
              <a:t>CarouselView</a:t>
            </a:r>
            <a:r>
              <a:rPr lang="fr-FR" sz="1200" dirty="0">
                <a:solidFill>
                  <a:srgbClr val="FF0000"/>
                </a:solidFill>
                <a:latin typeface="Cascadia Mono" panose="020B0609020000020004" pitchFamily="49" charset="0"/>
              </a:rPr>
              <a:t> </a:t>
            </a:r>
            <a:r>
              <a:rPr lang="fr-FR" sz="1400" b="1" dirty="0" err="1">
                <a:solidFill>
                  <a:srgbClr val="FF0000"/>
                </a:solidFill>
                <a:effectLst>
                  <a:outerShdw blurRad="38100" dist="38100" dir="2700000" algn="tl">
                    <a:srgbClr val="000000">
                      <a:alpha val="43137"/>
                    </a:srgbClr>
                  </a:outerShdw>
                </a:effectLst>
                <a:latin typeface="Cascadia Mono" panose="020B0609020000020004" pitchFamily="49" charset="0"/>
              </a:rPr>
              <a:t>FlowDirection</a:t>
            </a:r>
            <a:r>
              <a:rPr lang="fr-FR" sz="1400" b="1" dirty="0">
                <a:solidFill>
                  <a:srgbClr val="0000FF"/>
                </a:solidFill>
                <a:effectLst>
                  <a:outerShdw blurRad="38100" dist="38100" dir="2700000" algn="tl">
                    <a:srgbClr val="000000">
                      <a:alpha val="43137"/>
                    </a:srgbClr>
                  </a:outerShdw>
                </a:effectLst>
                <a:latin typeface="Cascadia Mono" panose="020B0609020000020004" pitchFamily="49" charset="0"/>
              </a:rPr>
              <a:t>="</a:t>
            </a:r>
            <a:r>
              <a:rPr lang="fr-FR" sz="1400" b="1" dirty="0" err="1">
                <a:solidFill>
                  <a:srgbClr val="0000FF"/>
                </a:solidFill>
                <a:effectLst>
                  <a:outerShdw blurRad="38100" dist="38100" dir="2700000" algn="tl">
                    <a:srgbClr val="000000">
                      <a:alpha val="43137"/>
                    </a:srgbClr>
                  </a:outerShdw>
                </a:effectLst>
                <a:latin typeface="Cascadia Mono" panose="020B0609020000020004" pitchFamily="49" charset="0"/>
              </a:rPr>
              <a:t>LeftToRight</a:t>
            </a:r>
            <a:r>
              <a:rPr lang="fr-FR" sz="1400" b="1" dirty="0">
                <a:solidFill>
                  <a:srgbClr val="0000FF"/>
                </a:solidFill>
                <a:effectLst>
                  <a:outerShdw blurRad="38100" dist="38100" dir="2700000" algn="tl">
                    <a:srgbClr val="000000">
                      <a:alpha val="43137"/>
                    </a:srgbClr>
                  </a:outerShdw>
                </a:effectLst>
                <a:latin typeface="Cascadia Mono" panose="020B0609020000020004" pitchFamily="49" charset="0"/>
              </a:rPr>
              <a:t>"</a:t>
            </a:r>
            <a:endParaRPr lang="fr-FR" sz="1400" b="1" dirty="0">
              <a:solidFill>
                <a:srgbClr val="000000"/>
              </a:solidFill>
              <a:effectLst>
                <a:outerShdw blurRad="38100" dist="38100" dir="2700000" algn="tl">
                  <a:srgbClr val="000000">
                    <a:alpha val="43137"/>
                  </a:srgbClr>
                </a:outerShdw>
              </a:effectLst>
              <a:latin typeface="Cascadia Mono" panose="020B0609020000020004" pitchFamily="49" charset="0"/>
            </a:endParaRPr>
          </a:p>
          <a:p>
            <a:r>
              <a:rPr lang="fr-FR" sz="1200" dirty="0" smtClean="0">
                <a:solidFill>
                  <a:srgbClr val="FF0000"/>
                </a:solidFill>
                <a:latin typeface="Cascadia Mono" panose="020B0609020000020004" pitchFamily="49" charset="0"/>
              </a:rPr>
              <a:t>      </a:t>
            </a:r>
            <a:r>
              <a:rPr lang="fr-FR" sz="1200" dirty="0" err="1" smtClean="0">
                <a:solidFill>
                  <a:srgbClr val="FF0000"/>
                </a:solidFill>
                <a:latin typeface="Cascadia Mono" panose="020B0609020000020004" pitchFamily="49" charset="0"/>
              </a:rPr>
              <a:t>HorizontalOptions</a:t>
            </a:r>
            <a:r>
              <a:rPr lang="fr-FR" sz="1200" dirty="0">
                <a:solidFill>
                  <a:srgbClr val="0000FF"/>
                </a:solidFill>
                <a:latin typeface="Cascadia Mono" panose="020B0609020000020004" pitchFamily="49" charset="0"/>
              </a:rPr>
              <a:t>="Center"&gt;</a:t>
            </a:r>
            <a:endParaRPr lang="fr-FR" sz="1200" dirty="0">
              <a:solidFill>
                <a:srgbClr val="000000"/>
              </a:solidFill>
              <a:latin typeface="Cascadia Mono" panose="020B0609020000020004" pitchFamily="49" charset="0"/>
            </a:endParaRPr>
          </a:p>
          <a:p>
            <a:r>
              <a:rPr lang="fr-FR" sz="1200" dirty="0">
                <a:solidFill>
                  <a:srgbClr val="000000"/>
                </a:solidFill>
                <a:latin typeface="Cascadia Mono" panose="020B0609020000020004" pitchFamily="49" charset="0"/>
              </a:rPr>
              <a:t>            </a:t>
            </a:r>
            <a:r>
              <a:rPr lang="fr-FR" sz="1200" dirty="0">
                <a:solidFill>
                  <a:srgbClr val="0000FF"/>
                </a:solidFill>
                <a:latin typeface="Cascadia Mono" panose="020B0609020000020004" pitchFamily="49" charset="0"/>
              </a:rPr>
              <a:t>&lt;</a:t>
            </a:r>
            <a:r>
              <a:rPr lang="fr-FR" sz="1200" dirty="0" err="1">
                <a:solidFill>
                  <a:srgbClr val="A31515"/>
                </a:solidFill>
                <a:latin typeface="Cascadia Mono" panose="020B0609020000020004" pitchFamily="49" charset="0"/>
              </a:rPr>
              <a:t>CarouselView.ItemsSource</a:t>
            </a:r>
            <a:r>
              <a:rPr lang="fr-FR" sz="1200" dirty="0">
                <a:solidFill>
                  <a:srgbClr val="0000FF"/>
                </a:solidFill>
                <a:latin typeface="Cascadia Mono" panose="020B0609020000020004" pitchFamily="49" charset="0"/>
              </a:rPr>
              <a:t>&gt;</a:t>
            </a:r>
            <a:endParaRPr lang="fr-FR" sz="1200" dirty="0">
              <a:solidFill>
                <a:srgbClr val="000000"/>
              </a:solidFill>
              <a:latin typeface="Cascadia Mono" panose="020B0609020000020004" pitchFamily="49" charset="0"/>
            </a:endParaRPr>
          </a:p>
          <a:p>
            <a:r>
              <a:rPr lang="fr-FR" sz="1200" dirty="0">
                <a:solidFill>
                  <a:srgbClr val="000000"/>
                </a:solidFill>
                <a:latin typeface="Cascadia Mono" panose="020B0609020000020004" pitchFamily="49" charset="0"/>
              </a:rPr>
              <a:t>                </a:t>
            </a:r>
            <a:r>
              <a:rPr lang="fr-FR" sz="1200" dirty="0">
                <a:solidFill>
                  <a:srgbClr val="0000FF"/>
                </a:solidFill>
                <a:latin typeface="Cascadia Mono" panose="020B0609020000020004" pitchFamily="49" charset="0"/>
              </a:rPr>
              <a:t>&lt;</a:t>
            </a:r>
            <a:r>
              <a:rPr lang="fr-FR" sz="1200" dirty="0" err="1">
                <a:solidFill>
                  <a:srgbClr val="A31515"/>
                </a:solidFill>
                <a:latin typeface="Cascadia Mono" panose="020B0609020000020004" pitchFamily="49" charset="0"/>
              </a:rPr>
              <a:t>x</a:t>
            </a:r>
            <a:r>
              <a:rPr lang="fr-FR" sz="1200" dirty="0" err="1">
                <a:solidFill>
                  <a:srgbClr val="0000FF"/>
                </a:solidFill>
                <a:latin typeface="Cascadia Mono" panose="020B0609020000020004" pitchFamily="49" charset="0"/>
              </a:rPr>
              <a:t>:</a:t>
            </a:r>
            <a:r>
              <a:rPr lang="fr-FR" sz="1200" dirty="0" err="1">
                <a:solidFill>
                  <a:srgbClr val="A31515"/>
                </a:solidFill>
                <a:latin typeface="Cascadia Mono" panose="020B0609020000020004" pitchFamily="49" charset="0"/>
              </a:rPr>
              <a:t>Array</a:t>
            </a:r>
            <a:r>
              <a:rPr lang="fr-FR" sz="1200" dirty="0">
                <a:solidFill>
                  <a:srgbClr val="FF0000"/>
                </a:solidFill>
                <a:latin typeface="Cascadia Mono" panose="020B0609020000020004" pitchFamily="49" charset="0"/>
              </a:rPr>
              <a:t> Type</a:t>
            </a:r>
            <a:r>
              <a:rPr lang="fr-FR" sz="1200" dirty="0">
                <a:solidFill>
                  <a:srgbClr val="0000FF"/>
                </a:solidFill>
                <a:latin typeface="Cascadia Mono" panose="020B0609020000020004" pitchFamily="49" charset="0"/>
              </a:rPr>
              <a:t>="{</a:t>
            </a:r>
            <a:r>
              <a:rPr lang="fr-FR" sz="1200" dirty="0" err="1">
                <a:solidFill>
                  <a:srgbClr val="A31515"/>
                </a:solidFill>
                <a:latin typeface="Cascadia Mono" panose="020B0609020000020004" pitchFamily="49" charset="0"/>
              </a:rPr>
              <a:t>x</a:t>
            </a:r>
            <a:r>
              <a:rPr lang="fr-FR" sz="1200" dirty="0" err="1">
                <a:solidFill>
                  <a:srgbClr val="0000FF"/>
                </a:solidFill>
                <a:latin typeface="Cascadia Mono" panose="020B0609020000020004" pitchFamily="49" charset="0"/>
              </a:rPr>
              <a:t>:</a:t>
            </a:r>
            <a:r>
              <a:rPr lang="fr-FR" sz="1200" dirty="0" err="1">
                <a:solidFill>
                  <a:srgbClr val="A31515"/>
                </a:solidFill>
                <a:latin typeface="Cascadia Mono" panose="020B0609020000020004" pitchFamily="49" charset="0"/>
              </a:rPr>
              <a:t>Type</a:t>
            </a:r>
            <a:r>
              <a:rPr lang="fr-FR" sz="1200" dirty="0">
                <a:solidFill>
                  <a:srgbClr val="FF0000"/>
                </a:solidFill>
                <a:latin typeface="Cascadia Mono" panose="020B0609020000020004" pitchFamily="49" charset="0"/>
              </a:rPr>
              <a:t> x</a:t>
            </a:r>
            <a:r>
              <a:rPr lang="fr-FR" sz="1200" dirty="0">
                <a:solidFill>
                  <a:srgbClr val="0000FF"/>
                </a:solidFill>
                <a:latin typeface="Cascadia Mono" panose="020B0609020000020004" pitchFamily="49" charset="0"/>
              </a:rPr>
              <a:t>:</a:t>
            </a:r>
            <a:r>
              <a:rPr lang="fr-FR" sz="1200" dirty="0">
                <a:solidFill>
                  <a:srgbClr val="FF0000"/>
                </a:solidFill>
                <a:latin typeface="Cascadia Mono" panose="020B0609020000020004" pitchFamily="49" charset="0"/>
              </a:rPr>
              <a:t>String</a:t>
            </a:r>
            <a:r>
              <a:rPr lang="fr-FR" sz="1200" dirty="0">
                <a:solidFill>
                  <a:srgbClr val="0000FF"/>
                </a:solidFill>
                <a:latin typeface="Cascadia Mono" panose="020B0609020000020004" pitchFamily="49" charset="0"/>
              </a:rPr>
              <a:t>}"&gt;</a:t>
            </a:r>
            <a:endParaRPr lang="fr-FR" sz="1200" dirty="0">
              <a:solidFill>
                <a:srgbClr val="000000"/>
              </a:solidFill>
              <a:latin typeface="Cascadia Mono" panose="020B0609020000020004" pitchFamily="49" charset="0"/>
            </a:endParaRPr>
          </a:p>
          <a:p>
            <a:r>
              <a:rPr lang="fr-FR" sz="1200" dirty="0">
                <a:solidFill>
                  <a:srgbClr val="000000"/>
                </a:solidFill>
                <a:latin typeface="Cascadia Mono" panose="020B0609020000020004" pitchFamily="49" charset="0"/>
              </a:rPr>
              <a:t>                    </a:t>
            </a:r>
            <a:r>
              <a:rPr lang="fr-FR" sz="1200" dirty="0">
                <a:solidFill>
                  <a:srgbClr val="0000FF"/>
                </a:solidFill>
                <a:latin typeface="Cascadia Mono" panose="020B0609020000020004" pitchFamily="49" charset="0"/>
              </a:rPr>
              <a:t>&lt;</a:t>
            </a:r>
            <a:r>
              <a:rPr lang="fr-FR" sz="1200" dirty="0" err="1">
                <a:solidFill>
                  <a:srgbClr val="A31515"/>
                </a:solidFill>
                <a:latin typeface="Cascadia Mono" panose="020B0609020000020004" pitchFamily="49" charset="0"/>
              </a:rPr>
              <a:t>x</a:t>
            </a:r>
            <a:r>
              <a:rPr lang="fr-FR" sz="1200" dirty="0" err="1">
                <a:solidFill>
                  <a:srgbClr val="0000FF"/>
                </a:solidFill>
                <a:latin typeface="Cascadia Mono" panose="020B0609020000020004" pitchFamily="49" charset="0"/>
              </a:rPr>
              <a:t>:</a:t>
            </a:r>
            <a:r>
              <a:rPr lang="fr-FR" sz="1200" dirty="0" err="1">
                <a:solidFill>
                  <a:srgbClr val="A31515"/>
                </a:solidFill>
                <a:latin typeface="Cascadia Mono" panose="020B0609020000020004" pitchFamily="49" charset="0"/>
              </a:rPr>
              <a:t>String</a:t>
            </a:r>
            <a:r>
              <a:rPr lang="fr-FR" sz="1200" dirty="0">
                <a:solidFill>
                  <a:srgbClr val="0000FF"/>
                </a:solidFill>
                <a:latin typeface="Cascadia Mono" panose="020B0609020000020004" pitchFamily="49" charset="0"/>
              </a:rPr>
              <a:t>&gt;</a:t>
            </a:r>
            <a:r>
              <a:rPr lang="fr-FR" sz="1200" dirty="0">
                <a:solidFill>
                  <a:srgbClr val="000000"/>
                </a:solidFill>
                <a:latin typeface="Cascadia Mono" panose="020B0609020000020004" pitchFamily="49" charset="0"/>
              </a:rPr>
              <a:t>Item1</a:t>
            </a:r>
            <a:r>
              <a:rPr lang="fr-FR" sz="1200" dirty="0">
                <a:solidFill>
                  <a:srgbClr val="0000FF"/>
                </a:solidFill>
                <a:latin typeface="Cascadia Mono" panose="020B0609020000020004" pitchFamily="49" charset="0"/>
              </a:rPr>
              <a:t>&lt;/</a:t>
            </a:r>
            <a:r>
              <a:rPr lang="fr-FR" sz="1200" dirty="0" err="1">
                <a:solidFill>
                  <a:srgbClr val="A31515"/>
                </a:solidFill>
                <a:latin typeface="Cascadia Mono" panose="020B0609020000020004" pitchFamily="49" charset="0"/>
              </a:rPr>
              <a:t>x</a:t>
            </a:r>
            <a:r>
              <a:rPr lang="fr-FR" sz="1200" dirty="0" err="1">
                <a:solidFill>
                  <a:srgbClr val="0000FF"/>
                </a:solidFill>
                <a:latin typeface="Cascadia Mono" panose="020B0609020000020004" pitchFamily="49" charset="0"/>
              </a:rPr>
              <a:t>:</a:t>
            </a:r>
            <a:r>
              <a:rPr lang="fr-FR" sz="1200" dirty="0" err="1">
                <a:solidFill>
                  <a:srgbClr val="A31515"/>
                </a:solidFill>
                <a:latin typeface="Cascadia Mono" panose="020B0609020000020004" pitchFamily="49" charset="0"/>
              </a:rPr>
              <a:t>String</a:t>
            </a:r>
            <a:r>
              <a:rPr lang="fr-FR" sz="1200" dirty="0">
                <a:solidFill>
                  <a:srgbClr val="0000FF"/>
                </a:solidFill>
                <a:latin typeface="Cascadia Mono" panose="020B0609020000020004" pitchFamily="49" charset="0"/>
              </a:rPr>
              <a:t>&gt;</a:t>
            </a:r>
            <a:endParaRPr lang="fr-FR" sz="1200" dirty="0">
              <a:solidFill>
                <a:srgbClr val="000000"/>
              </a:solidFill>
              <a:latin typeface="Cascadia Mono" panose="020B0609020000020004" pitchFamily="49" charset="0"/>
            </a:endParaRPr>
          </a:p>
          <a:p>
            <a:r>
              <a:rPr lang="fr-FR" sz="1200" dirty="0">
                <a:solidFill>
                  <a:srgbClr val="000000"/>
                </a:solidFill>
                <a:latin typeface="Cascadia Mono" panose="020B0609020000020004" pitchFamily="49" charset="0"/>
              </a:rPr>
              <a:t>                    </a:t>
            </a:r>
            <a:r>
              <a:rPr lang="fr-FR" sz="1200" dirty="0">
                <a:solidFill>
                  <a:srgbClr val="0000FF"/>
                </a:solidFill>
                <a:latin typeface="Cascadia Mono" panose="020B0609020000020004" pitchFamily="49" charset="0"/>
              </a:rPr>
              <a:t>&lt;</a:t>
            </a:r>
            <a:r>
              <a:rPr lang="fr-FR" sz="1200" dirty="0" err="1">
                <a:solidFill>
                  <a:srgbClr val="A31515"/>
                </a:solidFill>
                <a:latin typeface="Cascadia Mono" panose="020B0609020000020004" pitchFamily="49" charset="0"/>
              </a:rPr>
              <a:t>x</a:t>
            </a:r>
            <a:r>
              <a:rPr lang="fr-FR" sz="1200" dirty="0" err="1">
                <a:solidFill>
                  <a:srgbClr val="0000FF"/>
                </a:solidFill>
                <a:latin typeface="Cascadia Mono" panose="020B0609020000020004" pitchFamily="49" charset="0"/>
              </a:rPr>
              <a:t>:</a:t>
            </a:r>
            <a:r>
              <a:rPr lang="fr-FR" sz="1200" dirty="0" err="1">
                <a:solidFill>
                  <a:srgbClr val="A31515"/>
                </a:solidFill>
                <a:latin typeface="Cascadia Mono" panose="020B0609020000020004" pitchFamily="49" charset="0"/>
              </a:rPr>
              <a:t>String</a:t>
            </a:r>
            <a:r>
              <a:rPr lang="fr-FR" sz="1200" dirty="0">
                <a:solidFill>
                  <a:srgbClr val="0000FF"/>
                </a:solidFill>
                <a:latin typeface="Cascadia Mono" panose="020B0609020000020004" pitchFamily="49" charset="0"/>
              </a:rPr>
              <a:t>&gt;</a:t>
            </a:r>
            <a:r>
              <a:rPr lang="fr-FR" sz="1200" dirty="0">
                <a:solidFill>
                  <a:srgbClr val="000000"/>
                </a:solidFill>
                <a:latin typeface="Cascadia Mono" panose="020B0609020000020004" pitchFamily="49" charset="0"/>
              </a:rPr>
              <a:t>Item2</a:t>
            </a:r>
            <a:r>
              <a:rPr lang="fr-FR" sz="1200" dirty="0">
                <a:solidFill>
                  <a:srgbClr val="0000FF"/>
                </a:solidFill>
                <a:latin typeface="Cascadia Mono" panose="020B0609020000020004" pitchFamily="49" charset="0"/>
              </a:rPr>
              <a:t>&lt;/</a:t>
            </a:r>
            <a:r>
              <a:rPr lang="fr-FR" sz="1200" dirty="0" err="1">
                <a:solidFill>
                  <a:srgbClr val="A31515"/>
                </a:solidFill>
                <a:latin typeface="Cascadia Mono" panose="020B0609020000020004" pitchFamily="49" charset="0"/>
              </a:rPr>
              <a:t>x</a:t>
            </a:r>
            <a:r>
              <a:rPr lang="fr-FR" sz="1200" dirty="0" err="1">
                <a:solidFill>
                  <a:srgbClr val="0000FF"/>
                </a:solidFill>
                <a:latin typeface="Cascadia Mono" panose="020B0609020000020004" pitchFamily="49" charset="0"/>
              </a:rPr>
              <a:t>:</a:t>
            </a:r>
            <a:r>
              <a:rPr lang="fr-FR" sz="1200" dirty="0" err="1">
                <a:solidFill>
                  <a:srgbClr val="A31515"/>
                </a:solidFill>
                <a:latin typeface="Cascadia Mono" panose="020B0609020000020004" pitchFamily="49" charset="0"/>
              </a:rPr>
              <a:t>String</a:t>
            </a:r>
            <a:r>
              <a:rPr lang="fr-FR" sz="1200" dirty="0">
                <a:solidFill>
                  <a:srgbClr val="0000FF"/>
                </a:solidFill>
                <a:latin typeface="Cascadia Mono" panose="020B0609020000020004" pitchFamily="49" charset="0"/>
              </a:rPr>
              <a:t>&gt;</a:t>
            </a:r>
            <a:endParaRPr lang="fr-FR" sz="1200" dirty="0">
              <a:solidFill>
                <a:srgbClr val="000000"/>
              </a:solidFill>
              <a:latin typeface="Cascadia Mono" panose="020B0609020000020004" pitchFamily="49" charset="0"/>
            </a:endParaRPr>
          </a:p>
          <a:p>
            <a:r>
              <a:rPr lang="fr-FR" sz="1200" dirty="0">
                <a:solidFill>
                  <a:srgbClr val="000000"/>
                </a:solidFill>
                <a:latin typeface="Cascadia Mono" panose="020B0609020000020004" pitchFamily="49" charset="0"/>
              </a:rPr>
              <a:t>                    </a:t>
            </a:r>
            <a:r>
              <a:rPr lang="fr-FR" sz="1200" dirty="0">
                <a:solidFill>
                  <a:srgbClr val="0000FF"/>
                </a:solidFill>
                <a:latin typeface="Cascadia Mono" panose="020B0609020000020004" pitchFamily="49" charset="0"/>
              </a:rPr>
              <a:t>&lt;</a:t>
            </a:r>
            <a:r>
              <a:rPr lang="fr-FR" sz="1200" dirty="0" err="1">
                <a:solidFill>
                  <a:srgbClr val="A31515"/>
                </a:solidFill>
                <a:latin typeface="Cascadia Mono" panose="020B0609020000020004" pitchFamily="49" charset="0"/>
              </a:rPr>
              <a:t>x</a:t>
            </a:r>
            <a:r>
              <a:rPr lang="fr-FR" sz="1200" dirty="0" err="1">
                <a:solidFill>
                  <a:srgbClr val="0000FF"/>
                </a:solidFill>
                <a:latin typeface="Cascadia Mono" panose="020B0609020000020004" pitchFamily="49" charset="0"/>
              </a:rPr>
              <a:t>:</a:t>
            </a:r>
            <a:r>
              <a:rPr lang="fr-FR" sz="1200" dirty="0" err="1">
                <a:solidFill>
                  <a:srgbClr val="A31515"/>
                </a:solidFill>
                <a:latin typeface="Cascadia Mono" panose="020B0609020000020004" pitchFamily="49" charset="0"/>
              </a:rPr>
              <a:t>String</a:t>
            </a:r>
            <a:r>
              <a:rPr lang="fr-FR" sz="1200" dirty="0">
                <a:solidFill>
                  <a:srgbClr val="0000FF"/>
                </a:solidFill>
                <a:latin typeface="Cascadia Mono" panose="020B0609020000020004" pitchFamily="49" charset="0"/>
              </a:rPr>
              <a:t>&gt;</a:t>
            </a:r>
            <a:r>
              <a:rPr lang="fr-FR" sz="1200" dirty="0">
                <a:solidFill>
                  <a:srgbClr val="000000"/>
                </a:solidFill>
                <a:latin typeface="Cascadia Mono" panose="020B0609020000020004" pitchFamily="49" charset="0"/>
              </a:rPr>
              <a:t>Item3</a:t>
            </a:r>
            <a:r>
              <a:rPr lang="fr-FR" sz="1200" dirty="0">
                <a:solidFill>
                  <a:srgbClr val="0000FF"/>
                </a:solidFill>
                <a:latin typeface="Cascadia Mono" panose="020B0609020000020004" pitchFamily="49" charset="0"/>
              </a:rPr>
              <a:t>&lt;/</a:t>
            </a:r>
            <a:r>
              <a:rPr lang="fr-FR" sz="1200" dirty="0" err="1">
                <a:solidFill>
                  <a:srgbClr val="A31515"/>
                </a:solidFill>
                <a:latin typeface="Cascadia Mono" panose="020B0609020000020004" pitchFamily="49" charset="0"/>
              </a:rPr>
              <a:t>x</a:t>
            </a:r>
            <a:r>
              <a:rPr lang="fr-FR" sz="1200" dirty="0" err="1">
                <a:solidFill>
                  <a:srgbClr val="0000FF"/>
                </a:solidFill>
                <a:latin typeface="Cascadia Mono" panose="020B0609020000020004" pitchFamily="49" charset="0"/>
              </a:rPr>
              <a:t>:</a:t>
            </a:r>
            <a:r>
              <a:rPr lang="fr-FR" sz="1200" dirty="0" err="1">
                <a:solidFill>
                  <a:srgbClr val="A31515"/>
                </a:solidFill>
                <a:latin typeface="Cascadia Mono" panose="020B0609020000020004" pitchFamily="49" charset="0"/>
              </a:rPr>
              <a:t>String</a:t>
            </a:r>
            <a:r>
              <a:rPr lang="fr-FR" sz="1200" dirty="0">
                <a:solidFill>
                  <a:srgbClr val="0000FF"/>
                </a:solidFill>
                <a:latin typeface="Cascadia Mono" panose="020B0609020000020004" pitchFamily="49" charset="0"/>
              </a:rPr>
              <a:t>&gt;</a:t>
            </a:r>
            <a:endParaRPr lang="fr-FR" sz="1200" dirty="0">
              <a:solidFill>
                <a:srgbClr val="000000"/>
              </a:solidFill>
              <a:latin typeface="Cascadia Mono" panose="020B0609020000020004" pitchFamily="49" charset="0"/>
            </a:endParaRPr>
          </a:p>
          <a:p>
            <a:r>
              <a:rPr lang="fr-FR" sz="1200" dirty="0">
                <a:solidFill>
                  <a:srgbClr val="000000"/>
                </a:solidFill>
                <a:latin typeface="Cascadia Mono" panose="020B0609020000020004" pitchFamily="49" charset="0"/>
              </a:rPr>
              <a:t>                </a:t>
            </a:r>
            <a:r>
              <a:rPr lang="fr-FR" sz="1200" dirty="0">
                <a:solidFill>
                  <a:srgbClr val="0000FF"/>
                </a:solidFill>
                <a:latin typeface="Cascadia Mono" panose="020B0609020000020004" pitchFamily="49" charset="0"/>
              </a:rPr>
              <a:t>&lt;/</a:t>
            </a:r>
            <a:r>
              <a:rPr lang="fr-FR" sz="1200" dirty="0" err="1">
                <a:solidFill>
                  <a:srgbClr val="A31515"/>
                </a:solidFill>
                <a:latin typeface="Cascadia Mono" panose="020B0609020000020004" pitchFamily="49" charset="0"/>
              </a:rPr>
              <a:t>x</a:t>
            </a:r>
            <a:r>
              <a:rPr lang="fr-FR" sz="1200" dirty="0" err="1">
                <a:solidFill>
                  <a:srgbClr val="0000FF"/>
                </a:solidFill>
                <a:latin typeface="Cascadia Mono" panose="020B0609020000020004" pitchFamily="49" charset="0"/>
              </a:rPr>
              <a:t>:</a:t>
            </a:r>
            <a:r>
              <a:rPr lang="fr-FR" sz="1200" dirty="0" err="1">
                <a:solidFill>
                  <a:srgbClr val="A31515"/>
                </a:solidFill>
                <a:latin typeface="Cascadia Mono" panose="020B0609020000020004" pitchFamily="49" charset="0"/>
              </a:rPr>
              <a:t>Array</a:t>
            </a:r>
            <a:r>
              <a:rPr lang="fr-FR" sz="1200" dirty="0">
                <a:solidFill>
                  <a:srgbClr val="0000FF"/>
                </a:solidFill>
                <a:latin typeface="Cascadia Mono" panose="020B0609020000020004" pitchFamily="49" charset="0"/>
              </a:rPr>
              <a:t>&gt;</a:t>
            </a:r>
            <a:endParaRPr lang="fr-FR" sz="1200" dirty="0">
              <a:solidFill>
                <a:srgbClr val="000000"/>
              </a:solidFill>
              <a:latin typeface="Cascadia Mono" panose="020B0609020000020004" pitchFamily="49" charset="0"/>
            </a:endParaRPr>
          </a:p>
          <a:p>
            <a:r>
              <a:rPr lang="fr-FR" sz="1200" dirty="0">
                <a:solidFill>
                  <a:srgbClr val="000000"/>
                </a:solidFill>
                <a:latin typeface="Cascadia Mono" panose="020B0609020000020004" pitchFamily="49" charset="0"/>
              </a:rPr>
              <a:t>            </a:t>
            </a:r>
            <a:r>
              <a:rPr lang="fr-FR" sz="1200" dirty="0">
                <a:solidFill>
                  <a:srgbClr val="0000FF"/>
                </a:solidFill>
                <a:latin typeface="Cascadia Mono" panose="020B0609020000020004" pitchFamily="49" charset="0"/>
              </a:rPr>
              <a:t>&lt;/</a:t>
            </a:r>
            <a:r>
              <a:rPr lang="fr-FR" sz="1200" dirty="0" err="1">
                <a:solidFill>
                  <a:srgbClr val="A31515"/>
                </a:solidFill>
                <a:latin typeface="Cascadia Mono" panose="020B0609020000020004" pitchFamily="49" charset="0"/>
              </a:rPr>
              <a:t>CarouselView.ItemsSource</a:t>
            </a:r>
            <a:r>
              <a:rPr lang="fr-FR" sz="1200" dirty="0">
                <a:solidFill>
                  <a:srgbClr val="0000FF"/>
                </a:solidFill>
                <a:latin typeface="Cascadia Mono" panose="020B0609020000020004" pitchFamily="49" charset="0"/>
              </a:rPr>
              <a:t>&gt;</a:t>
            </a:r>
            <a:endParaRPr lang="fr-FR" sz="1200" dirty="0">
              <a:solidFill>
                <a:srgbClr val="000000"/>
              </a:solidFill>
              <a:latin typeface="Cascadia Mono" panose="020B0609020000020004" pitchFamily="49" charset="0"/>
            </a:endParaRPr>
          </a:p>
          <a:p>
            <a:r>
              <a:rPr lang="fr-FR" sz="1200" dirty="0">
                <a:solidFill>
                  <a:srgbClr val="000000"/>
                </a:solidFill>
                <a:latin typeface="Cascadia Mono" panose="020B0609020000020004" pitchFamily="49" charset="0"/>
              </a:rPr>
              <a:t>            </a:t>
            </a:r>
            <a:r>
              <a:rPr lang="fr-FR" sz="1200" dirty="0">
                <a:solidFill>
                  <a:srgbClr val="0000FF"/>
                </a:solidFill>
                <a:latin typeface="Cascadia Mono" panose="020B0609020000020004" pitchFamily="49" charset="0"/>
              </a:rPr>
              <a:t>&lt;</a:t>
            </a:r>
            <a:r>
              <a:rPr lang="fr-FR" sz="1200" dirty="0" err="1">
                <a:solidFill>
                  <a:srgbClr val="A31515"/>
                </a:solidFill>
                <a:latin typeface="Cascadia Mono" panose="020B0609020000020004" pitchFamily="49" charset="0"/>
              </a:rPr>
              <a:t>CarouselView.ItemTemplate</a:t>
            </a:r>
            <a:r>
              <a:rPr lang="fr-FR" sz="1200" dirty="0">
                <a:solidFill>
                  <a:srgbClr val="0000FF"/>
                </a:solidFill>
                <a:latin typeface="Cascadia Mono" panose="020B0609020000020004" pitchFamily="49" charset="0"/>
              </a:rPr>
              <a:t>&gt;</a:t>
            </a:r>
            <a:endParaRPr lang="fr-FR" sz="1200" dirty="0">
              <a:solidFill>
                <a:srgbClr val="000000"/>
              </a:solidFill>
              <a:latin typeface="Cascadia Mono" panose="020B0609020000020004" pitchFamily="49" charset="0"/>
            </a:endParaRPr>
          </a:p>
          <a:p>
            <a:r>
              <a:rPr lang="fr-FR" sz="1200" dirty="0">
                <a:solidFill>
                  <a:srgbClr val="000000"/>
                </a:solidFill>
                <a:latin typeface="Cascadia Mono" panose="020B0609020000020004" pitchFamily="49" charset="0"/>
              </a:rPr>
              <a:t>                </a:t>
            </a:r>
            <a:r>
              <a:rPr lang="fr-FR" sz="1200" dirty="0">
                <a:solidFill>
                  <a:srgbClr val="0000FF"/>
                </a:solidFill>
                <a:latin typeface="Cascadia Mono" panose="020B0609020000020004" pitchFamily="49" charset="0"/>
              </a:rPr>
              <a:t>&lt;</a:t>
            </a:r>
            <a:r>
              <a:rPr lang="fr-FR" sz="1200" dirty="0">
                <a:solidFill>
                  <a:srgbClr val="A31515"/>
                </a:solidFill>
                <a:latin typeface="Cascadia Mono" panose="020B0609020000020004" pitchFamily="49" charset="0"/>
              </a:rPr>
              <a:t>DataTemplate</a:t>
            </a:r>
            <a:r>
              <a:rPr lang="fr-FR" sz="1200" dirty="0">
                <a:solidFill>
                  <a:srgbClr val="0000FF"/>
                </a:solidFill>
                <a:latin typeface="Cascadia Mono" panose="020B0609020000020004" pitchFamily="49" charset="0"/>
              </a:rPr>
              <a:t>&gt;</a:t>
            </a:r>
            <a:endParaRPr lang="fr-FR" sz="1200" dirty="0">
              <a:solidFill>
                <a:srgbClr val="000000"/>
              </a:solidFill>
              <a:latin typeface="Cascadia Mono" panose="020B0609020000020004" pitchFamily="49" charset="0"/>
            </a:endParaRPr>
          </a:p>
          <a:p>
            <a:r>
              <a:rPr lang="fr-FR" sz="1200" dirty="0">
                <a:solidFill>
                  <a:srgbClr val="000000"/>
                </a:solidFill>
                <a:latin typeface="Cascadia Mono" panose="020B0609020000020004" pitchFamily="49" charset="0"/>
              </a:rPr>
              <a:t>                    </a:t>
            </a:r>
            <a:r>
              <a:rPr lang="fr-FR" sz="1200" dirty="0">
                <a:solidFill>
                  <a:srgbClr val="0000FF"/>
                </a:solidFill>
                <a:latin typeface="Cascadia Mono" panose="020B0609020000020004" pitchFamily="49" charset="0"/>
              </a:rPr>
              <a:t>&lt;</a:t>
            </a:r>
            <a:r>
              <a:rPr lang="fr-FR" sz="1200" dirty="0">
                <a:solidFill>
                  <a:srgbClr val="A31515"/>
                </a:solidFill>
                <a:latin typeface="Cascadia Mono" panose="020B0609020000020004" pitchFamily="49" charset="0"/>
              </a:rPr>
              <a:t>Grid</a:t>
            </a:r>
            <a:r>
              <a:rPr lang="fr-FR" sz="1200" dirty="0">
                <a:solidFill>
                  <a:srgbClr val="FF0000"/>
                </a:solidFill>
                <a:latin typeface="Cascadia Mono" panose="020B0609020000020004" pitchFamily="49" charset="0"/>
              </a:rPr>
              <a:t> </a:t>
            </a:r>
            <a:r>
              <a:rPr lang="fr-FR" sz="1200" dirty="0" err="1">
                <a:solidFill>
                  <a:srgbClr val="FF0000"/>
                </a:solidFill>
                <a:latin typeface="Cascadia Mono" panose="020B0609020000020004" pitchFamily="49" charset="0"/>
              </a:rPr>
              <a:t>HorizontalOptions</a:t>
            </a:r>
            <a:r>
              <a:rPr lang="fr-FR" sz="1200" dirty="0">
                <a:solidFill>
                  <a:srgbClr val="0000FF"/>
                </a:solidFill>
                <a:latin typeface="Cascadia Mono" panose="020B0609020000020004" pitchFamily="49" charset="0"/>
              </a:rPr>
              <a:t>="</a:t>
            </a:r>
            <a:r>
              <a:rPr lang="fr-FR" sz="1200" dirty="0" smtClean="0">
                <a:solidFill>
                  <a:srgbClr val="0000FF"/>
                </a:solidFill>
                <a:latin typeface="Cascadia Mono" panose="020B0609020000020004" pitchFamily="49" charset="0"/>
              </a:rPr>
              <a:t>Center" </a:t>
            </a:r>
            <a:r>
              <a:rPr lang="fr-FR" sz="1200" dirty="0" smtClean="0">
                <a:solidFill>
                  <a:srgbClr val="FF0000"/>
                </a:solidFill>
                <a:latin typeface="Cascadia Mono" panose="020B0609020000020004" pitchFamily="49" charset="0"/>
              </a:rPr>
              <a:t>HeighRequest</a:t>
            </a:r>
            <a:r>
              <a:rPr lang="fr-FR" sz="1200" dirty="0" smtClean="0">
                <a:solidFill>
                  <a:srgbClr val="0000FF"/>
                </a:solidFill>
                <a:latin typeface="Cascadia Mono" panose="020B0609020000020004" pitchFamily="49" charset="0"/>
              </a:rPr>
              <a:t>="100" </a:t>
            </a:r>
            <a:r>
              <a:rPr lang="fr-FR" sz="1200" dirty="0">
                <a:solidFill>
                  <a:srgbClr val="0000FF"/>
                </a:solidFill>
                <a:latin typeface="Cascadia Mono" panose="020B0609020000020004" pitchFamily="49" charset="0"/>
              </a:rPr>
              <a:t>&gt;</a:t>
            </a:r>
            <a:endParaRPr lang="fr-FR" sz="1200" dirty="0">
              <a:solidFill>
                <a:srgbClr val="000000"/>
              </a:solidFill>
              <a:latin typeface="Cascadia Mono" panose="020B0609020000020004" pitchFamily="49" charset="0"/>
            </a:endParaRPr>
          </a:p>
          <a:p>
            <a:r>
              <a:rPr lang="fr-FR" sz="1200" dirty="0">
                <a:solidFill>
                  <a:srgbClr val="000000"/>
                </a:solidFill>
                <a:latin typeface="Cascadia Mono" panose="020B0609020000020004" pitchFamily="49" charset="0"/>
              </a:rPr>
              <a:t>                        </a:t>
            </a:r>
            <a:r>
              <a:rPr lang="fr-FR" sz="1200" dirty="0">
                <a:solidFill>
                  <a:srgbClr val="0000FF"/>
                </a:solidFill>
                <a:latin typeface="Cascadia Mono" panose="020B0609020000020004" pitchFamily="49" charset="0"/>
              </a:rPr>
              <a:t>&lt;</a:t>
            </a:r>
            <a:r>
              <a:rPr lang="fr-FR" sz="1200" dirty="0">
                <a:solidFill>
                  <a:srgbClr val="A31515"/>
                </a:solidFill>
                <a:latin typeface="Cascadia Mono" panose="020B0609020000020004" pitchFamily="49" charset="0"/>
              </a:rPr>
              <a:t>Frame</a:t>
            </a:r>
            <a:r>
              <a:rPr lang="fr-FR" sz="1200" dirty="0">
                <a:solidFill>
                  <a:srgbClr val="FF0000"/>
                </a:solidFill>
                <a:latin typeface="Cascadia Mono" panose="020B0609020000020004" pitchFamily="49" charset="0"/>
              </a:rPr>
              <a:t> </a:t>
            </a:r>
            <a:r>
              <a:rPr lang="fr-FR" sz="1200" dirty="0" err="1">
                <a:solidFill>
                  <a:srgbClr val="FF0000"/>
                </a:solidFill>
                <a:latin typeface="Cascadia Mono" panose="020B0609020000020004" pitchFamily="49" charset="0"/>
              </a:rPr>
              <a:t>BackgroundColor</a:t>
            </a:r>
            <a:r>
              <a:rPr lang="fr-FR" sz="1200" dirty="0">
                <a:solidFill>
                  <a:srgbClr val="0000FF"/>
                </a:solidFill>
                <a:latin typeface="Cascadia Mono" panose="020B0609020000020004" pitchFamily="49" charset="0"/>
              </a:rPr>
              <a:t>="</a:t>
            </a:r>
            <a:r>
              <a:rPr lang="fr-FR" sz="1200" dirty="0" err="1">
                <a:solidFill>
                  <a:srgbClr val="0000FF"/>
                </a:solidFill>
                <a:latin typeface="Cascadia Mono" panose="020B0609020000020004" pitchFamily="49" charset="0"/>
              </a:rPr>
              <a:t>AliceBlue</a:t>
            </a:r>
            <a:r>
              <a:rPr lang="fr-FR" sz="1200" dirty="0">
                <a:solidFill>
                  <a:srgbClr val="0000FF"/>
                </a:solidFill>
                <a:latin typeface="Cascadia Mono" panose="020B0609020000020004" pitchFamily="49" charset="0"/>
              </a:rPr>
              <a:t>"&gt;</a:t>
            </a:r>
            <a:endParaRPr lang="fr-FR" sz="1200" dirty="0">
              <a:solidFill>
                <a:srgbClr val="000000"/>
              </a:solidFill>
              <a:latin typeface="Cascadia Mono" panose="020B0609020000020004" pitchFamily="49" charset="0"/>
            </a:endParaRPr>
          </a:p>
          <a:p>
            <a:r>
              <a:rPr lang="fr-FR" sz="1200" dirty="0">
                <a:solidFill>
                  <a:srgbClr val="000000"/>
                </a:solidFill>
                <a:latin typeface="Cascadia Mono" panose="020B0609020000020004" pitchFamily="49" charset="0"/>
              </a:rPr>
              <a:t>                            </a:t>
            </a:r>
            <a:r>
              <a:rPr lang="fr-FR" sz="1200" dirty="0">
                <a:solidFill>
                  <a:srgbClr val="0000FF"/>
                </a:solidFill>
                <a:latin typeface="Cascadia Mono" panose="020B0609020000020004" pitchFamily="49" charset="0"/>
              </a:rPr>
              <a:t>&lt;</a:t>
            </a:r>
            <a:r>
              <a:rPr lang="fr-FR" sz="1200" dirty="0">
                <a:solidFill>
                  <a:srgbClr val="A31515"/>
                </a:solidFill>
                <a:latin typeface="Cascadia Mono" panose="020B0609020000020004" pitchFamily="49" charset="0"/>
              </a:rPr>
              <a:t>Label</a:t>
            </a:r>
            <a:r>
              <a:rPr lang="fr-FR" sz="1200" dirty="0">
                <a:solidFill>
                  <a:srgbClr val="FF0000"/>
                </a:solidFill>
                <a:latin typeface="Cascadia Mono" panose="020B0609020000020004" pitchFamily="49" charset="0"/>
              </a:rPr>
              <a:t> </a:t>
            </a:r>
            <a:r>
              <a:rPr lang="fr-FR" sz="1200" dirty="0" err="1">
                <a:solidFill>
                  <a:srgbClr val="FF0000"/>
                </a:solidFill>
                <a:latin typeface="Cascadia Mono" panose="020B0609020000020004" pitchFamily="49" charset="0"/>
              </a:rPr>
              <a:t>FontSize</a:t>
            </a:r>
            <a:r>
              <a:rPr lang="fr-FR" sz="1200" dirty="0">
                <a:solidFill>
                  <a:srgbClr val="0000FF"/>
                </a:solidFill>
                <a:latin typeface="Cascadia Mono" panose="020B0609020000020004" pitchFamily="49" charset="0"/>
              </a:rPr>
              <a:t>="</a:t>
            </a:r>
            <a:r>
              <a:rPr lang="fr-FR" sz="1200" dirty="0" smtClean="0">
                <a:solidFill>
                  <a:srgbClr val="0000FF"/>
                </a:solidFill>
                <a:latin typeface="Cascadia Mono" panose="020B0609020000020004" pitchFamily="49" charset="0"/>
              </a:rPr>
              <a:t>Medium" </a:t>
            </a:r>
            <a:r>
              <a:rPr lang="fr-FR" sz="1200" dirty="0" err="1" smtClean="0">
                <a:solidFill>
                  <a:srgbClr val="FF0000"/>
                </a:solidFill>
                <a:latin typeface="Cascadia Mono" panose="020B0609020000020004" pitchFamily="49" charset="0"/>
              </a:rPr>
              <a:t>VerticalTextAlignment</a:t>
            </a:r>
            <a:r>
              <a:rPr lang="fr-FR" sz="1200" dirty="0" smtClean="0">
                <a:solidFill>
                  <a:srgbClr val="0000FF"/>
                </a:solidFill>
                <a:latin typeface="Cascadia Mono" panose="020B0609020000020004" pitchFamily="49" charset="0"/>
              </a:rPr>
              <a:t>="Center"</a:t>
            </a:r>
            <a:endParaRPr lang="fr-FR" sz="1200" dirty="0">
              <a:solidFill>
                <a:srgbClr val="000000"/>
              </a:solidFill>
              <a:latin typeface="Cascadia Mono" panose="020B0609020000020004" pitchFamily="49" charset="0"/>
            </a:endParaRPr>
          </a:p>
          <a:p>
            <a:r>
              <a:rPr lang="fr-FR" sz="1200" dirty="0">
                <a:solidFill>
                  <a:srgbClr val="000000"/>
                </a:solidFill>
                <a:latin typeface="Cascadia Mono" panose="020B0609020000020004" pitchFamily="49" charset="0"/>
              </a:rPr>
              <a:t>                                  </a:t>
            </a:r>
            <a:r>
              <a:rPr lang="fr-FR" sz="1200" dirty="0">
                <a:solidFill>
                  <a:srgbClr val="FF0000"/>
                </a:solidFill>
                <a:latin typeface="Cascadia Mono" panose="020B0609020000020004" pitchFamily="49" charset="0"/>
              </a:rPr>
              <a:t> </a:t>
            </a:r>
            <a:r>
              <a:rPr lang="fr-FR" sz="1200" dirty="0" err="1">
                <a:solidFill>
                  <a:srgbClr val="FF0000"/>
                </a:solidFill>
                <a:latin typeface="Cascadia Mono" panose="020B0609020000020004" pitchFamily="49" charset="0"/>
              </a:rPr>
              <a:t>FontAttributes</a:t>
            </a:r>
            <a:r>
              <a:rPr lang="fr-FR" sz="1200" dirty="0">
                <a:solidFill>
                  <a:srgbClr val="0000FF"/>
                </a:solidFill>
                <a:latin typeface="Cascadia Mono" panose="020B0609020000020004" pitchFamily="49" charset="0"/>
              </a:rPr>
              <a:t>="Bold"</a:t>
            </a:r>
            <a:endParaRPr lang="fr-FR" sz="1200" dirty="0">
              <a:solidFill>
                <a:srgbClr val="000000"/>
              </a:solidFill>
              <a:latin typeface="Cascadia Mono" panose="020B0609020000020004" pitchFamily="49" charset="0"/>
            </a:endParaRPr>
          </a:p>
          <a:p>
            <a:r>
              <a:rPr lang="fr-FR" sz="1200" dirty="0">
                <a:solidFill>
                  <a:srgbClr val="000000"/>
                </a:solidFill>
                <a:latin typeface="Cascadia Mono" panose="020B0609020000020004" pitchFamily="49" charset="0"/>
              </a:rPr>
              <a:t>                              </a:t>
            </a:r>
            <a:r>
              <a:rPr lang="fr-FR" sz="1200" dirty="0">
                <a:solidFill>
                  <a:srgbClr val="FF0000"/>
                </a:solidFill>
                <a:latin typeface="Cascadia Mono" panose="020B0609020000020004" pitchFamily="49" charset="0"/>
              </a:rPr>
              <a:t> Text</a:t>
            </a:r>
            <a:r>
              <a:rPr lang="fr-FR" sz="1200" dirty="0">
                <a:solidFill>
                  <a:srgbClr val="0000FF"/>
                </a:solidFill>
                <a:latin typeface="Cascadia Mono" panose="020B0609020000020004" pitchFamily="49" charset="0"/>
              </a:rPr>
              <a:t>="{</a:t>
            </a:r>
            <a:r>
              <a:rPr lang="fr-FR" sz="1200" dirty="0">
                <a:solidFill>
                  <a:srgbClr val="A31515"/>
                </a:solidFill>
                <a:latin typeface="Cascadia Mono" panose="020B0609020000020004" pitchFamily="49" charset="0"/>
              </a:rPr>
              <a:t>Binding</a:t>
            </a:r>
            <a:r>
              <a:rPr lang="fr-FR" sz="1200" dirty="0">
                <a:solidFill>
                  <a:srgbClr val="0000FF"/>
                </a:solidFill>
                <a:latin typeface="Cascadia Mono" panose="020B0609020000020004" pitchFamily="49" charset="0"/>
              </a:rPr>
              <a:t> .}"/&gt;</a:t>
            </a:r>
            <a:endParaRPr lang="fr-FR" sz="1200" dirty="0">
              <a:solidFill>
                <a:srgbClr val="000000"/>
              </a:solidFill>
              <a:latin typeface="Cascadia Mono" panose="020B0609020000020004" pitchFamily="49" charset="0"/>
            </a:endParaRPr>
          </a:p>
          <a:p>
            <a:r>
              <a:rPr lang="fr-FR" sz="1200" dirty="0">
                <a:solidFill>
                  <a:srgbClr val="000000"/>
                </a:solidFill>
                <a:latin typeface="Cascadia Mono" panose="020B0609020000020004" pitchFamily="49" charset="0"/>
              </a:rPr>
              <a:t>                        </a:t>
            </a:r>
            <a:r>
              <a:rPr lang="fr-FR" sz="1200" dirty="0">
                <a:solidFill>
                  <a:srgbClr val="0000FF"/>
                </a:solidFill>
                <a:latin typeface="Cascadia Mono" panose="020B0609020000020004" pitchFamily="49" charset="0"/>
              </a:rPr>
              <a:t>&lt;/</a:t>
            </a:r>
            <a:r>
              <a:rPr lang="fr-FR" sz="1200" dirty="0">
                <a:solidFill>
                  <a:srgbClr val="A31515"/>
                </a:solidFill>
                <a:latin typeface="Cascadia Mono" panose="020B0609020000020004" pitchFamily="49" charset="0"/>
              </a:rPr>
              <a:t>Frame</a:t>
            </a:r>
            <a:r>
              <a:rPr lang="fr-FR" sz="1200" dirty="0">
                <a:solidFill>
                  <a:srgbClr val="0000FF"/>
                </a:solidFill>
                <a:latin typeface="Cascadia Mono" panose="020B0609020000020004" pitchFamily="49" charset="0"/>
              </a:rPr>
              <a:t>&gt;</a:t>
            </a:r>
            <a:endParaRPr lang="fr-FR" sz="1200" dirty="0">
              <a:solidFill>
                <a:srgbClr val="000000"/>
              </a:solidFill>
              <a:latin typeface="Cascadia Mono" panose="020B0609020000020004" pitchFamily="49" charset="0"/>
            </a:endParaRPr>
          </a:p>
          <a:p>
            <a:r>
              <a:rPr lang="fr-FR" sz="1200" dirty="0">
                <a:solidFill>
                  <a:srgbClr val="000000"/>
                </a:solidFill>
                <a:latin typeface="Cascadia Mono" panose="020B0609020000020004" pitchFamily="49" charset="0"/>
              </a:rPr>
              <a:t>                    </a:t>
            </a:r>
            <a:r>
              <a:rPr lang="fr-FR" sz="1200" dirty="0">
                <a:solidFill>
                  <a:srgbClr val="0000FF"/>
                </a:solidFill>
                <a:latin typeface="Cascadia Mono" panose="020B0609020000020004" pitchFamily="49" charset="0"/>
              </a:rPr>
              <a:t>&lt;/</a:t>
            </a:r>
            <a:r>
              <a:rPr lang="fr-FR" sz="1200" dirty="0">
                <a:solidFill>
                  <a:srgbClr val="A31515"/>
                </a:solidFill>
                <a:latin typeface="Cascadia Mono" panose="020B0609020000020004" pitchFamily="49" charset="0"/>
              </a:rPr>
              <a:t>Grid</a:t>
            </a:r>
            <a:r>
              <a:rPr lang="fr-FR" sz="1200" dirty="0">
                <a:solidFill>
                  <a:srgbClr val="0000FF"/>
                </a:solidFill>
                <a:latin typeface="Cascadia Mono" panose="020B0609020000020004" pitchFamily="49" charset="0"/>
              </a:rPr>
              <a:t>&gt;</a:t>
            </a:r>
            <a:endParaRPr lang="fr-FR" sz="1200" dirty="0">
              <a:solidFill>
                <a:srgbClr val="000000"/>
              </a:solidFill>
              <a:latin typeface="Cascadia Mono" panose="020B0609020000020004" pitchFamily="49" charset="0"/>
            </a:endParaRPr>
          </a:p>
          <a:p>
            <a:r>
              <a:rPr lang="fr-FR" sz="1200" dirty="0">
                <a:solidFill>
                  <a:srgbClr val="000000"/>
                </a:solidFill>
                <a:latin typeface="Cascadia Mono" panose="020B0609020000020004" pitchFamily="49" charset="0"/>
              </a:rPr>
              <a:t>                </a:t>
            </a:r>
            <a:r>
              <a:rPr lang="fr-FR" sz="1200" dirty="0">
                <a:solidFill>
                  <a:srgbClr val="0000FF"/>
                </a:solidFill>
                <a:latin typeface="Cascadia Mono" panose="020B0609020000020004" pitchFamily="49" charset="0"/>
              </a:rPr>
              <a:t>&lt;/</a:t>
            </a:r>
            <a:r>
              <a:rPr lang="fr-FR" sz="1200" dirty="0">
                <a:solidFill>
                  <a:srgbClr val="A31515"/>
                </a:solidFill>
                <a:latin typeface="Cascadia Mono" panose="020B0609020000020004" pitchFamily="49" charset="0"/>
              </a:rPr>
              <a:t>DataTemplate</a:t>
            </a:r>
            <a:r>
              <a:rPr lang="fr-FR" sz="1200" dirty="0">
                <a:solidFill>
                  <a:srgbClr val="0000FF"/>
                </a:solidFill>
                <a:latin typeface="Cascadia Mono" panose="020B0609020000020004" pitchFamily="49" charset="0"/>
              </a:rPr>
              <a:t>&gt;</a:t>
            </a:r>
            <a:endParaRPr lang="fr-FR" sz="1200" dirty="0">
              <a:solidFill>
                <a:srgbClr val="000000"/>
              </a:solidFill>
              <a:latin typeface="Cascadia Mono" panose="020B0609020000020004" pitchFamily="49" charset="0"/>
            </a:endParaRPr>
          </a:p>
          <a:p>
            <a:r>
              <a:rPr lang="fr-FR" sz="1200" dirty="0">
                <a:solidFill>
                  <a:srgbClr val="000000"/>
                </a:solidFill>
                <a:latin typeface="Cascadia Mono" panose="020B0609020000020004" pitchFamily="49" charset="0"/>
              </a:rPr>
              <a:t>            </a:t>
            </a:r>
            <a:r>
              <a:rPr lang="fr-FR" sz="1200" dirty="0">
                <a:solidFill>
                  <a:srgbClr val="0000FF"/>
                </a:solidFill>
                <a:latin typeface="Cascadia Mono" panose="020B0609020000020004" pitchFamily="49" charset="0"/>
              </a:rPr>
              <a:t>&lt;/</a:t>
            </a:r>
            <a:r>
              <a:rPr lang="fr-FR" sz="1200" dirty="0" err="1">
                <a:solidFill>
                  <a:srgbClr val="A31515"/>
                </a:solidFill>
                <a:latin typeface="Cascadia Mono" panose="020B0609020000020004" pitchFamily="49" charset="0"/>
              </a:rPr>
              <a:t>CarouselView.ItemTemplate</a:t>
            </a:r>
            <a:r>
              <a:rPr lang="fr-FR" sz="1200" dirty="0">
                <a:solidFill>
                  <a:srgbClr val="0000FF"/>
                </a:solidFill>
                <a:latin typeface="Cascadia Mono" panose="020B0609020000020004" pitchFamily="49" charset="0"/>
              </a:rPr>
              <a:t>&gt;</a:t>
            </a:r>
            <a:endParaRPr lang="fr-FR" sz="1200" dirty="0">
              <a:solidFill>
                <a:srgbClr val="000000"/>
              </a:solidFill>
              <a:latin typeface="Cascadia Mono" panose="020B0609020000020004" pitchFamily="49" charset="0"/>
            </a:endParaRPr>
          </a:p>
          <a:p>
            <a:r>
              <a:rPr lang="fr-FR" sz="1200" dirty="0">
                <a:solidFill>
                  <a:srgbClr val="000000"/>
                </a:solidFill>
                <a:latin typeface="Cascadia Mono" panose="020B0609020000020004" pitchFamily="49" charset="0"/>
              </a:rPr>
              <a:t>        </a:t>
            </a:r>
            <a:r>
              <a:rPr lang="fr-FR" sz="1200" dirty="0">
                <a:solidFill>
                  <a:srgbClr val="0000FF"/>
                </a:solidFill>
                <a:latin typeface="Cascadia Mono" panose="020B0609020000020004" pitchFamily="49" charset="0"/>
              </a:rPr>
              <a:t>&lt;/</a:t>
            </a:r>
            <a:r>
              <a:rPr lang="fr-FR" sz="1200" dirty="0" err="1">
                <a:solidFill>
                  <a:srgbClr val="A31515"/>
                </a:solidFill>
                <a:latin typeface="Cascadia Mono" panose="020B0609020000020004" pitchFamily="49" charset="0"/>
              </a:rPr>
              <a:t>CarouselView</a:t>
            </a:r>
            <a:r>
              <a:rPr lang="fr-FR" sz="1200" dirty="0">
                <a:solidFill>
                  <a:srgbClr val="0000FF"/>
                </a:solidFill>
                <a:latin typeface="Cascadia Mono" panose="020B0609020000020004" pitchFamily="49" charset="0"/>
              </a:rPr>
              <a:t>&gt;</a:t>
            </a:r>
            <a:endParaRPr lang="fr-FR" sz="1200" dirty="0"/>
          </a:p>
        </p:txBody>
      </p:sp>
    </p:spTree>
    <p:extLst>
      <p:ext uri="{BB962C8B-B14F-4D97-AF65-F5344CB8AC3E}">
        <p14:creationId xmlns:p14="http://schemas.microsoft.com/office/powerpoint/2010/main" val="424857966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8"/>
          <p:cNvSpPr txBox="1">
            <a:spLocks noChangeArrowheads="1"/>
          </p:cNvSpPr>
          <p:nvPr/>
        </p:nvSpPr>
        <p:spPr bwMode="auto">
          <a:xfrm>
            <a:off x="398915" y="552527"/>
            <a:ext cx="11475048" cy="24160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152400">
              <a:tabLst>
                <a:tab pos="5992813" algn="l"/>
              </a:tabLst>
              <a:defRPr>
                <a:solidFill>
                  <a:schemeClr val="tx1"/>
                </a:solidFill>
                <a:latin typeface="Calibri" panose="020F0502020204030204" pitchFamily="34" charset="0"/>
                <a:cs typeface="Arial" panose="020B0604020202020204" pitchFamily="34" charset="0"/>
              </a:defRPr>
            </a:lvl1pPr>
            <a:lvl2pPr marL="579438" indent="-242888">
              <a:tabLst>
                <a:tab pos="5992813" algn="l"/>
              </a:tabLst>
              <a:defRPr>
                <a:solidFill>
                  <a:schemeClr val="tx1"/>
                </a:solidFill>
                <a:latin typeface="Calibri" panose="020F0502020204030204" pitchFamily="34" charset="0"/>
                <a:cs typeface="Arial" panose="020B0604020202020204" pitchFamily="34" charset="0"/>
              </a:defRPr>
            </a:lvl2pPr>
            <a:lvl3pPr marL="1143000" indent="-228600">
              <a:tabLst>
                <a:tab pos="5992813" algn="l"/>
              </a:tabLst>
              <a:defRPr>
                <a:solidFill>
                  <a:schemeClr val="tx1"/>
                </a:solidFill>
                <a:latin typeface="Calibri" panose="020F0502020204030204" pitchFamily="34" charset="0"/>
                <a:cs typeface="Arial" panose="020B0604020202020204" pitchFamily="34" charset="0"/>
              </a:defRPr>
            </a:lvl3pPr>
            <a:lvl4pPr marL="1600200" indent="-228600">
              <a:tabLst>
                <a:tab pos="5992813" algn="l"/>
              </a:tabLst>
              <a:defRPr>
                <a:solidFill>
                  <a:schemeClr val="tx1"/>
                </a:solidFill>
                <a:latin typeface="Calibri" panose="020F0502020204030204" pitchFamily="34" charset="0"/>
                <a:cs typeface="Arial" panose="020B0604020202020204" pitchFamily="34" charset="0"/>
              </a:defRPr>
            </a:lvl4pPr>
            <a:lvl5pPr marL="2057400" indent="-228600">
              <a:tabLst>
                <a:tab pos="5992813" algn="l"/>
              </a:tabLst>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2200" u="sng" dirty="0">
                <a:latin typeface="Segoe UI Symbol" panose="020B0502040204020203" pitchFamily="34" charset="0"/>
              </a:rPr>
              <a:t>L</a:t>
            </a:r>
            <a:r>
              <a:rPr lang="en-US" altLang="en-US" sz="2200" u="sng" dirty="0" smtClean="0">
                <a:latin typeface="Segoe UI Symbol" panose="020B0502040204020203" pitchFamily="34" charset="0"/>
              </a:rPr>
              <a:t>es </a:t>
            </a:r>
            <a:r>
              <a:rPr lang="fr-FR" altLang="en-US" sz="2200" u="sng" dirty="0" smtClean="0">
                <a:latin typeface="Segoe UI Symbol" panose="020B0502040204020203" pitchFamily="34" charset="0"/>
              </a:rPr>
              <a:t>collections-</a:t>
            </a:r>
            <a:r>
              <a:rPr lang="fr-FR" altLang="en-US" sz="2200" u="sng" dirty="0" err="1" smtClean="0">
                <a:latin typeface="Segoe UI Symbol" panose="020B0502040204020203" pitchFamily="34" charset="0"/>
              </a:rPr>
              <a:t>CarrouselView</a:t>
            </a:r>
            <a:endParaRPr lang="fr-FR" altLang="en-US" sz="2200" u="sng" dirty="0" smtClean="0">
              <a:latin typeface="Segoe UI Symbol" panose="020B0502040204020203" pitchFamily="34" charset="0"/>
            </a:endParaRPr>
          </a:p>
          <a:p>
            <a:pPr marL="438150" indent="-285750">
              <a:lnSpc>
                <a:spcPct val="150000"/>
              </a:lnSpc>
              <a:buFont typeface="Wingdings" panose="05000000000000000000" pitchFamily="2" charset="2"/>
              <a:buChar char="§"/>
            </a:pPr>
            <a:r>
              <a:rPr lang="fr-FR" dirty="0" smtClean="0">
                <a:latin typeface="Segoe UI" panose="020B0502040204020203" pitchFamily="34" charset="0"/>
                <a:cs typeface="Segoe UI" panose="020B0502040204020203" pitchFamily="34" charset="0"/>
              </a:rPr>
              <a:t>Le contrôle </a:t>
            </a:r>
            <a:r>
              <a:rPr lang="fr-FR" b="1" dirty="0" err="1" smtClean="0">
                <a:latin typeface="Segoe UI" panose="020B0502040204020203" pitchFamily="34" charset="0"/>
                <a:cs typeface="Segoe UI" panose="020B0502040204020203" pitchFamily="34" charset="0"/>
              </a:rPr>
              <a:t>CarouselView</a:t>
            </a:r>
            <a:r>
              <a:rPr lang="fr-FR" dirty="0">
                <a:latin typeface="Segoe UI" panose="020B0502040204020203" pitchFamily="34" charset="0"/>
                <a:cs typeface="Segoe UI" panose="020B0502040204020203" pitchFamily="34" charset="0"/>
              </a:rPr>
              <a:t> </a:t>
            </a:r>
            <a:r>
              <a:rPr lang="fr-FR" dirty="0" smtClean="0">
                <a:latin typeface="Segoe UI" panose="020B0502040204020203" pitchFamily="34" charset="0"/>
                <a:cs typeface="Segoe UI" panose="020B0502040204020203" pitchFamily="34" charset="0"/>
              </a:rPr>
              <a:t>admet deux propriété communes </a:t>
            </a:r>
          </a:p>
          <a:p>
            <a:pPr marL="865188" lvl="1" indent="-285750">
              <a:lnSpc>
                <a:spcPct val="150000"/>
              </a:lnSpc>
              <a:buFont typeface="Wingdings" panose="05000000000000000000" pitchFamily="2" charset="2"/>
              <a:buChar char="§"/>
            </a:pPr>
            <a:r>
              <a:rPr lang="fr-FR" b="1" dirty="0" err="1" smtClean="0">
                <a:latin typeface="Segoe UI" panose="020B0502040204020203" pitchFamily="34" charset="0"/>
                <a:cs typeface="Segoe UI" panose="020B0502040204020203" pitchFamily="34" charset="0"/>
              </a:rPr>
              <a:t>FlowDirection</a:t>
            </a:r>
            <a:r>
              <a:rPr lang="fr-FR" dirty="0" smtClean="0">
                <a:latin typeface="Segoe UI" panose="020B0502040204020203" pitchFamily="34" charset="0"/>
                <a:cs typeface="Segoe UI" panose="020B0502040204020203" pitchFamily="34" charset="0"/>
              </a:rPr>
              <a:t>:  de type énumération qui permet de définir le sens de balayage</a:t>
            </a:r>
          </a:p>
          <a:p>
            <a:pPr marL="865188" lvl="1" indent="-285750">
              <a:lnSpc>
                <a:spcPct val="150000"/>
              </a:lnSpc>
              <a:buFont typeface="Wingdings" panose="05000000000000000000" pitchFamily="2" charset="2"/>
              <a:buChar char="§"/>
            </a:pPr>
            <a:r>
              <a:rPr lang="fr-FR" b="1" dirty="0" err="1" smtClean="0">
                <a:latin typeface="Segoe UI" panose="020B0502040204020203" pitchFamily="34" charset="0"/>
                <a:cs typeface="Segoe UI" panose="020B0502040204020203" pitchFamily="34" charset="0"/>
              </a:rPr>
              <a:t>IndicatorView</a:t>
            </a:r>
            <a:r>
              <a:rPr lang="fr-FR" dirty="0" smtClean="0">
                <a:latin typeface="Segoe UI" panose="020B0502040204020203" pitchFamily="34" charset="0"/>
                <a:cs typeface="Segoe UI" panose="020B0502040204020203" pitchFamily="34" charset="0"/>
              </a:rPr>
              <a:t>: </a:t>
            </a:r>
            <a:r>
              <a:rPr lang="fr-FR" dirty="0" smtClean="0">
                <a:latin typeface="Segoe UI" panose="020B0502040204020203" pitchFamily="34" charset="0"/>
                <a:cs typeface="Segoe UI" panose="020B0502040204020203" pitchFamily="34" charset="0"/>
              </a:rPr>
              <a:t>de type </a:t>
            </a:r>
            <a:r>
              <a:rPr lang="fr-FR" b="1" dirty="0" smtClean="0">
                <a:latin typeface="Segoe UI" panose="020B0502040204020203" pitchFamily="34" charset="0"/>
                <a:cs typeface="Segoe UI" panose="020B0502040204020203" pitchFamily="34" charset="0"/>
              </a:rPr>
              <a:t>IndicatorView</a:t>
            </a:r>
            <a:r>
              <a:rPr lang="fr-FR" dirty="0" smtClean="0">
                <a:latin typeface="Segoe UI" panose="020B0502040204020203" pitchFamily="34" charset="0"/>
                <a:cs typeface="Segoe UI" panose="020B0502040204020203" pitchFamily="34" charset="0"/>
              </a:rPr>
              <a:t> qui montre un indicateur de </a:t>
            </a:r>
            <a:r>
              <a:rPr lang="fr-FR" b="1" dirty="0">
                <a:latin typeface="Segoe UI" panose="020B0502040204020203" pitchFamily="34" charset="0"/>
                <a:cs typeface="Segoe UI" panose="020B0502040204020203" pitchFamily="34" charset="0"/>
              </a:rPr>
              <a:t>C</a:t>
            </a:r>
            <a:r>
              <a:rPr lang="fr-FR" b="1" dirty="0" smtClean="0">
                <a:latin typeface="Segoe UI" panose="020B0502040204020203" pitchFamily="34" charset="0"/>
                <a:cs typeface="Segoe UI" panose="020B0502040204020203" pitchFamily="34" charset="0"/>
              </a:rPr>
              <a:t>arousel</a:t>
            </a:r>
            <a:r>
              <a:rPr lang="fr-FR" dirty="0" smtClean="0">
                <a:latin typeface="Segoe UI" panose="020B0502040204020203" pitchFamily="34" charset="0"/>
                <a:cs typeface="Segoe UI" panose="020B0502040204020203" pitchFamily="34" charset="0"/>
              </a:rPr>
              <a:t> </a:t>
            </a:r>
          </a:p>
          <a:p>
            <a:pPr marL="865188" lvl="1" indent="-285750">
              <a:lnSpc>
                <a:spcPct val="150000"/>
              </a:lnSpc>
              <a:buFont typeface="Wingdings" panose="05000000000000000000" pitchFamily="2" charset="2"/>
              <a:buChar char="§"/>
            </a:pPr>
            <a:r>
              <a:rPr lang="fr-FR" b="1" dirty="0" err="1">
                <a:latin typeface="Segoe UI" panose="020B0502040204020203" pitchFamily="34" charset="0"/>
                <a:cs typeface="Segoe UI" panose="020B0502040204020203" pitchFamily="34" charset="0"/>
              </a:rPr>
              <a:t>EmptyView</a:t>
            </a:r>
            <a:r>
              <a:rPr lang="fr-FR" dirty="0">
                <a:latin typeface="Segoe UI" panose="020B0502040204020203" pitchFamily="34" charset="0"/>
                <a:cs typeface="Segoe UI" panose="020B0502040204020203" pitchFamily="34" charset="0"/>
              </a:rPr>
              <a:t>: Permet d’afficher une interface qui se présente lorsque aucun élément ne figure dans</a:t>
            </a:r>
          </a:p>
          <a:p>
            <a:pPr lvl="1" indent="0">
              <a:lnSpc>
                <a:spcPct val="150000"/>
              </a:lnSpc>
            </a:pPr>
            <a:r>
              <a:rPr lang="fr-FR" dirty="0">
                <a:latin typeface="Segoe UI" panose="020B0502040204020203" pitchFamily="34" charset="0"/>
                <a:cs typeface="Segoe UI" panose="020B0502040204020203" pitchFamily="34" charset="0"/>
              </a:rPr>
              <a:t>     les  éléments </a:t>
            </a:r>
            <a:r>
              <a:rPr lang="fr-FR" dirty="0" smtClean="0">
                <a:latin typeface="Segoe UI" panose="020B0502040204020203" pitchFamily="34" charset="0"/>
                <a:cs typeface="Segoe UI" panose="020B0502040204020203" pitchFamily="34" charset="0"/>
              </a:rPr>
              <a:t>ajoutés dynamiquement</a:t>
            </a:r>
            <a:endParaRPr lang="fr-FR" dirty="0">
              <a:latin typeface="Segoe UI" panose="020B0502040204020203" pitchFamily="34" charset="0"/>
              <a:cs typeface="Segoe UI" panose="020B0502040204020203" pitchFamily="34" charset="0"/>
            </a:endParaRPr>
          </a:p>
        </p:txBody>
      </p:sp>
      <p:pic>
        <p:nvPicPr>
          <p:cNvPr id="3" name="Image 2"/>
          <p:cNvPicPr>
            <a:picLocks noChangeAspect="1"/>
          </p:cNvPicPr>
          <p:nvPr/>
        </p:nvPicPr>
        <p:blipFill>
          <a:blip r:embed="rId3"/>
          <a:stretch>
            <a:fillRect/>
          </a:stretch>
        </p:blipFill>
        <p:spPr>
          <a:xfrm>
            <a:off x="1765300" y="3070079"/>
            <a:ext cx="2895600" cy="2193860"/>
          </a:xfrm>
          <a:prstGeom prst="rect">
            <a:avLst/>
          </a:prstGeom>
        </p:spPr>
      </p:pic>
      <p:sp>
        <p:nvSpPr>
          <p:cNvPr id="4" name="Rectangle 3"/>
          <p:cNvSpPr/>
          <p:nvPr/>
        </p:nvSpPr>
        <p:spPr>
          <a:xfrm>
            <a:off x="1673127" y="5492234"/>
            <a:ext cx="3079946" cy="369332"/>
          </a:xfrm>
          <a:prstGeom prst="rect">
            <a:avLst/>
          </a:prstGeom>
        </p:spPr>
        <p:txBody>
          <a:bodyPr wrap="none">
            <a:spAutoFit/>
          </a:bodyPr>
          <a:lstStyle/>
          <a:p>
            <a:r>
              <a:rPr lang="fr-FR" dirty="0" smtClean="0">
                <a:latin typeface="Segoe UI" panose="020B0502040204020203" pitchFamily="34" charset="0"/>
                <a:cs typeface="Segoe UI" panose="020B0502040204020203" pitchFamily="34" charset="0"/>
              </a:rPr>
              <a:t>Un Carrousel avec indicateur</a:t>
            </a:r>
            <a:endParaRPr lang="fr-FR" dirty="0"/>
          </a:p>
        </p:txBody>
      </p:sp>
    </p:spTree>
    <p:extLst>
      <p:ext uri="{BB962C8B-B14F-4D97-AF65-F5344CB8AC3E}">
        <p14:creationId xmlns:p14="http://schemas.microsoft.com/office/powerpoint/2010/main" val="246731191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8"/>
          <p:cNvSpPr txBox="1">
            <a:spLocks noChangeArrowheads="1"/>
          </p:cNvSpPr>
          <p:nvPr/>
        </p:nvSpPr>
        <p:spPr bwMode="auto">
          <a:xfrm>
            <a:off x="398915" y="552527"/>
            <a:ext cx="11475048" cy="4909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152400">
              <a:tabLst>
                <a:tab pos="5992813" algn="l"/>
              </a:tabLst>
              <a:defRPr>
                <a:solidFill>
                  <a:schemeClr val="tx1"/>
                </a:solidFill>
                <a:latin typeface="Calibri" panose="020F0502020204030204" pitchFamily="34" charset="0"/>
                <a:cs typeface="Arial" panose="020B0604020202020204" pitchFamily="34" charset="0"/>
              </a:defRPr>
            </a:lvl1pPr>
            <a:lvl2pPr marL="579438" indent="-242888">
              <a:tabLst>
                <a:tab pos="5992813" algn="l"/>
              </a:tabLst>
              <a:defRPr>
                <a:solidFill>
                  <a:schemeClr val="tx1"/>
                </a:solidFill>
                <a:latin typeface="Calibri" panose="020F0502020204030204" pitchFamily="34" charset="0"/>
                <a:cs typeface="Arial" panose="020B0604020202020204" pitchFamily="34" charset="0"/>
              </a:defRPr>
            </a:lvl2pPr>
            <a:lvl3pPr marL="1143000" indent="-228600">
              <a:tabLst>
                <a:tab pos="5992813" algn="l"/>
              </a:tabLst>
              <a:defRPr>
                <a:solidFill>
                  <a:schemeClr val="tx1"/>
                </a:solidFill>
                <a:latin typeface="Calibri" panose="020F0502020204030204" pitchFamily="34" charset="0"/>
                <a:cs typeface="Arial" panose="020B0604020202020204" pitchFamily="34" charset="0"/>
              </a:defRPr>
            </a:lvl3pPr>
            <a:lvl4pPr marL="1600200" indent="-228600">
              <a:tabLst>
                <a:tab pos="5992813" algn="l"/>
              </a:tabLst>
              <a:defRPr>
                <a:solidFill>
                  <a:schemeClr val="tx1"/>
                </a:solidFill>
                <a:latin typeface="Calibri" panose="020F0502020204030204" pitchFamily="34" charset="0"/>
                <a:cs typeface="Arial" panose="020B0604020202020204" pitchFamily="34" charset="0"/>
              </a:defRPr>
            </a:lvl4pPr>
            <a:lvl5pPr marL="2057400" indent="-228600">
              <a:tabLst>
                <a:tab pos="5992813" algn="l"/>
              </a:tabLst>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2200" u="sng" dirty="0">
                <a:latin typeface="Segoe UI Symbol" panose="020B0502040204020203" pitchFamily="34" charset="0"/>
              </a:rPr>
              <a:t>L</a:t>
            </a:r>
            <a:r>
              <a:rPr lang="en-US" altLang="en-US" sz="2200" u="sng" dirty="0" smtClean="0">
                <a:latin typeface="Segoe UI Symbol" panose="020B0502040204020203" pitchFamily="34" charset="0"/>
              </a:rPr>
              <a:t>es </a:t>
            </a:r>
            <a:r>
              <a:rPr lang="fr-FR" altLang="en-US" sz="2200" u="sng" dirty="0" smtClean="0">
                <a:latin typeface="Segoe UI Symbol" panose="020B0502040204020203" pitchFamily="34" charset="0"/>
              </a:rPr>
              <a:t>collections-</a:t>
            </a:r>
            <a:r>
              <a:rPr lang="fr-FR" altLang="en-US" sz="2200" u="sng" dirty="0" err="1" smtClean="0">
                <a:latin typeface="Segoe UI Symbol" panose="020B0502040204020203" pitchFamily="34" charset="0"/>
              </a:rPr>
              <a:t>ListView</a:t>
            </a:r>
            <a:endParaRPr lang="fr-FR" altLang="en-US" sz="2200" u="sng" dirty="0" smtClean="0">
              <a:latin typeface="Segoe UI Symbol" panose="020B0502040204020203" pitchFamily="34" charset="0"/>
            </a:endParaRPr>
          </a:p>
          <a:p>
            <a:pPr marL="438150" indent="-285750">
              <a:lnSpc>
                <a:spcPct val="150000"/>
              </a:lnSpc>
              <a:buFont typeface="Wingdings" panose="05000000000000000000" pitchFamily="2" charset="2"/>
              <a:buChar char="§"/>
            </a:pPr>
            <a:r>
              <a:rPr lang="fr-FR" dirty="0" smtClean="0">
                <a:latin typeface="Segoe UI" panose="020B0502040204020203" pitchFamily="34" charset="0"/>
                <a:cs typeface="Segoe UI" panose="020B0502040204020203" pitchFamily="34" charset="0"/>
              </a:rPr>
              <a:t>Le contrôle </a:t>
            </a:r>
            <a:r>
              <a:rPr lang="fr-FR" b="1" dirty="0" smtClean="0">
                <a:latin typeface="Segoe UI" panose="020B0502040204020203" pitchFamily="34" charset="0"/>
                <a:cs typeface="Segoe UI" panose="020B0502040204020203" pitchFamily="34" charset="0"/>
              </a:rPr>
              <a:t>ListView</a:t>
            </a:r>
            <a:r>
              <a:rPr lang="fr-FR" dirty="0" smtClean="0">
                <a:latin typeface="Segoe UI" panose="020B0502040204020203" pitchFamily="34" charset="0"/>
                <a:cs typeface="Segoe UI" panose="020B0502040204020203" pitchFamily="34" charset="0"/>
              </a:rPr>
              <a:t>  </a:t>
            </a:r>
            <a:r>
              <a:rPr lang="fr-FR" dirty="0" smtClean="0"/>
              <a:t>affiche </a:t>
            </a:r>
            <a:r>
              <a:rPr lang="fr-FR" dirty="0"/>
              <a:t>une liste verticale défilable d’éléments de données </a:t>
            </a:r>
            <a:r>
              <a:rPr lang="fr-FR" dirty="0" smtClean="0"/>
              <a:t>sélectionnables</a:t>
            </a:r>
          </a:p>
          <a:p>
            <a:pPr marL="438150" indent="-285750">
              <a:lnSpc>
                <a:spcPct val="150000"/>
              </a:lnSpc>
              <a:buFont typeface="Wingdings" panose="05000000000000000000" pitchFamily="2" charset="2"/>
              <a:buChar char="§"/>
            </a:pPr>
            <a:r>
              <a:rPr lang="fr-FR" dirty="0" smtClean="0">
                <a:latin typeface="Segoe UI" panose="020B0502040204020203" pitchFamily="34" charset="0"/>
                <a:cs typeface="Segoe UI" panose="020B0502040204020203" pitchFamily="34" charset="0"/>
              </a:rPr>
              <a:t>Le contrôle </a:t>
            </a:r>
            <a:r>
              <a:rPr lang="fr-FR" b="1" dirty="0" smtClean="0">
                <a:latin typeface="Segoe UI" panose="020B0502040204020203" pitchFamily="34" charset="0"/>
                <a:cs typeface="Segoe UI" panose="020B0502040204020203" pitchFamily="34" charset="0"/>
              </a:rPr>
              <a:t>ListView</a:t>
            </a:r>
            <a:r>
              <a:rPr lang="fr-FR" dirty="0" smtClean="0">
                <a:latin typeface="Segoe UI" panose="020B0502040204020203" pitchFamily="34" charset="0"/>
                <a:cs typeface="Segoe UI" panose="020B0502040204020203" pitchFamily="34" charset="0"/>
              </a:rPr>
              <a:t> à la particularité d’ajouter une entête et un pied de liste, il permet également </a:t>
            </a:r>
          </a:p>
          <a:p>
            <a:pPr>
              <a:lnSpc>
                <a:spcPct val="150000"/>
              </a:lnSpc>
            </a:pPr>
            <a:r>
              <a:rPr lang="fr-FR" dirty="0">
                <a:latin typeface="Segoe UI" panose="020B0502040204020203" pitchFamily="34" charset="0"/>
                <a:cs typeface="Segoe UI" panose="020B0502040204020203" pitchFamily="34" charset="0"/>
              </a:rPr>
              <a:t> </a:t>
            </a:r>
            <a:r>
              <a:rPr lang="fr-FR" dirty="0" smtClean="0">
                <a:latin typeface="Segoe UI" panose="020B0502040204020203" pitchFamily="34" charset="0"/>
                <a:cs typeface="Segoe UI" panose="020B0502040204020203" pitchFamily="34" charset="0"/>
              </a:rPr>
              <a:t>    de regrouper les éléments selon des critères définis</a:t>
            </a:r>
          </a:p>
          <a:p>
            <a:pPr marL="438150" indent="-285750">
              <a:lnSpc>
                <a:spcPct val="150000"/>
              </a:lnSpc>
              <a:buFont typeface="Wingdings" panose="05000000000000000000" pitchFamily="2" charset="2"/>
              <a:buChar char="§"/>
            </a:pPr>
            <a:r>
              <a:rPr lang="fr-FR" dirty="0" smtClean="0">
                <a:latin typeface="Segoe UI" panose="020B0502040204020203" pitchFamily="34" charset="0"/>
                <a:cs typeface="Segoe UI" panose="020B0502040204020203" pitchFamily="34" charset="0"/>
              </a:rPr>
              <a:t>Parmi les propriétés communes de ListView: </a:t>
            </a:r>
          </a:p>
          <a:p>
            <a:pPr marL="1200150" lvl="2" indent="-285750">
              <a:lnSpc>
                <a:spcPct val="150000"/>
              </a:lnSpc>
              <a:buFont typeface="Wingdings" panose="05000000000000000000" pitchFamily="2" charset="2"/>
              <a:buChar char="§"/>
            </a:pPr>
            <a:r>
              <a:rPr lang="fr-FR" b="1" dirty="0" err="1">
                <a:latin typeface="Segoe UI" panose="020B0502040204020203" pitchFamily="34" charset="0"/>
                <a:cs typeface="Segoe UI" panose="020B0502040204020203" pitchFamily="34" charset="0"/>
              </a:rPr>
              <a:t>SelectionMode</a:t>
            </a:r>
            <a:r>
              <a:rPr lang="fr-FR" b="1" dirty="0">
                <a:latin typeface="Segoe UI" panose="020B0502040204020203" pitchFamily="34" charset="0"/>
                <a:cs typeface="Segoe UI" panose="020B0502040204020203" pitchFamily="34" charset="0"/>
              </a:rPr>
              <a:t>:</a:t>
            </a:r>
            <a:r>
              <a:rPr lang="fr-FR" dirty="0">
                <a:latin typeface="Segoe UI" panose="020B0502040204020203" pitchFamily="34" charset="0"/>
                <a:cs typeface="Segoe UI" panose="020B0502040204020203" pitchFamily="34" charset="0"/>
              </a:rPr>
              <a:t> de type </a:t>
            </a:r>
            <a:r>
              <a:rPr lang="fr-FR" b="1" dirty="0" err="1">
                <a:latin typeface="Segoe UI" panose="020B0502040204020203" pitchFamily="34" charset="0"/>
                <a:cs typeface="Segoe UI" panose="020B0502040204020203" pitchFamily="34" charset="0"/>
              </a:rPr>
              <a:t>ListViewSelectionMode</a:t>
            </a:r>
            <a:r>
              <a:rPr lang="fr-FR" dirty="0">
                <a:latin typeface="Segoe UI" panose="020B0502040204020203" pitchFamily="34" charset="0"/>
                <a:cs typeface="Segoe UI" panose="020B0502040204020203" pitchFamily="34" charset="0"/>
              </a:rPr>
              <a:t>, indique si les éléments peuvent être sélectionnés dans ou ListView non. La valeur par défaut de cette propriété est </a:t>
            </a:r>
            <a:r>
              <a:rPr lang="fr-FR" dirty="0" smtClean="0">
                <a:latin typeface="Segoe UI" panose="020B0502040204020203" pitchFamily="34" charset="0"/>
                <a:cs typeface="Segoe UI" panose="020B0502040204020203" pitchFamily="34" charset="0"/>
              </a:rPr>
              <a:t>Single</a:t>
            </a:r>
            <a:endParaRPr lang="fr-FR" dirty="0">
              <a:latin typeface="Segoe UI" panose="020B0502040204020203" pitchFamily="34" charset="0"/>
              <a:cs typeface="Segoe UI" panose="020B0502040204020203" pitchFamily="34" charset="0"/>
            </a:endParaRPr>
          </a:p>
          <a:p>
            <a:pPr marL="1200150" lvl="2" indent="-285750">
              <a:lnSpc>
                <a:spcPct val="150000"/>
              </a:lnSpc>
              <a:buFont typeface="Wingdings" panose="05000000000000000000" pitchFamily="2" charset="2"/>
              <a:buChar char="§"/>
            </a:pPr>
            <a:r>
              <a:rPr lang="fr-FR" b="1" dirty="0" err="1" smtClean="0">
                <a:latin typeface="Segoe UI" panose="020B0502040204020203" pitchFamily="34" charset="0"/>
                <a:cs typeface="Segoe UI" panose="020B0502040204020203" pitchFamily="34" charset="0"/>
              </a:rPr>
              <a:t>SeparatorVisibility</a:t>
            </a:r>
            <a:r>
              <a:rPr lang="fr-FR" b="1" dirty="0" smtClean="0">
                <a:latin typeface="Segoe UI" panose="020B0502040204020203" pitchFamily="34" charset="0"/>
                <a:cs typeface="Segoe UI" panose="020B0502040204020203" pitchFamily="34" charset="0"/>
              </a:rPr>
              <a:t>:</a:t>
            </a:r>
            <a:r>
              <a:rPr lang="fr-FR" dirty="0" smtClean="0">
                <a:latin typeface="Segoe UI" panose="020B0502040204020203" pitchFamily="34" charset="0"/>
                <a:cs typeface="Segoe UI" panose="020B0502040204020203" pitchFamily="34" charset="0"/>
              </a:rPr>
              <a:t> </a:t>
            </a:r>
            <a:r>
              <a:rPr lang="fr-FR" dirty="0">
                <a:latin typeface="Segoe UI" panose="020B0502040204020203" pitchFamily="34" charset="0"/>
                <a:cs typeface="Segoe UI" panose="020B0502040204020203" pitchFamily="34" charset="0"/>
              </a:rPr>
              <a:t>de type </a:t>
            </a:r>
            <a:r>
              <a:rPr lang="fr-FR" b="1" dirty="0" err="1">
                <a:latin typeface="Segoe UI" panose="020B0502040204020203" pitchFamily="34" charset="0"/>
                <a:cs typeface="Segoe UI" panose="020B0502040204020203" pitchFamily="34" charset="0"/>
              </a:rPr>
              <a:t>SeparatorVisibility</a:t>
            </a:r>
            <a:r>
              <a:rPr lang="fr-FR" dirty="0">
                <a:latin typeface="Segoe UI" panose="020B0502040204020203" pitchFamily="34" charset="0"/>
                <a:cs typeface="Segoe UI" panose="020B0502040204020203" pitchFamily="34" charset="0"/>
              </a:rPr>
              <a:t>, définit si les séparateurs sont visibles entre les </a:t>
            </a:r>
            <a:r>
              <a:rPr lang="fr-FR" dirty="0" smtClean="0">
                <a:latin typeface="Segoe UI" panose="020B0502040204020203" pitchFamily="34" charset="0"/>
                <a:cs typeface="Segoe UI" panose="020B0502040204020203" pitchFamily="34" charset="0"/>
              </a:rPr>
              <a:t>éléments</a:t>
            </a:r>
            <a:endParaRPr lang="fr-FR" dirty="0">
              <a:latin typeface="Segoe UI" panose="020B0502040204020203" pitchFamily="34" charset="0"/>
              <a:cs typeface="Segoe UI" panose="020B0502040204020203" pitchFamily="34" charset="0"/>
            </a:endParaRPr>
          </a:p>
          <a:p>
            <a:pPr marL="1200150" lvl="2" indent="-285750">
              <a:lnSpc>
                <a:spcPct val="150000"/>
              </a:lnSpc>
              <a:buFont typeface="Wingdings" panose="05000000000000000000" pitchFamily="2" charset="2"/>
              <a:buChar char="§"/>
            </a:pPr>
            <a:r>
              <a:rPr lang="fr-FR" b="1" dirty="0" err="1">
                <a:latin typeface="Segoe UI" panose="020B0502040204020203" pitchFamily="34" charset="0"/>
                <a:cs typeface="Segoe UI" panose="020B0502040204020203" pitchFamily="34" charset="0"/>
              </a:rPr>
              <a:t>SelectedItem</a:t>
            </a:r>
            <a:r>
              <a:rPr lang="fr-FR" b="1" dirty="0">
                <a:latin typeface="Segoe UI" panose="020B0502040204020203" pitchFamily="34" charset="0"/>
                <a:cs typeface="Segoe UI" panose="020B0502040204020203" pitchFamily="34" charset="0"/>
              </a:rPr>
              <a:t>: </a:t>
            </a:r>
            <a:r>
              <a:rPr lang="fr-FR" dirty="0">
                <a:latin typeface="Segoe UI" panose="020B0502040204020203" pitchFamily="34" charset="0"/>
                <a:cs typeface="Segoe UI" panose="020B0502040204020203" pitchFamily="34" charset="0"/>
              </a:rPr>
              <a:t>de type object, représente l’élément actuellement sélectionné dans la </a:t>
            </a:r>
            <a:r>
              <a:rPr lang="fr-FR" dirty="0" smtClean="0">
                <a:latin typeface="Segoe UI" panose="020B0502040204020203" pitchFamily="34" charset="0"/>
                <a:cs typeface="Segoe UI" panose="020B0502040204020203" pitchFamily="34" charset="0"/>
              </a:rPr>
              <a:t>ListView</a:t>
            </a:r>
          </a:p>
          <a:p>
            <a:pPr marL="1200150" lvl="2" indent="-285750">
              <a:lnSpc>
                <a:spcPct val="150000"/>
              </a:lnSpc>
              <a:buFont typeface="Wingdings" panose="05000000000000000000" pitchFamily="2" charset="2"/>
              <a:buChar char="§"/>
            </a:pPr>
            <a:endParaRPr lang="fr-FR" dirty="0">
              <a:latin typeface="Segoe UI" panose="020B0502040204020203" pitchFamily="34" charset="0"/>
              <a:cs typeface="Segoe UI" panose="020B0502040204020203" pitchFamily="34" charset="0"/>
            </a:endParaRPr>
          </a:p>
          <a:p>
            <a:pPr marL="1200150" lvl="2" indent="-285750">
              <a:lnSpc>
                <a:spcPct val="150000"/>
              </a:lnSpc>
              <a:buFont typeface="Wingdings" panose="05000000000000000000" pitchFamily="2" charset="2"/>
              <a:buChar char="§"/>
            </a:pPr>
            <a:r>
              <a:rPr lang="fr-FR" b="1" dirty="0" err="1">
                <a:latin typeface="Segoe UI" panose="020B0502040204020203" pitchFamily="34" charset="0"/>
                <a:cs typeface="Segoe UI" panose="020B0502040204020203" pitchFamily="34" charset="0"/>
              </a:rPr>
              <a:t>SeparatorColor</a:t>
            </a:r>
            <a:r>
              <a:rPr lang="fr-FR" b="1" dirty="0">
                <a:latin typeface="Segoe UI" panose="020B0502040204020203" pitchFamily="34" charset="0"/>
                <a:cs typeface="Segoe UI" panose="020B0502040204020203" pitchFamily="34" charset="0"/>
              </a:rPr>
              <a:t>: </a:t>
            </a:r>
            <a:r>
              <a:rPr lang="fr-FR" dirty="0">
                <a:latin typeface="Segoe UI" panose="020B0502040204020203" pitchFamily="34" charset="0"/>
                <a:cs typeface="Segoe UI" panose="020B0502040204020203" pitchFamily="34" charset="0"/>
              </a:rPr>
              <a:t>de type </a:t>
            </a:r>
            <a:r>
              <a:rPr lang="fr-FR" b="1" dirty="0" err="1">
                <a:latin typeface="Segoe UI" panose="020B0502040204020203" pitchFamily="34" charset="0"/>
                <a:cs typeface="Segoe UI" panose="020B0502040204020203" pitchFamily="34" charset="0"/>
              </a:rPr>
              <a:t>Color</a:t>
            </a:r>
            <a:r>
              <a:rPr lang="fr-FR" dirty="0">
                <a:latin typeface="Segoe UI" panose="020B0502040204020203" pitchFamily="34" charset="0"/>
                <a:cs typeface="Segoe UI" panose="020B0502040204020203" pitchFamily="34" charset="0"/>
              </a:rPr>
              <a:t>, définit la couleur de la barre qui sépare les éléments de la liste</a:t>
            </a:r>
          </a:p>
        </p:txBody>
      </p:sp>
    </p:spTree>
    <p:extLst>
      <p:ext uri="{BB962C8B-B14F-4D97-AF65-F5344CB8AC3E}">
        <p14:creationId xmlns:p14="http://schemas.microsoft.com/office/powerpoint/2010/main" val="57008262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8"/>
          <p:cNvSpPr txBox="1">
            <a:spLocks noChangeArrowheads="1"/>
          </p:cNvSpPr>
          <p:nvPr/>
        </p:nvSpPr>
        <p:spPr bwMode="auto">
          <a:xfrm>
            <a:off x="398915" y="552527"/>
            <a:ext cx="11475048" cy="449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152400">
              <a:tabLst>
                <a:tab pos="5992813" algn="l"/>
              </a:tabLst>
              <a:defRPr>
                <a:solidFill>
                  <a:schemeClr val="tx1"/>
                </a:solidFill>
                <a:latin typeface="Calibri" panose="020F0502020204030204" pitchFamily="34" charset="0"/>
                <a:cs typeface="Arial" panose="020B0604020202020204" pitchFamily="34" charset="0"/>
              </a:defRPr>
            </a:lvl1pPr>
            <a:lvl2pPr marL="579438" indent="-242888">
              <a:tabLst>
                <a:tab pos="5992813" algn="l"/>
              </a:tabLst>
              <a:defRPr>
                <a:solidFill>
                  <a:schemeClr val="tx1"/>
                </a:solidFill>
                <a:latin typeface="Calibri" panose="020F0502020204030204" pitchFamily="34" charset="0"/>
                <a:cs typeface="Arial" panose="020B0604020202020204" pitchFamily="34" charset="0"/>
              </a:defRPr>
            </a:lvl2pPr>
            <a:lvl3pPr marL="1143000" indent="-228600">
              <a:tabLst>
                <a:tab pos="5992813" algn="l"/>
              </a:tabLst>
              <a:defRPr>
                <a:solidFill>
                  <a:schemeClr val="tx1"/>
                </a:solidFill>
                <a:latin typeface="Calibri" panose="020F0502020204030204" pitchFamily="34" charset="0"/>
                <a:cs typeface="Arial" panose="020B0604020202020204" pitchFamily="34" charset="0"/>
              </a:defRPr>
            </a:lvl3pPr>
            <a:lvl4pPr marL="1600200" indent="-228600">
              <a:tabLst>
                <a:tab pos="5992813" algn="l"/>
              </a:tabLst>
              <a:defRPr>
                <a:solidFill>
                  <a:schemeClr val="tx1"/>
                </a:solidFill>
                <a:latin typeface="Calibri" panose="020F0502020204030204" pitchFamily="34" charset="0"/>
                <a:cs typeface="Arial" panose="020B0604020202020204" pitchFamily="34" charset="0"/>
              </a:defRPr>
            </a:lvl4pPr>
            <a:lvl5pPr marL="2057400" indent="-228600">
              <a:tabLst>
                <a:tab pos="5992813" algn="l"/>
              </a:tabLst>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2200" u="sng" dirty="0">
                <a:latin typeface="Segoe UI Symbol" panose="020B0502040204020203" pitchFamily="34" charset="0"/>
              </a:rPr>
              <a:t>L</a:t>
            </a:r>
            <a:r>
              <a:rPr lang="en-US" altLang="en-US" sz="2200" u="sng" dirty="0" smtClean="0">
                <a:latin typeface="Segoe UI Symbol" panose="020B0502040204020203" pitchFamily="34" charset="0"/>
              </a:rPr>
              <a:t>es </a:t>
            </a:r>
            <a:r>
              <a:rPr lang="fr-FR" altLang="en-US" sz="2200" u="sng" dirty="0" smtClean="0">
                <a:latin typeface="Segoe UI Symbol" panose="020B0502040204020203" pitchFamily="34" charset="0"/>
              </a:rPr>
              <a:t>collections-</a:t>
            </a:r>
            <a:r>
              <a:rPr lang="fr-FR" altLang="en-US" sz="2200" u="sng" dirty="0" err="1" smtClean="0">
                <a:latin typeface="Segoe UI Symbol" panose="020B0502040204020203" pitchFamily="34" charset="0"/>
              </a:rPr>
              <a:t>ListView</a:t>
            </a:r>
            <a:endParaRPr lang="fr-FR" altLang="en-US" sz="2200" u="sng" dirty="0" smtClean="0">
              <a:latin typeface="Segoe UI Symbol" panose="020B0502040204020203" pitchFamily="34" charset="0"/>
            </a:endParaRPr>
          </a:p>
          <a:p>
            <a:pPr marL="438150" indent="-285750">
              <a:lnSpc>
                <a:spcPct val="150000"/>
              </a:lnSpc>
              <a:buFont typeface="Wingdings" panose="05000000000000000000" pitchFamily="2" charset="2"/>
              <a:buChar char="§"/>
            </a:pPr>
            <a:r>
              <a:rPr lang="fr-FR" dirty="0" smtClean="0">
                <a:latin typeface="Segoe UI" panose="020B0502040204020203" pitchFamily="34" charset="0"/>
                <a:cs typeface="Segoe UI" panose="020B0502040204020203" pitchFamily="34" charset="0"/>
              </a:rPr>
              <a:t>Le contrôle </a:t>
            </a:r>
            <a:r>
              <a:rPr lang="fr-FR" b="1" dirty="0" smtClean="0">
                <a:latin typeface="Segoe UI" panose="020B0502040204020203" pitchFamily="34" charset="0"/>
                <a:cs typeface="Segoe UI" panose="020B0502040204020203" pitchFamily="34" charset="0"/>
              </a:rPr>
              <a:t>ListView</a:t>
            </a:r>
            <a:r>
              <a:rPr lang="fr-FR" dirty="0" smtClean="0">
                <a:latin typeface="Segoe UI" panose="020B0502040204020203" pitchFamily="34" charset="0"/>
                <a:cs typeface="Segoe UI" panose="020B0502040204020203" pitchFamily="34" charset="0"/>
              </a:rPr>
              <a:t> présente également des évènements : </a:t>
            </a:r>
          </a:p>
          <a:p>
            <a:pPr marL="865188" lvl="1" indent="-285750">
              <a:lnSpc>
                <a:spcPct val="150000"/>
              </a:lnSpc>
              <a:buFont typeface="Wingdings" panose="05000000000000000000" pitchFamily="2" charset="2"/>
              <a:buChar char="§"/>
            </a:pPr>
            <a:r>
              <a:rPr lang="fr-FR" b="1" dirty="0" err="1" smtClean="0">
                <a:latin typeface="Segoe UI" panose="020B0502040204020203" pitchFamily="34" charset="0"/>
                <a:cs typeface="Segoe UI" panose="020B0502040204020203" pitchFamily="34" charset="0"/>
              </a:rPr>
              <a:t>ItemSelected</a:t>
            </a:r>
            <a:r>
              <a:rPr lang="fr-FR" dirty="0" smtClean="0">
                <a:latin typeface="Segoe UI" panose="020B0502040204020203" pitchFamily="34" charset="0"/>
                <a:cs typeface="Segoe UI" panose="020B0502040204020203" pitchFamily="34" charset="0"/>
              </a:rPr>
              <a:t>: </a:t>
            </a:r>
            <a:r>
              <a:rPr lang="fr-FR" dirty="0">
                <a:latin typeface="Segoe UI" panose="020B0502040204020203" pitchFamily="34" charset="0"/>
                <a:cs typeface="Segoe UI" panose="020B0502040204020203" pitchFamily="34" charset="0"/>
              </a:rPr>
              <a:t>qui est déclenché lorsqu’un nouvel élément de la liste est sélectionné. </a:t>
            </a:r>
          </a:p>
          <a:p>
            <a:pPr marL="865188" lvl="1" indent="-285750">
              <a:lnSpc>
                <a:spcPct val="150000"/>
              </a:lnSpc>
              <a:buFont typeface="Wingdings" panose="05000000000000000000" pitchFamily="2" charset="2"/>
              <a:buChar char="§"/>
            </a:pPr>
            <a:r>
              <a:rPr lang="fr-FR" b="1" dirty="0" err="1" smtClean="0">
                <a:latin typeface="Segoe UI" panose="020B0502040204020203" pitchFamily="34" charset="0"/>
                <a:cs typeface="Segoe UI" panose="020B0502040204020203" pitchFamily="34" charset="0"/>
              </a:rPr>
              <a:t>ItemTapped</a:t>
            </a:r>
            <a:r>
              <a:rPr lang="fr-FR" dirty="0" smtClean="0">
                <a:latin typeface="Segoe UI" panose="020B0502040204020203" pitchFamily="34" charset="0"/>
                <a:cs typeface="Segoe UI" panose="020B0502040204020203" pitchFamily="34" charset="0"/>
              </a:rPr>
              <a:t>: </a:t>
            </a:r>
            <a:r>
              <a:rPr lang="fr-FR" dirty="0">
                <a:latin typeface="Segoe UI" panose="020B0502040204020203" pitchFamily="34" charset="0"/>
                <a:cs typeface="Segoe UI" panose="020B0502040204020203" pitchFamily="34" charset="0"/>
              </a:rPr>
              <a:t>qui s’est déclenché lorsqu’un élément du ListView est appuyé</a:t>
            </a:r>
            <a:r>
              <a:rPr lang="fr-FR" dirty="0" smtClean="0">
                <a:latin typeface="Segoe UI" panose="020B0502040204020203" pitchFamily="34" charset="0"/>
                <a:cs typeface="Segoe UI" panose="020B0502040204020203" pitchFamily="34" charset="0"/>
              </a:rPr>
              <a:t>.</a:t>
            </a:r>
            <a:endParaRPr lang="fr-FR" dirty="0">
              <a:latin typeface="Segoe UI" panose="020B0502040204020203" pitchFamily="34" charset="0"/>
              <a:cs typeface="Segoe UI" panose="020B0502040204020203" pitchFamily="34" charset="0"/>
            </a:endParaRPr>
          </a:p>
          <a:p>
            <a:pPr marL="865188" lvl="1" indent="-285750">
              <a:lnSpc>
                <a:spcPct val="150000"/>
              </a:lnSpc>
              <a:buFont typeface="Wingdings" panose="05000000000000000000" pitchFamily="2" charset="2"/>
              <a:buChar char="§"/>
            </a:pPr>
            <a:r>
              <a:rPr lang="fr-FR" b="1" dirty="0" err="1" smtClean="0">
                <a:latin typeface="Segoe UI" panose="020B0502040204020203" pitchFamily="34" charset="0"/>
                <a:cs typeface="Segoe UI" panose="020B0502040204020203" pitchFamily="34" charset="0"/>
              </a:rPr>
              <a:t>ItemAppearing</a:t>
            </a:r>
            <a:r>
              <a:rPr lang="fr-FR" dirty="0" smtClean="0">
                <a:latin typeface="Segoe UI" panose="020B0502040204020203" pitchFamily="34" charset="0"/>
                <a:cs typeface="Segoe UI" panose="020B0502040204020203" pitchFamily="34" charset="0"/>
              </a:rPr>
              <a:t>: </a:t>
            </a:r>
            <a:r>
              <a:rPr lang="fr-FR" dirty="0">
                <a:latin typeface="Segoe UI" panose="020B0502040204020203" pitchFamily="34" charset="0"/>
                <a:cs typeface="Segoe UI" panose="020B0502040204020203" pitchFamily="34" charset="0"/>
              </a:rPr>
              <a:t>qui est déclenché lorsque la représentation visuelle d’un élément est ajoutée à la disposition visuelle du </a:t>
            </a:r>
            <a:r>
              <a:rPr lang="fr-FR" dirty="0" smtClean="0">
                <a:latin typeface="Segoe UI" panose="020B0502040204020203" pitchFamily="34" charset="0"/>
                <a:cs typeface="Segoe UI" panose="020B0502040204020203" pitchFamily="34" charset="0"/>
              </a:rPr>
              <a:t>ListView</a:t>
            </a:r>
            <a:endParaRPr lang="fr-FR" dirty="0">
              <a:latin typeface="Segoe UI" panose="020B0502040204020203" pitchFamily="34" charset="0"/>
              <a:cs typeface="Segoe UI" panose="020B0502040204020203" pitchFamily="34" charset="0"/>
            </a:endParaRPr>
          </a:p>
          <a:p>
            <a:pPr marL="865188" lvl="1" indent="-285750">
              <a:lnSpc>
                <a:spcPct val="150000"/>
              </a:lnSpc>
              <a:buFont typeface="Wingdings" panose="05000000000000000000" pitchFamily="2" charset="2"/>
              <a:buChar char="§"/>
            </a:pPr>
            <a:r>
              <a:rPr lang="fr-FR" b="1" dirty="0" err="1" smtClean="0">
                <a:latin typeface="Segoe UI" panose="020B0502040204020203" pitchFamily="34" charset="0"/>
                <a:cs typeface="Segoe UI" panose="020B0502040204020203" pitchFamily="34" charset="0"/>
              </a:rPr>
              <a:t>ItemDisappearing</a:t>
            </a:r>
            <a:r>
              <a:rPr lang="fr-FR" dirty="0" smtClean="0">
                <a:latin typeface="Segoe UI" panose="020B0502040204020203" pitchFamily="34" charset="0"/>
                <a:cs typeface="Segoe UI" panose="020B0502040204020203" pitchFamily="34" charset="0"/>
              </a:rPr>
              <a:t>: </a:t>
            </a:r>
            <a:r>
              <a:rPr lang="fr-FR" dirty="0">
                <a:latin typeface="Segoe UI" panose="020B0502040204020203" pitchFamily="34" charset="0"/>
                <a:cs typeface="Segoe UI" panose="020B0502040204020203" pitchFamily="34" charset="0"/>
              </a:rPr>
              <a:t>qui est déclenché lorsque la représentation visuelle d’un élément est supprimée de la disposition visuelle du ListView. </a:t>
            </a:r>
          </a:p>
          <a:p>
            <a:pPr marL="865188" lvl="1" indent="-285750">
              <a:lnSpc>
                <a:spcPct val="150000"/>
              </a:lnSpc>
              <a:buFont typeface="Wingdings" panose="05000000000000000000" pitchFamily="2" charset="2"/>
              <a:buChar char="§"/>
            </a:pPr>
            <a:r>
              <a:rPr lang="fr-FR" b="1" dirty="0" err="1" smtClean="0">
                <a:latin typeface="Segoe UI" panose="020B0502040204020203" pitchFamily="34" charset="0"/>
                <a:cs typeface="Segoe UI" panose="020B0502040204020203" pitchFamily="34" charset="0"/>
              </a:rPr>
              <a:t>Refreshing</a:t>
            </a:r>
            <a:r>
              <a:rPr lang="fr-FR" dirty="0" smtClean="0">
                <a:latin typeface="Segoe UI" panose="020B0502040204020203" pitchFamily="34" charset="0"/>
                <a:cs typeface="Segoe UI" panose="020B0502040204020203" pitchFamily="34" charset="0"/>
              </a:rPr>
              <a:t>: </a:t>
            </a:r>
            <a:r>
              <a:rPr lang="fr-FR" dirty="0">
                <a:latin typeface="Segoe UI" panose="020B0502040204020203" pitchFamily="34" charset="0"/>
                <a:cs typeface="Segoe UI" panose="020B0502040204020203" pitchFamily="34" charset="0"/>
              </a:rPr>
              <a:t>qui est déclenché lorsqu’une opération d’extraction pour actualiser est déclenchée sur le ListView</a:t>
            </a:r>
          </a:p>
          <a:p>
            <a:pPr marL="865188" lvl="1" indent="-285750">
              <a:lnSpc>
                <a:spcPct val="150000"/>
              </a:lnSpc>
              <a:buFont typeface="Wingdings" panose="05000000000000000000" pitchFamily="2" charset="2"/>
              <a:buChar char="§"/>
            </a:pPr>
            <a:endParaRPr lang="fr-FR"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07522459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8"/>
          <p:cNvSpPr txBox="1">
            <a:spLocks noChangeArrowheads="1"/>
          </p:cNvSpPr>
          <p:nvPr/>
        </p:nvSpPr>
        <p:spPr bwMode="auto">
          <a:xfrm>
            <a:off x="398915" y="552527"/>
            <a:ext cx="11475048" cy="4632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152400">
              <a:tabLst>
                <a:tab pos="5992813" algn="l"/>
              </a:tabLst>
              <a:defRPr>
                <a:solidFill>
                  <a:schemeClr val="tx1"/>
                </a:solidFill>
                <a:latin typeface="Calibri" panose="020F0502020204030204" pitchFamily="34" charset="0"/>
                <a:cs typeface="Arial" panose="020B0604020202020204" pitchFamily="34" charset="0"/>
              </a:defRPr>
            </a:lvl1pPr>
            <a:lvl2pPr marL="579438" indent="-242888">
              <a:tabLst>
                <a:tab pos="5992813" algn="l"/>
              </a:tabLst>
              <a:defRPr>
                <a:solidFill>
                  <a:schemeClr val="tx1"/>
                </a:solidFill>
                <a:latin typeface="Calibri" panose="020F0502020204030204" pitchFamily="34" charset="0"/>
                <a:cs typeface="Arial" panose="020B0604020202020204" pitchFamily="34" charset="0"/>
              </a:defRPr>
            </a:lvl2pPr>
            <a:lvl3pPr marL="1143000" indent="-228600">
              <a:tabLst>
                <a:tab pos="5992813" algn="l"/>
              </a:tabLst>
              <a:defRPr>
                <a:solidFill>
                  <a:schemeClr val="tx1"/>
                </a:solidFill>
                <a:latin typeface="Calibri" panose="020F0502020204030204" pitchFamily="34" charset="0"/>
                <a:cs typeface="Arial" panose="020B0604020202020204" pitchFamily="34" charset="0"/>
              </a:defRPr>
            </a:lvl3pPr>
            <a:lvl4pPr marL="1600200" indent="-228600">
              <a:tabLst>
                <a:tab pos="5992813" algn="l"/>
              </a:tabLst>
              <a:defRPr>
                <a:solidFill>
                  <a:schemeClr val="tx1"/>
                </a:solidFill>
                <a:latin typeface="Calibri" panose="020F0502020204030204" pitchFamily="34" charset="0"/>
                <a:cs typeface="Arial" panose="020B0604020202020204" pitchFamily="34" charset="0"/>
              </a:defRPr>
            </a:lvl4pPr>
            <a:lvl5pPr marL="2057400" indent="-228600">
              <a:tabLst>
                <a:tab pos="5992813" algn="l"/>
              </a:tabLst>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2200" u="sng" dirty="0">
                <a:latin typeface="Segoe UI Symbol" panose="020B0502040204020203" pitchFamily="34" charset="0"/>
              </a:rPr>
              <a:t>L</a:t>
            </a:r>
            <a:r>
              <a:rPr lang="en-US" altLang="en-US" sz="2200" u="sng" dirty="0" smtClean="0">
                <a:latin typeface="Segoe UI Symbol" panose="020B0502040204020203" pitchFamily="34" charset="0"/>
              </a:rPr>
              <a:t>es </a:t>
            </a:r>
            <a:r>
              <a:rPr lang="fr-FR" altLang="en-US" sz="2200" u="sng" dirty="0" smtClean="0">
                <a:latin typeface="Segoe UI Symbol" panose="020B0502040204020203" pitchFamily="34" charset="0"/>
              </a:rPr>
              <a:t>collections-</a:t>
            </a:r>
            <a:r>
              <a:rPr lang="fr-FR" altLang="en-US" sz="2200" u="sng" dirty="0" err="1" smtClean="0">
                <a:latin typeface="Segoe UI Symbol" panose="020B0502040204020203" pitchFamily="34" charset="0"/>
              </a:rPr>
              <a:t>ListView</a:t>
            </a:r>
            <a:endParaRPr lang="fr-FR" altLang="en-US" sz="2200" u="sng" dirty="0" smtClean="0">
              <a:latin typeface="Segoe UI Symbol" panose="020B0502040204020203" pitchFamily="34" charset="0"/>
            </a:endParaRPr>
          </a:p>
          <a:p>
            <a:pPr marL="438150" indent="-285750">
              <a:lnSpc>
                <a:spcPct val="150000"/>
              </a:lnSpc>
              <a:buFont typeface="Wingdings" panose="05000000000000000000" pitchFamily="2" charset="2"/>
              <a:buChar char="§"/>
            </a:pPr>
            <a:r>
              <a:rPr lang="fr-FR" dirty="0" smtClean="0">
                <a:latin typeface="Segoe UI" panose="020B0502040204020203" pitchFamily="34" charset="0"/>
                <a:cs typeface="Segoe UI" panose="020B0502040204020203" pitchFamily="34" charset="0"/>
              </a:rPr>
              <a:t>Le contrôle </a:t>
            </a:r>
            <a:r>
              <a:rPr lang="fr-FR" b="1" dirty="0" smtClean="0">
                <a:latin typeface="Segoe UI" panose="020B0502040204020203" pitchFamily="34" charset="0"/>
                <a:cs typeface="Segoe UI" panose="020B0502040204020203" pitchFamily="34" charset="0"/>
              </a:rPr>
              <a:t>ListView </a:t>
            </a:r>
            <a:r>
              <a:rPr lang="fr-FR" dirty="0" smtClean="0">
                <a:latin typeface="Segoe UI" panose="020B0502040204020203" pitchFamily="34" charset="0"/>
                <a:cs typeface="Segoe UI" panose="020B0502040204020203" pitchFamily="34" charset="0"/>
              </a:rPr>
              <a:t>n’accepte pas des élément </a:t>
            </a:r>
            <a:r>
              <a:rPr lang="fr-FR" b="1" dirty="0" smtClean="0">
                <a:latin typeface="Segoe UI" panose="020B0502040204020203" pitchFamily="34" charset="0"/>
                <a:cs typeface="Segoe UI" panose="020B0502040204020203" pitchFamily="34" charset="0"/>
              </a:rPr>
              <a:t>DataTemplate</a:t>
            </a:r>
            <a:r>
              <a:rPr lang="fr-FR" dirty="0" smtClean="0">
                <a:latin typeface="Segoe UI" panose="020B0502040204020203" pitchFamily="34" charset="0"/>
                <a:cs typeface="Segoe UI" panose="020B0502040204020203" pitchFamily="34" charset="0"/>
              </a:rPr>
              <a:t> autre que</a:t>
            </a:r>
          </a:p>
          <a:p>
            <a:pPr>
              <a:lnSpc>
                <a:spcPct val="150000"/>
              </a:lnSpc>
            </a:pPr>
            <a:endParaRPr lang="fr-FR" dirty="0" smtClean="0">
              <a:latin typeface="Segoe UI" panose="020B0502040204020203" pitchFamily="34" charset="0"/>
              <a:cs typeface="Segoe UI" panose="020B0502040204020203" pitchFamily="34" charset="0"/>
            </a:endParaRPr>
          </a:p>
          <a:p>
            <a:pPr lvl="2"/>
            <a:r>
              <a:rPr lang="fr-FR" b="1" dirty="0" err="1" smtClean="0">
                <a:latin typeface="Segoe UI" panose="020B0502040204020203" pitchFamily="34" charset="0"/>
                <a:cs typeface="Segoe UI" panose="020B0502040204020203" pitchFamily="34" charset="0"/>
              </a:rPr>
              <a:t>TextCell</a:t>
            </a:r>
            <a:r>
              <a:rPr lang="fr-FR" dirty="0" smtClean="0">
                <a:latin typeface="Segoe UI" panose="020B0502040204020203" pitchFamily="34" charset="0"/>
                <a:cs typeface="Segoe UI" panose="020B0502040204020203" pitchFamily="34" charset="0"/>
              </a:rPr>
              <a:t>: </a:t>
            </a:r>
            <a:r>
              <a:rPr lang="fr-FR" dirty="0">
                <a:latin typeface="Segoe UI" panose="020B0502040204020203" pitchFamily="34" charset="0"/>
                <a:cs typeface="Segoe UI" panose="020B0502040204020203" pitchFamily="34" charset="0"/>
              </a:rPr>
              <a:t>qui affiche le texte principal et secondaire sur des lignes distinctes</a:t>
            </a:r>
            <a:r>
              <a:rPr lang="fr-FR" dirty="0" smtClean="0">
                <a:latin typeface="Segoe UI" panose="020B0502040204020203" pitchFamily="34" charset="0"/>
                <a:cs typeface="Segoe UI" panose="020B0502040204020203" pitchFamily="34" charset="0"/>
              </a:rPr>
              <a:t>.</a:t>
            </a:r>
          </a:p>
          <a:p>
            <a:pPr lvl="2"/>
            <a:endParaRPr lang="fr-FR" dirty="0">
              <a:latin typeface="Segoe UI" panose="020B0502040204020203" pitchFamily="34" charset="0"/>
              <a:cs typeface="Segoe UI" panose="020B0502040204020203" pitchFamily="34" charset="0"/>
            </a:endParaRPr>
          </a:p>
          <a:p>
            <a:pPr lvl="2"/>
            <a:r>
              <a:rPr lang="fr-FR" b="1" dirty="0" err="1" smtClean="0">
                <a:latin typeface="Segoe UI" panose="020B0502040204020203" pitchFamily="34" charset="0"/>
                <a:cs typeface="Segoe UI" panose="020B0502040204020203" pitchFamily="34" charset="0"/>
              </a:rPr>
              <a:t>ImageCell</a:t>
            </a:r>
            <a:r>
              <a:rPr lang="fr-FR" dirty="0" smtClean="0">
                <a:latin typeface="Segoe UI" panose="020B0502040204020203" pitchFamily="34" charset="0"/>
                <a:cs typeface="Segoe UI" panose="020B0502040204020203" pitchFamily="34" charset="0"/>
              </a:rPr>
              <a:t>: </a:t>
            </a:r>
            <a:r>
              <a:rPr lang="fr-FR" dirty="0">
                <a:latin typeface="Segoe UI" panose="020B0502040204020203" pitchFamily="34" charset="0"/>
                <a:cs typeface="Segoe UI" panose="020B0502040204020203" pitchFamily="34" charset="0"/>
              </a:rPr>
              <a:t>qui affiche une image avec du texte principal et secondaire sur des lignes distinctes</a:t>
            </a:r>
            <a:r>
              <a:rPr lang="fr-FR" dirty="0" smtClean="0">
                <a:latin typeface="Segoe UI" panose="020B0502040204020203" pitchFamily="34" charset="0"/>
                <a:cs typeface="Segoe UI" panose="020B0502040204020203" pitchFamily="34" charset="0"/>
              </a:rPr>
              <a:t>.</a:t>
            </a:r>
          </a:p>
          <a:p>
            <a:pPr lvl="2"/>
            <a:endParaRPr lang="fr-FR" dirty="0">
              <a:latin typeface="Segoe UI" panose="020B0502040204020203" pitchFamily="34" charset="0"/>
              <a:cs typeface="Segoe UI" panose="020B0502040204020203" pitchFamily="34" charset="0"/>
            </a:endParaRPr>
          </a:p>
          <a:p>
            <a:pPr lvl="2"/>
            <a:r>
              <a:rPr lang="fr-FR" b="1" dirty="0" err="1" smtClean="0">
                <a:latin typeface="Segoe UI" panose="020B0502040204020203" pitchFamily="34" charset="0"/>
                <a:cs typeface="Segoe UI" panose="020B0502040204020203" pitchFamily="34" charset="0"/>
              </a:rPr>
              <a:t>SwitchCell</a:t>
            </a:r>
            <a:r>
              <a:rPr lang="fr-FR" dirty="0">
                <a:latin typeface="Segoe UI" panose="020B0502040204020203" pitchFamily="34" charset="0"/>
                <a:cs typeface="Segoe UI" panose="020B0502040204020203" pitchFamily="34" charset="0"/>
              </a:rPr>
              <a:t>:</a:t>
            </a:r>
            <a:r>
              <a:rPr lang="fr-FR" dirty="0" smtClean="0">
                <a:latin typeface="Segoe UI" panose="020B0502040204020203" pitchFamily="34" charset="0"/>
                <a:cs typeface="Segoe UI" panose="020B0502040204020203" pitchFamily="34" charset="0"/>
              </a:rPr>
              <a:t> </a:t>
            </a:r>
            <a:r>
              <a:rPr lang="fr-FR" dirty="0">
                <a:latin typeface="Segoe UI" panose="020B0502040204020203" pitchFamily="34" charset="0"/>
                <a:cs typeface="Segoe UI" panose="020B0502040204020203" pitchFamily="34" charset="0"/>
              </a:rPr>
              <a:t>qui affiche du texte et un commutateur qui peut être activé ou désactivé</a:t>
            </a:r>
            <a:r>
              <a:rPr lang="fr-FR" dirty="0" smtClean="0">
                <a:latin typeface="Segoe UI" panose="020B0502040204020203" pitchFamily="34" charset="0"/>
                <a:cs typeface="Segoe UI" panose="020B0502040204020203" pitchFamily="34" charset="0"/>
              </a:rPr>
              <a:t>.</a:t>
            </a:r>
          </a:p>
          <a:p>
            <a:pPr lvl="2"/>
            <a:endParaRPr lang="fr-FR" dirty="0">
              <a:latin typeface="Segoe UI" panose="020B0502040204020203" pitchFamily="34" charset="0"/>
              <a:cs typeface="Segoe UI" panose="020B0502040204020203" pitchFamily="34" charset="0"/>
            </a:endParaRPr>
          </a:p>
          <a:p>
            <a:pPr lvl="2"/>
            <a:r>
              <a:rPr lang="fr-FR" b="1" dirty="0" err="1" smtClean="0">
                <a:latin typeface="Segoe UI" panose="020B0502040204020203" pitchFamily="34" charset="0"/>
                <a:cs typeface="Segoe UI" panose="020B0502040204020203" pitchFamily="34" charset="0"/>
              </a:rPr>
              <a:t>EntryCell</a:t>
            </a:r>
            <a:r>
              <a:rPr lang="fr-FR" dirty="0">
                <a:latin typeface="Segoe UI" panose="020B0502040204020203" pitchFamily="34" charset="0"/>
                <a:cs typeface="Segoe UI" panose="020B0502040204020203" pitchFamily="34" charset="0"/>
              </a:rPr>
              <a:t>:</a:t>
            </a:r>
            <a:r>
              <a:rPr lang="fr-FR" dirty="0" smtClean="0">
                <a:latin typeface="Segoe UI" panose="020B0502040204020203" pitchFamily="34" charset="0"/>
                <a:cs typeface="Segoe UI" panose="020B0502040204020203" pitchFamily="34" charset="0"/>
              </a:rPr>
              <a:t> </a:t>
            </a:r>
            <a:r>
              <a:rPr lang="fr-FR" dirty="0">
                <a:latin typeface="Segoe UI" panose="020B0502040204020203" pitchFamily="34" charset="0"/>
                <a:cs typeface="Segoe UI" panose="020B0502040204020203" pitchFamily="34" charset="0"/>
              </a:rPr>
              <a:t>q</a:t>
            </a:r>
            <a:r>
              <a:rPr lang="fr-FR" dirty="0" smtClean="0">
                <a:latin typeface="Segoe UI" panose="020B0502040204020203" pitchFamily="34" charset="0"/>
                <a:cs typeface="Segoe UI" panose="020B0502040204020203" pitchFamily="34" charset="0"/>
              </a:rPr>
              <a:t>ui </a:t>
            </a:r>
            <a:r>
              <a:rPr lang="fr-FR" dirty="0">
                <a:latin typeface="Segoe UI" panose="020B0502040204020203" pitchFamily="34" charset="0"/>
                <a:cs typeface="Segoe UI" panose="020B0502040204020203" pitchFamily="34" charset="0"/>
              </a:rPr>
              <a:t>affiche une étiquette et un texte modifiables</a:t>
            </a:r>
            <a:r>
              <a:rPr lang="fr-FR" dirty="0" smtClean="0">
                <a:latin typeface="Segoe UI" panose="020B0502040204020203" pitchFamily="34" charset="0"/>
                <a:cs typeface="Segoe UI" panose="020B0502040204020203" pitchFamily="34" charset="0"/>
              </a:rPr>
              <a:t>.</a:t>
            </a:r>
          </a:p>
          <a:p>
            <a:pPr lvl="2"/>
            <a:endParaRPr lang="fr-FR" dirty="0">
              <a:latin typeface="Segoe UI" panose="020B0502040204020203" pitchFamily="34" charset="0"/>
              <a:cs typeface="Segoe UI" panose="020B0502040204020203" pitchFamily="34" charset="0"/>
            </a:endParaRPr>
          </a:p>
          <a:p>
            <a:pPr lvl="2"/>
            <a:r>
              <a:rPr lang="fr-FR" b="1" dirty="0" err="1" smtClean="0">
                <a:latin typeface="Segoe UI" panose="020B0502040204020203" pitchFamily="34" charset="0"/>
                <a:cs typeface="Segoe UI" panose="020B0502040204020203" pitchFamily="34" charset="0"/>
              </a:rPr>
              <a:t>ViewCell</a:t>
            </a:r>
            <a:r>
              <a:rPr lang="fr-FR" dirty="0">
                <a:latin typeface="Segoe UI" panose="020B0502040204020203" pitchFamily="34" charset="0"/>
                <a:cs typeface="Segoe UI" panose="020B0502040204020203" pitchFamily="34" charset="0"/>
              </a:rPr>
              <a:t>:</a:t>
            </a:r>
            <a:r>
              <a:rPr lang="fr-FR" dirty="0" smtClean="0">
                <a:latin typeface="Segoe UI" panose="020B0502040204020203" pitchFamily="34" charset="0"/>
                <a:cs typeface="Segoe UI" panose="020B0502040204020203" pitchFamily="34" charset="0"/>
              </a:rPr>
              <a:t> </a:t>
            </a:r>
            <a:r>
              <a:rPr lang="fr-FR" dirty="0">
                <a:latin typeface="Segoe UI" panose="020B0502040204020203" pitchFamily="34" charset="0"/>
                <a:cs typeface="Segoe UI" panose="020B0502040204020203" pitchFamily="34" charset="0"/>
              </a:rPr>
              <a:t>qui est une cellule personnalisée dont l’apparence est définie par </a:t>
            </a:r>
            <a:r>
              <a:rPr lang="fr-FR" dirty="0" smtClean="0">
                <a:latin typeface="Segoe UI" panose="020B0502040204020203" pitchFamily="34" charset="0"/>
                <a:cs typeface="Segoe UI" panose="020B0502040204020203" pitchFamily="34" charset="0"/>
              </a:rPr>
              <a:t>une</a:t>
            </a:r>
            <a:r>
              <a:rPr lang="fr-FR" dirty="0">
                <a:latin typeface="Segoe UI" panose="020B0502040204020203" pitchFamily="34" charset="0"/>
                <a:cs typeface="Segoe UI" panose="020B0502040204020203" pitchFamily="34" charset="0"/>
              </a:rPr>
              <a:t> View. Ce type de cellule doit être utilisé lorsque </a:t>
            </a:r>
            <a:r>
              <a:rPr lang="fr-FR" dirty="0" smtClean="0">
                <a:latin typeface="Segoe UI" panose="020B0502040204020203" pitchFamily="34" charset="0"/>
                <a:cs typeface="Segoe UI" panose="020B0502040204020203" pitchFamily="34" charset="0"/>
              </a:rPr>
              <a:t>on souhaite </a:t>
            </a:r>
            <a:r>
              <a:rPr lang="fr-FR" dirty="0">
                <a:latin typeface="Segoe UI" panose="020B0502040204020203" pitchFamily="34" charset="0"/>
                <a:cs typeface="Segoe UI" panose="020B0502040204020203" pitchFamily="34" charset="0"/>
              </a:rPr>
              <a:t>définir entièrement l’apparence de chaque élément dans un </a:t>
            </a:r>
            <a:r>
              <a:rPr lang="fr-FR" dirty="0" smtClean="0">
                <a:latin typeface="Segoe UI" panose="020B0502040204020203" pitchFamily="34" charset="0"/>
                <a:cs typeface="Segoe UI" panose="020B0502040204020203" pitchFamily="34" charset="0"/>
              </a:rPr>
              <a:t>ListView</a:t>
            </a:r>
            <a:endParaRPr lang="fr-FR" dirty="0">
              <a:latin typeface="Segoe UI" panose="020B0502040204020203" pitchFamily="34" charset="0"/>
              <a:cs typeface="Segoe UI" panose="020B0502040204020203" pitchFamily="34" charset="0"/>
            </a:endParaRPr>
          </a:p>
          <a:p>
            <a:pPr>
              <a:lnSpc>
                <a:spcPct val="150000"/>
              </a:lnSpc>
            </a:pPr>
            <a:r>
              <a:rPr lang="fr-FR" dirty="0" smtClean="0">
                <a:latin typeface="Segoe UI" panose="020B0502040204020203" pitchFamily="34" charset="0"/>
                <a:cs typeface="Segoe UI" panose="020B0502040204020203" pitchFamily="34" charset="0"/>
              </a:rPr>
              <a:t>  </a:t>
            </a:r>
            <a:endParaRPr lang="fr-FR"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408113349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8"/>
          <p:cNvSpPr txBox="1">
            <a:spLocks noChangeArrowheads="1"/>
          </p:cNvSpPr>
          <p:nvPr/>
        </p:nvSpPr>
        <p:spPr bwMode="auto">
          <a:xfrm>
            <a:off x="398915" y="552527"/>
            <a:ext cx="11475048" cy="4078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152400">
              <a:tabLst>
                <a:tab pos="5992813" algn="l"/>
              </a:tabLst>
              <a:defRPr>
                <a:solidFill>
                  <a:schemeClr val="tx1"/>
                </a:solidFill>
                <a:latin typeface="Calibri" panose="020F0502020204030204" pitchFamily="34" charset="0"/>
                <a:cs typeface="Arial" panose="020B0604020202020204" pitchFamily="34" charset="0"/>
              </a:defRPr>
            </a:lvl1pPr>
            <a:lvl2pPr marL="579438" indent="-242888">
              <a:tabLst>
                <a:tab pos="5992813" algn="l"/>
              </a:tabLst>
              <a:defRPr>
                <a:solidFill>
                  <a:schemeClr val="tx1"/>
                </a:solidFill>
                <a:latin typeface="Calibri" panose="020F0502020204030204" pitchFamily="34" charset="0"/>
                <a:cs typeface="Arial" panose="020B0604020202020204" pitchFamily="34" charset="0"/>
              </a:defRPr>
            </a:lvl2pPr>
            <a:lvl3pPr marL="1143000" indent="-228600">
              <a:tabLst>
                <a:tab pos="5992813" algn="l"/>
              </a:tabLst>
              <a:defRPr>
                <a:solidFill>
                  <a:schemeClr val="tx1"/>
                </a:solidFill>
                <a:latin typeface="Calibri" panose="020F0502020204030204" pitchFamily="34" charset="0"/>
                <a:cs typeface="Arial" panose="020B0604020202020204" pitchFamily="34" charset="0"/>
              </a:defRPr>
            </a:lvl3pPr>
            <a:lvl4pPr marL="1600200" indent="-228600">
              <a:tabLst>
                <a:tab pos="5992813" algn="l"/>
              </a:tabLst>
              <a:defRPr>
                <a:solidFill>
                  <a:schemeClr val="tx1"/>
                </a:solidFill>
                <a:latin typeface="Calibri" panose="020F0502020204030204" pitchFamily="34" charset="0"/>
                <a:cs typeface="Arial" panose="020B0604020202020204" pitchFamily="34" charset="0"/>
              </a:defRPr>
            </a:lvl4pPr>
            <a:lvl5pPr marL="2057400" indent="-228600">
              <a:tabLst>
                <a:tab pos="5992813" algn="l"/>
              </a:tabLst>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2200" u="sng" dirty="0">
                <a:latin typeface="Segoe UI Symbol" panose="020B0502040204020203" pitchFamily="34" charset="0"/>
              </a:rPr>
              <a:t>L</a:t>
            </a:r>
            <a:r>
              <a:rPr lang="en-US" altLang="en-US" sz="2200" u="sng" dirty="0" smtClean="0">
                <a:latin typeface="Segoe UI Symbol" panose="020B0502040204020203" pitchFamily="34" charset="0"/>
              </a:rPr>
              <a:t>es </a:t>
            </a:r>
            <a:r>
              <a:rPr lang="fr-FR" altLang="en-US" sz="2200" u="sng" dirty="0" smtClean="0">
                <a:latin typeface="Segoe UI Symbol" panose="020B0502040204020203" pitchFamily="34" charset="0"/>
              </a:rPr>
              <a:t>collections-</a:t>
            </a:r>
            <a:r>
              <a:rPr lang="fr-FR" altLang="en-US" sz="2200" u="sng" dirty="0" err="1" smtClean="0">
                <a:latin typeface="Segoe UI Symbol" panose="020B0502040204020203" pitchFamily="34" charset="0"/>
              </a:rPr>
              <a:t>ListView</a:t>
            </a:r>
            <a:endParaRPr lang="fr-FR" altLang="en-US" sz="2200" u="sng" dirty="0" smtClean="0">
              <a:latin typeface="Segoe UI Symbol" panose="020B0502040204020203" pitchFamily="34" charset="0"/>
            </a:endParaRPr>
          </a:p>
          <a:p>
            <a:pPr marL="438150" indent="-285750">
              <a:lnSpc>
                <a:spcPct val="150000"/>
              </a:lnSpc>
              <a:buFont typeface="Wingdings" panose="05000000000000000000" pitchFamily="2" charset="2"/>
              <a:buChar char="§"/>
            </a:pPr>
            <a:r>
              <a:rPr lang="fr-FR" dirty="0">
                <a:latin typeface="Segoe UI" panose="020B0502040204020203" pitchFamily="34" charset="0"/>
                <a:cs typeface="Segoe UI" panose="020B0502040204020203" pitchFamily="34" charset="0"/>
              </a:rPr>
              <a:t>Un </a:t>
            </a:r>
            <a:r>
              <a:rPr lang="fr-FR" b="1" dirty="0" err="1">
                <a:latin typeface="Segoe UI" panose="020B0502040204020203" pitchFamily="34" charset="0"/>
                <a:cs typeface="Segoe UI" panose="020B0502040204020203" pitchFamily="34" charset="0"/>
              </a:rPr>
              <a:t>TextCell</a:t>
            </a:r>
            <a:r>
              <a:rPr lang="fr-FR" dirty="0">
                <a:latin typeface="Segoe UI" panose="020B0502040204020203" pitchFamily="34" charset="0"/>
                <a:cs typeface="Segoe UI" panose="020B0502040204020203" pitchFamily="34" charset="0"/>
              </a:rPr>
              <a:t> affiche le texte principal et secondaire sur des lignes distinctes. </a:t>
            </a:r>
          </a:p>
          <a:p>
            <a:pPr marL="438150" indent="-285750">
              <a:lnSpc>
                <a:spcPct val="150000"/>
              </a:lnSpc>
              <a:buFont typeface="Wingdings" panose="05000000000000000000" pitchFamily="2" charset="2"/>
              <a:buChar char="§"/>
            </a:pPr>
            <a:r>
              <a:rPr lang="fr-FR" dirty="0" smtClean="0">
                <a:latin typeface="Segoe UI" panose="020B0502040204020203" pitchFamily="34" charset="0"/>
                <a:cs typeface="Segoe UI" panose="020B0502040204020203" pitchFamily="34" charset="0"/>
              </a:rPr>
              <a:t>Un </a:t>
            </a:r>
            <a:r>
              <a:rPr lang="fr-FR" b="1" dirty="0" err="1" smtClean="0">
                <a:latin typeface="Segoe UI" panose="020B0502040204020203" pitchFamily="34" charset="0"/>
                <a:cs typeface="Segoe UI" panose="020B0502040204020203" pitchFamily="34" charset="0"/>
              </a:rPr>
              <a:t>TextCell</a:t>
            </a:r>
            <a:r>
              <a:rPr lang="fr-FR" dirty="0" smtClean="0">
                <a:latin typeface="Segoe UI" panose="020B0502040204020203" pitchFamily="34" charset="0"/>
                <a:cs typeface="Segoe UI" panose="020B0502040204020203" pitchFamily="34" charset="0"/>
              </a:rPr>
              <a:t> </a:t>
            </a:r>
            <a:r>
              <a:rPr lang="fr-FR" dirty="0">
                <a:latin typeface="Segoe UI" panose="020B0502040204020203" pitchFamily="34" charset="0"/>
                <a:cs typeface="Segoe UI" panose="020B0502040204020203" pitchFamily="34" charset="0"/>
              </a:rPr>
              <a:t>définit les propriétés suivantes </a:t>
            </a:r>
            <a:r>
              <a:rPr lang="fr-FR" dirty="0" smtClean="0">
                <a:latin typeface="Segoe UI" panose="020B0502040204020203" pitchFamily="34" charset="0"/>
                <a:cs typeface="Segoe UI" panose="020B0502040204020203" pitchFamily="34" charset="0"/>
              </a:rPr>
              <a:t>:</a:t>
            </a:r>
            <a:endParaRPr lang="fr-FR" dirty="0">
              <a:latin typeface="Segoe UI" panose="020B0502040204020203" pitchFamily="34" charset="0"/>
              <a:cs typeface="Segoe UI" panose="020B0502040204020203" pitchFamily="34" charset="0"/>
            </a:endParaRPr>
          </a:p>
          <a:p>
            <a:pPr marL="1428750" lvl="2" indent="-285750">
              <a:lnSpc>
                <a:spcPct val="150000"/>
              </a:lnSpc>
              <a:buFont typeface="Wingdings" panose="05000000000000000000" pitchFamily="2" charset="2"/>
              <a:buChar char="§"/>
            </a:pPr>
            <a:r>
              <a:rPr lang="fr-FR" b="1" dirty="0" smtClean="0">
                <a:latin typeface="Segoe UI" panose="020B0502040204020203" pitchFamily="34" charset="0"/>
                <a:cs typeface="Segoe UI" panose="020B0502040204020203" pitchFamily="34" charset="0"/>
              </a:rPr>
              <a:t>Text</a:t>
            </a:r>
            <a:r>
              <a:rPr lang="fr-FR" dirty="0" smtClean="0">
                <a:latin typeface="Segoe UI" panose="020B0502040204020203" pitchFamily="34" charset="0"/>
                <a:cs typeface="Segoe UI" panose="020B0502040204020203" pitchFamily="34" charset="0"/>
              </a:rPr>
              <a:t>: </a:t>
            </a:r>
            <a:r>
              <a:rPr lang="fr-FR" dirty="0">
                <a:latin typeface="Segoe UI" panose="020B0502040204020203" pitchFamily="34" charset="0"/>
                <a:cs typeface="Segoe UI" panose="020B0502040204020203" pitchFamily="34" charset="0"/>
              </a:rPr>
              <a:t>de type </a:t>
            </a:r>
            <a:r>
              <a:rPr lang="fr-FR" b="1" dirty="0">
                <a:latin typeface="Segoe UI" panose="020B0502040204020203" pitchFamily="34" charset="0"/>
                <a:cs typeface="Segoe UI" panose="020B0502040204020203" pitchFamily="34" charset="0"/>
              </a:rPr>
              <a:t>string</a:t>
            </a:r>
            <a:r>
              <a:rPr lang="fr-FR" dirty="0">
                <a:latin typeface="Segoe UI" panose="020B0502040204020203" pitchFamily="34" charset="0"/>
                <a:cs typeface="Segoe UI" panose="020B0502040204020203" pitchFamily="34" charset="0"/>
              </a:rPr>
              <a:t>, définit le texte principal à afficher</a:t>
            </a:r>
            <a:r>
              <a:rPr lang="fr-FR" dirty="0" smtClean="0">
                <a:latin typeface="Segoe UI" panose="020B0502040204020203" pitchFamily="34" charset="0"/>
                <a:cs typeface="Segoe UI" panose="020B0502040204020203" pitchFamily="34" charset="0"/>
              </a:rPr>
              <a:t>.</a:t>
            </a:r>
            <a:r>
              <a:rPr lang="fr-FR" dirty="0">
                <a:latin typeface="Segoe UI" panose="020B0502040204020203" pitchFamily="34" charset="0"/>
                <a:cs typeface="Segoe UI" panose="020B0502040204020203" pitchFamily="34" charset="0"/>
              </a:rPr>
              <a:t> </a:t>
            </a:r>
            <a:endParaRPr lang="fr-FR" dirty="0" smtClean="0">
              <a:latin typeface="Segoe UI" panose="020B0502040204020203" pitchFamily="34" charset="0"/>
              <a:cs typeface="Segoe UI" panose="020B0502040204020203" pitchFamily="34" charset="0"/>
            </a:endParaRPr>
          </a:p>
          <a:p>
            <a:pPr marL="1428750" lvl="2" indent="-285750">
              <a:lnSpc>
                <a:spcPct val="150000"/>
              </a:lnSpc>
              <a:buFont typeface="Wingdings" panose="05000000000000000000" pitchFamily="2" charset="2"/>
              <a:buChar char="§"/>
            </a:pPr>
            <a:r>
              <a:rPr lang="fr-FR" b="1" dirty="0" err="1" smtClean="0">
                <a:latin typeface="Segoe UI" panose="020B0502040204020203" pitchFamily="34" charset="0"/>
                <a:cs typeface="Segoe UI" panose="020B0502040204020203" pitchFamily="34" charset="0"/>
              </a:rPr>
              <a:t>Detail</a:t>
            </a:r>
            <a:r>
              <a:rPr lang="fr-FR" dirty="0" smtClean="0">
                <a:latin typeface="Segoe UI" panose="020B0502040204020203" pitchFamily="34" charset="0"/>
                <a:cs typeface="Segoe UI" panose="020B0502040204020203" pitchFamily="34" charset="0"/>
              </a:rPr>
              <a:t>: </a:t>
            </a:r>
            <a:r>
              <a:rPr lang="fr-FR" dirty="0">
                <a:latin typeface="Segoe UI" panose="020B0502040204020203" pitchFamily="34" charset="0"/>
                <a:cs typeface="Segoe UI" panose="020B0502040204020203" pitchFamily="34" charset="0"/>
              </a:rPr>
              <a:t>de type </a:t>
            </a:r>
            <a:r>
              <a:rPr lang="fr-FR" b="1" dirty="0">
                <a:latin typeface="Segoe UI" panose="020B0502040204020203" pitchFamily="34" charset="0"/>
                <a:cs typeface="Segoe UI" panose="020B0502040204020203" pitchFamily="34" charset="0"/>
              </a:rPr>
              <a:t>string</a:t>
            </a:r>
            <a:r>
              <a:rPr lang="fr-FR" dirty="0">
                <a:latin typeface="Segoe UI" panose="020B0502040204020203" pitchFamily="34" charset="0"/>
                <a:cs typeface="Segoe UI" panose="020B0502040204020203" pitchFamily="34" charset="0"/>
              </a:rPr>
              <a:t>, définit le texte secondaire à afficher</a:t>
            </a:r>
            <a:r>
              <a:rPr lang="fr-FR" dirty="0" smtClean="0">
                <a:latin typeface="Segoe UI" panose="020B0502040204020203" pitchFamily="34" charset="0"/>
                <a:cs typeface="Segoe UI" panose="020B0502040204020203" pitchFamily="34" charset="0"/>
              </a:rPr>
              <a:t>.</a:t>
            </a:r>
            <a:endParaRPr lang="fr-FR" dirty="0">
              <a:latin typeface="Segoe UI" panose="020B0502040204020203" pitchFamily="34" charset="0"/>
              <a:cs typeface="Segoe UI" panose="020B0502040204020203" pitchFamily="34" charset="0"/>
            </a:endParaRPr>
          </a:p>
          <a:p>
            <a:pPr marL="1428750" lvl="2" indent="-285750">
              <a:lnSpc>
                <a:spcPct val="150000"/>
              </a:lnSpc>
              <a:buFont typeface="Wingdings" panose="05000000000000000000" pitchFamily="2" charset="2"/>
              <a:buChar char="§"/>
            </a:pPr>
            <a:r>
              <a:rPr lang="fr-FR" b="1" dirty="0" err="1">
                <a:latin typeface="Segoe UI" panose="020B0502040204020203" pitchFamily="34" charset="0"/>
                <a:cs typeface="Segoe UI" panose="020B0502040204020203" pitchFamily="34" charset="0"/>
              </a:rPr>
              <a:t>TextColor</a:t>
            </a:r>
            <a:r>
              <a:rPr lang="fr-FR" dirty="0">
                <a:latin typeface="Segoe UI" panose="020B0502040204020203" pitchFamily="34" charset="0"/>
                <a:cs typeface="Segoe UI" panose="020B0502040204020203" pitchFamily="34" charset="0"/>
              </a:rPr>
              <a:t>, de type </a:t>
            </a:r>
            <a:r>
              <a:rPr lang="fr-FR" b="1" dirty="0" err="1">
                <a:latin typeface="Segoe UI" panose="020B0502040204020203" pitchFamily="34" charset="0"/>
                <a:cs typeface="Segoe UI" panose="020B0502040204020203" pitchFamily="34" charset="0"/>
              </a:rPr>
              <a:t>Color</a:t>
            </a:r>
            <a:r>
              <a:rPr lang="fr-FR" dirty="0">
                <a:latin typeface="Segoe UI" panose="020B0502040204020203" pitchFamily="34" charset="0"/>
                <a:cs typeface="Segoe UI" panose="020B0502040204020203" pitchFamily="34" charset="0"/>
              </a:rPr>
              <a:t>, représente la couleur du texte principal.</a:t>
            </a:r>
          </a:p>
          <a:p>
            <a:pPr marL="1428750" lvl="2" indent="-285750">
              <a:lnSpc>
                <a:spcPct val="150000"/>
              </a:lnSpc>
              <a:buFont typeface="Wingdings" panose="05000000000000000000" pitchFamily="2" charset="2"/>
              <a:buChar char="§"/>
            </a:pPr>
            <a:r>
              <a:rPr lang="fr-FR" b="1" dirty="0" err="1" smtClean="0">
                <a:latin typeface="Segoe UI" panose="020B0502040204020203" pitchFamily="34" charset="0"/>
                <a:cs typeface="Segoe UI" panose="020B0502040204020203" pitchFamily="34" charset="0"/>
              </a:rPr>
              <a:t>DetailColor</a:t>
            </a:r>
            <a:r>
              <a:rPr lang="fr-FR" dirty="0">
                <a:latin typeface="Segoe UI" panose="020B0502040204020203" pitchFamily="34" charset="0"/>
                <a:cs typeface="Segoe UI" panose="020B0502040204020203" pitchFamily="34" charset="0"/>
              </a:rPr>
              <a:t>, de type </a:t>
            </a:r>
            <a:r>
              <a:rPr lang="fr-FR" b="1" dirty="0" err="1">
                <a:latin typeface="Segoe UI" panose="020B0502040204020203" pitchFamily="34" charset="0"/>
                <a:cs typeface="Segoe UI" panose="020B0502040204020203" pitchFamily="34" charset="0"/>
              </a:rPr>
              <a:t>Color</a:t>
            </a:r>
            <a:r>
              <a:rPr lang="fr-FR" dirty="0">
                <a:latin typeface="Segoe UI" panose="020B0502040204020203" pitchFamily="34" charset="0"/>
                <a:cs typeface="Segoe UI" panose="020B0502040204020203" pitchFamily="34" charset="0"/>
              </a:rPr>
              <a:t>, indique la couleur du texte secondaire. </a:t>
            </a:r>
            <a:endParaRPr lang="fr-FR" dirty="0" smtClean="0">
              <a:latin typeface="Segoe UI" panose="020B0502040204020203" pitchFamily="34" charset="0"/>
              <a:cs typeface="Segoe UI" panose="020B0502040204020203" pitchFamily="34" charset="0"/>
            </a:endParaRPr>
          </a:p>
          <a:p>
            <a:pPr marL="285750" lvl="2" indent="-285750">
              <a:lnSpc>
                <a:spcPct val="150000"/>
              </a:lnSpc>
              <a:buFont typeface="Wingdings" panose="05000000000000000000" pitchFamily="2" charset="2"/>
              <a:buChar char="§"/>
            </a:pPr>
            <a:endParaRPr lang="fr-FR" dirty="0">
              <a:latin typeface="Segoe UI" panose="020B0502040204020203" pitchFamily="34" charset="0"/>
              <a:cs typeface="Segoe UI" panose="020B0502040204020203" pitchFamily="34" charset="0"/>
            </a:endParaRPr>
          </a:p>
          <a:p>
            <a:pPr marL="285750" lvl="2" indent="-285750">
              <a:lnSpc>
                <a:spcPct val="150000"/>
              </a:lnSpc>
              <a:buFont typeface="Wingdings" panose="05000000000000000000" pitchFamily="2" charset="2"/>
              <a:buChar char="§"/>
            </a:pPr>
            <a:r>
              <a:rPr lang="fr-FR" dirty="0" smtClean="0">
                <a:latin typeface="Segoe UI" panose="020B0502040204020203" pitchFamily="34" charset="0"/>
                <a:cs typeface="Segoe UI" panose="020B0502040204020203" pitchFamily="34" charset="0"/>
              </a:rPr>
              <a:t> </a:t>
            </a:r>
            <a:r>
              <a:rPr lang="fr-FR" dirty="0">
                <a:latin typeface="Segoe UI" panose="020B0502040204020203" pitchFamily="34" charset="0"/>
                <a:cs typeface="Segoe UI" panose="020B0502040204020203" pitchFamily="34" charset="0"/>
              </a:rPr>
              <a:t>Un </a:t>
            </a:r>
            <a:r>
              <a:rPr lang="fr-FR" b="1" dirty="0" err="1">
                <a:latin typeface="Segoe UI" panose="020B0502040204020203" pitchFamily="34" charset="0"/>
                <a:cs typeface="Segoe UI" panose="020B0502040204020203" pitchFamily="34" charset="0"/>
              </a:rPr>
              <a:t>ImageCell</a:t>
            </a:r>
            <a:r>
              <a:rPr lang="fr-FR" dirty="0">
                <a:latin typeface="Segoe UI" panose="020B0502040204020203" pitchFamily="34" charset="0"/>
                <a:cs typeface="Segoe UI" panose="020B0502040204020203" pitchFamily="34" charset="0"/>
              </a:rPr>
              <a:t> affiche une image avec du texte principal et secondaire sur des lignes distinctes. </a:t>
            </a:r>
            <a:r>
              <a:rPr lang="fr-FR" b="1" dirty="0" err="1">
                <a:latin typeface="Segoe UI" panose="020B0502040204020203" pitchFamily="34" charset="0"/>
                <a:cs typeface="Segoe UI" panose="020B0502040204020203" pitchFamily="34" charset="0"/>
              </a:rPr>
              <a:t>ImageCell</a:t>
            </a:r>
            <a:r>
              <a:rPr lang="fr-FR" dirty="0">
                <a:latin typeface="Segoe UI" panose="020B0502040204020203" pitchFamily="34" charset="0"/>
                <a:cs typeface="Segoe UI" panose="020B0502040204020203" pitchFamily="34" charset="0"/>
              </a:rPr>
              <a:t> hérite des propriétés de </a:t>
            </a:r>
            <a:r>
              <a:rPr lang="fr-FR" b="1" dirty="0" err="1">
                <a:latin typeface="Segoe UI" panose="020B0502040204020203" pitchFamily="34" charset="0"/>
                <a:cs typeface="Segoe UI" panose="020B0502040204020203" pitchFamily="34" charset="0"/>
              </a:rPr>
              <a:t>TextCell</a:t>
            </a:r>
            <a:r>
              <a:rPr lang="fr-FR" dirty="0">
                <a:latin typeface="Segoe UI" panose="020B0502040204020203" pitchFamily="34" charset="0"/>
                <a:cs typeface="Segoe UI" panose="020B0502040204020203" pitchFamily="34" charset="0"/>
              </a:rPr>
              <a:t>, et définit </a:t>
            </a:r>
            <a:r>
              <a:rPr lang="fr-FR" dirty="0" smtClean="0">
                <a:latin typeface="Segoe UI" panose="020B0502040204020203" pitchFamily="34" charset="0"/>
                <a:cs typeface="Segoe UI" panose="020B0502040204020203" pitchFamily="34" charset="0"/>
              </a:rPr>
              <a:t>la propriété</a:t>
            </a:r>
            <a:r>
              <a:rPr lang="fr-FR" dirty="0">
                <a:latin typeface="Segoe UI" panose="020B0502040204020203" pitchFamily="34" charset="0"/>
                <a:cs typeface="Segoe UI" panose="020B0502040204020203" pitchFamily="34" charset="0"/>
              </a:rPr>
              <a:t> </a:t>
            </a:r>
            <a:r>
              <a:rPr lang="fr-FR" b="1" dirty="0" err="1">
                <a:latin typeface="Segoe UI" panose="020B0502040204020203" pitchFamily="34" charset="0"/>
                <a:cs typeface="Segoe UI" panose="020B0502040204020203" pitchFamily="34" charset="0"/>
              </a:rPr>
              <a:t>ImageSource</a:t>
            </a:r>
            <a:r>
              <a:rPr lang="fr-FR" dirty="0">
                <a:latin typeface="Segoe UI" panose="020B0502040204020203" pitchFamily="34" charset="0"/>
                <a:cs typeface="Segoe UI" panose="020B0502040204020203" pitchFamily="34" charset="0"/>
              </a:rPr>
              <a:t> </a:t>
            </a:r>
          </a:p>
        </p:txBody>
      </p:sp>
    </p:spTree>
    <p:extLst>
      <p:ext uri="{BB962C8B-B14F-4D97-AF65-F5344CB8AC3E}">
        <p14:creationId xmlns:p14="http://schemas.microsoft.com/office/powerpoint/2010/main" val="172185377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8"/>
          <p:cNvSpPr txBox="1">
            <a:spLocks noChangeArrowheads="1"/>
          </p:cNvSpPr>
          <p:nvPr/>
        </p:nvSpPr>
        <p:spPr bwMode="auto">
          <a:xfrm>
            <a:off x="386215" y="603327"/>
            <a:ext cx="11475048" cy="449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152400">
              <a:tabLst>
                <a:tab pos="5992813" algn="l"/>
              </a:tabLst>
              <a:defRPr>
                <a:solidFill>
                  <a:schemeClr val="tx1"/>
                </a:solidFill>
                <a:latin typeface="Calibri" panose="020F0502020204030204" pitchFamily="34" charset="0"/>
                <a:cs typeface="Arial" panose="020B0604020202020204" pitchFamily="34" charset="0"/>
              </a:defRPr>
            </a:lvl1pPr>
            <a:lvl2pPr marL="579438" indent="-242888">
              <a:tabLst>
                <a:tab pos="5992813" algn="l"/>
              </a:tabLst>
              <a:defRPr>
                <a:solidFill>
                  <a:schemeClr val="tx1"/>
                </a:solidFill>
                <a:latin typeface="Calibri" panose="020F0502020204030204" pitchFamily="34" charset="0"/>
                <a:cs typeface="Arial" panose="020B0604020202020204" pitchFamily="34" charset="0"/>
              </a:defRPr>
            </a:lvl2pPr>
            <a:lvl3pPr marL="1143000" indent="-228600">
              <a:tabLst>
                <a:tab pos="5992813" algn="l"/>
              </a:tabLst>
              <a:defRPr>
                <a:solidFill>
                  <a:schemeClr val="tx1"/>
                </a:solidFill>
                <a:latin typeface="Calibri" panose="020F0502020204030204" pitchFamily="34" charset="0"/>
                <a:cs typeface="Arial" panose="020B0604020202020204" pitchFamily="34" charset="0"/>
              </a:defRPr>
            </a:lvl3pPr>
            <a:lvl4pPr marL="1600200" indent="-228600">
              <a:tabLst>
                <a:tab pos="5992813" algn="l"/>
              </a:tabLst>
              <a:defRPr>
                <a:solidFill>
                  <a:schemeClr val="tx1"/>
                </a:solidFill>
                <a:latin typeface="Calibri" panose="020F0502020204030204" pitchFamily="34" charset="0"/>
                <a:cs typeface="Arial" panose="020B0604020202020204" pitchFamily="34" charset="0"/>
              </a:defRPr>
            </a:lvl4pPr>
            <a:lvl5pPr marL="2057400" indent="-228600">
              <a:tabLst>
                <a:tab pos="5992813" algn="l"/>
              </a:tabLst>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2200" u="sng" dirty="0">
                <a:latin typeface="Segoe UI Symbol" panose="020B0502040204020203" pitchFamily="34" charset="0"/>
              </a:rPr>
              <a:t>L</a:t>
            </a:r>
            <a:r>
              <a:rPr lang="en-US" altLang="en-US" sz="2200" u="sng" dirty="0" smtClean="0">
                <a:latin typeface="Segoe UI Symbol" panose="020B0502040204020203" pitchFamily="34" charset="0"/>
              </a:rPr>
              <a:t>es </a:t>
            </a:r>
            <a:r>
              <a:rPr lang="fr-FR" altLang="en-US" sz="2200" u="sng" dirty="0" smtClean="0">
                <a:latin typeface="Segoe UI Symbol" panose="020B0502040204020203" pitchFamily="34" charset="0"/>
              </a:rPr>
              <a:t>collections-</a:t>
            </a:r>
            <a:r>
              <a:rPr lang="fr-FR" altLang="en-US" sz="2200" u="sng" dirty="0" err="1" smtClean="0">
                <a:latin typeface="Segoe UI Symbol" panose="020B0502040204020203" pitchFamily="34" charset="0"/>
              </a:rPr>
              <a:t>CollectionView</a:t>
            </a:r>
            <a:r>
              <a:rPr lang="fr-FR" altLang="en-US" sz="2200" u="sng" dirty="0" smtClean="0">
                <a:latin typeface="Segoe UI Symbol" panose="020B0502040204020203" pitchFamily="34" charset="0"/>
              </a:rPr>
              <a:t> </a:t>
            </a:r>
          </a:p>
          <a:p>
            <a:pPr marL="438150" indent="-285750">
              <a:lnSpc>
                <a:spcPct val="150000"/>
              </a:lnSpc>
              <a:buFont typeface="Wingdings" panose="05000000000000000000" pitchFamily="2" charset="2"/>
              <a:buChar char="§"/>
            </a:pPr>
            <a:r>
              <a:rPr lang="fr-FR" dirty="0" smtClean="0">
                <a:latin typeface="Segoe UI" panose="020B0502040204020203" pitchFamily="34" charset="0"/>
                <a:cs typeface="Segoe UI" panose="020B0502040204020203" pitchFamily="34" charset="0"/>
              </a:rPr>
              <a:t>Un contrôle </a:t>
            </a:r>
            <a:r>
              <a:rPr lang="fr-FR" b="1" dirty="0" err="1" smtClean="0">
                <a:latin typeface="Segoe UI" panose="020B0502040204020203" pitchFamily="34" charset="0"/>
                <a:cs typeface="Segoe UI" panose="020B0502040204020203" pitchFamily="34" charset="0"/>
              </a:rPr>
              <a:t>CollectionView</a:t>
            </a:r>
            <a:r>
              <a:rPr lang="fr-FR" dirty="0">
                <a:latin typeface="Segoe UI" panose="020B0502040204020203" pitchFamily="34" charset="0"/>
                <a:cs typeface="Segoe UI" panose="020B0502040204020203" pitchFamily="34" charset="0"/>
              </a:rPr>
              <a:t> </a:t>
            </a:r>
            <a:r>
              <a:rPr lang="fr-FR" dirty="0" smtClean="0">
                <a:latin typeface="Segoe UI" panose="020B0502040204020203" pitchFamily="34" charset="0"/>
                <a:cs typeface="Segoe UI" panose="020B0502040204020203" pitchFamily="34" charset="0"/>
              </a:rPr>
              <a:t>est </a:t>
            </a:r>
            <a:r>
              <a:rPr lang="fr-FR" dirty="0">
                <a:latin typeface="Segoe UI" panose="020B0502040204020203" pitchFamily="34" charset="0"/>
                <a:cs typeface="Segoe UI" panose="020B0502040204020203" pitchFamily="34" charset="0"/>
              </a:rPr>
              <a:t>une vue permettant de présenter des listes de données à l’aide de différentes spécifications de disposition </a:t>
            </a:r>
            <a:r>
              <a:rPr lang="fr-FR" dirty="0" smtClean="0">
                <a:latin typeface="Segoe UI" panose="020B0502040204020203" pitchFamily="34" charset="0"/>
                <a:cs typeface="Segoe UI" panose="020B0502040204020203" pitchFamily="34" charset="0"/>
              </a:rPr>
              <a:t>qui  </a:t>
            </a:r>
            <a:r>
              <a:rPr lang="fr-FR" dirty="0">
                <a:latin typeface="Segoe UI" panose="020B0502040204020203" pitchFamily="34" charset="0"/>
                <a:cs typeface="Segoe UI" panose="020B0502040204020203" pitchFamily="34" charset="0"/>
              </a:rPr>
              <a:t>vise à fournir une alternative plus flexible </a:t>
            </a:r>
            <a:r>
              <a:rPr lang="fr-FR" dirty="0" smtClean="0">
                <a:latin typeface="Segoe UI" panose="020B0502040204020203" pitchFamily="34" charset="0"/>
                <a:cs typeface="Segoe UI" panose="020B0502040204020203" pitchFamily="34" charset="0"/>
              </a:rPr>
              <a:t>en </a:t>
            </a:r>
            <a:r>
              <a:rPr lang="fr-FR" dirty="0" err="1" smtClean="0">
                <a:latin typeface="Segoe UI" panose="020B0502040204020203" pitchFamily="34" charset="0"/>
                <a:cs typeface="Segoe UI" panose="020B0502040204020203" pitchFamily="34" charset="0"/>
              </a:rPr>
              <a:t>comarant</a:t>
            </a:r>
            <a:r>
              <a:rPr lang="fr-FR" dirty="0" smtClean="0">
                <a:latin typeface="Segoe UI" panose="020B0502040204020203" pitchFamily="34" charset="0"/>
                <a:cs typeface="Segoe UI" panose="020B0502040204020203" pitchFamily="34" charset="0"/>
              </a:rPr>
              <a:t> avec </a:t>
            </a:r>
            <a:r>
              <a:rPr lang="fr-FR" dirty="0">
                <a:latin typeface="Segoe UI" panose="020B0502040204020203" pitchFamily="34" charset="0"/>
                <a:cs typeface="Segoe UI" panose="020B0502040204020203" pitchFamily="34" charset="0"/>
              </a:rPr>
              <a:t> </a:t>
            </a:r>
            <a:r>
              <a:rPr lang="fr-FR" b="1" dirty="0" smtClean="0">
                <a:latin typeface="Segoe UI" panose="020B0502040204020203" pitchFamily="34" charset="0"/>
                <a:cs typeface="Segoe UI" panose="020B0502040204020203" pitchFamily="34" charset="0"/>
              </a:rPr>
              <a:t>ListView</a:t>
            </a:r>
          </a:p>
          <a:p>
            <a:pPr marL="438150" indent="-285750">
              <a:lnSpc>
                <a:spcPct val="150000"/>
              </a:lnSpc>
              <a:buFont typeface="Wingdings" panose="05000000000000000000" pitchFamily="2" charset="2"/>
              <a:buChar char="§"/>
            </a:pPr>
            <a:endParaRPr lang="fr-FR" b="1" dirty="0">
              <a:latin typeface="Segoe UI" panose="020B0502040204020203" pitchFamily="34" charset="0"/>
              <a:cs typeface="Segoe UI" panose="020B0502040204020203" pitchFamily="34" charset="0"/>
            </a:endParaRPr>
          </a:p>
          <a:p>
            <a:pPr marL="438150" indent="-285750">
              <a:lnSpc>
                <a:spcPct val="150000"/>
              </a:lnSpc>
              <a:buFont typeface="Wingdings" panose="05000000000000000000" pitchFamily="2" charset="2"/>
              <a:buChar char="§"/>
            </a:pPr>
            <a:r>
              <a:rPr lang="fr-FR" dirty="0" smtClean="0">
                <a:latin typeface="Segoe UI" panose="020B0502040204020203" pitchFamily="34" charset="0"/>
                <a:cs typeface="Segoe UI" panose="020B0502040204020203" pitchFamily="34" charset="0"/>
              </a:rPr>
              <a:t>Un contrôle </a:t>
            </a:r>
            <a:r>
              <a:rPr lang="fr-FR" b="1" dirty="0" err="1" smtClean="0">
                <a:latin typeface="Segoe UI" panose="020B0502040204020203" pitchFamily="34" charset="0"/>
                <a:cs typeface="Segoe UI" panose="020B0502040204020203" pitchFamily="34" charset="0"/>
              </a:rPr>
              <a:t>CollectionView</a:t>
            </a:r>
            <a:r>
              <a:rPr lang="fr-FR" dirty="0" smtClean="0">
                <a:latin typeface="Segoe UI" panose="020B0502040204020203" pitchFamily="34" charset="0"/>
                <a:cs typeface="Segoe UI" panose="020B0502040204020203" pitchFamily="34" charset="0"/>
              </a:rPr>
              <a:t> permet deux présentations en liste ou en grille </a:t>
            </a:r>
          </a:p>
          <a:p>
            <a:pPr marL="438150" indent="-285750">
              <a:lnSpc>
                <a:spcPct val="150000"/>
              </a:lnSpc>
              <a:buFont typeface="Wingdings" panose="05000000000000000000" pitchFamily="2" charset="2"/>
              <a:buChar char="§"/>
            </a:pPr>
            <a:r>
              <a:rPr lang="fr-FR" dirty="0">
                <a:latin typeface="Segoe UI" panose="020B0502040204020203" pitchFamily="34" charset="0"/>
                <a:cs typeface="Segoe UI" panose="020B0502040204020203" pitchFamily="34" charset="0"/>
              </a:rPr>
              <a:t>Un contrôle </a:t>
            </a:r>
            <a:r>
              <a:rPr lang="fr-FR" b="1" dirty="0" err="1">
                <a:latin typeface="Segoe UI" panose="020B0502040204020203" pitchFamily="34" charset="0"/>
                <a:cs typeface="Segoe UI" panose="020B0502040204020203" pitchFamily="34" charset="0"/>
              </a:rPr>
              <a:t>CollectionView</a:t>
            </a:r>
            <a:r>
              <a:rPr lang="fr-FR" dirty="0">
                <a:latin typeface="Segoe UI" panose="020B0502040204020203" pitchFamily="34" charset="0"/>
                <a:cs typeface="Segoe UI" panose="020B0502040204020203" pitchFamily="34" charset="0"/>
              </a:rPr>
              <a:t> </a:t>
            </a:r>
            <a:r>
              <a:rPr lang="fr-FR" dirty="0" smtClean="0">
                <a:latin typeface="Segoe UI" panose="020B0502040204020203" pitchFamily="34" charset="0"/>
                <a:cs typeface="Segoe UI" panose="020B0502040204020203" pitchFamily="34" charset="0"/>
              </a:rPr>
              <a:t>permet une sélection multiple </a:t>
            </a:r>
          </a:p>
          <a:p>
            <a:pPr marL="438150" indent="-285750">
              <a:lnSpc>
                <a:spcPct val="150000"/>
              </a:lnSpc>
              <a:buFont typeface="Wingdings" panose="05000000000000000000" pitchFamily="2" charset="2"/>
              <a:buChar char="§"/>
            </a:pPr>
            <a:r>
              <a:rPr lang="fr-FR" dirty="0">
                <a:latin typeface="Segoe UI" panose="020B0502040204020203" pitchFamily="34" charset="0"/>
                <a:cs typeface="Segoe UI" panose="020B0502040204020203" pitchFamily="34" charset="0"/>
              </a:rPr>
              <a:t>Un contrôle </a:t>
            </a:r>
            <a:r>
              <a:rPr lang="fr-FR" b="1" dirty="0" err="1" smtClean="0">
                <a:latin typeface="Segoe UI" panose="020B0502040204020203" pitchFamily="34" charset="0"/>
                <a:cs typeface="Segoe UI" panose="020B0502040204020203" pitchFamily="34" charset="0"/>
              </a:rPr>
              <a:t>CollectionView</a:t>
            </a:r>
            <a:r>
              <a:rPr lang="fr-FR" dirty="0" smtClean="0">
                <a:latin typeface="Segoe UI" panose="020B0502040204020203" pitchFamily="34" charset="0"/>
                <a:cs typeface="Segoe UI" panose="020B0502040204020203" pitchFamily="34" charset="0"/>
              </a:rPr>
              <a:t> n’oblige pas de travailler avec des </a:t>
            </a:r>
            <a:r>
              <a:rPr lang="fr-FR" b="1" dirty="0" err="1" smtClean="0">
                <a:latin typeface="Segoe UI" panose="020B0502040204020203" pitchFamily="34" charset="0"/>
                <a:cs typeface="Segoe UI" panose="020B0502040204020203" pitchFamily="34" charset="0"/>
              </a:rPr>
              <a:t>Cell</a:t>
            </a:r>
            <a:endParaRPr lang="fr-FR" b="1" dirty="0" smtClean="0">
              <a:latin typeface="Segoe UI" panose="020B0502040204020203" pitchFamily="34" charset="0"/>
              <a:cs typeface="Segoe UI" panose="020B0502040204020203" pitchFamily="34" charset="0"/>
            </a:endParaRPr>
          </a:p>
          <a:p>
            <a:pPr marL="438150" indent="-285750">
              <a:lnSpc>
                <a:spcPct val="150000"/>
              </a:lnSpc>
              <a:buFont typeface="Wingdings" panose="05000000000000000000" pitchFamily="2" charset="2"/>
              <a:buChar char="§"/>
            </a:pPr>
            <a:r>
              <a:rPr lang="fr-FR" dirty="0">
                <a:latin typeface="Segoe UI" panose="020B0502040204020203" pitchFamily="34" charset="0"/>
                <a:cs typeface="Segoe UI" panose="020B0502040204020203" pitchFamily="34" charset="0"/>
              </a:rPr>
              <a:t>Un contrôle </a:t>
            </a:r>
            <a:r>
              <a:rPr lang="fr-FR" b="1" dirty="0" err="1">
                <a:latin typeface="Segoe UI" panose="020B0502040204020203" pitchFamily="34" charset="0"/>
                <a:cs typeface="Segoe UI" panose="020B0502040204020203" pitchFamily="34" charset="0"/>
              </a:rPr>
              <a:t>CollectionView</a:t>
            </a:r>
            <a:r>
              <a:rPr lang="fr-FR" dirty="0">
                <a:latin typeface="Segoe UI" panose="020B0502040204020203" pitchFamily="34" charset="0"/>
                <a:cs typeface="Segoe UI" panose="020B0502040204020203" pitchFamily="34" charset="0"/>
              </a:rPr>
              <a:t> </a:t>
            </a:r>
            <a:r>
              <a:rPr lang="fr-FR" dirty="0" smtClean="0">
                <a:latin typeface="Segoe UI" panose="020B0502040204020203" pitchFamily="34" charset="0"/>
                <a:cs typeface="Segoe UI" panose="020B0502040204020203" pitchFamily="34" charset="0"/>
              </a:rPr>
              <a:t>utilise automatiquement la virtualisation </a:t>
            </a:r>
          </a:p>
          <a:p>
            <a:pPr marL="438150" indent="-285750">
              <a:lnSpc>
                <a:spcPct val="150000"/>
              </a:lnSpc>
              <a:buFont typeface="Wingdings" panose="05000000000000000000" pitchFamily="2" charset="2"/>
              <a:buChar char="§"/>
            </a:pPr>
            <a:r>
              <a:rPr lang="fr-FR" dirty="0">
                <a:latin typeface="Segoe UI" panose="020B0502040204020203" pitchFamily="34" charset="0"/>
                <a:cs typeface="Segoe UI" panose="020B0502040204020203" pitchFamily="34" charset="0"/>
              </a:rPr>
              <a:t>Un contrôle </a:t>
            </a:r>
            <a:r>
              <a:rPr lang="fr-FR" b="1" dirty="0" err="1">
                <a:latin typeface="Segoe UI" panose="020B0502040204020203" pitchFamily="34" charset="0"/>
                <a:cs typeface="Segoe UI" panose="020B0502040204020203" pitchFamily="34" charset="0"/>
              </a:rPr>
              <a:t>CollectionView</a:t>
            </a:r>
            <a:r>
              <a:rPr lang="fr-FR" dirty="0">
                <a:latin typeface="Segoe UI" panose="020B0502040204020203" pitchFamily="34" charset="0"/>
                <a:cs typeface="Segoe UI" panose="020B0502040204020203" pitchFamily="34" charset="0"/>
              </a:rPr>
              <a:t> </a:t>
            </a:r>
            <a:r>
              <a:rPr lang="fr-FR" dirty="0" smtClean="0">
                <a:latin typeface="Segoe UI" panose="020B0502040204020203" pitchFamily="34" charset="0"/>
                <a:cs typeface="Segoe UI" panose="020B0502040204020203" pitchFamily="34" charset="0"/>
              </a:rPr>
              <a:t>n’inclue pas les séparateurs</a:t>
            </a:r>
          </a:p>
          <a:p>
            <a:pPr marL="438150" indent="-285750">
              <a:lnSpc>
                <a:spcPct val="150000"/>
              </a:lnSpc>
              <a:buFont typeface="Wingdings" panose="05000000000000000000" pitchFamily="2" charset="2"/>
              <a:buChar char="§"/>
            </a:pPr>
            <a:r>
              <a:rPr lang="fr-FR" dirty="0">
                <a:latin typeface="Segoe UI" panose="020B0502040204020203" pitchFamily="34" charset="0"/>
                <a:cs typeface="Segoe UI" panose="020B0502040204020203" pitchFamily="34" charset="0"/>
              </a:rPr>
              <a:t>Un contrôle </a:t>
            </a:r>
            <a:r>
              <a:rPr lang="fr-FR" b="1" dirty="0" err="1">
                <a:latin typeface="Segoe UI" panose="020B0502040204020203" pitchFamily="34" charset="0"/>
                <a:cs typeface="Segoe UI" panose="020B0502040204020203" pitchFamily="34" charset="0"/>
              </a:rPr>
              <a:t>CollectionView</a:t>
            </a:r>
            <a:r>
              <a:rPr lang="fr-FR" dirty="0">
                <a:latin typeface="Segoe UI" panose="020B0502040204020203" pitchFamily="34" charset="0"/>
                <a:cs typeface="Segoe UI" panose="020B0502040204020203" pitchFamily="34" charset="0"/>
              </a:rPr>
              <a:t> </a:t>
            </a:r>
            <a:r>
              <a:rPr lang="fr-FR" dirty="0" smtClean="0">
                <a:latin typeface="Segoe UI" panose="020B0502040204020203" pitchFamily="34" charset="0"/>
                <a:cs typeface="Segoe UI" panose="020B0502040204020203" pitchFamily="34" charset="0"/>
              </a:rPr>
              <a:t>lève une exception </a:t>
            </a:r>
            <a:r>
              <a:rPr lang="fr-FR" dirty="0">
                <a:latin typeface="Segoe UI" panose="020B0502040204020203" pitchFamily="34" charset="0"/>
                <a:cs typeface="Segoe UI" panose="020B0502040204020203" pitchFamily="34" charset="0"/>
              </a:rPr>
              <a:t>si son </a:t>
            </a:r>
            <a:r>
              <a:rPr lang="fr-FR" b="1" dirty="0" err="1">
                <a:latin typeface="Segoe UI" panose="020B0502040204020203" pitchFamily="34" charset="0"/>
                <a:cs typeface="Segoe UI" panose="020B0502040204020203" pitchFamily="34" charset="0"/>
              </a:rPr>
              <a:t>ItemsSource</a:t>
            </a:r>
            <a:r>
              <a:rPr lang="fr-FR" dirty="0">
                <a:latin typeface="Segoe UI" panose="020B0502040204020203" pitchFamily="34" charset="0"/>
                <a:cs typeface="Segoe UI" panose="020B0502040204020203" pitchFamily="34" charset="0"/>
              </a:rPr>
              <a:t> est mis à jour hors du thread d’interface utilisateur</a:t>
            </a:r>
          </a:p>
        </p:txBody>
      </p:sp>
    </p:spTree>
    <p:extLst>
      <p:ext uri="{BB962C8B-B14F-4D97-AF65-F5344CB8AC3E}">
        <p14:creationId xmlns:p14="http://schemas.microsoft.com/office/powerpoint/2010/main" val="76423594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8"/>
          <p:cNvSpPr txBox="1">
            <a:spLocks noChangeArrowheads="1"/>
          </p:cNvSpPr>
          <p:nvPr/>
        </p:nvSpPr>
        <p:spPr bwMode="auto">
          <a:xfrm>
            <a:off x="379775" y="597125"/>
            <a:ext cx="11475048" cy="1169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152400">
              <a:tabLst>
                <a:tab pos="5992813" algn="l"/>
              </a:tabLst>
              <a:defRPr>
                <a:solidFill>
                  <a:schemeClr val="tx1"/>
                </a:solidFill>
                <a:latin typeface="Calibri" panose="020F0502020204030204" pitchFamily="34" charset="0"/>
                <a:cs typeface="Arial" panose="020B0604020202020204" pitchFamily="34" charset="0"/>
              </a:defRPr>
            </a:lvl1pPr>
            <a:lvl2pPr marL="579438" indent="-242888">
              <a:tabLst>
                <a:tab pos="5992813" algn="l"/>
              </a:tabLst>
              <a:defRPr>
                <a:solidFill>
                  <a:schemeClr val="tx1"/>
                </a:solidFill>
                <a:latin typeface="Calibri" panose="020F0502020204030204" pitchFamily="34" charset="0"/>
                <a:cs typeface="Arial" panose="020B0604020202020204" pitchFamily="34" charset="0"/>
              </a:defRPr>
            </a:lvl2pPr>
            <a:lvl3pPr marL="1143000" indent="-228600">
              <a:tabLst>
                <a:tab pos="5992813" algn="l"/>
              </a:tabLst>
              <a:defRPr>
                <a:solidFill>
                  <a:schemeClr val="tx1"/>
                </a:solidFill>
                <a:latin typeface="Calibri" panose="020F0502020204030204" pitchFamily="34" charset="0"/>
                <a:cs typeface="Arial" panose="020B0604020202020204" pitchFamily="34" charset="0"/>
              </a:defRPr>
            </a:lvl3pPr>
            <a:lvl4pPr marL="1600200" indent="-228600">
              <a:tabLst>
                <a:tab pos="5992813" algn="l"/>
              </a:tabLst>
              <a:defRPr>
                <a:solidFill>
                  <a:schemeClr val="tx1"/>
                </a:solidFill>
                <a:latin typeface="Calibri" panose="020F0502020204030204" pitchFamily="34" charset="0"/>
                <a:cs typeface="Arial" panose="020B0604020202020204" pitchFamily="34" charset="0"/>
              </a:defRPr>
            </a:lvl4pPr>
            <a:lvl5pPr marL="2057400" indent="-228600">
              <a:tabLst>
                <a:tab pos="5992813" algn="l"/>
              </a:tabLst>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2200" u="sng" dirty="0">
                <a:latin typeface="Segoe UI Symbol" panose="020B0502040204020203" pitchFamily="34" charset="0"/>
              </a:rPr>
              <a:t>L</a:t>
            </a:r>
            <a:r>
              <a:rPr lang="en-US" altLang="en-US" sz="2200" u="sng" dirty="0" smtClean="0">
                <a:latin typeface="Segoe UI Symbol" panose="020B0502040204020203" pitchFamily="34" charset="0"/>
              </a:rPr>
              <a:t>es </a:t>
            </a:r>
            <a:r>
              <a:rPr lang="fr-FR" altLang="en-US" sz="2200" u="sng" dirty="0" smtClean="0">
                <a:latin typeface="Segoe UI Symbol" panose="020B0502040204020203" pitchFamily="34" charset="0"/>
              </a:rPr>
              <a:t>collections-</a:t>
            </a:r>
            <a:r>
              <a:rPr lang="fr-FR" altLang="en-US" sz="2200" u="sng" dirty="0" err="1" smtClean="0">
                <a:latin typeface="Segoe UI Symbol" panose="020B0502040204020203" pitchFamily="34" charset="0"/>
              </a:rPr>
              <a:t>TableView</a:t>
            </a:r>
            <a:r>
              <a:rPr lang="fr-FR" altLang="en-US" sz="2200" u="sng" dirty="0" smtClean="0">
                <a:latin typeface="Segoe UI Symbol" panose="020B0502040204020203" pitchFamily="34" charset="0"/>
              </a:rPr>
              <a:t> </a:t>
            </a:r>
          </a:p>
          <a:p>
            <a:pPr marL="438150" indent="-285750">
              <a:lnSpc>
                <a:spcPct val="150000"/>
              </a:lnSpc>
              <a:buFont typeface="Wingdings" panose="05000000000000000000" pitchFamily="2" charset="2"/>
              <a:buChar char="§"/>
            </a:pPr>
            <a:r>
              <a:rPr lang="fr-FR" dirty="0" smtClean="0">
                <a:latin typeface="Segoe UI" panose="020B0502040204020203" pitchFamily="34" charset="0"/>
                <a:cs typeface="Segoe UI" panose="020B0502040204020203" pitchFamily="34" charset="0"/>
              </a:rPr>
              <a:t>Un contrôle </a:t>
            </a:r>
            <a:r>
              <a:rPr lang="fr-FR" b="1" dirty="0" smtClean="0">
                <a:latin typeface="Segoe UI" panose="020B0502040204020203" pitchFamily="34" charset="0"/>
                <a:cs typeface="Segoe UI" panose="020B0502040204020203" pitchFamily="34" charset="0"/>
              </a:rPr>
              <a:t>TableView</a:t>
            </a:r>
            <a:r>
              <a:rPr lang="fr-FR" dirty="0">
                <a:latin typeface="Segoe UI" panose="020B0502040204020203" pitchFamily="34" charset="0"/>
                <a:cs typeface="Segoe UI" panose="020B0502040204020203" pitchFamily="34" charset="0"/>
              </a:rPr>
              <a:t> gère </a:t>
            </a:r>
            <a:r>
              <a:rPr lang="fr-FR" dirty="0" smtClean="0">
                <a:latin typeface="Segoe UI" panose="020B0502040204020203" pitchFamily="34" charset="0"/>
                <a:cs typeface="Segoe UI" panose="020B0502040204020203" pitchFamily="34" charset="0"/>
              </a:rPr>
              <a:t>l’apparence des éléments d’une manière </a:t>
            </a:r>
          </a:p>
          <a:p>
            <a:pPr>
              <a:lnSpc>
                <a:spcPct val="150000"/>
              </a:lnSpc>
            </a:pPr>
            <a:r>
              <a:rPr lang="fr-FR" dirty="0">
                <a:latin typeface="Segoe UI" panose="020B0502040204020203" pitchFamily="34" charset="0"/>
                <a:cs typeface="Segoe UI" panose="020B0502040204020203" pitchFamily="34" charset="0"/>
              </a:rPr>
              <a:t> </a:t>
            </a:r>
            <a:r>
              <a:rPr lang="fr-FR" dirty="0" smtClean="0">
                <a:latin typeface="Segoe UI" panose="020B0502040204020203" pitchFamily="34" charset="0"/>
                <a:cs typeface="Segoe UI" panose="020B0502040204020203" pitchFamily="34" charset="0"/>
              </a:rPr>
              <a:t>    hiérarchique</a:t>
            </a:r>
            <a:endParaRPr lang="fr-FR" dirty="0">
              <a:latin typeface="Segoe UI" panose="020B0502040204020203" pitchFamily="34" charset="0"/>
              <a:cs typeface="Segoe UI" panose="020B0502040204020203" pitchFamily="34" charset="0"/>
            </a:endParaRPr>
          </a:p>
        </p:txBody>
      </p:sp>
      <p:sp>
        <p:nvSpPr>
          <p:cNvPr id="3" name="Rectangle 2"/>
          <p:cNvSpPr/>
          <p:nvPr/>
        </p:nvSpPr>
        <p:spPr>
          <a:xfrm>
            <a:off x="5338293" y="2051258"/>
            <a:ext cx="1745087" cy="354169"/>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fr-FR" dirty="0" smtClean="0"/>
              <a:t>TableView</a:t>
            </a:r>
            <a:endParaRPr lang="fr-FR" dirty="0"/>
          </a:p>
        </p:txBody>
      </p:sp>
      <p:sp>
        <p:nvSpPr>
          <p:cNvPr id="4" name="Rectangle 3"/>
          <p:cNvSpPr/>
          <p:nvPr/>
        </p:nvSpPr>
        <p:spPr>
          <a:xfrm>
            <a:off x="5766515" y="2528447"/>
            <a:ext cx="1745087" cy="318484"/>
          </a:xfrm>
          <a:prstGeom prst="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fr-FR" dirty="0" smtClean="0"/>
              <a:t>TableRoot</a:t>
            </a:r>
            <a:endParaRPr lang="fr-FR" dirty="0"/>
          </a:p>
        </p:txBody>
      </p:sp>
      <p:sp>
        <p:nvSpPr>
          <p:cNvPr id="5" name="Rectangle 4"/>
          <p:cNvSpPr/>
          <p:nvPr/>
        </p:nvSpPr>
        <p:spPr>
          <a:xfrm>
            <a:off x="6210836" y="2969951"/>
            <a:ext cx="1745087" cy="339143"/>
          </a:xfrm>
          <a:prstGeom prst="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fr-FR" dirty="0" smtClean="0"/>
              <a:t>TableSection</a:t>
            </a:r>
            <a:endParaRPr lang="fr-FR" dirty="0"/>
          </a:p>
        </p:txBody>
      </p:sp>
      <p:sp>
        <p:nvSpPr>
          <p:cNvPr id="6" name="Rectangle 5"/>
          <p:cNvSpPr/>
          <p:nvPr/>
        </p:nvSpPr>
        <p:spPr>
          <a:xfrm>
            <a:off x="6580031" y="3432114"/>
            <a:ext cx="1745087" cy="337802"/>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fr-FR" dirty="0" err="1" smtClean="0"/>
              <a:t>Cell</a:t>
            </a:r>
            <a:endParaRPr lang="fr-FR" dirty="0"/>
          </a:p>
        </p:txBody>
      </p:sp>
      <p:sp>
        <p:nvSpPr>
          <p:cNvPr id="7" name="Rectangle 6"/>
          <p:cNvSpPr/>
          <p:nvPr/>
        </p:nvSpPr>
        <p:spPr>
          <a:xfrm>
            <a:off x="6580030" y="3863422"/>
            <a:ext cx="1745087" cy="337802"/>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fr-FR" dirty="0" err="1" smtClean="0"/>
              <a:t>Cell</a:t>
            </a:r>
            <a:endParaRPr lang="fr-FR" dirty="0"/>
          </a:p>
        </p:txBody>
      </p:sp>
      <p:sp>
        <p:nvSpPr>
          <p:cNvPr id="8" name="Rectangle 7"/>
          <p:cNvSpPr/>
          <p:nvPr/>
        </p:nvSpPr>
        <p:spPr>
          <a:xfrm>
            <a:off x="6580030" y="4294730"/>
            <a:ext cx="1745087" cy="337802"/>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fr-FR" dirty="0" err="1" smtClean="0"/>
              <a:t>Cell</a:t>
            </a:r>
            <a:endParaRPr lang="fr-FR" dirty="0"/>
          </a:p>
        </p:txBody>
      </p:sp>
      <p:sp>
        <p:nvSpPr>
          <p:cNvPr id="9" name="Rectangle 8"/>
          <p:cNvSpPr/>
          <p:nvPr/>
        </p:nvSpPr>
        <p:spPr>
          <a:xfrm>
            <a:off x="6210836" y="4766418"/>
            <a:ext cx="1745087" cy="339143"/>
          </a:xfrm>
          <a:prstGeom prst="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fr-FR" dirty="0" smtClean="0"/>
              <a:t>TableSection</a:t>
            </a:r>
            <a:endParaRPr lang="fr-FR" dirty="0"/>
          </a:p>
        </p:txBody>
      </p:sp>
      <p:sp>
        <p:nvSpPr>
          <p:cNvPr id="10" name="Rectangle 9"/>
          <p:cNvSpPr/>
          <p:nvPr/>
        </p:nvSpPr>
        <p:spPr>
          <a:xfrm>
            <a:off x="6580031" y="5228581"/>
            <a:ext cx="1745087" cy="337802"/>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fr-FR" dirty="0" err="1" smtClean="0"/>
              <a:t>Cell</a:t>
            </a:r>
            <a:endParaRPr lang="fr-FR" dirty="0"/>
          </a:p>
        </p:txBody>
      </p:sp>
      <p:sp>
        <p:nvSpPr>
          <p:cNvPr id="11" name="Rectangle 10"/>
          <p:cNvSpPr/>
          <p:nvPr/>
        </p:nvSpPr>
        <p:spPr>
          <a:xfrm>
            <a:off x="6580030" y="5659889"/>
            <a:ext cx="1745087" cy="337802"/>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fr-FR" dirty="0" err="1" smtClean="0"/>
              <a:t>Cell</a:t>
            </a:r>
            <a:endParaRPr lang="fr-FR" dirty="0"/>
          </a:p>
        </p:txBody>
      </p:sp>
      <p:sp>
        <p:nvSpPr>
          <p:cNvPr id="12" name="Rectangle 11"/>
          <p:cNvSpPr/>
          <p:nvPr/>
        </p:nvSpPr>
        <p:spPr>
          <a:xfrm>
            <a:off x="6580030" y="6091197"/>
            <a:ext cx="1745087" cy="337802"/>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fr-FR" dirty="0" err="1" smtClean="0"/>
              <a:t>Cell</a:t>
            </a:r>
            <a:endParaRPr lang="fr-FR" dirty="0"/>
          </a:p>
        </p:txBody>
      </p:sp>
      <p:pic>
        <p:nvPicPr>
          <p:cNvPr id="13" name="Image 12"/>
          <p:cNvPicPr>
            <a:picLocks noChangeAspect="1"/>
          </p:cNvPicPr>
          <p:nvPr/>
        </p:nvPicPr>
        <p:blipFill>
          <a:blip r:embed="rId3"/>
          <a:stretch>
            <a:fillRect/>
          </a:stretch>
        </p:blipFill>
        <p:spPr>
          <a:xfrm>
            <a:off x="8786357" y="1264784"/>
            <a:ext cx="2330548" cy="5164215"/>
          </a:xfrm>
          <a:prstGeom prst="rect">
            <a:avLst/>
          </a:prstGeom>
        </p:spPr>
      </p:pic>
      <p:sp>
        <p:nvSpPr>
          <p:cNvPr id="14" name="Rectangle 13"/>
          <p:cNvSpPr/>
          <p:nvPr/>
        </p:nvSpPr>
        <p:spPr>
          <a:xfrm>
            <a:off x="555938" y="1857242"/>
            <a:ext cx="4564957" cy="4247317"/>
          </a:xfrm>
          <a:prstGeom prst="rect">
            <a:avLst/>
          </a:prstGeom>
        </p:spPr>
        <p:txBody>
          <a:bodyPr wrap="square">
            <a:spAutoFit/>
          </a:bodyPr>
          <a:lstStyle/>
          <a:p>
            <a:r>
              <a:rPr lang="fr-FR" dirty="0">
                <a:latin typeface="Segoe UI" panose="020B0502040204020203" pitchFamily="34" charset="0"/>
                <a:cs typeface="Segoe UI" panose="020B0502040204020203" pitchFamily="34" charset="0"/>
              </a:rPr>
              <a:t>La valeur </a:t>
            </a:r>
            <a:r>
              <a:rPr lang="fr-FR" dirty="0" smtClean="0">
                <a:latin typeface="Segoe UI" panose="020B0502040204020203" pitchFamily="34" charset="0"/>
                <a:cs typeface="Segoe UI" panose="020B0502040204020203" pitchFamily="34" charset="0"/>
              </a:rPr>
              <a:t>de </a:t>
            </a:r>
            <a:r>
              <a:rPr lang="fr-FR" dirty="0" err="1" smtClean="0">
                <a:latin typeface="Segoe UI" panose="020B0502040204020203" pitchFamily="34" charset="0"/>
                <a:cs typeface="Segoe UI" panose="020B0502040204020203" pitchFamily="34" charset="0"/>
              </a:rPr>
              <a:t>Intent</a:t>
            </a:r>
            <a:r>
              <a:rPr lang="fr-FR" dirty="0" smtClean="0">
                <a:latin typeface="Segoe UI" panose="020B0502040204020203" pitchFamily="34" charset="0"/>
                <a:cs typeface="Segoe UI" panose="020B0502040204020203" pitchFamily="34" charset="0"/>
              </a:rPr>
              <a:t>  </a:t>
            </a:r>
            <a:r>
              <a:rPr lang="fr-FR" dirty="0">
                <a:latin typeface="Segoe UI" panose="020B0502040204020203" pitchFamily="34" charset="0"/>
                <a:cs typeface="Segoe UI" panose="020B0502040204020203" pitchFamily="34" charset="0"/>
              </a:rPr>
              <a:t>permet de définir l’apparence TableView sur iOS uniquement. Cette propriété doit être définie sur une valeur de l’énumération </a:t>
            </a:r>
            <a:r>
              <a:rPr lang="fr-FR" b="1" dirty="0" err="1">
                <a:latin typeface="Segoe UI" panose="020B0502040204020203" pitchFamily="34" charset="0"/>
                <a:cs typeface="Segoe UI" panose="020B0502040204020203" pitchFamily="34" charset="0"/>
              </a:rPr>
              <a:t>TableIntent</a:t>
            </a:r>
            <a:r>
              <a:rPr lang="fr-FR" dirty="0">
                <a:latin typeface="Segoe UI" panose="020B0502040204020203" pitchFamily="34" charset="0"/>
                <a:cs typeface="Segoe UI" panose="020B0502040204020203" pitchFamily="34" charset="0"/>
              </a:rPr>
              <a:t> , qui définit les membres suivants :</a:t>
            </a:r>
          </a:p>
          <a:p>
            <a:endParaRPr lang="fr-FR" dirty="0">
              <a:latin typeface="Segoe UI" panose="020B0502040204020203" pitchFamily="34" charset="0"/>
              <a:cs typeface="Segoe UI" panose="020B0502040204020203" pitchFamily="34" charset="0"/>
            </a:endParaRPr>
          </a:p>
          <a:p>
            <a:r>
              <a:rPr lang="fr-FR" b="1" dirty="0" smtClean="0">
                <a:latin typeface="Segoe UI" panose="020B0502040204020203" pitchFamily="34" charset="0"/>
                <a:cs typeface="Segoe UI" panose="020B0502040204020203" pitchFamily="34" charset="0"/>
              </a:rPr>
              <a:t>Menu</a:t>
            </a:r>
            <a:r>
              <a:rPr lang="fr-FR" dirty="0" smtClean="0">
                <a:latin typeface="Segoe UI" panose="020B0502040204020203" pitchFamily="34" charset="0"/>
                <a:cs typeface="Segoe UI" panose="020B0502040204020203" pitchFamily="34" charset="0"/>
              </a:rPr>
              <a:t>: </a:t>
            </a:r>
            <a:r>
              <a:rPr lang="fr-FR" dirty="0">
                <a:latin typeface="Segoe UI" panose="020B0502040204020203" pitchFamily="34" charset="0"/>
                <a:cs typeface="Segoe UI" panose="020B0502040204020203" pitchFamily="34" charset="0"/>
              </a:rPr>
              <a:t>pour présenter un menu sélectionnable.</a:t>
            </a:r>
          </a:p>
          <a:p>
            <a:r>
              <a:rPr lang="fr-FR" b="1" dirty="0" smtClean="0">
                <a:latin typeface="Segoe UI" panose="020B0502040204020203" pitchFamily="34" charset="0"/>
                <a:cs typeface="Segoe UI" panose="020B0502040204020203" pitchFamily="34" charset="0"/>
              </a:rPr>
              <a:t>Settings</a:t>
            </a:r>
            <a:r>
              <a:rPr lang="fr-FR" dirty="0" smtClean="0">
                <a:latin typeface="Segoe UI" panose="020B0502040204020203" pitchFamily="34" charset="0"/>
                <a:cs typeface="Segoe UI" panose="020B0502040204020203" pitchFamily="34" charset="0"/>
              </a:rPr>
              <a:t>: </a:t>
            </a:r>
            <a:r>
              <a:rPr lang="fr-FR" dirty="0">
                <a:latin typeface="Segoe UI" panose="020B0502040204020203" pitchFamily="34" charset="0"/>
                <a:cs typeface="Segoe UI" panose="020B0502040204020203" pitchFamily="34" charset="0"/>
              </a:rPr>
              <a:t>pour présenter une table des paramètres de configuration.</a:t>
            </a:r>
          </a:p>
          <a:p>
            <a:r>
              <a:rPr lang="fr-FR" b="1" dirty="0" smtClean="0">
                <a:latin typeface="Segoe UI" panose="020B0502040204020203" pitchFamily="34" charset="0"/>
                <a:cs typeface="Segoe UI" panose="020B0502040204020203" pitchFamily="34" charset="0"/>
              </a:rPr>
              <a:t>Form</a:t>
            </a:r>
            <a:r>
              <a:rPr lang="fr-FR" dirty="0" smtClean="0">
                <a:latin typeface="Segoe UI" panose="020B0502040204020203" pitchFamily="34" charset="0"/>
                <a:cs typeface="Segoe UI" panose="020B0502040204020203" pitchFamily="34" charset="0"/>
              </a:rPr>
              <a:t>: </a:t>
            </a:r>
            <a:r>
              <a:rPr lang="fr-FR" dirty="0">
                <a:latin typeface="Segoe UI" panose="020B0502040204020203" pitchFamily="34" charset="0"/>
                <a:cs typeface="Segoe UI" panose="020B0502040204020203" pitchFamily="34" charset="0"/>
              </a:rPr>
              <a:t>pour présenter un formulaire d’entrée de données.</a:t>
            </a:r>
          </a:p>
          <a:p>
            <a:r>
              <a:rPr lang="fr-FR" b="1" dirty="0" smtClean="0">
                <a:latin typeface="Segoe UI" panose="020B0502040204020203" pitchFamily="34" charset="0"/>
                <a:cs typeface="Segoe UI" panose="020B0502040204020203" pitchFamily="34" charset="0"/>
              </a:rPr>
              <a:t>Data</a:t>
            </a:r>
            <a:r>
              <a:rPr lang="fr-FR" dirty="0" smtClean="0">
                <a:latin typeface="Segoe UI" panose="020B0502040204020203" pitchFamily="34" charset="0"/>
                <a:cs typeface="Segoe UI" panose="020B0502040204020203" pitchFamily="34" charset="0"/>
              </a:rPr>
              <a:t>: </a:t>
            </a:r>
            <a:r>
              <a:rPr lang="fr-FR" dirty="0">
                <a:latin typeface="Segoe UI" panose="020B0502040204020203" pitchFamily="34" charset="0"/>
                <a:cs typeface="Segoe UI" panose="020B0502040204020203" pitchFamily="34" charset="0"/>
              </a:rPr>
              <a:t>pour la présentation des données.</a:t>
            </a:r>
          </a:p>
          <a:p>
            <a:r>
              <a:rPr lang="fr-FR" b="1" dirty="0" err="1">
                <a:latin typeface="Segoe UI" panose="020B0502040204020203" pitchFamily="34" charset="0"/>
                <a:cs typeface="Segoe UI" panose="020B0502040204020203" pitchFamily="34" charset="0"/>
              </a:rPr>
              <a:t>FlowDirection</a:t>
            </a:r>
            <a:r>
              <a:rPr lang="fr-FR" dirty="0">
                <a:latin typeface="Segoe UI" panose="020B0502040204020203" pitchFamily="34" charset="0"/>
                <a:cs typeface="Segoe UI" panose="020B0502040204020203" pitchFamily="34" charset="0"/>
              </a:rPr>
              <a:t>: de type </a:t>
            </a:r>
            <a:r>
              <a:rPr lang="fr-FR" dirty="0" err="1">
                <a:latin typeface="Segoe UI" panose="020B0502040204020203" pitchFamily="34" charset="0"/>
                <a:cs typeface="Segoe UI" panose="020B0502040204020203" pitchFamily="34" charset="0"/>
              </a:rPr>
              <a:t>énumeration</a:t>
            </a:r>
            <a:r>
              <a:rPr lang="fr-FR" dirty="0">
                <a:latin typeface="Segoe UI" panose="020B0502040204020203" pitchFamily="34" charset="0"/>
                <a:cs typeface="Segoe UI" panose="020B0502040204020203" pitchFamily="34" charset="0"/>
              </a:rPr>
              <a:t> qui définie l'orientation de la table</a:t>
            </a:r>
          </a:p>
        </p:txBody>
      </p:sp>
    </p:spTree>
    <p:extLst>
      <p:ext uri="{BB962C8B-B14F-4D97-AF65-F5344CB8AC3E}">
        <p14:creationId xmlns:p14="http://schemas.microsoft.com/office/powerpoint/2010/main" val="99278394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8"/>
          <p:cNvSpPr txBox="1">
            <a:spLocks noChangeArrowheads="1"/>
          </p:cNvSpPr>
          <p:nvPr/>
        </p:nvSpPr>
        <p:spPr bwMode="auto">
          <a:xfrm>
            <a:off x="379775" y="597125"/>
            <a:ext cx="11475048" cy="4078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152400">
              <a:tabLst>
                <a:tab pos="5992813" algn="l"/>
              </a:tabLst>
              <a:defRPr>
                <a:solidFill>
                  <a:schemeClr val="tx1"/>
                </a:solidFill>
                <a:latin typeface="Calibri" panose="020F0502020204030204" pitchFamily="34" charset="0"/>
                <a:cs typeface="Arial" panose="020B0604020202020204" pitchFamily="34" charset="0"/>
              </a:defRPr>
            </a:lvl1pPr>
            <a:lvl2pPr marL="579438" indent="-242888">
              <a:tabLst>
                <a:tab pos="5992813" algn="l"/>
              </a:tabLst>
              <a:defRPr>
                <a:solidFill>
                  <a:schemeClr val="tx1"/>
                </a:solidFill>
                <a:latin typeface="Calibri" panose="020F0502020204030204" pitchFamily="34" charset="0"/>
                <a:cs typeface="Arial" panose="020B0604020202020204" pitchFamily="34" charset="0"/>
              </a:defRPr>
            </a:lvl2pPr>
            <a:lvl3pPr marL="1143000" indent="-228600">
              <a:tabLst>
                <a:tab pos="5992813" algn="l"/>
              </a:tabLst>
              <a:defRPr>
                <a:solidFill>
                  <a:schemeClr val="tx1"/>
                </a:solidFill>
                <a:latin typeface="Calibri" panose="020F0502020204030204" pitchFamily="34" charset="0"/>
                <a:cs typeface="Arial" panose="020B0604020202020204" pitchFamily="34" charset="0"/>
              </a:defRPr>
            </a:lvl3pPr>
            <a:lvl4pPr marL="1600200" indent="-228600">
              <a:tabLst>
                <a:tab pos="5992813" algn="l"/>
              </a:tabLst>
              <a:defRPr>
                <a:solidFill>
                  <a:schemeClr val="tx1"/>
                </a:solidFill>
                <a:latin typeface="Calibri" panose="020F0502020204030204" pitchFamily="34" charset="0"/>
                <a:cs typeface="Arial" panose="020B0604020202020204" pitchFamily="34" charset="0"/>
              </a:defRPr>
            </a:lvl4pPr>
            <a:lvl5pPr marL="2057400" indent="-228600">
              <a:tabLst>
                <a:tab pos="5992813" algn="l"/>
              </a:tabLst>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2200" u="sng" dirty="0">
                <a:latin typeface="Segoe UI Symbol" panose="020B0502040204020203" pitchFamily="34" charset="0"/>
              </a:rPr>
              <a:t>L</a:t>
            </a:r>
            <a:r>
              <a:rPr lang="en-US" altLang="en-US" sz="2200" u="sng" dirty="0" smtClean="0">
                <a:latin typeface="Segoe UI Symbol" panose="020B0502040204020203" pitchFamily="34" charset="0"/>
              </a:rPr>
              <a:t>es </a:t>
            </a:r>
            <a:r>
              <a:rPr lang="fr-FR" altLang="en-US" sz="2200" u="sng" dirty="0" smtClean="0">
                <a:latin typeface="Segoe UI Symbol" panose="020B0502040204020203" pitchFamily="34" charset="0"/>
              </a:rPr>
              <a:t>collections-</a:t>
            </a:r>
            <a:r>
              <a:rPr lang="fr-FR" altLang="en-US" sz="2200" u="sng" dirty="0" err="1" smtClean="0">
                <a:latin typeface="Segoe UI Symbol" panose="020B0502040204020203" pitchFamily="34" charset="0"/>
              </a:rPr>
              <a:t>TableView</a:t>
            </a:r>
            <a:r>
              <a:rPr lang="fr-FR" altLang="en-US" sz="2200" u="sng" dirty="0" smtClean="0">
                <a:latin typeface="Segoe UI Symbol" panose="020B0502040204020203" pitchFamily="34" charset="0"/>
              </a:rPr>
              <a:t> </a:t>
            </a:r>
          </a:p>
          <a:p>
            <a:pPr marL="438150" indent="-285750">
              <a:lnSpc>
                <a:spcPct val="150000"/>
              </a:lnSpc>
              <a:buFont typeface="Wingdings" panose="05000000000000000000" pitchFamily="2" charset="2"/>
              <a:buChar char="§"/>
            </a:pPr>
            <a:r>
              <a:rPr lang="fr-FR" dirty="0" smtClean="0">
                <a:latin typeface="Segoe UI" panose="020B0502040204020203" pitchFamily="34" charset="0"/>
                <a:cs typeface="Segoe UI" panose="020B0502040204020203" pitchFamily="34" charset="0"/>
              </a:rPr>
              <a:t>Les cellules qu’on pourra définir dans les sections de  </a:t>
            </a:r>
            <a:r>
              <a:rPr lang="fr-FR" b="1" dirty="0" smtClean="0">
                <a:latin typeface="Segoe UI" panose="020B0502040204020203" pitchFamily="34" charset="0"/>
                <a:cs typeface="Segoe UI" panose="020B0502040204020203" pitchFamily="34" charset="0"/>
              </a:rPr>
              <a:t>TableView</a:t>
            </a:r>
            <a:r>
              <a:rPr lang="fr-FR" dirty="0">
                <a:latin typeface="Segoe UI" panose="020B0502040204020203" pitchFamily="34" charset="0"/>
                <a:cs typeface="Segoe UI" panose="020B0502040204020203" pitchFamily="34" charset="0"/>
              </a:rPr>
              <a:t> </a:t>
            </a:r>
            <a:r>
              <a:rPr lang="fr-FR" dirty="0" smtClean="0">
                <a:latin typeface="Segoe UI" panose="020B0502040204020203" pitchFamily="34" charset="0"/>
                <a:cs typeface="Segoe UI" panose="020B0502040204020203" pitchFamily="34" charset="0"/>
              </a:rPr>
              <a:t>sont</a:t>
            </a:r>
          </a:p>
          <a:p>
            <a:pPr marL="438150" indent="-285750">
              <a:lnSpc>
                <a:spcPct val="150000"/>
              </a:lnSpc>
              <a:buFont typeface="Wingdings" panose="05000000000000000000" pitchFamily="2" charset="2"/>
              <a:buChar char="§"/>
            </a:pPr>
            <a:endParaRPr lang="fr-FR" dirty="0">
              <a:latin typeface="Segoe UI" panose="020B0502040204020203" pitchFamily="34" charset="0"/>
              <a:cs typeface="Segoe UI" panose="020B0502040204020203" pitchFamily="34" charset="0"/>
            </a:endParaRPr>
          </a:p>
          <a:p>
            <a:pPr marL="865188" lvl="1" indent="-285750">
              <a:lnSpc>
                <a:spcPct val="150000"/>
              </a:lnSpc>
              <a:buFont typeface="Wingdings" panose="05000000000000000000" pitchFamily="2" charset="2"/>
              <a:buChar char="§"/>
            </a:pPr>
            <a:r>
              <a:rPr lang="fr-FR" b="1" dirty="0" err="1" smtClean="0">
                <a:latin typeface="Segoe UI" panose="020B0502040204020203" pitchFamily="34" charset="0"/>
                <a:cs typeface="Segoe UI" panose="020B0502040204020203" pitchFamily="34" charset="0"/>
              </a:rPr>
              <a:t>TextCell</a:t>
            </a:r>
            <a:r>
              <a:rPr lang="fr-FR" dirty="0" smtClean="0">
                <a:latin typeface="Segoe UI" panose="020B0502040204020203" pitchFamily="34" charset="0"/>
                <a:cs typeface="Segoe UI" panose="020B0502040204020203" pitchFamily="34" charset="0"/>
              </a:rPr>
              <a:t>: </a:t>
            </a:r>
            <a:r>
              <a:rPr lang="fr-FR" dirty="0">
                <a:latin typeface="Segoe UI" panose="020B0502040204020203" pitchFamily="34" charset="0"/>
                <a:cs typeface="Segoe UI" panose="020B0502040204020203" pitchFamily="34" charset="0"/>
              </a:rPr>
              <a:t>qui affiche le texte principal et secondaire sur des lignes distinctes.</a:t>
            </a:r>
          </a:p>
          <a:p>
            <a:pPr marL="865188" lvl="1" indent="-285750">
              <a:lnSpc>
                <a:spcPct val="150000"/>
              </a:lnSpc>
              <a:buFont typeface="Wingdings" panose="05000000000000000000" pitchFamily="2" charset="2"/>
              <a:buChar char="§"/>
            </a:pPr>
            <a:r>
              <a:rPr lang="fr-FR" b="1" dirty="0" err="1" smtClean="0">
                <a:latin typeface="Segoe UI" panose="020B0502040204020203" pitchFamily="34" charset="0"/>
                <a:cs typeface="Segoe UI" panose="020B0502040204020203" pitchFamily="34" charset="0"/>
              </a:rPr>
              <a:t>ImageCell</a:t>
            </a:r>
            <a:r>
              <a:rPr lang="fr-FR" dirty="0" smtClean="0">
                <a:latin typeface="Segoe UI" panose="020B0502040204020203" pitchFamily="34" charset="0"/>
                <a:cs typeface="Segoe UI" panose="020B0502040204020203" pitchFamily="34" charset="0"/>
              </a:rPr>
              <a:t>: </a:t>
            </a:r>
            <a:r>
              <a:rPr lang="fr-FR" dirty="0">
                <a:latin typeface="Segoe UI" panose="020B0502040204020203" pitchFamily="34" charset="0"/>
                <a:cs typeface="Segoe UI" panose="020B0502040204020203" pitchFamily="34" charset="0"/>
              </a:rPr>
              <a:t>qui affiche une image avec du texte principal et secondaire sur des lignes distinctes.</a:t>
            </a:r>
          </a:p>
          <a:p>
            <a:pPr marL="865188" lvl="1" indent="-285750">
              <a:lnSpc>
                <a:spcPct val="150000"/>
              </a:lnSpc>
              <a:buFont typeface="Wingdings" panose="05000000000000000000" pitchFamily="2" charset="2"/>
              <a:buChar char="§"/>
            </a:pPr>
            <a:r>
              <a:rPr lang="fr-FR" b="1" dirty="0" err="1" smtClean="0">
                <a:latin typeface="Segoe UI" panose="020B0502040204020203" pitchFamily="34" charset="0"/>
                <a:cs typeface="Segoe UI" panose="020B0502040204020203" pitchFamily="34" charset="0"/>
              </a:rPr>
              <a:t>SwitchCell</a:t>
            </a:r>
            <a:r>
              <a:rPr lang="fr-FR" dirty="0" smtClean="0">
                <a:latin typeface="Segoe UI" panose="020B0502040204020203" pitchFamily="34" charset="0"/>
                <a:cs typeface="Segoe UI" panose="020B0502040204020203" pitchFamily="34" charset="0"/>
              </a:rPr>
              <a:t>: </a:t>
            </a:r>
            <a:r>
              <a:rPr lang="fr-FR" dirty="0">
                <a:latin typeface="Segoe UI" panose="020B0502040204020203" pitchFamily="34" charset="0"/>
                <a:cs typeface="Segoe UI" panose="020B0502040204020203" pitchFamily="34" charset="0"/>
              </a:rPr>
              <a:t>qui affiche du texte et un commutateur qui peut être activé ou désactivé.</a:t>
            </a:r>
          </a:p>
          <a:p>
            <a:pPr marL="865188" lvl="1" indent="-285750">
              <a:lnSpc>
                <a:spcPct val="150000"/>
              </a:lnSpc>
              <a:buFont typeface="Wingdings" panose="05000000000000000000" pitchFamily="2" charset="2"/>
              <a:buChar char="§"/>
            </a:pPr>
            <a:r>
              <a:rPr lang="fr-FR" b="1" dirty="0" err="1" smtClean="0">
                <a:latin typeface="Segoe UI" panose="020B0502040204020203" pitchFamily="34" charset="0"/>
                <a:cs typeface="Segoe UI" panose="020B0502040204020203" pitchFamily="34" charset="0"/>
              </a:rPr>
              <a:t>EntryCell</a:t>
            </a:r>
            <a:r>
              <a:rPr lang="fr-FR" dirty="0" smtClean="0">
                <a:latin typeface="Segoe UI" panose="020B0502040204020203" pitchFamily="34" charset="0"/>
                <a:cs typeface="Segoe UI" panose="020B0502040204020203" pitchFamily="34" charset="0"/>
              </a:rPr>
              <a:t>: </a:t>
            </a:r>
            <a:r>
              <a:rPr lang="fr-FR" dirty="0">
                <a:latin typeface="Segoe UI" panose="020B0502040204020203" pitchFamily="34" charset="0"/>
                <a:cs typeface="Segoe UI" panose="020B0502040204020203" pitchFamily="34" charset="0"/>
              </a:rPr>
              <a:t>qui affiche une étiquette et du texte modifiables.</a:t>
            </a:r>
          </a:p>
          <a:p>
            <a:pPr marL="865188" lvl="1" indent="-285750">
              <a:lnSpc>
                <a:spcPct val="150000"/>
              </a:lnSpc>
              <a:buFont typeface="Wingdings" panose="05000000000000000000" pitchFamily="2" charset="2"/>
              <a:buChar char="§"/>
            </a:pPr>
            <a:r>
              <a:rPr lang="fr-FR" b="1" dirty="0" err="1" smtClean="0">
                <a:latin typeface="Segoe UI" panose="020B0502040204020203" pitchFamily="34" charset="0"/>
                <a:cs typeface="Segoe UI" panose="020B0502040204020203" pitchFamily="34" charset="0"/>
              </a:rPr>
              <a:t>ViewCell</a:t>
            </a:r>
            <a:r>
              <a:rPr lang="fr-FR" dirty="0" smtClean="0">
                <a:latin typeface="Segoe UI" panose="020B0502040204020203" pitchFamily="34" charset="0"/>
                <a:cs typeface="Segoe UI" panose="020B0502040204020203" pitchFamily="34" charset="0"/>
              </a:rPr>
              <a:t>: </a:t>
            </a:r>
            <a:r>
              <a:rPr lang="fr-FR" dirty="0">
                <a:latin typeface="Segoe UI" panose="020B0502040204020203" pitchFamily="34" charset="0"/>
                <a:cs typeface="Segoe UI" panose="020B0502040204020203" pitchFamily="34" charset="0"/>
              </a:rPr>
              <a:t>qui est une cellule personnalisée dont l’apparence est définie par un View. Ce type de cellule doit être utilisé lorsque vous souhaitez définir entièrement l’apparence de chaque élément dans un TableView.</a:t>
            </a:r>
          </a:p>
        </p:txBody>
      </p:sp>
    </p:spTree>
    <p:extLst>
      <p:ext uri="{BB962C8B-B14F-4D97-AF65-F5344CB8AC3E}">
        <p14:creationId xmlns:p14="http://schemas.microsoft.com/office/powerpoint/2010/main" val="24599532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8"/>
          <p:cNvSpPr txBox="1">
            <a:spLocks noChangeArrowheads="1"/>
          </p:cNvSpPr>
          <p:nvPr/>
        </p:nvSpPr>
        <p:spPr bwMode="auto">
          <a:xfrm>
            <a:off x="386215" y="603327"/>
            <a:ext cx="11475048" cy="4909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152400">
              <a:tabLst>
                <a:tab pos="5992813" algn="l"/>
              </a:tabLst>
              <a:defRPr>
                <a:solidFill>
                  <a:schemeClr val="tx1"/>
                </a:solidFill>
                <a:latin typeface="Calibri" panose="020F0502020204030204" pitchFamily="34" charset="0"/>
                <a:cs typeface="Arial" panose="020B0604020202020204" pitchFamily="34" charset="0"/>
              </a:defRPr>
            </a:lvl1pPr>
            <a:lvl2pPr marL="579438" indent="-242888">
              <a:tabLst>
                <a:tab pos="5992813" algn="l"/>
              </a:tabLst>
              <a:defRPr>
                <a:solidFill>
                  <a:schemeClr val="tx1"/>
                </a:solidFill>
                <a:latin typeface="Calibri" panose="020F0502020204030204" pitchFamily="34" charset="0"/>
                <a:cs typeface="Arial" panose="020B0604020202020204" pitchFamily="34" charset="0"/>
              </a:defRPr>
            </a:lvl2pPr>
            <a:lvl3pPr marL="1143000" indent="-228600">
              <a:tabLst>
                <a:tab pos="5992813" algn="l"/>
              </a:tabLst>
              <a:defRPr>
                <a:solidFill>
                  <a:schemeClr val="tx1"/>
                </a:solidFill>
                <a:latin typeface="Calibri" panose="020F0502020204030204" pitchFamily="34" charset="0"/>
                <a:cs typeface="Arial" panose="020B0604020202020204" pitchFamily="34" charset="0"/>
              </a:defRPr>
            </a:lvl3pPr>
            <a:lvl4pPr marL="1600200" indent="-228600">
              <a:tabLst>
                <a:tab pos="5992813" algn="l"/>
              </a:tabLst>
              <a:defRPr>
                <a:solidFill>
                  <a:schemeClr val="tx1"/>
                </a:solidFill>
                <a:latin typeface="Calibri" panose="020F0502020204030204" pitchFamily="34" charset="0"/>
                <a:cs typeface="Arial" panose="020B0604020202020204" pitchFamily="34" charset="0"/>
              </a:defRPr>
            </a:lvl4pPr>
            <a:lvl5pPr marL="2057400" indent="-228600">
              <a:tabLst>
                <a:tab pos="5992813" algn="l"/>
              </a:tabLst>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2200" u="sng" dirty="0">
                <a:latin typeface="Segoe UI Symbol" panose="020B0502040204020203" pitchFamily="34" charset="0"/>
              </a:rPr>
              <a:t>L</a:t>
            </a:r>
            <a:r>
              <a:rPr lang="en-US" altLang="en-US" sz="2200" u="sng" dirty="0" smtClean="0">
                <a:latin typeface="Segoe UI Symbol" panose="020B0502040204020203" pitchFamily="34" charset="0"/>
              </a:rPr>
              <a:t>es </a:t>
            </a:r>
            <a:r>
              <a:rPr lang="fr-FR" altLang="en-US" sz="2200" u="sng" dirty="0" smtClean="0">
                <a:latin typeface="Segoe UI Symbol" panose="020B0502040204020203" pitchFamily="34" charset="0"/>
              </a:rPr>
              <a:t>collections-</a:t>
            </a:r>
            <a:r>
              <a:rPr lang="fr-FR" altLang="en-US" sz="2200" u="sng" dirty="0" err="1" smtClean="0">
                <a:latin typeface="Segoe UI Symbol" panose="020B0502040204020203" pitchFamily="34" charset="0"/>
              </a:rPr>
              <a:t>Picker</a:t>
            </a:r>
            <a:r>
              <a:rPr lang="fr-FR" altLang="en-US" sz="2200" u="sng" dirty="0" smtClean="0">
                <a:latin typeface="Segoe UI Symbol" panose="020B0502040204020203" pitchFamily="34" charset="0"/>
              </a:rPr>
              <a:t> </a:t>
            </a:r>
          </a:p>
          <a:p>
            <a:pPr marL="438150" indent="-285750">
              <a:lnSpc>
                <a:spcPct val="150000"/>
              </a:lnSpc>
              <a:buFont typeface="Wingdings" panose="05000000000000000000" pitchFamily="2" charset="2"/>
              <a:buChar char="§"/>
            </a:pPr>
            <a:r>
              <a:rPr lang="fr-FR" dirty="0" smtClean="0">
                <a:latin typeface="Segoe UI" panose="020B0502040204020203" pitchFamily="34" charset="0"/>
                <a:cs typeface="Segoe UI" panose="020B0502040204020203" pitchFamily="34" charset="0"/>
              </a:rPr>
              <a:t>Un contrôle </a:t>
            </a:r>
            <a:r>
              <a:rPr lang="fr-FR" dirty="0">
                <a:latin typeface="Segoe UI" panose="020B0502040204020203" pitchFamily="34" charset="0"/>
                <a:cs typeface="Segoe UI" panose="020B0502040204020203" pitchFamily="34" charset="0"/>
              </a:rPr>
              <a:t> </a:t>
            </a:r>
            <a:r>
              <a:rPr lang="fr-FR" b="1" dirty="0" err="1">
                <a:latin typeface="Segoe UI" panose="020B0502040204020203" pitchFamily="34" charset="0"/>
                <a:cs typeface="Segoe UI" panose="020B0502040204020203" pitchFamily="34" charset="0"/>
              </a:rPr>
              <a:t>Picker</a:t>
            </a:r>
            <a:r>
              <a:rPr lang="fr-FR" dirty="0">
                <a:latin typeface="Segoe UI" panose="020B0502040204020203" pitchFamily="34" charset="0"/>
                <a:cs typeface="Segoe UI" panose="020B0502040204020203" pitchFamily="34" charset="0"/>
              </a:rPr>
              <a:t> affiche une courte liste d’éléments à partir desquelles l’utilisateur peut sélectionner </a:t>
            </a:r>
            <a:r>
              <a:rPr lang="fr-FR" dirty="0" smtClean="0">
                <a:latin typeface="Segoe UI" panose="020B0502040204020203" pitchFamily="34" charset="0"/>
                <a:cs typeface="Segoe UI" panose="020B0502040204020203" pitchFamily="34" charset="0"/>
              </a:rPr>
              <a:t>un élément</a:t>
            </a:r>
          </a:p>
          <a:p>
            <a:pPr marL="438150" indent="-285750">
              <a:lnSpc>
                <a:spcPct val="150000"/>
              </a:lnSpc>
              <a:buFont typeface="Wingdings" panose="05000000000000000000" pitchFamily="2" charset="2"/>
              <a:buChar char="§"/>
            </a:pPr>
            <a:r>
              <a:rPr lang="fr-FR" dirty="0" smtClean="0">
                <a:latin typeface="Segoe UI" panose="020B0502040204020203" pitchFamily="34" charset="0"/>
                <a:cs typeface="Segoe UI" panose="020B0502040204020203" pitchFamily="34" charset="0"/>
              </a:rPr>
              <a:t>Le contrôle </a:t>
            </a:r>
            <a:r>
              <a:rPr lang="fr-FR" b="1" dirty="0" err="1" smtClean="0">
                <a:latin typeface="Segoe UI" panose="020B0502040204020203" pitchFamily="34" charset="0"/>
                <a:cs typeface="Segoe UI" panose="020B0502040204020203" pitchFamily="34" charset="0"/>
              </a:rPr>
              <a:t>Picker</a:t>
            </a:r>
            <a:r>
              <a:rPr lang="fr-FR" dirty="0">
                <a:latin typeface="Segoe UI" panose="020B0502040204020203" pitchFamily="34" charset="0"/>
                <a:cs typeface="Segoe UI" panose="020B0502040204020203" pitchFamily="34" charset="0"/>
              </a:rPr>
              <a:t> définit les </a:t>
            </a:r>
            <a:r>
              <a:rPr lang="fr-FR" dirty="0" smtClean="0">
                <a:latin typeface="Segoe UI" panose="020B0502040204020203" pitchFamily="34" charset="0"/>
                <a:cs typeface="Segoe UI" panose="020B0502040204020203" pitchFamily="34" charset="0"/>
              </a:rPr>
              <a:t>propriétés communes suivantes:</a:t>
            </a:r>
          </a:p>
          <a:p>
            <a:pPr marL="865188" lvl="1" indent="-285750">
              <a:lnSpc>
                <a:spcPct val="150000"/>
              </a:lnSpc>
              <a:buFont typeface="Wingdings" panose="05000000000000000000" pitchFamily="2" charset="2"/>
              <a:buChar char="§"/>
            </a:pPr>
            <a:r>
              <a:rPr lang="fr-FR" b="1" dirty="0" err="1" smtClean="0">
                <a:latin typeface="Segoe UI" panose="020B0502040204020203" pitchFamily="34" charset="0"/>
                <a:cs typeface="Segoe UI" panose="020B0502040204020203" pitchFamily="34" charset="0"/>
              </a:rPr>
              <a:t>Title</a:t>
            </a:r>
            <a:r>
              <a:rPr lang="fr-FR" dirty="0" smtClean="0">
                <a:latin typeface="Segoe UI" panose="020B0502040204020203" pitchFamily="34" charset="0"/>
                <a:cs typeface="Segoe UI" panose="020B0502040204020203" pitchFamily="34" charset="0"/>
              </a:rPr>
              <a:t>: Le titre du </a:t>
            </a:r>
            <a:r>
              <a:rPr lang="fr-FR" b="1" dirty="0" err="1" smtClean="0">
                <a:latin typeface="Segoe UI" panose="020B0502040204020203" pitchFamily="34" charset="0"/>
                <a:cs typeface="Segoe UI" panose="020B0502040204020203" pitchFamily="34" charset="0"/>
              </a:rPr>
              <a:t>Picker</a:t>
            </a:r>
            <a:r>
              <a:rPr lang="fr-FR" dirty="0" smtClean="0">
                <a:latin typeface="Segoe UI" panose="020B0502040204020203" pitchFamily="34" charset="0"/>
                <a:cs typeface="Segoe UI" panose="020B0502040204020203" pitchFamily="34" charset="0"/>
              </a:rPr>
              <a:t>.</a:t>
            </a:r>
            <a:r>
              <a:rPr lang="fr-FR" b="1" dirty="0" smtClean="0">
                <a:latin typeface="Segoe UI" panose="020B0502040204020203" pitchFamily="34" charset="0"/>
                <a:cs typeface="Segoe UI" panose="020B0502040204020203" pitchFamily="34" charset="0"/>
              </a:rPr>
              <a:t> </a:t>
            </a:r>
          </a:p>
          <a:p>
            <a:pPr marL="865188" lvl="1" indent="-285750">
              <a:lnSpc>
                <a:spcPct val="150000"/>
              </a:lnSpc>
              <a:buFont typeface="Wingdings" panose="05000000000000000000" pitchFamily="2" charset="2"/>
              <a:buChar char="§"/>
            </a:pPr>
            <a:r>
              <a:rPr lang="fr-FR" b="1" dirty="0" err="1" smtClean="0">
                <a:latin typeface="Segoe UI" panose="020B0502040204020203" pitchFamily="34" charset="0"/>
                <a:cs typeface="Segoe UI" panose="020B0502040204020203" pitchFamily="34" charset="0"/>
              </a:rPr>
              <a:t>SelectedIndex</a:t>
            </a:r>
            <a:r>
              <a:rPr lang="fr-FR" dirty="0" smtClean="0">
                <a:latin typeface="Segoe UI" panose="020B0502040204020203" pitchFamily="34" charset="0"/>
                <a:cs typeface="Segoe UI" panose="020B0502040204020203" pitchFamily="34" charset="0"/>
              </a:rPr>
              <a:t>: </a:t>
            </a:r>
            <a:r>
              <a:rPr lang="fr-FR" dirty="0">
                <a:latin typeface="Segoe UI" panose="020B0502040204020203" pitchFamily="34" charset="0"/>
                <a:cs typeface="Segoe UI" panose="020B0502040204020203" pitchFamily="34" charset="0"/>
              </a:rPr>
              <a:t>de type int, index de l’élément sélectionné, </a:t>
            </a:r>
            <a:endParaRPr lang="fr-FR" dirty="0" smtClean="0">
              <a:latin typeface="Segoe UI" panose="020B0502040204020203" pitchFamily="34" charset="0"/>
              <a:cs typeface="Segoe UI" panose="020B0502040204020203" pitchFamily="34" charset="0"/>
            </a:endParaRPr>
          </a:p>
          <a:p>
            <a:pPr lvl="1" indent="0">
              <a:lnSpc>
                <a:spcPct val="150000"/>
              </a:lnSpc>
            </a:pPr>
            <a:r>
              <a:rPr lang="fr-FR" dirty="0">
                <a:latin typeface="Segoe UI" panose="020B0502040204020203" pitchFamily="34" charset="0"/>
                <a:cs typeface="Segoe UI" panose="020B0502040204020203" pitchFamily="34" charset="0"/>
              </a:rPr>
              <a:t> </a:t>
            </a:r>
            <a:r>
              <a:rPr lang="fr-FR" dirty="0" smtClean="0">
                <a:latin typeface="Segoe UI" panose="020B0502040204020203" pitchFamily="34" charset="0"/>
                <a:cs typeface="Segoe UI" panose="020B0502040204020203" pitchFamily="34" charset="0"/>
              </a:rPr>
              <a:t>   qui </a:t>
            </a:r>
            <a:r>
              <a:rPr lang="fr-FR" dirty="0">
                <a:latin typeface="Segoe UI" panose="020B0502040204020203" pitchFamily="34" charset="0"/>
                <a:cs typeface="Segoe UI" panose="020B0502040204020203" pitchFamily="34" charset="0"/>
              </a:rPr>
              <a:t>a la valeur par défaut -1.</a:t>
            </a:r>
          </a:p>
          <a:p>
            <a:pPr marL="865188" lvl="1" indent="-285750">
              <a:lnSpc>
                <a:spcPct val="150000"/>
              </a:lnSpc>
              <a:buFont typeface="Wingdings" panose="05000000000000000000" pitchFamily="2" charset="2"/>
              <a:buChar char="§"/>
            </a:pPr>
            <a:r>
              <a:rPr lang="fr-FR" b="1" dirty="0" err="1" smtClean="0">
                <a:latin typeface="Segoe UI" panose="020B0502040204020203" pitchFamily="34" charset="0"/>
                <a:cs typeface="Segoe UI" panose="020B0502040204020203" pitchFamily="34" charset="0"/>
              </a:rPr>
              <a:t>SelectedItem</a:t>
            </a:r>
            <a:r>
              <a:rPr lang="fr-FR" dirty="0" smtClean="0">
                <a:latin typeface="Segoe UI" panose="020B0502040204020203" pitchFamily="34" charset="0"/>
                <a:cs typeface="Segoe UI" panose="020B0502040204020203" pitchFamily="34" charset="0"/>
              </a:rPr>
              <a:t>: </a:t>
            </a:r>
            <a:r>
              <a:rPr lang="fr-FR" dirty="0">
                <a:latin typeface="Segoe UI" panose="020B0502040204020203" pitchFamily="34" charset="0"/>
                <a:cs typeface="Segoe UI" panose="020B0502040204020203" pitchFamily="34" charset="0"/>
              </a:rPr>
              <a:t>de type object, l’élément sélectionné, </a:t>
            </a:r>
            <a:endParaRPr lang="fr-FR" dirty="0" smtClean="0">
              <a:latin typeface="Segoe UI" panose="020B0502040204020203" pitchFamily="34" charset="0"/>
              <a:cs typeface="Segoe UI" panose="020B0502040204020203" pitchFamily="34" charset="0"/>
            </a:endParaRPr>
          </a:p>
          <a:p>
            <a:pPr lvl="1" indent="0">
              <a:lnSpc>
                <a:spcPct val="150000"/>
              </a:lnSpc>
            </a:pPr>
            <a:r>
              <a:rPr lang="fr-FR" dirty="0">
                <a:latin typeface="Segoe UI" panose="020B0502040204020203" pitchFamily="34" charset="0"/>
                <a:cs typeface="Segoe UI" panose="020B0502040204020203" pitchFamily="34" charset="0"/>
              </a:rPr>
              <a:t> </a:t>
            </a:r>
            <a:r>
              <a:rPr lang="fr-FR" dirty="0" smtClean="0">
                <a:latin typeface="Segoe UI" panose="020B0502040204020203" pitchFamily="34" charset="0"/>
                <a:cs typeface="Segoe UI" panose="020B0502040204020203" pitchFamily="34" charset="0"/>
              </a:rPr>
              <a:t>    qui </a:t>
            </a:r>
            <a:r>
              <a:rPr lang="fr-FR" dirty="0">
                <a:latin typeface="Segoe UI" panose="020B0502040204020203" pitchFamily="34" charset="0"/>
                <a:cs typeface="Segoe UI" panose="020B0502040204020203" pitchFamily="34" charset="0"/>
              </a:rPr>
              <a:t>est défini par défaut sur null</a:t>
            </a:r>
            <a:r>
              <a:rPr lang="fr-FR" dirty="0" smtClean="0">
                <a:latin typeface="Segoe UI" panose="020B0502040204020203" pitchFamily="34" charset="0"/>
                <a:cs typeface="Segoe UI" panose="020B0502040204020203" pitchFamily="34" charset="0"/>
              </a:rPr>
              <a:t>.</a:t>
            </a:r>
          </a:p>
          <a:p>
            <a:pPr marL="865188" lvl="1" indent="-285750">
              <a:lnSpc>
                <a:spcPct val="150000"/>
              </a:lnSpc>
              <a:buFont typeface="Wingdings" panose="05000000000000000000" pitchFamily="2" charset="2"/>
              <a:buChar char="§"/>
            </a:pPr>
            <a:r>
              <a:rPr lang="fr-FR" b="1" dirty="0" err="1" smtClean="0">
                <a:latin typeface="Segoe UI" panose="020B0502040204020203" pitchFamily="34" charset="0"/>
                <a:cs typeface="Segoe UI" panose="020B0502040204020203" pitchFamily="34" charset="0"/>
              </a:rPr>
              <a:t>ItemDisplayBinding</a:t>
            </a:r>
            <a:r>
              <a:rPr lang="fr-FR" dirty="0" smtClean="0">
                <a:latin typeface="Segoe UI" panose="020B0502040204020203" pitchFamily="34" charset="0"/>
                <a:cs typeface="Segoe UI" panose="020B0502040204020203" pitchFamily="34" charset="0"/>
              </a:rPr>
              <a:t>: de type object, l’élément à afficher</a:t>
            </a:r>
          </a:p>
          <a:p>
            <a:pPr lvl="1" indent="0">
              <a:lnSpc>
                <a:spcPct val="150000"/>
              </a:lnSpc>
            </a:pPr>
            <a:r>
              <a:rPr lang="fr-FR" dirty="0">
                <a:latin typeface="Segoe UI" panose="020B0502040204020203" pitchFamily="34" charset="0"/>
                <a:cs typeface="Segoe UI" panose="020B0502040204020203" pitchFamily="34" charset="0"/>
              </a:rPr>
              <a:t> </a:t>
            </a:r>
            <a:r>
              <a:rPr lang="fr-FR" dirty="0" smtClean="0">
                <a:latin typeface="Segoe UI" panose="020B0502040204020203" pitchFamily="34" charset="0"/>
                <a:cs typeface="Segoe UI" panose="020B0502040204020203" pitchFamily="34" charset="0"/>
              </a:rPr>
              <a:t>   faisant partie d’un object composé</a:t>
            </a:r>
          </a:p>
          <a:p>
            <a:pPr lvl="1" indent="0">
              <a:lnSpc>
                <a:spcPct val="150000"/>
              </a:lnSpc>
            </a:pPr>
            <a:endParaRPr lang="fr-FR" dirty="0">
              <a:latin typeface="Segoe UI" panose="020B0502040204020203" pitchFamily="34" charset="0"/>
              <a:cs typeface="Segoe UI" panose="020B0502040204020203" pitchFamily="34" charset="0"/>
            </a:endParaRPr>
          </a:p>
        </p:txBody>
      </p:sp>
      <p:sp>
        <p:nvSpPr>
          <p:cNvPr id="5" name="Rectangle 4"/>
          <p:cNvSpPr/>
          <p:nvPr/>
        </p:nvSpPr>
        <p:spPr>
          <a:xfrm>
            <a:off x="7330046" y="1443944"/>
            <a:ext cx="4692383" cy="1754326"/>
          </a:xfrm>
          <a:prstGeom prst="rect">
            <a:avLst/>
          </a:prstGeom>
        </p:spPr>
        <p:txBody>
          <a:bodyPr wrap="square">
            <a:spAutoFit/>
          </a:bodyPr>
          <a:lstStyle/>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&lt;</a:t>
            </a:r>
            <a:r>
              <a:rPr lang="en-US" sz="1200" dirty="0">
                <a:solidFill>
                  <a:srgbClr val="A31515"/>
                </a:solidFill>
                <a:latin typeface="Cascadia Mono" panose="020B0609020000020004" pitchFamily="49" charset="0"/>
              </a:rPr>
              <a:t>Picker</a:t>
            </a:r>
            <a:r>
              <a:rPr lang="en-US" sz="1200" dirty="0">
                <a:solidFill>
                  <a:srgbClr val="FF0000"/>
                </a:solidFill>
                <a:latin typeface="Cascadia Mono" panose="020B0609020000020004" pitchFamily="49" charset="0"/>
              </a:rPr>
              <a:t> Title</a:t>
            </a:r>
            <a:r>
              <a:rPr lang="en-US" sz="1200" dirty="0">
                <a:solidFill>
                  <a:srgbClr val="0000FF"/>
                </a:solidFill>
                <a:latin typeface="Cascadia Mono" panose="020B0609020000020004" pitchFamily="49" charset="0"/>
              </a:rPr>
              <a:t>="Select a primitive color"&gt;</a:t>
            </a:r>
            <a:endParaRPr lang="en-US" sz="1200" dirty="0">
              <a:solidFill>
                <a:srgbClr val="000000"/>
              </a:solidFill>
              <a:latin typeface="Cascadia Mono" panose="020B0609020000020004" pitchFamily="49" charset="0"/>
            </a:endParaRPr>
          </a:p>
          <a:p>
            <a:r>
              <a:rPr lang="fr-FR" sz="1200" dirty="0">
                <a:solidFill>
                  <a:srgbClr val="000000"/>
                </a:solidFill>
                <a:latin typeface="Cascadia Mono" panose="020B0609020000020004" pitchFamily="49" charset="0"/>
              </a:rPr>
              <a:t>            </a:t>
            </a:r>
            <a:r>
              <a:rPr lang="fr-FR" sz="1200" dirty="0">
                <a:solidFill>
                  <a:srgbClr val="0000FF"/>
                </a:solidFill>
                <a:latin typeface="Cascadia Mono" panose="020B0609020000020004" pitchFamily="49" charset="0"/>
              </a:rPr>
              <a:t>&lt;</a:t>
            </a:r>
            <a:r>
              <a:rPr lang="fr-FR" sz="1200" dirty="0" err="1">
                <a:solidFill>
                  <a:srgbClr val="A31515"/>
                </a:solidFill>
                <a:latin typeface="Cascadia Mono" panose="020B0609020000020004" pitchFamily="49" charset="0"/>
              </a:rPr>
              <a:t>Picker.ItemsSource</a:t>
            </a:r>
            <a:r>
              <a:rPr lang="fr-FR" sz="1200" dirty="0">
                <a:solidFill>
                  <a:srgbClr val="0000FF"/>
                </a:solidFill>
                <a:latin typeface="Cascadia Mono" panose="020B0609020000020004" pitchFamily="49" charset="0"/>
              </a:rPr>
              <a:t>&gt;</a:t>
            </a:r>
            <a:endParaRPr lang="fr-FR" sz="1200" dirty="0">
              <a:solidFill>
                <a:srgbClr val="000000"/>
              </a:solidFill>
              <a:latin typeface="Cascadia Mono" panose="020B0609020000020004" pitchFamily="49" charset="0"/>
            </a:endParaRPr>
          </a:p>
          <a:p>
            <a:r>
              <a:rPr lang="fr-FR" sz="1200" dirty="0">
                <a:solidFill>
                  <a:srgbClr val="000000"/>
                </a:solidFill>
                <a:latin typeface="Cascadia Mono" panose="020B0609020000020004" pitchFamily="49" charset="0"/>
              </a:rPr>
              <a:t>                </a:t>
            </a:r>
            <a:r>
              <a:rPr lang="fr-FR" sz="1200" dirty="0">
                <a:solidFill>
                  <a:srgbClr val="0000FF"/>
                </a:solidFill>
                <a:latin typeface="Cascadia Mono" panose="020B0609020000020004" pitchFamily="49" charset="0"/>
              </a:rPr>
              <a:t>&lt;</a:t>
            </a:r>
            <a:r>
              <a:rPr lang="fr-FR" sz="1200" dirty="0" err="1">
                <a:solidFill>
                  <a:srgbClr val="A31515"/>
                </a:solidFill>
                <a:latin typeface="Cascadia Mono" panose="020B0609020000020004" pitchFamily="49" charset="0"/>
              </a:rPr>
              <a:t>x</a:t>
            </a:r>
            <a:r>
              <a:rPr lang="fr-FR" sz="1200" dirty="0" err="1">
                <a:solidFill>
                  <a:srgbClr val="0000FF"/>
                </a:solidFill>
                <a:latin typeface="Cascadia Mono" panose="020B0609020000020004" pitchFamily="49" charset="0"/>
              </a:rPr>
              <a:t>:</a:t>
            </a:r>
            <a:r>
              <a:rPr lang="fr-FR" sz="1200" dirty="0" err="1">
                <a:solidFill>
                  <a:srgbClr val="A31515"/>
                </a:solidFill>
                <a:latin typeface="Cascadia Mono" panose="020B0609020000020004" pitchFamily="49" charset="0"/>
              </a:rPr>
              <a:t>Array</a:t>
            </a:r>
            <a:r>
              <a:rPr lang="fr-FR" sz="1200" dirty="0">
                <a:solidFill>
                  <a:srgbClr val="FF0000"/>
                </a:solidFill>
                <a:latin typeface="Cascadia Mono" panose="020B0609020000020004" pitchFamily="49" charset="0"/>
              </a:rPr>
              <a:t> Type</a:t>
            </a:r>
            <a:r>
              <a:rPr lang="fr-FR" sz="1200" dirty="0">
                <a:solidFill>
                  <a:srgbClr val="0000FF"/>
                </a:solidFill>
                <a:latin typeface="Cascadia Mono" panose="020B0609020000020004" pitchFamily="49" charset="0"/>
              </a:rPr>
              <a:t>="{</a:t>
            </a:r>
            <a:r>
              <a:rPr lang="fr-FR" sz="1200" dirty="0">
                <a:solidFill>
                  <a:srgbClr val="A31515"/>
                </a:solidFill>
                <a:latin typeface="Cascadia Mono" panose="020B0609020000020004" pitchFamily="49" charset="0"/>
              </a:rPr>
              <a:t>Type</a:t>
            </a:r>
            <a:r>
              <a:rPr lang="fr-FR" sz="1200" dirty="0">
                <a:solidFill>
                  <a:srgbClr val="FF0000"/>
                </a:solidFill>
                <a:latin typeface="Cascadia Mono" panose="020B0609020000020004" pitchFamily="49" charset="0"/>
              </a:rPr>
              <a:t> x</a:t>
            </a:r>
            <a:r>
              <a:rPr lang="fr-FR" sz="1200" dirty="0">
                <a:solidFill>
                  <a:srgbClr val="0000FF"/>
                </a:solidFill>
                <a:latin typeface="Cascadia Mono" panose="020B0609020000020004" pitchFamily="49" charset="0"/>
              </a:rPr>
              <a:t>:</a:t>
            </a:r>
            <a:r>
              <a:rPr lang="fr-FR" sz="1200" dirty="0">
                <a:solidFill>
                  <a:srgbClr val="FF0000"/>
                </a:solidFill>
                <a:latin typeface="Cascadia Mono" panose="020B0609020000020004" pitchFamily="49" charset="0"/>
              </a:rPr>
              <a:t>String</a:t>
            </a:r>
            <a:r>
              <a:rPr lang="fr-FR" sz="1200" dirty="0">
                <a:solidFill>
                  <a:srgbClr val="0000FF"/>
                </a:solidFill>
                <a:latin typeface="Cascadia Mono" panose="020B0609020000020004" pitchFamily="49" charset="0"/>
              </a:rPr>
              <a:t>}"&gt;</a:t>
            </a:r>
            <a:endParaRPr lang="fr-FR" sz="1200" dirty="0">
              <a:solidFill>
                <a:srgbClr val="000000"/>
              </a:solidFill>
              <a:latin typeface="Cascadia Mono" panose="020B0609020000020004" pitchFamily="49" charset="0"/>
            </a:endParaRPr>
          </a:p>
          <a:p>
            <a:r>
              <a:rPr lang="fr-FR" sz="1200" dirty="0">
                <a:solidFill>
                  <a:srgbClr val="000000"/>
                </a:solidFill>
                <a:latin typeface="Cascadia Mono" panose="020B0609020000020004" pitchFamily="49" charset="0"/>
              </a:rPr>
              <a:t>                    </a:t>
            </a:r>
            <a:r>
              <a:rPr lang="fr-FR" sz="1200" dirty="0">
                <a:solidFill>
                  <a:srgbClr val="0000FF"/>
                </a:solidFill>
                <a:latin typeface="Cascadia Mono" panose="020B0609020000020004" pitchFamily="49" charset="0"/>
              </a:rPr>
              <a:t>&lt;</a:t>
            </a:r>
            <a:r>
              <a:rPr lang="fr-FR" sz="1200" dirty="0" err="1">
                <a:solidFill>
                  <a:srgbClr val="A31515"/>
                </a:solidFill>
                <a:latin typeface="Cascadia Mono" panose="020B0609020000020004" pitchFamily="49" charset="0"/>
              </a:rPr>
              <a:t>x</a:t>
            </a:r>
            <a:r>
              <a:rPr lang="fr-FR" sz="1200" dirty="0" err="1">
                <a:solidFill>
                  <a:srgbClr val="0000FF"/>
                </a:solidFill>
                <a:latin typeface="Cascadia Mono" panose="020B0609020000020004" pitchFamily="49" charset="0"/>
              </a:rPr>
              <a:t>:</a:t>
            </a:r>
            <a:r>
              <a:rPr lang="fr-FR" sz="1200" dirty="0" err="1">
                <a:solidFill>
                  <a:srgbClr val="A31515"/>
                </a:solidFill>
                <a:latin typeface="Cascadia Mono" panose="020B0609020000020004" pitchFamily="49" charset="0"/>
              </a:rPr>
              <a:t>String</a:t>
            </a:r>
            <a:r>
              <a:rPr lang="fr-FR" sz="1200" dirty="0">
                <a:solidFill>
                  <a:srgbClr val="0000FF"/>
                </a:solidFill>
                <a:latin typeface="Cascadia Mono" panose="020B0609020000020004" pitchFamily="49" charset="0"/>
              </a:rPr>
              <a:t>&gt;</a:t>
            </a:r>
            <a:r>
              <a:rPr lang="fr-FR" sz="1200" dirty="0">
                <a:solidFill>
                  <a:srgbClr val="000000"/>
                </a:solidFill>
                <a:latin typeface="Cascadia Mono" panose="020B0609020000020004" pitchFamily="49" charset="0"/>
              </a:rPr>
              <a:t>Red</a:t>
            </a:r>
            <a:r>
              <a:rPr lang="fr-FR" sz="1200" dirty="0">
                <a:solidFill>
                  <a:srgbClr val="0000FF"/>
                </a:solidFill>
                <a:latin typeface="Cascadia Mono" panose="020B0609020000020004" pitchFamily="49" charset="0"/>
              </a:rPr>
              <a:t>&lt;/</a:t>
            </a:r>
            <a:r>
              <a:rPr lang="fr-FR" sz="1200" dirty="0" err="1">
                <a:solidFill>
                  <a:srgbClr val="A31515"/>
                </a:solidFill>
                <a:latin typeface="Cascadia Mono" panose="020B0609020000020004" pitchFamily="49" charset="0"/>
              </a:rPr>
              <a:t>x</a:t>
            </a:r>
            <a:r>
              <a:rPr lang="fr-FR" sz="1200" dirty="0" err="1">
                <a:solidFill>
                  <a:srgbClr val="0000FF"/>
                </a:solidFill>
                <a:latin typeface="Cascadia Mono" panose="020B0609020000020004" pitchFamily="49" charset="0"/>
              </a:rPr>
              <a:t>:</a:t>
            </a:r>
            <a:r>
              <a:rPr lang="fr-FR" sz="1200" dirty="0" err="1">
                <a:solidFill>
                  <a:srgbClr val="A31515"/>
                </a:solidFill>
                <a:latin typeface="Cascadia Mono" panose="020B0609020000020004" pitchFamily="49" charset="0"/>
              </a:rPr>
              <a:t>String</a:t>
            </a:r>
            <a:r>
              <a:rPr lang="fr-FR" sz="1200" dirty="0">
                <a:solidFill>
                  <a:srgbClr val="0000FF"/>
                </a:solidFill>
                <a:latin typeface="Cascadia Mono" panose="020B0609020000020004" pitchFamily="49" charset="0"/>
              </a:rPr>
              <a:t>&gt;</a:t>
            </a:r>
            <a:endParaRPr lang="fr-FR" sz="1200" dirty="0">
              <a:solidFill>
                <a:srgbClr val="000000"/>
              </a:solidFill>
              <a:latin typeface="Cascadia Mono" panose="020B0609020000020004" pitchFamily="49" charset="0"/>
            </a:endParaRPr>
          </a:p>
          <a:p>
            <a:r>
              <a:rPr lang="fr-FR" sz="1200" dirty="0">
                <a:solidFill>
                  <a:srgbClr val="000000"/>
                </a:solidFill>
                <a:latin typeface="Cascadia Mono" panose="020B0609020000020004" pitchFamily="49" charset="0"/>
              </a:rPr>
              <a:t>                    </a:t>
            </a:r>
            <a:r>
              <a:rPr lang="fr-FR" sz="1200" dirty="0">
                <a:solidFill>
                  <a:srgbClr val="0000FF"/>
                </a:solidFill>
                <a:latin typeface="Cascadia Mono" panose="020B0609020000020004" pitchFamily="49" charset="0"/>
              </a:rPr>
              <a:t>&lt;</a:t>
            </a:r>
            <a:r>
              <a:rPr lang="fr-FR" sz="1200" dirty="0" err="1">
                <a:solidFill>
                  <a:srgbClr val="A31515"/>
                </a:solidFill>
                <a:latin typeface="Cascadia Mono" panose="020B0609020000020004" pitchFamily="49" charset="0"/>
              </a:rPr>
              <a:t>x</a:t>
            </a:r>
            <a:r>
              <a:rPr lang="fr-FR" sz="1200" dirty="0" err="1">
                <a:solidFill>
                  <a:srgbClr val="0000FF"/>
                </a:solidFill>
                <a:latin typeface="Cascadia Mono" panose="020B0609020000020004" pitchFamily="49" charset="0"/>
              </a:rPr>
              <a:t>:</a:t>
            </a:r>
            <a:r>
              <a:rPr lang="fr-FR" sz="1200" dirty="0" err="1">
                <a:solidFill>
                  <a:srgbClr val="A31515"/>
                </a:solidFill>
                <a:latin typeface="Cascadia Mono" panose="020B0609020000020004" pitchFamily="49" charset="0"/>
              </a:rPr>
              <a:t>String</a:t>
            </a:r>
            <a:r>
              <a:rPr lang="fr-FR" sz="1200" dirty="0">
                <a:solidFill>
                  <a:srgbClr val="0000FF"/>
                </a:solidFill>
                <a:latin typeface="Cascadia Mono" panose="020B0609020000020004" pitchFamily="49" charset="0"/>
              </a:rPr>
              <a:t>&gt;</a:t>
            </a:r>
            <a:r>
              <a:rPr lang="fr-FR" sz="1200" dirty="0">
                <a:solidFill>
                  <a:srgbClr val="000000"/>
                </a:solidFill>
                <a:latin typeface="Cascadia Mono" panose="020B0609020000020004" pitchFamily="49" charset="0"/>
              </a:rPr>
              <a:t>Green</a:t>
            </a:r>
            <a:r>
              <a:rPr lang="fr-FR" sz="1200" dirty="0">
                <a:solidFill>
                  <a:srgbClr val="0000FF"/>
                </a:solidFill>
                <a:latin typeface="Cascadia Mono" panose="020B0609020000020004" pitchFamily="49" charset="0"/>
              </a:rPr>
              <a:t>&lt;/</a:t>
            </a:r>
            <a:r>
              <a:rPr lang="fr-FR" sz="1200" dirty="0" err="1">
                <a:solidFill>
                  <a:srgbClr val="A31515"/>
                </a:solidFill>
                <a:latin typeface="Cascadia Mono" panose="020B0609020000020004" pitchFamily="49" charset="0"/>
              </a:rPr>
              <a:t>x</a:t>
            </a:r>
            <a:r>
              <a:rPr lang="fr-FR" sz="1200" dirty="0" err="1">
                <a:solidFill>
                  <a:srgbClr val="0000FF"/>
                </a:solidFill>
                <a:latin typeface="Cascadia Mono" panose="020B0609020000020004" pitchFamily="49" charset="0"/>
              </a:rPr>
              <a:t>:</a:t>
            </a:r>
            <a:r>
              <a:rPr lang="fr-FR" sz="1200" dirty="0" err="1">
                <a:solidFill>
                  <a:srgbClr val="A31515"/>
                </a:solidFill>
                <a:latin typeface="Cascadia Mono" panose="020B0609020000020004" pitchFamily="49" charset="0"/>
              </a:rPr>
              <a:t>String</a:t>
            </a:r>
            <a:r>
              <a:rPr lang="fr-FR" sz="1200" dirty="0">
                <a:solidFill>
                  <a:srgbClr val="0000FF"/>
                </a:solidFill>
                <a:latin typeface="Cascadia Mono" panose="020B0609020000020004" pitchFamily="49" charset="0"/>
              </a:rPr>
              <a:t>&gt;</a:t>
            </a:r>
            <a:endParaRPr lang="fr-FR" sz="1200" dirty="0">
              <a:solidFill>
                <a:srgbClr val="000000"/>
              </a:solidFill>
              <a:latin typeface="Cascadia Mono" panose="020B0609020000020004" pitchFamily="49" charset="0"/>
            </a:endParaRPr>
          </a:p>
          <a:p>
            <a:r>
              <a:rPr lang="fr-FR" sz="1200" dirty="0">
                <a:solidFill>
                  <a:srgbClr val="000000"/>
                </a:solidFill>
                <a:latin typeface="Cascadia Mono" panose="020B0609020000020004" pitchFamily="49" charset="0"/>
              </a:rPr>
              <a:t>                    </a:t>
            </a:r>
            <a:r>
              <a:rPr lang="fr-FR" sz="1200" dirty="0">
                <a:solidFill>
                  <a:srgbClr val="0000FF"/>
                </a:solidFill>
                <a:latin typeface="Cascadia Mono" panose="020B0609020000020004" pitchFamily="49" charset="0"/>
              </a:rPr>
              <a:t>&lt;</a:t>
            </a:r>
            <a:r>
              <a:rPr lang="fr-FR" sz="1200" dirty="0" err="1">
                <a:solidFill>
                  <a:srgbClr val="A31515"/>
                </a:solidFill>
                <a:latin typeface="Cascadia Mono" panose="020B0609020000020004" pitchFamily="49" charset="0"/>
              </a:rPr>
              <a:t>x</a:t>
            </a:r>
            <a:r>
              <a:rPr lang="fr-FR" sz="1200" dirty="0" err="1">
                <a:solidFill>
                  <a:srgbClr val="0000FF"/>
                </a:solidFill>
                <a:latin typeface="Cascadia Mono" panose="020B0609020000020004" pitchFamily="49" charset="0"/>
              </a:rPr>
              <a:t>:</a:t>
            </a:r>
            <a:r>
              <a:rPr lang="fr-FR" sz="1200" dirty="0" err="1">
                <a:solidFill>
                  <a:srgbClr val="A31515"/>
                </a:solidFill>
                <a:latin typeface="Cascadia Mono" panose="020B0609020000020004" pitchFamily="49" charset="0"/>
              </a:rPr>
              <a:t>String</a:t>
            </a:r>
            <a:r>
              <a:rPr lang="fr-FR" sz="1200" dirty="0">
                <a:solidFill>
                  <a:srgbClr val="0000FF"/>
                </a:solidFill>
                <a:latin typeface="Cascadia Mono" panose="020B0609020000020004" pitchFamily="49" charset="0"/>
              </a:rPr>
              <a:t>&gt;</a:t>
            </a:r>
            <a:r>
              <a:rPr lang="fr-FR" sz="1200" dirty="0">
                <a:solidFill>
                  <a:srgbClr val="000000"/>
                </a:solidFill>
                <a:latin typeface="Cascadia Mono" panose="020B0609020000020004" pitchFamily="49" charset="0"/>
              </a:rPr>
              <a:t>Blue</a:t>
            </a:r>
            <a:r>
              <a:rPr lang="fr-FR" sz="1200" dirty="0">
                <a:solidFill>
                  <a:srgbClr val="0000FF"/>
                </a:solidFill>
                <a:latin typeface="Cascadia Mono" panose="020B0609020000020004" pitchFamily="49" charset="0"/>
              </a:rPr>
              <a:t>&lt;/</a:t>
            </a:r>
            <a:r>
              <a:rPr lang="fr-FR" sz="1200" dirty="0" err="1">
                <a:solidFill>
                  <a:srgbClr val="A31515"/>
                </a:solidFill>
                <a:latin typeface="Cascadia Mono" panose="020B0609020000020004" pitchFamily="49" charset="0"/>
              </a:rPr>
              <a:t>x</a:t>
            </a:r>
            <a:r>
              <a:rPr lang="fr-FR" sz="1200" dirty="0" err="1">
                <a:solidFill>
                  <a:srgbClr val="0000FF"/>
                </a:solidFill>
                <a:latin typeface="Cascadia Mono" panose="020B0609020000020004" pitchFamily="49" charset="0"/>
              </a:rPr>
              <a:t>:</a:t>
            </a:r>
            <a:r>
              <a:rPr lang="fr-FR" sz="1200" dirty="0" err="1">
                <a:solidFill>
                  <a:srgbClr val="A31515"/>
                </a:solidFill>
                <a:latin typeface="Cascadia Mono" panose="020B0609020000020004" pitchFamily="49" charset="0"/>
              </a:rPr>
              <a:t>String</a:t>
            </a:r>
            <a:r>
              <a:rPr lang="fr-FR" sz="1200" dirty="0">
                <a:solidFill>
                  <a:srgbClr val="0000FF"/>
                </a:solidFill>
                <a:latin typeface="Cascadia Mono" panose="020B0609020000020004" pitchFamily="49" charset="0"/>
              </a:rPr>
              <a:t>&gt;</a:t>
            </a:r>
            <a:endParaRPr lang="fr-FR" sz="1200" dirty="0">
              <a:solidFill>
                <a:srgbClr val="000000"/>
              </a:solidFill>
              <a:latin typeface="Cascadia Mono" panose="020B0609020000020004" pitchFamily="49" charset="0"/>
            </a:endParaRPr>
          </a:p>
          <a:p>
            <a:r>
              <a:rPr lang="fr-FR" sz="1200" dirty="0">
                <a:solidFill>
                  <a:srgbClr val="000000"/>
                </a:solidFill>
                <a:latin typeface="Cascadia Mono" panose="020B0609020000020004" pitchFamily="49" charset="0"/>
              </a:rPr>
              <a:t>                </a:t>
            </a:r>
            <a:r>
              <a:rPr lang="fr-FR" sz="1200" dirty="0">
                <a:solidFill>
                  <a:srgbClr val="0000FF"/>
                </a:solidFill>
                <a:latin typeface="Cascadia Mono" panose="020B0609020000020004" pitchFamily="49" charset="0"/>
              </a:rPr>
              <a:t>&lt;/</a:t>
            </a:r>
            <a:r>
              <a:rPr lang="fr-FR" sz="1200" dirty="0" err="1">
                <a:solidFill>
                  <a:srgbClr val="A31515"/>
                </a:solidFill>
                <a:latin typeface="Cascadia Mono" panose="020B0609020000020004" pitchFamily="49" charset="0"/>
              </a:rPr>
              <a:t>x</a:t>
            </a:r>
            <a:r>
              <a:rPr lang="fr-FR" sz="1200" dirty="0" err="1">
                <a:solidFill>
                  <a:srgbClr val="0000FF"/>
                </a:solidFill>
                <a:latin typeface="Cascadia Mono" panose="020B0609020000020004" pitchFamily="49" charset="0"/>
              </a:rPr>
              <a:t>:</a:t>
            </a:r>
            <a:r>
              <a:rPr lang="fr-FR" sz="1200" dirty="0" err="1">
                <a:solidFill>
                  <a:srgbClr val="A31515"/>
                </a:solidFill>
                <a:latin typeface="Cascadia Mono" panose="020B0609020000020004" pitchFamily="49" charset="0"/>
              </a:rPr>
              <a:t>Array</a:t>
            </a:r>
            <a:r>
              <a:rPr lang="fr-FR" sz="1200" dirty="0">
                <a:solidFill>
                  <a:srgbClr val="0000FF"/>
                </a:solidFill>
                <a:latin typeface="Cascadia Mono" panose="020B0609020000020004" pitchFamily="49" charset="0"/>
              </a:rPr>
              <a:t>&gt;</a:t>
            </a:r>
            <a:endParaRPr lang="fr-FR" sz="1200" dirty="0">
              <a:solidFill>
                <a:srgbClr val="000000"/>
              </a:solidFill>
              <a:latin typeface="Cascadia Mono" panose="020B0609020000020004" pitchFamily="49" charset="0"/>
            </a:endParaRPr>
          </a:p>
          <a:p>
            <a:r>
              <a:rPr lang="fr-FR" sz="1200" dirty="0">
                <a:solidFill>
                  <a:srgbClr val="000000"/>
                </a:solidFill>
                <a:latin typeface="Cascadia Mono" panose="020B0609020000020004" pitchFamily="49" charset="0"/>
              </a:rPr>
              <a:t>            </a:t>
            </a:r>
            <a:r>
              <a:rPr lang="fr-FR" sz="1200" dirty="0">
                <a:solidFill>
                  <a:srgbClr val="0000FF"/>
                </a:solidFill>
                <a:latin typeface="Cascadia Mono" panose="020B0609020000020004" pitchFamily="49" charset="0"/>
              </a:rPr>
              <a:t>&lt;/</a:t>
            </a:r>
            <a:r>
              <a:rPr lang="fr-FR" sz="1200" dirty="0" err="1">
                <a:solidFill>
                  <a:srgbClr val="A31515"/>
                </a:solidFill>
                <a:latin typeface="Cascadia Mono" panose="020B0609020000020004" pitchFamily="49" charset="0"/>
              </a:rPr>
              <a:t>Picker.ItemsSource</a:t>
            </a:r>
            <a:r>
              <a:rPr lang="fr-FR" sz="1200" dirty="0">
                <a:solidFill>
                  <a:srgbClr val="0000FF"/>
                </a:solidFill>
                <a:latin typeface="Cascadia Mono" panose="020B0609020000020004" pitchFamily="49" charset="0"/>
              </a:rPr>
              <a:t>&gt;</a:t>
            </a:r>
            <a:endParaRPr lang="fr-FR" sz="1200" dirty="0">
              <a:solidFill>
                <a:srgbClr val="000000"/>
              </a:solidFill>
              <a:latin typeface="Cascadia Mono" panose="020B0609020000020004" pitchFamily="49" charset="0"/>
            </a:endParaRPr>
          </a:p>
          <a:p>
            <a:r>
              <a:rPr lang="fr-FR" sz="1200" dirty="0" smtClean="0">
                <a:solidFill>
                  <a:srgbClr val="0000FF"/>
                </a:solidFill>
                <a:latin typeface="Cascadia Mono" panose="020B0609020000020004" pitchFamily="49" charset="0"/>
              </a:rPr>
              <a:t> &lt;/</a:t>
            </a:r>
            <a:r>
              <a:rPr lang="fr-FR" sz="1200" dirty="0" err="1">
                <a:solidFill>
                  <a:srgbClr val="A31515"/>
                </a:solidFill>
                <a:latin typeface="Cascadia Mono" panose="020B0609020000020004" pitchFamily="49" charset="0"/>
              </a:rPr>
              <a:t>Picker</a:t>
            </a:r>
            <a:r>
              <a:rPr lang="fr-FR" sz="1200" dirty="0">
                <a:solidFill>
                  <a:srgbClr val="0000FF"/>
                </a:solidFill>
                <a:latin typeface="Cascadia Mono" panose="020B0609020000020004" pitchFamily="49" charset="0"/>
              </a:rPr>
              <a:t>&gt;</a:t>
            </a:r>
            <a:endParaRPr lang="fr-FR" sz="1200" dirty="0"/>
          </a:p>
        </p:txBody>
      </p:sp>
      <p:pic>
        <p:nvPicPr>
          <p:cNvPr id="7" name="Image 6"/>
          <p:cNvPicPr>
            <a:picLocks noChangeAspect="1"/>
          </p:cNvPicPr>
          <p:nvPr/>
        </p:nvPicPr>
        <p:blipFill>
          <a:blip r:embed="rId3"/>
          <a:stretch>
            <a:fillRect/>
          </a:stretch>
        </p:blipFill>
        <p:spPr>
          <a:xfrm>
            <a:off x="8608293" y="3249786"/>
            <a:ext cx="2448220" cy="3220326"/>
          </a:xfrm>
          <a:prstGeom prst="rect">
            <a:avLst/>
          </a:prstGeom>
        </p:spPr>
      </p:pic>
    </p:spTree>
    <p:extLst>
      <p:ext uri="{BB962C8B-B14F-4D97-AF65-F5344CB8AC3E}">
        <p14:creationId xmlns:p14="http://schemas.microsoft.com/office/powerpoint/2010/main" val="133336802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8"/>
          <p:cNvSpPr txBox="1">
            <a:spLocks noChangeArrowheads="1"/>
          </p:cNvSpPr>
          <p:nvPr/>
        </p:nvSpPr>
        <p:spPr bwMode="auto">
          <a:xfrm>
            <a:off x="386215" y="603327"/>
            <a:ext cx="11475048" cy="7540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152400">
              <a:tabLst>
                <a:tab pos="5992813" algn="l"/>
              </a:tabLst>
              <a:defRPr>
                <a:solidFill>
                  <a:schemeClr val="tx1"/>
                </a:solidFill>
                <a:latin typeface="Calibri" panose="020F0502020204030204" pitchFamily="34" charset="0"/>
                <a:cs typeface="Arial" panose="020B0604020202020204" pitchFamily="34" charset="0"/>
              </a:defRPr>
            </a:lvl1pPr>
            <a:lvl2pPr marL="579438" indent="-242888">
              <a:tabLst>
                <a:tab pos="5992813" algn="l"/>
              </a:tabLst>
              <a:defRPr>
                <a:solidFill>
                  <a:schemeClr val="tx1"/>
                </a:solidFill>
                <a:latin typeface="Calibri" panose="020F0502020204030204" pitchFamily="34" charset="0"/>
                <a:cs typeface="Arial" panose="020B0604020202020204" pitchFamily="34" charset="0"/>
              </a:defRPr>
            </a:lvl2pPr>
            <a:lvl3pPr marL="1143000" indent="-228600">
              <a:tabLst>
                <a:tab pos="5992813" algn="l"/>
              </a:tabLst>
              <a:defRPr>
                <a:solidFill>
                  <a:schemeClr val="tx1"/>
                </a:solidFill>
                <a:latin typeface="Calibri" panose="020F0502020204030204" pitchFamily="34" charset="0"/>
                <a:cs typeface="Arial" panose="020B0604020202020204" pitchFamily="34" charset="0"/>
              </a:defRPr>
            </a:lvl3pPr>
            <a:lvl4pPr marL="1600200" indent="-228600">
              <a:tabLst>
                <a:tab pos="5992813" algn="l"/>
              </a:tabLst>
              <a:defRPr>
                <a:solidFill>
                  <a:schemeClr val="tx1"/>
                </a:solidFill>
                <a:latin typeface="Calibri" panose="020F0502020204030204" pitchFamily="34" charset="0"/>
                <a:cs typeface="Arial" panose="020B0604020202020204" pitchFamily="34" charset="0"/>
              </a:defRPr>
            </a:lvl4pPr>
            <a:lvl5pPr marL="2057400" indent="-228600">
              <a:tabLst>
                <a:tab pos="5992813" algn="l"/>
              </a:tabLst>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2200" u="sng" dirty="0">
                <a:latin typeface="Segoe UI Symbol" panose="020B0502040204020203" pitchFamily="34" charset="0"/>
              </a:rPr>
              <a:t>L</a:t>
            </a:r>
            <a:r>
              <a:rPr lang="en-US" altLang="en-US" sz="2200" u="sng" dirty="0" smtClean="0">
                <a:latin typeface="Segoe UI Symbol" panose="020B0502040204020203" pitchFamily="34" charset="0"/>
              </a:rPr>
              <a:t>es </a:t>
            </a:r>
            <a:r>
              <a:rPr lang="fr-FR" altLang="en-US" sz="2200" u="sng" dirty="0" smtClean="0">
                <a:latin typeface="Segoe UI Symbol" panose="020B0502040204020203" pitchFamily="34" charset="0"/>
              </a:rPr>
              <a:t>collections-</a:t>
            </a:r>
            <a:r>
              <a:rPr lang="fr-FR" altLang="en-US" sz="2200" u="sng" dirty="0" err="1" smtClean="0">
                <a:latin typeface="Segoe UI Symbol" panose="020B0502040204020203" pitchFamily="34" charset="0"/>
              </a:rPr>
              <a:t>Picker</a:t>
            </a:r>
            <a:r>
              <a:rPr lang="fr-FR" altLang="en-US" sz="2200" u="sng" dirty="0" smtClean="0">
                <a:latin typeface="Segoe UI Symbol" panose="020B0502040204020203" pitchFamily="34" charset="0"/>
              </a:rPr>
              <a:t> </a:t>
            </a:r>
          </a:p>
          <a:p>
            <a:pPr marL="438150" indent="-285750">
              <a:lnSpc>
                <a:spcPct val="150000"/>
              </a:lnSpc>
              <a:buFont typeface="Wingdings" panose="05000000000000000000" pitchFamily="2" charset="2"/>
              <a:buChar char="§"/>
            </a:pPr>
            <a:r>
              <a:rPr lang="fr-FR" dirty="0" smtClean="0">
                <a:latin typeface="Segoe UI" panose="020B0502040204020203" pitchFamily="34" charset="0"/>
                <a:cs typeface="Segoe UI" panose="020B0502040204020203" pitchFamily="34" charset="0"/>
              </a:rPr>
              <a:t>Outre que </a:t>
            </a:r>
            <a:r>
              <a:rPr lang="fr-FR" b="1" dirty="0" err="1" smtClean="0">
                <a:latin typeface="Segoe UI" panose="020B0502040204020203" pitchFamily="34" charset="0"/>
                <a:cs typeface="Segoe UI" panose="020B0502040204020203" pitchFamily="34" charset="0"/>
              </a:rPr>
              <a:t>ItemsSource</a:t>
            </a:r>
            <a:r>
              <a:rPr lang="fr-FR" dirty="0" smtClean="0">
                <a:latin typeface="Segoe UI" panose="020B0502040204020203" pitchFamily="34" charset="0"/>
                <a:cs typeface="Segoe UI" panose="020B0502040204020203" pitchFamily="34" charset="0"/>
              </a:rPr>
              <a:t>, il y a une autre propriété qui alimente le  </a:t>
            </a:r>
            <a:r>
              <a:rPr lang="fr-FR" b="1" dirty="0" err="1" smtClean="0">
                <a:latin typeface="Segoe UI" panose="020B0502040204020203" pitchFamily="34" charset="0"/>
                <a:cs typeface="Segoe UI" panose="020B0502040204020203" pitchFamily="34" charset="0"/>
              </a:rPr>
              <a:t>Picker</a:t>
            </a:r>
            <a:r>
              <a:rPr lang="fr-FR" dirty="0" smtClean="0">
                <a:latin typeface="Segoe UI" panose="020B0502040204020203" pitchFamily="34" charset="0"/>
                <a:cs typeface="Segoe UI" panose="020B0502040204020203" pitchFamily="34" charset="0"/>
              </a:rPr>
              <a:t> avec des données à savoir  </a:t>
            </a:r>
            <a:r>
              <a:rPr lang="fr-FR" b="1" dirty="0" smtClean="0">
                <a:latin typeface="Segoe UI" panose="020B0502040204020203" pitchFamily="34" charset="0"/>
                <a:cs typeface="Segoe UI" panose="020B0502040204020203" pitchFamily="34" charset="0"/>
              </a:rPr>
              <a:t>Items</a:t>
            </a:r>
            <a:r>
              <a:rPr lang="fr-FR" dirty="0" smtClean="0">
                <a:latin typeface="Segoe UI" panose="020B0502040204020203" pitchFamily="34" charset="0"/>
                <a:cs typeface="Segoe UI" panose="020B0502040204020203" pitchFamily="34" charset="0"/>
              </a:rPr>
              <a:t>  </a:t>
            </a:r>
          </a:p>
        </p:txBody>
      </p:sp>
      <p:sp>
        <p:nvSpPr>
          <p:cNvPr id="3" name="Rectangle 2"/>
          <p:cNvSpPr/>
          <p:nvPr/>
        </p:nvSpPr>
        <p:spPr>
          <a:xfrm>
            <a:off x="588134" y="1665847"/>
            <a:ext cx="5522891" cy="2800767"/>
          </a:xfrm>
          <a:prstGeom prst="rect">
            <a:avLst/>
          </a:prstGeom>
        </p:spPr>
        <p:txBody>
          <a:bodyPr wrap="square">
            <a:spAutoFit/>
          </a:bodyPr>
          <a:lstStyle/>
          <a:p>
            <a:r>
              <a:rPr lang="en-US" sz="1600" dirty="0">
                <a:solidFill>
                  <a:srgbClr val="0000FF"/>
                </a:solidFill>
                <a:latin typeface="Cascadia Mono" panose="020B0609020000020004" pitchFamily="49" charset="0"/>
              </a:rPr>
              <a:t>&lt;</a:t>
            </a:r>
            <a:r>
              <a:rPr lang="en-US" sz="1600" dirty="0">
                <a:solidFill>
                  <a:srgbClr val="A31515"/>
                </a:solidFill>
                <a:latin typeface="Cascadia Mono" panose="020B0609020000020004" pitchFamily="49" charset="0"/>
              </a:rPr>
              <a:t>Picker</a:t>
            </a:r>
            <a:r>
              <a:rPr lang="en-US" sz="1600" dirty="0">
                <a:solidFill>
                  <a:srgbClr val="FF0000"/>
                </a:solidFill>
                <a:latin typeface="Cascadia Mono" panose="020B0609020000020004" pitchFamily="49" charset="0"/>
              </a:rPr>
              <a:t> Title</a:t>
            </a:r>
            <a:r>
              <a:rPr lang="en-US" sz="1600" dirty="0">
                <a:solidFill>
                  <a:srgbClr val="0000FF"/>
                </a:solidFill>
                <a:latin typeface="Cascadia Mono" panose="020B0609020000020004" pitchFamily="49" charset="0"/>
              </a:rPr>
              <a:t>="Select a primitive color"&gt;</a:t>
            </a:r>
            <a:endParaRPr lang="en-US" sz="1600" dirty="0">
              <a:solidFill>
                <a:srgbClr val="000000"/>
              </a:solidFill>
              <a:latin typeface="Cascadia Mono" panose="020B0609020000020004" pitchFamily="49" charset="0"/>
            </a:endParaRPr>
          </a:p>
          <a:p>
            <a:r>
              <a:rPr lang="fr-FR" sz="1600" dirty="0" smtClean="0">
                <a:solidFill>
                  <a:srgbClr val="0000FF"/>
                </a:solidFill>
                <a:latin typeface="Cascadia Mono" panose="020B0609020000020004" pitchFamily="49" charset="0"/>
              </a:rPr>
              <a:t>  &lt;</a:t>
            </a:r>
            <a:r>
              <a:rPr lang="fr-FR" sz="1600" dirty="0" err="1">
                <a:solidFill>
                  <a:srgbClr val="A31515"/>
                </a:solidFill>
                <a:latin typeface="Cascadia Mono" panose="020B0609020000020004" pitchFamily="49" charset="0"/>
              </a:rPr>
              <a:t>Picker.Items</a:t>
            </a:r>
            <a:r>
              <a:rPr lang="fr-FR" sz="1600" dirty="0" smtClean="0">
                <a:solidFill>
                  <a:srgbClr val="0000FF"/>
                </a:solidFill>
                <a:latin typeface="Cascadia Mono" panose="020B0609020000020004" pitchFamily="49" charset="0"/>
              </a:rPr>
              <a:t>&gt;</a:t>
            </a:r>
            <a:endParaRPr lang="fr-FR" sz="1600" dirty="0" smtClean="0">
              <a:solidFill>
                <a:srgbClr val="000000"/>
              </a:solidFill>
              <a:latin typeface="Cascadia Mono" panose="020B0609020000020004" pitchFamily="49" charset="0"/>
            </a:endParaRPr>
          </a:p>
          <a:p>
            <a:r>
              <a:rPr lang="fr-FR" sz="1600" dirty="0">
                <a:solidFill>
                  <a:srgbClr val="000000"/>
                </a:solidFill>
                <a:latin typeface="Cascadia Mono" panose="020B0609020000020004" pitchFamily="49" charset="0"/>
              </a:rPr>
              <a:t> </a:t>
            </a:r>
            <a:r>
              <a:rPr lang="fr-FR" sz="1600" dirty="0" smtClean="0">
                <a:solidFill>
                  <a:srgbClr val="000000"/>
                </a:solidFill>
                <a:latin typeface="Cascadia Mono" panose="020B0609020000020004" pitchFamily="49" charset="0"/>
              </a:rPr>
              <a:t>   </a:t>
            </a:r>
            <a:r>
              <a:rPr lang="fr-FR" sz="1600" dirty="0" smtClean="0">
                <a:solidFill>
                  <a:srgbClr val="0000FF"/>
                </a:solidFill>
                <a:latin typeface="Cascadia Mono" panose="020B0609020000020004" pitchFamily="49" charset="0"/>
              </a:rPr>
              <a:t>&lt;</a:t>
            </a:r>
            <a:r>
              <a:rPr lang="fr-FR" sz="1600" dirty="0" err="1">
                <a:solidFill>
                  <a:srgbClr val="A31515"/>
                </a:solidFill>
                <a:latin typeface="Cascadia Mono" panose="020B0609020000020004" pitchFamily="49" charset="0"/>
              </a:rPr>
              <a:t>x</a:t>
            </a:r>
            <a:r>
              <a:rPr lang="fr-FR" sz="1600" dirty="0" err="1">
                <a:solidFill>
                  <a:srgbClr val="0000FF"/>
                </a:solidFill>
                <a:latin typeface="Cascadia Mono" panose="020B0609020000020004" pitchFamily="49" charset="0"/>
              </a:rPr>
              <a:t>:</a:t>
            </a:r>
            <a:r>
              <a:rPr lang="fr-FR" sz="1600" dirty="0" err="1">
                <a:solidFill>
                  <a:srgbClr val="A31515"/>
                </a:solidFill>
                <a:latin typeface="Cascadia Mono" panose="020B0609020000020004" pitchFamily="49" charset="0"/>
              </a:rPr>
              <a:t>String</a:t>
            </a:r>
            <a:r>
              <a:rPr lang="fr-FR" sz="1600" dirty="0">
                <a:solidFill>
                  <a:srgbClr val="0000FF"/>
                </a:solidFill>
                <a:latin typeface="Cascadia Mono" panose="020B0609020000020004" pitchFamily="49" charset="0"/>
              </a:rPr>
              <a:t>&gt;</a:t>
            </a:r>
            <a:r>
              <a:rPr lang="fr-FR" sz="1600" dirty="0" err="1">
                <a:solidFill>
                  <a:srgbClr val="000000"/>
                </a:solidFill>
                <a:latin typeface="Cascadia Mono" panose="020B0609020000020004" pitchFamily="49" charset="0"/>
              </a:rPr>
              <a:t>Baboon</a:t>
            </a:r>
            <a:r>
              <a:rPr lang="fr-FR" sz="1600" dirty="0">
                <a:solidFill>
                  <a:srgbClr val="0000FF"/>
                </a:solidFill>
                <a:latin typeface="Cascadia Mono" panose="020B0609020000020004" pitchFamily="49" charset="0"/>
              </a:rPr>
              <a:t>&lt;/</a:t>
            </a:r>
            <a:r>
              <a:rPr lang="fr-FR" sz="1600" dirty="0" err="1">
                <a:solidFill>
                  <a:srgbClr val="A31515"/>
                </a:solidFill>
                <a:latin typeface="Cascadia Mono" panose="020B0609020000020004" pitchFamily="49" charset="0"/>
              </a:rPr>
              <a:t>x</a:t>
            </a:r>
            <a:r>
              <a:rPr lang="fr-FR" sz="1600" dirty="0" err="1">
                <a:solidFill>
                  <a:srgbClr val="0000FF"/>
                </a:solidFill>
                <a:latin typeface="Cascadia Mono" panose="020B0609020000020004" pitchFamily="49" charset="0"/>
              </a:rPr>
              <a:t>:</a:t>
            </a:r>
            <a:r>
              <a:rPr lang="fr-FR" sz="1600" dirty="0" err="1">
                <a:solidFill>
                  <a:srgbClr val="A31515"/>
                </a:solidFill>
                <a:latin typeface="Cascadia Mono" panose="020B0609020000020004" pitchFamily="49" charset="0"/>
              </a:rPr>
              <a:t>String</a:t>
            </a:r>
            <a:r>
              <a:rPr lang="fr-FR" sz="1600" dirty="0">
                <a:solidFill>
                  <a:srgbClr val="0000FF"/>
                </a:solidFill>
                <a:latin typeface="Cascadia Mono" panose="020B0609020000020004" pitchFamily="49" charset="0"/>
              </a:rPr>
              <a:t>&gt;</a:t>
            </a:r>
            <a:endParaRPr lang="fr-FR" sz="1600" dirty="0">
              <a:solidFill>
                <a:srgbClr val="000000"/>
              </a:solidFill>
              <a:latin typeface="Cascadia Mono" panose="020B0609020000020004" pitchFamily="49" charset="0"/>
            </a:endParaRPr>
          </a:p>
          <a:p>
            <a:r>
              <a:rPr lang="fr-FR" sz="1600" dirty="0" smtClean="0">
                <a:solidFill>
                  <a:srgbClr val="0000FF"/>
                </a:solidFill>
                <a:latin typeface="Cascadia Mono" panose="020B0609020000020004" pitchFamily="49" charset="0"/>
              </a:rPr>
              <a:t>    &lt;</a:t>
            </a:r>
            <a:r>
              <a:rPr lang="fr-FR" sz="1600" dirty="0" err="1">
                <a:solidFill>
                  <a:srgbClr val="A31515"/>
                </a:solidFill>
                <a:latin typeface="Cascadia Mono" panose="020B0609020000020004" pitchFamily="49" charset="0"/>
              </a:rPr>
              <a:t>x</a:t>
            </a:r>
            <a:r>
              <a:rPr lang="fr-FR" sz="1600" dirty="0" err="1">
                <a:solidFill>
                  <a:srgbClr val="0000FF"/>
                </a:solidFill>
                <a:latin typeface="Cascadia Mono" panose="020B0609020000020004" pitchFamily="49" charset="0"/>
              </a:rPr>
              <a:t>:</a:t>
            </a:r>
            <a:r>
              <a:rPr lang="fr-FR" sz="1600" dirty="0" err="1">
                <a:solidFill>
                  <a:srgbClr val="A31515"/>
                </a:solidFill>
                <a:latin typeface="Cascadia Mono" panose="020B0609020000020004" pitchFamily="49" charset="0"/>
              </a:rPr>
              <a:t>String</a:t>
            </a:r>
            <a:r>
              <a:rPr lang="fr-FR" sz="1600" dirty="0">
                <a:solidFill>
                  <a:srgbClr val="0000FF"/>
                </a:solidFill>
                <a:latin typeface="Cascadia Mono" panose="020B0609020000020004" pitchFamily="49" charset="0"/>
              </a:rPr>
              <a:t>&gt;</a:t>
            </a:r>
            <a:r>
              <a:rPr lang="fr-FR" sz="1600" dirty="0" err="1">
                <a:solidFill>
                  <a:srgbClr val="000000"/>
                </a:solidFill>
                <a:latin typeface="Cascadia Mono" panose="020B0609020000020004" pitchFamily="49" charset="0"/>
              </a:rPr>
              <a:t>Capuchin</a:t>
            </a:r>
            <a:r>
              <a:rPr lang="fr-FR" sz="1600" dirty="0">
                <a:solidFill>
                  <a:srgbClr val="000000"/>
                </a:solidFill>
                <a:latin typeface="Cascadia Mono" panose="020B0609020000020004" pitchFamily="49" charset="0"/>
              </a:rPr>
              <a:t> Monkey</a:t>
            </a:r>
            <a:r>
              <a:rPr lang="fr-FR" sz="1600" dirty="0">
                <a:solidFill>
                  <a:srgbClr val="0000FF"/>
                </a:solidFill>
                <a:latin typeface="Cascadia Mono" panose="020B0609020000020004" pitchFamily="49" charset="0"/>
              </a:rPr>
              <a:t>&lt;/</a:t>
            </a:r>
            <a:r>
              <a:rPr lang="fr-FR" sz="1600" dirty="0" err="1">
                <a:solidFill>
                  <a:srgbClr val="A31515"/>
                </a:solidFill>
                <a:latin typeface="Cascadia Mono" panose="020B0609020000020004" pitchFamily="49" charset="0"/>
              </a:rPr>
              <a:t>x</a:t>
            </a:r>
            <a:r>
              <a:rPr lang="fr-FR" sz="1600" dirty="0" err="1">
                <a:solidFill>
                  <a:srgbClr val="0000FF"/>
                </a:solidFill>
                <a:latin typeface="Cascadia Mono" panose="020B0609020000020004" pitchFamily="49" charset="0"/>
              </a:rPr>
              <a:t>:</a:t>
            </a:r>
            <a:r>
              <a:rPr lang="fr-FR" sz="1600" dirty="0" err="1">
                <a:solidFill>
                  <a:srgbClr val="A31515"/>
                </a:solidFill>
                <a:latin typeface="Cascadia Mono" panose="020B0609020000020004" pitchFamily="49" charset="0"/>
              </a:rPr>
              <a:t>String</a:t>
            </a:r>
            <a:r>
              <a:rPr lang="fr-FR" sz="1600" dirty="0">
                <a:solidFill>
                  <a:srgbClr val="0000FF"/>
                </a:solidFill>
                <a:latin typeface="Cascadia Mono" panose="020B0609020000020004" pitchFamily="49" charset="0"/>
              </a:rPr>
              <a:t>&gt;</a:t>
            </a:r>
            <a:endParaRPr lang="fr-FR" sz="1600" dirty="0">
              <a:solidFill>
                <a:srgbClr val="000000"/>
              </a:solidFill>
              <a:latin typeface="Cascadia Mono" panose="020B0609020000020004" pitchFamily="49" charset="0"/>
            </a:endParaRPr>
          </a:p>
          <a:p>
            <a:r>
              <a:rPr lang="fr-FR" sz="1600" dirty="0" smtClean="0">
                <a:solidFill>
                  <a:srgbClr val="0000FF"/>
                </a:solidFill>
                <a:latin typeface="Cascadia Mono" panose="020B0609020000020004" pitchFamily="49" charset="0"/>
              </a:rPr>
              <a:t>    &lt;</a:t>
            </a:r>
            <a:r>
              <a:rPr lang="fr-FR" sz="1600" dirty="0" err="1">
                <a:solidFill>
                  <a:srgbClr val="A31515"/>
                </a:solidFill>
                <a:latin typeface="Cascadia Mono" panose="020B0609020000020004" pitchFamily="49" charset="0"/>
              </a:rPr>
              <a:t>x</a:t>
            </a:r>
            <a:r>
              <a:rPr lang="fr-FR" sz="1600" dirty="0" err="1">
                <a:solidFill>
                  <a:srgbClr val="0000FF"/>
                </a:solidFill>
                <a:latin typeface="Cascadia Mono" panose="020B0609020000020004" pitchFamily="49" charset="0"/>
              </a:rPr>
              <a:t>:</a:t>
            </a:r>
            <a:r>
              <a:rPr lang="fr-FR" sz="1600" dirty="0" err="1">
                <a:solidFill>
                  <a:srgbClr val="A31515"/>
                </a:solidFill>
                <a:latin typeface="Cascadia Mono" panose="020B0609020000020004" pitchFamily="49" charset="0"/>
              </a:rPr>
              <a:t>String</a:t>
            </a:r>
            <a:r>
              <a:rPr lang="fr-FR" sz="1600" dirty="0">
                <a:solidFill>
                  <a:srgbClr val="0000FF"/>
                </a:solidFill>
                <a:latin typeface="Cascadia Mono" panose="020B0609020000020004" pitchFamily="49" charset="0"/>
              </a:rPr>
              <a:t>&gt;</a:t>
            </a:r>
            <a:r>
              <a:rPr lang="fr-FR" sz="1600" dirty="0">
                <a:solidFill>
                  <a:srgbClr val="000000"/>
                </a:solidFill>
                <a:latin typeface="Cascadia Mono" panose="020B0609020000020004" pitchFamily="49" charset="0"/>
              </a:rPr>
              <a:t>Blue Monkey</a:t>
            </a:r>
            <a:r>
              <a:rPr lang="fr-FR" sz="1600" dirty="0">
                <a:solidFill>
                  <a:srgbClr val="0000FF"/>
                </a:solidFill>
                <a:latin typeface="Cascadia Mono" panose="020B0609020000020004" pitchFamily="49" charset="0"/>
              </a:rPr>
              <a:t>&lt;/</a:t>
            </a:r>
            <a:r>
              <a:rPr lang="fr-FR" sz="1600" dirty="0" err="1">
                <a:solidFill>
                  <a:srgbClr val="A31515"/>
                </a:solidFill>
                <a:latin typeface="Cascadia Mono" panose="020B0609020000020004" pitchFamily="49" charset="0"/>
              </a:rPr>
              <a:t>x</a:t>
            </a:r>
            <a:r>
              <a:rPr lang="fr-FR" sz="1600" dirty="0" err="1">
                <a:solidFill>
                  <a:srgbClr val="0000FF"/>
                </a:solidFill>
                <a:latin typeface="Cascadia Mono" panose="020B0609020000020004" pitchFamily="49" charset="0"/>
              </a:rPr>
              <a:t>:</a:t>
            </a:r>
            <a:r>
              <a:rPr lang="fr-FR" sz="1600" dirty="0" err="1">
                <a:solidFill>
                  <a:srgbClr val="A31515"/>
                </a:solidFill>
                <a:latin typeface="Cascadia Mono" panose="020B0609020000020004" pitchFamily="49" charset="0"/>
              </a:rPr>
              <a:t>String</a:t>
            </a:r>
            <a:r>
              <a:rPr lang="fr-FR" sz="1600" dirty="0">
                <a:solidFill>
                  <a:srgbClr val="0000FF"/>
                </a:solidFill>
                <a:latin typeface="Cascadia Mono" panose="020B0609020000020004" pitchFamily="49" charset="0"/>
              </a:rPr>
              <a:t>&gt;</a:t>
            </a:r>
            <a:endParaRPr lang="fr-FR" sz="1600" dirty="0">
              <a:solidFill>
                <a:srgbClr val="000000"/>
              </a:solidFill>
              <a:latin typeface="Cascadia Mono" panose="020B0609020000020004" pitchFamily="49" charset="0"/>
            </a:endParaRPr>
          </a:p>
          <a:p>
            <a:r>
              <a:rPr lang="fr-FR" sz="1600" dirty="0" smtClean="0">
                <a:solidFill>
                  <a:srgbClr val="0000FF"/>
                </a:solidFill>
                <a:latin typeface="Cascadia Mono" panose="020B0609020000020004" pitchFamily="49" charset="0"/>
              </a:rPr>
              <a:t>    &lt;</a:t>
            </a:r>
            <a:r>
              <a:rPr lang="fr-FR" sz="1600" dirty="0" err="1">
                <a:solidFill>
                  <a:srgbClr val="A31515"/>
                </a:solidFill>
                <a:latin typeface="Cascadia Mono" panose="020B0609020000020004" pitchFamily="49" charset="0"/>
              </a:rPr>
              <a:t>x</a:t>
            </a:r>
            <a:r>
              <a:rPr lang="fr-FR" sz="1600" dirty="0" err="1">
                <a:solidFill>
                  <a:srgbClr val="0000FF"/>
                </a:solidFill>
                <a:latin typeface="Cascadia Mono" panose="020B0609020000020004" pitchFamily="49" charset="0"/>
              </a:rPr>
              <a:t>:</a:t>
            </a:r>
            <a:r>
              <a:rPr lang="fr-FR" sz="1600" dirty="0" err="1">
                <a:solidFill>
                  <a:srgbClr val="A31515"/>
                </a:solidFill>
                <a:latin typeface="Cascadia Mono" panose="020B0609020000020004" pitchFamily="49" charset="0"/>
              </a:rPr>
              <a:t>String</a:t>
            </a:r>
            <a:r>
              <a:rPr lang="fr-FR" sz="1600" dirty="0">
                <a:solidFill>
                  <a:srgbClr val="0000FF"/>
                </a:solidFill>
                <a:latin typeface="Cascadia Mono" panose="020B0609020000020004" pitchFamily="49" charset="0"/>
              </a:rPr>
              <a:t>&gt;</a:t>
            </a:r>
            <a:r>
              <a:rPr lang="fr-FR" sz="1600" dirty="0" err="1">
                <a:solidFill>
                  <a:srgbClr val="000000"/>
                </a:solidFill>
                <a:latin typeface="Cascadia Mono" panose="020B0609020000020004" pitchFamily="49" charset="0"/>
              </a:rPr>
              <a:t>Squirrel</a:t>
            </a:r>
            <a:r>
              <a:rPr lang="fr-FR" sz="1600" dirty="0">
                <a:solidFill>
                  <a:srgbClr val="000000"/>
                </a:solidFill>
                <a:latin typeface="Cascadia Mono" panose="020B0609020000020004" pitchFamily="49" charset="0"/>
              </a:rPr>
              <a:t> Monkey</a:t>
            </a:r>
            <a:r>
              <a:rPr lang="fr-FR" sz="1600" dirty="0">
                <a:solidFill>
                  <a:srgbClr val="0000FF"/>
                </a:solidFill>
                <a:latin typeface="Cascadia Mono" panose="020B0609020000020004" pitchFamily="49" charset="0"/>
              </a:rPr>
              <a:t>&lt;/</a:t>
            </a:r>
            <a:r>
              <a:rPr lang="fr-FR" sz="1600" dirty="0" err="1">
                <a:solidFill>
                  <a:srgbClr val="A31515"/>
                </a:solidFill>
                <a:latin typeface="Cascadia Mono" panose="020B0609020000020004" pitchFamily="49" charset="0"/>
              </a:rPr>
              <a:t>x</a:t>
            </a:r>
            <a:r>
              <a:rPr lang="fr-FR" sz="1600" dirty="0" err="1">
                <a:solidFill>
                  <a:srgbClr val="0000FF"/>
                </a:solidFill>
                <a:latin typeface="Cascadia Mono" panose="020B0609020000020004" pitchFamily="49" charset="0"/>
              </a:rPr>
              <a:t>:</a:t>
            </a:r>
            <a:r>
              <a:rPr lang="fr-FR" sz="1600" dirty="0" err="1">
                <a:solidFill>
                  <a:srgbClr val="A31515"/>
                </a:solidFill>
                <a:latin typeface="Cascadia Mono" panose="020B0609020000020004" pitchFamily="49" charset="0"/>
              </a:rPr>
              <a:t>String</a:t>
            </a:r>
            <a:r>
              <a:rPr lang="fr-FR" sz="1600" dirty="0">
                <a:solidFill>
                  <a:srgbClr val="0000FF"/>
                </a:solidFill>
                <a:latin typeface="Cascadia Mono" panose="020B0609020000020004" pitchFamily="49" charset="0"/>
              </a:rPr>
              <a:t>&gt;</a:t>
            </a:r>
            <a:endParaRPr lang="fr-FR" sz="1600" dirty="0">
              <a:solidFill>
                <a:srgbClr val="000000"/>
              </a:solidFill>
              <a:latin typeface="Cascadia Mono" panose="020B0609020000020004" pitchFamily="49" charset="0"/>
            </a:endParaRPr>
          </a:p>
          <a:p>
            <a:r>
              <a:rPr lang="fr-FR" sz="1600" dirty="0" smtClean="0">
                <a:solidFill>
                  <a:srgbClr val="0000FF"/>
                </a:solidFill>
                <a:latin typeface="Cascadia Mono" panose="020B0609020000020004" pitchFamily="49" charset="0"/>
              </a:rPr>
              <a:t>    &lt;</a:t>
            </a:r>
            <a:r>
              <a:rPr lang="fr-FR" sz="1600" dirty="0" err="1">
                <a:solidFill>
                  <a:srgbClr val="A31515"/>
                </a:solidFill>
                <a:latin typeface="Cascadia Mono" panose="020B0609020000020004" pitchFamily="49" charset="0"/>
              </a:rPr>
              <a:t>x</a:t>
            </a:r>
            <a:r>
              <a:rPr lang="fr-FR" sz="1600" dirty="0" err="1">
                <a:solidFill>
                  <a:srgbClr val="0000FF"/>
                </a:solidFill>
                <a:latin typeface="Cascadia Mono" panose="020B0609020000020004" pitchFamily="49" charset="0"/>
              </a:rPr>
              <a:t>:</a:t>
            </a:r>
            <a:r>
              <a:rPr lang="fr-FR" sz="1600" dirty="0" err="1">
                <a:solidFill>
                  <a:srgbClr val="A31515"/>
                </a:solidFill>
                <a:latin typeface="Cascadia Mono" panose="020B0609020000020004" pitchFamily="49" charset="0"/>
              </a:rPr>
              <a:t>String</a:t>
            </a:r>
            <a:r>
              <a:rPr lang="fr-FR" sz="1600" dirty="0">
                <a:solidFill>
                  <a:srgbClr val="0000FF"/>
                </a:solidFill>
                <a:latin typeface="Cascadia Mono" panose="020B0609020000020004" pitchFamily="49" charset="0"/>
              </a:rPr>
              <a:t>&gt;</a:t>
            </a:r>
            <a:r>
              <a:rPr lang="fr-FR" sz="1600" dirty="0">
                <a:solidFill>
                  <a:srgbClr val="000000"/>
                </a:solidFill>
                <a:latin typeface="Cascadia Mono" panose="020B0609020000020004" pitchFamily="49" charset="0"/>
              </a:rPr>
              <a:t>Golden Lion Tamarin</a:t>
            </a:r>
            <a:r>
              <a:rPr lang="fr-FR" sz="1600" dirty="0">
                <a:solidFill>
                  <a:srgbClr val="0000FF"/>
                </a:solidFill>
                <a:latin typeface="Cascadia Mono" panose="020B0609020000020004" pitchFamily="49" charset="0"/>
              </a:rPr>
              <a:t>&lt;/</a:t>
            </a:r>
            <a:r>
              <a:rPr lang="fr-FR" sz="1600" dirty="0" err="1">
                <a:solidFill>
                  <a:srgbClr val="A31515"/>
                </a:solidFill>
                <a:latin typeface="Cascadia Mono" panose="020B0609020000020004" pitchFamily="49" charset="0"/>
              </a:rPr>
              <a:t>x</a:t>
            </a:r>
            <a:r>
              <a:rPr lang="fr-FR" sz="1600" dirty="0" err="1">
                <a:solidFill>
                  <a:srgbClr val="0000FF"/>
                </a:solidFill>
                <a:latin typeface="Cascadia Mono" panose="020B0609020000020004" pitchFamily="49" charset="0"/>
              </a:rPr>
              <a:t>:</a:t>
            </a:r>
            <a:r>
              <a:rPr lang="fr-FR" sz="1600" dirty="0" err="1">
                <a:solidFill>
                  <a:srgbClr val="A31515"/>
                </a:solidFill>
                <a:latin typeface="Cascadia Mono" panose="020B0609020000020004" pitchFamily="49" charset="0"/>
              </a:rPr>
              <a:t>String</a:t>
            </a:r>
            <a:r>
              <a:rPr lang="fr-FR" sz="1600" dirty="0">
                <a:solidFill>
                  <a:srgbClr val="0000FF"/>
                </a:solidFill>
                <a:latin typeface="Cascadia Mono" panose="020B0609020000020004" pitchFamily="49" charset="0"/>
              </a:rPr>
              <a:t>&gt;</a:t>
            </a:r>
            <a:endParaRPr lang="fr-FR" sz="1600" dirty="0">
              <a:solidFill>
                <a:srgbClr val="000000"/>
              </a:solidFill>
              <a:latin typeface="Cascadia Mono" panose="020B0609020000020004" pitchFamily="49" charset="0"/>
            </a:endParaRPr>
          </a:p>
          <a:p>
            <a:r>
              <a:rPr lang="fr-FR" sz="1600" dirty="0" smtClean="0">
                <a:solidFill>
                  <a:srgbClr val="0000FF"/>
                </a:solidFill>
                <a:latin typeface="Cascadia Mono" panose="020B0609020000020004" pitchFamily="49" charset="0"/>
              </a:rPr>
              <a:t>    &lt;</a:t>
            </a:r>
            <a:r>
              <a:rPr lang="fr-FR" sz="1600" dirty="0" err="1">
                <a:solidFill>
                  <a:srgbClr val="A31515"/>
                </a:solidFill>
                <a:latin typeface="Cascadia Mono" panose="020B0609020000020004" pitchFamily="49" charset="0"/>
              </a:rPr>
              <a:t>x</a:t>
            </a:r>
            <a:r>
              <a:rPr lang="fr-FR" sz="1600" dirty="0" err="1">
                <a:solidFill>
                  <a:srgbClr val="0000FF"/>
                </a:solidFill>
                <a:latin typeface="Cascadia Mono" panose="020B0609020000020004" pitchFamily="49" charset="0"/>
              </a:rPr>
              <a:t>:</a:t>
            </a:r>
            <a:r>
              <a:rPr lang="fr-FR" sz="1600" dirty="0" err="1">
                <a:solidFill>
                  <a:srgbClr val="A31515"/>
                </a:solidFill>
                <a:latin typeface="Cascadia Mono" panose="020B0609020000020004" pitchFamily="49" charset="0"/>
              </a:rPr>
              <a:t>String</a:t>
            </a:r>
            <a:r>
              <a:rPr lang="fr-FR" sz="1600" dirty="0">
                <a:solidFill>
                  <a:srgbClr val="0000FF"/>
                </a:solidFill>
                <a:latin typeface="Cascadia Mono" panose="020B0609020000020004" pitchFamily="49" charset="0"/>
              </a:rPr>
              <a:t>&gt;</a:t>
            </a:r>
            <a:r>
              <a:rPr lang="fr-FR" sz="1600" dirty="0" err="1">
                <a:solidFill>
                  <a:srgbClr val="000000"/>
                </a:solidFill>
                <a:latin typeface="Cascadia Mono" panose="020B0609020000020004" pitchFamily="49" charset="0"/>
              </a:rPr>
              <a:t>Howler</a:t>
            </a:r>
            <a:r>
              <a:rPr lang="fr-FR" sz="1600" dirty="0">
                <a:solidFill>
                  <a:srgbClr val="000000"/>
                </a:solidFill>
                <a:latin typeface="Cascadia Mono" panose="020B0609020000020004" pitchFamily="49" charset="0"/>
              </a:rPr>
              <a:t> Monkey</a:t>
            </a:r>
            <a:r>
              <a:rPr lang="fr-FR" sz="1600" dirty="0">
                <a:solidFill>
                  <a:srgbClr val="0000FF"/>
                </a:solidFill>
                <a:latin typeface="Cascadia Mono" panose="020B0609020000020004" pitchFamily="49" charset="0"/>
              </a:rPr>
              <a:t>&lt;/</a:t>
            </a:r>
            <a:r>
              <a:rPr lang="fr-FR" sz="1600" dirty="0" err="1">
                <a:solidFill>
                  <a:srgbClr val="A31515"/>
                </a:solidFill>
                <a:latin typeface="Cascadia Mono" panose="020B0609020000020004" pitchFamily="49" charset="0"/>
              </a:rPr>
              <a:t>x</a:t>
            </a:r>
            <a:r>
              <a:rPr lang="fr-FR" sz="1600" dirty="0" err="1">
                <a:solidFill>
                  <a:srgbClr val="0000FF"/>
                </a:solidFill>
                <a:latin typeface="Cascadia Mono" panose="020B0609020000020004" pitchFamily="49" charset="0"/>
              </a:rPr>
              <a:t>:</a:t>
            </a:r>
            <a:r>
              <a:rPr lang="fr-FR" sz="1600" dirty="0" err="1">
                <a:solidFill>
                  <a:srgbClr val="A31515"/>
                </a:solidFill>
                <a:latin typeface="Cascadia Mono" panose="020B0609020000020004" pitchFamily="49" charset="0"/>
              </a:rPr>
              <a:t>String</a:t>
            </a:r>
            <a:r>
              <a:rPr lang="fr-FR" sz="1600" dirty="0">
                <a:solidFill>
                  <a:srgbClr val="0000FF"/>
                </a:solidFill>
                <a:latin typeface="Cascadia Mono" panose="020B0609020000020004" pitchFamily="49" charset="0"/>
              </a:rPr>
              <a:t>&gt;</a:t>
            </a:r>
            <a:endParaRPr lang="fr-FR" sz="1600" dirty="0">
              <a:solidFill>
                <a:srgbClr val="000000"/>
              </a:solidFill>
              <a:latin typeface="Cascadia Mono" panose="020B0609020000020004" pitchFamily="49" charset="0"/>
            </a:endParaRPr>
          </a:p>
          <a:p>
            <a:r>
              <a:rPr lang="fr-FR" sz="1600" dirty="0" smtClean="0">
                <a:solidFill>
                  <a:srgbClr val="0000FF"/>
                </a:solidFill>
                <a:latin typeface="Cascadia Mono" panose="020B0609020000020004" pitchFamily="49" charset="0"/>
              </a:rPr>
              <a:t>    &lt;</a:t>
            </a:r>
            <a:r>
              <a:rPr lang="fr-FR" sz="1600" dirty="0" err="1">
                <a:solidFill>
                  <a:srgbClr val="A31515"/>
                </a:solidFill>
                <a:latin typeface="Cascadia Mono" panose="020B0609020000020004" pitchFamily="49" charset="0"/>
              </a:rPr>
              <a:t>x</a:t>
            </a:r>
            <a:r>
              <a:rPr lang="fr-FR" sz="1600" dirty="0" err="1">
                <a:solidFill>
                  <a:srgbClr val="0000FF"/>
                </a:solidFill>
                <a:latin typeface="Cascadia Mono" panose="020B0609020000020004" pitchFamily="49" charset="0"/>
              </a:rPr>
              <a:t>:</a:t>
            </a:r>
            <a:r>
              <a:rPr lang="fr-FR" sz="1600" dirty="0" err="1">
                <a:solidFill>
                  <a:srgbClr val="A31515"/>
                </a:solidFill>
                <a:latin typeface="Cascadia Mono" panose="020B0609020000020004" pitchFamily="49" charset="0"/>
              </a:rPr>
              <a:t>String</a:t>
            </a:r>
            <a:r>
              <a:rPr lang="fr-FR" sz="1600" dirty="0">
                <a:solidFill>
                  <a:srgbClr val="0000FF"/>
                </a:solidFill>
                <a:latin typeface="Cascadia Mono" panose="020B0609020000020004" pitchFamily="49" charset="0"/>
              </a:rPr>
              <a:t>&gt;</a:t>
            </a:r>
            <a:r>
              <a:rPr lang="fr-FR" sz="1600" dirty="0" err="1">
                <a:solidFill>
                  <a:srgbClr val="000000"/>
                </a:solidFill>
                <a:latin typeface="Cascadia Mono" panose="020B0609020000020004" pitchFamily="49" charset="0"/>
              </a:rPr>
              <a:t>Japanese</a:t>
            </a:r>
            <a:r>
              <a:rPr lang="fr-FR" sz="1600" dirty="0">
                <a:solidFill>
                  <a:srgbClr val="000000"/>
                </a:solidFill>
                <a:latin typeface="Cascadia Mono" panose="020B0609020000020004" pitchFamily="49" charset="0"/>
              </a:rPr>
              <a:t> Macaque</a:t>
            </a:r>
            <a:r>
              <a:rPr lang="fr-FR" sz="1600" dirty="0">
                <a:solidFill>
                  <a:srgbClr val="0000FF"/>
                </a:solidFill>
                <a:latin typeface="Cascadia Mono" panose="020B0609020000020004" pitchFamily="49" charset="0"/>
              </a:rPr>
              <a:t>&lt;/</a:t>
            </a:r>
            <a:r>
              <a:rPr lang="fr-FR" sz="1600" dirty="0" err="1">
                <a:solidFill>
                  <a:srgbClr val="A31515"/>
                </a:solidFill>
                <a:latin typeface="Cascadia Mono" panose="020B0609020000020004" pitchFamily="49" charset="0"/>
              </a:rPr>
              <a:t>x</a:t>
            </a:r>
            <a:r>
              <a:rPr lang="fr-FR" sz="1600" dirty="0" err="1">
                <a:solidFill>
                  <a:srgbClr val="0000FF"/>
                </a:solidFill>
                <a:latin typeface="Cascadia Mono" panose="020B0609020000020004" pitchFamily="49" charset="0"/>
              </a:rPr>
              <a:t>:</a:t>
            </a:r>
            <a:r>
              <a:rPr lang="fr-FR" sz="1600" dirty="0" err="1">
                <a:solidFill>
                  <a:srgbClr val="A31515"/>
                </a:solidFill>
                <a:latin typeface="Cascadia Mono" panose="020B0609020000020004" pitchFamily="49" charset="0"/>
              </a:rPr>
              <a:t>String</a:t>
            </a:r>
            <a:r>
              <a:rPr lang="fr-FR" sz="1600" dirty="0">
                <a:solidFill>
                  <a:srgbClr val="0000FF"/>
                </a:solidFill>
                <a:latin typeface="Cascadia Mono" panose="020B0609020000020004" pitchFamily="49" charset="0"/>
              </a:rPr>
              <a:t>&gt;</a:t>
            </a:r>
            <a:endParaRPr lang="fr-FR" sz="1600" dirty="0">
              <a:solidFill>
                <a:srgbClr val="000000"/>
              </a:solidFill>
              <a:latin typeface="Cascadia Mono" panose="020B0609020000020004" pitchFamily="49" charset="0"/>
            </a:endParaRPr>
          </a:p>
          <a:p>
            <a:r>
              <a:rPr lang="fr-FR" sz="1600" dirty="0" smtClean="0">
                <a:solidFill>
                  <a:srgbClr val="0000FF"/>
                </a:solidFill>
                <a:latin typeface="Cascadia Mono" panose="020B0609020000020004" pitchFamily="49" charset="0"/>
              </a:rPr>
              <a:t>   &lt;/</a:t>
            </a:r>
            <a:r>
              <a:rPr lang="fr-FR" sz="1600" dirty="0" err="1">
                <a:solidFill>
                  <a:srgbClr val="A31515"/>
                </a:solidFill>
                <a:latin typeface="Cascadia Mono" panose="020B0609020000020004" pitchFamily="49" charset="0"/>
              </a:rPr>
              <a:t>Picker.Items</a:t>
            </a:r>
            <a:r>
              <a:rPr lang="fr-FR" sz="1600" dirty="0" smtClean="0">
                <a:solidFill>
                  <a:srgbClr val="0000FF"/>
                </a:solidFill>
                <a:latin typeface="Cascadia Mono" panose="020B0609020000020004" pitchFamily="49" charset="0"/>
              </a:rPr>
              <a:t>&gt;</a:t>
            </a:r>
          </a:p>
          <a:p>
            <a:r>
              <a:rPr lang="fr-FR" sz="1600" dirty="0" smtClean="0">
                <a:solidFill>
                  <a:srgbClr val="0000FF"/>
                </a:solidFill>
                <a:latin typeface="Cascadia Mono" panose="020B0609020000020004" pitchFamily="49" charset="0"/>
              </a:rPr>
              <a:t>&lt;/</a:t>
            </a:r>
            <a:r>
              <a:rPr lang="fr-FR" sz="1600" dirty="0" err="1">
                <a:solidFill>
                  <a:srgbClr val="A31515"/>
                </a:solidFill>
                <a:latin typeface="Cascadia Mono" panose="020B0609020000020004" pitchFamily="49" charset="0"/>
              </a:rPr>
              <a:t>Picker</a:t>
            </a:r>
            <a:r>
              <a:rPr lang="fr-FR" sz="1600" dirty="0">
                <a:solidFill>
                  <a:srgbClr val="0000FF"/>
                </a:solidFill>
                <a:latin typeface="Cascadia Mono" panose="020B0609020000020004" pitchFamily="49" charset="0"/>
              </a:rPr>
              <a:t>&gt;</a:t>
            </a:r>
            <a:endParaRPr lang="fr-FR" sz="1600" dirty="0"/>
          </a:p>
        </p:txBody>
      </p:sp>
      <p:sp>
        <p:nvSpPr>
          <p:cNvPr id="5" name="Rectangle 4"/>
          <p:cNvSpPr/>
          <p:nvPr/>
        </p:nvSpPr>
        <p:spPr>
          <a:xfrm>
            <a:off x="5971505" y="1665847"/>
            <a:ext cx="6096000" cy="3323987"/>
          </a:xfrm>
          <a:prstGeom prst="rect">
            <a:avLst/>
          </a:prstGeom>
        </p:spPr>
        <p:txBody>
          <a:bodyPr>
            <a:spAutoFit/>
          </a:bodyPr>
          <a:lstStyle/>
          <a:p>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&lt;</a:t>
            </a:r>
            <a:r>
              <a:rPr lang="en-US" sz="1400" dirty="0">
                <a:solidFill>
                  <a:srgbClr val="A31515"/>
                </a:solidFill>
                <a:latin typeface="Cascadia Mono" panose="020B0609020000020004" pitchFamily="49" charset="0"/>
              </a:rPr>
              <a:t>Picker</a:t>
            </a:r>
            <a:r>
              <a:rPr lang="en-US" sz="1400" dirty="0">
                <a:solidFill>
                  <a:srgbClr val="FF0000"/>
                </a:solidFill>
                <a:latin typeface="Cascadia Mono" panose="020B0609020000020004" pitchFamily="49" charset="0"/>
              </a:rPr>
              <a:t> Title</a:t>
            </a:r>
            <a:r>
              <a:rPr lang="en-US" sz="1400" dirty="0">
                <a:solidFill>
                  <a:srgbClr val="0000FF"/>
                </a:solidFill>
                <a:latin typeface="Cascadia Mono" panose="020B0609020000020004" pitchFamily="49" charset="0"/>
              </a:rPr>
              <a:t>="Select a monkey"&gt;</a:t>
            </a:r>
            <a:endParaRPr lang="en-US" sz="1400" dirty="0">
              <a:solidFill>
                <a:srgbClr val="000000"/>
              </a:solidFill>
              <a:latin typeface="Cascadia Mono" panose="020B0609020000020004" pitchFamily="49" charset="0"/>
            </a:endParaRPr>
          </a:p>
          <a:p>
            <a:r>
              <a:rPr lang="fr-FR" sz="1400" dirty="0">
                <a:solidFill>
                  <a:srgbClr val="000000"/>
                </a:solidFill>
                <a:latin typeface="Cascadia Mono" panose="020B0609020000020004" pitchFamily="49" charset="0"/>
              </a:rPr>
              <a:t>            </a:t>
            </a:r>
            <a:r>
              <a:rPr lang="fr-FR" sz="1400" dirty="0">
                <a:solidFill>
                  <a:srgbClr val="0000FF"/>
                </a:solidFill>
                <a:latin typeface="Cascadia Mono" panose="020B0609020000020004" pitchFamily="49" charset="0"/>
              </a:rPr>
              <a:t>&lt;</a:t>
            </a:r>
            <a:r>
              <a:rPr lang="fr-FR" sz="1400" dirty="0" err="1">
                <a:solidFill>
                  <a:srgbClr val="A31515"/>
                </a:solidFill>
                <a:latin typeface="Cascadia Mono" panose="020B0609020000020004" pitchFamily="49" charset="0"/>
              </a:rPr>
              <a:t>Picker.ItemsSource</a:t>
            </a:r>
            <a:r>
              <a:rPr lang="fr-FR" sz="1400" dirty="0">
                <a:solidFill>
                  <a:srgbClr val="0000FF"/>
                </a:solidFill>
                <a:latin typeface="Cascadia Mono" panose="020B0609020000020004" pitchFamily="49" charset="0"/>
              </a:rPr>
              <a:t>&gt;</a:t>
            </a:r>
            <a:endParaRPr lang="fr-FR" sz="1400" dirty="0">
              <a:solidFill>
                <a:srgbClr val="000000"/>
              </a:solidFill>
              <a:latin typeface="Cascadia Mono" panose="020B0609020000020004" pitchFamily="49" charset="0"/>
            </a:endParaRPr>
          </a:p>
          <a:p>
            <a:r>
              <a:rPr lang="fr-FR" sz="1400" dirty="0">
                <a:solidFill>
                  <a:srgbClr val="000000"/>
                </a:solidFill>
                <a:latin typeface="Cascadia Mono" panose="020B0609020000020004" pitchFamily="49" charset="0"/>
              </a:rPr>
              <a:t>                </a:t>
            </a:r>
            <a:r>
              <a:rPr lang="fr-FR" sz="1400" dirty="0">
                <a:solidFill>
                  <a:srgbClr val="0000FF"/>
                </a:solidFill>
                <a:latin typeface="Cascadia Mono" panose="020B0609020000020004" pitchFamily="49" charset="0"/>
              </a:rPr>
              <a:t>&lt;</a:t>
            </a:r>
            <a:r>
              <a:rPr lang="fr-FR" sz="1400" dirty="0" err="1">
                <a:solidFill>
                  <a:srgbClr val="A31515"/>
                </a:solidFill>
                <a:latin typeface="Cascadia Mono" panose="020B0609020000020004" pitchFamily="49" charset="0"/>
              </a:rPr>
              <a:t>x</a:t>
            </a:r>
            <a:r>
              <a:rPr lang="fr-FR" sz="1400" dirty="0" err="1">
                <a:solidFill>
                  <a:srgbClr val="0000FF"/>
                </a:solidFill>
                <a:latin typeface="Cascadia Mono" panose="020B0609020000020004" pitchFamily="49" charset="0"/>
              </a:rPr>
              <a:t>:</a:t>
            </a:r>
            <a:r>
              <a:rPr lang="fr-FR" sz="1400" dirty="0" err="1">
                <a:solidFill>
                  <a:srgbClr val="A31515"/>
                </a:solidFill>
                <a:latin typeface="Cascadia Mono" panose="020B0609020000020004" pitchFamily="49" charset="0"/>
              </a:rPr>
              <a:t>Array</a:t>
            </a:r>
            <a:r>
              <a:rPr lang="fr-FR" sz="1400" dirty="0">
                <a:solidFill>
                  <a:srgbClr val="FF0000"/>
                </a:solidFill>
                <a:latin typeface="Cascadia Mono" panose="020B0609020000020004" pitchFamily="49" charset="0"/>
              </a:rPr>
              <a:t> Type</a:t>
            </a:r>
            <a:r>
              <a:rPr lang="fr-FR" sz="1400" dirty="0">
                <a:solidFill>
                  <a:srgbClr val="0000FF"/>
                </a:solidFill>
                <a:latin typeface="Cascadia Mono" panose="020B0609020000020004" pitchFamily="49" charset="0"/>
              </a:rPr>
              <a:t>="{</a:t>
            </a:r>
            <a:r>
              <a:rPr lang="fr-FR" sz="1400" dirty="0" err="1">
                <a:solidFill>
                  <a:srgbClr val="A31515"/>
                </a:solidFill>
                <a:latin typeface="Cascadia Mono" panose="020B0609020000020004" pitchFamily="49" charset="0"/>
              </a:rPr>
              <a:t>x</a:t>
            </a:r>
            <a:r>
              <a:rPr lang="fr-FR" sz="1400" dirty="0" err="1">
                <a:solidFill>
                  <a:srgbClr val="0000FF"/>
                </a:solidFill>
                <a:latin typeface="Cascadia Mono" panose="020B0609020000020004" pitchFamily="49" charset="0"/>
              </a:rPr>
              <a:t>:</a:t>
            </a:r>
            <a:r>
              <a:rPr lang="fr-FR" sz="1400" dirty="0" err="1">
                <a:solidFill>
                  <a:srgbClr val="A31515"/>
                </a:solidFill>
                <a:latin typeface="Cascadia Mono" panose="020B0609020000020004" pitchFamily="49" charset="0"/>
              </a:rPr>
              <a:t>Type</a:t>
            </a:r>
            <a:r>
              <a:rPr lang="fr-FR" sz="1400" dirty="0">
                <a:solidFill>
                  <a:srgbClr val="FF0000"/>
                </a:solidFill>
                <a:latin typeface="Cascadia Mono" panose="020B0609020000020004" pitchFamily="49" charset="0"/>
              </a:rPr>
              <a:t> x</a:t>
            </a:r>
            <a:r>
              <a:rPr lang="fr-FR" sz="1400" dirty="0">
                <a:solidFill>
                  <a:srgbClr val="0000FF"/>
                </a:solidFill>
                <a:latin typeface="Cascadia Mono" panose="020B0609020000020004" pitchFamily="49" charset="0"/>
              </a:rPr>
              <a:t>:</a:t>
            </a:r>
            <a:r>
              <a:rPr lang="fr-FR" sz="1400" dirty="0">
                <a:solidFill>
                  <a:srgbClr val="FF0000"/>
                </a:solidFill>
                <a:latin typeface="Cascadia Mono" panose="020B0609020000020004" pitchFamily="49" charset="0"/>
              </a:rPr>
              <a:t>String</a:t>
            </a:r>
            <a:r>
              <a:rPr lang="fr-FR" sz="1400" dirty="0">
                <a:solidFill>
                  <a:srgbClr val="0000FF"/>
                </a:solidFill>
                <a:latin typeface="Cascadia Mono" panose="020B0609020000020004" pitchFamily="49" charset="0"/>
              </a:rPr>
              <a:t>}"&gt;</a:t>
            </a:r>
            <a:endParaRPr lang="fr-FR" sz="1400" dirty="0">
              <a:solidFill>
                <a:srgbClr val="000000"/>
              </a:solidFill>
              <a:latin typeface="Cascadia Mono" panose="020B0609020000020004" pitchFamily="49" charset="0"/>
            </a:endParaRPr>
          </a:p>
          <a:p>
            <a:r>
              <a:rPr lang="fr-FR" sz="1400" dirty="0">
                <a:solidFill>
                  <a:srgbClr val="000000"/>
                </a:solidFill>
                <a:latin typeface="Cascadia Mono" panose="020B0609020000020004" pitchFamily="49" charset="0"/>
              </a:rPr>
              <a:t>                    </a:t>
            </a:r>
            <a:r>
              <a:rPr lang="fr-FR" sz="1400" dirty="0">
                <a:solidFill>
                  <a:srgbClr val="0000FF"/>
                </a:solidFill>
                <a:latin typeface="Cascadia Mono" panose="020B0609020000020004" pitchFamily="49" charset="0"/>
              </a:rPr>
              <a:t>&lt;</a:t>
            </a:r>
            <a:r>
              <a:rPr lang="fr-FR" sz="1400" dirty="0" err="1">
                <a:solidFill>
                  <a:srgbClr val="A31515"/>
                </a:solidFill>
                <a:latin typeface="Cascadia Mono" panose="020B0609020000020004" pitchFamily="49" charset="0"/>
              </a:rPr>
              <a:t>x</a:t>
            </a:r>
            <a:r>
              <a:rPr lang="fr-FR" sz="1400" dirty="0" err="1">
                <a:solidFill>
                  <a:srgbClr val="0000FF"/>
                </a:solidFill>
                <a:latin typeface="Cascadia Mono" panose="020B0609020000020004" pitchFamily="49" charset="0"/>
              </a:rPr>
              <a:t>:</a:t>
            </a:r>
            <a:r>
              <a:rPr lang="fr-FR" sz="1400" dirty="0" err="1">
                <a:solidFill>
                  <a:srgbClr val="A31515"/>
                </a:solidFill>
                <a:latin typeface="Cascadia Mono" panose="020B0609020000020004" pitchFamily="49" charset="0"/>
              </a:rPr>
              <a:t>String</a:t>
            </a:r>
            <a:r>
              <a:rPr lang="fr-FR" sz="1400" dirty="0">
                <a:solidFill>
                  <a:srgbClr val="0000FF"/>
                </a:solidFill>
                <a:latin typeface="Cascadia Mono" panose="020B0609020000020004" pitchFamily="49" charset="0"/>
              </a:rPr>
              <a:t>&gt;</a:t>
            </a:r>
            <a:r>
              <a:rPr lang="fr-FR" sz="1400" dirty="0" err="1">
                <a:solidFill>
                  <a:srgbClr val="000000"/>
                </a:solidFill>
                <a:latin typeface="Cascadia Mono" panose="020B0609020000020004" pitchFamily="49" charset="0"/>
              </a:rPr>
              <a:t>Baboon</a:t>
            </a:r>
            <a:r>
              <a:rPr lang="fr-FR" sz="1400" dirty="0">
                <a:solidFill>
                  <a:srgbClr val="0000FF"/>
                </a:solidFill>
                <a:latin typeface="Cascadia Mono" panose="020B0609020000020004" pitchFamily="49" charset="0"/>
              </a:rPr>
              <a:t>&lt;/</a:t>
            </a:r>
            <a:r>
              <a:rPr lang="fr-FR" sz="1400" dirty="0" err="1">
                <a:solidFill>
                  <a:srgbClr val="A31515"/>
                </a:solidFill>
                <a:latin typeface="Cascadia Mono" panose="020B0609020000020004" pitchFamily="49" charset="0"/>
              </a:rPr>
              <a:t>x</a:t>
            </a:r>
            <a:r>
              <a:rPr lang="fr-FR" sz="1400" dirty="0" err="1">
                <a:solidFill>
                  <a:srgbClr val="0000FF"/>
                </a:solidFill>
                <a:latin typeface="Cascadia Mono" panose="020B0609020000020004" pitchFamily="49" charset="0"/>
              </a:rPr>
              <a:t>:</a:t>
            </a:r>
            <a:r>
              <a:rPr lang="fr-FR" sz="1400" dirty="0" err="1">
                <a:solidFill>
                  <a:srgbClr val="A31515"/>
                </a:solidFill>
                <a:latin typeface="Cascadia Mono" panose="020B0609020000020004" pitchFamily="49" charset="0"/>
              </a:rPr>
              <a:t>String</a:t>
            </a:r>
            <a:r>
              <a:rPr lang="fr-FR" sz="1400" dirty="0">
                <a:solidFill>
                  <a:srgbClr val="0000FF"/>
                </a:solidFill>
                <a:latin typeface="Cascadia Mono" panose="020B0609020000020004" pitchFamily="49" charset="0"/>
              </a:rPr>
              <a:t>&gt;</a:t>
            </a:r>
            <a:endParaRPr lang="fr-FR" sz="1400" dirty="0">
              <a:solidFill>
                <a:srgbClr val="000000"/>
              </a:solidFill>
              <a:latin typeface="Cascadia Mono" panose="020B0609020000020004" pitchFamily="49" charset="0"/>
            </a:endParaRPr>
          </a:p>
          <a:p>
            <a:r>
              <a:rPr lang="fr-FR" sz="1400" dirty="0">
                <a:solidFill>
                  <a:srgbClr val="000000"/>
                </a:solidFill>
                <a:latin typeface="Cascadia Mono" panose="020B0609020000020004" pitchFamily="49" charset="0"/>
              </a:rPr>
              <a:t>                    </a:t>
            </a:r>
            <a:r>
              <a:rPr lang="fr-FR" sz="1400" dirty="0">
                <a:solidFill>
                  <a:srgbClr val="0000FF"/>
                </a:solidFill>
                <a:latin typeface="Cascadia Mono" panose="020B0609020000020004" pitchFamily="49" charset="0"/>
              </a:rPr>
              <a:t>&lt;</a:t>
            </a:r>
            <a:r>
              <a:rPr lang="fr-FR" sz="1400" dirty="0" err="1">
                <a:solidFill>
                  <a:srgbClr val="A31515"/>
                </a:solidFill>
                <a:latin typeface="Cascadia Mono" panose="020B0609020000020004" pitchFamily="49" charset="0"/>
              </a:rPr>
              <a:t>x</a:t>
            </a:r>
            <a:r>
              <a:rPr lang="fr-FR" sz="1400" dirty="0" err="1">
                <a:solidFill>
                  <a:srgbClr val="0000FF"/>
                </a:solidFill>
                <a:latin typeface="Cascadia Mono" panose="020B0609020000020004" pitchFamily="49" charset="0"/>
              </a:rPr>
              <a:t>:</a:t>
            </a:r>
            <a:r>
              <a:rPr lang="fr-FR" sz="1400" dirty="0" err="1">
                <a:solidFill>
                  <a:srgbClr val="A31515"/>
                </a:solidFill>
                <a:latin typeface="Cascadia Mono" panose="020B0609020000020004" pitchFamily="49" charset="0"/>
              </a:rPr>
              <a:t>String</a:t>
            </a:r>
            <a:r>
              <a:rPr lang="fr-FR" sz="1400" dirty="0">
                <a:solidFill>
                  <a:srgbClr val="0000FF"/>
                </a:solidFill>
                <a:latin typeface="Cascadia Mono" panose="020B0609020000020004" pitchFamily="49" charset="0"/>
              </a:rPr>
              <a:t>&gt;</a:t>
            </a:r>
            <a:r>
              <a:rPr lang="fr-FR" sz="1400" dirty="0" err="1">
                <a:solidFill>
                  <a:srgbClr val="000000"/>
                </a:solidFill>
                <a:latin typeface="Cascadia Mono" panose="020B0609020000020004" pitchFamily="49" charset="0"/>
              </a:rPr>
              <a:t>Capuchin</a:t>
            </a:r>
            <a:r>
              <a:rPr lang="fr-FR" sz="1400" dirty="0">
                <a:solidFill>
                  <a:srgbClr val="000000"/>
                </a:solidFill>
                <a:latin typeface="Cascadia Mono" panose="020B0609020000020004" pitchFamily="49" charset="0"/>
              </a:rPr>
              <a:t> Monkey</a:t>
            </a:r>
            <a:r>
              <a:rPr lang="fr-FR" sz="1400" dirty="0">
                <a:solidFill>
                  <a:srgbClr val="0000FF"/>
                </a:solidFill>
                <a:latin typeface="Cascadia Mono" panose="020B0609020000020004" pitchFamily="49" charset="0"/>
              </a:rPr>
              <a:t>&lt;/</a:t>
            </a:r>
            <a:r>
              <a:rPr lang="fr-FR" sz="1400" dirty="0" err="1">
                <a:solidFill>
                  <a:srgbClr val="A31515"/>
                </a:solidFill>
                <a:latin typeface="Cascadia Mono" panose="020B0609020000020004" pitchFamily="49" charset="0"/>
              </a:rPr>
              <a:t>x</a:t>
            </a:r>
            <a:r>
              <a:rPr lang="fr-FR" sz="1400" dirty="0" err="1">
                <a:solidFill>
                  <a:srgbClr val="0000FF"/>
                </a:solidFill>
                <a:latin typeface="Cascadia Mono" panose="020B0609020000020004" pitchFamily="49" charset="0"/>
              </a:rPr>
              <a:t>:</a:t>
            </a:r>
            <a:r>
              <a:rPr lang="fr-FR" sz="1400" dirty="0" err="1">
                <a:solidFill>
                  <a:srgbClr val="A31515"/>
                </a:solidFill>
                <a:latin typeface="Cascadia Mono" panose="020B0609020000020004" pitchFamily="49" charset="0"/>
              </a:rPr>
              <a:t>String</a:t>
            </a:r>
            <a:r>
              <a:rPr lang="fr-FR" sz="1400" dirty="0">
                <a:solidFill>
                  <a:srgbClr val="0000FF"/>
                </a:solidFill>
                <a:latin typeface="Cascadia Mono" panose="020B0609020000020004" pitchFamily="49" charset="0"/>
              </a:rPr>
              <a:t>&gt;</a:t>
            </a:r>
            <a:endParaRPr lang="fr-FR" sz="1400" dirty="0">
              <a:solidFill>
                <a:srgbClr val="000000"/>
              </a:solidFill>
              <a:latin typeface="Cascadia Mono" panose="020B0609020000020004" pitchFamily="49" charset="0"/>
            </a:endParaRPr>
          </a:p>
          <a:p>
            <a:r>
              <a:rPr lang="fr-FR" sz="1400" dirty="0">
                <a:solidFill>
                  <a:srgbClr val="000000"/>
                </a:solidFill>
                <a:latin typeface="Cascadia Mono" panose="020B0609020000020004" pitchFamily="49" charset="0"/>
              </a:rPr>
              <a:t>                    </a:t>
            </a:r>
            <a:r>
              <a:rPr lang="fr-FR" sz="1400" dirty="0">
                <a:solidFill>
                  <a:srgbClr val="0000FF"/>
                </a:solidFill>
                <a:latin typeface="Cascadia Mono" panose="020B0609020000020004" pitchFamily="49" charset="0"/>
              </a:rPr>
              <a:t>&lt;</a:t>
            </a:r>
            <a:r>
              <a:rPr lang="fr-FR" sz="1400" dirty="0" err="1">
                <a:solidFill>
                  <a:srgbClr val="A31515"/>
                </a:solidFill>
                <a:latin typeface="Cascadia Mono" panose="020B0609020000020004" pitchFamily="49" charset="0"/>
              </a:rPr>
              <a:t>x</a:t>
            </a:r>
            <a:r>
              <a:rPr lang="fr-FR" sz="1400" dirty="0" err="1">
                <a:solidFill>
                  <a:srgbClr val="0000FF"/>
                </a:solidFill>
                <a:latin typeface="Cascadia Mono" panose="020B0609020000020004" pitchFamily="49" charset="0"/>
              </a:rPr>
              <a:t>:</a:t>
            </a:r>
            <a:r>
              <a:rPr lang="fr-FR" sz="1400" dirty="0" err="1">
                <a:solidFill>
                  <a:srgbClr val="A31515"/>
                </a:solidFill>
                <a:latin typeface="Cascadia Mono" panose="020B0609020000020004" pitchFamily="49" charset="0"/>
              </a:rPr>
              <a:t>String</a:t>
            </a:r>
            <a:r>
              <a:rPr lang="fr-FR" sz="1400" dirty="0">
                <a:solidFill>
                  <a:srgbClr val="0000FF"/>
                </a:solidFill>
                <a:latin typeface="Cascadia Mono" panose="020B0609020000020004" pitchFamily="49" charset="0"/>
              </a:rPr>
              <a:t>&gt;</a:t>
            </a:r>
            <a:r>
              <a:rPr lang="fr-FR" sz="1400" dirty="0">
                <a:solidFill>
                  <a:srgbClr val="000000"/>
                </a:solidFill>
                <a:latin typeface="Cascadia Mono" panose="020B0609020000020004" pitchFamily="49" charset="0"/>
              </a:rPr>
              <a:t>Blue Monkey</a:t>
            </a:r>
            <a:r>
              <a:rPr lang="fr-FR" sz="1400" dirty="0">
                <a:solidFill>
                  <a:srgbClr val="0000FF"/>
                </a:solidFill>
                <a:latin typeface="Cascadia Mono" panose="020B0609020000020004" pitchFamily="49" charset="0"/>
              </a:rPr>
              <a:t>&lt;/</a:t>
            </a:r>
            <a:r>
              <a:rPr lang="fr-FR" sz="1400" dirty="0" err="1">
                <a:solidFill>
                  <a:srgbClr val="A31515"/>
                </a:solidFill>
                <a:latin typeface="Cascadia Mono" panose="020B0609020000020004" pitchFamily="49" charset="0"/>
              </a:rPr>
              <a:t>x</a:t>
            </a:r>
            <a:r>
              <a:rPr lang="fr-FR" sz="1400" dirty="0" err="1">
                <a:solidFill>
                  <a:srgbClr val="0000FF"/>
                </a:solidFill>
                <a:latin typeface="Cascadia Mono" panose="020B0609020000020004" pitchFamily="49" charset="0"/>
              </a:rPr>
              <a:t>:</a:t>
            </a:r>
            <a:r>
              <a:rPr lang="fr-FR" sz="1400" dirty="0" err="1">
                <a:solidFill>
                  <a:srgbClr val="A31515"/>
                </a:solidFill>
                <a:latin typeface="Cascadia Mono" panose="020B0609020000020004" pitchFamily="49" charset="0"/>
              </a:rPr>
              <a:t>String</a:t>
            </a:r>
            <a:r>
              <a:rPr lang="fr-FR" sz="1400" dirty="0">
                <a:solidFill>
                  <a:srgbClr val="0000FF"/>
                </a:solidFill>
                <a:latin typeface="Cascadia Mono" panose="020B0609020000020004" pitchFamily="49" charset="0"/>
              </a:rPr>
              <a:t>&gt;</a:t>
            </a:r>
            <a:endParaRPr lang="fr-FR" sz="1400" dirty="0">
              <a:solidFill>
                <a:srgbClr val="000000"/>
              </a:solidFill>
              <a:latin typeface="Cascadia Mono" panose="020B0609020000020004" pitchFamily="49" charset="0"/>
            </a:endParaRPr>
          </a:p>
          <a:p>
            <a:r>
              <a:rPr lang="fr-FR" sz="1400" dirty="0">
                <a:solidFill>
                  <a:srgbClr val="000000"/>
                </a:solidFill>
                <a:latin typeface="Cascadia Mono" panose="020B0609020000020004" pitchFamily="49" charset="0"/>
              </a:rPr>
              <a:t>                    </a:t>
            </a:r>
            <a:r>
              <a:rPr lang="fr-FR" sz="1400" dirty="0">
                <a:solidFill>
                  <a:srgbClr val="0000FF"/>
                </a:solidFill>
                <a:latin typeface="Cascadia Mono" panose="020B0609020000020004" pitchFamily="49" charset="0"/>
              </a:rPr>
              <a:t>&lt;</a:t>
            </a:r>
            <a:r>
              <a:rPr lang="fr-FR" sz="1400" dirty="0" err="1">
                <a:solidFill>
                  <a:srgbClr val="A31515"/>
                </a:solidFill>
                <a:latin typeface="Cascadia Mono" panose="020B0609020000020004" pitchFamily="49" charset="0"/>
              </a:rPr>
              <a:t>x</a:t>
            </a:r>
            <a:r>
              <a:rPr lang="fr-FR" sz="1400" dirty="0" err="1">
                <a:solidFill>
                  <a:srgbClr val="0000FF"/>
                </a:solidFill>
                <a:latin typeface="Cascadia Mono" panose="020B0609020000020004" pitchFamily="49" charset="0"/>
              </a:rPr>
              <a:t>:</a:t>
            </a:r>
            <a:r>
              <a:rPr lang="fr-FR" sz="1400" dirty="0" err="1">
                <a:solidFill>
                  <a:srgbClr val="A31515"/>
                </a:solidFill>
                <a:latin typeface="Cascadia Mono" panose="020B0609020000020004" pitchFamily="49" charset="0"/>
              </a:rPr>
              <a:t>String</a:t>
            </a:r>
            <a:r>
              <a:rPr lang="fr-FR" sz="1400" dirty="0">
                <a:solidFill>
                  <a:srgbClr val="0000FF"/>
                </a:solidFill>
                <a:latin typeface="Cascadia Mono" panose="020B0609020000020004" pitchFamily="49" charset="0"/>
              </a:rPr>
              <a:t>&gt;</a:t>
            </a:r>
            <a:r>
              <a:rPr lang="fr-FR" sz="1400" dirty="0" err="1">
                <a:solidFill>
                  <a:srgbClr val="000000"/>
                </a:solidFill>
                <a:latin typeface="Cascadia Mono" panose="020B0609020000020004" pitchFamily="49" charset="0"/>
              </a:rPr>
              <a:t>Squirrel</a:t>
            </a:r>
            <a:r>
              <a:rPr lang="fr-FR" sz="1400" dirty="0">
                <a:solidFill>
                  <a:srgbClr val="000000"/>
                </a:solidFill>
                <a:latin typeface="Cascadia Mono" panose="020B0609020000020004" pitchFamily="49" charset="0"/>
              </a:rPr>
              <a:t> Monkey</a:t>
            </a:r>
            <a:r>
              <a:rPr lang="fr-FR" sz="1400" dirty="0">
                <a:solidFill>
                  <a:srgbClr val="0000FF"/>
                </a:solidFill>
                <a:latin typeface="Cascadia Mono" panose="020B0609020000020004" pitchFamily="49" charset="0"/>
              </a:rPr>
              <a:t>&lt;/</a:t>
            </a:r>
            <a:r>
              <a:rPr lang="fr-FR" sz="1400" dirty="0" err="1">
                <a:solidFill>
                  <a:srgbClr val="A31515"/>
                </a:solidFill>
                <a:latin typeface="Cascadia Mono" panose="020B0609020000020004" pitchFamily="49" charset="0"/>
              </a:rPr>
              <a:t>x</a:t>
            </a:r>
            <a:r>
              <a:rPr lang="fr-FR" sz="1400" dirty="0" err="1">
                <a:solidFill>
                  <a:srgbClr val="0000FF"/>
                </a:solidFill>
                <a:latin typeface="Cascadia Mono" panose="020B0609020000020004" pitchFamily="49" charset="0"/>
              </a:rPr>
              <a:t>:</a:t>
            </a:r>
            <a:r>
              <a:rPr lang="fr-FR" sz="1400" dirty="0" err="1">
                <a:solidFill>
                  <a:srgbClr val="A31515"/>
                </a:solidFill>
                <a:latin typeface="Cascadia Mono" panose="020B0609020000020004" pitchFamily="49" charset="0"/>
              </a:rPr>
              <a:t>String</a:t>
            </a:r>
            <a:r>
              <a:rPr lang="fr-FR" sz="1400" dirty="0">
                <a:solidFill>
                  <a:srgbClr val="0000FF"/>
                </a:solidFill>
                <a:latin typeface="Cascadia Mono" panose="020B0609020000020004" pitchFamily="49" charset="0"/>
              </a:rPr>
              <a:t>&gt;</a:t>
            </a:r>
            <a:endParaRPr lang="fr-FR" sz="1400" dirty="0">
              <a:solidFill>
                <a:srgbClr val="000000"/>
              </a:solidFill>
              <a:latin typeface="Cascadia Mono" panose="020B0609020000020004" pitchFamily="49" charset="0"/>
            </a:endParaRPr>
          </a:p>
          <a:p>
            <a:r>
              <a:rPr lang="fr-FR" sz="1400" dirty="0">
                <a:solidFill>
                  <a:srgbClr val="000000"/>
                </a:solidFill>
                <a:latin typeface="Cascadia Mono" panose="020B0609020000020004" pitchFamily="49" charset="0"/>
              </a:rPr>
              <a:t>                    </a:t>
            </a:r>
            <a:r>
              <a:rPr lang="fr-FR" sz="1400" dirty="0">
                <a:solidFill>
                  <a:srgbClr val="0000FF"/>
                </a:solidFill>
                <a:latin typeface="Cascadia Mono" panose="020B0609020000020004" pitchFamily="49" charset="0"/>
              </a:rPr>
              <a:t>&lt;</a:t>
            </a:r>
            <a:r>
              <a:rPr lang="fr-FR" sz="1400" dirty="0" err="1">
                <a:solidFill>
                  <a:srgbClr val="A31515"/>
                </a:solidFill>
                <a:latin typeface="Cascadia Mono" panose="020B0609020000020004" pitchFamily="49" charset="0"/>
              </a:rPr>
              <a:t>x</a:t>
            </a:r>
            <a:r>
              <a:rPr lang="fr-FR" sz="1400" dirty="0" err="1">
                <a:solidFill>
                  <a:srgbClr val="0000FF"/>
                </a:solidFill>
                <a:latin typeface="Cascadia Mono" panose="020B0609020000020004" pitchFamily="49" charset="0"/>
              </a:rPr>
              <a:t>:</a:t>
            </a:r>
            <a:r>
              <a:rPr lang="fr-FR" sz="1400" dirty="0" err="1">
                <a:solidFill>
                  <a:srgbClr val="A31515"/>
                </a:solidFill>
                <a:latin typeface="Cascadia Mono" panose="020B0609020000020004" pitchFamily="49" charset="0"/>
              </a:rPr>
              <a:t>String</a:t>
            </a:r>
            <a:r>
              <a:rPr lang="fr-FR" sz="1400" dirty="0">
                <a:solidFill>
                  <a:srgbClr val="0000FF"/>
                </a:solidFill>
                <a:latin typeface="Cascadia Mono" panose="020B0609020000020004" pitchFamily="49" charset="0"/>
              </a:rPr>
              <a:t>&gt;</a:t>
            </a:r>
            <a:r>
              <a:rPr lang="fr-FR" sz="1400" dirty="0">
                <a:solidFill>
                  <a:srgbClr val="000000"/>
                </a:solidFill>
                <a:latin typeface="Cascadia Mono" panose="020B0609020000020004" pitchFamily="49" charset="0"/>
              </a:rPr>
              <a:t>Golden Lion </a:t>
            </a:r>
            <a:r>
              <a:rPr lang="fr-FR" sz="1400" dirty="0" smtClean="0">
                <a:solidFill>
                  <a:srgbClr val="000000"/>
                </a:solidFill>
                <a:latin typeface="Cascadia Mono" panose="020B0609020000020004" pitchFamily="49" charset="0"/>
              </a:rPr>
              <a:t>						Tamarin</a:t>
            </a:r>
            <a:r>
              <a:rPr lang="fr-FR" sz="1400" dirty="0">
                <a:solidFill>
                  <a:srgbClr val="0000FF"/>
                </a:solidFill>
                <a:latin typeface="Cascadia Mono" panose="020B0609020000020004" pitchFamily="49" charset="0"/>
              </a:rPr>
              <a:t>&lt;/</a:t>
            </a:r>
            <a:r>
              <a:rPr lang="fr-FR" sz="1400" dirty="0" err="1">
                <a:solidFill>
                  <a:srgbClr val="A31515"/>
                </a:solidFill>
                <a:latin typeface="Cascadia Mono" panose="020B0609020000020004" pitchFamily="49" charset="0"/>
              </a:rPr>
              <a:t>x</a:t>
            </a:r>
            <a:r>
              <a:rPr lang="fr-FR" sz="1400" dirty="0" err="1">
                <a:solidFill>
                  <a:srgbClr val="0000FF"/>
                </a:solidFill>
                <a:latin typeface="Cascadia Mono" panose="020B0609020000020004" pitchFamily="49" charset="0"/>
              </a:rPr>
              <a:t>:</a:t>
            </a:r>
            <a:r>
              <a:rPr lang="fr-FR" sz="1400" dirty="0" err="1">
                <a:solidFill>
                  <a:srgbClr val="A31515"/>
                </a:solidFill>
                <a:latin typeface="Cascadia Mono" panose="020B0609020000020004" pitchFamily="49" charset="0"/>
              </a:rPr>
              <a:t>String</a:t>
            </a:r>
            <a:r>
              <a:rPr lang="fr-FR" sz="1400" dirty="0">
                <a:solidFill>
                  <a:srgbClr val="0000FF"/>
                </a:solidFill>
                <a:latin typeface="Cascadia Mono" panose="020B0609020000020004" pitchFamily="49" charset="0"/>
              </a:rPr>
              <a:t>&gt;</a:t>
            </a:r>
            <a:endParaRPr lang="fr-FR" sz="1400" dirty="0">
              <a:solidFill>
                <a:srgbClr val="000000"/>
              </a:solidFill>
              <a:latin typeface="Cascadia Mono" panose="020B0609020000020004" pitchFamily="49" charset="0"/>
            </a:endParaRPr>
          </a:p>
          <a:p>
            <a:r>
              <a:rPr lang="fr-FR" sz="1400" dirty="0">
                <a:solidFill>
                  <a:srgbClr val="000000"/>
                </a:solidFill>
                <a:latin typeface="Cascadia Mono" panose="020B0609020000020004" pitchFamily="49" charset="0"/>
              </a:rPr>
              <a:t>                    </a:t>
            </a:r>
            <a:r>
              <a:rPr lang="fr-FR" sz="1400" dirty="0">
                <a:solidFill>
                  <a:srgbClr val="0000FF"/>
                </a:solidFill>
                <a:latin typeface="Cascadia Mono" panose="020B0609020000020004" pitchFamily="49" charset="0"/>
              </a:rPr>
              <a:t>&lt;</a:t>
            </a:r>
            <a:r>
              <a:rPr lang="fr-FR" sz="1400" dirty="0" err="1">
                <a:solidFill>
                  <a:srgbClr val="A31515"/>
                </a:solidFill>
                <a:latin typeface="Cascadia Mono" panose="020B0609020000020004" pitchFamily="49" charset="0"/>
              </a:rPr>
              <a:t>x</a:t>
            </a:r>
            <a:r>
              <a:rPr lang="fr-FR" sz="1400" dirty="0" err="1">
                <a:solidFill>
                  <a:srgbClr val="0000FF"/>
                </a:solidFill>
                <a:latin typeface="Cascadia Mono" panose="020B0609020000020004" pitchFamily="49" charset="0"/>
              </a:rPr>
              <a:t>:</a:t>
            </a:r>
            <a:r>
              <a:rPr lang="fr-FR" sz="1400" dirty="0" err="1">
                <a:solidFill>
                  <a:srgbClr val="A31515"/>
                </a:solidFill>
                <a:latin typeface="Cascadia Mono" panose="020B0609020000020004" pitchFamily="49" charset="0"/>
              </a:rPr>
              <a:t>String</a:t>
            </a:r>
            <a:r>
              <a:rPr lang="fr-FR" sz="1400" dirty="0">
                <a:solidFill>
                  <a:srgbClr val="0000FF"/>
                </a:solidFill>
                <a:latin typeface="Cascadia Mono" panose="020B0609020000020004" pitchFamily="49" charset="0"/>
              </a:rPr>
              <a:t>&gt;</a:t>
            </a:r>
            <a:r>
              <a:rPr lang="fr-FR" sz="1400" dirty="0" err="1">
                <a:solidFill>
                  <a:srgbClr val="000000"/>
                </a:solidFill>
                <a:latin typeface="Cascadia Mono" panose="020B0609020000020004" pitchFamily="49" charset="0"/>
              </a:rPr>
              <a:t>Howler</a:t>
            </a:r>
            <a:r>
              <a:rPr lang="fr-FR" sz="1400" dirty="0">
                <a:solidFill>
                  <a:srgbClr val="000000"/>
                </a:solidFill>
                <a:latin typeface="Cascadia Mono" panose="020B0609020000020004" pitchFamily="49" charset="0"/>
              </a:rPr>
              <a:t> Monkey</a:t>
            </a:r>
            <a:r>
              <a:rPr lang="fr-FR" sz="1400" dirty="0">
                <a:solidFill>
                  <a:srgbClr val="0000FF"/>
                </a:solidFill>
                <a:latin typeface="Cascadia Mono" panose="020B0609020000020004" pitchFamily="49" charset="0"/>
              </a:rPr>
              <a:t>&lt;/</a:t>
            </a:r>
            <a:r>
              <a:rPr lang="fr-FR" sz="1400" dirty="0" err="1">
                <a:solidFill>
                  <a:srgbClr val="A31515"/>
                </a:solidFill>
                <a:latin typeface="Cascadia Mono" panose="020B0609020000020004" pitchFamily="49" charset="0"/>
              </a:rPr>
              <a:t>x</a:t>
            </a:r>
            <a:r>
              <a:rPr lang="fr-FR" sz="1400" dirty="0" err="1">
                <a:solidFill>
                  <a:srgbClr val="0000FF"/>
                </a:solidFill>
                <a:latin typeface="Cascadia Mono" panose="020B0609020000020004" pitchFamily="49" charset="0"/>
              </a:rPr>
              <a:t>:</a:t>
            </a:r>
            <a:r>
              <a:rPr lang="fr-FR" sz="1400" dirty="0" err="1">
                <a:solidFill>
                  <a:srgbClr val="A31515"/>
                </a:solidFill>
                <a:latin typeface="Cascadia Mono" panose="020B0609020000020004" pitchFamily="49" charset="0"/>
              </a:rPr>
              <a:t>String</a:t>
            </a:r>
            <a:r>
              <a:rPr lang="fr-FR" sz="1400" dirty="0">
                <a:solidFill>
                  <a:srgbClr val="0000FF"/>
                </a:solidFill>
                <a:latin typeface="Cascadia Mono" panose="020B0609020000020004" pitchFamily="49" charset="0"/>
              </a:rPr>
              <a:t>&gt;</a:t>
            </a:r>
            <a:endParaRPr lang="fr-FR" sz="1400" dirty="0">
              <a:solidFill>
                <a:srgbClr val="000000"/>
              </a:solidFill>
              <a:latin typeface="Cascadia Mono" panose="020B0609020000020004" pitchFamily="49" charset="0"/>
            </a:endParaRPr>
          </a:p>
          <a:p>
            <a:r>
              <a:rPr lang="fr-FR" sz="1400" dirty="0">
                <a:solidFill>
                  <a:srgbClr val="000000"/>
                </a:solidFill>
                <a:latin typeface="Cascadia Mono" panose="020B0609020000020004" pitchFamily="49" charset="0"/>
              </a:rPr>
              <a:t>                    </a:t>
            </a:r>
            <a:r>
              <a:rPr lang="fr-FR" sz="1400" dirty="0">
                <a:solidFill>
                  <a:srgbClr val="0000FF"/>
                </a:solidFill>
                <a:latin typeface="Cascadia Mono" panose="020B0609020000020004" pitchFamily="49" charset="0"/>
              </a:rPr>
              <a:t>&lt;</a:t>
            </a:r>
            <a:r>
              <a:rPr lang="fr-FR" sz="1400" dirty="0" err="1">
                <a:solidFill>
                  <a:srgbClr val="A31515"/>
                </a:solidFill>
                <a:latin typeface="Cascadia Mono" panose="020B0609020000020004" pitchFamily="49" charset="0"/>
              </a:rPr>
              <a:t>x</a:t>
            </a:r>
            <a:r>
              <a:rPr lang="fr-FR" sz="1400" dirty="0" err="1">
                <a:solidFill>
                  <a:srgbClr val="0000FF"/>
                </a:solidFill>
                <a:latin typeface="Cascadia Mono" panose="020B0609020000020004" pitchFamily="49" charset="0"/>
              </a:rPr>
              <a:t>:</a:t>
            </a:r>
            <a:r>
              <a:rPr lang="fr-FR" sz="1400" dirty="0" err="1">
                <a:solidFill>
                  <a:srgbClr val="A31515"/>
                </a:solidFill>
                <a:latin typeface="Cascadia Mono" panose="020B0609020000020004" pitchFamily="49" charset="0"/>
              </a:rPr>
              <a:t>String</a:t>
            </a:r>
            <a:r>
              <a:rPr lang="fr-FR" sz="1400" dirty="0">
                <a:solidFill>
                  <a:srgbClr val="0000FF"/>
                </a:solidFill>
                <a:latin typeface="Cascadia Mono" panose="020B0609020000020004" pitchFamily="49" charset="0"/>
              </a:rPr>
              <a:t>&gt;</a:t>
            </a:r>
            <a:r>
              <a:rPr lang="fr-FR" sz="1400" dirty="0" err="1">
                <a:solidFill>
                  <a:srgbClr val="000000"/>
                </a:solidFill>
                <a:latin typeface="Cascadia Mono" panose="020B0609020000020004" pitchFamily="49" charset="0"/>
              </a:rPr>
              <a:t>Japanese</a:t>
            </a:r>
            <a:r>
              <a:rPr lang="fr-FR" sz="1400" dirty="0">
                <a:solidFill>
                  <a:srgbClr val="000000"/>
                </a:solidFill>
                <a:latin typeface="Cascadia Mono" panose="020B0609020000020004" pitchFamily="49" charset="0"/>
              </a:rPr>
              <a:t> </a:t>
            </a:r>
            <a:r>
              <a:rPr lang="fr-FR" sz="1400" dirty="0" smtClean="0">
                <a:solidFill>
                  <a:srgbClr val="000000"/>
                </a:solidFill>
                <a:latin typeface="Cascadia Mono" panose="020B0609020000020004" pitchFamily="49" charset="0"/>
              </a:rPr>
              <a:t>						Macaque</a:t>
            </a:r>
            <a:r>
              <a:rPr lang="fr-FR" sz="1400" dirty="0">
                <a:solidFill>
                  <a:srgbClr val="0000FF"/>
                </a:solidFill>
                <a:latin typeface="Cascadia Mono" panose="020B0609020000020004" pitchFamily="49" charset="0"/>
              </a:rPr>
              <a:t>&lt;/</a:t>
            </a:r>
            <a:r>
              <a:rPr lang="fr-FR" sz="1400" dirty="0" err="1">
                <a:solidFill>
                  <a:srgbClr val="A31515"/>
                </a:solidFill>
                <a:latin typeface="Cascadia Mono" panose="020B0609020000020004" pitchFamily="49" charset="0"/>
              </a:rPr>
              <a:t>x</a:t>
            </a:r>
            <a:r>
              <a:rPr lang="fr-FR" sz="1400" dirty="0" err="1">
                <a:solidFill>
                  <a:srgbClr val="0000FF"/>
                </a:solidFill>
                <a:latin typeface="Cascadia Mono" panose="020B0609020000020004" pitchFamily="49" charset="0"/>
              </a:rPr>
              <a:t>:</a:t>
            </a:r>
            <a:r>
              <a:rPr lang="fr-FR" sz="1400" dirty="0" err="1">
                <a:solidFill>
                  <a:srgbClr val="A31515"/>
                </a:solidFill>
                <a:latin typeface="Cascadia Mono" panose="020B0609020000020004" pitchFamily="49" charset="0"/>
              </a:rPr>
              <a:t>String</a:t>
            </a:r>
            <a:r>
              <a:rPr lang="fr-FR" sz="1400" dirty="0">
                <a:solidFill>
                  <a:srgbClr val="0000FF"/>
                </a:solidFill>
                <a:latin typeface="Cascadia Mono" panose="020B0609020000020004" pitchFamily="49" charset="0"/>
              </a:rPr>
              <a:t>&gt;</a:t>
            </a:r>
            <a:endParaRPr lang="fr-FR" sz="1400" dirty="0">
              <a:solidFill>
                <a:srgbClr val="000000"/>
              </a:solidFill>
              <a:latin typeface="Cascadia Mono" panose="020B0609020000020004" pitchFamily="49" charset="0"/>
            </a:endParaRPr>
          </a:p>
          <a:p>
            <a:r>
              <a:rPr lang="fr-FR" sz="1400" dirty="0">
                <a:solidFill>
                  <a:srgbClr val="000000"/>
                </a:solidFill>
                <a:latin typeface="Cascadia Mono" panose="020B0609020000020004" pitchFamily="49" charset="0"/>
              </a:rPr>
              <a:t>                </a:t>
            </a:r>
            <a:r>
              <a:rPr lang="fr-FR" sz="1400" dirty="0">
                <a:solidFill>
                  <a:srgbClr val="0000FF"/>
                </a:solidFill>
                <a:latin typeface="Cascadia Mono" panose="020B0609020000020004" pitchFamily="49" charset="0"/>
              </a:rPr>
              <a:t>&lt;/</a:t>
            </a:r>
            <a:r>
              <a:rPr lang="fr-FR" sz="1400" dirty="0" err="1">
                <a:solidFill>
                  <a:srgbClr val="A31515"/>
                </a:solidFill>
                <a:latin typeface="Cascadia Mono" panose="020B0609020000020004" pitchFamily="49" charset="0"/>
              </a:rPr>
              <a:t>x</a:t>
            </a:r>
            <a:r>
              <a:rPr lang="fr-FR" sz="1400" dirty="0" err="1">
                <a:solidFill>
                  <a:srgbClr val="0000FF"/>
                </a:solidFill>
                <a:latin typeface="Cascadia Mono" panose="020B0609020000020004" pitchFamily="49" charset="0"/>
              </a:rPr>
              <a:t>:</a:t>
            </a:r>
            <a:r>
              <a:rPr lang="fr-FR" sz="1400" dirty="0" err="1">
                <a:solidFill>
                  <a:srgbClr val="A31515"/>
                </a:solidFill>
                <a:latin typeface="Cascadia Mono" panose="020B0609020000020004" pitchFamily="49" charset="0"/>
              </a:rPr>
              <a:t>Array</a:t>
            </a:r>
            <a:r>
              <a:rPr lang="fr-FR" sz="1400" dirty="0">
                <a:solidFill>
                  <a:srgbClr val="0000FF"/>
                </a:solidFill>
                <a:latin typeface="Cascadia Mono" panose="020B0609020000020004" pitchFamily="49" charset="0"/>
              </a:rPr>
              <a:t>&gt;</a:t>
            </a:r>
            <a:endParaRPr lang="fr-FR" sz="1400" dirty="0">
              <a:solidFill>
                <a:srgbClr val="000000"/>
              </a:solidFill>
              <a:latin typeface="Cascadia Mono" panose="020B0609020000020004" pitchFamily="49" charset="0"/>
            </a:endParaRPr>
          </a:p>
          <a:p>
            <a:r>
              <a:rPr lang="fr-FR" sz="1400" dirty="0">
                <a:solidFill>
                  <a:srgbClr val="000000"/>
                </a:solidFill>
                <a:latin typeface="Cascadia Mono" panose="020B0609020000020004" pitchFamily="49" charset="0"/>
              </a:rPr>
              <a:t>            </a:t>
            </a:r>
            <a:r>
              <a:rPr lang="fr-FR" sz="1400" dirty="0">
                <a:solidFill>
                  <a:srgbClr val="0000FF"/>
                </a:solidFill>
                <a:latin typeface="Cascadia Mono" panose="020B0609020000020004" pitchFamily="49" charset="0"/>
              </a:rPr>
              <a:t>&lt;/</a:t>
            </a:r>
            <a:r>
              <a:rPr lang="fr-FR" sz="1400" dirty="0" err="1">
                <a:solidFill>
                  <a:srgbClr val="A31515"/>
                </a:solidFill>
                <a:latin typeface="Cascadia Mono" panose="020B0609020000020004" pitchFamily="49" charset="0"/>
              </a:rPr>
              <a:t>Picker.ItemsSource</a:t>
            </a:r>
            <a:r>
              <a:rPr lang="fr-FR" sz="1400" dirty="0">
                <a:solidFill>
                  <a:srgbClr val="0000FF"/>
                </a:solidFill>
                <a:latin typeface="Cascadia Mono" panose="020B0609020000020004" pitchFamily="49" charset="0"/>
              </a:rPr>
              <a:t>&gt;</a:t>
            </a:r>
            <a:endParaRPr lang="fr-FR" sz="1400" dirty="0">
              <a:solidFill>
                <a:srgbClr val="000000"/>
              </a:solidFill>
              <a:latin typeface="Cascadia Mono" panose="020B0609020000020004" pitchFamily="49" charset="0"/>
            </a:endParaRPr>
          </a:p>
          <a:p>
            <a:r>
              <a:rPr lang="fr-FR" sz="1400" dirty="0">
                <a:solidFill>
                  <a:srgbClr val="000000"/>
                </a:solidFill>
                <a:latin typeface="Cascadia Mono" panose="020B0609020000020004" pitchFamily="49" charset="0"/>
              </a:rPr>
              <a:t>        </a:t>
            </a:r>
            <a:r>
              <a:rPr lang="fr-FR" sz="1400" dirty="0">
                <a:solidFill>
                  <a:srgbClr val="0000FF"/>
                </a:solidFill>
                <a:latin typeface="Cascadia Mono" panose="020B0609020000020004" pitchFamily="49" charset="0"/>
              </a:rPr>
              <a:t>&lt;/</a:t>
            </a:r>
            <a:r>
              <a:rPr lang="fr-FR" sz="1400" dirty="0" err="1">
                <a:solidFill>
                  <a:srgbClr val="A31515"/>
                </a:solidFill>
                <a:latin typeface="Cascadia Mono" panose="020B0609020000020004" pitchFamily="49" charset="0"/>
              </a:rPr>
              <a:t>Picker</a:t>
            </a:r>
            <a:r>
              <a:rPr lang="fr-FR" sz="1400" dirty="0">
                <a:solidFill>
                  <a:srgbClr val="0000FF"/>
                </a:solidFill>
                <a:latin typeface="Cascadia Mono" panose="020B0609020000020004" pitchFamily="49" charset="0"/>
              </a:rPr>
              <a:t>&gt;</a:t>
            </a:r>
            <a:endParaRPr lang="fr-FR" sz="1400" dirty="0"/>
          </a:p>
        </p:txBody>
      </p:sp>
      <p:sp>
        <p:nvSpPr>
          <p:cNvPr id="6" name="Rectangle 5"/>
          <p:cNvSpPr/>
          <p:nvPr/>
        </p:nvSpPr>
        <p:spPr>
          <a:xfrm>
            <a:off x="1513910" y="5190908"/>
            <a:ext cx="2915991" cy="369332"/>
          </a:xfrm>
          <a:prstGeom prst="rect">
            <a:avLst/>
          </a:prstGeom>
        </p:spPr>
        <p:txBody>
          <a:bodyPr wrap="none">
            <a:spAutoFit/>
          </a:bodyPr>
          <a:lstStyle/>
          <a:p>
            <a:r>
              <a:rPr lang="fr-FR" b="1" dirty="0" err="1">
                <a:latin typeface="Segoe UI" panose="020B0502040204020203" pitchFamily="34" charset="0"/>
                <a:cs typeface="Segoe UI" panose="020B0502040204020203" pitchFamily="34" charset="0"/>
              </a:rPr>
              <a:t>Picker</a:t>
            </a:r>
            <a:r>
              <a:rPr lang="fr-FR" dirty="0">
                <a:latin typeface="Segoe UI" panose="020B0502040204020203" pitchFamily="34" charset="0"/>
                <a:cs typeface="Segoe UI" panose="020B0502040204020203" pitchFamily="34" charset="0"/>
              </a:rPr>
              <a:t> </a:t>
            </a:r>
            <a:r>
              <a:rPr lang="fr-FR" dirty="0" smtClean="0">
                <a:latin typeface="Segoe UI" panose="020B0502040204020203" pitchFamily="34" charset="0"/>
                <a:cs typeface="Segoe UI" panose="020B0502040204020203" pitchFamily="34" charset="0"/>
              </a:rPr>
              <a:t>alimenté avec Items</a:t>
            </a:r>
            <a:endParaRPr lang="fr-FR" dirty="0"/>
          </a:p>
        </p:txBody>
      </p:sp>
      <p:sp>
        <p:nvSpPr>
          <p:cNvPr id="7" name="Rectangle 6"/>
          <p:cNvSpPr/>
          <p:nvPr/>
        </p:nvSpPr>
        <p:spPr>
          <a:xfrm>
            <a:off x="7803093" y="5113635"/>
            <a:ext cx="3608680" cy="369332"/>
          </a:xfrm>
          <a:prstGeom prst="rect">
            <a:avLst/>
          </a:prstGeom>
        </p:spPr>
        <p:txBody>
          <a:bodyPr wrap="none">
            <a:spAutoFit/>
          </a:bodyPr>
          <a:lstStyle/>
          <a:p>
            <a:r>
              <a:rPr lang="fr-FR" b="1" dirty="0" err="1">
                <a:latin typeface="Segoe UI" panose="020B0502040204020203" pitchFamily="34" charset="0"/>
                <a:cs typeface="Segoe UI" panose="020B0502040204020203" pitchFamily="34" charset="0"/>
              </a:rPr>
              <a:t>Picker</a:t>
            </a:r>
            <a:r>
              <a:rPr lang="fr-FR" dirty="0">
                <a:latin typeface="Segoe UI" panose="020B0502040204020203" pitchFamily="34" charset="0"/>
                <a:cs typeface="Segoe UI" panose="020B0502040204020203" pitchFamily="34" charset="0"/>
              </a:rPr>
              <a:t> </a:t>
            </a:r>
            <a:r>
              <a:rPr lang="fr-FR" dirty="0" smtClean="0">
                <a:latin typeface="Segoe UI" panose="020B0502040204020203" pitchFamily="34" charset="0"/>
                <a:cs typeface="Segoe UI" panose="020B0502040204020203" pitchFamily="34" charset="0"/>
              </a:rPr>
              <a:t>alimenté avec </a:t>
            </a:r>
            <a:r>
              <a:rPr lang="fr-FR" dirty="0" err="1" smtClean="0">
                <a:latin typeface="Segoe UI" panose="020B0502040204020203" pitchFamily="34" charset="0"/>
                <a:cs typeface="Segoe UI" panose="020B0502040204020203" pitchFamily="34" charset="0"/>
              </a:rPr>
              <a:t>ItemsSource</a:t>
            </a:r>
            <a:endParaRPr lang="fr-FR" dirty="0"/>
          </a:p>
        </p:txBody>
      </p:sp>
    </p:spTree>
    <p:extLst>
      <p:ext uri="{BB962C8B-B14F-4D97-AF65-F5344CB8AC3E}">
        <p14:creationId xmlns:p14="http://schemas.microsoft.com/office/powerpoint/2010/main" val="215753266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8"/>
          <p:cNvSpPr txBox="1">
            <a:spLocks noChangeArrowheads="1"/>
          </p:cNvSpPr>
          <p:nvPr/>
        </p:nvSpPr>
        <p:spPr bwMode="auto">
          <a:xfrm>
            <a:off x="386215" y="603327"/>
            <a:ext cx="11475048" cy="1169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152400">
              <a:tabLst>
                <a:tab pos="5992813" algn="l"/>
              </a:tabLst>
              <a:defRPr>
                <a:solidFill>
                  <a:schemeClr val="tx1"/>
                </a:solidFill>
                <a:latin typeface="Calibri" panose="020F0502020204030204" pitchFamily="34" charset="0"/>
                <a:cs typeface="Arial" panose="020B0604020202020204" pitchFamily="34" charset="0"/>
              </a:defRPr>
            </a:lvl1pPr>
            <a:lvl2pPr marL="579438" indent="-242888">
              <a:tabLst>
                <a:tab pos="5992813" algn="l"/>
              </a:tabLst>
              <a:defRPr>
                <a:solidFill>
                  <a:schemeClr val="tx1"/>
                </a:solidFill>
                <a:latin typeface="Calibri" panose="020F0502020204030204" pitchFamily="34" charset="0"/>
                <a:cs typeface="Arial" panose="020B0604020202020204" pitchFamily="34" charset="0"/>
              </a:defRPr>
            </a:lvl2pPr>
            <a:lvl3pPr marL="1143000" indent="-228600">
              <a:tabLst>
                <a:tab pos="5992813" algn="l"/>
              </a:tabLst>
              <a:defRPr>
                <a:solidFill>
                  <a:schemeClr val="tx1"/>
                </a:solidFill>
                <a:latin typeface="Calibri" panose="020F0502020204030204" pitchFamily="34" charset="0"/>
                <a:cs typeface="Arial" panose="020B0604020202020204" pitchFamily="34" charset="0"/>
              </a:defRPr>
            </a:lvl3pPr>
            <a:lvl4pPr marL="1600200" indent="-228600">
              <a:tabLst>
                <a:tab pos="5992813" algn="l"/>
              </a:tabLst>
              <a:defRPr>
                <a:solidFill>
                  <a:schemeClr val="tx1"/>
                </a:solidFill>
                <a:latin typeface="Calibri" panose="020F0502020204030204" pitchFamily="34" charset="0"/>
                <a:cs typeface="Arial" panose="020B0604020202020204" pitchFamily="34" charset="0"/>
              </a:defRPr>
            </a:lvl4pPr>
            <a:lvl5pPr marL="2057400" indent="-228600">
              <a:tabLst>
                <a:tab pos="5992813" algn="l"/>
              </a:tabLst>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2200" u="sng" dirty="0">
                <a:latin typeface="Segoe UI Symbol" panose="020B0502040204020203" pitchFamily="34" charset="0"/>
              </a:rPr>
              <a:t>L</a:t>
            </a:r>
            <a:r>
              <a:rPr lang="en-US" altLang="en-US" sz="2200" u="sng" dirty="0" smtClean="0">
                <a:latin typeface="Segoe UI Symbol" panose="020B0502040204020203" pitchFamily="34" charset="0"/>
              </a:rPr>
              <a:t>es </a:t>
            </a:r>
            <a:r>
              <a:rPr lang="fr-FR" altLang="en-US" sz="2200" u="sng" dirty="0" smtClean="0">
                <a:latin typeface="Segoe UI Symbol" panose="020B0502040204020203" pitchFamily="34" charset="0"/>
              </a:rPr>
              <a:t>collections-</a:t>
            </a:r>
            <a:r>
              <a:rPr lang="fr-FR" altLang="en-US" sz="2200" u="sng" dirty="0" err="1" smtClean="0">
                <a:latin typeface="Segoe UI Symbol" panose="020B0502040204020203" pitchFamily="34" charset="0"/>
              </a:rPr>
              <a:t>Picker</a:t>
            </a:r>
            <a:r>
              <a:rPr lang="fr-FR" altLang="en-US" sz="2200" u="sng" dirty="0" smtClean="0">
                <a:latin typeface="Segoe UI Symbol" panose="020B0502040204020203" pitchFamily="34" charset="0"/>
              </a:rPr>
              <a:t> </a:t>
            </a:r>
          </a:p>
          <a:p>
            <a:pPr marL="438150" indent="-285750">
              <a:lnSpc>
                <a:spcPct val="150000"/>
              </a:lnSpc>
              <a:buFont typeface="Wingdings" panose="05000000000000000000" pitchFamily="2" charset="2"/>
              <a:buChar char="§"/>
            </a:pPr>
            <a:r>
              <a:rPr lang="fr-FR" dirty="0" smtClean="0">
                <a:latin typeface="Segoe UI" panose="020B0502040204020203" pitchFamily="34" charset="0"/>
                <a:cs typeface="Segoe UI" panose="020B0502040204020203" pitchFamily="34" charset="0"/>
              </a:rPr>
              <a:t>Un contrôle </a:t>
            </a:r>
            <a:r>
              <a:rPr lang="fr-FR" dirty="0">
                <a:latin typeface="Segoe UI" panose="020B0502040204020203" pitchFamily="34" charset="0"/>
                <a:cs typeface="Segoe UI" panose="020B0502040204020203" pitchFamily="34" charset="0"/>
              </a:rPr>
              <a:t> </a:t>
            </a:r>
            <a:r>
              <a:rPr lang="fr-FR" b="1" dirty="0" err="1">
                <a:latin typeface="Segoe UI" panose="020B0502040204020203" pitchFamily="34" charset="0"/>
                <a:cs typeface="Segoe UI" panose="020B0502040204020203" pitchFamily="34" charset="0"/>
              </a:rPr>
              <a:t>Picker</a:t>
            </a:r>
            <a:r>
              <a:rPr lang="fr-FR" dirty="0">
                <a:latin typeface="Segoe UI" panose="020B0502040204020203" pitchFamily="34" charset="0"/>
                <a:cs typeface="Segoe UI" panose="020B0502040204020203" pitchFamily="34" charset="0"/>
              </a:rPr>
              <a:t> </a:t>
            </a:r>
            <a:r>
              <a:rPr lang="fr-FR" dirty="0" smtClean="0">
                <a:latin typeface="Segoe UI" panose="020B0502040204020203" pitchFamily="34" charset="0"/>
                <a:cs typeface="Segoe UI" panose="020B0502040204020203" pitchFamily="34" charset="0"/>
              </a:rPr>
              <a:t>comprend également un événement qui s’appelle </a:t>
            </a:r>
            <a:r>
              <a:rPr lang="fr-FR" b="1" dirty="0" err="1" smtClean="0">
                <a:latin typeface="Segoe UI" panose="020B0502040204020203" pitchFamily="34" charset="0"/>
                <a:cs typeface="Segoe UI" panose="020B0502040204020203" pitchFamily="34" charset="0"/>
              </a:rPr>
              <a:t>SelectedIndexChanged</a:t>
            </a:r>
            <a:r>
              <a:rPr lang="fr-FR" b="1" dirty="0" smtClean="0">
                <a:latin typeface="Segoe UI" panose="020B0502040204020203" pitchFamily="34" charset="0"/>
                <a:cs typeface="Segoe UI" panose="020B0502040204020203" pitchFamily="34" charset="0"/>
              </a:rPr>
              <a:t> </a:t>
            </a:r>
            <a:endParaRPr lang="fr-FR" dirty="0">
              <a:latin typeface="Segoe UI" panose="020B0502040204020203" pitchFamily="34" charset="0"/>
              <a:cs typeface="Segoe UI" panose="020B0502040204020203" pitchFamily="34" charset="0"/>
            </a:endParaRPr>
          </a:p>
          <a:p>
            <a:pPr>
              <a:lnSpc>
                <a:spcPct val="150000"/>
              </a:lnSpc>
            </a:pPr>
            <a:r>
              <a:rPr lang="fr-FR" b="1" dirty="0" smtClean="0">
                <a:latin typeface="Segoe UI" panose="020B0502040204020203" pitchFamily="34" charset="0"/>
                <a:cs typeface="Segoe UI" panose="020B0502040204020203" pitchFamily="34" charset="0"/>
              </a:rPr>
              <a:t>    </a:t>
            </a:r>
            <a:r>
              <a:rPr lang="fr-FR" dirty="0" smtClean="0">
                <a:latin typeface="Segoe UI" panose="020B0502040204020203" pitchFamily="34" charset="0"/>
                <a:cs typeface="Segoe UI" panose="020B0502040204020203" pitchFamily="34" charset="0"/>
              </a:rPr>
              <a:t>qui  se déclenche une fois la sélection change</a:t>
            </a:r>
          </a:p>
        </p:txBody>
      </p:sp>
      <p:sp>
        <p:nvSpPr>
          <p:cNvPr id="4" name="Rectangle 3"/>
          <p:cNvSpPr/>
          <p:nvPr/>
        </p:nvSpPr>
        <p:spPr>
          <a:xfrm>
            <a:off x="697604" y="2068879"/>
            <a:ext cx="10346029" cy="1200329"/>
          </a:xfrm>
          <a:prstGeom prst="rect">
            <a:avLst/>
          </a:prstGeom>
        </p:spPr>
        <p:txBody>
          <a:bodyPr wrap="square">
            <a:spAutoFit/>
          </a:bodyPr>
          <a:lstStyle/>
          <a:p>
            <a:r>
              <a:rPr lang="en-US" dirty="0">
                <a:solidFill>
                  <a:srgbClr val="0000FF"/>
                </a:solidFill>
                <a:latin typeface="Cascadia Mono" panose="020B0609020000020004" pitchFamily="49" charset="0"/>
              </a:rPr>
              <a:t>private</a:t>
            </a:r>
            <a:r>
              <a:rPr lang="en-US" dirty="0">
                <a:solidFill>
                  <a:srgbClr val="000000"/>
                </a:solidFill>
                <a:latin typeface="Cascadia Mono" panose="020B0609020000020004" pitchFamily="49" charset="0"/>
              </a:rPr>
              <a:t> </a:t>
            </a:r>
            <a:r>
              <a:rPr lang="en-US" dirty="0">
                <a:solidFill>
                  <a:srgbClr val="0000FF"/>
                </a:solidFill>
                <a:latin typeface="Cascadia Mono" panose="020B0609020000020004" pitchFamily="49" charset="0"/>
              </a:rPr>
              <a:t>void</a:t>
            </a:r>
            <a:r>
              <a:rPr lang="en-US" dirty="0">
                <a:solidFill>
                  <a:srgbClr val="000000"/>
                </a:solidFill>
                <a:latin typeface="Cascadia Mono" panose="020B0609020000020004" pitchFamily="49" charset="0"/>
              </a:rPr>
              <a:t> </a:t>
            </a:r>
            <a:r>
              <a:rPr lang="en-US" dirty="0" err="1">
                <a:solidFill>
                  <a:srgbClr val="000000"/>
                </a:solidFill>
                <a:latin typeface="Cascadia Mono" panose="020B0609020000020004" pitchFamily="49" charset="0"/>
              </a:rPr>
              <a:t>Picker_SelectedIndexChanged</a:t>
            </a:r>
            <a:r>
              <a:rPr lang="en-US" dirty="0">
                <a:solidFill>
                  <a:srgbClr val="000000"/>
                </a:solidFill>
                <a:latin typeface="Cascadia Mono" panose="020B0609020000020004" pitchFamily="49" charset="0"/>
              </a:rPr>
              <a:t>(</a:t>
            </a:r>
            <a:r>
              <a:rPr lang="en-US" dirty="0">
                <a:solidFill>
                  <a:srgbClr val="0000FF"/>
                </a:solidFill>
                <a:latin typeface="Cascadia Mono" panose="020B0609020000020004" pitchFamily="49" charset="0"/>
              </a:rPr>
              <a:t>object</a:t>
            </a:r>
            <a:r>
              <a:rPr lang="en-US" dirty="0">
                <a:solidFill>
                  <a:srgbClr val="000000"/>
                </a:solidFill>
                <a:latin typeface="Cascadia Mono" panose="020B0609020000020004" pitchFamily="49" charset="0"/>
              </a:rPr>
              <a:t> sender, EventArgs e)</a:t>
            </a:r>
          </a:p>
          <a:p>
            <a:r>
              <a:rPr lang="fr-FR" dirty="0" smtClean="0">
                <a:solidFill>
                  <a:srgbClr val="000000"/>
                </a:solidFill>
                <a:latin typeface="Cascadia Mono" panose="020B0609020000020004" pitchFamily="49" charset="0"/>
              </a:rPr>
              <a:t>{</a:t>
            </a:r>
            <a:endParaRPr lang="fr-FR" dirty="0">
              <a:solidFill>
                <a:srgbClr val="000000"/>
              </a:solidFill>
              <a:latin typeface="Cascadia Mono" panose="020B0609020000020004" pitchFamily="49" charset="0"/>
            </a:endParaRPr>
          </a:p>
          <a:p>
            <a:r>
              <a:rPr lang="fr-FR" dirty="0" smtClean="0">
                <a:solidFill>
                  <a:srgbClr val="008000"/>
                </a:solidFill>
                <a:latin typeface="Cascadia Mono" panose="020B0609020000020004" pitchFamily="49" charset="0"/>
              </a:rPr>
              <a:t>   //</a:t>
            </a:r>
            <a:r>
              <a:rPr lang="fr-FR" dirty="0">
                <a:solidFill>
                  <a:srgbClr val="008000"/>
                </a:solidFill>
                <a:latin typeface="Cascadia Mono" panose="020B0609020000020004" pitchFamily="49" charset="0"/>
              </a:rPr>
              <a:t>Le code ici</a:t>
            </a:r>
            <a:endParaRPr lang="fr-FR" dirty="0">
              <a:solidFill>
                <a:srgbClr val="000000"/>
              </a:solidFill>
              <a:latin typeface="Cascadia Mono" panose="020B0609020000020004" pitchFamily="49" charset="0"/>
            </a:endParaRPr>
          </a:p>
          <a:p>
            <a:r>
              <a:rPr lang="fr-FR" dirty="0" smtClean="0">
                <a:solidFill>
                  <a:srgbClr val="000000"/>
                </a:solidFill>
                <a:latin typeface="Cascadia Mono" panose="020B0609020000020004" pitchFamily="49" charset="0"/>
              </a:rPr>
              <a:t>}</a:t>
            </a:r>
            <a:endParaRPr lang="fr-FR" dirty="0"/>
          </a:p>
        </p:txBody>
      </p:sp>
    </p:spTree>
    <p:extLst>
      <p:ext uri="{BB962C8B-B14F-4D97-AF65-F5344CB8AC3E}">
        <p14:creationId xmlns:p14="http://schemas.microsoft.com/office/powerpoint/2010/main" val="320426962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8"/>
          <p:cNvSpPr txBox="1">
            <a:spLocks noChangeArrowheads="1"/>
          </p:cNvSpPr>
          <p:nvPr/>
        </p:nvSpPr>
        <p:spPr bwMode="auto">
          <a:xfrm>
            <a:off x="386215" y="603327"/>
            <a:ext cx="11475048" cy="19236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152400">
              <a:tabLst>
                <a:tab pos="5992813" algn="l"/>
              </a:tabLst>
              <a:defRPr>
                <a:solidFill>
                  <a:schemeClr val="tx1"/>
                </a:solidFill>
                <a:latin typeface="Calibri" panose="020F0502020204030204" pitchFamily="34" charset="0"/>
                <a:cs typeface="Arial" panose="020B0604020202020204" pitchFamily="34" charset="0"/>
              </a:defRPr>
            </a:lvl1pPr>
            <a:lvl2pPr marL="579438" indent="-242888">
              <a:tabLst>
                <a:tab pos="5992813" algn="l"/>
              </a:tabLst>
              <a:defRPr>
                <a:solidFill>
                  <a:schemeClr val="tx1"/>
                </a:solidFill>
                <a:latin typeface="Calibri" panose="020F0502020204030204" pitchFamily="34" charset="0"/>
                <a:cs typeface="Arial" panose="020B0604020202020204" pitchFamily="34" charset="0"/>
              </a:defRPr>
            </a:lvl2pPr>
            <a:lvl3pPr marL="1143000" indent="-228600">
              <a:tabLst>
                <a:tab pos="5992813" algn="l"/>
              </a:tabLst>
              <a:defRPr>
                <a:solidFill>
                  <a:schemeClr val="tx1"/>
                </a:solidFill>
                <a:latin typeface="Calibri" panose="020F0502020204030204" pitchFamily="34" charset="0"/>
                <a:cs typeface="Arial" panose="020B0604020202020204" pitchFamily="34" charset="0"/>
              </a:defRPr>
            </a:lvl3pPr>
            <a:lvl4pPr marL="1600200" indent="-228600">
              <a:tabLst>
                <a:tab pos="5992813" algn="l"/>
              </a:tabLst>
              <a:defRPr>
                <a:solidFill>
                  <a:schemeClr val="tx1"/>
                </a:solidFill>
                <a:latin typeface="Calibri" panose="020F0502020204030204" pitchFamily="34" charset="0"/>
                <a:cs typeface="Arial" panose="020B0604020202020204" pitchFamily="34" charset="0"/>
              </a:defRPr>
            </a:lvl4pPr>
            <a:lvl5pPr marL="2057400" indent="-228600">
              <a:tabLst>
                <a:tab pos="5992813" algn="l"/>
              </a:tabLst>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2200" u="sng" dirty="0">
                <a:latin typeface="Segoe UI Symbol" panose="020B0502040204020203" pitchFamily="34" charset="0"/>
              </a:rPr>
              <a:t>L</a:t>
            </a:r>
            <a:r>
              <a:rPr lang="en-US" altLang="en-US" sz="2200" u="sng" dirty="0" smtClean="0">
                <a:latin typeface="Segoe UI Symbol" panose="020B0502040204020203" pitchFamily="34" charset="0"/>
              </a:rPr>
              <a:t>es </a:t>
            </a:r>
            <a:r>
              <a:rPr lang="fr-FR" altLang="en-US" sz="2200" u="sng" dirty="0" smtClean="0">
                <a:latin typeface="Segoe UI Symbol" panose="020B0502040204020203" pitchFamily="34" charset="0"/>
              </a:rPr>
              <a:t>Menu-Le Menu contextuel</a:t>
            </a:r>
          </a:p>
          <a:p>
            <a:pPr eaLnBrk="1" hangingPunct="1"/>
            <a:endParaRPr lang="fr-FR" altLang="en-US" sz="2200" u="sng" dirty="0" smtClean="0">
              <a:latin typeface="Segoe UI Symbol" panose="020B0502040204020203" pitchFamily="34" charset="0"/>
            </a:endParaRPr>
          </a:p>
          <a:p>
            <a:pPr marL="438150" indent="-285750">
              <a:lnSpc>
                <a:spcPct val="150000"/>
              </a:lnSpc>
              <a:buFont typeface="Wingdings" panose="05000000000000000000" pitchFamily="2" charset="2"/>
              <a:buChar char="§"/>
            </a:pPr>
            <a:r>
              <a:rPr lang="fr-FR" dirty="0" smtClean="0">
                <a:latin typeface="Segoe UI" panose="020B0502040204020203" pitchFamily="34" charset="0"/>
                <a:cs typeface="Segoe UI" panose="020B0502040204020203" pitchFamily="34" charset="0"/>
              </a:rPr>
              <a:t>Le menu contextuel n’est fonctionnel et stable que sur les plateformes Windows</a:t>
            </a:r>
          </a:p>
          <a:p>
            <a:pPr marL="438150" indent="-285750">
              <a:lnSpc>
                <a:spcPct val="150000"/>
              </a:lnSpc>
              <a:buFont typeface="Wingdings" panose="05000000000000000000" pitchFamily="2" charset="2"/>
              <a:buChar char="§"/>
            </a:pPr>
            <a:endParaRPr lang="fr-FR" dirty="0">
              <a:latin typeface="Segoe UI" panose="020B0502040204020203" pitchFamily="34" charset="0"/>
              <a:cs typeface="Segoe UI" panose="020B0502040204020203" pitchFamily="34" charset="0"/>
            </a:endParaRPr>
          </a:p>
          <a:p>
            <a:pPr marL="438150" indent="-285750">
              <a:lnSpc>
                <a:spcPct val="150000"/>
              </a:lnSpc>
              <a:buFont typeface="Wingdings" panose="05000000000000000000" pitchFamily="2" charset="2"/>
              <a:buChar char="§"/>
            </a:pPr>
            <a:endParaRPr lang="fr-FR" dirty="0" smtClean="0">
              <a:latin typeface="Segoe UI" panose="020B0502040204020203" pitchFamily="34" charset="0"/>
              <a:cs typeface="Segoe UI" panose="020B0502040204020203" pitchFamily="34" charset="0"/>
            </a:endParaRPr>
          </a:p>
        </p:txBody>
      </p:sp>
      <p:sp>
        <p:nvSpPr>
          <p:cNvPr id="4" name="Rectangle 3"/>
          <p:cNvSpPr/>
          <p:nvPr/>
        </p:nvSpPr>
        <p:spPr>
          <a:xfrm>
            <a:off x="639650" y="1984342"/>
            <a:ext cx="5932990" cy="3293209"/>
          </a:xfrm>
          <a:prstGeom prst="rect">
            <a:avLst/>
          </a:prstGeom>
        </p:spPr>
        <p:txBody>
          <a:bodyPr wrap="square">
            <a:spAutoFit/>
          </a:bodyPr>
          <a:lstStyle/>
          <a:p>
            <a:r>
              <a:rPr lang="fr-FR" sz="1400" dirty="0">
                <a:solidFill>
                  <a:srgbClr val="0000FF"/>
                </a:solidFill>
                <a:latin typeface="Cascadia Mono" panose="020B0609020000020004" pitchFamily="49" charset="0"/>
              </a:rPr>
              <a:t>&lt;</a:t>
            </a:r>
            <a:r>
              <a:rPr lang="fr-FR" sz="1400" dirty="0" err="1">
                <a:solidFill>
                  <a:srgbClr val="A31515"/>
                </a:solidFill>
                <a:latin typeface="Cascadia Mono" panose="020B0609020000020004" pitchFamily="49" charset="0"/>
              </a:rPr>
              <a:t>WebView</a:t>
            </a:r>
            <a:r>
              <a:rPr lang="fr-FR" sz="1400" dirty="0">
                <a:solidFill>
                  <a:srgbClr val="FF0000"/>
                </a:solidFill>
                <a:latin typeface="Cascadia Mono" panose="020B0609020000020004" pitchFamily="49" charset="0"/>
              </a:rPr>
              <a:t> x</a:t>
            </a:r>
            <a:r>
              <a:rPr lang="fr-FR" sz="1400" dirty="0">
                <a:solidFill>
                  <a:srgbClr val="0000FF"/>
                </a:solidFill>
                <a:latin typeface="Cascadia Mono" panose="020B0609020000020004" pitchFamily="49" charset="0"/>
              </a:rPr>
              <a:t>:</a:t>
            </a:r>
            <a:r>
              <a:rPr lang="fr-FR" sz="1400" dirty="0">
                <a:solidFill>
                  <a:srgbClr val="FF0000"/>
                </a:solidFill>
                <a:latin typeface="Cascadia Mono" panose="020B0609020000020004" pitchFamily="49" charset="0"/>
              </a:rPr>
              <a:t>Name</a:t>
            </a:r>
            <a:r>
              <a:rPr lang="fr-FR" sz="1400" dirty="0">
                <a:solidFill>
                  <a:srgbClr val="0000FF"/>
                </a:solidFill>
                <a:latin typeface="Cascadia Mono" panose="020B0609020000020004" pitchFamily="49" charset="0"/>
              </a:rPr>
              <a:t>="webView"</a:t>
            </a:r>
            <a:endParaRPr lang="fr-FR" sz="1400" dirty="0">
              <a:solidFill>
                <a:srgbClr val="000000"/>
              </a:solidFill>
              <a:latin typeface="Cascadia Mono" panose="020B0609020000020004" pitchFamily="49" charset="0"/>
            </a:endParaRPr>
          </a:p>
          <a:p>
            <a:r>
              <a:rPr lang="fr-FR" sz="1400" dirty="0">
                <a:solidFill>
                  <a:srgbClr val="000000"/>
                </a:solidFill>
                <a:latin typeface="Cascadia Mono" panose="020B0609020000020004" pitchFamily="49" charset="0"/>
              </a:rPr>
              <a:t>    </a:t>
            </a:r>
            <a:r>
              <a:rPr lang="fr-FR" sz="1400" dirty="0" smtClean="0">
                <a:solidFill>
                  <a:srgbClr val="FF0000"/>
                </a:solidFill>
                <a:latin typeface="Cascadia Mono" panose="020B0609020000020004" pitchFamily="49" charset="0"/>
              </a:rPr>
              <a:t>Source</a:t>
            </a:r>
            <a:r>
              <a:rPr lang="fr-FR" sz="1400" dirty="0">
                <a:solidFill>
                  <a:srgbClr val="0000FF"/>
                </a:solidFill>
                <a:latin typeface="Cascadia Mono" panose="020B0609020000020004" pitchFamily="49" charset="0"/>
              </a:rPr>
              <a:t>="https://learn.microsoft.com/dotnet/</a:t>
            </a:r>
            <a:r>
              <a:rPr lang="fr-FR" sz="1400" dirty="0" err="1">
                <a:solidFill>
                  <a:srgbClr val="0000FF"/>
                </a:solidFill>
                <a:latin typeface="Cascadia Mono" panose="020B0609020000020004" pitchFamily="49" charset="0"/>
              </a:rPr>
              <a:t>maui</a:t>
            </a:r>
            <a:r>
              <a:rPr lang="fr-FR" sz="1400" dirty="0">
                <a:solidFill>
                  <a:srgbClr val="0000FF"/>
                </a:solidFill>
                <a:latin typeface="Cascadia Mono" panose="020B0609020000020004" pitchFamily="49" charset="0"/>
              </a:rPr>
              <a:t>"</a:t>
            </a:r>
            <a:endParaRPr lang="fr-FR" sz="1400" dirty="0">
              <a:solidFill>
                <a:srgbClr val="000000"/>
              </a:solidFill>
              <a:latin typeface="Cascadia Mono" panose="020B0609020000020004" pitchFamily="49" charset="0"/>
            </a:endParaRPr>
          </a:p>
          <a:p>
            <a:r>
              <a:rPr lang="fr-FR" sz="1400" dirty="0" smtClean="0">
                <a:solidFill>
                  <a:srgbClr val="FF0000"/>
                </a:solidFill>
                <a:latin typeface="Cascadia Mono" panose="020B0609020000020004" pitchFamily="49" charset="0"/>
              </a:rPr>
              <a:t>    </a:t>
            </a:r>
            <a:r>
              <a:rPr lang="fr-FR" sz="1400" dirty="0" err="1" smtClean="0">
                <a:solidFill>
                  <a:srgbClr val="FF0000"/>
                </a:solidFill>
                <a:latin typeface="Cascadia Mono" panose="020B0609020000020004" pitchFamily="49" charset="0"/>
              </a:rPr>
              <a:t>MinimumHeightRequest</a:t>
            </a:r>
            <a:r>
              <a:rPr lang="fr-FR" sz="1400" dirty="0">
                <a:solidFill>
                  <a:srgbClr val="0000FF"/>
                </a:solidFill>
                <a:latin typeface="Cascadia Mono" panose="020B0609020000020004" pitchFamily="49" charset="0"/>
              </a:rPr>
              <a:t>="400"&gt;</a:t>
            </a:r>
            <a:endParaRPr lang="fr-FR" sz="1400" dirty="0">
              <a:solidFill>
                <a:srgbClr val="000000"/>
              </a:solidFill>
              <a:latin typeface="Cascadia Mono" panose="020B0609020000020004" pitchFamily="49" charset="0"/>
            </a:endParaRPr>
          </a:p>
          <a:p>
            <a:r>
              <a:rPr lang="fr-FR" sz="1400" dirty="0" smtClean="0">
                <a:solidFill>
                  <a:srgbClr val="0000FF"/>
                </a:solidFill>
                <a:latin typeface="Cascadia Mono" panose="020B0609020000020004" pitchFamily="49" charset="0"/>
              </a:rPr>
              <a:t>&lt;</a:t>
            </a:r>
            <a:r>
              <a:rPr lang="fr-FR" sz="1400" dirty="0" err="1">
                <a:solidFill>
                  <a:srgbClr val="A31515"/>
                </a:solidFill>
                <a:latin typeface="Cascadia Mono" panose="020B0609020000020004" pitchFamily="49" charset="0"/>
              </a:rPr>
              <a:t>FlyoutBase.ContextFlyout</a:t>
            </a:r>
            <a:r>
              <a:rPr lang="fr-FR" sz="1400" dirty="0">
                <a:solidFill>
                  <a:srgbClr val="0000FF"/>
                </a:solidFill>
                <a:latin typeface="Cascadia Mono" panose="020B0609020000020004" pitchFamily="49" charset="0"/>
              </a:rPr>
              <a:t>&gt;</a:t>
            </a:r>
            <a:endParaRPr lang="fr-FR" sz="1400" dirty="0">
              <a:solidFill>
                <a:srgbClr val="000000"/>
              </a:solidFill>
              <a:latin typeface="Cascadia Mono" panose="020B0609020000020004" pitchFamily="49" charset="0"/>
            </a:endParaRPr>
          </a:p>
          <a:p>
            <a:r>
              <a:rPr lang="fr-FR" sz="1400" dirty="0" smtClean="0">
                <a:solidFill>
                  <a:srgbClr val="0000FF"/>
                </a:solidFill>
                <a:latin typeface="Cascadia Mono" panose="020B0609020000020004" pitchFamily="49" charset="0"/>
              </a:rPr>
              <a:t> &lt;</a:t>
            </a:r>
            <a:r>
              <a:rPr lang="fr-FR" sz="1400" dirty="0" err="1">
                <a:solidFill>
                  <a:srgbClr val="A31515"/>
                </a:solidFill>
                <a:latin typeface="Cascadia Mono" panose="020B0609020000020004" pitchFamily="49" charset="0"/>
              </a:rPr>
              <a:t>MenuFlyout</a:t>
            </a:r>
            <a:r>
              <a:rPr lang="fr-FR" sz="1400" dirty="0">
                <a:solidFill>
                  <a:srgbClr val="0000FF"/>
                </a:solidFill>
                <a:latin typeface="Cascadia Mono" panose="020B0609020000020004" pitchFamily="49" charset="0"/>
              </a:rPr>
              <a:t>&gt;</a:t>
            </a:r>
            <a:endParaRPr lang="fr-FR" sz="1400" dirty="0">
              <a:solidFill>
                <a:srgbClr val="000000"/>
              </a:solidFill>
              <a:latin typeface="Cascadia Mono" panose="020B0609020000020004" pitchFamily="49" charset="0"/>
            </a:endParaRPr>
          </a:p>
          <a:p>
            <a:r>
              <a:rPr lang="en-US" sz="1400" dirty="0" smtClean="0">
                <a:solidFill>
                  <a:srgbClr val="0000FF"/>
                </a:solidFill>
                <a:latin typeface="Cascadia Mono" panose="020B0609020000020004" pitchFamily="49" charset="0"/>
              </a:rPr>
              <a:t>  </a:t>
            </a:r>
            <a:r>
              <a:rPr lang="en-US" sz="1600" b="1" dirty="0" smtClean="0">
                <a:solidFill>
                  <a:srgbClr val="0000FF"/>
                </a:solidFill>
                <a:effectLst>
                  <a:outerShdw blurRad="38100" dist="38100" dir="2700000" algn="tl">
                    <a:srgbClr val="000000">
                      <a:alpha val="43137"/>
                    </a:srgbClr>
                  </a:outerShdw>
                </a:effectLst>
                <a:latin typeface="Cascadia Mono" panose="020B0609020000020004" pitchFamily="49" charset="0"/>
              </a:rPr>
              <a:t>&lt;</a:t>
            </a:r>
            <a:r>
              <a:rPr lang="en-US" sz="1600" b="1" dirty="0" err="1">
                <a:solidFill>
                  <a:srgbClr val="A31515"/>
                </a:solidFill>
                <a:effectLst>
                  <a:outerShdw blurRad="38100" dist="38100" dir="2700000" algn="tl">
                    <a:srgbClr val="000000">
                      <a:alpha val="43137"/>
                    </a:srgbClr>
                  </a:outerShdw>
                </a:effectLst>
                <a:latin typeface="Cascadia Mono" panose="020B0609020000020004" pitchFamily="49" charset="0"/>
              </a:rPr>
              <a:t>MenuFlyoutItem</a:t>
            </a:r>
            <a:r>
              <a:rPr lang="en-US" sz="1600" b="1" dirty="0">
                <a:solidFill>
                  <a:srgbClr val="FF0000"/>
                </a:solidFill>
                <a:effectLst>
                  <a:outerShdw blurRad="38100" dist="38100" dir="2700000" algn="tl">
                    <a:srgbClr val="000000">
                      <a:alpha val="43137"/>
                    </a:srgbClr>
                  </a:outerShdw>
                </a:effectLst>
                <a:latin typeface="Cascadia Mono" panose="020B0609020000020004" pitchFamily="49" charset="0"/>
              </a:rPr>
              <a:t> Text</a:t>
            </a:r>
            <a:r>
              <a:rPr lang="en-US" sz="1600" b="1" dirty="0">
                <a:solidFill>
                  <a:srgbClr val="0000FF"/>
                </a:solidFill>
                <a:effectLst>
                  <a:outerShdw blurRad="38100" dist="38100" dir="2700000" algn="tl">
                    <a:srgbClr val="000000">
                      <a:alpha val="43137"/>
                    </a:srgbClr>
                  </a:outerShdw>
                </a:effectLst>
                <a:latin typeface="Cascadia Mono" panose="020B0609020000020004" pitchFamily="49" charset="0"/>
              </a:rPr>
              <a:t>="Go to docs repo"</a:t>
            </a:r>
            <a:endParaRPr lang="en-US" sz="1600" b="1" dirty="0">
              <a:solidFill>
                <a:srgbClr val="000000"/>
              </a:solidFill>
              <a:effectLst>
                <a:outerShdw blurRad="38100" dist="38100" dir="2700000" algn="tl">
                  <a:srgbClr val="000000">
                    <a:alpha val="43137"/>
                  </a:srgbClr>
                </a:outerShdw>
              </a:effectLst>
              <a:latin typeface="Cascadia Mono" panose="020B0609020000020004" pitchFamily="49" charset="0"/>
            </a:endParaRPr>
          </a:p>
          <a:p>
            <a:r>
              <a:rPr lang="fr-FR" sz="1600" b="1" dirty="0" smtClean="0">
                <a:solidFill>
                  <a:srgbClr val="FF0000"/>
                </a:solidFill>
                <a:effectLst>
                  <a:outerShdw blurRad="38100" dist="38100" dir="2700000" algn="tl">
                    <a:srgbClr val="000000">
                      <a:alpha val="43137"/>
                    </a:srgbClr>
                  </a:outerShdw>
                </a:effectLst>
                <a:latin typeface="Cascadia Mono" panose="020B0609020000020004" pitchFamily="49" charset="0"/>
              </a:rPr>
              <a:t>    Clicked</a:t>
            </a:r>
            <a:r>
              <a:rPr lang="fr-FR" sz="1600" b="1" dirty="0">
                <a:solidFill>
                  <a:srgbClr val="0000FF"/>
                </a:solidFill>
                <a:effectLst>
                  <a:outerShdw blurRad="38100" dist="38100" dir="2700000" algn="tl">
                    <a:srgbClr val="000000">
                      <a:alpha val="43137"/>
                    </a:srgbClr>
                  </a:outerShdw>
                </a:effectLst>
                <a:latin typeface="Cascadia Mono" panose="020B0609020000020004" pitchFamily="49" charset="0"/>
              </a:rPr>
              <a:t>="</a:t>
            </a:r>
            <a:r>
              <a:rPr lang="fr-FR" sz="1600" b="1" dirty="0" err="1">
                <a:solidFill>
                  <a:srgbClr val="0000FF"/>
                </a:solidFill>
                <a:effectLst>
                  <a:outerShdw blurRad="38100" dist="38100" dir="2700000" algn="tl">
                    <a:srgbClr val="000000">
                      <a:alpha val="43137"/>
                    </a:srgbClr>
                  </a:outerShdw>
                </a:effectLst>
                <a:latin typeface="Cascadia Mono" panose="020B0609020000020004" pitchFamily="49" charset="0"/>
              </a:rPr>
              <a:t>MenuFlyoutItem_Clicked</a:t>
            </a:r>
            <a:r>
              <a:rPr lang="fr-FR" sz="1600" b="1" dirty="0">
                <a:solidFill>
                  <a:srgbClr val="0000FF"/>
                </a:solidFill>
                <a:effectLst>
                  <a:outerShdw blurRad="38100" dist="38100" dir="2700000" algn="tl">
                    <a:srgbClr val="000000">
                      <a:alpha val="43137"/>
                    </a:srgbClr>
                  </a:outerShdw>
                </a:effectLst>
                <a:latin typeface="Cascadia Mono" panose="020B0609020000020004" pitchFamily="49" charset="0"/>
              </a:rPr>
              <a:t>"</a:t>
            </a:r>
            <a:endParaRPr lang="fr-FR" sz="1600" b="1" dirty="0">
              <a:solidFill>
                <a:srgbClr val="000000"/>
              </a:solidFill>
              <a:effectLst>
                <a:outerShdw blurRad="38100" dist="38100" dir="2700000" algn="tl">
                  <a:srgbClr val="000000">
                    <a:alpha val="43137"/>
                  </a:srgbClr>
                </a:outerShdw>
              </a:effectLst>
              <a:latin typeface="Cascadia Mono" panose="020B0609020000020004" pitchFamily="49" charset="0"/>
            </a:endParaRPr>
          </a:p>
          <a:p>
            <a:r>
              <a:rPr lang="fr-FR" sz="1600" b="1" dirty="0" smtClean="0">
                <a:solidFill>
                  <a:srgbClr val="FF0000"/>
                </a:solidFill>
                <a:effectLst>
                  <a:outerShdw blurRad="38100" dist="38100" dir="2700000" algn="tl">
                    <a:srgbClr val="000000">
                      <a:alpha val="43137"/>
                    </a:srgbClr>
                  </a:outerShdw>
                </a:effectLst>
                <a:latin typeface="Cascadia Mono" panose="020B0609020000020004" pitchFamily="49" charset="0"/>
              </a:rPr>
              <a:t>    </a:t>
            </a:r>
            <a:r>
              <a:rPr lang="fr-FR" sz="1600" b="1" dirty="0" err="1" smtClean="0">
                <a:solidFill>
                  <a:srgbClr val="FF0000"/>
                </a:solidFill>
                <a:effectLst>
                  <a:outerShdw blurRad="38100" dist="38100" dir="2700000" algn="tl">
                    <a:srgbClr val="000000">
                      <a:alpha val="43137"/>
                    </a:srgbClr>
                  </a:outerShdw>
                </a:effectLst>
                <a:latin typeface="Cascadia Mono" panose="020B0609020000020004" pitchFamily="49" charset="0"/>
              </a:rPr>
              <a:t>CommandParameter</a:t>
            </a:r>
            <a:r>
              <a:rPr lang="fr-FR" sz="1600" b="1" dirty="0">
                <a:solidFill>
                  <a:srgbClr val="0000FF"/>
                </a:solidFill>
                <a:effectLst>
                  <a:outerShdw blurRad="38100" dist="38100" dir="2700000" algn="tl">
                    <a:srgbClr val="000000">
                      <a:alpha val="43137"/>
                    </a:srgbClr>
                  </a:outerShdw>
                </a:effectLst>
                <a:latin typeface="Cascadia Mono" panose="020B0609020000020004" pitchFamily="49" charset="0"/>
              </a:rPr>
              <a:t>="docs" /&gt;</a:t>
            </a:r>
            <a:endParaRPr lang="fr-FR" sz="1600" b="1" dirty="0">
              <a:solidFill>
                <a:srgbClr val="000000"/>
              </a:solidFill>
              <a:effectLst>
                <a:outerShdw blurRad="38100" dist="38100" dir="2700000" algn="tl">
                  <a:srgbClr val="000000">
                    <a:alpha val="43137"/>
                  </a:srgbClr>
                </a:outerShdw>
              </a:effectLst>
              <a:latin typeface="Cascadia Mono" panose="020B0609020000020004" pitchFamily="49" charset="0"/>
            </a:endParaRPr>
          </a:p>
          <a:p>
            <a:r>
              <a:rPr lang="en-US" sz="1600" b="1" dirty="0" smtClean="0">
                <a:solidFill>
                  <a:srgbClr val="0000FF"/>
                </a:solidFill>
                <a:effectLst>
                  <a:outerShdw blurRad="38100" dist="38100" dir="2700000" algn="tl">
                    <a:srgbClr val="000000">
                      <a:alpha val="43137"/>
                    </a:srgbClr>
                  </a:outerShdw>
                </a:effectLst>
                <a:latin typeface="Cascadia Mono" panose="020B0609020000020004" pitchFamily="49" charset="0"/>
              </a:rPr>
              <a:t>  &lt;</a:t>
            </a:r>
            <a:r>
              <a:rPr lang="en-US" sz="1600" b="1" dirty="0" err="1">
                <a:solidFill>
                  <a:srgbClr val="A31515"/>
                </a:solidFill>
                <a:effectLst>
                  <a:outerShdw blurRad="38100" dist="38100" dir="2700000" algn="tl">
                    <a:srgbClr val="000000">
                      <a:alpha val="43137"/>
                    </a:srgbClr>
                  </a:outerShdw>
                </a:effectLst>
                <a:latin typeface="Cascadia Mono" panose="020B0609020000020004" pitchFamily="49" charset="0"/>
              </a:rPr>
              <a:t>MenuFlyoutItem</a:t>
            </a:r>
            <a:r>
              <a:rPr lang="en-US" sz="1600" b="1" dirty="0">
                <a:solidFill>
                  <a:srgbClr val="FF0000"/>
                </a:solidFill>
                <a:effectLst>
                  <a:outerShdw blurRad="38100" dist="38100" dir="2700000" algn="tl">
                    <a:srgbClr val="000000">
                      <a:alpha val="43137"/>
                    </a:srgbClr>
                  </a:outerShdw>
                </a:effectLst>
                <a:latin typeface="Cascadia Mono" panose="020B0609020000020004" pitchFamily="49" charset="0"/>
              </a:rPr>
              <a:t> Text</a:t>
            </a:r>
            <a:r>
              <a:rPr lang="en-US" sz="1600" b="1" dirty="0">
                <a:solidFill>
                  <a:srgbClr val="0000FF"/>
                </a:solidFill>
                <a:effectLst>
                  <a:outerShdw blurRad="38100" dist="38100" dir="2700000" algn="tl">
                    <a:srgbClr val="000000">
                      <a:alpha val="43137"/>
                    </a:srgbClr>
                  </a:outerShdw>
                </a:effectLst>
                <a:latin typeface="Cascadia Mono" panose="020B0609020000020004" pitchFamily="49" charset="0"/>
              </a:rPr>
              <a:t>="Go to engineering repo"</a:t>
            </a:r>
            <a:endParaRPr lang="en-US" sz="1600" b="1" dirty="0">
              <a:solidFill>
                <a:srgbClr val="000000"/>
              </a:solidFill>
              <a:effectLst>
                <a:outerShdw blurRad="38100" dist="38100" dir="2700000" algn="tl">
                  <a:srgbClr val="000000">
                    <a:alpha val="43137"/>
                  </a:srgbClr>
                </a:outerShdw>
              </a:effectLst>
              <a:latin typeface="Cascadia Mono" panose="020B0609020000020004" pitchFamily="49" charset="0"/>
            </a:endParaRPr>
          </a:p>
          <a:p>
            <a:r>
              <a:rPr lang="fr-FR" sz="1600" b="1" dirty="0" smtClean="0">
                <a:solidFill>
                  <a:srgbClr val="FF0000"/>
                </a:solidFill>
                <a:effectLst>
                  <a:outerShdw blurRad="38100" dist="38100" dir="2700000" algn="tl">
                    <a:srgbClr val="000000">
                      <a:alpha val="43137"/>
                    </a:srgbClr>
                  </a:outerShdw>
                </a:effectLst>
                <a:latin typeface="Cascadia Mono" panose="020B0609020000020004" pitchFamily="49" charset="0"/>
              </a:rPr>
              <a:t>    Clicked</a:t>
            </a:r>
            <a:r>
              <a:rPr lang="fr-FR" sz="1600" b="1" dirty="0">
                <a:solidFill>
                  <a:srgbClr val="0000FF"/>
                </a:solidFill>
                <a:effectLst>
                  <a:outerShdw blurRad="38100" dist="38100" dir="2700000" algn="tl">
                    <a:srgbClr val="000000">
                      <a:alpha val="43137"/>
                    </a:srgbClr>
                  </a:outerShdw>
                </a:effectLst>
                <a:latin typeface="Cascadia Mono" panose="020B0609020000020004" pitchFamily="49" charset="0"/>
              </a:rPr>
              <a:t>="</a:t>
            </a:r>
            <a:r>
              <a:rPr lang="fr-FR" sz="1600" b="1" dirty="0" err="1">
                <a:solidFill>
                  <a:srgbClr val="0000FF"/>
                </a:solidFill>
                <a:effectLst>
                  <a:outerShdw blurRad="38100" dist="38100" dir="2700000" algn="tl">
                    <a:srgbClr val="000000">
                      <a:alpha val="43137"/>
                    </a:srgbClr>
                  </a:outerShdw>
                </a:effectLst>
                <a:latin typeface="Cascadia Mono" panose="020B0609020000020004" pitchFamily="49" charset="0"/>
              </a:rPr>
              <a:t>MenuFlyoutItem_Clicked</a:t>
            </a:r>
            <a:r>
              <a:rPr lang="fr-FR" sz="1600" b="1" dirty="0">
                <a:solidFill>
                  <a:srgbClr val="0000FF"/>
                </a:solidFill>
                <a:effectLst>
                  <a:outerShdw blurRad="38100" dist="38100" dir="2700000" algn="tl">
                    <a:srgbClr val="000000">
                      <a:alpha val="43137"/>
                    </a:srgbClr>
                  </a:outerShdw>
                </a:effectLst>
                <a:latin typeface="Cascadia Mono" panose="020B0609020000020004" pitchFamily="49" charset="0"/>
              </a:rPr>
              <a:t>"</a:t>
            </a:r>
            <a:endParaRPr lang="fr-FR" sz="1600" b="1" dirty="0">
              <a:solidFill>
                <a:srgbClr val="000000"/>
              </a:solidFill>
              <a:effectLst>
                <a:outerShdw blurRad="38100" dist="38100" dir="2700000" algn="tl">
                  <a:srgbClr val="000000">
                    <a:alpha val="43137"/>
                  </a:srgbClr>
                </a:outerShdw>
              </a:effectLst>
              <a:latin typeface="Cascadia Mono" panose="020B0609020000020004" pitchFamily="49" charset="0"/>
            </a:endParaRPr>
          </a:p>
          <a:p>
            <a:r>
              <a:rPr lang="fr-FR" sz="1600" b="1" dirty="0" smtClean="0">
                <a:solidFill>
                  <a:srgbClr val="FF0000"/>
                </a:solidFill>
                <a:effectLst>
                  <a:outerShdw blurRad="38100" dist="38100" dir="2700000" algn="tl">
                    <a:srgbClr val="000000">
                      <a:alpha val="43137"/>
                    </a:srgbClr>
                  </a:outerShdw>
                </a:effectLst>
                <a:latin typeface="Cascadia Mono" panose="020B0609020000020004" pitchFamily="49" charset="0"/>
              </a:rPr>
              <a:t>    </a:t>
            </a:r>
            <a:r>
              <a:rPr lang="fr-FR" sz="1600" b="1" dirty="0" err="1" smtClean="0">
                <a:solidFill>
                  <a:srgbClr val="FF0000"/>
                </a:solidFill>
                <a:effectLst>
                  <a:outerShdw blurRad="38100" dist="38100" dir="2700000" algn="tl">
                    <a:srgbClr val="000000">
                      <a:alpha val="43137"/>
                    </a:srgbClr>
                  </a:outerShdw>
                </a:effectLst>
                <a:latin typeface="Cascadia Mono" panose="020B0609020000020004" pitchFamily="49" charset="0"/>
              </a:rPr>
              <a:t>CommandParameter</a:t>
            </a:r>
            <a:r>
              <a:rPr lang="fr-FR" sz="1600" b="1" dirty="0">
                <a:solidFill>
                  <a:srgbClr val="0000FF"/>
                </a:solidFill>
                <a:effectLst>
                  <a:outerShdw blurRad="38100" dist="38100" dir="2700000" algn="tl">
                    <a:srgbClr val="000000">
                      <a:alpha val="43137"/>
                    </a:srgbClr>
                  </a:outerShdw>
                </a:effectLst>
                <a:latin typeface="Cascadia Mono" panose="020B0609020000020004" pitchFamily="49" charset="0"/>
              </a:rPr>
              <a:t>="</a:t>
            </a:r>
            <a:r>
              <a:rPr lang="fr-FR" sz="1600" b="1" dirty="0" err="1">
                <a:solidFill>
                  <a:srgbClr val="0000FF"/>
                </a:solidFill>
                <a:effectLst>
                  <a:outerShdw blurRad="38100" dist="38100" dir="2700000" algn="tl">
                    <a:srgbClr val="000000">
                      <a:alpha val="43137"/>
                    </a:srgbClr>
                  </a:outerShdw>
                </a:effectLst>
                <a:latin typeface="Cascadia Mono" panose="020B0609020000020004" pitchFamily="49" charset="0"/>
              </a:rPr>
              <a:t>eng</a:t>
            </a:r>
            <a:r>
              <a:rPr lang="fr-FR" sz="1600" b="1" dirty="0">
                <a:solidFill>
                  <a:srgbClr val="0000FF"/>
                </a:solidFill>
                <a:effectLst>
                  <a:outerShdw blurRad="38100" dist="38100" dir="2700000" algn="tl">
                    <a:srgbClr val="000000">
                      <a:alpha val="43137"/>
                    </a:srgbClr>
                  </a:outerShdw>
                </a:effectLst>
                <a:latin typeface="Cascadia Mono" panose="020B0609020000020004" pitchFamily="49" charset="0"/>
              </a:rPr>
              <a:t>" /&gt;</a:t>
            </a:r>
            <a:endParaRPr lang="fr-FR" sz="1600" b="1" dirty="0">
              <a:solidFill>
                <a:srgbClr val="000000"/>
              </a:solidFill>
              <a:effectLst>
                <a:outerShdw blurRad="38100" dist="38100" dir="2700000" algn="tl">
                  <a:srgbClr val="000000">
                    <a:alpha val="43137"/>
                  </a:srgbClr>
                </a:outerShdw>
              </a:effectLst>
              <a:latin typeface="Cascadia Mono" panose="020B0609020000020004" pitchFamily="49" charset="0"/>
            </a:endParaRPr>
          </a:p>
          <a:p>
            <a:r>
              <a:rPr lang="fr-FR" sz="1400" dirty="0" smtClean="0">
                <a:solidFill>
                  <a:srgbClr val="0000FF"/>
                </a:solidFill>
                <a:latin typeface="Cascadia Mono" panose="020B0609020000020004" pitchFamily="49" charset="0"/>
              </a:rPr>
              <a:t>  &lt;/</a:t>
            </a:r>
            <a:r>
              <a:rPr lang="fr-FR" sz="1400" dirty="0" err="1">
                <a:solidFill>
                  <a:srgbClr val="A31515"/>
                </a:solidFill>
                <a:latin typeface="Cascadia Mono" panose="020B0609020000020004" pitchFamily="49" charset="0"/>
              </a:rPr>
              <a:t>MenuFlyout</a:t>
            </a:r>
            <a:r>
              <a:rPr lang="fr-FR" sz="1400" dirty="0">
                <a:solidFill>
                  <a:srgbClr val="0000FF"/>
                </a:solidFill>
                <a:latin typeface="Cascadia Mono" panose="020B0609020000020004" pitchFamily="49" charset="0"/>
              </a:rPr>
              <a:t>&gt;</a:t>
            </a:r>
            <a:endParaRPr lang="fr-FR" sz="1400" dirty="0">
              <a:solidFill>
                <a:srgbClr val="000000"/>
              </a:solidFill>
              <a:latin typeface="Cascadia Mono" panose="020B0609020000020004" pitchFamily="49" charset="0"/>
            </a:endParaRPr>
          </a:p>
          <a:p>
            <a:r>
              <a:rPr lang="fr-FR" sz="1400" dirty="0" smtClean="0">
                <a:solidFill>
                  <a:srgbClr val="0000FF"/>
                </a:solidFill>
                <a:latin typeface="Cascadia Mono" panose="020B0609020000020004" pitchFamily="49" charset="0"/>
              </a:rPr>
              <a:t> &lt;/</a:t>
            </a:r>
            <a:r>
              <a:rPr lang="fr-FR" sz="1400" dirty="0" err="1">
                <a:solidFill>
                  <a:srgbClr val="A31515"/>
                </a:solidFill>
                <a:latin typeface="Cascadia Mono" panose="020B0609020000020004" pitchFamily="49" charset="0"/>
              </a:rPr>
              <a:t>FlyoutBase.ContextFlyout</a:t>
            </a:r>
            <a:r>
              <a:rPr lang="fr-FR" sz="1400" dirty="0">
                <a:solidFill>
                  <a:srgbClr val="0000FF"/>
                </a:solidFill>
                <a:latin typeface="Cascadia Mono" panose="020B0609020000020004" pitchFamily="49" charset="0"/>
              </a:rPr>
              <a:t>&gt;</a:t>
            </a:r>
            <a:endParaRPr lang="fr-FR" sz="1400" dirty="0">
              <a:solidFill>
                <a:srgbClr val="000000"/>
              </a:solidFill>
              <a:latin typeface="Cascadia Mono" panose="020B0609020000020004" pitchFamily="49" charset="0"/>
            </a:endParaRPr>
          </a:p>
          <a:p>
            <a:r>
              <a:rPr lang="fr-FR" sz="1400" dirty="0" smtClean="0">
                <a:solidFill>
                  <a:srgbClr val="0000FF"/>
                </a:solidFill>
                <a:latin typeface="Cascadia Mono" panose="020B0609020000020004" pitchFamily="49" charset="0"/>
              </a:rPr>
              <a:t>&lt;/</a:t>
            </a:r>
            <a:r>
              <a:rPr lang="fr-FR" sz="1400" dirty="0" err="1">
                <a:solidFill>
                  <a:srgbClr val="A31515"/>
                </a:solidFill>
                <a:latin typeface="Cascadia Mono" panose="020B0609020000020004" pitchFamily="49" charset="0"/>
              </a:rPr>
              <a:t>WebView</a:t>
            </a:r>
            <a:r>
              <a:rPr lang="fr-FR" sz="1400" dirty="0">
                <a:solidFill>
                  <a:srgbClr val="0000FF"/>
                </a:solidFill>
                <a:latin typeface="Cascadia Mono" panose="020B0609020000020004" pitchFamily="49" charset="0"/>
              </a:rPr>
              <a:t>&gt;</a:t>
            </a:r>
            <a:endParaRPr lang="fr-FR" sz="1400" dirty="0"/>
          </a:p>
        </p:txBody>
      </p:sp>
      <p:pic>
        <p:nvPicPr>
          <p:cNvPr id="8" name="Image 7"/>
          <p:cNvPicPr>
            <a:picLocks noChangeAspect="1"/>
          </p:cNvPicPr>
          <p:nvPr/>
        </p:nvPicPr>
        <p:blipFill>
          <a:blip r:embed="rId3"/>
          <a:stretch>
            <a:fillRect/>
          </a:stretch>
        </p:blipFill>
        <p:spPr>
          <a:xfrm>
            <a:off x="6572640" y="1886754"/>
            <a:ext cx="5327745" cy="2711004"/>
          </a:xfrm>
          <a:prstGeom prst="rect">
            <a:avLst/>
          </a:prstGeom>
        </p:spPr>
      </p:pic>
      <p:pic>
        <p:nvPicPr>
          <p:cNvPr id="9" name="Image 8"/>
          <p:cNvPicPr>
            <a:picLocks noChangeAspect="1"/>
          </p:cNvPicPr>
          <p:nvPr/>
        </p:nvPicPr>
        <p:blipFill>
          <a:blip r:embed="rId4"/>
          <a:stretch>
            <a:fillRect/>
          </a:stretch>
        </p:blipFill>
        <p:spPr>
          <a:xfrm>
            <a:off x="7845950" y="4045081"/>
            <a:ext cx="3905451" cy="2095608"/>
          </a:xfrm>
          <a:prstGeom prst="rect">
            <a:avLst/>
          </a:prstGeom>
        </p:spPr>
      </p:pic>
    </p:spTree>
    <p:extLst>
      <p:ext uri="{BB962C8B-B14F-4D97-AF65-F5344CB8AC3E}">
        <p14:creationId xmlns:p14="http://schemas.microsoft.com/office/powerpoint/2010/main" val="103812078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8"/>
          <p:cNvSpPr txBox="1">
            <a:spLocks noChangeArrowheads="1"/>
          </p:cNvSpPr>
          <p:nvPr/>
        </p:nvSpPr>
        <p:spPr bwMode="auto">
          <a:xfrm>
            <a:off x="386215" y="603327"/>
            <a:ext cx="11475048" cy="15850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152400">
              <a:tabLst>
                <a:tab pos="5992813" algn="l"/>
              </a:tabLst>
              <a:defRPr>
                <a:solidFill>
                  <a:schemeClr val="tx1"/>
                </a:solidFill>
                <a:latin typeface="Calibri" panose="020F0502020204030204" pitchFamily="34" charset="0"/>
                <a:cs typeface="Arial" panose="020B0604020202020204" pitchFamily="34" charset="0"/>
              </a:defRPr>
            </a:lvl1pPr>
            <a:lvl2pPr marL="579438" indent="-242888">
              <a:tabLst>
                <a:tab pos="5992813" algn="l"/>
              </a:tabLst>
              <a:defRPr>
                <a:solidFill>
                  <a:schemeClr val="tx1"/>
                </a:solidFill>
                <a:latin typeface="Calibri" panose="020F0502020204030204" pitchFamily="34" charset="0"/>
                <a:cs typeface="Arial" panose="020B0604020202020204" pitchFamily="34" charset="0"/>
              </a:defRPr>
            </a:lvl2pPr>
            <a:lvl3pPr marL="1143000" indent="-228600">
              <a:tabLst>
                <a:tab pos="5992813" algn="l"/>
              </a:tabLst>
              <a:defRPr>
                <a:solidFill>
                  <a:schemeClr val="tx1"/>
                </a:solidFill>
                <a:latin typeface="Calibri" panose="020F0502020204030204" pitchFamily="34" charset="0"/>
                <a:cs typeface="Arial" panose="020B0604020202020204" pitchFamily="34" charset="0"/>
              </a:defRPr>
            </a:lvl3pPr>
            <a:lvl4pPr marL="1600200" indent="-228600">
              <a:tabLst>
                <a:tab pos="5992813" algn="l"/>
              </a:tabLst>
              <a:defRPr>
                <a:solidFill>
                  <a:schemeClr val="tx1"/>
                </a:solidFill>
                <a:latin typeface="Calibri" panose="020F0502020204030204" pitchFamily="34" charset="0"/>
                <a:cs typeface="Arial" panose="020B0604020202020204" pitchFamily="34" charset="0"/>
              </a:defRPr>
            </a:lvl4pPr>
            <a:lvl5pPr marL="2057400" indent="-228600">
              <a:tabLst>
                <a:tab pos="5992813" algn="l"/>
              </a:tabLst>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2200" u="sng">
                <a:latin typeface="Segoe UI Symbol" panose="020B0502040204020203" pitchFamily="34" charset="0"/>
              </a:rPr>
              <a:t>L</a:t>
            </a:r>
            <a:r>
              <a:rPr lang="en-US" altLang="en-US" sz="2200" u="sng" smtClean="0">
                <a:latin typeface="Segoe UI Symbol" panose="020B0502040204020203" pitchFamily="34" charset="0"/>
              </a:rPr>
              <a:t>es </a:t>
            </a:r>
            <a:r>
              <a:rPr lang="fr-FR" altLang="en-US" sz="2200" u="sng" smtClean="0">
                <a:latin typeface="Segoe UI Symbol" panose="020B0502040204020203" pitchFamily="34" charset="0"/>
              </a:rPr>
              <a:t>Menu-Le </a:t>
            </a:r>
            <a:r>
              <a:rPr lang="fr-FR" altLang="en-US" sz="2200" u="sng" dirty="0" smtClean="0">
                <a:latin typeface="Segoe UI Symbol" panose="020B0502040204020203" pitchFamily="34" charset="0"/>
              </a:rPr>
              <a:t>Bar Menu</a:t>
            </a:r>
          </a:p>
          <a:p>
            <a:pPr marL="438150" indent="-285750">
              <a:lnSpc>
                <a:spcPct val="150000"/>
              </a:lnSpc>
              <a:buFont typeface="Wingdings" panose="05000000000000000000" pitchFamily="2" charset="2"/>
              <a:buChar char="§"/>
            </a:pPr>
            <a:r>
              <a:rPr lang="fr-FR" dirty="0" smtClean="0">
                <a:latin typeface="Segoe UI" panose="020B0502040204020203" pitchFamily="34" charset="0"/>
                <a:cs typeface="Segoe UI" panose="020B0502040204020203" pitchFamily="34" charset="0"/>
              </a:rPr>
              <a:t>Le menu contextuel n’est fonctionnel et stable que sur les plateformes Windows</a:t>
            </a:r>
          </a:p>
          <a:p>
            <a:pPr marL="438150" indent="-285750">
              <a:lnSpc>
                <a:spcPct val="150000"/>
              </a:lnSpc>
              <a:buFont typeface="Wingdings" panose="05000000000000000000" pitchFamily="2" charset="2"/>
              <a:buChar char="§"/>
            </a:pPr>
            <a:endParaRPr lang="fr-FR" dirty="0">
              <a:latin typeface="Segoe UI" panose="020B0502040204020203" pitchFamily="34" charset="0"/>
              <a:cs typeface="Segoe UI" panose="020B0502040204020203" pitchFamily="34" charset="0"/>
            </a:endParaRPr>
          </a:p>
          <a:p>
            <a:pPr marL="438150" indent="-285750">
              <a:lnSpc>
                <a:spcPct val="150000"/>
              </a:lnSpc>
              <a:buFont typeface="Wingdings" panose="05000000000000000000" pitchFamily="2" charset="2"/>
              <a:buChar char="§"/>
            </a:pPr>
            <a:endParaRPr lang="fr-FR" dirty="0" smtClean="0">
              <a:latin typeface="Segoe UI" panose="020B0502040204020203" pitchFamily="34" charset="0"/>
              <a:cs typeface="Segoe UI" panose="020B0502040204020203" pitchFamily="34" charset="0"/>
            </a:endParaRPr>
          </a:p>
        </p:txBody>
      </p:sp>
      <p:sp>
        <p:nvSpPr>
          <p:cNvPr id="3" name="Rectangle 2"/>
          <p:cNvSpPr/>
          <p:nvPr/>
        </p:nvSpPr>
        <p:spPr>
          <a:xfrm>
            <a:off x="431428" y="1607583"/>
            <a:ext cx="6096000" cy="2554545"/>
          </a:xfrm>
          <a:prstGeom prst="rect">
            <a:avLst/>
          </a:prstGeom>
        </p:spPr>
        <p:txBody>
          <a:bodyPr>
            <a:spAutoFit/>
          </a:bodyPr>
          <a:lstStyle/>
          <a:p>
            <a:r>
              <a:rPr lang="fr-FR" sz="1600" dirty="0">
                <a:solidFill>
                  <a:srgbClr val="0000FF"/>
                </a:solidFill>
                <a:latin typeface="Cascadia Mono" panose="020B0609020000020004" pitchFamily="49" charset="0"/>
              </a:rPr>
              <a:t>&lt;</a:t>
            </a:r>
            <a:r>
              <a:rPr lang="fr-FR" sz="1600" dirty="0" smtClean="0">
                <a:solidFill>
                  <a:srgbClr val="A31515"/>
                </a:solidFill>
                <a:latin typeface="Cascadia Mono" panose="020B0609020000020004" pitchFamily="49" charset="0"/>
              </a:rPr>
              <a:t>ContentPage</a:t>
            </a:r>
            <a:r>
              <a:rPr lang="fr-FR" sz="1600" dirty="0" smtClean="0">
                <a:solidFill>
                  <a:srgbClr val="FF0000"/>
                </a:solidFill>
                <a:latin typeface="Cascadia Mono" panose="020B0609020000020004" pitchFamily="49" charset="0"/>
              </a:rPr>
              <a:t> … </a:t>
            </a:r>
          </a:p>
          <a:p>
            <a:r>
              <a:rPr lang="fr-FR" sz="1600" dirty="0">
                <a:solidFill>
                  <a:srgbClr val="FF0000"/>
                </a:solidFill>
                <a:latin typeface="Cascadia Mono" panose="020B0609020000020004" pitchFamily="49" charset="0"/>
              </a:rPr>
              <a:t> </a:t>
            </a:r>
            <a:r>
              <a:rPr lang="fr-FR" sz="1600" dirty="0" smtClean="0">
                <a:solidFill>
                  <a:srgbClr val="FF0000"/>
                </a:solidFill>
                <a:latin typeface="Cascadia Mono" panose="020B0609020000020004" pitchFamily="49" charset="0"/>
              </a:rPr>
              <a:t>    x</a:t>
            </a:r>
            <a:r>
              <a:rPr lang="fr-FR" sz="1600" dirty="0" smtClean="0">
                <a:solidFill>
                  <a:srgbClr val="0000FF"/>
                </a:solidFill>
                <a:latin typeface="Cascadia Mono" panose="020B0609020000020004" pitchFamily="49" charset="0"/>
              </a:rPr>
              <a:t>:</a:t>
            </a:r>
            <a:r>
              <a:rPr lang="fr-FR" sz="1600" dirty="0" smtClean="0">
                <a:solidFill>
                  <a:srgbClr val="FF0000"/>
                </a:solidFill>
                <a:latin typeface="Cascadia Mono" panose="020B0609020000020004" pitchFamily="49" charset="0"/>
              </a:rPr>
              <a:t>Class</a:t>
            </a:r>
            <a:r>
              <a:rPr lang="fr-FR" sz="1600" dirty="0">
                <a:solidFill>
                  <a:srgbClr val="0000FF"/>
                </a:solidFill>
                <a:latin typeface="Cascadia Mono" panose="020B0609020000020004" pitchFamily="49" charset="0"/>
              </a:rPr>
              <a:t>="MauiApp1.MainPage"&gt;</a:t>
            </a:r>
            <a:endParaRPr lang="fr-FR" sz="1600" dirty="0">
              <a:solidFill>
                <a:srgbClr val="000000"/>
              </a:solidFill>
              <a:latin typeface="Cascadia Mono" panose="020B0609020000020004" pitchFamily="49" charset="0"/>
            </a:endParaRPr>
          </a:p>
          <a:p>
            <a:r>
              <a:rPr lang="fr-FR" sz="1600" dirty="0">
                <a:solidFill>
                  <a:srgbClr val="000000"/>
                </a:solidFill>
                <a:latin typeface="Cascadia Mono" panose="020B0609020000020004" pitchFamily="49" charset="0"/>
              </a:rPr>
              <a:t>    </a:t>
            </a:r>
            <a:r>
              <a:rPr lang="fr-FR" sz="1600" dirty="0">
                <a:solidFill>
                  <a:srgbClr val="0000FF"/>
                </a:solidFill>
                <a:latin typeface="Cascadia Mono" panose="020B0609020000020004" pitchFamily="49" charset="0"/>
              </a:rPr>
              <a:t>&lt;</a:t>
            </a:r>
            <a:r>
              <a:rPr lang="fr-FR" sz="1600" dirty="0" err="1">
                <a:solidFill>
                  <a:srgbClr val="A31515"/>
                </a:solidFill>
                <a:latin typeface="Cascadia Mono" panose="020B0609020000020004" pitchFamily="49" charset="0"/>
              </a:rPr>
              <a:t>ContentPage.MenuBarItems</a:t>
            </a:r>
            <a:r>
              <a:rPr lang="fr-FR" sz="1600" dirty="0">
                <a:solidFill>
                  <a:srgbClr val="0000FF"/>
                </a:solidFill>
                <a:latin typeface="Cascadia Mono" panose="020B0609020000020004" pitchFamily="49" charset="0"/>
              </a:rPr>
              <a:t>&gt;</a:t>
            </a:r>
            <a:endParaRPr lang="fr-FR" sz="1600" dirty="0">
              <a:solidFill>
                <a:srgbClr val="000000"/>
              </a:solidFill>
              <a:latin typeface="Cascadia Mono" panose="020B0609020000020004" pitchFamily="49" charset="0"/>
            </a:endParaRPr>
          </a:p>
          <a:p>
            <a:r>
              <a:rPr lang="fr-FR" sz="1600" dirty="0">
                <a:solidFill>
                  <a:srgbClr val="000000"/>
                </a:solidFill>
                <a:latin typeface="Cascadia Mono" panose="020B0609020000020004" pitchFamily="49" charset="0"/>
              </a:rPr>
              <a:t>        </a:t>
            </a:r>
            <a:r>
              <a:rPr lang="fr-FR" sz="1600" dirty="0">
                <a:solidFill>
                  <a:srgbClr val="0000FF"/>
                </a:solidFill>
                <a:latin typeface="Cascadia Mono" panose="020B0609020000020004" pitchFamily="49" charset="0"/>
              </a:rPr>
              <a:t>&lt;</a:t>
            </a:r>
            <a:r>
              <a:rPr lang="fr-FR" sz="1600" dirty="0" err="1">
                <a:solidFill>
                  <a:srgbClr val="A31515"/>
                </a:solidFill>
                <a:latin typeface="Cascadia Mono" panose="020B0609020000020004" pitchFamily="49" charset="0"/>
              </a:rPr>
              <a:t>MenuBarItem</a:t>
            </a:r>
            <a:r>
              <a:rPr lang="fr-FR" sz="1600" dirty="0">
                <a:solidFill>
                  <a:srgbClr val="FF0000"/>
                </a:solidFill>
                <a:latin typeface="Cascadia Mono" panose="020B0609020000020004" pitchFamily="49" charset="0"/>
              </a:rPr>
              <a:t> Text</a:t>
            </a:r>
            <a:r>
              <a:rPr lang="fr-FR" sz="1600" dirty="0">
                <a:solidFill>
                  <a:srgbClr val="0000FF"/>
                </a:solidFill>
                <a:latin typeface="Cascadia Mono" panose="020B0609020000020004" pitchFamily="49" charset="0"/>
              </a:rPr>
              <a:t>="File"&gt;</a:t>
            </a:r>
            <a:endParaRPr lang="fr-FR" sz="1600" dirty="0">
              <a:solidFill>
                <a:srgbClr val="000000"/>
              </a:solidFill>
              <a:latin typeface="Cascadia Mono" panose="020B0609020000020004" pitchFamily="49" charset="0"/>
            </a:endParaRPr>
          </a:p>
          <a:p>
            <a:r>
              <a:rPr lang="fr-FR" sz="1600" dirty="0">
                <a:solidFill>
                  <a:srgbClr val="000000"/>
                </a:solidFill>
                <a:latin typeface="Cascadia Mono" panose="020B0609020000020004" pitchFamily="49" charset="0"/>
              </a:rPr>
              <a:t>            </a:t>
            </a:r>
            <a:r>
              <a:rPr lang="fr-FR" sz="1600" dirty="0">
                <a:solidFill>
                  <a:srgbClr val="0000FF"/>
                </a:solidFill>
                <a:latin typeface="Cascadia Mono" panose="020B0609020000020004" pitchFamily="49" charset="0"/>
              </a:rPr>
              <a:t>&lt;</a:t>
            </a:r>
            <a:r>
              <a:rPr lang="fr-FR" sz="1600" dirty="0" err="1">
                <a:solidFill>
                  <a:srgbClr val="A31515"/>
                </a:solidFill>
                <a:latin typeface="Cascadia Mono" panose="020B0609020000020004" pitchFamily="49" charset="0"/>
              </a:rPr>
              <a:t>MenuFlyoutItem</a:t>
            </a:r>
            <a:r>
              <a:rPr lang="fr-FR" sz="1600" dirty="0">
                <a:solidFill>
                  <a:srgbClr val="FF0000"/>
                </a:solidFill>
                <a:latin typeface="Cascadia Mono" panose="020B0609020000020004" pitchFamily="49" charset="0"/>
              </a:rPr>
              <a:t> Text</a:t>
            </a:r>
            <a:r>
              <a:rPr lang="fr-FR" sz="1600" dirty="0">
                <a:solidFill>
                  <a:srgbClr val="0000FF"/>
                </a:solidFill>
                <a:latin typeface="Cascadia Mono" panose="020B0609020000020004" pitchFamily="49" charset="0"/>
              </a:rPr>
              <a:t>="New"/&gt;</a:t>
            </a:r>
            <a:endParaRPr lang="fr-FR" sz="1600" dirty="0">
              <a:solidFill>
                <a:srgbClr val="000000"/>
              </a:solidFill>
              <a:latin typeface="Cascadia Mono" panose="020B0609020000020004" pitchFamily="49" charset="0"/>
            </a:endParaRPr>
          </a:p>
          <a:p>
            <a:r>
              <a:rPr lang="fr-FR" sz="1600" dirty="0">
                <a:solidFill>
                  <a:srgbClr val="000000"/>
                </a:solidFill>
                <a:latin typeface="Cascadia Mono" panose="020B0609020000020004" pitchFamily="49" charset="0"/>
              </a:rPr>
              <a:t>            </a:t>
            </a:r>
            <a:r>
              <a:rPr lang="fr-FR" sz="1600" dirty="0">
                <a:solidFill>
                  <a:srgbClr val="0000FF"/>
                </a:solidFill>
                <a:latin typeface="Cascadia Mono" panose="020B0609020000020004" pitchFamily="49" charset="0"/>
              </a:rPr>
              <a:t>&lt;</a:t>
            </a:r>
            <a:r>
              <a:rPr lang="fr-FR" sz="1600" dirty="0" err="1">
                <a:solidFill>
                  <a:srgbClr val="A31515"/>
                </a:solidFill>
                <a:latin typeface="Cascadia Mono" panose="020B0609020000020004" pitchFamily="49" charset="0"/>
              </a:rPr>
              <a:t>MenuFlyoutItem</a:t>
            </a:r>
            <a:r>
              <a:rPr lang="fr-FR" sz="1600" dirty="0">
                <a:solidFill>
                  <a:srgbClr val="FF0000"/>
                </a:solidFill>
                <a:latin typeface="Cascadia Mono" panose="020B0609020000020004" pitchFamily="49" charset="0"/>
              </a:rPr>
              <a:t> Text</a:t>
            </a:r>
            <a:r>
              <a:rPr lang="fr-FR" sz="1600" dirty="0">
                <a:solidFill>
                  <a:srgbClr val="0000FF"/>
                </a:solidFill>
                <a:latin typeface="Cascadia Mono" panose="020B0609020000020004" pitchFamily="49" charset="0"/>
              </a:rPr>
              <a:t>="Open"/&gt;</a:t>
            </a:r>
            <a:endParaRPr lang="fr-FR" sz="1600" dirty="0">
              <a:solidFill>
                <a:srgbClr val="000000"/>
              </a:solidFill>
              <a:latin typeface="Cascadia Mono" panose="020B0609020000020004" pitchFamily="49" charset="0"/>
            </a:endParaRPr>
          </a:p>
          <a:p>
            <a:r>
              <a:rPr lang="fr-FR" sz="1600" dirty="0">
                <a:solidFill>
                  <a:srgbClr val="000000"/>
                </a:solidFill>
                <a:latin typeface="Cascadia Mono" panose="020B0609020000020004" pitchFamily="49" charset="0"/>
              </a:rPr>
              <a:t>            </a:t>
            </a:r>
            <a:r>
              <a:rPr lang="fr-FR" sz="1600" dirty="0">
                <a:solidFill>
                  <a:srgbClr val="0000FF"/>
                </a:solidFill>
                <a:latin typeface="Cascadia Mono" panose="020B0609020000020004" pitchFamily="49" charset="0"/>
              </a:rPr>
              <a:t>&lt;</a:t>
            </a:r>
            <a:r>
              <a:rPr lang="fr-FR" sz="1600" dirty="0" err="1">
                <a:solidFill>
                  <a:srgbClr val="A31515"/>
                </a:solidFill>
                <a:latin typeface="Cascadia Mono" panose="020B0609020000020004" pitchFamily="49" charset="0"/>
              </a:rPr>
              <a:t>MenuFlyoutItem</a:t>
            </a:r>
            <a:r>
              <a:rPr lang="fr-FR" sz="1600" dirty="0">
                <a:solidFill>
                  <a:srgbClr val="FF0000"/>
                </a:solidFill>
                <a:latin typeface="Cascadia Mono" panose="020B0609020000020004" pitchFamily="49" charset="0"/>
              </a:rPr>
              <a:t> Text</a:t>
            </a:r>
            <a:r>
              <a:rPr lang="fr-FR" sz="1600" dirty="0">
                <a:solidFill>
                  <a:srgbClr val="0000FF"/>
                </a:solidFill>
                <a:latin typeface="Cascadia Mono" panose="020B0609020000020004" pitchFamily="49" charset="0"/>
              </a:rPr>
              <a:t>="Close"/&gt;</a:t>
            </a:r>
            <a:endParaRPr lang="fr-FR" sz="1600" dirty="0">
              <a:solidFill>
                <a:srgbClr val="000000"/>
              </a:solidFill>
              <a:latin typeface="Cascadia Mono" panose="020B0609020000020004" pitchFamily="49" charset="0"/>
            </a:endParaRPr>
          </a:p>
          <a:p>
            <a:r>
              <a:rPr lang="fr-FR" sz="1600" dirty="0">
                <a:solidFill>
                  <a:srgbClr val="000000"/>
                </a:solidFill>
                <a:latin typeface="Cascadia Mono" panose="020B0609020000020004" pitchFamily="49" charset="0"/>
              </a:rPr>
              <a:t>        </a:t>
            </a:r>
            <a:r>
              <a:rPr lang="fr-FR" sz="1600" dirty="0">
                <a:solidFill>
                  <a:srgbClr val="0000FF"/>
                </a:solidFill>
                <a:latin typeface="Cascadia Mono" panose="020B0609020000020004" pitchFamily="49" charset="0"/>
              </a:rPr>
              <a:t>&lt;/</a:t>
            </a:r>
            <a:r>
              <a:rPr lang="fr-FR" sz="1600" dirty="0" err="1">
                <a:solidFill>
                  <a:srgbClr val="A31515"/>
                </a:solidFill>
                <a:latin typeface="Cascadia Mono" panose="020B0609020000020004" pitchFamily="49" charset="0"/>
              </a:rPr>
              <a:t>MenuBarItem</a:t>
            </a:r>
            <a:r>
              <a:rPr lang="fr-FR" sz="1600" dirty="0">
                <a:solidFill>
                  <a:srgbClr val="0000FF"/>
                </a:solidFill>
                <a:latin typeface="Cascadia Mono" panose="020B0609020000020004" pitchFamily="49" charset="0"/>
              </a:rPr>
              <a:t>&gt;</a:t>
            </a:r>
            <a:endParaRPr lang="fr-FR" sz="1600" dirty="0">
              <a:solidFill>
                <a:srgbClr val="000000"/>
              </a:solidFill>
              <a:latin typeface="Cascadia Mono" panose="020B0609020000020004" pitchFamily="49" charset="0"/>
            </a:endParaRPr>
          </a:p>
          <a:p>
            <a:r>
              <a:rPr lang="fr-FR" sz="1600" dirty="0">
                <a:solidFill>
                  <a:srgbClr val="000000"/>
                </a:solidFill>
                <a:latin typeface="Cascadia Mono" panose="020B0609020000020004" pitchFamily="49" charset="0"/>
              </a:rPr>
              <a:t>    </a:t>
            </a:r>
            <a:r>
              <a:rPr lang="fr-FR" sz="1600" dirty="0">
                <a:solidFill>
                  <a:srgbClr val="0000FF"/>
                </a:solidFill>
                <a:latin typeface="Cascadia Mono" panose="020B0609020000020004" pitchFamily="49" charset="0"/>
              </a:rPr>
              <a:t>&lt;/</a:t>
            </a:r>
            <a:r>
              <a:rPr lang="fr-FR" sz="1600" dirty="0" err="1">
                <a:solidFill>
                  <a:srgbClr val="A31515"/>
                </a:solidFill>
                <a:latin typeface="Cascadia Mono" panose="020B0609020000020004" pitchFamily="49" charset="0"/>
              </a:rPr>
              <a:t>ContentPage.MenuBarItems</a:t>
            </a:r>
            <a:r>
              <a:rPr lang="fr-FR" sz="1600" dirty="0">
                <a:solidFill>
                  <a:srgbClr val="0000FF"/>
                </a:solidFill>
                <a:latin typeface="Cascadia Mono" panose="020B0609020000020004" pitchFamily="49" charset="0"/>
              </a:rPr>
              <a:t>&gt;</a:t>
            </a:r>
            <a:endParaRPr lang="fr-FR" sz="1600" dirty="0">
              <a:solidFill>
                <a:srgbClr val="000000"/>
              </a:solidFill>
              <a:latin typeface="Cascadia Mono" panose="020B0609020000020004" pitchFamily="49" charset="0"/>
            </a:endParaRPr>
          </a:p>
          <a:p>
            <a:r>
              <a:rPr lang="fr-FR" sz="1600" dirty="0">
                <a:solidFill>
                  <a:srgbClr val="0000FF"/>
                </a:solidFill>
                <a:latin typeface="Cascadia Mono" panose="020B0609020000020004" pitchFamily="49" charset="0"/>
              </a:rPr>
              <a:t>&lt;/</a:t>
            </a:r>
            <a:r>
              <a:rPr lang="fr-FR" sz="1600" dirty="0">
                <a:solidFill>
                  <a:srgbClr val="A31515"/>
                </a:solidFill>
                <a:latin typeface="Cascadia Mono" panose="020B0609020000020004" pitchFamily="49" charset="0"/>
              </a:rPr>
              <a:t>ContentPage</a:t>
            </a:r>
            <a:r>
              <a:rPr lang="fr-FR" sz="1600" dirty="0">
                <a:solidFill>
                  <a:srgbClr val="0000FF"/>
                </a:solidFill>
                <a:latin typeface="Cascadia Mono" panose="020B0609020000020004" pitchFamily="49" charset="0"/>
              </a:rPr>
              <a:t>&gt;</a:t>
            </a:r>
            <a:endParaRPr lang="fr-FR" sz="1600" dirty="0"/>
          </a:p>
        </p:txBody>
      </p:sp>
      <p:pic>
        <p:nvPicPr>
          <p:cNvPr id="5" name="Image 4"/>
          <p:cNvPicPr>
            <a:picLocks noChangeAspect="1"/>
          </p:cNvPicPr>
          <p:nvPr/>
        </p:nvPicPr>
        <p:blipFill>
          <a:blip r:embed="rId3"/>
          <a:stretch>
            <a:fillRect/>
          </a:stretch>
        </p:blipFill>
        <p:spPr>
          <a:xfrm>
            <a:off x="7506756" y="1742266"/>
            <a:ext cx="3446725" cy="2753683"/>
          </a:xfrm>
          <a:prstGeom prst="rect">
            <a:avLst/>
          </a:prstGeom>
        </p:spPr>
      </p:pic>
    </p:spTree>
    <p:extLst>
      <p:ext uri="{BB962C8B-B14F-4D97-AF65-F5344CB8AC3E}">
        <p14:creationId xmlns:p14="http://schemas.microsoft.com/office/powerpoint/2010/main" val="412166517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10323</TotalTime>
  <Words>4956</Words>
  <Application>Microsoft Office PowerPoint</Application>
  <PresentationFormat>Widescreen</PresentationFormat>
  <Paragraphs>1210</Paragraphs>
  <Slides>60</Slides>
  <Notes>44</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60</vt:i4>
      </vt:variant>
    </vt:vector>
  </HeadingPairs>
  <TitlesOfParts>
    <vt:vector size="71" baseType="lpstr">
      <vt:lpstr>Arial</vt:lpstr>
      <vt:lpstr>Calibri</vt:lpstr>
      <vt:lpstr>Calibri Light</vt:lpstr>
      <vt:lpstr>Cascadia Mono</vt:lpstr>
      <vt:lpstr>Comic Sans MS</vt:lpstr>
      <vt:lpstr>Segoe UI</vt:lpstr>
      <vt:lpstr>Segoe UI </vt:lpstr>
      <vt:lpstr>Segoe UI Symbol</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 les fondmentaux </dc:title>
  <dc:creator>Windows User</dc:creator>
  <cp:lastModifiedBy>DELL</cp:lastModifiedBy>
  <cp:revision>250</cp:revision>
  <dcterms:created xsi:type="dcterms:W3CDTF">2022-10-07T06:35:33Z</dcterms:created>
  <dcterms:modified xsi:type="dcterms:W3CDTF">2025-07-14T14:19:49Z</dcterms:modified>
</cp:coreProperties>
</file>