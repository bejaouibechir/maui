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300" r:id="rId2"/>
    <p:sldId id="256" r:id="rId3"/>
    <p:sldId id="284" r:id="rId4"/>
    <p:sldId id="285" r:id="rId5"/>
    <p:sldId id="286" r:id="rId6"/>
    <p:sldId id="287" r:id="rId7"/>
    <p:sldId id="288" r:id="rId8"/>
    <p:sldId id="289" r:id="rId9"/>
    <p:sldId id="292" r:id="rId10"/>
    <p:sldId id="291" r:id="rId11"/>
    <p:sldId id="293" r:id="rId12"/>
    <p:sldId id="294" r:id="rId13"/>
    <p:sldId id="295" r:id="rId14"/>
    <p:sldId id="296" r:id="rId15"/>
    <p:sldId id="297" r:id="rId16"/>
    <p:sldId id="303" r:id="rId17"/>
    <p:sldId id="302" r:id="rId18"/>
    <p:sldId id="304" r:id="rId19"/>
    <p:sldId id="305" r:id="rId20"/>
    <p:sldId id="301" r:id="rId21"/>
    <p:sldId id="298" r:id="rId22"/>
    <p:sldId id="29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130" autoAdjust="0"/>
  </p:normalViewPr>
  <p:slideViewPr>
    <p:cSldViewPr snapToGrid="0">
      <p:cViewPr varScale="1">
        <p:scale>
          <a:sx n="109" d="100"/>
          <a:sy n="109" d="100"/>
        </p:scale>
        <p:origin x="568" y="76"/>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82A7F4-A365-4B92-BEB0-C0D7CF65282E}" type="datetimeFigureOut">
              <a:rPr lang="fr-FR" smtClean="0"/>
              <a:t>14/07/2025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5E1AE6-1BFD-4589-9604-3D9D158FB781}" type="slidenum">
              <a:rPr lang="fr-FR" smtClean="0"/>
              <a:t>‹#›</a:t>
            </a:fld>
            <a:endParaRPr lang="fr-FR"/>
          </a:p>
        </p:txBody>
      </p:sp>
    </p:spTree>
    <p:extLst>
      <p:ext uri="{BB962C8B-B14F-4D97-AF65-F5344CB8AC3E}">
        <p14:creationId xmlns:p14="http://schemas.microsoft.com/office/powerpoint/2010/main" val="673256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05E1AE6-1BFD-4589-9604-3D9D158FB781}" type="slidenum">
              <a:rPr lang="fr-FR" smtClean="0"/>
              <a:t>6</a:t>
            </a:fld>
            <a:endParaRPr lang="fr-FR"/>
          </a:p>
        </p:txBody>
      </p:sp>
    </p:spTree>
    <p:extLst>
      <p:ext uri="{BB962C8B-B14F-4D97-AF65-F5344CB8AC3E}">
        <p14:creationId xmlns:p14="http://schemas.microsoft.com/office/powerpoint/2010/main" val="2007112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using </a:t>
            </a:r>
            <a:r>
              <a:rPr lang="en-US" dirty="0" err="1" smtClean="0"/>
              <a:t>Microsoft.Maui.Graphics</a:t>
            </a:r>
            <a:r>
              <a:rPr lang="en-US" dirty="0" smtClean="0"/>
              <a:t>;</a:t>
            </a:r>
          </a:p>
          <a:p>
            <a:r>
              <a:rPr lang="en-US" dirty="0" smtClean="0"/>
              <a:t>using </a:t>
            </a:r>
            <a:r>
              <a:rPr lang="en-US" dirty="0" err="1" smtClean="0"/>
              <a:t>Microsoft.Maui.Graphics.Shapes</a:t>
            </a:r>
            <a:r>
              <a:rPr lang="en-US" dirty="0" smtClean="0"/>
              <a:t>;</a:t>
            </a:r>
          </a:p>
          <a:p>
            <a:endParaRPr lang="en-US" dirty="0" smtClean="0"/>
          </a:p>
          <a:p>
            <a:r>
              <a:rPr lang="en-US" dirty="0" smtClean="0"/>
              <a:t>public class </a:t>
            </a:r>
            <a:r>
              <a:rPr lang="en-US" dirty="0" err="1" smtClean="0"/>
              <a:t>AnnotationShape</a:t>
            </a:r>
            <a:r>
              <a:rPr lang="en-US" dirty="0" smtClean="0"/>
              <a:t> : Shape</a:t>
            </a:r>
          </a:p>
          <a:p>
            <a:r>
              <a:rPr lang="en-US" dirty="0" smtClean="0"/>
              <a:t>{</a:t>
            </a:r>
          </a:p>
          <a:p>
            <a:r>
              <a:rPr lang="en-US" dirty="0" smtClean="0"/>
              <a:t>    public float </a:t>
            </a:r>
            <a:r>
              <a:rPr lang="en-US" dirty="0" err="1" smtClean="0"/>
              <a:t>ArrowWidth</a:t>
            </a:r>
            <a:r>
              <a:rPr lang="en-US" dirty="0" smtClean="0"/>
              <a:t> { get; set; } = 10;</a:t>
            </a:r>
          </a:p>
          <a:p>
            <a:r>
              <a:rPr lang="en-US" dirty="0" smtClean="0"/>
              <a:t>    public float </a:t>
            </a:r>
            <a:r>
              <a:rPr lang="en-US" dirty="0" err="1" smtClean="0"/>
              <a:t>ArrowHeight</a:t>
            </a:r>
            <a:r>
              <a:rPr lang="en-US" dirty="0" smtClean="0"/>
              <a:t> { get; set; } = 20;</a:t>
            </a:r>
          </a:p>
          <a:p>
            <a:r>
              <a:rPr lang="en-US" dirty="0" smtClean="0"/>
              <a:t>    public float </a:t>
            </a:r>
            <a:r>
              <a:rPr lang="en-US" dirty="0" err="1" smtClean="0"/>
              <a:t>BoxWidth</a:t>
            </a:r>
            <a:r>
              <a:rPr lang="en-US" dirty="0" smtClean="0"/>
              <a:t> { get; set; } = 100;</a:t>
            </a:r>
          </a:p>
          <a:p>
            <a:r>
              <a:rPr lang="en-US" dirty="0" smtClean="0"/>
              <a:t>    public float </a:t>
            </a:r>
            <a:r>
              <a:rPr lang="en-US" dirty="0" err="1" smtClean="0"/>
              <a:t>BoxHeight</a:t>
            </a:r>
            <a:r>
              <a:rPr lang="en-US" dirty="0" smtClean="0"/>
              <a:t> { get; set; } = 60;</a:t>
            </a:r>
          </a:p>
          <a:p>
            <a:endParaRPr lang="en-US" dirty="0" smtClean="0"/>
          </a:p>
          <a:p>
            <a:r>
              <a:rPr lang="en-US" dirty="0" smtClean="0"/>
              <a:t>    public override void Draw(</a:t>
            </a:r>
            <a:r>
              <a:rPr lang="en-US" dirty="0" err="1" smtClean="0"/>
              <a:t>ICanvas</a:t>
            </a:r>
            <a:r>
              <a:rPr lang="en-US" dirty="0" smtClean="0"/>
              <a:t> canvas, </a:t>
            </a:r>
            <a:r>
              <a:rPr lang="en-US" dirty="0" err="1" smtClean="0"/>
              <a:t>RectangleF</a:t>
            </a:r>
            <a:r>
              <a:rPr lang="en-US" dirty="0" smtClean="0"/>
              <a:t> </a:t>
            </a:r>
            <a:r>
              <a:rPr lang="en-US" dirty="0" err="1" smtClean="0"/>
              <a:t>dirtyRect</a:t>
            </a:r>
            <a:r>
              <a:rPr lang="en-US" dirty="0" smtClean="0"/>
              <a:t>)</a:t>
            </a:r>
          </a:p>
          <a:p>
            <a:r>
              <a:rPr lang="en-US" dirty="0" smtClean="0"/>
              <a:t>    {</a:t>
            </a:r>
          </a:p>
          <a:p>
            <a:r>
              <a:rPr lang="en-US" dirty="0" smtClean="0"/>
              <a:t>        </a:t>
            </a:r>
            <a:r>
              <a:rPr lang="en-US" dirty="0" err="1" smtClean="0"/>
              <a:t>var</a:t>
            </a:r>
            <a:r>
              <a:rPr lang="en-US" dirty="0" smtClean="0"/>
              <a:t> path = new Path();</a:t>
            </a:r>
          </a:p>
          <a:p>
            <a:r>
              <a:rPr lang="en-US" dirty="0" smtClean="0"/>
              <a:t>        </a:t>
            </a:r>
          </a:p>
          <a:p>
            <a:r>
              <a:rPr lang="en-US" dirty="0" smtClean="0"/>
              <a:t>        // </a:t>
            </a:r>
            <a:r>
              <a:rPr lang="en-US" dirty="0" err="1" smtClean="0"/>
              <a:t>Définir</a:t>
            </a:r>
            <a:r>
              <a:rPr lang="en-US" dirty="0" smtClean="0"/>
              <a:t> le </a:t>
            </a:r>
            <a:r>
              <a:rPr lang="en-US" dirty="0" err="1" smtClean="0"/>
              <a:t>chemin</a:t>
            </a:r>
            <a:r>
              <a:rPr lang="en-US" dirty="0" smtClean="0"/>
              <a:t> du rectangle de base avec </a:t>
            </a:r>
            <a:r>
              <a:rPr lang="en-US" dirty="0" err="1" smtClean="0"/>
              <a:t>une</a:t>
            </a:r>
            <a:r>
              <a:rPr lang="en-US" dirty="0" smtClean="0"/>
              <a:t> </a:t>
            </a:r>
            <a:r>
              <a:rPr lang="en-US" dirty="0" err="1" smtClean="0"/>
              <a:t>flèche</a:t>
            </a:r>
            <a:r>
              <a:rPr lang="en-US" dirty="0" smtClean="0"/>
              <a:t> au-</a:t>
            </a:r>
            <a:r>
              <a:rPr lang="en-US" dirty="0" err="1" smtClean="0"/>
              <a:t>dessus</a:t>
            </a:r>
            <a:endParaRPr lang="en-US" dirty="0" smtClean="0"/>
          </a:p>
          <a:p>
            <a:r>
              <a:rPr lang="en-US" dirty="0" smtClean="0"/>
              <a:t>        </a:t>
            </a:r>
            <a:r>
              <a:rPr lang="en-US" dirty="0" err="1" smtClean="0"/>
              <a:t>path.MoveTo</a:t>
            </a:r>
            <a:r>
              <a:rPr lang="en-US" dirty="0" smtClean="0"/>
              <a:t>(0, 0);</a:t>
            </a:r>
          </a:p>
          <a:p>
            <a:r>
              <a:rPr lang="en-US" dirty="0" smtClean="0"/>
              <a:t>        </a:t>
            </a:r>
            <a:r>
              <a:rPr lang="en-US" dirty="0" err="1" smtClean="0"/>
              <a:t>path.LineTo</a:t>
            </a:r>
            <a:r>
              <a:rPr lang="en-US" dirty="0" smtClean="0"/>
              <a:t>(</a:t>
            </a:r>
            <a:r>
              <a:rPr lang="en-US" dirty="0" err="1" smtClean="0"/>
              <a:t>BoxWidth</a:t>
            </a:r>
            <a:r>
              <a:rPr lang="en-US" dirty="0" smtClean="0"/>
              <a:t>, 0);</a:t>
            </a:r>
          </a:p>
          <a:p>
            <a:r>
              <a:rPr lang="en-US" dirty="0" smtClean="0"/>
              <a:t>        </a:t>
            </a:r>
            <a:r>
              <a:rPr lang="en-US" dirty="0" err="1" smtClean="0"/>
              <a:t>path.LineTo</a:t>
            </a:r>
            <a:r>
              <a:rPr lang="en-US" dirty="0" smtClean="0"/>
              <a:t>(</a:t>
            </a:r>
            <a:r>
              <a:rPr lang="en-US" dirty="0" err="1" smtClean="0"/>
              <a:t>BoxWidth</a:t>
            </a:r>
            <a:r>
              <a:rPr lang="en-US" dirty="0" smtClean="0"/>
              <a:t>, </a:t>
            </a:r>
            <a:r>
              <a:rPr lang="en-US" dirty="0" err="1" smtClean="0"/>
              <a:t>BoxHeight</a:t>
            </a:r>
            <a:r>
              <a:rPr lang="en-US" dirty="0" smtClean="0"/>
              <a:t> - </a:t>
            </a:r>
            <a:r>
              <a:rPr lang="en-US" dirty="0" err="1" smtClean="0"/>
              <a:t>ArrowHeight</a:t>
            </a:r>
            <a:r>
              <a:rPr lang="en-US" dirty="0" smtClean="0"/>
              <a:t>);</a:t>
            </a:r>
          </a:p>
          <a:p>
            <a:r>
              <a:rPr lang="en-US" dirty="0" smtClean="0"/>
              <a:t>        </a:t>
            </a:r>
            <a:r>
              <a:rPr lang="en-US" dirty="0" err="1" smtClean="0"/>
              <a:t>path.LineTo</a:t>
            </a:r>
            <a:r>
              <a:rPr lang="en-US" dirty="0" smtClean="0"/>
              <a:t>((</a:t>
            </a:r>
            <a:r>
              <a:rPr lang="en-US" dirty="0" err="1" smtClean="0"/>
              <a:t>BoxWidth</a:t>
            </a:r>
            <a:r>
              <a:rPr lang="en-US" dirty="0" smtClean="0"/>
              <a:t> + </a:t>
            </a:r>
            <a:r>
              <a:rPr lang="en-US" dirty="0" err="1" smtClean="0"/>
              <a:t>ArrowWidth</a:t>
            </a:r>
            <a:r>
              <a:rPr lang="en-US" dirty="0" smtClean="0"/>
              <a:t>) / 2, </a:t>
            </a:r>
            <a:r>
              <a:rPr lang="en-US" dirty="0" err="1" smtClean="0"/>
              <a:t>BoxHeight</a:t>
            </a:r>
            <a:r>
              <a:rPr lang="en-US" dirty="0" smtClean="0"/>
              <a:t> - </a:t>
            </a:r>
            <a:r>
              <a:rPr lang="en-US" dirty="0" err="1" smtClean="0"/>
              <a:t>ArrowHeight</a:t>
            </a:r>
            <a:r>
              <a:rPr lang="en-US" dirty="0" smtClean="0"/>
              <a:t>);</a:t>
            </a:r>
          </a:p>
          <a:p>
            <a:r>
              <a:rPr lang="en-US" dirty="0" smtClean="0"/>
              <a:t>        </a:t>
            </a:r>
            <a:r>
              <a:rPr lang="en-US" dirty="0" err="1" smtClean="0"/>
              <a:t>path.LineTo</a:t>
            </a:r>
            <a:r>
              <a:rPr lang="en-US" dirty="0" smtClean="0"/>
              <a:t>(</a:t>
            </a:r>
            <a:r>
              <a:rPr lang="en-US" dirty="0" err="1" smtClean="0"/>
              <a:t>BoxWidth</a:t>
            </a:r>
            <a:r>
              <a:rPr lang="en-US" dirty="0" smtClean="0"/>
              <a:t> / 2, </a:t>
            </a:r>
            <a:r>
              <a:rPr lang="en-US" dirty="0" err="1" smtClean="0"/>
              <a:t>BoxHeight</a:t>
            </a:r>
            <a:r>
              <a:rPr lang="en-US" dirty="0" smtClean="0"/>
              <a:t>);</a:t>
            </a:r>
          </a:p>
          <a:p>
            <a:r>
              <a:rPr lang="en-US" dirty="0" smtClean="0"/>
              <a:t>        </a:t>
            </a:r>
            <a:r>
              <a:rPr lang="en-US" dirty="0" err="1" smtClean="0"/>
              <a:t>path.LineTo</a:t>
            </a:r>
            <a:r>
              <a:rPr lang="en-US" dirty="0" smtClean="0"/>
              <a:t>((</a:t>
            </a:r>
            <a:r>
              <a:rPr lang="en-US" dirty="0" err="1" smtClean="0"/>
              <a:t>BoxWidth</a:t>
            </a:r>
            <a:r>
              <a:rPr lang="en-US" dirty="0" smtClean="0"/>
              <a:t> - </a:t>
            </a:r>
            <a:r>
              <a:rPr lang="en-US" dirty="0" err="1" smtClean="0"/>
              <a:t>ArrowWidth</a:t>
            </a:r>
            <a:r>
              <a:rPr lang="en-US" dirty="0" smtClean="0"/>
              <a:t>) / 2, </a:t>
            </a:r>
            <a:r>
              <a:rPr lang="en-US" dirty="0" err="1" smtClean="0"/>
              <a:t>BoxHeight</a:t>
            </a:r>
            <a:r>
              <a:rPr lang="en-US" dirty="0" smtClean="0"/>
              <a:t> - </a:t>
            </a:r>
            <a:r>
              <a:rPr lang="en-US" dirty="0" err="1" smtClean="0"/>
              <a:t>ArrowHeight</a:t>
            </a:r>
            <a:r>
              <a:rPr lang="en-US" dirty="0" smtClean="0"/>
              <a:t>);</a:t>
            </a:r>
          </a:p>
          <a:p>
            <a:r>
              <a:rPr lang="en-US" dirty="0" smtClean="0"/>
              <a:t>        </a:t>
            </a:r>
            <a:r>
              <a:rPr lang="en-US" dirty="0" err="1" smtClean="0"/>
              <a:t>path.LineTo</a:t>
            </a:r>
            <a:r>
              <a:rPr lang="en-US" dirty="0" smtClean="0"/>
              <a:t>(0, </a:t>
            </a:r>
            <a:r>
              <a:rPr lang="en-US" dirty="0" err="1" smtClean="0"/>
              <a:t>BoxHeight</a:t>
            </a:r>
            <a:r>
              <a:rPr lang="en-US" dirty="0" smtClean="0"/>
              <a:t> - </a:t>
            </a:r>
            <a:r>
              <a:rPr lang="en-US" dirty="0" err="1" smtClean="0"/>
              <a:t>ArrowHeight</a:t>
            </a:r>
            <a:r>
              <a:rPr lang="en-US" dirty="0" smtClean="0"/>
              <a:t>);</a:t>
            </a:r>
          </a:p>
          <a:p>
            <a:r>
              <a:rPr lang="en-US" dirty="0" smtClean="0"/>
              <a:t>        </a:t>
            </a:r>
            <a:r>
              <a:rPr lang="en-US" dirty="0" err="1" smtClean="0"/>
              <a:t>path.Close</a:t>
            </a:r>
            <a:r>
              <a:rPr lang="en-US" dirty="0" smtClean="0"/>
              <a:t>();</a:t>
            </a:r>
          </a:p>
          <a:p>
            <a:endParaRPr lang="en-US" dirty="0" smtClean="0"/>
          </a:p>
          <a:p>
            <a:r>
              <a:rPr lang="en-US" dirty="0" smtClean="0"/>
              <a:t>        // </a:t>
            </a:r>
            <a:r>
              <a:rPr lang="en-US" dirty="0" err="1" smtClean="0"/>
              <a:t>Remplir</a:t>
            </a:r>
            <a:r>
              <a:rPr lang="en-US" dirty="0" smtClean="0"/>
              <a:t> le rectangle de base</a:t>
            </a:r>
          </a:p>
          <a:p>
            <a:r>
              <a:rPr lang="en-US" dirty="0" smtClean="0"/>
              <a:t>        </a:t>
            </a:r>
            <a:r>
              <a:rPr lang="en-US" dirty="0" err="1" smtClean="0"/>
              <a:t>canvas.FillPath</a:t>
            </a:r>
            <a:r>
              <a:rPr lang="en-US" dirty="0" smtClean="0"/>
              <a:t>(path, </a:t>
            </a:r>
            <a:r>
              <a:rPr lang="en-US" dirty="0" err="1" smtClean="0"/>
              <a:t>Colors.LightBlue</a:t>
            </a:r>
            <a:r>
              <a:rPr lang="en-US" dirty="0" smtClean="0"/>
              <a:t>);</a:t>
            </a:r>
          </a:p>
          <a:p>
            <a:endParaRPr lang="en-US" dirty="0" smtClean="0"/>
          </a:p>
          <a:p>
            <a:r>
              <a:rPr lang="en-US" dirty="0" smtClean="0"/>
              <a:t>        // </a:t>
            </a:r>
            <a:r>
              <a:rPr lang="en-US" dirty="0" err="1" smtClean="0"/>
              <a:t>Dessiner</a:t>
            </a:r>
            <a:r>
              <a:rPr lang="en-US" dirty="0" smtClean="0"/>
              <a:t> le contour du rectangle</a:t>
            </a:r>
          </a:p>
          <a:p>
            <a:r>
              <a:rPr lang="en-US" dirty="0" smtClean="0"/>
              <a:t>        </a:t>
            </a:r>
            <a:r>
              <a:rPr lang="en-US" dirty="0" err="1" smtClean="0"/>
              <a:t>canvas.DrawPath</a:t>
            </a:r>
            <a:r>
              <a:rPr lang="en-US" dirty="0" smtClean="0"/>
              <a:t>(path, </a:t>
            </a:r>
            <a:r>
              <a:rPr lang="en-US" dirty="0" err="1" smtClean="0"/>
              <a:t>Colors.Black</a:t>
            </a:r>
            <a:r>
              <a:rPr lang="en-US" dirty="0" smtClean="0"/>
              <a:t>, 2);</a:t>
            </a:r>
          </a:p>
          <a:p>
            <a:endParaRPr lang="en-US" dirty="0" smtClean="0"/>
          </a:p>
          <a:p>
            <a:r>
              <a:rPr lang="en-US" dirty="0" smtClean="0"/>
              <a:t>        // </a:t>
            </a:r>
            <a:r>
              <a:rPr lang="en-US" dirty="0" err="1" smtClean="0"/>
              <a:t>Dessiner</a:t>
            </a:r>
            <a:r>
              <a:rPr lang="en-US" dirty="0" smtClean="0"/>
              <a:t> le </a:t>
            </a:r>
            <a:r>
              <a:rPr lang="en-US" dirty="0" err="1" smtClean="0"/>
              <a:t>texte</a:t>
            </a:r>
            <a:r>
              <a:rPr lang="en-US" dirty="0" smtClean="0"/>
              <a:t> </a:t>
            </a:r>
            <a:r>
              <a:rPr lang="en-US" dirty="0" err="1" smtClean="0"/>
              <a:t>d'annotation</a:t>
            </a:r>
            <a:endParaRPr lang="en-US" dirty="0" smtClean="0"/>
          </a:p>
          <a:p>
            <a:r>
              <a:rPr lang="en-US" dirty="0" smtClean="0"/>
              <a:t>        </a:t>
            </a:r>
            <a:r>
              <a:rPr lang="en-US" dirty="0" err="1" smtClean="0"/>
              <a:t>canvas.DrawText</a:t>
            </a:r>
            <a:r>
              <a:rPr lang="en-US" dirty="0" smtClean="0"/>
              <a:t>("Annotation", 10, 10, </a:t>
            </a:r>
            <a:r>
              <a:rPr lang="en-US" dirty="0" err="1" smtClean="0"/>
              <a:t>Colors.Black</a:t>
            </a:r>
            <a:r>
              <a:rPr lang="en-US" dirty="0" smtClean="0"/>
              <a:t>, null);</a:t>
            </a:r>
          </a:p>
          <a:p>
            <a:r>
              <a:rPr lang="en-US" dirty="0" smtClean="0"/>
              <a:t>    }</a:t>
            </a:r>
          </a:p>
          <a:p>
            <a:endParaRPr lang="en-US" dirty="0" smtClean="0"/>
          </a:p>
          <a:p>
            <a:r>
              <a:rPr lang="en-US" dirty="0" smtClean="0"/>
              <a:t>    public override bool Contains(float x, float y)</a:t>
            </a:r>
          </a:p>
          <a:p>
            <a:r>
              <a:rPr lang="en-US" dirty="0" smtClean="0"/>
              <a:t>    {</a:t>
            </a:r>
          </a:p>
          <a:p>
            <a:r>
              <a:rPr lang="en-US" dirty="0" smtClean="0"/>
              <a:t>        // </a:t>
            </a:r>
            <a:r>
              <a:rPr lang="en-US" dirty="0" err="1" smtClean="0"/>
              <a:t>Implémentation</a:t>
            </a:r>
            <a:r>
              <a:rPr lang="en-US" dirty="0" smtClean="0"/>
              <a:t> facultative pour </a:t>
            </a:r>
            <a:r>
              <a:rPr lang="en-US" dirty="0" err="1" smtClean="0"/>
              <a:t>détecter</a:t>
            </a:r>
            <a:r>
              <a:rPr lang="en-US" dirty="0" smtClean="0"/>
              <a:t> </a:t>
            </a:r>
            <a:r>
              <a:rPr lang="en-US" dirty="0" err="1" smtClean="0"/>
              <a:t>si</a:t>
            </a:r>
            <a:r>
              <a:rPr lang="en-US" dirty="0" smtClean="0"/>
              <a:t> un point </a:t>
            </a:r>
            <a:r>
              <a:rPr lang="en-US" dirty="0" err="1" smtClean="0"/>
              <a:t>est</a:t>
            </a:r>
            <a:r>
              <a:rPr lang="en-US" dirty="0" smtClean="0"/>
              <a:t> </a:t>
            </a:r>
            <a:r>
              <a:rPr lang="en-US" dirty="0" err="1" smtClean="0"/>
              <a:t>contenu</a:t>
            </a:r>
            <a:r>
              <a:rPr lang="en-US" dirty="0" smtClean="0"/>
              <a:t> </a:t>
            </a:r>
            <a:r>
              <a:rPr lang="en-US" dirty="0" err="1" smtClean="0"/>
              <a:t>dans</a:t>
            </a:r>
            <a:r>
              <a:rPr lang="en-US" dirty="0" smtClean="0"/>
              <a:t> la </a:t>
            </a:r>
            <a:r>
              <a:rPr lang="en-US" dirty="0" err="1" smtClean="0"/>
              <a:t>forme</a:t>
            </a:r>
            <a:endParaRPr lang="en-US" dirty="0" smtClean="0"/>
          </a:p>
          <a:p>
            <a:r>
              <a:rPr lang="en-US" dirty="0" smtClean="0"/>
              <a:t>        return false;</a:t>
            </a:r>
          </a:p>
          <a:p>
            <a:r>
              <a:rPr lang="en-US" dirty="0" smtClean="0"/>
              <a:t>    }</a:t>
            </a:r>
          </a:p>
          <a:p>
            <a:r>
              <a:rPr lang="en-US" dirty="0" smtClean="0"/>
              <a:t>}</a:t>
            </a:r>
          </a:p>
          <a:p>
            <a:endParaRPr lang="fr-FR" dirty="0" smtClean="0"/>
          </a:p>
          <a:p>
            <a:r>
              <a:rPr lang="fr-FR" dirty="0" smtClean="0"/>
              <a:t>Pour implémenter l'exemple d'utilisation de </a:t>
            </a:r>
            <a:r>
              <a:rPr lang="fr-FR" dirty="0" err="1" smtClean="0"/>
              <a:t>AnnotationShape</a:t>
            </a:r>
            <a:r>
              <a:rPr lang="fr-FR" dirty="0" smtClean="0"/>
              <a:t> en XAML dans une application MAUI, vous pouvez procéder comme suit. Cela impliquera de créer une vue avec une image et un bouton pour ajouter l'annotation. Notez que l'ajout d'objets graphiques directement en XAML est limité dans MAUI, donc nous utiliserons principalement le code-</a:t>
            </a:r>
            <a:r>
              <a:rPr lang="fr-FR" dirty="0" err="1" smtClean="0"/>
              <a:t>behind</a:t>
            </a:r>
            <a:r>
              <a:rPr lang="fr-FR" dirty="0" smtClean="0"/>
              <a:t> pour manipuler les éléments graphiques.</a:t>
            </a:r>
          </a:p>
          <a:p>
            <a:endParaRPr lang="fr-FR" dirty="0" smtClean="0"/>
          </a:p>
          <a:p>
            <a:r>
              <a:rPr lang="en-US" b="1" dirty="0" err="1" smtClean="0"/>
              <a:t>Définir</a:t>
            </a:r>
            <a:r>
              <a:rPr lang="en-US" b="1" dirty="0" smtClean="0"/>
              <a:t> </a:t>
            </a:r>
            <a:r>
              <a:rPr lang="en-US" b="1" dirty="0" err="1" smtClean="0"/>
              <a:t>l'interface</a:t>
            </a:r>
            <a:r>
              <a:rPr lang="en-US" b="1" dirty="0" smtClean="0"/>
              <a:t> </a:t>
            </a:r>
            <a:r>
              <a:rPr lang="en-US" b="1" dirty="0" err="1" smtClean="0"/>
              <a:t>utilisateur</a:t>
            </a:r>
            <a:r>
              <a:rPr lang="en-US" b="1" dirty="0" smtClean="0"/>
              <a:t> </a:t>
            </a:r>
            <a:r>
              <a:rPr lang="en-US" b="1" dirty="0" err="1" smtClean="0"/>
              <a:t>en</a:t>
            </a:r>
            <a:r>
              <a:rPr lang="en-US" b="1" dirty="0" smtClean="0"/>
              <a:t> XAML</a:t>
            </a:r>
            <a:r>
              <a:rPr lang="en-US" dirty="0" smtClean="0"/>
              <a:t> (</a:t>
            </a:r>
            <a:r>
              <a:rPr lang="en-US" dirty="0" err="1" smtClean="0"/>
              <a:t>AnnotationPage.xaml</a:t>
            </a:r>
            <a:r>
              <a:rPr lang="en-US" dirty="0" smtClean="0"/>
              <a:t>):</a:t>
            </a:r>
          </a:p>
          <a:p>
            <a:r>
              <a:rPr lang="en-US" dirty="0" err="1" smtClean="0"/>
              <a:t>xmlCopier</a:t>
            </a:r>
            <a:r>
              <a:rPr lang="en-US" dirty="0" smtClean="0"/>
              <a:t> le code</a:t>
            </a:r>
          </a:p>
          <a:p>
            <a:pPr rtl="0"/>
            <a:r>
              <a:rPr lang="en-US" dirty="0" smtClean="0"/>
              <a:t>&lt;</a:t>
            </a:r>
            <a:r>
              <a:rPr lang="en-US" dirty="0" err="1" smtClean="0"/>
              <a:t>ContentPage</a:t>
            </a:r>
            <a:r>
              <a:rPr lang="en-US" dirty="0" smtClean="0"/>
              <a:t> </a:t>
            </a:r>
            <a:r>
              <a:rPr lang="en-US" dirty="0" err="1" smtClean="0"/>
              <a:t>xmlns</a:t>
            </a:r>
            <a:r>
              <a:rPr lang="en-US" dirty="0" smtClean="0"/>
              <a:t>="http://schemas.microsoft.com/</a:t>
            </a:r>
            <a:r>
              <a:rPr lang="en-US" dirty="0" err="1" smtClean="0"/>
              <a:t>dotnet</a:t>
            </a:r>
            <a:r>
              <a:rPr lang="en-US" dirty="0" smtClean="0"/>
              <a:t>/2021/</a:t>
            </a:r>
            <a:r>
              <a:rPr lang="en-US" dirty="0" err="1" smtClean="0"/>
              <a:t>maui</a:t>
            </a:r>
            <a:r>
              <a:rPr lang="en-US" dirty="0" smtClean="0"/>
              <a:t>" </a:t>
            </a:r>
            <a:r>
              <a:rPr lang="en-US" dirty="0" err="1" smtClean="0"/>
              <a:t>xmlns:x</a:t>
            </a:r>
            <a:r>
              <a:rPr lang="en-US" dirty="0" smtClean="0"/>
              <a:t>="http://schemas.microsoft.com/</a:t>
            </a:r>
            <a:r>
              <a:rPr lang="en-US" dirty="0" err="1" smtClean="0"/>
              <a:t>winfx</a:t>
            </a:r>
            <a:r>
              <a:rPr lang="en-US" dirty="0" smtClean="0"/>
              <a:t>/2009/</a:t>
            </a:r>
            <a:r>
              <a:rPr lang="en-US" dirty="0" err="1" smtClean="0"/>
              <a:t>xaml</a:t>
            </a:r>
            <a:r>
              <a:rPr lang="en-US" dirty="0" smtClean="0"/>
              <a:t>" x:Class="MauiApp1.AnnotationPage" </a:t>
            </a:r>
            <a:r>
              <a:rPr lang="en-US" dirty="0" err="1" smtClean="0"/>
              <a:t>BackgroundColor</a:t>
            </a:r>
            <a:r>
              <a:rPr lang="en-US" dirty="0" smtClean="0"/>
              <a:t>="White"&gt; &lt;</a:t>
            </a:r>
            <a:r>
              <a:rPr lang="en-US" dirty="0" err="1" smtClean="0"/>
              <a:t>StackLayout</a:t>
            </a:r>
            <a:r>
              <a:rPr lang="en-US" dirty="0" smtClean="0"/>
              <a:t> </a:t>
            </a:r>
            <a:r>
              <a:rPr lang="en-US" dirty="0" err="1" smtClean="0"/>
              <a:t>VerticalOptions</a:t>
            </a:r>
            <a:r>
              <a:rPr lang="en-US" dirty="0" smtClean="0"/>
              <a:t>="</a:t>
            </a:r>
            <a:r>
              <a:rPr lang="en-US" dirty="0" err="1" smtClean="0"/>
              <a:t>FillAndExpand</a:t>
            </a:r>
            <a:r>
              <a:rPr lang="en-US" dirty="0" smtClean="0"/>
              <a:t>" </a:t>
            </a:r>
            <a:r>
              <a:rPr lang="en-US" dirty="0" err="1" smtClean="0"/>
              <a:t>HorizontalOptions</a:t>
            </a:r>
            <a:r>
              <a:rPr lang="en-US" dirty="0" smtClean="0"/>
              <a:t>="</a:t>
            </a:r>
            <a:r>
              <a:rPr lang="en-US" dirty="0" err="1" smtClean="0"/>
              <a:t>FillAndExpand</a:t>
            </a:r>
            <a:r>
              <a:rPr lang="en-US" dirty="0" smtClean="0"/>
              <a:t>"&gt; &lt;Image x:Name="image" Source="sampleimage.jpg" Aspect="</a:t>
            </a:r>
            <a:r>
              <a:rPr lang="en-US" dirty="0" err="1" smtClean="0"/>
              <a:t>AspectFit</a:t>
            </a:r>
            <a:r>
              <a:rPr lang="en-US" dirty="0" smtClean="0"/>
              <a:t>" Margin="20" /&gt; &lt;Button Text="Add Annotation" Clicked="</a:t>
            </a:r>
            <a:r>
              <a:rPr lang="en-US" dirty="0" err="1" smtClean="0"/>
              <a:t>OnAddAnnotationClicked</a:t>
            </a:r>
            <a:r>
              <a:rPr lang="en-US" dirty="0" smtClean="0"/>
              <a:t>" Margin="20" /&gt; &lt;/</a:t>
            </a:r>
            <a:r>
              <a:rPr lang="en-US" dirty="0" err="1" smtClean="0"/>
              <a:t>StackLayout</a:t>
            </a:r>
            <a:r>
              <a:rPr lang="en-US" dirty="0" smtClean="0"/>
              <a:t>&gt; &lt;/</a:t>
            </a:r>
            <a:r>
              <a:rPr lang="en-US" dirty="0" err="1" smtClean="0"/>
              <a:t>ContentPage</a:t>
            </a:r>
            <a:r>
              <a:rPr lang="en-US" dirty="0" smtClean="0"/>
              <a:t>&gt; </a:t>
            </a:r>
          </a:p>
          <a:p>
            <a:r>
              <a:rPr lang="en-US" b="1" dirty="0" smtClean="0"/>
              <a:t>Code-behind pour </a:t>
            </a:r>
            <a:r>
              <a:rPr lang="en-US" b="1" dirty="0" err="1" smtClean="0"/>
              <a:t>AnnotationPage</a:t>
            </a:r>
            <a:r>
              <a:rPr lang="en-US" dirty="0" smtClean="0"/>
              <a:t> (</a:t>
            </a:r>
            <a:r>
              <a:rPr lang="en-US" dirty="0" err="1" smtClean="0"/>
              <a:t>AnnotationPage.xaml.cs</a:t>
            </a:r>
            <a:r>
              <a:rPr lang="en-US" dirty="0" smtClean="0"/>
              <a:t>):</a:t>
            </a:r>
          </a:p>
          <a:p>
            <a:r>
              <a:rPr lang="en-US" dirty="0" err="1" smtClean="0"/>
              <a:t>csharpCopier</a:t>
            </a:r>
            <a:r>
              <a:rPr lang="en-US" dirty="0" smtClean="0"/>
              <a:t> le code</a:t>
            </a:r>
          </a:p>
          <a:p>
            <a:pPr rtl="0"/>
            <a:r>
              <a:rPr lang="en-US" dirty="0" smtClean="0"/>
              <a:t>using </a:t>
            </a:r>
            <a:r>
              <a:rPr lang="en-US" dirty="0" err="1" smtClean="0"/>
              <a:t>Microsoft.Maui.Controls</a:t>
            </a:r>
            <a:r>
              <a:rPr lang="en-US" dirty="0" smtClean="0"/>
              <a:t>; using </a:t>
            </a:r>
            <a:r>
              <a:rPr lang="en-US" dirty="0" err="1" smtClean="0"/>
              <a:t>Microsoft.Maui.Graphics</a:t>
            </a:r>
            <a:r>
              <a:rPr lang="en-US" dirty="0" smtClean="0"/>
              <a:t>; public partial class </a:t>
            </a:r>
            <a:r>
              <a:rPr lang="en-US" dirty="0" err="1" smtClean="0"/>
              <a:t>AnnotationPage</a:t>
            </a:r>
            <a:r>
              <a:rPr lang="en-US" dirty="0" smtClean="0"/>
              <a:t> : </a:t>
            </a:r>
            <a:r>
              <a:rPr lang="en-US" dirty="0" err="1" smtClean="0"/>
              <a:t>ContentPage</a:t>
            </a:r>
            <a:r>
              <a:rPr lang="en-US" dirty="0" smtClean="0"/>
              <a:t> { public </a:t>
            </a:r>
            <a:r>
              <a:rPr lang="en-US" dirty="0" err="1" smtClean="0"/>
              <a:t>AnnotationPage</a:t>
            </a:r>
            <a:r>
              <a:rPr lang="en-US" dirty="0" smtClean="0"/>
              <a:t>() { </a:t>
            </a:r>
            <a:r>
              <a:rPr lang="en-US" dirty="0" err="1" smtClean="0"/>
              <a:t>InitializeComponent</a:t>
            </a:r>
            <a:r>
              <a:rPr lang="en-US" dirty="0" smtClean="0"/>
              <a:t>(); } private void </a:t>
            </a:r>
            <a:r>
              <a:rPr lang="en-US" dirty="0" err="1" smtClean="0"/>
              <a:t>OnAddAnnotationClicked</a:t>
            </a:r>
            <a:r>
              <a:rPr lang="en-US" dirty="0" smtClean="0"/>
              <a:t>(object sender, </a:t>
            </a:r>
            <a:r>
              <a:rPr lang="en-US" dirty="0" err="1" smtClean="0"/>
              <a:t>EventArgs</a:t>
            </a:r>
            <a:r>
              <a:rPr lang="en-US" dirty="0" smtClean="0"/>
              <a:t> e) { </a:t>
            </a:r>
            <a:r>
              <a:rPr lang="en-US" dirty="0" err="1" smtClean="0"/>
              <a:t>var</a:t>
            </a:r>
            <a:r>
              <a:rPr lang="en-US" dirty="0" smtClean="0"/>
              <a:t> </a:t>
            </a:r>
            <a:r>
              <a:rPr lang="en-US" dirty="0" err="1" smtClean="0"/>
              <a:t>annotationShape</a:t>
            </a:r>
            <a:r>
              <a:rPr lang="en-US" dirty="0" smtClean="0"/>
              <a:t> = new </a:t>
            </a:r>
            <a:r>
              <a:rPr lang="en-US" dirty="0" err="1" smtClean="0"/>
              <a:t>AnnotationShape</a:t>
            </a:r>
            <a:r>
              <a:rPr lang="en-US" dirty="0" smtClean="0"/>
              <a:t> { </a:t>
            </a:r>
            <a:r>
              <a:rPr lang="en-US" dirty="0" err="1" smtClean="0"/>
              <a:t>ArrowWidth</a:t>
            </a:r>
            <a:r>
              <a:rPr lang="en-US" dirty="0" smtClean="0"/>
              <a:t> = 15, </a:t>
            </a:r>
            <a:r>
              <a:rPr lang="en-US" dirty="0" err="1" smtClean="0"/>
              <a:t>ArrowHeight</a:t>
            </a:r>
            <a:r>
              <a:rPr lang="en-US" dirty="0" smtClean="0"/>
              <a:t> = 30, </a:t>
            </a:r>
            <a:r>
              <a:rPr lang="en-US" dirty="0" err="1" smtClean="0"/>
              <a:t>BoxWidth</a:t>
            </a:r>
            <a:r>
              <a:rPr lang="en-US" dirty="0" smtClean="0"/>
              <a:t> = 150, </a:t>
            </a:r>
            <a:r>
              <a:rPr lang="en-US" dirty="0" err="1" smtClean="0"/>
              <a:t>BoxHeight</a:t>
            </a:r>
            <a:r>
              <a:rPr lang="en-US" dirty="0" smtClean="0"/>
              <a:t> = 80, Margin = new Thickness(50, 100, 0, 0) }; // </a:t>
            </a:r>
            <a:r>
              <a:rPr lang="en-US" dirty="0" err="1" smtClean="0"/>
              <a:t>Ajouter</a:t>
            </a:r>
            <a:r>
              <a:rPr lang="en-US" dirty="0" smtClean="0"/>
              <a:t> </a:t>
            </a:r>
            <a:r>
              <a:rPr lang="en-US" dirty="0" err="1" smtClean="0"/>
              <a:t>l'annotation</a:t>
            </a:r>
            <a:r>
              <a:rPr lang="en-US" dirty="0" smtClean="0"/>
              <a:t> au </a:t>
            </a:r>
            <a:r>
              <a:rPr lang="en-US" dirty="0" err="1" smtClean="0"/>
              <a:t>dessus</a:t>
            </a:r>
            <a:r>
              <a:rPr lang="en-US" dirty="0" smtClean="0"/>
              <a:t> de </a:t>
            </a:r>
            <a:r>
              <a:rPr lang="en-US" dirty="0" err="1" smtClean="0"/>
              <a:t>l'image</a:t>
            </a:r>
            <a:r>
              <a:rPr lang="en-US" dirty="0" smtClean="0"/>
              <a:t> </a:t>
            </a:r>
            <a:r>
              <a:rPr lang="en-US" dirty="0" err="1" smtClean="0"/>
              <a:t>image.Canvas.Children.Add</a:t>
            </a:r>
            <a:r>
              <a:rPr lang="en-US" dirty="0" smtClean="0"/>
              <a:t>(</a:t>
            </a:r>
            <a:r>
              <a:rPr lang="en-US" dirty="0" err="1" smtClean="0"/>
              <a:t>annotationShape</a:t>
            </a:r>
            <a:r>
              <a:rPr lang="en-US" dirty="0" smtClean="0"/>
              <a:t>); </a:t>
            </a:r>
            <a:r>
              <a:rPr lang="en-US" dirty="0" err="1" smtClean="0"/>
              <a:t>image.InvalidateMeasure</a:t>
            </a:r>
            <a:r>
              <a:rPr lang="en-US" dirty="0" smtClean="0"/>
              <a:t>(); } }</a:t>
            </a:r>
          </a:p>
          <a:p>
            <a:endParaRPr lang="en-US" dirty="0"/>
          </a:p>
        </p:txBody>
      </p:sp>
      <p:sp>
        <p:nvSpPr>
          <p:cNvPr id="4" name="Slide Number Placeholder 3"/>
          <p:cNvSpPr>
            <a:spLocks noGrp="1"/>
          </p:cNvSpPr>
          <p:nvPr>
            <p:ph type="sldNum" sz="quarter" idx="10"/>
          </p:nvPr>
        </p:nvSpPr>
        <p:spPr/>
        <p:txBody>
          <a:bodyPr/>
          <a:lstStyle/>
          <a:p>
            <a:fld id="{C05E1AE6-1BFD-4589-9604-3D9D158FB781}" type="slidenum">
              <a:rPr lang="fr-FR" smtClean="0"/>
              <a:t>17</a:t>
            </a:fld>
            <a:endParaRPr lang="fr-FR"/>
          </a:p>
        </p:txBody>
      </p:sp>
    </p:spTree>
    <p:extLst>
      <p:ext uri="{BB962C8B-B14F-4D97-AF65-F5344CB8AC3E}">
        <p14:creationId xmlns:p14="http://schemas.microsoft.com/office/powerpoint/2010/main" val="60870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using </a:t>
            </a:r>
            <a:r>
              <a:rPr lang="en-US" dirty="0" err="1" smtClean="0"/>
              <a:t>Microsoft.Maui.Graphics</a:t>
            </a:r>
            <a:r>
              <a:rPr lang="en-US" dirty="0" smtClean="0"/>
              <a:t>;</a:t>
            </a:r>
          </a:p>
          <a:p>
            <a:r>
              <a:rPr lang="en-US" dirty="0" smtClean="0"/>
              <a:t>using </a:t>
            </a:r>
            <a:r>
              <a:rPr lang="en-US" dirty="0" err="1" smtClean="0"/>
              <a:t>Microsoft.Maui.Graphics.Shapes</a:t>
            </a:r>
            <a:r>
              <a:rPr lang="en-US" dirty="0" smtClean="0"/>
              <a:t>;</a:t>
            </a:r>
          </a:p>
          <a:p>
            <a:endParaRPr lang="en-US" dirty="0" smtClean="0"/>
          </a:p>
          <a:p>
            <a:r>
              <a:rPr lang="en-US" dirty="0" smtClean="0"/>
              <a:t>public class </a:t>
            </a:r>
            <a:r>
              <a:rPr lang="en-US" dirty="0" err="1" smtClean="0"/>
              <a:t>AnnotationShape</a:t>
            </a:r>
            <a:r>
              <a:rPr lang="en-US" dirty="0" smtClean="0"/>
              <a:t> : Shape</a:t>
            </a:r>
          </a:p>
          <a:p>
            <a:r>
              <a:rPr lang="en-US" dirty="0" smtClean="0"/>
              <a:t>{</a:t>
            </a:r>
          </a:p>
          <a:p>
            <a:r>
              <a:rPr lang="en-US" dirty="0" smtClean="0"/>
              <a:t>    public float </a:t>
            </a:r>
            <a:r>
              <a:rPr lang="en-US" dirty="0" err="1" smtClean="0"/>
              <a:t>ArrowWidth</a:t>
            </a:r>
            <a:r>
              <a:rPr lang="en-US" dirty="0" smtClean="0"/>
              <a:t> { get; set; } = 10;</a:t>
            </a:r>
          </a:p>
          <a:p>
            <a:r>
              <a:rPr lang="en-US" dirty="0" smtClean="0"/>
              <a:t>    public float </a:t>
            </a:r>
            <a:r>
              <a:rPr lang="en-US" dirty="0" err="1" smtClean="0"/>
              <a:t>ArrowHeight</a:t>
            </a:r>
            <a:r>
              <a:rPr lang="en-US" dirty="0" smtClean="0"/>
              <a:t> { get; set; } = 20;</a:t>
            </a:r>
          </a:p>
          <a:p>
            <a:r>
              <a:rPr lang="en-US" dirty="0" smtClean="0"/>
              <a:t>    public float </a:t>
            </a:r>
            <a:r>
              <a:rPr lang="en-US" dirty="0" err="1" smtClean="0"/>
              <a:t>BoxWidth</a:t>
            </a:r>
            <a:r>
              <a:rPr lang="en-US" dirty="0" smtClean="0"/>
              <a:t> { get; set; } = 100;</a:t>
            </a:r>
          </a:p>
          <a:p>
            <a:r>
              <a:rPr lang="en-US" dirty="0" smtClean="0"/>
              <a:t>    public float </a:t>
            </a:r>
            <a:r>
              <a:rPr lang="en-US" dirty="0" err="1" smtClean="0"/>
              <a:t>BoxHeight</a:t>
            </a:r>
            <a:r>
              <a:rPr lang="en-US" dirty="0" smtClean="0"/>
              <a:t> { get; set; } = 60;</a:t>
            </a:r>
          </a:p>
          <a:p>
            <a:endParaRPr lang="en-US" dirty="0" smtClean="0"/>
          </a:p>
          <a:p>
            <a:r>
              <a:rPr lang="en-US" dirty="0" smtClean="0"/>
              <a:t>    public override void Draw(</a:t>
            </a:r>
            <a:r>
              <a:rPr lang="en-US" dirty="0" err="1" smtClean="0"/>
              <a:t>ICanvas</a:t>
            </a:r>
            <a:r>
              <a:rPr lang="en-US" dirty="0" smtClean="0"/>
              <a:t> canvas, </a:t>
            </a:r>
            <a:r>
              <a:rPr lang="en-US" dirty="0" err="1" smtClean="0"/>
              <a:t>RectangleF</a:t>
            </a:r>
            <a:r>
              <a:rPr lang="en-US" dirty="0" smtClean="0"/>
              <a:t> </a:t>
            </a:r>
            <a:r>
              <a:rPr lang="en-US" dirty="0" err="1" smtClean="0"/>
              <a:t>dirtyRect</a:t>
            </a:r>
            <a:r>
              <a:rPr lang="en-US" dirty="0" smtClean="0"/>
              <a:t>)</a:t>
            </a:r>
          </a:p>
          <a:p>
            <a:r>
              <a:rPr lang="en-US" dirty="0" smtClean="0"/>
              <a:t>    {</a:t>
            </a:r>
          </a:p>
          <a:p>
            <a:r>
              <a:rPr lang="en-US" dirty="0" smtClean="0"/>
              <a:t>        </a:t>
            </a:r>
            <a:r>
              <a:rPr lang="en-US" dirty="0" err="1" smtClean="0"/>
              <a:t>var</a:t>
            </a:r>
            <a:r>
              <a:rPr lang="en-US" dirty="0" smtClean="0"/>
              <a:t> path = new Path();</a:t>
            </a:r>
          </a:p>
          <a:p>
            <a:r>
              <a:rPr lang="en-US" dirty="0" smtClean="0"/>
              <a:t>        </a:t>
            </a:r>
          </a:p>
          <a:p>
            <a:r>
              <a:rPr lang="en-US" dirty="0" smtClean="0"/>
              <a:t>        // </a:t>
            </a:r>
            <a:r>
              <a:rPr lang="en-US" dirty="0" err="1" smtClean="0"/>
              <a:t>Définir</a:t>
            </a:r>
            <a:r>
              <a:rPr lang="en-US" dirty="0" smtClean="0"/>
              <a:t> le </a:t>
            </a:r>
            <a:r>
              <a:rPr lang="en-US" dirty="0" err="1" smtClean="0"/>
              <a:t>chemin</a:t>
            </a:r>
            <a:r>
              <a:rPr lang="en-US" dirty="0" smtClean="0"/>
              <a:t> du rectangle de base avec </a:t>
            </a:r>
            <a:r>
              <a:rPr lang="en-US" dirty="0" err="1" smtClean="0"/>
              <a:t>une</a:t>
            </a:r>
            <a:r>
              <a:rPr lang="en-US" dirty="0" smtClean="0"/>
              <a:t> </a:t>
            </a:r>
            <a:r>
              <a:rPr lang="en-US" dirty="0" err="1" smtClean="0"/>
              <a:t>flèche</a:t>
            </a:r>
            <a:r>
              <a:rPr lang="en-US" dirty="0" smtClean="0"/>
              <a:t> au-</a:t>
            </a:r>
            <a:r>
              <a:rPr lang="en-US" dirty="0" err="1" smtClean="0"/>
              <a:t>dessus</a:t>
            </a:r>
            <a:endParaRPr lang="en-US" dirty="0" smtClean="0"/>
          </a:p>
          <a:p>
            <a:r>
              <a:rPr lang="en-US" dirty="0" smtClean="0"/>
              <a:t>        </a:t>
            </a:r>
            <a:r>
              <a:rPr lang="en-US" dirty="0" err="1" smtClean="0"/>
              <a:t>path.MoveTo</a:t>
            </a:r>
            <a:r>
              <a:rPr lang="en-US" dirty="0" smtClean="0"/>
              <a:t>(0, 0);</a:t>
            </a:r>
          </a:p>
          <a:p>
            <a:r>
              <a:rPr lang="en-US" dirty="0" smtClean="0"/>
              <a:t>        </a:t>
            </a:r>
            <a:r>
              <a:rPr lang="en-US" dirty="0" err="1" smtClean="0"/>
              <a:t>path.LineTo</a:t>
            </a:r>
            <a:r>
              <a:rPr lang="en-US" dirty="0" smtClean="0"/>
              <a:t>(</a:t>
            </a:r>
            <a:r>
              <a:rPr lang="en-US" dirty="0" err="1" smtClean="0"/>
              <a:t>BoxWidth</a:t>
            </a:r>
            <a:r>
              <a:rPr lang="en-US" dirty="0" smtClean="0"/>
              <a:t>, 0);</a:t>
            </a:r>
          </a:p>
          <a:p>
            <a:r>
              <a:rPr lang="en-US" dirty="0" smtClean="0"/>
              <a:t>        </a:t>
            </a:r>
            <a:r>
              <a:rPr lang="en-US" dirty="0" err="1" smtClean="0"/>
              <a:t>path.LineTo</a:t>
            </a:r>
            <a:r>
              <a:rPr lang="en-US" dirty="0" smtClean="0"/>
              <a:t>(</a:t>
            </a:r>
            <a:r>
              <a:rPr lang="en-US" dirty="0" err="1" smtClean="0"/>
              <a:t>BoxWidth</a:t>
            </a:r>
            <a:r>
              <a:rPr lang="en-US" dirty="0" smtClean="0"/>
              <a:t>, </a:t>
            </a:r>
            <a:r>
              <a:rPr lang="en-US" dirty="0" err="1" smtClean="0"/>
              <a:t>BoxHeight</a:t>
            </a:r>
            <a:r>
              <a:rPr lang="en-US" dirty="0" smtClean="0"/>
              <a:t> - </a:t>
            </a:r>
            <a:r>
              <a:rPr lang="en-US" dirty="0" err="1" smtClean="0"/>
              <a:t>ArrowHeight</a:t>
            </a:r>
            <a:r>
              <a:rPr lang="en-US" dirty="0" smtClean="0"/>
              <a:t>);</a:t>
            </a:r>
          </a:p>
          <a:p>
            <a:r>
              <a:rPr lang="en-US" dirty="0" smtClean="0"/>
              <a:t>        </a:t>
            </a:r>
            <a:r>
              <a:rPr lang="en-US" dirty="0" err="1" smtClean="0"/>
              <a:t>path.LineTo</a:t>
            </a:r>
            <a:r>
              <a:rPr lang="en-US" dirty="0" smtClean="0"/>
              <a:t>((</a:t>
            </a:r>
            <a:r>
              <a:rPr lang="en-US" dirty="0" err="1" smtClean="0"/>
              <a:t>BoxWidth</a:t>
            </a:r>
            <a:r>
              <a:rPr lang="en-US" dirty="0" smtClean="0"/>
              <a:t> + </a:t>
            </a:r>
            <a:r>
              <a:rPr lang="en-US" dirty="0" err="1" smtClean="0"/>
              <a:t>ArrowWidth</a:t>
            </a:r>
            <a:r>
              <a:rPr lang="en-US" dirty="0" smtClean="0"/>
              <a:t>) / 2, </a:t>
            </a:r>
            <a:r>
              <a:rPr lang="en-US" dirty="0" err="1" smtClean="0"/>
              <a:t>BoxHeight</a:t>
            </a:r>
            <a:r>
              <a:rPr lang="en-US" dirty="0" smtClean="0"/>
              <a:t> - </a:t>
            </a:r>
            <a:r>
              <a:rPr lang="en-US" dirty="0" err="1" smtClean="0"/>
              <a:t>ArrowHeight</a:t>
            </a:r>
            <a:r>
              <a:rPr lang="en-US" dirty="0" smtClean="0"/>
              <a:t>);</a:t>
            </a:r>
          </a:p>
          <a:p>
            <a:r>
              <a:rPr lang="en-US" dirty="0" smtClean="0"/>
              <a:t>        </a:t>
            </a:r>
            <a:r>
              <a:rPr lang="en-US" dirty="0" err="1" smtClean="0"/>
              <a:t>path.LineTo</a:t>
            </a:r>
            <a:r>
              <a:rPr lang="en-US" dirty="0" smtClean="0"/>
              <a:t>(</a:t>
            </a:r>
            <a:r>
              <a:rPr lang="en-US" dirty="0" err="1" smtClean="0"/>
              <a:t>BoxWidth</a:t>
            </a:r>
            <a:r>
              <a:rPr lang="en-US" dirty="0" smtClean="0"/>
              <a:t> / 2, </a:t>
            </a:r>
            <a:r>
              <a:rPr lang="en-US" dirty="0" err="1" smtClean="0"/>
              <a:t>BoxHeight</a:t>
            </a:r>
            <a:r>
              <a:rPr lang="en-US" dirty="0" smtClean="0"/>
              <a:t>);</a:t>
            </a:r>
          </a:p>
          <a:p>
            <a:r>
              <a:rPr lang="en-US" dirty="0" smtClean="0"/>
              <a:t>        </a:t>
            </a:r>
            <a:r>
              <a:rPr lang="en-US" dirty="0" err="1" smtClean="0"/>
              <a:t>path.LineTo</a:t>
            </a:r>
            <a:r>
              <a:rPr lang="en-US" dirty="0" smtClean="0"/>
              <a:t>((</a:t>
            </a:r>
            <a:r>
              <a:rPr lang="en-US" dirty="0" err="1" smtClean="0"/>
              <a:t>BoxWidth</a:t>
            </a:r>
            <a:r>
              <a:rPr lang="en-US" dirty="0" smtClean="0"/>
              <a:t> - </a:t>
            </a:r>
            <a:r>
              <a:rPr lang="en-US" dirty="0" err="1" smtClean="0"/>
              <a:t>ArrowWidth</a:t>
            </a:r>
            <a:r>
              <a:rPr lang="en-US" dirty="0" smtClean="0"/>
              <a:t>) / 2, </a:t>
            </a:r>
            <a:r>
              <a:rPr lang="en-US" dirty="0" err="1" smtClean="0"/>
              <a:t>BoxHeight</a:t>
            </a:r>
            <a:r>
              <a:rPr lang="en-US" dirty="0" smtClean="0"/>
              <a:t> - </a:t>
            </a:r>
            <a:r>
              <a:rPr lang="en-US" dirty="0" err="1" smtClean="0"/>
              <a:t>ArrowHeight</a:t>
            </a:r>
            <a:r>
              <a:rPr lang="en-US" dirty="0" smtClean="0"/>
              <a:t>);</a:t>
            </a:r>
          </a:p>
          <a:p>
            <a:r>
              <a:rPr lang="en-US" dirty="0" smtClean="0"/>
              <a:t>        </a:t>
            </a:r>
            <a:r>
              <a:rPr lang="en-US" dirty="0" err="1" smtClean="0"/>
              <a:t>path.LineTo</a:t>
            </a:r>
            <a:r>
              <a:rPr lang="en-US" dirty="0" smtClean="0"/>
              <a:t>(0, </a:t>
            </a:r>
            <a:r>
              <a:rPr lang="en-US" dirty="0" err="1" smtClean="0"/>
              <a:t>BoxHeight</a:t>
            </a:r>
            <a:r>
              <a:rPr lang="en-US" dirty="0" smtClean="0"/>
              <a:t> - </a:t>
            </a:r>
            <a:r>
              <a:rPr lang="en-US" dirty="0" err="1" smtClean="0"/>
              <a:t>ArrowHeight</a:t>
            </a:r>
            <a:r>
              <a:rPr lang="en-US" dirty="0" smtClean="0"/>
              <a:t>);</a:t>
            </a:r>
          </a:p>
          <a:p>
            <a:r>
              <a:rPr lang="en-US" dirty="0" smtClean="0"/>
              <a:t>        </a:t>
            </a:r>
            <a:r>
              <a:rPr lang="en-US" dirty="0" err="1" smtClean="0"/>
              <a:t>path.Close</a:t>
            </a:r>
            <a:r>
              <a:rPr lang="en-US" dirty="0" smtClean="0"/>
              <a:t>();</a:t>
            </a:r>
          </a:p>
          <a:p>
            <a:endParaRPr lang="en-US" dirty="0" smtClean="0"/>
          </a:p>
          <a:p>
            <a:r>
              <a:rPr lang="en-US" dirty="0" smtClean="0"/>
              <a:t>        // </a:t>
            </a:r>
            <a:r>
              <a:rPr lang="en-US" dirty="0" err="1" smtClean="0"/>
              <a:t>Remplir</a:t>
            </a:r>
            <a:r>
              <a:rPr lang="en-US" dirty="0" smtClean="0"/>
              <a:t> le rectangle de base</a:t>
            </a:r>
          </a:p>
          <a:p>
            <a:r>
              <a:rPr lang="en-US" dirty="0" smtClean="0"/>
              <a:t>        </a:t>
            </a:r>
            <a:r>
              <a:rPr lang="en-US" dirty="0" err="1" smtClean="0"/>
              <a:t>canvas.FillPath</a:t>
            </a:r>
            <a:r>
              <a:rPr lang="en-US" dirty="0" smtClean="0"/>
              <a:t>(path, </a:t>
            </a:r>
            <a:r>
              <a:rPr lang="en-US" dirty="0" err="1" smtClean="0"/>
              <a:t>Colors.LightBlue</a:t>
            </a:r>
            <a:r>
              <a:rPr lang="en-US" dirty="0" smtClean="0"/>
              <a:t>);</a:t>
            </a:r>
          </a:p>
          <a:p>
            <a:endParaRPr lang="en-US" dirty="0" smtClean="0"/>
          </a:p>
          <a:p>
            <a:r>
              <a:rPr lang="en-US" dirty="0" smtClean="0"/>
              <a:t>        // </a:t>
            </a:r>
            <a:r>
              <a:rPr lang="en-US" dirty="0" err="1" smtClean="0"/>
              <a:t>Dessiner</a:t>
            </a:r>
            <a:r>
              <a:rPr lang="en-US" dirty="0" smtClean="0"/>
              <a:t> le contour du rectangle</a:t>
            </a:r>
          </a:p>
          <a:p>
            <a:r>
              <a:rPr lang="en-US" dirty="0" smtClean="0"/>
              <a:t>        </a:t>
            </a:r>
            <a:r>
              <a:rPr lang="en-US" dirty="0" err="1" smtClean="0"/>
              <a:t>canvas.DrawPath</a:t>
            </a:r>
            <a:r>
              <a:rPr lang="en-US" dirty="0" smtClean="0"/>
              <a:t>(path, </a:t>
            </a:r>
            <a:r>
              <a:rPr lang="en-US" dirty="0" err="1" smtClean="0"/>
              <a:t>Colors.Black</a:t>
            </a:r>
            <a:r>
              <a:rPr lang="en-US" dirty="0" smtClean="0"/>
              <a:t>, 2);</a:t>
            </a:r>
          </a:p>
          <a:p>
            <a:endParaRPr lang="en-US" dirty="0" smtClean="0"/>
          </a:p>
          <a:p>
            <a:r>
              <a:rPr lang="en-US" dirty="0" smtClean="0"/>
              <a:t>        // </a:t>
            </a:r>
            <a:r>
              <a:rPr lang="en-US" dirty="0" err="1" smtClean="0"/>
              <a:t>Dessiner</a:t>
            </a:r>
            <a:r>
              <a:rPr lang="en-US" dirty="0" smtClean="0"/>
              <a:t> le </a:t>
            </a:r>
            <a:r>
              <a:rPr lang="en-US" dirty="0" err="1" smtClean="0"/>
              <a:t>texte</a:t>
            </a:r>
            <a:r>
              <a:rPr lang="en-US" dirty="0" smtClean="0"/>
              <a:t> </a:t>
            </a:r>
            <a:r>
              <a:rPr lang="en-US" dirty="0" err="1" smtClean="0"/>
              <a:t>d'annotation</a:t>
            </a:r>
            <a:endParaRPr lang="en-US" dirty="0" smtClean="0"/>
          </a:p>
          <a:p>
            <a:r>
              <a:rPr lang="en-US" dirty="0" smtClean="0"/>
              <a:t>        </a:t>
            </a:r>
            <a:r>
              <a:rPr lang="en-US" dirty="0" err="1" smtClean="0"/>
              <a:t>canvas.DrawText</a:t>
            </a:r>
            <a:r>
              <a:rPr lang="en-US" dirty="0" smtClean="0"/>
              <a:t>("Annotation", 10, 10, </a:t>
            </a:r>
            <a:r>
              <a:rPr lang="en-US" dirty="0" err="1" smtClean="0"/>
              <a:t>Colors.Black</a:t>
            </a:r>
            <a:r>
              <a:rPr lang="en-US" dirty="0" smtClean="0"/>
              <a:t>, null);</a:t>
            </a:r>
          </a:p>
          <a:p>
            <a:r>
              <a:rPr lang="en-US" dirty="0" smtClean="0"/>
              <a:t>    }</a:t>
            </a:r>
          </a:p>
          <a:p>
            <a:endParaRPr lang="en-US" dirty="0" smtClean="0"/>
          </a:p>
          <a:p>
            <a:r>
              <a:rPr lang="en-US" dirty="0" smtClean="0"/>
              <a:t>    public override bool Contains(float x, float y)</a:t>
            </a:r>
          </a:p>
          <a:p>
            <a:r>
              <a:rPr lang="en-US" dirty="0" smtClean="0"/>
              <a:t>    {</a:t>
            </a:r>
          </a:p>
          <a:p>
            <a:r>
              <a:rPr lang="en-US" dirty="0" smtClean="0"/>
              <a:t>        // </a:t>
            </a:r>
            <a:r>
              <a:rPr lang="en-US" dirty="0" err="1" smtClean="0"/>
              <a:t>Implémentation</a:t>
            </a:r>
            <a:r>
              <a:rPr lang="en-US" dirty="0" smtClean="0"/>
              <a:t> facultative pour </a:t>
            </a:r>
            <a:r>
              <a:rPr lang="en-US" dirty="0" err="1" smtClean="0"/>
              <a:t>détecter</a:t>
            </a:r>
            <a:r>
              <a:rPr lang="en-US" dirty="0" smtClean="0"/>
              <a:t> </a:t>
            </a:r>
            <a:r>
              <a:rPr lang="en-US" dirty="0" err="1" smtClean="0"/>
              <a:t>si</a:t>
            </a:r>
            <a:r>
              <a:rPr lang="en-US" dirty="0" smtClean="0"/>
              <a:t> un point </a:t>
            </a:r>
            <a:r>
              <a:rPr lang="en-US" dirty="0" err="1" smtClean="0"/>
              <a:t>est</a:t>
            </a:r>
            <a:r>
              <a:rPr lang="en-US" dirty="0" smtClean="0"/>
              <a:t> </a:t>
            </a:r>
            <a:r>
              <a:rPr lang="en-US" dirty="0" err="1" smtClean="0"/>
              <a:t>contenu</a:t>
            </a:r>
            <a:r>
              <a:rPr lang="en-US" dirty="0" smtClean="0"/>
              <a:t> </a:t>
            </a:r>
            <a:r>
              <a:rPr lang="en-US" dirty="0" err="1" smtClean="0"/>
              <a:t>dans</a:t>
            </a:r>
            <a:r>
              <a:rPr lang="en-US" dirty="0" smtClean="0"/>
              <a:t> la </a:t>
            </a:r>
            <a:r>
              <a:rPr lang="en-US" dirty="0" err="1" smtClean="0"/>
              <a:t>forme</a:t>
            </a:r>
            <a:endParaRPr lang="en-US" dirty="0" smtClean="0"/>
          </a:p>
          <a:p>
            <a:r>
              <a:rPr lang="en-US" dirty="0" smtClean="0"/>
              <a:t>        return false;</a:t>
            </a:r>
          </a:p>
          <a:p>
            <a:r>
              <a:rPr lang="en-US" dirty="0" smtClean="0"/>
              <a:t>    }</a:t>
            </a:r>
          </a:p>
          <a:p>
            <a:r>
              <a:rPr lang="en-US" dirty="0" smtClean="0"/>
              <a:t>}</a:t>
            </a:r>
          </a:p>
          <a:p>
            <a:endParaRPr lang="fr-FR" dirty="0" smtClean="0"/>
          </a:p>
          <a:p>
            <a:r>
              <a:rPr lang="fr-FR" dirty="0" smtClean="0"/>
              <a:t>Pour implémenter l'exemple d'utilisation de </a:t>
            </a:r>
            <a:r>
              <a:rPr lang="fr-FR" dirty="0" err="1" smtClean="0"/>
              <a:t>AnnotationShape</a:t>
            </a:r>
            <a:r>
              <a:rPr lang="fr-FR" dirty="0" smtClean="0"/>
              <a:t> en XAML dans une application MAUI, vous pouvez procéder comme suit. Cela impliquera de créer une vue avec une image et un bouton pour ajouter l'annotation. Notez que l'ajout d'objets graphiques directement en XAML est limité dans MAUI, donc nous utiliserons principalement le code-</a:t>
            </a:r>
            <a:r>
              <a:rPr lang="fr-FR" dirty="0" err="1" smtClean="0"/>
              <a:t>behind</a:t>
            </a:r>
            <a:r>
              <a:rPr lang="fr-FR" dirty="0" smtClean="0"/>
              <a:t> pour manipuler les éléments graphiques.</a:t>
            </a:r>
          </a:p>
          <a:p>
            <a:endParaRPr lang="fr-FR" dirty="0" smtClean="0"/>
          </a:p>
          <a:p>
            <a:r>
              <a:rPr lang="en-US" b="1" dirty="0" err="1" smtClean="0"/>
              <a:t>Définir</a:t>
            </a:r>
            <a:r>
              <a:rPr lang="en-US" b="1" dirty="0" smtClean="0"/>
              <a:t> </a:t>
            </a:r>
            <a:r>
              <a:rPr lang="en-US" b="1" dirty="0" err="1" smtClean="0"/>
              <a:t>l'interface</a:t>
            </a:r>
            <a:r>
              <a:rPr lang="en-US" b="1" dirty="0" smtClean="0"/>
              <a:t> </a:t>
            </a:r>
            <a:r>
              <a:rPr lang="en-US" b="1" dirty="0" err="1" smtClean="0"/>
              <a:t>utilisateur</a:t>
            </a:r>
            <a:r>
              <a:rPr lang="en-US" b="1" dirty="0" smtClean="0"/>
              <a:t> </a:t>
            </a:r>
            <a:r>
              <a:rPr lang="en-US" b="1" dirty="0" err="1" smtClean="0"/>
              <a:t>en</a:t>
            </a:r>
            <a:r>
              <a:rPr lang="en-US" b="1" dirty="0" smtClean="0"/>
              <a:t> XAML</a:t>
            </a:r>
            <a:r>
              <a:rPr lang="en-US" dirty="0" smtClean="0"/>
              <a:t> (</a:t>
            </a:r>
            <a:r>
              <a:rPr lang="en-US" dirty="0" err="1" smtClean="0"/>
              <a:t>AnnotationPage.xaml</a:t>
            </a:r>
            <a:r>
              <a:rPr lang="en-US" dirty="0" smtClean="0"/>
              <a:t>):</a:t>
            </a:r>
          </a:p>
          <a:p>
            <a:r>
              <a:rPr lang="en-US" dirty="0" err="1" smtClean="0"/>
              <a:t>xmlCopier</a:t>
            </a:r>
            <a:r>
              <a:rPr lang="en-US" dirty="0" smtClean="0"/>
              <a:t> le code</a:t>
            </a:r>
          </a:p>
          <a:p>
            <a:pPr rtl="0"/>
            <a:r>
              <a:rPr lang="en-US" dirty="0" smtClean="0"/>
              <a:t>&lt;</a:t>
            </a:r>
            <a:r>
              <a:rPr lang="en-US" dirty="0" err="1" smtClean="0"/>
              <a:t>ContentPage</a:t>
            </a:r>
            <a:r>
              <a:rPr lang="en-US" dirty="0" smtClean="0"/>
              <a:t> </a:t>
            </a:r>
            <a:r>
              <a:rPr lang="en-US" dirty="0" err="1" smtClean="0"/>
              <a:t>xmlns</a:t>
            </a:r>
            <a:r>
              <a:rPr lang="en-US" dirty="0" smtClean="0"/>
              <a:t>="http://schemas.microsoft.com/</a:t>
            </a:r>
            <a:r>
              <a:rPr lang="en-US" dirty="0" err="1" smtClean="0"/>
              <a:t>dotnet</a:t>
            </a:r>
            <a:r>
              <a:rPr lang="en-US" dirty="0" smtClean="0"/>
              <a:t>/2021/</a:t>
            </a:r>
            <a:r>
              <a:rPr lang="en-US" dirty="0" err="1" smtClean="0"/>
              <a:t>maui</a:t>
            </a:r>
            <a:r>
              <a:rPr lang="en-US" dirty="0" smtClean="0"/>
              <a:t>" </a:t>
            </a:r>
            <a:r>
              <a:rPr lang="en-US" dirty="0" err="1" smtClean="0"/>
              <a:t>xmlns:x</a:t>
            </a:r>
            <a:r>
              <a:rPr lang="en-US" dirty="0" smtClean="0"/>
              <a:t>="http://schemas.microsoft.com/</a:t>
            </a:r>
            <a:r>
              <a:rPr lang="en-US" dirty="0" err="1" smtClean="0"/>
              <a:t>winfx</a:t>
            </a:r>
            <a:r>
              <a:rPr lang="en-US" dirty="0" smtClean="0"/>
              <a:t>/2009/</a:t>
            </a:r>
            <a:r>
              <a:rPr lang="en-US" dirty="0" err="1" smtClean="0"/>
              <a:t>xaml</a:t>
            </a:r>
            <a:r>
              <a:rPr lang="en-US" dirty="0" smtClean="0"/>
              <a:t>" x:Class="MauiApp1.AnnotationPage" </a:t>
            </a:r>
            <a:r>
              <a:rPr lang="en-US" dirty="0" err="1" smtClean="0"/>
              <a:t>BackgroundColor</a:t>
            </a:r>
            <a:r>
              <a:rPr lang="en-US" dirty="0" smtClean="0"/>
              <a:t>="White"&gt; &lt;</a:t>
            </a:r>
            <a:r>
              <a:rPr lang="en-US" dirty="0" err="1" smtClean="0"/>
              <a:t>StackLayout</a:t>
            </a:r>
            <a:r>
              <a:rPr lang="en-US" dirty="0" smtClean="0"/>
              <a:t> </a:t>
            </a:r>
            <a:r>
              <a:rPr lang="en-US" dirty="0" err="1" smtClean="0"/>
              <a:t>VerticalOptions</a:t>
            </a:r>
            <a:r>
              <a:rPr lang="en-US" dirty="0" smtClean="0"/>
              <a:t>="</a:t>
            </a:r>
            <a:r>
              <a:rPr lang="en-US" dirty="0" err="1" smtClean="0"/>
              <a:t>FillAndExpand</a:t>
            </a:r>
            <a:r>
              <a:rPr lang="en-US" dirty="0" smtClean="0"/>
              <a:t>" </a:t>
            </a:r>
            <a:r>
              <a:rPr lang="en-US" dirty="0" err="1" smtClean="0"/>
              <a:t>HorizontalOptions</a:t>
            </a:r>
            <a:r>
              <a:rPr lang="en-US" dirty="0" smtClean="0"/>
              <a:t>="</a:t>
            </a:r>
            <a:r>
              <a:rPr lang="en-US" dirty="0" err="1" smtClean="0"/>
              <a:t>FillAndExpand</a:t>
            </a:r>
            <a:r>
              <a:rPr lang="en-US" dirty="0" smtClean="0"/>
              <a:t>"&gt; &lt;Image x:Name="image" Source="sampleimage.jpg" Aspect="</a:t>
            </a:r>
            <a:r>
              <a:rPr lang="en-US" dirty="0" err="1" smtClean="0"/>
              <a:t>AspectFit</a:t>
            </a:r>
            <a:r>
              <a:rPr lang="en-US" dirty="0" smtClean="0"/>
              <a:t>" Margin="20" /&gt; &lt;Button Text="Add Annotation" Clicked="</a:t>
            </a:r>
            <a:r>
              <a:rPr lang="en-US" dirty="0" err="1" smtClean="0"/>
              <a:t>OnAddAnnotationClicked</a:t>
            </a:r>
            <a:r>
              <a:rPr lang="en-US" dirty="0" smtClean="0"/>
              <a:t>" Margin="20" /&gt; &lt;/</a:t>
            </a:r>
            <a:r>
              <a:rPr lang="en-US" dirty="0" err="1" smtClean="0"/>
              <a:t>StackLayout</a:t>
            </a:r>
            <a:r>
              <a:rPr lang="en-US" dirty="0" smtClean="0"/>
              <a:t>&gt; &lt;/</a:t>
            </a:r>
            <a:r>
              <a:rPr lang="en-US" dirty="0" err="1" smtClean="0"/>
              <a:t>ContentPage</a:t>
            </a:r>
            <a:r>
              <a:rPr lang="en-US" dirty="0" smtClean="0"/>
              <a:t>&gt; </a:t>
            </a:r>
          </a:p>
          <a:p>
            <a:r>
              <a:rPr lang="en-US" b="1" dirty="0" smtClean="0"/>
              <a:t>Code-behind pour </a:t>
            </a:r>
            <a:r>
              <a:rPr lang="en-US" b="1" dirty="0" err="1" smtClean="0"/>
              <a:t>AnnotationPage</a:t>
            </a:r>
            <a:r>
              <a:rPr lang="en-US" dirty="0" smtClean="0"/>
              <a:t> (</a:t>
            </a:r>
            <a:r>
              <a:rPr lang="en-US" dirty="0" err="1" smtClean="0"/>
              <a:t>AnnotationPage.xaml.cs</a:t>
            </a:r>
            <a:r>
              <a:rPr lang="en-US" dirty="0" smtClean="0"/>
              <a:t>):</a:t>
            </a:r>
          </a:p>
          <a:p>
            <a:r>
              <a:rPr lang="en-US" dirty="0" err="1" smtClean="0"/>
              <a:t>csharpCopier</a:t>
            </a:r>
            <a:r>
              <a:rPr lang="en-US" dirty="0" smtClean="0"/>
              <a:t> le code</a:t>
            </a:r>
          </a:p>
          <a:p>
            <a:pPr rtl="0"/>
            <a:r>
              <a:rPr lang="en-US" dirty="0" smtClean="0"/>
              <a:t>using </a:t>
            </a:r>
            <a:r>
              <a:rPr lang="en-US" dirty="0" err="1" smtClean="0"/>
              <a:t>Microsoft.Maui.Controls</a:t>
            </a:r>
            <a:r>
              <a:rPr lang="en-US" dirty="0" smtClean="0"/>
              <a:t>; using </a:t>
            </a:r>
            <a:r>
              <a:rPr lang="en-US" dirty="0" err="1" smtClean="0"/>
              <a:t>Microsoft.Maui.Graphics</a:t>
            </a:r>
            <a:r>
              <a:rPr lang="en-US" dirty="0" smtClean="0"/>
              <a:t>; public partial class </a:t>
            </a:r>
            <a:r>
              <a:rPr lang="en-US" dirty="0" err="1" smtClean="0"/>
              <a:t>AnnotationPage</a:t>
            </a:r>
            <a:r>
              <a:rPr lang="en-US" dirty="0" smtClean="0"/>
              <a:t> : </a:t>
            </a:r>
            <a:r>
              <a:rPr lang="en-US" dirty="0" err="1" smtClean="0"/>
              <a:t>ContentPage</a:t>
            </a:r>
            <a:r>
              <a:rPr lang="en-US" dirty="0" smtClean="0"/>
              <a:t> { public </a:t>
            </a:r>
            <a:r>
              <a:rPr lang="en-US" dirty="0" err="1" smtClean="0"/>
              <a:t>AnnotationPage</a:t>
            </a:r>
            <a:r>
              <a:rPr lang="en-US" dirty="0" smtClean="0"/>
              <a:t>() { </a:t>
            </a:r>
            <a:r>
              <a:rPr lang="en-US" dirty="0" err="1" smtClean="0"/>
              <a:t>InitializeComponent</a:t>
            </a:r>
            <a:r>
              <a:rPr lang="en-US" dirty="0" smtClean="0"/>
              <a:t>(); } private void </a:t>
            </a:r>
            <a:r>
              <a:rPr lang="en-US" dirty="0" err="1" smtClean="0"/>
              <a:t>OnAddAnnotationClicked</a:t>
            </a:r>
            <a:r>
              <a:rPr lang="en-US" dirty="0" smtClean="0"/>
              <a:t>(object sender, </a:t>
            </a:r>
            <a:r>
              <a:rPr lang="en-US" dirty="0" err="1" smtClean="0"/>
              <a:t>EventArgs</a:t>
            </a:r>
            <a:r>
              <a:rPr lang="en-US" dirty="0" smtClean="0"/>
              <a:t> e) { </a:t>
            </a:r>
            <a:r>
              <a:rPr lang="en-US" dirty="0" err="1" smtClean="0"/>
              <a:t>var</a:t>
            </a:r>
            <a:r>
              <a:rPr lang="en-US" dirty="0" smtClean="0"/>
              <a:t> </a:t>
            </a:r>
            <a:r>
              <a:rPr lang="en-US" dirty="0" err="1" smtClean="0"/>
              <a:t>annotationShape</a:t>
            </a:r>
            <a:r>
              <a:rPr lang="en-US" dirty="0" smtClean="0"/>
              <a:t> = new </a:t>
            </a:r>
            <a:r>
              <a:rPr lang="en-US" dirty="0" err="1" smtClean="0"/>
              <a:t>AnnotationShape</a:t>
            </a:r>
            <a:r>
              <a:rPr lang="en-US" dirty="0" smtClean="0"/>
              <a:t> { </a:t>
            </a:r>
            <a:r>
              <a:rPr lang="en-US" dirty="0" err="1" smtClean="0"/>
              <a:t>ArrowWidth</a:t>
            </a:r>
            <a:r>
              <a:rPr lang="en-US" dirty="0" smtClean="0"/>
              <a:t> = 15, </a:t>
            </a:r>
            <a:r>
              <a:rPr lang="en-US" dirty="0" err="1" smtClean="0"/>
              <a:t>ArrowHeight</a:t>
            </a:r>
            <a:r>
              <a:rPr lang="en-US" dirty="0" smtClean="0"/>
              <a:t> = 30, </a:t>
            </a:r>
            <a:r>
              <a:rPr lang="en-US" dirty="0" err="1" smtClean="0"/>
              <a:t>BoxWidth</a:t>
            </a:r>
            <a:r>
              <a:rPr lang="en-US" dirty="0" smtClean="0"/>
              <a:t> = 150, </a:t>
            </a:r>
            <a:r>
              <a:rPr lang="en-US" dirty="0" err="1" smtClean="0"/>
              <a:t>BoxHeight</a:t>
            </a:r>
            <a:r>
              <a:rPr lang="en-US" dirty="0" smtClean="0"/>
              <a:t> = 80, Margin = new Thickness(50, 100, 0, 0) }; // </a:t>
            </a:r>
            <a:r>
              <a:rPr lang="en-US" dirty="0" err="1" smtClean="0"/>
              <a:t>Ajouter</a:t>
            </a:r>
            <a:r>
              <a:rPr lang="en-US" dirty="0" smtClean="0"/>
              <a:t> </a:t>
            </a:r>
            <a:r>
              <a:rPr lang="en-US" dirty="0" err="1" smtClean="0"/>
              <a:t>l'annotation</a:t>
            </a:r>
            <a:r>
              <a:rPr lang="en-US" dirty="0" smtClean="0"/>
              <a:t> au </a:t>
            </a:r>
            <a:r>
              <a:rPr lang="en-US" dirty="0" err="1" smtClean="0"/>
              <a:t>dessus</a:t>
            </a:r>
            <a:r>
              <a:rPr lang="en-US" dirty="0" smtClean="0"/>
              <a:t> de </a:t>
            </a:r>
            <a:r>
              <a:rPr lang="en-US" dirty="0" err="1" smtClean="0"/>
              <a:t>l'image</a:t>
            </a:r>
            <a:r>
              <a:rPr lang="en-US" dirty="0" smtClean="0"/>
              <a:t> </a:t>
            </a:r>
            <a:r>
              <a:rPr lang="en-US" dirty="0" err="1" smtClean="0"/>
              <a:t>image.Canvas.Children.Add</a:t>
            </a:r>
            <a:r>
              <a:rPr lang="en-US" dirty="0" smtClean="0"/>
              <a:t>(</a:t>
            </a:r>
            <a:r>
              <a:rPr lang="en-US" dirty="0" err="1" smtClean="0"/>
              <a:t>annotationShape</a:t>
            </a:r>
            <a:r>
              <a:rPr lang="en-US" dirty="0" smtClean="0"/>
              <a:t>); </a:t>
            </a:r>
            <a:r>
              <a:rPr lang="en-US" dirty="0" err="1" smtClean="0"/>
              <a:t>image.InvalidateMeasure</a:t>
            </a:r>
            <a:r>
              <a:rPr lang="en-US" dirty="0" smtClean="0"/>
              <a:t>(); } }</a:t>
            </a:r>
          </a:p>
          <a:p>
            <a:endParaRPr lang="en-US" dirty="0"/>
          </a:p>
        </p:txBody>
      </p:sp>
      <p:sp>
        <p:nvSpPr>
          <p:cNvPr id="4" name="Slide Number Placeholder 3"/>
          <p:cNvSpPr>
            <a:spLocks noGrp="1"/>
          </p:cNvSpPr>
          <p:nvPr>
            <p:ph type="sldNum" sz="quarter" idx="10"/>
          </p:nvPr>
        </p:nvSpPr>
        <p:spPr/>
        <p:txBody>
          <a:bodyPr/>
          <a:lstStyle/>
          <a:p>
            <a:fld id="{C05E1AE6-1BFD-4589-9604-3D9D158FB781}" type="slidenum">
              <a:rPr lang="fr-FR" smtClean="0"/>
              <a:t>18</a:t>
            </a:fld>
            <a:endParaRPr lang="fr-FR"/>
          </a:p>
        </p:txBody>
      </p:sp>
    </p:spTree>
    <p:extLst>
      <p:ext uri="{BB962C8B-B14F-4D97-AF65-F5344CB8AC3E}">
        <p14:creationId xmlns:p14="http://schemas.microsoft.com/office/powerpoint/2010/main" val="41371960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using </a:t>
            </a:r>
            <a:r>
              <a:rPr lang="en-US" dirty="0" err="1" smtClean="0"/>
              <a:t>Microsoft.Maui.Graphics</a:t>
            </a:r>
            <a:r>
              <a:rPr lang="en-US" dirty="0" smtClean="0"/>
              <a:t>;</a:t>
            </a:r>
          </a:p>
          <a:p>
            <a:r>
              <a:rPr lang="en-US" dirty="0" smtClean="0"/>
              <a:t>using </a:t>
            </a:r>
            <a:r>
              <a:rPr lang="en-US" dirty="0" err="1" smtClean="0"/>
              <a:t>Microsoft.Maui.Graphics.Shapes</a:t>
            </a:r>
            <a:r>
              <a:rPr lang="en-US" dirty="0" smtClean="0"/>
              <a:t>;</a:t>
            </a:r>
          </a:p>
          <a:p>
            <a:endParaRPr lang="en-US" dirty="0" smtClean="0"/>
          </a:p>
          <a:p>
            <a:r>
              <a:rPr lang="en-US" dirty="0" smtClean="0"/>
              <a:t>public class </a:t>
            </a:r>
            <a:r>
              <a:rPr lang="en-US" dirty="0" err="1" smtClean="0"/>
              <a:t>AnnotationShape</a:t>
            </a:r>
            <a:r>
              <a:rPr lang="en-US" dirty="0" smtClean="0"/>
              <a:t> : Shape</a:t>
            </a:r>
          </a:p>
          <a:p>
            <a:r>
              <a:rPr lang="en-US" dirty="0" smtClean="0"/>
              <a:t>{</a:t>
            </a:r>
          </a:p>
          <a:p>
            <a:r>
              <a:rPr lang="en-US" dirty="0" smtClean="0"/>
              <a:t>    public float </a:t>
            </a:r>
            <a:r>
              <a:rPr lang="en-US" dirty="0" err="1" smtClean="0"/>
              <a:t>ArrowWidth</a:t>
            </a:r>
            <a:r>
              <a:rPr lang="en-US" dirty="0" smtClean="0"/>
              <a:t> { get; set; } = 10;</a:t>
            </a:r>
          </a:p>
          <a:p>
            <a:r>
              <a:rPr lang="en-US" dirty="0" smtClean="0"/>
              <a:t>    public float </a:t>
            </a:r>
            <a:r>
              <a:rPr lang="en-US" dirty="0" err="1" smtClean="0"/>
              <a:t>ArrowHeight</a:t>
            </a:r>
            <a:r>
              <a:rPr lang="en-US" dirty="0" smtClean="0"/>
              <a:t> { get; set; } = 20;</a:t>
            </a:r>
          </a:p>
          <a:p>
            <a:r>
              <a:rPr lang="en-US" dirty="0" smtClean="0"/>
              <a:t>    public float </a:t>
            </a:r>
            <a:r>
              <a:rPr lang="en-US" dirty="0" err="1" smtClean="0"/>
              <a:t>BoxWidth</a:t>
            </a:r>
            <a:r>
              <a:rPr lang="en-US" dirty="0" smtClean="0"/>
              <a:t> { get; set; } = 100;</a:t>
            </a:r>
          </a:p>
          <a:p>
            <a:r>
              <a:rPr lang="en-US" dirty="0" smtClean="0"/>
              <a:t>    public float </a:t>
            </a:r>
            <a:r>
              <a:rPr lang="en-US" dirty="0" err="1" smtClean="0"/>
              <a:t>BoxHeight</a:t>
            </a:r>
            <a:r>
              <a:rPr lang="en-US" dirty="0" smtClean="0"/>
              <a:t> { get; set; } = 60;</a:t>
            </a:r>
          </a:p>
          <a:p>
            <a:endParaRPr lang="en-US" dirty="0" smtClean="0"/>
          </a:p>
          <a:p>
            <a:r>
              <a:rPr lang="en-US" dirty="0" smtClean="0"/>
              <a:t>    public override void Draw(</a:t>
            </a:r>
            <a:r>
              <a:rPr lang="en-US" dirty="0" err="1" smtClean="0"/>
              <a:t>ICanvas</a:t>
            </a:r>
            <a:r>
              <a:rPr lang="en-US" dirty="0" smtClean="0"/>
              <a:t> canvas, </a:t>
            </a:r>
            <a:r>
              <a:rPr lang="en-US" dirty="0" err="1" smtClean="0"/>
              <a:t>RectangleF</a:t>
            </a:r>
            <a:r>
              <a:rPr lang="en-US" dirty="0" smtClean="0"/>
              <a:t> </a:t>
            </a:r>
            <a:r>
              <a:rPr lang="en-US" dirty="0" err="1" smtClean="0"/>
              <a:t>dirtyRect</a:t>
            </a:r>
            <a:r>
              <a:rPr lang="en-US" dirty="0" smtClean="0"/>
              <a:t>)</a:t>
            </a:r>
          </a:p>
          <a:p>
            <a:r>
              <a:rPr lang="en-US" dirty="0" smtClean="0"/>
              <a:t>    {</a:t>
            </a:r>
          </a:p>
          <a:p>
            <a:r>
              <a:rPr lang="en-US" dirty="0" smtClean="0"/>
              <a:t>        </a:t>
            </a:r>
            <a:r>
              <a:rPr lang="en-US" dirty="0" err="1" smtClean="0"/>
              <a:t>var</a:t>
            </a:r>
            <a:r>
              <a:rPr lang="en-US" dirty="0" smtClean="0"/>
              <a:t> path = new Path();</a:t>
            </a:r>
          </a:p>
          <a:p>
            <a:r>
              <a:rPr lang="en-US" dirty="0" smtClean="0"/>
              <a:t>        </a:t>
            </a:r>
          </a:p>
          <a:p>
            <a:r>
              <a:rPr lang="en-US" dirty="0" smtClean="0"/>
              <a:t>        // </a:t>
            </a:r>
            <a:r>
              <a:rPr lang="en-US" dirty="0" err="1" smtClean="0"/>
              <a:t>Définir</a:t>
            </a:r>
            <a:r>
              <a:rPr lang="en-US" dirty="0" smtClean="0"/>
              <a:t> le </a:t>
            </a:r>
            <a:r>
              <a:rPr lang="en-US" dirty="0" err="1" smtClean="0"/>
              <a:t>chemin</a:t>
            </a:r>
            <a:r>
              <a:rPr lang="en-US" dirty="0" smtClean="0"/>
              <a:t> du rectangle de base avec </a:t>
            </a:r>
            <a:r>
              <a:rPr lang="en-US" dirty="0" err="1" smtClean="0"/>
              <a:t>une</a:t>
            </a:r>
            <a:r>
              <a:rPr lang="en-US" dirty="0" smtClean="0"/>
              <a:t> </a:t>
            </a:r>
            <a:r>
              <a:rPr lang="en-US" dirty="0" err="1" smtClean="0"/>
              <a:t>flèche</a:t>
            </a:r>
            <a:r>
              <a:rPr lang="en-US" dirty="0" smtClean="0"/>
              <a:t> au-</a:t>
            </a:r>
            <a:r>
              <a:rPr lang="en-US" dirty="0" err="1" smtClean="0"/>
              <a:t>dessus</a:t>
            </a:r>
            <a:endParaRPr lang="en-US" dirty="0" smtClean="0"/>
          </a:p>
          <a:p>
            <a:r>
              <a:rPr lang="en-US" dirty="0" smtClean="0"/>
              <a:t>        </a:t>
            </a:r>
            <a:r>
              <a:rPr lang="en-US" dirty="0" err="1" smtClean="0"/>
              <a:t>path.MoveTo</a:t>
            </a:r>
            <a:r>
              <a:rPr lang="en-US" dirty="0" smtClean="0"/>
              <a:t>(0, 0);</a:t>
            </a:r>
          </a:p>
          <a:p>
            <a:r>
              <a:rPr lang="en-US" dirty="0" smtClean="0"/>
              <a:t>        </a:t>
            </a:r>
            <a:r>
              <a:rPr lang="en-US" dirty="0" err="1" smtClean="0"/>
              <a:t>path.LineTo</a:t>
            </a:r>
            <a:r>
              <a:rPr lang="en-US" dirty="0" smtClean="0"/>
              <a:t>(</a:t>
            </a:r>
            <a:r>
              <a:rPr lang="en-US" dirty="0" err="1" smtClean="0"/>
              <a:t>BoxWidth</a:t>
            </a:r>
            <a:r>
              <a:rPr lang="en-US" dirty="0" smtClean="0"/>
              <a:t>, 0);</a:t>
            </a:r>
          </a:p>
          <a:p>
            <a:r>
              <a:rPr lang="en-US" dirty="0" smtClean="0"/>
              <a:t>        </a:t>
            </a:r>
            <a:r>
              <a:rPr lang="en-US" dirty="0" err="1" smtClean="0"/>
              <a:t>path.LineTo</a:t>
            </a:r>
            <a:r>
              <a:rPr lang="en-US" dirty="0" smtClean="0"/>
              <a:t>(</a:t>
            </a:r>
            <a:r>
              <a:rPr lang="en-US" dirty="0" err="1" smtClean="0"/>
              <a:t>BoxWidth</a:t>
            </a:r>
            <a:r>
              <a:rPr lang="en-US" dirty="0" smtClean="0"/>
              <a:t>, </a:t>
            </a:r>
            <a:r>
              <a:rPr lang="en-US" dirty="0" err="1" smtClean="0"/>
              <a:t>BoxHeight</a:t>
            </a:r>
            <a:r>
              <a:rPr lang="en-US" dirty="0" smtClean="0"/>
              <a:t> - </a:t>
            </a:r>
            <a:r>
              <a:rPr lang="en-US" dirty="0" err="1" smtClean="0"/>
              <a:t>ArrowHeight</a:t>
            </a:r>
            <a:r>
              <a:rPr lang="en-US" dirty="0" smtClean="0"/>
              <a:t>);</a:t>
            </a:r>
          </a:p>
          <a:p>
            <a:r>
              <a:rPr lang="en-US" dirty="0" smtClean="0"/>
              <a:t>        </a:t>
            </a:r>
            <a:r>
              <a:rPr lang="en-US" dirty="0" err="1" smtClean="0"/>
              <a:t>path.LineTo</a:t>
            </a:r>
            <a:r>
              <a:rPr lang="en-US" dirty="0" smtClean="0"/>
              <a:t>((</a:t>
            </a:r>
            <a:r>
              <a:rPr lang="en-US" dirty="0" err="1" smtClean="0"/>
              <a:t>BoxWidth</a:t>
            </a:r>
            <a:r>
              <a:rPr lang="en-US" dirty="0" smtClean="0"/>
              <a:t> + </a:t>
            </a:r>
            <a:r>
              <a:rPr lang="en-US" dirty="0" err="1" smtClean="0"/>
              <a:t>ArrowWidth</a:t>
            </a:r>
            <a:r>
              <a:rPr lang="en-US" dirty="0" smtClean="0"/>
              <a:t>) / 2, </a:t>
            </a:r>
            <a:r>
              <a:rPr lang="en-US" dirty="0" err="1" smtClean="0"/>
              <a:t>BoxHeight</a:t>
            </a:r>
            <a:r>
              <a:rPr lang="en-US" dirty="0" smtClean="0"/>
              <a:t> - </a:t>
            </a:r>
            <a:r>
              <a:rPr lang="en-US" dirty="0" err="1" smtClean="0"/>
              <a:t>ArrowHeight</a:t>
            </a:r>
            <a:r>
              <a:rPr lang="en-US" dirty="0" smtClean="0"/>
              <a:t>);</a:t>
            </a:r>
          </a:p>
          <a:p>
            <a:r>
              <a:rPr lang="en-US" dirty="0" smtClean="0"/>
              <a:t>        </a:t>
            </a:r>
            <a:r>
              <a:rPr lang="en-US" dirty="0" err="1" smtClean="0"/>
              <a:t>path.LineTo</a:t>
            </a:r>
            <a:r>
              <a:rPr lang="en-US" dirty="0" smtClean="0"/>
              <a:t>(</a:t>
            </a:r>
            <a:r>
              <a:rPr lang="en-US" dirty="0" err="1" smtClean="0"/>
              <a:t>BoxWidth</a:t>
            </a:r>
            <a:r>
              <a:rPr lang="en-US" dirty="0" smtClean="0"/>
              <a:t> / 2, </a:t>
            </a:r>
            <a:r>
              <a:rPr lang="en-US" dirty="0" err="1" smtClean="0"/>
              <a:t>BoxHeight</a:t>
            </a:r>
            <a:r>
              <a:rPr lang="en-US" dirty="0" smtClean="0"/>
              <a:t>);</a:t>
            </a:r>
          </a:p>
          <a:p>
            <a:r>
              <a:rPr lang="en-US" dirty="0" smtClean="0"/>
              <a:t>        </a:t>
            </a:r>
            <a:r>
              <a:rPr lang="en-US" dirty="0" err="1" smtClean="0"/>
              <a:t>path.LineTo</a:t>
            </a:r>
            <a:r>
              <a:rPr lang="en-US" dirty="0" smtClean="0"/>
              <a:t>((</a:t>
            </a:r>
            <a:r>
              <a:rPr lang="en-US" dirty="0" err="1" smtClean="0"/>
              <a:t>BoxWidth</a:t>
            </a:r>
            <a:r>
              <a:rPr lang="en-US" dirty="0" smtClean="0"/>
              <a:t> - </a:t>
            </a:r>
            <a:r>
              <a:rPr lang="en-US" dirty="0" err="1" smtClean="0"/>
              <a:t>ArrowWidth</a:t>
            </a:r>
            <a:r>
              <a:rPr lang="en-US" dirty="0" smtClean="0"/>
              <a:t>) / 2, </a:t>
            </a:r>
            <a:r>
              <a:rPr lang="en-US" dirty="0" err="1" smtClean="0"/>
              <a:t>BoxHeight</a:t>
            </a:r>
            <a:r>
              <a:rPr lang="en-US" dirty="0" smtClean="0"/>
              <a:t> - </a:t>
            </a:r>
            <a:r>
              <a:rPr lang="en-US" dirty="0" err="1" smtClean="0"/>
              <a:t>ArrowHeight</a:t>
            </a:r>
            <a:r>
              <a:rPr lang="en-US" dirty="0" smtClean="0"/>
              <a:t>);</a:t>
            </a:r>
          </a:p>
          <a:p>
            <a:r>
              <a:rPr lang="en-US" dirty="0" smtClean="0"/>
              <a:t>        </a:t>
            </a:r>
            <a:r>
              <a:rPr lang="en-US" dirty="0" err="1" smtClean="0"/>
              <a:t>path.LineTo</a:t>
            </a:r>
            <a:r>
              <a:rPr lang="en-US" dirty="0" smtClean="0"/>
              <a:t>(0, </a:t>
            </a:r>
            <a:r>
              <a:rPr lang="en-US" dirty="0" err="1" smtClean="0"/>
              <a:t>BoxHeight</a:t>
            </a:r>
            <a:r>
              <a:rPr lang="en-US" dirty="0" smtClean="0"/>
              <a:t> - </a:t>
            </a:r>
            <a:r>
              <a:rPr lang="en-US" dirty="0" err="1" smtClean="0"/>
              <a:t>ArrowHeight</a:t>
            </a:r>
            <a:r>
              <a:rPr lang="en-US" dirty="0" smtClean="0"/>
              <a:t>);</a:t>
            </a:r>
          </a:p>
          <a:p>
            <a:r>
              <a:rPr lang="en-US" dirty="0" smtClean="0"/>
              <a:t>        </a:t>
            </a:r>
            <a:r>
              <a:rPr lang="en-US" dirty="0" err="1" smtClean="0"/>
              <a:t>path.Close</a:t>
            </a:r>
            <a:r>
              <a:rPr lang="en-US" dirty="0" smtClean="0"/>
              <a:t>();</a:t>
            </a:r>
          </a:p>
          <a:p>
            <a:endParaRPr lang="en-US" dirty="0" smtClean="0"/>
          </a:p>
          <a:p>
            <a:r>
              <a:rPr lang="en-US" dirty="0" smtClean="0"/>
              <a:t>        // </a:t>
            </a:r>
            <a:r>
              <a:rPr lang="en-US" dirty="0" err="1" smtClean="0"/>
              <a:t>Remplir</a:t>
            </a:r>
            <a:r>
              <a:rPr lang="en-US" dirty="0" smtClean="0"/>
              <a:t> le rectangle de base</a:t>
            </a:r>
          </a:p>
          <a:p>
            <a:r>
              <a:rPr lang="en-US" dirty="0" smtClean="0"/>
              <a:t>        </a:t>
            </a:r>
            <a:r>
              <a:rPr lang="en-US" dirty="0" err="1" smtClean="0"/>
              <a:t>canvas.FillPath</a:t>
            </a:r>
            <a:r>
              <a:rPr lang="en-US" dirty="0" smtClean="0"/>
              <a:t>(path, </a:t>
            </a:r>
            <a:r>
              <a:rPr lang="en-US" dirty="0" err="1" smtClean="0"/>
              <a:t>Colors.LightBlue</a:t>
            </a:r>
            <a:r>
              <a:rPr lang="en-US" dirty="0" smtClean="0"/>
              <a:t>);</a:t>
            </a:r>
          </a:p>
          <a:p>
            <a:endParaRPr lang="en-US" dirty="0" smtClean="0"/>
          </a:p>
          <a:p>
            <a:r>
              <a:rPr lang="en-US" dirty="0" smtClean="0"/>
              <a:t>        // </a:t>
            </a:r>
            <a:r>
              <a:rPr lang="en-US" dirty="0" err="1" smtClean="0"/>
              <a:t>Dessiner</a:t>
            </a:r>
            <a:r>
              <a:rPr lang="en-US" dirty="0" smtClean="0"/>
              <a:t> le contour du rectangle</a:t>
            </a:r>
          </a:p>
          <a:p>
            <a:r>
              <a:rPr lang="en-US" dirty="0" smtClean="0"/>
              <a:t>        </a:t>
            </a:r>
            <a:r>
              <a:rPr lang="en-US" dirty="0" err="1" smtClean="0"/>
              <a:t>canvas.DrawPath</a:t>
            </a:r>
            <a:r>
              <a:rPr lang="en-US" dirty="0" smtClean="0"/>
              <a:t>(path, </a:t>
            </a:r>
            <a:r>
              <a:rPr lang="en-US" dirty="0" err="1" smtClean="0"/>
              <a:t>Colors.Black</a:t>
            </a:r>
            <a:r>
              <a:rPr lang="en-US" dirty="0" smtClean="0"/>
              <a:t>, 2);</a:t>
            </a:r>
          </a:p>
          <a:p>
            <a:endParaRPr lang="en-US" dirty="0" smtClean="0"/>
          </a:p>
          <a:p>
            <a:r>
              <a:rPr lang="en-US" dirty="0" smtClean="0"/>
              <a:t>        // </a:t>
            </a:r>
            <a:r>
              <a:rPr lang="en-US" dirty="0" err="1" smtClean="0"/>
              <a:t>Dessiner</a:t>
            </a:r>
            <a:r>
              <a:rPr lang="en-US" dirty="0" smtClean="0"/>
              <a:t> le </a:t>
            </a:r>
            <a:r>
              <a:rPr lang="en-US" dirty="0" err="1" smtClean="0"/>
              <a:t>texte</a:t>
            </a:r>
            <a:r>
              <a:rPr lang="en-US" dirty="0" smtClean="0"/>
              <a:t> </a:t>
            </a:r>
            <a:r>
              <a:rPr lang="en-US" dirty="0" err="1" smtClean="0"/>
              <a:t>d'annotation</a:t>
            </a:r>
            <a:endParaRPr lang="en-US" dirty="0" smtClean="0"/>
          </a:p>
          <a:p>
            <a:r>
              <a:rPr lang="en-US" dirty="0" smtClean="0"/>
              <a:t>        </a:t>
            </a:r>
            <a:r>
              <a:rPr lang="en-US" dirty="0" err="1" smtClean="0"/>
              <a:t>canvas.DrawText</a:t>
            </a:r>
            <a:r>
              <a:rPr lang="en-US" dirty="0" smtClean="0"/>
              <a:t>("Annotation", 10, 10, </a:t>
            </a:r>
            <a:r>
              <a:rPr lang="en-US" dirty="0" err="1" smtClean="0"/>
              <a:t>Colors.Black</a:t>
            </a:r>
            <a:r>
              <a:rPr lang="en-US" dirty="0" smtClean="0"/>
              <a:t>, null);</a:t>
            </a:r>
          </a:p>
          <a:p>
            <a:r>
              <a:rPr lang="en-US" dirty="0" smtClean="0"/>
              <a:t>    }</a:t>
            </a:r>
          </a:p>
          <a:p>
            <a:endParaRPr lang="en-US" dirty="0" smtClean="0"/>
          </a:p>
          <a:p>
            <a:r>
              <a:rPr lang="en-US" dirty="0" smtClean="0"/>
              <a:t>    public override bool Contains(float x, float y)</a:t>
            </a:r>
          </a:p>
          <a:p>
            <a:r>
              <a:rPr lang="en-US" dirty="0" smtClean="0"/>
              <a:t>    {</a:t>
            </a:r>
          </a:p>
          <a:p>
            <a:r>
              <a:rPr lang="en-US" dirty="0" smtClean="0"/>
              <a:t>        // </a:t>
            </a:r>
            <a:r>
              <a:rPr lang="en-US" dirty="0" err="1" smtClean="0"/>
              <a:t>Implémentation</a:t>
            </a:r>
            <a:r>
              <a:rPr lang="en-US" dirty="0" smtClean="0"/>
              <a:t> facultative pour </a:t>
            </a:r>
            <a:r>
              <a:rPr lang="en-US" dirty="0" err="1" smtClean="0"/>
              <a:t>détecter</a:t>
            </a:r>
            <a:r>
              <a:rPr lang="en-US" dirty="0" smtClean="0"/>
              <a:t> </a:t>
            </a:r>
            <a:r>
              <a:rPr lang="en-US" dirty="0" err="1" smtClean="0"/>
              <a:t>si</a:t>
            </a:r>
            <a:r>
              <a:rPr lang="en-US" dirty="0" smtClean="0"/>
              <a:t> un point </a:t>
            </a:r>
            <a:r>
              <a:rPr lang="en-US" dirty="0" err="1" smtClean="0"/>
              <a:t>est</a:t>
            </a:r>
            <a:r>
              <a:rPr lang="en-US" dirty="0" smtClean="0"/>
              <a:t> </a:t>
            </a:r>
            <a:r>
              <a:rPr lang="en-US" dirty="0" err="1" smtClean="0"/>
              <a:t>contenu</a:t>
            </a:r>
            <a:r>
              <a:rPr lang="en-US" dirty="0" smtClean="0"/>
              <a:t> </a:t>
            </a:r>
            <a:r>
              <a:rPr lang="en-US" dirty="0" err="1" smtClean="0"/>
              <a:t>dans</a:t>
            </a:r>
            <a:r>
              <a:rPr lang="en-US" dirty="0" smtClean="0"/>
              <a:t> la </a:t>
            </a:r>
            <a:r>
              <a:rPr lang="en-US" dirty="0" err="1" smtClean="0"/>
              <a:t>forme</a:t>
            </a:r>
            <a:endParaRPr lang="en-US" dirty="0" smtClean="0"/>
          </a:p>
          <a:p>
            <a:r>
              <a:rPr lang="en-US" dirty="0" smtClean="0"/>
              <a:t>        return false;</a:t>
            </a:r>
          </a:p>
          <a:p>
            <a:r>
              <a:rPr lang="en-US" dirty="0" smtClean="0"/>
              <a:t>    }</a:t>
            </a:r>
          </a:p>
          <a:p>
            <a:r>
              <a:rPr lang="en-US" dirty="0" smtClean="0"/>
              <a:t>}</a:t>
            </a:r>
          </a:p>
          <a:p>
            <a:endParaRPr lang="fr-FR" dirty="0" smtClean="0"/>
          </a:p>
          <a:p>
            <a:r>
              <a:rPr lang="fr-FR" dirty="0" smtClean="0"/>
              <a:t>Pour implémenter l'exemple d'utilisation de </a:t>
            </a:r>
            <a:r>
              <a:rPr lang="fr-FR" dirty="0" err="1" smtClean="0"/>
              <a:t>AnnotationShape</a:t>
            </a:r>
            <a:r>
              <a:rPr lang="fr-FR" dirty="0" smtClean="0"/>
              <a:t> en XAML dans une application MAUI, vous pouvez procéder comme suit. Cela impliquera de créer une vue avec une image et un bouton pour ajouter l'annotation. Notez que l'ajout d'objets graphiques directement en XAML est limité dans MAUI, donc nous utiliserons principalement le code-</a:t>
            </a:r>
            <a:r>
              <a:rPr lang="fr-FR" dirty="0" err="1" smtClean="0"/>
              <a:t>behind</a:t>
            </a:r>
            <a:r>
              <a:rPr lang="fr-FR" dirty="0" smtClean="0"/>
              <a:t> pour manipuler les éléments graphiques.</a:t>
            </a:r>
          </a:p>
          <a:p>
            <a:endParaRPr lang="fr-FR" dirty="0" smtClean="0"/>
          </a:p>
          <a:p>
            <a:r>
              <a:rPr lang="en-US" b="1" dirty="0" err="1" smtClean="0"/>
              <a:t>Définir</a:t>
            </a:r>
            <a:r>
              <a:rPr lang="en-US" b="1" dirty="0" smtClean="0"/>
              <a:t> </a:t>
            </a:r>
            <a:r>
              <a:rPr lang="en-US" b="1" dirty="0" err="1" smtClean="0"/>
              <a:t>l'interface</a:t>
            </a:r>
            <a:r>
              <a:rPr lang="en-US" b="1" dirty="0" smtClean="0"/>
              <a:t> </a:t>
            </a:r>
            <a:r>
              <a:rPr lang="en-US" b="1" dirty="0" err="1" smtClean="0"/>
              <a:t>utilisateur</a:t>
            </a:r>
            <a:r>
              <a:rPr lang="en-US" b="1" dirty="0" smtClean="0"/>
              <a:t> </a:t>
            </a:r>
            <a:r>
              <a:rPr lang="en-US" b="1" dirty="0" err="1" smtClean="0"/>
              <a:t>en</a:t>
            </a:r>
            <a:r>
              <a:rPr lang="en-US" b="1" dirty="0" smtClean="0"/>
              <a:t> XAML</a:t>
            </a:r>
            <a:r>
              <a:rPr lang="en-US" dirty="0" smtClean="0"/>
              <a:t> (</a:t>
            </a:r>
            <a:r>
              <a:rPr lang="en-US" dirty="0" err="1" smtClean="0"/>
              <a:t>AnnotationPage.xaml</a:t>
            </a:r>
            <a:r>
              <a:rPr lang="en-US" dirty="0" smtClean="0"/>
              <a:t>):</a:t>
            </a:r>
          </a:p>
          <a:p>
            <a:r>
              <a:rPr lang="en-US" dirty="0" err="1" smtClean="0"/>
              <a:t>xmlCopier</a:t>
            </a:r>
            <a:r>
              <a:rPr lang="en-US" dirty="0" smtClean="0"/>
              <a:t> le code</a:t>
            </a:r>
          </a:p>
          <a:p>
            <a:pPr rtl="0"/>
            <a:r>
              <a:rPr lang="en-US" dirty="0" smtClean="0"/>
              <a:t>&lt;</a:t>
            </a:r>
            <a:r>
              <a:rPr lang="en-US" dirty="0" err="1" smtClean="0"/>
              <a:t>ContentPage</a:t>
            </a:r>
            <a:r>
              <a:rPr lang="en-US" dirty="0" smtClean="0"/>
              <a:t> </a:t>
            </a:r>
            <a:r>
              <a:rPr lang="en-US" dirty="0" err="1" smtClean="0"/>
              <a:t>xmlns</a:t>
            </a:r>
            <a:r>
              <a:rPr lang="en-US" dirty="0" smtClean="0"/>
              <a:t>="http://schemas.microsoft.com/</a:t>
            </a:r>
            <a:r>
              <a:rPr lang="en-US" dirty="0" err="1" smtClean="0"/>
              <a:t>dotnet</a:t>
            </a:r>
            <a:r>
              <a:rPr lang="en-US" dirty="0" smtClean="0"/>
              <a:t>/2021/</a:t>
            </a:r>
            <a:r>
              <a:rPr lang="en-US" dirty="0" err="1" smtClean="0"/>
              <a:t>maui</a:t>
            </a:r>
            <a:r>
              <a:rPr lang="en-US" dirty="0" smtClean="0"/>
              <a:t>" </a:t>
            </a:r>
            <a:r>
              <a:rPr lang="en-US" dirty="0" err="1" smtClean="0"/>
              <a:t>xmlns:x</a:t>
            </a:r>
            <a:r>
              <a:rPr lang="en-US" dirty="0" smtClean="0"/>
              <a:t>="http://schemas.microsoft.com/</a:t>
            </a:r>
            <a:r>
              <a:rPr lang="en-US" dirty="0" err="1" smtClean="0"/>
              <a:t>winfx</a:t>
            </a:r>
            <a:r>
              <a:rPr lang="en-US" dirty="0" smtClean="0"/>
              <a:t>/2009/</a:t>
            </a:r>
            <a:r>
              <a:rPr lang="en-US" dirty="0" err="1" smtClean="0"/>
              <a:t>xaml</a:t>
            </a:r>
            <a:r>
              <a:rPr lang="en-US" dirty="0" smtClean="0"/>
              <a:t>" x:Class="MauiApp1.AnnotationPage" </a:t>
            </a:r>
            <a:r>
              <a:rPr lang="en-US" dirty="0" err="1" smtClean="0"/>
              <a:t>BackgroundColor</a:t>
            </a:r>
            <a:r>
              <a:rPr lang="en-US" dirty="0" smtClean="0"/>
              <a:t>="White"&gt; &lt;</a:t>
            </a:r>
            <a:r>
              <a:rPr lang="en-US" dirty="0" err="1" smtClean="0"/>
              <a:t>StackLayout</a:t>
            </a:r>
            <a:r>
              <a:rPr lang="en-US" dirty="0" smtClean="0"/>
              <a:t> </a:t>
            </a:r>
            <a:r>
              <a:rPr lang="en-US" dirty="0" err="1" smtClean="0"/>
              <a:t>VerticalOptions</a:t>
            </a:r>
            <a:r>
              <a:rPr lang="en-US" dirty="0" smtClean="0"/>
              <a:t>="</a:t>
            </a:r>
            <a:r>
              <a:rPr lang="en-US" dirty="0" err="1" smtClean="0"/>
              <a:t>FillAndExpand</a:t>
            </a:r>
            <a:r>
              <a:rPr lang="en-US" dirty="0" smtClean="0"/>
              <a:t>" </a:t>
            </a:r>
            <a:r>
              <a:rPr lang="en-US" dirty="0" err="1" smtClean="0"/>
              <a:t>HorizontalOptions</a:t>
            </a:r>
            <a:r>
              <a:rPr lang="en-US" dirty="0" smtClean="0"/>
              <a:t>="</a:t>
            </a:r>
            <a:r>
              <a:rPr lang="en-US" dirty="0" err="1" smtClean="0"/>
              <a:t>FillAndExpand</a:t>
            </a:r>
            <a:r>
              <a:rPr lang="en-US" dirty="0" smtClean="0"/>
              <a:t>"&gt; &lt;Image x:Name="image" Source="sampleimage.jpg" Aspect="</a:t>
            </a:r>
            <a:r>
              <a:rPr lang="en-US" dirty="0" err="1" smtClean="0"/>
              <a:t>AspectFit</a:t>
            </a:r>
            <a:r>
              <a:rPr lang="en-US" dirty="0" smtClean="0"/>
              <a:t>" Margin="20" /&gt; &lt;Button Text="Add Annotation" Clicked="</a:t>
            </a:r>
            <a:r>
              <a:rPr lang="en-US" dirty="0" err="1" smtClean="0"/>
              <a:t>OnAddAnnotationClicked</a:t>
            </a:r>
            <a:r>
              <a:rPr lang="en-US" dirty="0" smtClean="0"/>
              <a:t>" Margin="20" /&gt; &lt;/</a:t>
            </a:r>
            <a:r>
              <a:rPr lang="en-US" dirty="0" err="1" smtClean="0"/>
              <a:t>StackLayout</a:t>
            </a:r>
            <a:r>
              <a:rPr lang="en-US" dirty="0" smtClean="0"/>
              <a:t>&gt; &lt;/</a:t>
            </a:r>
            <a:r>
              <a:rPr lang="en-US" dirty="0" err="1" smtClean="0"/>
              <a:t>ContentPage</a:t>
            </a:r>
            <a:r>
              <a:rPr lang="en-US" dirty="0" smtClean="0"/>
              <a:t>&gt; </a:t>
            </a:r>
          </a:p>
          <a:p>
            <a:r>
              <a:rPr lang="en-US" b="1" dirty="0" smtClean="0"/>
              <a:t>Code-behind pour </a:t>
            </a:r>
            <a:r>
              <a:rPr lang="en-US" b="1" dirty="0" err="1" smtClean="0"/>
              <a:t>AnnotationPage</a:t>
            </a:r>
            <a:r>
              <a:rPr lang="en-US" dirty="0" smtClean="0"/>
              <a:t> (</a:t>
            </a:r>
            <a:r>
              <a:rPr lang="en-US" dirty="0" err="1" smtClean="0"/>
              <a:t>AnnotationPage.xaml.cs</a:t>
            </a:r>
            <a:r>
              <a:rPr lang="en-US" dirty="0" smtClean="0"/>
              <a:t>):</a:t>
            </a:r>
          </a:p>
          <a:p>
            <a:r>
              <a:rPr lang="en-US" dirty="0" err="1" smtClean="0"/>
              <a:t>csharpCopier</a:t>
            </a:r>
            <a:r>
              <a:rPr lang="en-US" dirty="0" smtClean="0"/>
              <a:t> le code</a:t>
            </a:r>
          </a:p>
          <a:p>
            <a:pPr rtl="0"/>
            <a:r>
              <a:rPr lang="en-US" dirty="0" smtClean="0"/>
              <a:t>using </a:t>
            </a:r>
            <a:r>
              <a:rPr lang="en-US" dirty="0" err="1" smtClean="0"/>
              <a:t>Microsoft.Maui.Controls</a:t>
            </a:r>
            <a:r>
              <a:rPr lang="en-US" dirty="0" smtClean="0"/>
              <a:t>; using </a:t>
            </a:r>
            <a:r>
              <a:rPr lang="en-US" dirty="0" err="1" smtClean="0"/>
              <a:t>Microsoft.Maui.Graphics</a:t>
            </a:r>
            <a:r>
              <a:rPr lang="en-US" dirty="0" smtClean="0"/>
              <a:t>; public partial class </a:t>
            </a:r>
            <a:r>
              <a:rPr lang="en-US" dirty="0" err="1" smtClean="0"/>
              <a:t>AnnotationPage</a:t>
            </a:r>
            <a:r>
              <a:rPr lang="en-US" dirty="0" smtClean="0"/>
              <a:t> : </a:t>
            </a:r>
            <a:r>
              <a:rPr lang="en-US" dirty="0" err="1" smtClean="0"/>
              <a:t>ContentPage</a:t>
            </a:r>
            <a:r>
              <a:rPr lang="en-US" dirty="0" smtClean="0"/>
              <a:t> { public </a:t>
            </a:r>
            <a:r>
              <a:rPr lang="en-US" dirty="0" err="1" smtClean="0"/>
              <a:t>AnnotationPage</a:t>
            </a:r>
            <a:r>
              <a:rPr lang="en-US" dirty="0" smtClean="0"/>
              <a:t>() { </a:t>
            </a:r>
            <a:r>
              <a:rPr lang="en-US" dirty="0" err="1" smtClean="0"/>
              <a:t>InitializeComponent</a:t>
            </a:r>
            <a:r>
              <a:rPr lang="en-US" dirty="0" smtClean="0"/>
              <a:t>(); } private void </a:t>
            </a:r>
            <a:r>
              <a:rPr lang="en-US" dirty="0" err="1" smtClean="0"/>
              <a:t>OnAddAnnotationClicked</a:t>
            </a:r>
            <a:r>
              <a:rPr lang="en-US" dirty="0" smtClean="0"/>
              <a:t>(object sender, </a:t>
            </a:r>
            <a:r>
              <a:rPr lang="en-US" dirty="0" err="1" smtClean="0"/>
              <a:t>EventArgs</a:t>
            </a:r>
            <a:r>
              <a:rPr lang="en-US" dirty="0" smtClean="0"/>
              <a:t> e) { </a:t>
            </a:r>
            <a:r>
              <a:rPr lang="en-US" dirty="0" err="1" smtClean="0"/>
              <a:t>var</a:t>
            </a:r>
            <a:r>
              <a:rPr lang="en-US" dirty="0" smtClean="0"/>
              <a:t> </a:t>
            </a:r>
            <a:r>
              <a:rPr lang="en-US" dirty="0" err="1" smtClean="0"/>
              <a:t>annotationShape</a:t>
            </a:r>
            <a:r>
              <a:rPr lang="en-US" dirty="0" smtClean="0"/>
              <a:t> = new </a:t>
            </a:r>
            <a:r>
              <a:rPr lang="en-US" dirty="0" err="1" smtClean="0"/>
              <a:t>AnnotationShape</a:t>
            </a:r>
            <a:r>
              <a:rPr lang="en-US" dirty="0" smtClean="0"/>
              <a:t> { </a:t>
            </a:r>
            <a:r>
              <a:rPr lang="en-US" dirty="0" err="1" smtClean="0"/>
              <a:t>ArrowWidth</a:t>
            </a:r>
            <a:r>
              <a:rPr lang="en-US" dirty="0" smtClean="0"/>
              <a:t> = 15, </a:t>
            </a:r>
            <a:r>
              <a:rPr lang="en-US" dirty="0" err="1" smtClean="0"/>
              <a:t>ArrowHeight</a:t>
            </a:r>
            <a:r>
              <a:rPr lang="en-US" dirty="0" smtClean="0"/>
              <a:t> = 30, </a:t>
            </a:r>
            <a:r>
              <a:rPr lang="en-US" dirty="0" err="1" smtClean="0"/>
              <a:t>BoxWidth</a:t>
            </a:r>
            <a:r>
              <a:rPr lang="en-US" dirty="0" smtClean="0"/>
              <a:t> = 150, </a:t>
            </a:r>
            <a:r>
              <a:rPr lang="en-US" dirty="0" err="1" smtClean="0"/>
              <a:t>BoxHeight</a:t>
            </a:r>
            <a:r>
              <a:rPr lang="en-US" dirty="0" smtClean="0"/>
              <a:t> = 80, Margin = new Thickness(50, 100, 0, 0) }; // </a:t>
            </a:r>
            <a:r>
              <a:rPr lang="en-US" dirty="0" err="1" smtClean="0"/>
              <a:t>Ajouter</a:t>
            </a:r>
            <a:r>
              <a:rPr lang="en-US" dirty="0" smtClean="0"/>
              <a:t> </a:t>
            </a:r>
            <a:r>
              <a:rPr lang="en-US" dirty="0" err="1" smtClean="0"/>
              <a:t>l'annotation</a:t>
            </a:r>
            <a:r>
              <a:rPr lang="en-US" dirty="0" smtClean="0"/>
              <a:t> au </a:t>
            </a:r>
            <a:r>
              <a:rPr lang="en-US" dirty="0" err="1" smtClean="0"/>
              <a:t>dessus</a:t>
            </a:r>
            <a:r>
              <a:rPr lang="en-US" dirty="0" smtClean="0"/>
              <a:t> de </a:t>
            </a:r>
            <a:r>
              <a:rPr lang="en-US" dirty="0" err="1" smtClean="0"/>
              <a:t>l'image</a:t>
            </a:r>
            <a:r>
              <a:rPr lang="en-US" dirty="0" smtClean="0"/>
              <a:t> </a:t>
            </a:r>
            <a:r>
              <a:rPr lang="en-US" dirty="0" err="1" smtClean="0"/>
              <a:t>image.Canvas.Children.Add</a:t>
            </a:r>
            <a:r>
              <a:rPr lang="en-US" dirty="0" smtClean="0"/>
              <a:t>(</a:t>
            </a:r>
            <a:r>
              <a:rPr lang="en-US" dirty="0" err="1" smtClean="0"/>
              <a:t>annotationShape</a:t>
            </a:r>
            <a:r>
              <a:rPr lang="en-US" dirty="0" smtClean="0"/>
              <a:t>); </a:t>
            </a:r>
            <a:r>
              <a:rPr lang="en-US" dirty="0" err="1" smtClean="0"/>
              <a:t>image.InvalidateMeasure</a:t>
            </a:r>
            <a:r>
              <a:rPr lang="en-US" dirty="0" smtClean="0"/>
              <a:t>(); } }</a:t>
            </a:r>
          </a:p>
          <a:p>
            <a:endParaRPr lang="en-US" dirty="0"/>
          </a:p>
        </p:txBody>
      </p:sp>
      <p:sp>
        <p:nvSpPr>
          <p:cNvPr id="4" name="Slide Number Placeholder 3"/>
          <p:cNvSpPr>
            <a:spLocks noGrp="1"/>
          </p:cNvSpPr>
          <p:nvPr>
            <p:ph type="sldNum" sz="quarter" idx="10"/>
          </p:nvPr>
        </p:nvSpPr>
        <p:spPr/>
        <p:txBody>
          <a:bodyPr/>
          <a:lstStyle/>
          <a:p>
            <a:fld id="{C05E1AE6-1BFD-4589-9604-3D9D158FB781}" type="slidenum">
              <a:rPr lang="fr-FR" smtClean="0"/>
              <a:t>19</a:t>
            </a:fld>
            <a:endParaRPr lang="fr-FR"/>
          </a:p>
        </p:txBody>
      </p:sp>
    </p:spTree>
    <p:extLst>
      <p:ext uri="{BB962C8B-B14F-4D97-AF65-F5344CB8AC3E}">
        <p14:creationId xmlns:p14="http://schemas.microsoft.com/office/powerpoint/2010/main" val="40466574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fr-F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fr-F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2B556CC-B3DB-497B-BE73-7E6BCECFF139}" type="datetimeFigureOut">
              <a:rPr lang="fr-FR" smtClean="0"/>
              <a:t>14/07/2025</a:t>
            </a:fld>
            <a:endParaRPr lang="fr-F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94E7397-CDEE-49F8-B284-540E381A05A9}" type="slidenum">
              <a:rPr lang="fr-FR" smtClean="0"/>
              <a:t>‹#›</a:t>
            </a:fld>
            <a:endParaRPr lang="fr-FR"/>
          </a:p>
        </p:txBody>
      </p:sp>
    </p:spTree>
    <p:extLst>
      <p:ext uri="{BB962C8B-B14F-4D97-AF65-F5344CB8AC3E}">
        <p14:creationId xmlns:p14="http://schemas.microsoft.com/office/powerpoint/2010/main" val="12869411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2B556CC-B3DB-497B-BE73-7E6BCECFF139}" type="datetimeFigureOut">
              <a:rPr lang="fr-FR" smtClean="0"/>
              <a:t>14/07/2025</a:t>
            </a:fld>
            <a:endParaRPr lang="fr-F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94E7397-CDEE-49F8-B284-540E381A05A9}" type="slidenum">
              <a:rPr lang="fr-FR" smtClean="0"/>
              <a:t>‹#›</a:t>
            </a:fld>
            <a:endParaRPr lang="fr-FR"/>
          </a:p>
        </p:txBody>
      </p:sp>
    </p:spTree>
    <p:extLst>
      <p:ext uri="{BB962C8B-B14F-4D97-AF65-F5344CB8AC3E}">
        <p14:creationId xmlns:p14="http://schemas.microsoft.com/office/powerpoint/2010/main" val="2684265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fr-F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2B556CC-B3DB-497B-BE73-7E6BCECFF139}" type="datetimeFigureOut">
              <a:rPr lang="fr-FR" smtClean="0"/>
              <a:t>14/07/2025</a:t>
            </a:fld>
            <a:endParaRPr lang="fr-F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94E7397-CDEE-49F8-B284-540E381A05A9}" type="slidenum">
              <a:rPr lang="fr-FR" smtClean="0"/>
              <a:t>‹#›</a:t>
            </a:fld>
            <a:endParaRPr lang="fr-FR"/>
          </a:p>
        </p:txBody>
      </p:sp>
    </p:spTree>
    <p:extLst>
      <p:ext uri="{BB962C8B-B14F-4D97-AF65-F5344CB8AC3E}">
        <p14:creationId xmlns:p14="http://schemas.microsoft.com/office/powerpoint/2010/main" val="1135479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2B556CC-B3DB-497B-BE73-7E6BCECFF139}" type="datetimeFigureOut">
              <a:rPr lang="fr-FR" smtClean="0"/>
              <a:t>14/07/2025</a:t>
            </a:fld>
            <a:endParaRPr lang="fr-F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94E7397-CDEE-49F8-B284-540E381A05A9}" type="slidenum">
              <a:rPr lang="fr-FR" smtClean="0"/>
              <a:t>‹#›</a:t>
            </a:fld>
            <a:endParaRPr lang="fr-FR"/>
          </a:p>
        </p:txBody>
      </p:sp>
    </p:spTree>
    <p:extLst>
      <p:ext uri="{BB962C8B-B14F-4D97-AF65-F5344CB8AC3E}">
        <p14:creationId xmlns:p14="http://schemas.microsoft.com/office/powerpoint/2010/main" val="3323637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fr-F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A2B556CC-B3DB-497B-BE73-7E6BCECFF139}" type="datetimeFigureOut">
              <a:rPr lang="fr-FR" smtClean="0"/>
              <a:t>14/07/2025</a:t>
            </a:fld>
            <a:endParaRPr lang="fr-F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fr-F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D94E7397-CDEE-49F8-B284-540E381A05A9}" type="slidenum">
              <a:rPr lang="fr-FR" smtClean="0"/>
              <a:t>‹#›</a:t>
            </a:fld>
            <a:endParaRPr lang="fr-FR"/>
          </a:p>
        </p:txBody>
      </p:sp>
    </p:spTree>
    <p:extLst>
      <p:ext uri="{BB962C8B-B14F-4D97-AF65-F5344CB8AC3E}">
        <p14:creationId xmlns:p14="http://schemas.microsoft.com/office/powerpoint/2010/main" val="2566066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A2B556CC-B3DB-497B-BE73-7E6BCECFF139}" type="datetimeFigureOut">
              <a:rPr lang="fr-FR" smtClean="0"/>
              <a:t>14/07/2025</a:t>
            </a:fld>
            <a:endParaRPr lang="fr-F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fr-F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D94E7397-CDEE-49F8-B284-540E381A05A9}" type="slidenum">
              <a:rPr lang="fr-FR" smtClean="0"/>
              <a:t>‹#›</a:t>
            </a:fld>
            <a:endParaRPr lang="fr-FR"/>
          </a:p>
        </p:txBody>
      </p:sp>
    </p:spTree>
    <p:extLst>
      <p:ext uri="{BB962C8B-B14F-4D97-AF65-F5344CB8AC3E}">
        <p14:creationId xmlns:p14="http://schemas.microsoft.com/office/powerpoint/2010/main" val="1240408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A2B556CC-B3DB-497B-BE73-7E6BCECFF139}" type="datetimeFigureOut">
              <a:rPr lang="fr-FR" smtClean="0"/>
              <a:t>14/07/2025</a:t>
            </a:fld>
            <a:endParaRPr lang="fr-F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fr-F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D94E7397-CDEE-49F8-B284-540E381A05A9}" type="slidenum">
              <a:rPr lang="fr-FR" smtClean="0"/>
              <a:t>‹#›</a:t>
            </a:fld>
            <a:endParaRPr lang="fr-FR"/>
          </a:p>
        </p:txBody>
      </p:sp>
    </p:spTree>
    <p:extLst>
      <p:ext uri="{BB962C8B-B14F-4D97-AF65-F5344CB8AC3E}">
        <p14:creationId xmlns:p14="http://schemas.microsoft.com/office/powerpoint/2010/main" val="3007311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fr-F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2B556CC-B3DB-497B-BE73-7E6BCECFF139}" type="datetimeFigureOut">
              <a:rPr lang="fr-FR" smtClean="0"/>
              <a:t>14/07/2025</a:t>
            </a:fld>
            <a:endParaRPr lang="fr-F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94E7397-CDEE-49F8-B284-540E381A05A9}" type="slidenum">
              <a:rPr lang="fr-FR" smtClean="0"/>
              <a:t>‹#›</a:t>
            </a:fld>
            <a:endParaRPr lang="fr-FR"/>
          </a:p>
        </p:txBody>
      </p:sp>
    </p:spTree>
    <p:extLst>
      <p:ext uri="{BB962C8B-B14F-4D97-AF65-F5344CB8AC3E}">
        <p14:creationId xmlns:p14="http://schemas.microsoft.com/office/powerpoint/2010/main" val="3617616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fr-F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2B556CC-B3DB-497B-BE73-7E6BCECFF139}" type="datetimeFigureOut">
              <a:rPr lang="fr-FR" smtClean="0"/>
              <a:t>14/07/2025</a:t>
            </a:fld>
            <a:endParaRPr lang="fr-F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94E7397-CDEE-49F8-B284-540E381A05A9}" type="slidenum">
              <a:rPr lang="fr-FR" smtClean="0"/>
              <a:t>‹#›</a:t>
            </a:fld>
            <a:endParaRPr lang="fr-FR"/>
          </a:p>
        </p:txBody>
      </p:sp>
    </p:spTree>
    <p:extLst>
      <p:ext uri="{BB962C8B-B14F-4D97-AF65-F5344CB8AC3E}">
        <p14:creationId xmlns:p14="http://schemas.microsoft.com/office/powerpoint/2010/main" val="1010837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2B556CC-B3DB-497B-BE73-7E6BCECFF139}" type="datetimeFigureOut">
              <a:rPr lang="fr-FR" smtClean="0"/>
              <a:t>14/07/2025</a:t>
            </a:fld>
            <a:endParaRPr lang="fr-F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94E7397-CDEE-49F8-B284-540E381A05A9}" type="slidenum">
              <a:rPr lang="fr-FR" smtClean="0"/>
              <a:t>‹#›</a:t>
            </a:fld>
            <a:endParaRPr lang="fr-FR"/>
          </a:p>
        </p:txBody>
      </p:sp>
    </p:spTree>
    <p:extLst>
      <p:ext uri="{BB962C8B-B14F-4D97-AF65-F5344CB8AC3E}">
        <p14:creationId xmlns:p14="http://schemas.microsoft.com/office/powerpoint/2010/main" val="3848558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fr-F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2B556CC-B3DB-497B-BE73-7E6BCECFF139}" type="datetimeFigureOut">
              <a:rPr lang="fr-FR" smtClean="0"/>
              <a:t>14/07/2025</a:t>
            </a:fld>
            <a:endParaRPr lang="fr-F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94E7397-CDEE-49F8-B284-540E381A05A9}" type="slidenum">
              <a:rPr lang="fr-FR" smtClean="0"/>
              <a:t>‹#›</a:t>
            </a:fld>
            <a:endParaRPr lang="fr-FR"/>
          </a:p>
        </p:txBody>
      </p:sp>
    </p:spTree>
    <p:extLst>
      <p:ext uri="{BB962C8B-B14F-4D97-AF65-F5344CB8AC3E}">
        <p14:creationId xmlns:p14="http://schemas.microsoft.com/office/powerpoint/2010/main" val="355573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fr-F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11" name="Rectangle 10"/>
          <p:cNvSpPr/>
          <p:nvPr userDrawn="1"/>
        </p:nvSpPr>
        <p:spPr>
          <a:xfrm>
            <a:off x="146050" y="6287278"/>
            <a:ext cx="12045950" cy="52322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400" b="1" dirty="0" smtClean="0"/>
              <a:t>Multi Application User Interface:  </a:t>
            </a:r>
          </a:p>
          <a:p>
            <a:r>
              <a:rPr lang="fr-FR" sz="1400" dirty="0" smtClean="0"/>
              <a:t>Ce support de cours est la propriété intellectuelle de Béchir Béjaoui, il n’est utilisé qu’avec l’accord du propriétaire © 2023-2024 </a:t>
            </a:r>
            <a:endParaRPr lang="fr-FR" sz="1400" dirty="0"/>
          </a:p>
        </p:txBody>
      </p:sp>
      <p:pic>
        <p:nvPicPr>
          <p:cNvPr id="12" name="Picture 11" descr="dotnetMAUI"/>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536694" y="6176963"/>
            <a:ext cx="494184" cy="494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9019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hyperlink" Target="https://github.com/bejaouibechir/MAUI/blob/main/CustomShape.md" TargetMode="Externa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hyperlink" Target="https://github.com/bejaouibechir/ColorPickerSolution.git" TargetMode="Externa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hyperlink" Target="https://github.com/bejaouibechir/PaySplitterSolution"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56353" y="2274326"/>
            <a:ext cx="965329" cy="415498"/>
          </a:xfrm>
          <a:prstGeom prst="rect">
            <a:avLst/>
          </a:prstGeom>
        </p:spPr>
        <p:txBody>
          <a:bodyPr wrap="none">
            <a:spAutoFit/>
          </a:bodyPr>
          <a:lstStyle/>
          <a:p>
            <a:pPr algn="ctr"/>
            <a:r>
              <a:rPr lang="fr-FR" sz="2100" dirty="0">
                <a:solidFill>
                  <a:srgbClr val="1C3158"/>
                </a:solidFill>
                <a:latin typeface="Comic Sans MS" pitchFamily="66" charset="0"/>
              </a:rPr>
              <a:t>MAUI</a:t>
            </a:r>
          </a:p>
        </p:txBody>
      </p:sp>
      <p:cxnSp>
        <p:nvCxnSpPr>
          <p:cNvPr id="4" name="Connecteur droit 3"/>
          <p:cNvCxnSpPr>
            <a:cxnSpLocks/>
          </p:cNvCxnSpPr>
          <p:nvPr/>
        </p:nvCxnSpPr>
        <p:spPr>
          <a:xfrm flipH="1">
            <a:off x="5663952" y="2738280"/>
            <a:ext cx="3882150" cy="13038"/>
          </a:xfrm>
          <a:prstGeom prst="line">
            <a:avLst/>
          </a:prstGeom>
          <a:ln w="22225">
            <a:solidFill>
              <a:srgbClr val="1C3158"/>
            </a:solidFill>
          </a:ln>
        </p:spPr>
        <p:style>
          <a:lnRef idx="1">
            <a:schemeClr val="accent1"/>
          </a:lnRef>
          <a:fillRef idx="0">
            <a:schemeClr val="accent1"/>
          </a:fillRef>
          <a:effectRef idx="0">
            <a:schemeClr val="accent1"/>
          </a:effectRef>
          <a:fontRef idx="minor">
            <a:schemeClr val="tx1"/>
          </a:fontRef>
        </p:style>
      </p:cxnSp>
      <p:pic>
        <p:nvPicPr>
          <p:cNvPr id="1027" name="Picture 3" descr="C:\Users\bepro-17\AppData\Roaming\Skype\live#3ambenalaya.bepro\media_messaging\media_cache_v3\^2DF5C670F0A42E46084157BFD3139AC68F80CB1B7C725AE391^pimgpsh_fullsize_dist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9795" y="4900959"/>
            <a:ext cx="1164186" cy="115980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5071100" y="5523434"/>
            <a:ext cx="3222654" cy="507831"/>
          </a:xfrm>
          <a:prstGeom prst="rect">
            <a:avLst/>
          </a:prstGeom>
        </p:spPr>
        <p:txBody>
          <a:bodyPr wrap="square">
            <a:spAutoFit/>
          </a:bodyPr>
          <a:lstStyle/>
          <a:p>
            <a:pPr algn="ctr"/>
            <a:r>
              <a:rPr lang="fr-FR" sz="1350" b="1" i="1" dirty="0">
                <a:solidFill>
                  <a:srgbClr val="1C3158"/>
                </a:solidFill>
              </a:rPr>
              <a:t>Béchir BEJAOUI</a:t>
            </a:r>
          </a:p>
          <a:p>
            <a:pPr algn="ctr"/>
            <a:r>
              <a:rPr lang="fr-FR" sz="1350" dirty="0">
                <a:solidFill>
                  <a:srgbClr val="1C3158"/>
                </a:solidFill>
              </a:rPr>
              <a:t>Formateur et consultant indépendant</a:t>
            </a:r>
          </a:p>
        </p:txBody>
      </p:sp>
      <p:sp>
        <p:nvSpPr>
          <p:cNvPr id="3" name="Rectangle 2"/>
          <p:cNvSpPr/>
          <p:nvPr/>
        </p:nvSpPr>
        <p:spPr>
          <a:xfrm>
            <a:off x="6290314" y="2799774"/>
            <a:ext cx="3011169" cy="369332"/>
          </a:xfrm>
          <a:prstGeom prst="rect">
            <a:avLst/>
          </a:prstGeom>
        </p:spPr>
        <p:txBody>
          <a:bodyPr wrap="square">
            <a:spAutoFit/>
          </a:bodyPr>
          <a:lstStyle/>
          <a:p>
            <a:pPr lvl="0" algn="ctr"/>
            <a:r>
              <a:rPr lang="fr-FR" smtClean="0">
                <a:solidFill>
                  <a:srgbClr val="1C3158"/>
                </a:solidFill>
                <a:latin typeface="Comic Sans MS" pitchFamily="66" charset="0"/>
              </a:rPr>
              <a:t>Les formes</a:t>
            </a:r>
            <a:endParaRPr lang="fr-FR" dirty="0">
              <a:solidFill>
                <a:srgbClr val="1C3158"/>
              </a:solidFill>
              <a:latin typeface="Comic Sans MS" pitchFamily="66" charset="0"/>
            </a:endParaRPr>
          </a:p>
        </p:txBody>
      </p:sp>
      <p:pic>
        <p:nvPicPr>
          <p:cNvPr id="1026" name="Picture 2" descr="dotnetMAU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1395" y="836712"/>
            <a:ext cx="3109706" cy="3109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16612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88"/>
          <p:cNvSpPr txBox="1"/>
          <p:nvPr/>
        </p:nvSpPr>
        <p:spPr>
          <a:xfrm>
            <a:off x="185293" y="525590"/>
            <a:ext cx="4871339" cy="307777"/>
          </a:xfrm>
          <a:prstGeom prst="rect">
            <a:avLst/>
          </a:prstGeom>
        </p:spPr>
        <p:txBody>
          <a:bodyPr wrap="square" lIns="0" tIns="0" rIns="0" bIns="0">
            <a:spAutoFit/>
          </a:bodyPr>
          <a:lstStyle/>
          <a:p>
            <a:pPr eaLnBrk="1" fontAlgn="auto" hangingPunct="1">
              <a:spcBef>
                <a:spcPts val="0"/>
              </a:spcBef>
              <a:spcAft>
                <a:spcPts val="0"/>
              </a:spcAft>
              <a:defRPr/>
            </a:pPr>
            <a:r>
              <a:rPr lang="fr-FR" sz="2000" spc="-5" dirty="0" smtClean="0">
                <a:latin typeface="Segoe UI"/>
                <a:cs typeface="Segoe UI"/>
              </a:rPr>
              <a:t>Structure du projet MAUI</a:t>
            </a:r>
            <a:endParaRPr sz="2550" dirty="0">
              <a:latin typeface="Segoe UI"/>
              <a:cs typeface="Segoe UI"/>
            </a:endParaRPr>
          </a:p>
        </p:txBody>
      </p:sp>
      <p:sp>
        <p:nvSpPr>
          <p:cNvPr id="3" name="object 2"/>
          <p:cNvSpPr txBox="1">
            <a:spLocks noChangeArrowheads="1"/>
          </p:cNvSpPr>
          <p:nvPr/>
        </p:nvSpPr>
        <p:spPr bwMode="auto">
          <a:xfrm>
            <a:off x="185293" y="1090359"/>
            <a:ext cx="8830691" cy="271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7575" algn="l"/>
              </a:tabLst>
              <a:defRPr>
                <a:solidFill>
                  <a:schemeClr val="tx1"/>
                </a:solidFill>
                <a:latin typeface="Calibri" panose="020F0502020204030204" pitchFamily="34" charset="0"/>
                <a:cs typeface="Arial" panose="020B0604020202020204" pitchFamily="34" charset="0"/>
              </a:defRPr>
            </a:lvl1pPr>
            <a:lvl2pPr marL="341313" indent="-120650">
              <a:tabLst>
                <a:tab pos="5997575" algn="l"/>
              </a:tabLst>
              <a:defRPr>
                <a:solidFill>
                  <a:schemeClr val="tx1"/>
                </a:solidFill>
                <a:latin typeface="Calibri" panose="020F0502020204030204" pitchFamily="34" charset="0"/>
                <a:cs typeface="Arial" panose="020B0604020202020204" pitchFamily="34" charset="0"/>
              </a:defRPr>
            </a:lvl2pPr>
            <a:lvl3pPr marL="1143000" indent="-228600">
              <a:tabLst>
                <a:tab pos="5997575" algn="l"/>
              </a:tabLst>
              <a:defRPr>
                <a:solidFill>
                  <a:schemeClr val="tx1"/>
                </a:solidFill>
                <a:latin typeface="Calibri" panose="020F0502020204030204" pitchFamily="34" charset="0"/>
                <a:cs typeface="Arial" panose="020B0604020202020204" pitchFamily="34" charset="0"/>
              </a:defRPr>
            </a:lvl3pPr>
            <a:lvl4pPr marL="1600200" indent="-228600">
              <a:tabLst>
                <a:tab pos="5997575" algn="l"/>
              </a:tabLst>
              <a:defRPr>
                <a:solidFill>
                  <a:schemeClr val="tx1"/>
                </a:solidFill>
                <a:latin typeface="Calibri" panose="020F0502020204030204" pitchFamily="34" charset="0"/>
                <a:cs typeface="Arial" panose="020B0604020202020204" pitchFamily="34" charset="0"/>
              </a:defRPr>
            </a:lvl4pPr>
            <a:lvl5pPr marL="2057400" indent="-228600">
              <a:tabLst>
                <a:tab pos="5997575"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7575"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7575"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7575"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7575" algn="l"/>
              </a:tabLst>
              <a:defRPr>
                <a:solidFill>
                  <a:schemeClr val="tx1"/>
                </a:solidFill>
                <a:latin typeface="Calibri" panose="020F0502020204030204" pitchFamily="34" charset="0"/>
                <a:cs typeface="Arial" panose="020B0604020202020204" pitchFamily="34" charset="0"/>
              </a:defRPr>
            </a:lvl9pPr>
          </a:lstStyle>
          <a:p>
            <a:pPr eaLnBrk="1" hangingPunct="1"/>
            <a:r>
              <a:rPr lang="fr-FR" altLang="en-US" sz="2400" u="sng" dirty="0" smtClean="0">
                <a:latin typeface="Segoe UI Symbol" panose="020B0502040204020203" pitchFamily="34" charset="0"/>
              </a:rPr>
              <a:t>Objectif </a:t>
            </a:r>
            <a:r>
              <a:rPr lang="fr-FR" altLang="en-US" sz="2400" u="sng" dirty="0" smtClean="0">
                <a:latin typeface="Times New Roman" panose="02020603050405020304" pitchFamily="18" charset="0"/>
                <a:cs typeface="Times New Roman" panose="02020603050405020304" pitchFamily="18" charset="0"/>
              </a:rPr>
              <a:t>	</a:t>
            </a:r>
            <a:endParaRPr lang="fr-FR" altLang="en-US" sz="2400" dirty="0" smtClean="0">
              <a:latin typeface="Times New Roman" panose="02020603050405020304" pitchFamily="18" charset="0"/>
              <a:cs typeface="Times New Roman" panose="02020603050405020304" pitchFamily="18" charset="0"/>
            </a:endParaRPr>
          </a:p>
          <a:p>
            <a:pPr eaLnBrk="1" hangingPunct="1">
              <a:spcBef>
                <a:spcPts val="1363"/>
              </a:spcBef>
              <a:buClr>
                <a:srgbClr val="006498"/>
              </a:buClr>
              <a:buSzPct val="85000"/>
              <a:buFont typeface="Segoe UI Symbol" panose="020B0502040204020203" pitchFamily="34" charset="0"/>
              <a:buChar char="•"/>
            </a:pPr>
            <a:r>
              <a:rPr lang="fr-FR" altLang="en-US" sz="2000" dirty="0" smtClean="0">
                <a:latin typeface="Segoe UI Symbol" panose="020B0502040204020203" pitchFamily="34" charset="0"/>
              </a:rPr>
              <a:t>  </a:t>
            </a:r>
            <a:r>
              <a:rPr lang="fr-FR" altLang="en-US" sz="2400" dirty="0" smtClean="0">
                <a:latin typeface="Segoe UI Symbol" panose="020B0502040204020203" pitchFamily="34" charset="0"/>
              </a:rPr>
              <a:t>Découvrir</a:t>
            </a:r>
            <a:r>
              <a:rPr lang="fr-FR" altLang="en-US" sz="2400" dirty="0" smtClean="0">
                <a:latin typeface="Times New Roman" panose="02020603050405020304" pitchFamily="18" charset="0"/>
                <a:cs typeface="Times New Roman" panose="02020603050405020304" pitchFamily="18" charset="0"/>
              </a:rPr>
              <a:t> </a:t>
            </a:r>
            <a:r>
              <a:rPr lang="fr-FR" altLang="en-US" sz="2400" dirty="0" smtClean="0">
                <a:latin typeface="Segoe UI Symbol" panose="020B0502040204020203" pitchFamily="34" charset="0"/>
              </a:rPr>
              <a:t>les différents formes</a:t>
            </a:r>
          </a:p>
          <a:p>
            <a:pPr lvl="1" eaLnBrk="1" hangingPunct="1">
              <a:spcBef>
                <a:spcPts val="1038"/>
              </a:spcBef>
              <a:buClr>
                <a:srgbClr val="006498"/>
              </a:buClr>
              <a:buSzPct val="79000"/>
              <a:buFont typeface="Wingdings" panose="05000000000000000000" pitchFamily="2" charset="2"/>
              <a:buChar char=""/>
            </a:pPr>
            <a:r>
              <a:rPr lang="fr-FR" altLang="en-US" sz="1500" dirty="0" smtClean="0">
                <a:latin typeface="Segoe UI Symbol" panose="020B0502040204020203" pitchFamily="34" charset="0"/>
              </a:rPr>
              <a:t>Le Rectangle </a:t>
            </a:r>
          </a:p>
          <a:p>
            <a:pPr lvl="1" eaLnBrk="1" hangingPunct="1">
              <a:spcBef>
                <a:spcPts val="1038"/>
              </a:spcBef>
              <a:buClr>
                <a:srgbClr val="006498"/>
              </a:buClr>
              <a:buSzPct val="79000"/>
              <a:buFont typeface="Wingdings" panose="05000000000000000000" pitchFamily="2" charset="2"/>
              <a:buChar char=""/>
            </a:pPr>
            <a:r>
              <a:rPr lang="fr-FR" altLang="en-US" sz="1500" dirty="0" smtClean="0">
                <a:latin typeface="Segoe UI Symbol" panose="020B0502040204020203" pitchFamily="34" charset="0"/>
              </a:rPr>
              <a:t>L’ellipse </a:t>
            </a:r>
          </a:p>
          <a:p>
            <a:pPr lvl="1" eaLnBrk="1" hangingPunct="1">
              <a:spcBef>
                <a:spcPts val="1038"/>
              </a:spcBef>
              <a:buClr>
                <a:srgbClr val="006498"/>
              </a:buClr>
              <a:buSzPct val="79000"/>
              <a:buFont typeface="Wingdings" panose="05000000000000000000" pitchFamily="2" charset="2"/>
              <a:buChar char=""/>
            </a:pPr>
            <a:r>
              <a:rPr lang="fr-FR" altLang="en-US" sz="1500" dirty="0" smtClean="0">
                <a:latin typeface="Segoe UI Symbol" panose="020B0502040204020203" pitchFamily="34" charset="0"/>
              </a:rPr>
              <a:t>Le polygone</a:t>
            </a:r>
          </a:p>
          <a:p>
            <a:pPr lvl="1" eaLnBrk="1" hangingPunct="1">
              <a:spcBef>
                <a:spcPts val="1038"/>
              </a:spcBef>
              <a:buClr>
                <a:srgbClr val="006498"/>
              </a:buClr>
              <a:buSzPct val="79000"/>
              <a:buFont typeface="Wingdings" panose="05000000000000000000" pitchFamily="2" charset="2"/>
              <a:buChar char=""/>
            </a:pPr>
            <a:r>
              <a:rPr lang="fr-FR" altLang="en-US" sz="1500" dirty="0" smtClean="0">
                <a:latin typeface="Segoe UI Symbol" panose="020B0502040204020203" pitchFamily="34" charset="0"/>
              </a:rPr>
              <a:t>Le polyline</a:t>
            </a:r>
          </a:p>
          <a:p>
            <a:pPr lvl="1" eaLnBrk="1" hangingPunct="1">
              <a:spcBef>
                <a:spcPts val="1038"/>
              </a:spcBef>
              <a:buClr>
                <a:srgbClr val="006498"/>
              </a:buClr>
              <a:buSzPct val="79000"/>
              <a:buFont typeface="Wingdings" panose="05000000000000000000" pitchFamily="2" charset="2"/>
              <a:buChar char=""/>
            </a:pPr>
            <a:r>
              <a:rPr lang="fr-FR" altLang="en-US" sz="1500" dirty="0" smtClean="0">
                <a:latin typeface="Segoe UI Symbol" panose="020B0502040204020203" pitchFamily="34" charset="0"/>
              </a:rPr>
              <a:t>Le </a:t>
            </a:r>
            <a:r>
              <a:rPr lang="fr-FR" altLang="en-US" sz="1500" dirty="0" err="1" smtClean="0">
                <a:latin typeface="Segoe UI Symbol" panose="020B0502040204020203" pitchFamily="34" charset="0"/>
              </a:rPr>
              <a:t>path</a:t>
            </a:r>
            <a:endParaRPr lang="fr-FR" altLang="en-US" sz="1500" dirty="0" smtClean="0">
              <a:latin typeface="Segoe UI Symbol" panose="020B0502040204020203" pitchFamily="34" charset="0"/>
            </a:endParaRPr>
          </a:p>
        </p:txBody>
      </p:sp>
    </p:spTree>
    <p:extLst>
      <p:ext uri="{BB962C8B-B14F-4D97-AF65-F5344CB8AC3E}">
        <p14:creationId xmlns:p14="http://schemas.microsoft.com/office/powerpoint/2010/main" val="3548874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51167" y="617099"/>
            <a:ext cx="10869739" cy="4278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a:t>
            </a:r>
            <a:r>
              <a:rPr lang="en-US" altLang="en-US" sz="2200" u="sng" dirty="0" err="1" smtClean="0">
                <a:latin typeface="Segoe UI Symbol" panose="020B0502040204020203" pitchFamily="34" charset="0"/>
              </a:rPr>
              <a:t>formes</a:t>
            </a:r>
            <a:r>
              <a:rPr lang="en-US" altLang="en-US" sz="2200" u="sng" dirty="0" smtClean="0">
                <a:latin typeface="Segoe UI Symbol" panose="020B0502040204020203" pitchFamily="34" charset="0"/>
              </a:rPr>
              <a:t>: Le </a:t>
            </a:r>
            <a:r>
              <a:rPr lang="en-US" altLang="en-US" sz="2200" u="sng" dirty="0" smtClean="0">
                <a:latin typeface="Segoe UI Symbol" panose="020B0502040204020203" pitchFamily="34" charset="0"/>
              </a:rPr>
              <a:t>Rectangle</a:t>
            </a:r>
            <a:endParaRPr lang="fr-FR" altLang="en-US" sz="2200" u="sng" dirty="0" smtClean="0">
              <a:latin typeface="Segoe UI Symbol" panose="020B0502040204020203" pitchFamily="34" charset="0"/>
            </a:endParaRPr>
          </a:p>
          <a:p>
            <a:pPr eaLnBrk="1" hangingPunct="1"/>
            <a:endParaRPr lang="fr-FR" sz="2200" u="sng" dirty="0">
              <a:latin typeface="Segoe UI Symbol" panose="020B0502040204020203" pitchFamily="34" charset="0"/>
              <a:cs typeface="Segoe UI" panose="020B0502040204020203" pitchFamily="34" charset="0"/>
            </a:endParaRPr>
          </a:p>
          <a:p>
            <a:pPr marL="438150" indent="-28575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Les </a:t>
            </a:r>
            <a:r>
              <a:rPr lang="fr-FR" dirty="0">
                <a:latin typeface="Segoe UI" panose="020B0502040204020203" pitchFamily="34" charset="0"/>
                <a:cs typeface="Segoe UI" panose="020B0502040204020203" pitchFamily="34" charset="0"/>
              </a:rPr>
              <a:t> </a:t>
            </a:r>
            <a:r>
              <a:rPr lang="fr-FR" b="1" dirty="0">
                <a:latin typeface="Segoe UI" panose="020B0502040204020203" pitchFamily="34" charset="0"/>
                <a:cs typeface="Segoe UI" panose="020B0502040204020203" pitchFamily="34" charset="0"/>
              </a:rPr>
              <a:t>Rectangle</a:t>
            </a:r>
            <a:r>
              <a:rPr lang="fr-FR" dirty="0">
                <a:latin typeface="Segoe UI" panose="020B0502040204020203" pitchFamily="34" charset="0"/>
                <a:cs typeface="Segoe UI" panose="020B0502040204020203" pitchFamily="34" charset="0"/>
              </a:rPr>
              <a:t> dérive de la </a:t>
            </a:r>
            <a:r>
              <a:rPr lang="fr-FR" dirty="0" smtClean="0">
                <a:latin typeface="Segoe UI" panose="020B0502040204020203" pitchFamily="34" charset="0"/>
                <a:cs typeface="Segoe UI" panose="020B0502040204020203" pitchFamily="34" charset="0"/>
              </a:rPr>
              <a:t>classe </a:t>
            </a:r>
            <a:r>
              <a:rPr lang="fr-FR" b="1" dirty="0" smtClean="0">
                <a:latin typeface="Segoe UI" panose="020B0502040204020203" pitchFamily="34" charset="0"/>
                <a:cs typeface="Segoe UI" panose="020B0502040204020203" pitchFamily="34" charset="0"/>
              </a:rPr>
              <a:t>Shape</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et peut être utilisée pour dessiner des rectangles et des </a:t>
            </a:r>
            <a:r>
              <a:rPr lang="fr-FR" dirty="0" smtClean="0">
                <a:latin typeface="Segoe UI" panose="020B0502040204020203" pitchFamily="34" charset="0"/>
                <a:cs typeface="Segoe UI" panose="020B0502040204020203" pitchFamily="34" charset="0"/>
              </a:rPr>
              <a:t>carrés</a:t>
            </a:r>
          </a:p>
          <a:p>
            <a:pPr marL="438150" indent="-285750">
              <a:buFont typeface="Wingdings" panose="05000000000000000000" pitchFamily="2" charset="2"/>
              <a:buChar char="§"/>
            </a:pPr>
            <a:endParaRPr lang="fr-FR" dirty="0">
              <a:latin typeface="Segoe UI" panose="020B0502040204020203" pitchFamily="34" charset="0"/>
              <a:cs typeface="Segoe UI" panose="020B0502040204020203" pitchFamily="34" charset="0"/>
            </a:endParaRPr>
          </a:p>
          <a:p>
            <a:pPr marL="865188" lvl="1" indent="-28575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rectangle définit les propriété communes suivantes: </a:t>
            </a:r>
          </a:p>
          <a:p>
            <a:pPr marL="865188" lvl="1" indent="-285750">
              <a:buFont typeface="Wingdings" panose="05000000000000000000" pitchFamily="2" charset="2"/>
              <a:buChar char="§"/>
            </a:pPr>
            <a:endParaRPr lang="fr-FR" dirty="0" smtClean="0">
              <a:latin typeface="Segoe UI" panose="020B0502040204020203" pitchFamily="34" charset="0"/>
              <a:cs typeface="Segoe UI" panose="020B0502040204020203" pitchFamily="34" charset="0"/>
            </a:endParaRPr>
          </a:p>
          <a:p>
            <a:pPr marL="865188" lvl="1" indent="-285750">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RadiusX</a:t>
            </a:r>
            <a:r>
              <a:rPr lang="fr-FR" dirty="0">
                <a:latin typeface="Segoe UI" panose="020B0502040204020203" pitchFamily="34" charset="0"/>
                <a:cs typeface="Segoe UI" panose="020B0502040204020203" pitchFamily="34" charset="0"/>
              </a:rPr>
              <a:t>: de type double, qui est le rayon de l’axe X utilisé pour arrondir les coins du rectangle. La valeur par défaut de cette propriété est 0,0</a:t>
            </a:r>
            <a:r>
              <a:rPr lang="fr-FR" dirty="0" smtClean="0">
                <a:latin typeface="Segoe UI" panose="020B0502040204020203" pitchFamily="34" charset="0"/>
                <a:cs typeface="Segoe UI" panose="020B0502040204020203" pitchFamily="34" charset="0"/>
              </a:rPr>
              <a:t>.</a:t>
            </a:r>
          </a:p>
          <a:p>
            <a:pPr marL="865188" lvl="1" indent="-285750">
              <a:buFont typeface="Wingdings" panose="05000000000000000000" pitchFamily="2" charset="2"/>
              <a:buChar char="§"/>
            </a:pPr>
            <a:endParaRPr lang="fr-FR" dirty="0">
              <a:latin typeface="Segoe UI" panose="020B0502040204020203" pitchFamily="34" charset="0"/>
              <a:cs typeface="Segoe UI" panose="020B0502040204020203" pitchFamily="34" charset="0"/>
            </a:endParaRPr>
          </a:p>
          <a:p>
            <a:pPr marL="865188" lvl="1" indent="-285750">
              <a:buFont typeface="Wingdings" panose="05000000000000000000" pitchFamily="2" charset="2"/>
              <a:buChar char="§"/>
            </a:pPr>
            <a:r>
              <a:rPr lang="fr-FR" b="1" dirty="0" err="1">
                <a:latin typeface="Segoe UI" panose="020B0502040204020203" pitchFamily="34" charset="0"/>
                <a:cs typeface="Segoe UI" panose="020B0502040204020203" pitchFamily="34" charset="0"/>
              </a:rPr>
              <a:t>RadiusY</a:t>
            </a:r>
            <a:r>
              <a:rPr lang="fr-FR" dirty="0">
                <a:latin typeface="Segoe UI" panose="020B0502040204020203" pitchFamily="34" charset="0"/>
                <a:cs typeface="Segoe UI" panose="020B0502040204020203" pitchFamily="34" charset="0"/>
              </a:rPr>
              <a:t>: de type double, qui est le rayon de l’axe y utilisé pour arrondir les coins du rectangle. La valeur par défaut de cette propriété est 0,0</a:t>
            </a:r>
            <a:r>
              <a:rPr lang="fr-FR" dirty="0" smtClean="0">
                <a:latin typeface="Segoe UI" panose="020B0502040204020203" pitchFamily="34" charset="0"/>
                <a:cs typeface="Segoe UI" panose="020B0502040204020203" pitchFamily="34" charset="0"/>
              </a:rPr>
              <a:t>.</a:t>
            </a:r>
          </a:p>
          <a:p>
            <a:pPr marL="865188" lvl="1" indent="-285750">
              <a:buFont typeface="Wingdings" panose="05000000000000000000" pitchFamily="2" charset="2"/>
              <a:buChar char="§"/>
            </a:pPr>
            <a:endParaRPr lang="fr-FR" dirty="0">
              <a:latin typeface="Segoe UI" panose="020B0502040204020203" pitchFamily="34" charset="0"/>
              <a:cs typeface="Segoe UI" panose="020B0502040204020203" pitchFamily="34" charset="0"/>
            </a:endParaRPr>
          </a:p>
          <a:p>
            <a:pPr marL="865188" lvl="1" indent="-285750">
              <a:buFont typeface="Wingdings" panose="05000000000000000000" pitchFamily="2" charset="2"/>
              <a:buChar char="§"/>
            </a:pPr>
            <a:r>
              <a:rPr lang="fr-FR" b="1" dirty="0" err="1">
                <a:latin typeface="Segoe UI" panose="020B0502040204020203" pitchFamily="34" charset="0"/>
                <a:cs typeface="Segoe UI" panose="020B0502040204020203" pitchFamily="34" charset="0"/>
              </a:rPr>
              <a:t>Fill</a:t>
            </a:r>
            <a:r>
              <a:rPr lang="fr-FR" dirty="0">
                <a:latin typeface="Segoe UI" panose="020B0502040204020203" pitchFamily="34" charset="0"/>
                <a:cs typeface="Segoe UI" panose="020B0502040204020203" pitchFamily="34" charset="0"/>
              </a:rPr>
              <a:t>: de type </a:t>
            </a:r>
            <a:r>
              <a:rPr lang="fr-FR" dirty="0" err="1">
                <a:latin typeface="Segoe UI" panose="020B0502040204020203" pitchFamily="34" charset="0"/>
                <a:cs typeface="Segoe UI" panose="020B0502040204020203" pitchFamily="34" charset="0"/>
              </a:rPr>
              <a:t>Color</a:t>
            </a:r>
            <a:r>
              <a:rPr lang="fr-FR" dirty="0">
                <a:latin typeface="Segoe UI" panose="020B0502040204020203" pitchFamily="34" charset="0"/>
                <a:cs typeface="Segoe UI" panose="020B0502040204020203" pitchFamily="34" charset="0"/>
              </a:rPr>
              <a:t> remplit un </a:t>
            </a:r>
            <a:r>
              <a:rPr lang="fr-FR" dirty="0" smtClean="0">
                <a:latin typeface="Segoe UI" panose="020B0502040204020203" pitchFamily="34" charset="0"/>
                <a:cs typeface="Segoe UI" panose="020B0502040204020203" pitchFamily="34" charset="0"/>
              </a:rPr>
              <a:t>rectangle. </a:t>
            </a:r>
          </a:p>
          <a:p>
            <a:pPr marL="865188" lvl="1" indent="-285750">
              <a:buFont typeface="Wingdings" panose="05000000000000000000" pitchFamily="2" charset="2"/>
              <a:buChar char="§"/>
            </a:pPr>
            <a:endParaRPr lang="fr-FR" dirty="0">
              <a:latin typeface="Segoe UI" panose="020B0502040204020203" pitchFamily="34" charset="0"/>
              <a:cs typeface="Segoe UI" panose="020B0502040204020203" pitchFamily="34" charset="0"/>
            </a:endParaRPr>
          </a:p>
          <a:p>
            <a:pPr marL="865188" lvl="1" indent="-285750">
              <a:buFont typeface="Wingdings" panose="05000000000000000000" pitchFamily="2" charset="2"/>
              <a:buChar char="§"/>
            </a:pPr>
            <a:r>
              <a:rPr lang="fr-FR" b="1" dirty="0">
                <a:latin typeface="Segoe UI" panose="020B0502040204020203" pitchFamily="34" charset="0"/>
                <a:cs typeface="Segoe UI" panose="020B0502040204020203" pitchFamily="34" charset="0"/>
              </a:rPr>
              <a:t>Stroke</a:t>
            </a:r>
            <a:r>
              <a:rPr lang="fr-FR" dirty="0">
                <a:latin typeface="Segoe UI" panose="020B0502040204020203" pitchFamily="34" charset="0"/>
                <a:cs typeface="Segoe UI" panose="020B0502040204020203" pitchFamily="34" charset="0"/>
              </a:rPr>
              <a:t>: de type </a:t>
            </a:r>
            <a:r>
              <a:rPr lang="fr-FR" dirty="0" err="1">
                <a:latin typeface="Segoe UI" panose="020B0502040204020203" pitchFamily="34" charset="0"/>
                <a:cs typeface="Segoe UI" panose="020B0502040204020203" pitchFamily="34" charset="0"/>
              </a:rPr>
              <a:t>Color</a:t>
            </a:r>
            <a:r>
              <a:rPr lang="fr-FR" dirty="0">
                <a:latin typeface="Segoe UI" panose="020B0502040204020203" pitchFamily="34" charset="0"/>
                <a:cs typeface="Segoe UI" panose="020B0502040204020203" pitchFamily="34" charset="0"/>
              </a:rPr>
              <a:t>, permet de colorer le </a:t>
            </a:r>
            <a:r>
              <a:rPr lang="fr-FR" dirty="0" smtClean="0">
                <a:latin typeface="Segoe UI" panose="020B0502040204020203" pitchFamily="34" charset="0"/>
                <a:cs typeface="Segoe UI" panose="020B0502040204020203" pitchFamily="34" charset="0"/>
              </a:rPr>
              <a:t>contour. </a:t>
            </a:r>
          </a:p>
        </p:txBody>
      </p:sp>
      <p:pic>
        <p:nvPicPr>
          <p:cNvPr id="4" name="Image 3"/>
          <p:cNvPicPr>
            <a:picLocks noChangeAspect="1"/>
          </p:cNvPicPr>
          <p:nvPr/>
        </p:nvPicPr>
        <p:blipFill>
          <a:blip r:embed="rId2"/>
          <a:stretch>
            <a:fillRect/>
          </a:stretch>
        </p:blipFill>
        <p:spPr>
          <a:xfrm>
            <a:off x="6095997" y="-3164750"/>
            <a:ext cx="5" cy="13187500"/>
          </a:xfrm>
          <a:prstGeom prst="rect">
            <a:avLst/>
          </a:prstGeom>
        </p:spPr>
      </p:pic>
    </p:spTree>
    <p:extLst>
      <p:ext uri="{BB962C8B-B14F-4D97-AF65-F5344CB8AC3E}">
        <p14:creationId xmlns:p14="http://schemas.microsoft.com/office/powerpoint/2010/main" val="668653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51167" y="617099"/>
            <a:ext cx="10869739"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r>
              <a:rPr lang="en-US" altLang="en-US" sz="2200" u="sng" dirty="0">
                <a:latin typeface="Segoe UI Symbol" panose="020B0502040204020203" pitchFamily="34" charset="0"/>
              </a:rPr>
              <a:t>Les </a:t>
            </a:r>
            <a:r>
              <a:rPr lang="en-US" altLang="en-US" sz="2200" u="sng" dirty="0" err="1">
                <a:latin typeface="Segoe UI Symbol" panose="020B0502040204020203" pitchFamily="34" charset="0"/>
              </a:rPr>
              <a:t>formes</a:t>
            </a:r>
            <a:r>
              <a:rPr lang="en-US" altLang="en-US" sz="2200" u="sng" dirty="0">
                <a:latin typeface="Segoe UI Symbol" panose="020B0502040204020203" pitchFamily="34" charset="0"/>
              </a:rPr>
              <a:t>: Le </a:t>
            </a:r>
            <a:r>
              <a:rPr lang="en-US" altLang="en-US" sz="2200" u="sng" dirty="0" smtClean="0">
                <a:latin typeface="Segoe UI Symbol" panose="020B0502040204020203" pitchFamily="34" charset="0"/>
              </a:rPr>
              <a:t>Rectangle</a:t>
            </a:r>
            <a:endParaRPr lang="fr-FR" altLang="en-US" sz="2200" u="sng" dirty="0" smtClean="0">
              <a:latin typeface="Segoe UI Symbol" panose="020B0502040204020203" pitchFamily="34" charset="0"/>
            </a:endParaRPr>
          </a:p>
          <a:p>
            <a:pPr eaLnBrk="1" hangingPunct="1"/>
            <a:endParaRPr lang="fr-FR" sz="2200" u="sng" dirty="0">
              <a:latin typeface="Segoe UI Symbol" panose="020B0502040204020203" pitchFamily="34" charset="0"/>
              <a:cs typeface="Segoe UI" panose="020B0502040204020203" pitchFamily="34" charset="0"/>
            </a:endParaRPr>
          </a:p>
          <a:p>
            <a:pPr marL="438150" indent="-28575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Voici un exemple de  </a:t>
            </a:r>
            <a:r>
              <a:rPr lang="fr-FR" dirty="0">
                <a:latin typeface="Segoe UI" panose="020B0502040204020203" pitchFamily="34" charset="0"/>
                <a:cs typeface="Segoe UI" panose="020B0502040204020203" pitchFamily="34" charset="0"/>
              </a:rPr>
              <a:t> </a:t>
            </a:r>
            <a:r>
              <a:rPr lang="fr-FR" b="1" dirty="0">
                <a:latin typeface="Segoe UI" panose="020B0502040204020203" pitchFamily="34" charset="0"/>
                <a:cs typeface="Segoe UI" panose="020B0502040204020203" pitchFamily="34" charset="0"/>
              </a:rPr>
              <a:t>Rectangle</a:t>
            </a:r>
            <a:r>
              <a:rPr lang="fr-FR" dirty="0">
                <a:latin typeface="Segoe UI" panose="020B0502040204020203" pitchFamily="34" charset="0"/>
                <a:cs typeface="Segoe UI" panose="020B0502040204020203" pitchFamily="34" charset="0"/>
              </a:rPr>
              <a:t> </a:t>
            </a:r>
            <a:endParaRPr lang="fr-FR" dirty="0" smtClean="0">
              <a:latin typeface="Segoe UI" panose="020B0502040204020203" pitchFamily="34" charset="0"/>
              <a:cs typeface="Segoe UI" panose="020B0502040204020203" pitchFamily="34" charset="0"/>
            </a:endParaRPr>
          </a:p>
        </p:txBody>
      </p:sp>
      <p:pic>
        <p:nvPicPr>
          <p:cNvPr id="4" name="Image 3"/>
          <p:cNvPicPr>
            <a:picLocks noChangeAspect="1"/>
          </p:cNvPicPr>
          <p:nvPr/>
        </p:nvPicPr>
        <p:blipFill>
          <a:blip r:embed="rId2"/>
          <a:stretch>
            <a:fillRect/>
          </a:stretch>
        </p:blipFill>
        <p:spPr>
          <a:xfrm>
            <a:off x="6095997" y="-3164750"/>
            <a:ext cx="5" cy="13187500"/>
          </a:xfrm>
          <a:prstGeom prst="rect">
            <a:avLst/>
          </a:prstGeom>
        </p:spPr>
      </p:pic>
      <p:sp>
        <p:nvSpPr>
          <p:cNvPr id="3" name="Rectangle 2"/>
          <p:cNvSpPr/>
          <p:nvPr/>
        </p:nvSpPr>
        <p:spPr>
          <a:xfrm>
            <a:off x="826394" y="1798526"/>
            <a:ext cx="4563414" cy="1077218"/>
          </a:xfrm>
          <a:prstGeom prst="rect">
            <a:avLst/>
          </a:prstGeom>
        </p:spPr>
        <p:txBody>
          <a:bodyPr wrap="square">
            <a:spAutoFit/>
          </a:bodyPr>
          <a:lstStyle/>
          <a:p>
            <a:r>
              <a:rPr lang="fr-FR" sz="1600" dirty="0">
                <a:solidFill>
                  <a:srgbClr val="0000FF"/>
                </a:solidFill>
                <a:latin typeface="Cascadia Mono" panose="020B0609020000020004" pitchFamily="49" charset="0"/>
              </a:rPr>
              <a:t>&lt;</a:t>
            </a:r>
            <a:r>
              <a:rPr lang="fr-FR" sz="1600" dirty="0">
                <a:solidFill>
                  <a:srgbClr val="A31515"/>
                </a:solidFill>
                <a:latin typeface="Cascadia Mono" panose="020B0609020000020004" pitchFamily="49" charset="0"/>
              </a:rPr>
              <a:t>Rectangle</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Margin</a:t>
            </a:r>
            <a:r>
              <a:rPr lang="fr-FR" sz="1600" dirty="0">
                <a:solidFill>
                  <a:srgbClr val="0000FF"/>
                </a:solidFill>
                <a:latin typeface="Cascadia Mono" panose="020B0609020000020004" pitchFamily="49" charset="0"/>
              </a:rPr>
              <a:t>="20"</a:t>
            </a:r>
            <a:endParaRPr lang="fr-FR" sz="1600" dirty="0">
              <a:solidFill>
                <a:srgbClr val="000000"/>
              </a:solidFill>
              <a:latin typeface="Cascadia Mono" panose="020B0609020000020004" pitchFamily="49" charset="0"/>
            </a:endParaRPr>
          </a:p>
          <a:p>
            <a:r>
              <a:rPr lang="fr-FR" sz="1600" dirty="0" smtClean="0">
                <a:solidFill>
                  <a:srgbClr val="FF0000"/>
                </a:solidFill>
                <a:latin typeface="Cascadia Mono" panose="020B0609020000020004" pitchFamily="49" charset="0"/>
              </a:rPr>
              <a:t>           Stroke</a:t>
            </a:r>
            <a:r>
              <a:rPr lang="fr-FR" sz="1600" dirty="0">
                <a:solidFill>
                  <a:srgbClr val="0000FF"/>
                </a:solidFill>
                <a:latin typeface="Cascadia Mono" panose="020B0609020000020004" pitchFamily="49" charset="0"/>
              </a:rPr>
              <a:t>="Black"</a:t>
            </a:r>
            <a:endParaRPr lang="fr-FR" sz="1600" dirty="0">
              <a:solidFill>
                <a:srgbClr val="000000"/>
              </a:solidFill>
              <a:latin typeface="Cascadia Mono" panose="020B0609020000020004" pitchFamily="49" charset="0"/>
            </a:endParaRPr>
          </a:p>
          <a:p>
            <a:r>
              <a:rPr lang="fr-FR" sz="1600" dirty="0" smtClean="0">
                <a:solidFill>
                  <a:srgbClr val="FF0000"/>
                </a:solidFill>
                <a:latin typeface="Cascadia Mono" panose="020B0609020000020004" pitchFamily="49" charset="0"/>
              </a:rPr>
              <a:t>           </a:t>
            </a:r>
            <a:r>
              <a:rPr lang="fr-FR" sz="1600" dirty="0" err="1" smtClean="0">
                <a:solidFill>
                  <a:srgbClr val="FF0000"/>
                </a:solidFill>
                <a:latin typeface="Cascadia Mono" panose="020B0609020000020004" pitchFamily="49" charset="0"/>
              </a:rPr>
              <a:t>StrokeThickness</a:t>
            </a:r>
            <a:r>
              <a:rPr lang="fr-FR" sz="1600" dirty="0">
                <a:solidFill>
                  <a:srgbClr val="0000FF"/>
                </a:solidFill>
                <a:latin typeface="Cascadia Mono" panose="020B0609020000020004" pitchFamily="49" charset="0"/>
              </a:rPr>
              <a:t>="3"</a:t>
            </a:r>
            <a:r>
              <a:rPr lang="fr-FR" sz="1600" dirty="0">
                <a:solidFill>
                  <a:srgbClr val="000000"/>
                </a:solidFill>
                <a:latin typeface="Cascadia Mono" panose="020B0609020000020004" pitchFamily="49" charset="0"/>
              </a:rPr>
              <a:t> </a:t>
            </a:r>
          </a:p>
          <a:p>
            <a:r>
              <a:rPr lang="fr-FR" sz="1600" dirty="0" smtClean="0">
                <a:solidFill>
                  <a:srgbClr val="FF0000"/>
                </a:solidFill>
                <a:latin typeface="Cascadia Mono" panose="020B0609020000020004" pitchFamily="49" charset="0"/>
              </a:rPr>
              <a:t>           </a:t>
            </a:r>
            <a:r>
              <a:rPr lang="fr-FR" sz="1600" dirty="0" err="1" smtClean="0">
                <a:solidFill>
                  <a:srgbClr val="FF0000"/>
                </a:solidFill>
                <a:latin typeface="Cascadia Mono" panose="020B0609020000020004" pitchFamily="49" charset="0"/>
              </a:rPr>
              <a:t>Fill</a:t>
            </a:r>
            <a:r>
              <a:rPr lang="fr-FR" sz="1600" dirty="0">
                <a:solidFill>
                  <a:srgbClr val="0000FF"/>
                </a:solidFill>
                <a:latin typeface="Cascadia Mono" panose="020B0609020000020004" pitchFamily="49" charset="0"/>
              </a:rPr>
              <a:t>="</a:t>
            </a:r>
            <a:r>
              <a:rPr lang="fr-FR" sz="1600" dirty="0" err="1">
                <a:solidFill>
                  <a:srgbClr val="0000FF"/>
                </a:solidFill>
                <a:latin typeface="Cascadia Mono" panose="020B0609020000020004" pitchFamily="49" charset="0"/>
              </a:rPr>
              <a:t>red</a:t>
            </a:r>
            <a:r>
              <a:rPr lang="fr-FR" sz="1600" dirty="0">
                <a:solidFill>
                  <a:srgbClr val="0000FF"/>
                </a:solidFill>
                <a:latin typeface="Cascadia Mono" panose="020B0609020000020004" pitchFamily="49" charset="0"/>
              </a:rPr>
              <a:t>"&gt;</a:t>
            </a:r>
            <a:endParaRPr lang="fr-FR" sz="1600" dirty="0"/>
          </a:p>
        </p:txBody>
      </p:sp>
      <p:pic>
        <p:nvPicPr>
          <p:cNvPr id="5" name="Image 4"/>
          <p:cNvPicPr>
            <a:picLocks noChangeAspect="1"/>
          </p:cNvPicPr>
          <p:nvPr/>
        </p:nvPicPr>
        <p:blipFill>
          <a:blip r:embed="rId3"/>
          <a:stretch>
            <a:fillRect/>
          </a:stretch>
        </p:blipFill>
        <p:spPr>
          <a:xfrm>
            <a:off x="8726259" y="503516"/>
            <a:ext cx="2508379" cy="5683542"/>
          </a:xfrm>
          <a:prstGeom prst="rect">
            <a:avLst/>
          </a:prstGeom>
        </p:spPr>
      </p:pic>
    </p:spTree>
    <p:extLst>
      <p:ext uri="{BB962C8B-B14F-4D97-AF65-F5344CB8AC3E}">
        <p14:creationId xmlns:p14="http://schemas.microsoft.com/office/powerpoint/2010/main" val="2992876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51167" y="617099"/>
            <a:ext cx="10869739"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r>
              <a:rPr lang="en-US" altLang="en-US" sz="2200" u="sng" dirty="0">
                <a:latin typeface="Segoe UI Symbol" panose="020B0502040204020203" pitchFamily="34" charset="0"/>
              </a:rPr>
              <a:t>Les </a:t>
            </a:r>
            <a:r>
              <a:rPr lang="en-US" altLang="en-US" sz="2200" u="sng" dirty="0" err="1">
                <a:latin typeface="Segoe UI Symbol" panose="020B0502040204020203" pitchFamily="34" charset="0"/>
              </a:rPr>
              <a:t>formes</a:t>
            </a:r>
            <a:r>
              <a:rPr lang="en-US" altLang="en-US" sz="2200" u="sng" dirty="0">
                <a:latin typeface="Segoe UI Symbol" panose="020B0502040204020203" pitchFamily="34" charset="0"/>
              </a:rPr>
              <a:t>: </a:t>
            </a:r>
            <a:r>
              <a:rPr lang="en-US" altLang="en-US" sz="2200" u="sng" dirty="0" err="1">
                <a:latin typeface="Segoe UI Symbol" panose="020B0502040204020203" pitchFamily="34" charset="0"/>
              </a:rPr>
              <a:t>L’Ellipse</a:t>
            </a:r>
            <a:endParaRPr lang="fr-FR" altLang="en-US" sz="2200" u="sng" dirty="0" smtClean="0">
              <a:latin typeface="Segoe UI Symbol" panose="020B0502040204020203" pitchFamily="34" charset="0"/>
            </a:endParaRPr>
          </a:p>
          <a:p>
            <a:pPr eaLnBrk="1" hangingPunct="1"/>
            <a:endParaRPr lang="fr-FR" sz="2200" u="sng" dirty="0">
              <a:latin typeface="Segoe UI Symbol" panose="020B0502040204020203" pitchFamily="34" charset="0"/>
              <a:cs typeface="Segoe UI" panose="020B0502040204020203" pitchFamily="34" charset="0"/>
            </a:endParaRPr>
          </a:p>
          <a:p>
            <a:pPr marL="438150" indent="-28575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 </a:t>
            </a:r>
            <a:r>
              <a:rPr lang="fr-FR" b="1" dirty="0" smtClean="0">
                <a:latin typeface="Segoe UI" panose="020B0502040204020203" pitchFamily="34" charset="0"/>
                <a:cs typeface="Segoe UI" panose="020B0502040204020203" pitchFamily="34" charset="0"/>
              </a:rPr>
              <a:t>Ellipse</a:t>
            </a:r>
            <a:r>
              <a:rPr lang="fr-FR" dirty="0">
                <a:latin typeface="Segoe UI" panose="020B0502040204020203" pitchFamily="34" charset="0"/>
                <a:cs typeface="Segoe UI" panose="020B0502040204020203" pitchFamily="34" charset="0"/>
              </a:rPr>
              <a:t> dérive de la </a:t>
            </a:r>
            <a:r>
              <a:rPr lang="fr-FR" b="1" dirty="0">
                <a:latin typeface="Segoe UI" panose="020B0502040204020203" pitchFamily="34" charset="0"/>
                <a:cs typeface="Segoe UI" panose="020B0502040204020203" pitchFamily="34" charset="0"/>
              </a:rPr>
              <a:t>Shape</a:t>
            </a:r>
            <a:r>
              <a:rPr lang="fr-FR" dirty="0">
                <a:latin typeface="Segoe UI" panose="020B0502040204020203" pitchFamily="34" charset="0"/>
                <a:cs typeface="Segoe UI" panose="020B0502040204020203" pitchFamily="34" charset="0"/>
              </a:rPr>
              <a:t> classe et peut être utilisée pour dessiner </a:t>
            </a:r>
            <a:r>
              <a:rPr lang="fr-FR" dirty="0" smtClean="0">
                <a:latin typeface="Segoe UI" panose="020B0502040204020203" pitchFamily="34" charset="0"/>
                <a:cs typeface="Segoe UI" panose="020B0502040204020203" pitchFamily="34" charset="0"/>
              </a:rPr>
              <a:t>des ellipses et </a:t>
            </a:r>
            <a:r>
              <a:rPr lang="fr-FR" dirty="0">
                <a:latin typeface="Segoe UI" panose="020B0502040204020203" pitchFamily="34" charset="0"/>
                <a:cs typeface="Segoe UI" panose="020B0502040204020203" pitchFamily="34" charset="0"/>
              </a:rPr>
              <a:t>des cercles</a:t>
            </a:r>
            <a:endParaRPr lang="fr-FR" dirty="0" smtClean="0">
              <a:latin typeface="Segoe UI" panose="020B0502040204020203" pitchFamily="34" charset="0"/>
              <a:cs typeface="Segoe UI" panose="020B0502040204020203" pitchFamily="34" charset="0"/>
            </a:endParaRPr>
          </a:p>
        </p:txBody>
      </p:sp>
      <p:pic>
        <p:nvPicPr>
          <p:cNvPr id="4" name="Image 3"/>
          <p:cNvPicPr>
            <a:picLocks noChangeAspect="1"/>
          </p:cNvPicPr>
          <p:nvPr/>
        </p:nvPicPr>
        <p:blipFill>
          <a:blip r:embed="rId2"/>
          <a:stretch>
            <a:fillRect/>
          </a:stretch>
        </p:blipFill>
        <p:spPr>
          <a:xfrm>
            <a:off x="6095997" y="-3164750"/>
            <a:ext cx="5" cy="13187500"/>
          </a:xfrm>
          <a:prstGeom prst="rect">
            <a:avLst/>
          </a:prstGeom>
        </p:spPr>
      </p:pic>
      <p:sp>
        <p:nvSpPr>
          <p:cNvPr id="5" name="Rectangle 4"/>
          <p:cNvSpPr/>
          <p:nvPr/>
        </p:nvSpPr>
        <p:spPr>
          <a:xfrm>
            <a:off x="330557" y="1848181"/>
            <a:ext cx="6096000" cy="738664"/>
          </a:xfrm>
          <a:prstGeom prst="rect">
            <a:avLst/>
          </a:prstGeom>
        </p:spPr>
        <p:txBody>
          <a:bodyPr>
            <a:spAutoFit/>
          </a:bodyPr>
          <a:lstStyle/>
          <a:p>
            <a:r>
              <a:rPr lang="fr-FR" sz="1400" dirty="0">
                <a:solidFill>
                  <a:srgbClr val="0000FF"/>
                </a:solidFill>
                <a:latin typeface="Cascadia Mono" panose="020B0609020000020004" pitchFamily="49" charset="0"/>
              </a:rPr>
              <a:t>&lt;</a:t>
            </a:r>
            <a:r>
              <a:rPr lang="fr-FR" sz="1400" dirty="0">
                <a:solidFill>
                  <a:srgbClr val="A31515"/>
                </a:solidFill>
                <a:latin typeface="Cascadia Mono" panose="020B0609020000020004" pitchFamily="49" charset="0"/>
              </a:rPr>
              <a:t>Ellipse</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Fill</a:t>
            </a:r>
            <a:r>
              <a:rPr lang="fr-FR" sz="1400" dirty="0">
                <a:solidFill>
                  <a:srgbClr val="0000FF"/>
                </a:solidFill>
                <a:latin typeface="Cascadia Mono" panose="020B0609020000020004" pitchFamily="49" charset="0"/>
              </a:rPr>
              <a:t>="</a:t>
            </a:r>
            <a:r>
              <a:rPr lang="fr-FR" sz="1400" dirty="0" err="1">
                <a:solidFill>
                  <a:srgbClr val="0000FF"/>
                </a:solidFill>
                <a:latin typeface="Cascadia Mono" panose="020B0609020000020004" pitchFamily="49" charset="0"/>
              </a:rPr>
              <a:t>Red</a:t>
            </a:r>
            <a:r>
              <a:rPr lang="fr-FR" sz="1400" dirty="0">
                <a:solidFill>
                  <a:srgbClr val="0000FF"/>
                </a:solidFill>
                <a:latin typeface="Cascadia Mono" panose="020B0609020000020004" pitchFamily="49" charset="0"/>
              </a:rPr>
              <a: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WidthRequest</a:t>
            </a:r>
            <a:r>
              <a:rPr lang="fr-FR" sz="1400" dirty="0">
                <a:solidFill>
                  <a:srgbClr val="0000FF"/>
                </a:solidFill>
                <a:latin typeface="Cascadia Mono" panose="020B0609020000020004" pitchFamily="49" charset="0"/>
              </a:rPr>
              <a:t>="150"</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HeightRequest</a:t>
            </a:r>
            <a:r>
              <a:rPr lang="fr-FR" sz="1400" dirty="0">
                <a:solidFill>
                  <a:srgbClr val="0000FF"/>
                </a:solidFill>
                <a:latin typeface="Cascadia Mono" panose="020B0609020000020004" pitchFamily="49" charset="0"/>
              </a:rPr>
              <a:t>="50"/&gt;</a:t>
            </a:r>
            <a:endParaRPr lang="fr-FR" sz="1400" dirty="0"/>
          </a:p>
        </p:txBody>
      </p:sp>
      <p:pic>
        <p:nvPicPr>
          <p:cNvPr id="6" name="Image 5"/>
          <p:cNvPicPr>
            <a:picLocks noChangeAspect="1"/>
          </p:cNvPicPr>
          <p:nvPr/>
        </p:nvPicPr>
        <p:blipFill>
          <a:blip r:embed="rId3"/>
          <a:stretch>
            <a:fillRect/>
          </a:stretch>
        </p:blipFill>
        <p:spPr>
          <a:xfrm>
            <a:off x="3570616" y="1725768"/>
            <a:ext cx="2126234" cy="4709608"/>
          </a:xfrm>
          <a:prstGeom prst="rect">
            <a:avLst/>
          </a:prstGeom>
        </p:spPr>
      </p:pic>
      <p:sp>
        <p:nvSpPr>
          <p:cNvPr id="7" name="Rectangle 6"/>
          <p:cNvSpPr/>
          <p:nvPr/>
        </p:nvSpPr>
        <p:spPr>
          <a:xfrm>
            <a:off x="5743593" y="1770908"/>
            <a:ext cx="6096000" cy="738664"/>
          </a:xfrm>
          <a:prstGeom prst="rect">
            <a:avLst/>
          </a:prstGeom>
        </p:spPr>
        <p:txBody>
          <a:bodyPr>
            <a:spAutoFit/>
          </a:bodyPr>
          <a:lstStyle/>
          <a:p>
            <a:r>
              <a:rPr lang="fr-FR" sz="1400" dirty="0">
                <a:solidFill>
                  <a:srgbClr val="0000FF"/>
                </a:solidFill>
                <a:latin typeface="Cascadia Mono" panose="020B0609020000020004" pitchFamily="49" charset="0"/>
              </a:rPr>
              <a:t>&lt;</a:t>
            </a:r>
            <a:r>
              <a:rPr lang="fr-FR" sz="1400" dirty="0">
                <a:solidFill>
                  <a:srgbClr val="A31515"/>
                </a:solidFill>
                <a:latin typeface="Cascadia Mono" panose="020B0609020000020004" pitchFamily="49" charset="0"/>
              </a:rPr>
              <a:t>Ellipse</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Fill</a:t>
            </a:r>
            <a:r>
              <a:rPr lang="fr-FR" sz="1400" dirty="0">
                <a:solidFill>
                  <a:srgbClr val="0000FF"/>
                </a:solidFill>
                <a:latin typeface="Cascadia Mono" panose="020B0609020000020004" pitchFamily="49" charset="0"/>
              </a:rPr>
              <a:t>="</a:t>
            </a:r>
            <a:r>
              <a:rPr lang="fr-FR" sz="1400" dirty="0" err="1">
                <a:solidFill>
                  <a:srgbClr val="0000FF"/>
                </a:solidFill>
                <a:latin typeface="Cascadia Mono" panose="020B0609020000020004" pitchFamily="49" charset="0"/>
              </a:rPr>
              <a:t>Red</a:t>
            </a:r>
            <a:r>
              <a:rPr lang="fr-FR" sz="1400" dirty="0">
                <a:solidFill>
                  <a:srgbClr val="0000FF"/>
                </a:solidFill>
                <a:latin typeface="Cascadia Mono" panose="020B0609020000020004" pitchFamily="49" charset="0"/>
              </a:rPr>
              <a: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WidthRequest</a:t>
            </a:r>
            <a:r>
              <a:rPr lang="fr-FR" sz="1400" dirty="0">
                <a:solidFill>
                  <a:srgbClr val="0000FF"/>
                </a:solidFill>
                <a:latin typeface="Cascadia Mono" panose="020B0609020000020004" pitchFamily="49" charset="0"/>
              </a:rPr>
              <a:t>="150"</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HeightRequest</a:t>
            </a:r>
            <a:r>
              <a:rPr lang="fr-FR" sz="1400" dirty="0" smtClean="0">
                <a:solidFill>
                  <a:srgbClr val="0000FF"/>
                </a:solidFill>
                <a:latin typeface="Cascadia Mono" panose="020B0609020000020004" pitchFamily="49" charset="0"/>
              </a:rPr>
              <a:t>="150</a:t>
            </a:r>
            <a:r>
              <a:rPr lang="fr-FR" sz="1400" dirty="0">
                <a:solidFill>
                  <a:srgbClr val="0000FF"/>
                </a:solidFill>
                <a:latin typeface="Cascadia Mono" panose="020B0609020000020004" pitchFamily="49" charset="0"/>
              </a:rPr>
              <a:t>"/&gt;</a:t>
            </a:r>
            <a:endParaRPr lang="fr-FR" sz="1400" dirty="0"/>
          </a:p>
        </p:txBody>
      </p:sp>
      <p:pic>
        <p:nvPicPr>
          <p:cNvPr id="8" name="Image 7"/>
          <p:cNvPicPr>
            <a:picLocks noChangeAspect="1"/>
          </p:cNvPicPr>
          <p:nvPr/>
        </p:nvPicPr>
        <p:blipFill>
          <a:blip r:embed="rId4"/>
          <a:stretch>
            <a:fillRect/>
          </a:stretch>
        </p:blipFill>
        <p:spPr>
          <a:xfrm>
            <a:off x="9136531" y="1725768"/>
            <a:ext cx="2091403" cy="4709608"/>
          </a:xfrm>
          <a:prstGeom prst="rect">
            <a:avLst/>
          </a:prstGeom>
        </p:spPr>
      </p:pic>
    </p:spTree>
    <p:extLst>
      <p:ext uri="{BB962C8B-B14F-4D97-AF65-F5344CB8AC3E}">
        <p14:creationId xmlns:p14="http://schemas.microsoft.com/office/powerpoint/2010/main" val="2292604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51167" y="617099"/>
            <a:ext cx="10869739" cy="26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r>
              <a:rPr lang="en-US" altLang="en-US" sz="2200" u="sng" dirty="0">
                <a:latin typeface="Segoe UI Symbol" panose="020B0502040204020203" pitchFamily="34" charset="0"/>
              </a:rPr>
              <a:t>Les </a:t>
            </a:r>
            <a:r>
              <a:rPr lang="en-US" altLang="en-US" sz="2200" u="sng" dirty="0" err="1">
                <a:latin typeface="Segoe UI Symbol" panose="020B0502040204020203" pitchFamily="34" charset="0"/>
              </a:rPr>
              <a:t>formes</a:t>
            </a:r>
            <a:r>
              <a:rPr lang="en-US" altLang="en-US" sz="2200" u="sng" dirty="0">
                <a:latin typeface="Segoe UI Symbol" panose="020B0502040204020203" pitchFamily="34" charset="0"/>
              </a:rPr>
              <a:t>: Le </a:t>
            </a:r>
            <a:r>
              <a:rPr lang="en-US" altLang="en-US" sz="2200" u="sng" dirty="0" err="1" smtClean="0">
                <a:latin typeface="Segoe UI Symbol" panose="020B0502040204020203" pitchFamily="34" charset="0"/>
              </a:rPr>
              <a:t>Ploygon</a:t>
            </a:r>
            <a:endParaRPr lang="fr-FR" altLang="en-US" sz="2200" u="sng" dirty="0" smtClean="0">
              <a:latin typeface="Segoe UI Symbol" panose="020B0502040204020203" pitchFamily="34" charset="0"/>
            </a:endParaRPr>
          </a:p>
          <a:p>
            <a:pPr eaLnBrk="1" hangingPunct="1"/>
            <a:endParaRPr lang="fr-FR" sz="2200" u="sng" dirty="0">
              <a:latin typeface="Segoe UI Symbol" panose="020B0502040204020203" pitchFamily="34" charset="0"/>
              <a:cs typeface="Segoe UI" panose="020B0502040204020203" pitchFamily="34" charset="0"/>
            </a:endParaRPr>
          </a:p>
          <a:p>
            <a:pPr marL="438150" indent="-285750">
              <a:buFont typeface="Wingdings" panose="05000000000000000000" pitchFamily="2" charset="2"/>
              <a:buChar char="§"/>
            </a:pP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Le </a:t>
            </a:r>
            <a:r>
              <a:rPr lang="fr-FR" b="1" dirty="0" err="1" smtClean="0">
                <a:latin typeface="Segoe UI" panose="020B0502040204020203" pitchFamily="34" charset="0"/>
                <a:cs typeface="Segoe UI" panose="020B0502040204020203" pitchFamily="34" charset="0"/>
              </a:rPr>
              <a:t>Polygon</a:t>
            </a:r>
            <a:r>
              <a:rPr lang="fr-FR" dirty="0">
                <a:latin typeface="Segoe UI" panose="020B0502040204020203" pitchFamily="34" charset="0"/>
                <a:cs typeface="Segoe UI" panose="020B0502040204020203" pitchFamily="34" charset="0"/>
              </a:rPr>
              <a:t> dérive de la </a:t>
            </a:r>
            <a:r>
              <a:rPr lang="fr-FR" b="1" dirty="0">
                <a:latin typeface="Segoe UI" panose="020B0502040204020203" pitchFamily="34" charset="0"/>
                <a:cs typeface="Segoe UI" panose="020B0502040204020203" pitchFamily="34" charset="0"/>
              </a:rPr>
              <a:t>Shape</a:t>
            </a:r>
            <a:r>
              <a:rPr lang="fr-FR" dirty="0">
                <a:latin typeface="Segoe UI" panose="020B0502040204020203" pitchFamily="34" charset="0"/>
                <a:cs typeface="Segoe UI" panose="020B0502040204020203" pitchFamily="34" charset="0"/>
              </a:rPr>
              <a:t> classe et peut être utilisée pour dessiner des polygones, qui sont des séries connectées de lignes qui forment des formes </a:t>
            </a:r>
            <a:r>
              <a:rPr lang="fr-FR" dirty="0" smtClean="0">
                <a:latin typeface="Segoe UI" panose="020B0502040204020203" pitchFamily="34" charset="0"/>
                <a:cs typeface="Segoe UI" panose="020B0502040204020203" pitchFamily="34" charset="0"/>
              </a:rPr>
              <a:t>fermées</a:t>
            </a:r>
          </a:p>
          <a:p>
            <a:pPr marL="438150" indent="-285750">
              <a:buFont typeface="Wingdings" panose="05000000000000000000" pitchFamily="2" charset="2"/>
              <a:buChar char="§"/>
            </a:pPr>
            <a:endParaRPr lang="fr-FR" dirty="0">
              <a:latin typeface="Segoe UI" panose="020B0502040204020203" pitchFamily="34" charset="0"/>
              <a:cs typeface="Segoe UI" panose="020B0502040204020203" pitchFamily="34" charset="0"/>
            </a:endParaRPr>
          </a:p>
          <a:p>
            <a:pPr marL="438150" indent="-28575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a:t>
            </a:r>
            <a:r>
              <a:rPr lang="fr-FR" b="1" dirty="0" err="1" smtClean="0">
                <a:latin typeface="Segoe UI" panose="020B0502040204020203" pitchFamily="34" charset="0"/>
                <a:cs typeface="Segoe UI" panose="020B0502040204020203" pitchFamily="34" charset="0"/>
              </a:rPr>
              <a:t>Polygon</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définit les propriétés communes suivantes :</a:t>
            </a:r>
          </a:p>
          <a:p>
            <a:pPr marL="438150" indent="-285750">
              <a:buFont typeface="Wingdings" panose="05000000000000000000" pitchFamily="2" charset="2"/>
              <a:buChar char="§"/>
            </a:pPr>
            <a:endParaRPr lang="fr-FR" dirty="0">
              <a:latin typeface="Segoe UI" panose="020B0502040204020203" pitchFamily="34" charset="0"/>
              <a:cs typeface="Segoe UI" panose="020B0502040204020203" pitchFamily="34" charset="0"/>
            </a:endParaRPr>
          </a:p>
          <a:p>
            <a:pPr marL="865188" lvl="1" indent="-285750">
              <a:buFont typeface="Wingdings" panose="05000000000000000000" pitchFamily="2" charset="2"/>
              <a:buChar char="§"/>
            </a:pPr>
            <a:r>
              <a:rPr lang="fr-FR" b="1" dirty="0" smtClean="0">
                <a:latin typeface="Segoe UI" panose="020B0502040204020203" pitchFamily="34" charset="0"/>
                <a:cs typeface="Segoe UI" panose="020B0502040204020203" pitchFamily="34" charset="0"/>
              </a:rPr>
              <a:t>Points</a:t>
            </a:r>
            <a:r>
              <a:rPr lang="fr-FR" dirty="0">
                <a:latin typeface="Segoe UI" panose="020B0502040204020203" pitchFamily="34" charset="0"/>
                <a:cs typeface="Segoe UI" panose="020B0502040204020203" pitchFamily="34" charset="0"/>
              </a:rPr>
              <a:t>:</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a:t>
            </a:r>
            <a:r>
              <a:rPr lang="fr-FR" dirty="0" smtClean="0">
                <a:latin typeface="Segoe UI" panose="020B0502040204020203" pitchFamily="34" charset="0"/>
                <a:cs typeface="Segoe UI" panose="020B0502040204020203" pitchFamily="34" charset="0"/>
              </a:rPr>
              <a:t>type </a:t>
            </a:r>
            <a:r>
              <a:rPr lang="fr-FR" b="1" dirty="0" err="1" smtClean="0">
                <a:latin typeface="Segoe UI" panose="020B0502040204020203" pitchFamily="34" charset="0"/>
                <a:cs typeface="Segoe UI" panose="020B0502040204020203" pitchFamily="34" charset="0"/>
              </a:rPr>
              <a:t>ObservableCollection</a:t>
            </a:r>
            <a:r>
              <a:rPr lang="fr-FR" b="1" dirty="0" smtClean="0">
                <a:latin typeface="Segoe UI" panose="020B0502040204020203" pitchFamily="34" charset="0"/>
                <a:cs typeface="Segoe UI" panose="020B0502040204020203" pitchFamily="34" charset="0"/>
              </a:rPr>
              <a:t>&lt;Point&gt;</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est une collection de p</a:t>
            </a:r>
            <a:r>
              <a:rPr lang="fr-FR" dirty="0" smtClean="0">
                <a:latin typeface="Segoe UI" panose="020B0502040204020203" pitchFamily="34" charset="0"/>
                <a:cs typeface="Segoe UI" panose="020B0502040204020203" pitchFamily="34" charset="0"/>
              </a:rPr>
              <a:t>oints qui </a:t>
            </a:r>
            <a:r>
              <a:rPr lang="fr-FR" dirty="0">
                <a:latin typeface="Segoe UI" panose="020B0502040204020203" pitchFamily="34" charset="0"/>
                <a:cs typeface="Segoe UI" panose="020B0502040204020203" pitchFamily="34" charset="0"/>
              </a:rPr>
              <a:t>décrivent </a:t>
            </a:r>
            <a:r>
              <a:rPr lang="fr-FR" dirty="0" smtClean="0">
                <a:latin typeface="Segoe UI" panose="020B0502040204020203" pitchFamily="34" charset="0"/>
                <a:cs typeface="Segoe UI" panose="020B0502040204020203" pitchFamily="34" charset="0"/>
              </a:rPr>
              <a:t>le </a:t>
            </a:r>
            <a:r>
              <a:rPr lang="fr-FR" dirty="0">
                <a:latin typeface="Segoe UI" panose="020B0502040204020203" pitchFamily="34" charset="0"/>
                <a:cs typeface="Segoe UI" panose="020B0502040204020203" pitchFamily="34" charset="0"/>
              </a:rPr>
              <a:t>vertex du </a:t>
            </a:r>
            <a:r>
              <a:rPr lang="fr-FR" dirty="0" smtClean="0">
                <a:latin typeface="Segoe UI" panose="020B0502040204020203" pitchFamily="34" charset="0"/>
                <a:cs typeface="Segoe UI" panose="020B0502040204020203" pitchFamily="34" charset="0"/>
              </a:rPr>
              <a:t>polygone</a:t>
            </a:r>
          </a:p>
        </p:txBody>
      </p:sp>
      <p:pic>
        <p:nvPicPr>
          <p:cNvPr id="4" name="Image 3"/>
          <p:cNvPicPr>
            <a:picLocks noChangeAspect="1"/>
          </p:cNvPicPr>
          <p:nvPr/>
        </p:nvPicPr>
        <p:blipFill>
          <a:blip r:embed="rId3"/>
          <a:stretch>
            <a:fillRect/>
          </a:stretch>
        </p:blipFill>
        <p:spPr>
          <a:xfrm>
            <a:off x="6095997" y="-3164750"/>
            <a:ext cx="5" cy="13187500"/>
          </a:xfrm>
          <a:prstGeom prst="rect">
            <a:avLst/>
          </a:prstGeom>
        </p:spPr>
      </p:pic>
    </p:spTree>
    <p:extLst>
      <p:ext uri="{BB962C8B-B14F-4D97-AF65-F5344CB8AC3E}">
        <p14:creationId xmlns:p14="http://schemas.microsoft.com/office/powerpoint/2010/main" val="1202084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51167" y="617099"/>
            <a:ext cx="10869739"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r>
              <a:rPr lang="en-US" altLang="en-US" sz="2200" u="sng" dirty="0">
                <a:latin typeface="Segoe UI Symbol" panose="020B0502040204020203" pitchFamily="34" charset="0"/>
              </a:rPr>
              <a:t>Les </a:t>
            </a:r>
            <a:r>
              <a:rPr lang="en-US" altLang="en-US" sz="2200" u="sng" dirty="0" err="1">
                <a:latin typeface="Segoe UI Symbol" panose="020B0502040204020203" pitchFamily="34" charset="0"/>
              </a:rPr>
              <a:t>formes</a:t>
            </a:r>
            <a:r>
              <a:rPr lang="en-US" altLang="en-US" sz="2200" u="sng" dirty="0">
                <a:latin typeface="Segoe UI Symbol" panose="020B0502040204020203" pitchFamily="34" charset="0"/>
              </a:rPr>
              <a:t>: Le </a:t>
            </a:r>
            <a:r>
              <a:rPr lang="en-US" altLang="en-US" sz="2200" u="sng" dirty="0" smtClean="0">
                <a:latin typeface="Segoe UI Symbol" panose="020B0502040204020203" pitchFamily="34" charset="0"/>
              </a:rPr>
              <a:t>Polygon</a:t>
            </a:r>
            <a:endParaRPr lang="fr-FR" altLang="en-US" sz="2200" u="sng" dirty="0" smtClean="0">
              <a:latin typeface="Segoe UI Symbol" panose="020B0502040204020203" pitchFamily="34" charset="0"/>
            </a:endParaRPr>
          </a:p>
          <a:p>
            <a:pPr eaLnBrk="1" hangingPunct="1"/>
            <a:endParaRPr lang="fr-FR" sz="2200" u="sng" dirty="0">
              <a:latin typeface="Segoe UI Symbol" panose="020B0502040204020203" pitchFamily="34" charset="0"/>
              <a:cs typeface="Segoe UI" panose="020B0502040204020203" pitchFamily="34" charset="0"/>
            </a:endParaRPr>
          </a:p>
          <a:p>
            <a:pPr marL="438150" indent="-28575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Voici un exemple de  </a:t>
            </a:r>
            <a:r>
              <a:rPr lang="fr-FR" dirty="0">
                <a:latin typeface="Segoe UI" panose="020B0502040204020203" pitchFamily="34" charset="0"/>
                <a:cs typeface="Segoe UI" panose="020B0502040204020203" pitchFamily="34" charset="0"/>
              </a:rPr>
              <a:t> </a:t>
            </a:r>
            <a:r>
              <a:rPr lang="fr-FR" b="1" dirty="0" err="1" smtClean="0">
                <a:latin typeface="Segoe UI" panose="020B0502040204020203" pitchFamily="34" charset="0"/>
                <a:cs typeface="Segoe UI" panose="020B0502040204020203" pitchFamily="34" charset="0"/>
              </a:rPr>
              <a:t>Polygon</a:t>
            </a:r>
            <a:r>
              <a:rPr lang="fr-FR" dirty="0">
                <a:latin typeface="Segoe UI" panose="020B0502040204020203" pitchFamily="34" charset="0"/>
                <a:cs typeface="Segoe UI" panose="020B0502040204020203" pitchFamily="34" charset="0"/>
              </a:rPr>
              <a:t> </a:t>
            </a:r>
            <a:endParaRPr lang="fr-FR" dirty="0" smtClean="0">
              <a:latin typeface="Segoe UI" panose="020B0502040204020203" pitchFamily="34" charset="0"/>
              <a:cs typeface="Segoe UI" panose="020B0502040204020203" pitchFamily="34" charset="0"/>
            </a:endParaRPr>
          </a:p>
        </p:txBody>
      </p:sp>
      <p:pic>
        <p:nvPicPr>
          <p:cNvPr id="4" name="Image 3"/>
          <p:cNvPicPr>
            <a:picLocks noChangeAspect="1"/>
          </p:cNvPicPr>
          <p:nvPr/>
        </p:nvPicPr>
        <p:blipFill>
          <a:blip r:embed="rId2"/>
          <a:stretch>
            <a:fillRect/>
          </a:stretch>
        </p:blipFill>
        <p:spPr>
          <a:xfrm>
            <a:off x="6095997" y="-3164750"/>
            <a:ext cx="5" cy="13187500"/>
          </a:xfrm>
          <a:prstGeom prst="rect">
            <a:avLst/>
          </a:prstGeom>
        </p:spPr>
      </p:pic>
      <p:sp>
        <p:nvSpPr>
          <p:cNvPr id="6" name="Rectangle 5"/>
          <p:cNvSpPr/>
          <p:nvPr/>
        </p:nvSpPr>
        <p:spPr>
          <a:xfrm>
            <a:off x="414270" y="1740468"/>
            <a:ext cx="6096000" cy="1569660"/>
          </a:xfrm>
          <a:prstGeom prst="rect">
            <a:avLst/>
          </a:prstGeom>
        </p:spPr>
        <p:txBody>
          <a:bodyPr>
            <a:spAutoFit/>
          </a:bodyPr>
          <a:lstStyle/>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Polygon</a:t>
            </a:r>
            <a:r>
              <a:rPr lang="fr-FR" sz="1600" dirty="0">
                <a:solidFill>
                  <a:srgbClr val="FF0000"/>
                </a:solidFill>
                <a:latin typeface="Cascadia Mono" panose="020B0609020000020004" pitchFamily="49" charset="0"/>
              </a:rPr>
              <a:t> Points</a:t>
            </a:r>
            <a:r>
              <a:rPr lang="fr-FR" sz="1600" dirty="0">
                <a:solidFill>
                  <a:srgbClr val="0000FF"/>
                </a:solidFill>
                <a:latin typeface="Cascadia Mono" panose="020B0609020000020004" pitchFamily="49" charset="0"/>
              </a:rPr>
              <a:t>="</a:t>
            </a:r>
            <a:r>
              <a:rPr lang="fr-FR" sz="1600" dirty="0" smtClean="0">
                <a:solidFill>
                  <a:srgbClr val="0000FF"/>
                </a:solidFill>
                <a:latin typeface="Cascadia Mono" panose="020B0609020000020004" pitchFamily="49" charset="0"/>
              </a:rPr>
              <a:t>140,10  70,80  </a:t>
            </a:r>
            <a:r>
              <a:rPr lang="fr-FR" sz="1600" dirty="0">
                <a:solidFill>
                  <a:srgbClr val="0000FF"/>
                </a:solidFill>
                <a:latin typeface="Cascadia Mono" panose="020B0609020000020004" pitchFamily="49" charset="0"/>
              </a:rPr>
              <a:t>10,50"</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Fill</a:t>
            </a:r>
            <a:r>
              <a:rPr lang="fr-FR" sz="1600" dirty="0">
                <a:solidFill>
                  <a:srgbClr val="0000FF"/>
                </a:solidFill>
                <a:latin typeface="Cascadia Mono" panose="020B0609020000020004" pitchFamily="49" charset="0"/>
              </a:rPr>
              <a:t>="</a:t>
            </a:r>
            <a:r>
              <a:rPr lang="fr-FR" sz="1600" dirty="0" err="1">
                <a:solidFill>
                  <a:srgbClr val="0000FF"/>
                </a:solidFill>
                <a:latin typeface="Cascadia Mono" panose="020B0609020000020004" pitchFamily="49" charset="0"/>
              </a:rPr>
              <a:t>AliceBlue</a:t>
            </a:r>
            <a:r>
              <a:rPr lang="fr-FR" sz="1600" dirty="0">
                <a:solidFill>
                  <a:srgbClr val="0000FF"/>
                </a:solidFill>
                <a:latin typeface="Cascadia Mono" panose="020B0609020000020004" pitchFamily="49" charset="0"/>
              </a:rPr>
              <a:t>"</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Stroke</a:t>
            </a:r>
            <a:r>
              <a:rPr lang="fr-FR" sz="1600" dirty="0">
                <a:solidFill>
                  <a:srgbClr val="0000FF"/>
                </a:solidFill>
                <a:latin typeface="Cascadia Mono" panose="020B0609020000020004" pitchFamily="49" charset="0"/>
              </a:rPr>
              <a:t>="Green"</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StrokeThickness</a:t>
            </a:r>
            <a:r>
              <a:rPr lang="fr-FR" sz="1600" dirty="0">
                <a:solidFill>
                  <a:srgbClr val="0000FF"/>
                </a:solidFill>
                <a:latin typeface="Cascadia Mono" panose="020B0609020000020004" pitchFamily="49" charset="0"/>
              </a:rPr>
              <a:t>="5" &gt;</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p>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Polygon</a:t>
            </a:r>
            <a:r>
              <a:rPr lang="fr-FR" sz="1600" dirty="0">
                <a:solidFill>
                  <a:srgbClr val="0000FF"/>
                </a:solidFill>
                <a:latin typeface="Cascadia Mono" panose="020B0609020000020004" pitchFamily="49" charset="0"/>
              </a:rPr>
              <a:t>&gt;</a:t>
            </a:r>
            <a:endParaRPr lang="fr-FR" sz="1600" dirty="0"/>
          </a:p>
        </p:txBody>
      </p:sp>
      <p:pic>
        <p:nvPicPr>
          <p:cNvPr id="7" name="Image 6"/>
          <p:cNvPicPr>
            <a:picLocks noChangeAspect="1"/>
          </p:cNvPicPr>
          <p:nvPr/>
        </p:nvPicPr>
        <p:blipFill>
          <a:blip r:embed="rId3"/>
          <a:stretch>
            <a:fillRect/>
          </a:stretch>
        </p:blipFill>
        <p:spPr>
          <a:xfrm>
            <a:off x="7034014" y="636585"/>
            <a:ext cx="2527430" cy="5664491"/>
          </a:xfrm>
          <a:prstGeom prst="rect">
            <a:avLst/>
          </a:prstGeom>
        </p:spPr>
      </p:pic>
      <p:sp>
        <p:nvSpPr>
          <p:cNvPr id="8" name="Rectangle 7"/>
          <p:cNvSpPr/>
          <p:nvPr/>
        </p:nvSpPr>
        <p:spPr>
          <a:xfrm>
            <a:off x="652529" y="3598729"/>
            <a:ext cx="6669110" cy="1169551"/>
          </a:xfrm>
          <a:prstGeom prst="rect">
            <a:avLst/>
          </a:prstGeom>
        </p:spPr>
        <p:txBody>
          <a:bodyPr wrap="square">
            <a:spAutoFit/>
          </a:bodyPr>
          <a:lstStyle/>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Polygon</a:t>
            </a:r>
            <a:r>
              <a:rPr lang="fr-FR" sz="1400" dirty="0">
                <a:solidFill>
                  <a:srgbClr val="FF0000"/>
                </a:solidFill>
                <a:latin typeface="Cascadia Mono" panose="020B0609020000020004" pitchFamily="49" charset="0"/>
              </a:rPr>
              <a:t> Points</a:t>
            </a:r>
            <a:r>
              <a:rPr lang="fr-FR" sz="1400" dirty="0">
                <a:solidFill>
                  <a:srgbClr val="0000FF"/>
                </a:solidFill>
                <a:latin typeface="Cascadia Mono" panose="020B0609020000020004" pitchFamily="49" charset="0"/>
              </a:rPr>
              <a:t>="0 48, 0 144, 96 150, 100 0, 192 0, 192 96, 50 96, 48 192, 150 200 144 48"</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Fill</a:t>
            </a:r>
            <a:r>
              <a:rPr lang="fr-FR" sz="1400" dirty="0">
                <a:solidFill>
                  <a:srgbClr val="0000FF"/>
                </a:solidFill>
                <a:latin typeface="Cascadia Mono" panose="020B0609020000020004" pitchFamily="49" charset="0"/>
              </a:rPr>
              <a:t>="Blue"</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Stroke</a:t>
            </a:r>
            <a:r>
              <a:rPr lang="fr-FR" sz="1400" dirty="0">
                <a:solidFill>
                  <a:srgbClr val="0000FF"/>
                </a:solidFill>
                <a:latin typeface="Cascadia Mono" panose="020B0609020000020004" pitchFamily="49" charset="0"/>
              </a:rPr>
              <a:t>="</a:t>
            </a:r>
            <a:r>
              <a:rPr lang="fr-FR" sz="1400" dirty="0" err="1">
                <a:solidFill>
                  <a:srgbClr val="0000FF"/>
                </a:solidFill>
                <a:latin typeface="Cascadia Mono" panose="020B0609020000020004" pitchFamily="49" charset="0"/>
              </a:rPr>
              <a:t>Red</a:t>
            </a:r>
            <a:r>
              <a:rPr lang="fr-FR" sz="1400" dirty="0">
                <a:solidFill>
                  <a:srgbClr val="0000FF"/>
                </a:solidFill>
                <a:latin typeface="Cascadia Mono" panose="020B0609020000020004" pitchFamily="49" charset="0"/>
              </a:rPr>
              <a: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StrokeThickness</a:t>
            </a:r>
            <a:r>
              <a:rPr lang="fr-FR" sz="1400" dirty="0">
                <a:solidFill>
                  <a:srgbClr val="0000FF"/>
                </a:solidFill>
                <a:latin typeface="Cascadia Mono" panose="020B0609020000020004" pitchFamily="49" charset="0"/>
              </a:rPr>
              <a:t>="3" /&gt;</a:t>
            </a:r>
            <a:endParaRPr lang="fr-FR" sz="1400" dirty="0"/>
          </a:p>
        </p:txBody>
      </p:sp>
      <p:pic>
        <p:nvPicPr>
          <p:cNvPr id="9" name="Image 8"/>
          <p:cNvPicPr>
            <a:picLocks noChangeAspect="1"/>
          </p:cNvPicPr>
          <p:nvPr/>
        </p:nvPicPr>
        <p:blipFill>
          <a:blip r:embed="rId4"/>
          <a:stretch>
            <a:fillRect/>
          </a:stretch>
        </p:blipFill>
        <p:spPr>
          <a:xfrm>
            <a:off x="9583937" y="642935"/>
            <a:ext cx="2521080" cy="5658141"/>
          </a:xfrm>
          <a:prstGeom prst="rect">
            <a:avLst/>
          </a:prstGeom>
        </p:spPr>
      </p:pic>
    </p:spTree>
    <p:extLst>
      <p:ext uri="{BB962C8B-B14F-4D97-AF65-F5344CB8AC3E}">
        <p14:creationId xmlns:p14="http://schemas.microsoft.com/office/powerpoint/2010/main" val="539756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51167" y="617099"/>
            <a:ext cx="10869739"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r>
              <a:rPr lang="en-US" altLang="en-US" sz="2200" u="sng" dirty="0">
                <a:latin typeface="Segoe UI Symbol" panose="020B0502040204020203" pitchFamily="34" charset="0"/>
              </a:rPr>
              <a:t>Les </a:t>
            </a:r>
            <a:r>
              <a:rPr lang="en-US" altLang="en-US" sz="2200" u="sng" dirty="0" err="1">
                <a:latin typeface="Segoe UI Symbol" panose="020B0502040204020203" pitchFamily="34" charset="0"/>
              </a:rPr>
              <a:t>formes</a:t>
            </a:r>
            <a:r>
              <a:rPr lang="en-US" altLang="en-US" sz="2200" u="sng" dirty="0">
                <a:latin typeface="Segoe UI Symbol" panose="020B0502040204020203" pitchFamily="34" charset="0"/>
              </a:rPr>
              <a:t>: Le </a:t>
            </a:r>
            <a:r>
              <a:rPr lang="en-US" altLang="en-US" sz="2200" u="sng" dirty="0" smtClean="0">
                <a:latin typeface="Segoe UI Symbol" panose="020B0502040204020203" pitchFamily="34" charset="0"/>
              </a:rPr>
              <a:t>Polyline</a:t>
            </a:r>
            <a:endParaRPr lang="fr-FR" altLang="en-US" sz="2200" u="sng" dirty="0" smtClean="0">
              <a:latin typeface="Segoe UI Symbol" panose="020B0502040204020203" pitchFamily="34" charset="0"/>
            </a:endParaRPr>
          </a:p>
          <a:p>
            <a:pPr eaLnBrk="1" hangingPunct="1"/>
            <a:endParaRPr lang="fr-FR" sz="2200" u="sng" dirty="0">
              <a:latin typeface="Segoe UI Symbol" panose="020B0502040204020203" pitchFamily="34" charset="0"/>
              <a:cs typeface="Segoe UI" panose="020B0502040204020203" pitchFamily="34" charset="0"/>
            </a:endParaRPr>
          </a:p>
          <a:p>
            <a:pPr marL="438150" indent="-285750">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Le contrôle </a:t>
            </a:r>
            <a:r>
              <a:rPr lang="fr-FR" b="1" dirty="0" err="1" smtClean="0">
                <a:latin typeface="Segoe UI" panose="020B0502040204020203" pitchFamily="34" charset="0"/>
                <a:cs typeface="Segoe UI" panose="020B0502040204020203" pitchFamily="34" charset="0"/>
              </a:rPr>
              <a:t>Polyline</a:t>
            </a:r>
            <a:r>
              <a:rPr lang="fr-FR" dirty="0" smtClean="0">
                <a:latin typeface="Segoe UI" panose="020B0502040204020203" pitchFamily="34" charset="0"/>
                <a:cs typeface="Segoe UI" panose="020B0502040204020203" pitchFamily="34" charset="0"/>
              </a:rPr>
              <a:t> diffère du</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contrôle </a:t>
            </a:r>
            <a:r>
              <a:rPr lang="fr-FR" b="1" dirty="0" err="1" smtClean="0">
                <a:latin typeface="Segoe UI" panose="020B0502040204020203" pitchFamily="34" charset="0"/>
                <a:cs typeface="Segoe UI" panose="020B0502040204020203" pitchFamily="34" charset="0"/>
              </a:rPr>
              <a:t>Polygon</a:t>
            </a:r>
            <a:r>
              <a:rPr lang="fr-FR" b="1" dirty="0" smtClean="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du faite qui dessine une ligne ou une courbe et non pas une ligne fermée </a:t>
            </a:r>
            <a:r>
              <a:rPr lang="fr-FR" dirty="0">
                <a:latin typeface="Segoe UI" panose="020B0502040204020203" pitchFamily="34" charset="0"/>
                <a:cs typeface="Segoe UI" panose="020B0502040204020203" pitchFamily="34" charset="0"/>
              </a:rPr>
              <a:t> </a:t>
            </a:r>
            <a:endParaRPr lang="fr-FR" dirty="0" smtClean="0">
              <a:latin typeface="Segoe UI" panose="020B0502040204020203" pitchFamily="34" charset="0"/>
              <a:cs typeface="Segoe UI" panose="020B0502040204020203" pitchFamily="34" charset="0"/>
            </a:endParaRPr>
          </a:p>
        </p:txBody>
      </p:sp>
      <p:pic>
        <p:nvPicPr>
          <p:cNvPr id="4" name="Image 3"/>
          <p:cNvPicPr>
            <a:picLocks noChangeAspect="1"/>
          </p:cNvPicPr>
          <p:nvPr/>
        </p:nvPicPr>
        <p:blipFill>
          <a:blip r:embed="rId2"/>
          <a:stretch>
            <a:fillRect/>
          </a:stretch>
        </p:blipFill>
        <p:spPr>
          <a:xfrm>
            <a:off x="6095997" y="-3164750"/>
            <a:ext cx="5" cy="13187500"/>
          </a:xfrm>
          <a:prstGeom prst="rect">
            <a:avLst/>
          </a:prstGeom>
        </p:spPr>
      </p:pic>
      <p:sp>
        <p:nvSpPr>
          <p:cNvPr id="5" name="Rectangle 4"/>
          <p:cNvSpPr/>
          <p:nvPr/>
        </p:nvSpPr>
        <p:spPr>
          <a:xfrm>
            <a:off x="7924770" y="4288607"/>
            <a:ext cx="4016062" cy="954107"/>
          </a:xfrm>
          <a:prstGeom prst="rect">
            <a:avLst/>
          </a:prstGeom>
        </p:spPr>
        <p:txBody>
          <a:bodyPr wrap="square">
            <a:spAutoFit/>
          </a:bodyPr>
          <a:lstStyle/>
          <a:p>
            <a:r>
              <a:rPr lang="fr-FR" sz="1400" dirty="0">
                <a:solidFill>
                  <a:srgbClr val="0000FF"/>
                </a:solidFill>
                <a:latin typeface="Cascadia Mono" panose="020B0609020000020004" pitchFamily="49" charset="0"/>
              </a:rPr>
              <a:t>&lt;</a:t>
            </a:r>
            <a:r>
              <a:rPr lang="fr-FR" sz="1400" dirty="0">
                <a:solidFill>
                  <a:srgbClr val="A31515"/>
                </a:solidFill>
                <a:latin typeface="Cascadia Mono" panose="020B0609020000020004" pitchFamily="49" charset="0"/>
              </a:rPr>
              <a:t>Polyline</a:t>
            </a:r>
            <a:r>
              <a:rPr lang="fr-FR" sz="1400" dirty="0">
                <a:solidFill>
                  <a:srgbClr val="FF0000"/>
                </a:solidFill>
                <a:latin typeface="Cascadia Mono" panose="020B0609020000020004" pitchFamily="49" charset="0"/>
              </a:rPr>
              <a:t> Points</a:t>
            </a:r>
            <a:r>
              <a:rPr lang="fr-FR" sz="1400" dirty="0">
                <a:solidFill>
                  <a:srgbClr val="0000FF"/>
                </a:solidFill>
                <a:latin typeface="Cascadia Mono" panose="020B0609020000020004" pitchFamily="49" charset="0"/>
              </a:rPr>
              <a:t>="0,0 10,30 15,0 18,60 23,30 35,30 40,</a:t>
            </a:r>
            <a:endParaRPr lang="fr-FR" sz="1400" dirty="0">
              <a:solidFill>
                <a:srgbClr val="000000"/>
              </a:solidFill>
              <a:latin typeface="Cascadia Mono" panose="020B0609020000020004" pitchFamily="49" charset="0"/>
            </a:endParaRPr>
          </a:p>
          <a:p>
            <a:r>
              <a:rPr lang="fr-FR" sz="1400" dirty="0">
                <a:solidFill>
                  <a:srgbClr val="0000FF"/>
                </a:solidFill>
                <a:latin typeface="Cascadia Mono" panose="020B0609020000020004" pitchFamily="49" charset="0"/>
              </a:rPr>
              <a:t>              0 43,60 48,30 100,30"</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Stroke</a:t>
            </a:r>
            <a:r>
              <a:rPr lang="fr-FR" sz="1400" dirty="0">
                <a:solidFill>
                  <a:srgbClr val="0000FF"/>
                </a:solidFill>
                <a:latin typeface="Cascadia Mono" panose="020B0609020000020004" pitchFamily="49" charset="0"/>
              </a:rPr>
              <a:t>="</a:t>
            </a:r>
            <a:r>
              <a:rPr lang="fr-FR" sz="1400" dirty="0" err="1">
                <a:solidFill>
                  <a:srgbClr val="0000FF"/>
                </a:solidFill>
                <a:latin typeface="Cascadia Mono" panose="020B0609020000020004" pitchFamily="49" charset="0"/>
              </a:rPr>
              <a:t>Red</a:t>
            </a:r>
            <a:r>
              <a:rPr lang="fr-FR" sz="1400" dirty="0">
                <a:solidFill>
                  <a:srgbClr val="0000FF"/>
                </a:solidFill>
                <a:latin typeface="Cascadia Mono" panose="020B0609020000020004" pitchFamily="49" charset="0"/>
              </a:rPr>
              <a:t>" /&gt;</a:t>
            </a:r>
            <a:endParaRPr lang="fr-FR" sz="1400" dirty="0"/>
          </a:p>
        </p:txBody>
      </p:sp>
      <p:sp>
        <p:nvSpPr>
          <p:cNvPr id="3" name="Rectangle 1"/>
          <p:cNvSpPr>
            <a:spLocks noChangeArrowheads="1"/>
          </p:cNvSpPr>
          <p:nvPr/>
        </p:nvSpPr>
        <p:spPr bwMode="auto">
          <a:xfrm>
            <a:off x="539261" y="2052743"/>
            <a:ext cx="5682325"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Points:</a:t>
            </a:r>
            <a:r>
              <a:rPr kumimoji="0" lang="en-US"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 </a:t>
            </a:r>
            <a:r>
              <a:rPr kumimoji="0" lang="en-US" altLang="en-US" b="0" i="0" u="none" strike="noStrike" cap="none" normalizeH="0" baseline="0" dirty="0" err="1" smtClean="0">
                <a:ln>
                  <a:noFill/>
                </a:ln>
                <a:solidFill>
                  <a:schemeClr val="tx1"/>
                </a:solidFill>
                <a:effectLst/>
                <a:latin typeface="Segoe UI" panose="020B0502040204020203" pitchFamily="34" charset="0"/>
                <a:cs typeface="Segoe UI" panose="020B0502040204020203" pitchFamily="34" charset="0"/>
              </a:rPr>
              <a:t>Décrit</a:t>
            </a:r>
            <a:r>
              <a:rPr kumimoji="0" lang="en-US"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 la </a:t>
            </a:r>
            <a:r>
              <a:rPr kumimoji="0" lang="en-US" altLang="en-US" b="0" i="0" u="none" strike="noStrike" cap="none" normalizeH="0" baseline="0" dirty="0" err="1" smtClean="0">
                <a:ln>
                  <a:noFill/>
                </a:ln>
                <a:solidFill>
                  <a:schemeClr val="tx1"/>
                </a:solidFill>
                <a:effectLst/>
                <a:latin typeface="Segoe UI" panose="020B0502040204020203" pitchFamily="34" charset="0"/>
                <a:cs typeface="Segoe UI" panose="020B0502040204020203" pitchFamily="34" charset="0"/>
              </a:rPr>
              <a:t>forme</a:t>
            </a:r>
            <a:r>
              <a:rPr kumimoji="0" lang="en-US"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
            </a:r>
            <a:br>
              <a:rPr kumimoji="0" lang="en-US"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br>
            <a:r>
              <a:rPr kumimoji="0" lang="en-US" altLang="en-US" b="1" i="0" u="none" strike="noStrike" cap="none" normalizeH="0" baseline="0" dirty="0" err="1" smtClean="0">
                <a:ln>
                  <a:noFill/>
                </a:ln>
                <a:solidFill>
                  <a:schemeClr val="tx1"/>
                </a:solidFill>
                <a:effectLst/>
                <a:latin typeface="Segoe UI" panose="020B0502040204020203" pitchFamily="34" charset="0"/>
                <a:cs typeface="Segoe UI" panose="020B0502040204020203" pitchFamily="34" charset="0"/>
              </a:rPr>
              <a:t>Stroke,StrokeThickness</a:t>
            </a:r>
            <a:r>
              <a:rPr kumimoji="0" lang="en-US" altLang="en-US" b="1"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 </a:t>
            </a:r>
            <a:r>
              <a:rPr kumimoji="0" lang="en-US"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Aspect du contour.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
            </a:r>
            <a:br>
              <a:rPr kumimoji="0" lang="en-US"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br>
            <a:r>
              <a:rPr kumimoji="0" lang="en-US" altLang="en-US" b="1"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Fill:</a:t>
            </a:r>
            <a:r>
              <a:rPr kumimoji="0" lang="en-US" altLang="en-US" b="0" i="0" u="none" strike="noStrike" cap="none" normalizeH="0" dirty="0" smtClean="0">
                <a:ln>
                  <a:noFill/>
                </a:ln>
                <a:solidFill>
                  <a:schemeClr val="tx1"/>
                </a:solidFill>
                <a:effectLst/>
                <a:latin typeface="Segoe UI" panose="020B0502040204020203" pitchFamily="34" charset="0"/>
                <a:cs typeface="Segoe UI" panose="020B0502040204020203" pitchFamily="34" charset="0"/>
              </a:rPr>
              <a:t> </a:t>
            </a:r>
            <a:r>
              <a:rPr kumimoji="0" lang="en-US" altLang="en-US" b="0" i="0" u="none" strike="noStrike" cap="none" normalizeH="0" baseline="0" dirty="0" err="1" smtClean="0">
                <a:ln>
                  <a:noFill/>
                </a:ln>
                <a:solidFill>
                  <a:schemeClr val="tx1"/>
                </a:solidFill>
                <a:effectLst/>
                <a:latin typeface="Segoe UI" panose="020B0502040204020203" pitchFamily="34" charset="0"/>
                <a:cs typeface="Segoe UI" panose="020B0502040204020203" pitchFamily="34" charset="0"/>
              </a:rPr>
              <a:t>Remplissage</a:t>
            </a:r>
            <a:r>
              <a:rPr kumimoji="0" lang="en-US"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 interne.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
            </a:r>
            <a:br>
              <a:rPr kumimoji="0" lang="en-US"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br>
            <a:r>
              <a:rPr kumimoji="0" lang="en-US" altLang="en-US" b="1" i="0" u="none" strike="noStrike" cap="none" normalizeH="0" baseline="0" dirty="0" err="1" smtClean="0">
                <a:ln>
                  <a:noFill/>
                </a:ln>
                <a:solidFill>
                  <a:schemeClr val="tx1"/>
                </a:solidFill>
                <a:effectLst/>
                <a:latin typeface="Segoe UI" panose="020B0502040204020203" pitchFamily="34" charset="0"/>
                <a:cs typeface="Segoe UI" panose="020B0502040204020203" pitchFamily="34" charset="0"/>
              </a:rPr>
              <a:t>StrokeDashArray</a:t>
            </a:r>
            <a:r>
              <a:rPr kumimoji="0" lang="en-US" altLang="en-US" b="1"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 </a:t>
            </a:r>
            <a:r>
              <a:rPr kumimoji="0" lang="en-US" altLang="en-US" b="1" i="0" u="none" strike="noStrike" cap="none" normalizeH="0" baseline="0" dirty="0" err="1" smtClean="0">
                <a:ln>
                  <a:noFill/>
                </a:ln>
                <a:solidFill>
                  <a:schemeClr val="tx1"/>
                </a:solidFill>
                <a:effectLst/>
                <a:latin typeface="Segoe UI" panose="020B0502040204020203" pitchFamily="34" charset="0"/>
                <a:cs typeface="Segoe UI" panose="020B0502040204020203" pitchFamily="34" charset="0"/>
              </a:rPr>
              <a:t>LineJoin</a:t>
            </a:r>
            <a:r>
              <a:rPr kumimoji="0" lang="en-US" altLang="en-US" b="1"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 </a:t>
            </a:r>
            <a:r>
              <a:rPr kumimoji="0" lang="en-US" altLang="en-US" b="1" i="0" u="none" strike="noStrike" cap="none" normalizeH="0" baseline="0" dirty="0" err="1" smtClean="0">
                <a:ln>
                  <a:noFill/>
                </a:ln>
                <a:solidFill>
                  <a:schemeClr val="tx1"/>
                </a:solidFill>
                <a:effectLst/>
                <a:latin typeface="Segoe UI" panose="020B0502040204020203" pitchFamily="34" charset="0"/>
                <a:cs typeface="Segoe UI" panose="020B0502040204020203" pitchFamily="34" charset="0"/>
              </a:rPr>
              <a:t>LineCap</a:t>
            </a:r>
            <a:r>
              <a:rPr lang="en-US" altLang="en-US" b="1" dirty="0">
                <a:latin typeface="Segoe UI" panose="020B0502040204020203" pitchFamily="34" charset="0"/>
                <a:cs typeface="Segoe UI" panose="020B0502040204020203" pitchFamily="34" charset="0"/>
              </a:rPr>
              <a:t>:</a:t>
            </a:r>
            <a:r>
              <a:rPr kumimoji="0" lang="en-US" altLang="en-US" b="1"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 </a:t>
            </a:r>
            <a:r>
              <a:rPr kumimoji="0" lang="en-US"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Styles </a:t>
            </a:r>
            <a:r>
              <a:rPr kumimoji="0" lang="en-US" altLang="en-US" b="0" i="0" u="none" strike="noStrike" cap="none" normalizeH="0" baseline="0" dirty="0" err="1" smtClean="0">
                <a:ln>
                  <a:noFill/>
                </a:ln>
                <a:solidFill>
                  <a:schemeClr val="tx1"/>
                </a:solidFill>
                <a:effectLst/>
                <a:latin typeface="Segoe UI" panose="020B0502040204020203" pitchFamily="34" charset="0"/>
                <a:cs typeface="Segoe UI" panose="020B0502040204020203" pitchFamily="34" charset="0"/>
              </a:rPr>
              <a:t>avancés</a:t>
            </a:r>
            <a:r>
              <a:rPr kumimoji="0" lang="en-US"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 </a:t>
            </a:r>
          </a:p>
        </p:txBody>
      </p:sp>
    </p:spTree>
    <p:extLst>
      <p:ext uri="{BB962C8B-B14F-4D97-AF65-F5344CB8AC3E}">
        <p14:creationId xmlns:p14="http://schemas.microsoft.com/office/powerpoint/2010/main" val="3965766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70485" y="610660"/>
            <a:ext cx="10869739"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r>
              <a:rPr lang="en-US" altLang="en-US" sz="2200" u="sng" dirty="0">
                <a:latin typeface="Segoe UI Symbol" panose="020B0502040204020203" pitchFamily="34" charset="0"/>
              </a:rPr>
              <a:t>Les </a:t>
            </a:r>
            <a:r>
              <a:rPr lang="en-US" altLang="en-US" sz="2200" u="sng" dirty="0" err="1">
                <a:latin typeface="Segoe UI Symbol" panose="020B0502040204020203" pitchFamily="34" charset="0"/>
              </a:rPr>
              <a:t>formes</a:t>
            </a:r>
            <a:r>
              <a:rPr lang="en-US" altLang="en-US" sz="2200" u="sng" dirty="0">
                <a:latin typeface="Segoe UI Symbol" panose="020B0502040204020203" pitchFamily="34" charset="0"/>
              </a:rPr>
              <a:t>: La </a:t>
            </a:r>
            <a:r>
              <a:rPr lang="en-US" altLang="en-US" sz="2200" u="sng" dirty="0" smtClean="0">
                <a:latin typeface="Segoe UI Symbol" panose="020B0502040204020203" pitchFamily="34" charset="0"/>
              </a:rPr>
              <a:t>Line</a:t>
            </a:r>
            <a:endParaRPr lang="fr-FR" altLang="en-US" sz="2200" u="sng" dirty="0" smtClean="0">
              <a:latin typeface="Segoe UI Symbol" panose="020B0502040204020203" pitchFamily="34" charset="0"/>
            </a:endParaRPr>
          </a:p>
          <a:p>
            <a:pPr eaLnBrk="1" hangingPunct="1"/>
            <a:endParaRPr lang="fr-FR" sz="2200" u="sng" dirty="0">
              <a:latin typeface="Segoe UI Symbol" panose="020B0502040204020203" pitchFamily="34" charset="0"/>
              <a:cs typeface="Segoe UI" panose="020B0502040204020203" pitchFamily="34" charset="0"/>
            </a:endParaRPr>
          </a:p>
          <a:p>
            <a:pPr marL="438150" indent="-285750">
              <a:buFont typeface="Wingdings" panose="05000000000000000000" pitchFamily="2" charset="2"/>
              <a:buChar char="§"/>
            </a:pP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Ce ci est un exemple de </a:t>
            </a:r>
            <a:r>
              <a:rPr lang="fr-FR" b="1" dirty="0" smtClean="0">
                <a:latin typeface="Segoe UI" panose="020B0502040204020203" pitchFamily="34" charset="0"/>
                <a:cs typeface="Segoe UI" panose="020B0502040204020203" pitchFamily="34" charset="0"/>
              </a:rPr>
              <a:t>Line</a:t>
            </a:r>
            <a:r>
              <a:rPr lang="fr-FR" dirty="0">
                <a:latin typeface="Segoe UI" panose="020B0502040204020203" pitchFamily="34" charset="0"/>
                <a:cs typeface="Segoe UI" panose="020B0502040204020203" pitchFamily="34" charset="0"/>
              </a:rPr>
              <a:t> </a:t>
            </a:r>
            <a:endParaRPr lang="fr-FR" dirty="0" smtClean="0">
              <a:latin typeface="Segoe UI" panose="020B0502040204020203" pitchFamily="34" charset="0"/>
              <a:cs typeface="Segoe UI" panose="020B0502040204020203" pitchFamily="34" charset="0"/>
            </a:endParaRPr>
          </a:p>
        </p:txBody>
      </p:sp>
      <p:sp>
        <p:nvSpPr>
          <p:cNvPr id="5" name="Rectangle 4"/>
          <p:cNvSpPr/>
          <p:nvPr/>
        </p:nvSpPr>
        <p:spPr>
          <a:xfrm>
            <a:off x="543059" y="1674674"/>
            <a:ext cx="3384997" cy="1569660"/>
          </a:xfrm>
          <a:prstGeom prst="rect">
            <a:avLst/>
          </a:prstGeom>
        </p:spPr>
        <p:txBody>
          <a:bodyPr wrap="square">
            <a:spAutoFit/>
          </a:bodyPr>
          <a:lstStyle/>
          <a:p>
            <a:r>
              <a:rPr lang="fr-FR" sz="1600" dirty="0">
                <a:solidFill>
                  <a:srgbClr val="0000FF"/>
                </a:solidFill>
                <a:latin typeface="Cascadia Mono" panose="020B0609020000020004" pitchFamily="49" charset="0"/>
              </a:rPr>
              <a:t>&lt;</a:t>
            </a:r>
            <a:r>
              <a:rPr lang="fr-FR" sz="1600" dirty="0">
                <a:solidFill>
                  <a:srgbClr val="A31515"/>
                </a:solidFill>
                <a:latin typeface="Cascadia Mono" panose="020B0609020000020004" pitchFamily="49" charset="0"/>
              </a:rPr>
              <a:t>Line</a:t>
            </a:r>
            <a:r>
              <a:rPr lang="fr-FR" sz="1600" dirty="0">
                <a:solidFill>
                  <a:srgbClr val="FF0000"/>
                </a:solidFill>
                <a:latin typeface="Cascadia Mono" panose="020B0609020000020004" pitchFamily="49" charset="0"/>
              </a:rPr>
              <a:t> X1</a:t>
            </a:r>
            <a:r>
              <a:rPr lang="fr-FR" sz="1600" dirty="0">
                <a:solidFill>
                  <a:srgbClr val="0000FF"/>
                </a:solidFill>
                <a:latin typeface="Cascadia Mono" panose="020B0609020000020004" pitchFamily="49" charset="0"/>
              </a:rPr>
              <a:t>="0"</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Y1</a:t>
            </a:r>
            <a:r>
              <a:rPr lang="fr-FR" sz="1600" dirty="0">
                <a:solidFill>
                  <a:srgbClr val="0000FF"/>
                </a:solidFill>
                <a:latin typeface="Cascadia Mono" panose="020B0609020000020004" pitchFamily="49" charset="0"/>
              </a:rPr>
              <a:t>="0"</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X2</a:t>
            </a:r>
            <a:r>
              <a:rPr lang="fr-FR" sz="1600" dirty="0">
                <a:solidFill>
                  <a:srgbClr val="0000FF"/>
                </a:solidFill>
                <a:latin typeface="Cascadia Mono" panose="020B0609020000020004" pitchFamily="49" charset="0"/>
              </a:rPr>
              <a:t>="500"</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Y2</a:t>
            </a:r>
            <a:r>
              <a:rPr lang="fr-FR" sz="1600" dirty="0">
                <a:solidFill>
                  <a:srgbClr val="0000FF"/>
                </a:solidFill>
                <a:latin typeface="Cascadia Mono" panose="020B0609020000020004" pitchFamily="49" charset="0"/>
              </a:rPr>
              <a:t>="1000"</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StrokeThickness</a:t>
            </a:r>
            <a:r>
              <a:rPr lang="fr-FR" sz="1600" dirty="0">
                <a:solidFill>
                  <a:srgbClr val="0000FF"/>
                </a:solidFill>
                <a:latin typeface="Cascadia Mono" panose="020B0609020000020004" pitchFamily="49" charset="0"/>
              </a:rPr>
              <a:t>="4"</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Stroke</a:t>
            </a:r>
            <a:r>
              <a:rPr lang="fr-FR" sz="1600" dirty="0">
                <a:solidFill>
                  <a:srgbClr val="0000FF"/>
                </a:solidFill>
                <a:latin typeface="Cascadia Mono" panose="020B0609020000020004" pitchFamily="49" charset="0"/>
              </a:rPr>
              <a:t>="</a:t>
            </a:r>
            <a:r>
              <a:rPr lang="fr-FR" sz="1600" dirty="0" err="1">
                <a:solidFill>
                  <a:srgbClr val="0000FF"/>
                </a:solidFill>
                <a:latin typeface="Cascadia Mono" panose="020B0609020000020004" pitchFamily="49" charset="0"/>
              </a:rPr>
              <a:t>red</a:t>
            </a:r>
            <a:r>
              <a:rPr lang="fr-FR" sz="1600" dirty="0">
                <a:solidFill>
                  <a:srgbClr val="0000FF"/>
                </a:solidFill>
                <a:latin typeface="Cascadia Mono" panose="020B0609020000020004" pitchFamily="49" charset="0"/>
              </a:rPr>
              <a:t>" /&gt;</a:t>
            </a:r>
            <a:endParaRPr lang="fr-FR" sz="1600" dirty="0"/>
          </a:p>
        </p:txBody>
      </p:sp>
      <p:pic>
        <p:nvPicPr>
          <p:cNvPr id="6" name="Image 5"/>
          <p:cNvPicPr>
            <a:picLocks noChangeAspect="1"/>
          </p:cNvPicPr>
          <p:nvPr/>
        </p:nvPicPr>
        <p:blipFill>
          <a:blip r:embed="rId2"/>
          <a:stretch>
            <a:fillRect/>
          </a:stretch>
        </p:blipFill>
        <p:spPr>
          <a:xfrm>
            <a:off x="8547840" y="477758"/>
            <a:ext cx="2527430" cy="5683542"/>
          </a:xfrm>
          <a:prstGeom prst="rect">
            <a:avLst/>
          </a:prstGeom>
        </p:spPr>
      </p:pic>
    </p:spTree>
    <p:extLst>
      <p:ext uri="{BB962C8B-B14F-4D97-AF65-F5344CB8AC3E}">
        <p14:creationId xmlns:p14="http://schemas.microsoft.com/office/powerpoint/2010/main" val="3743158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70485" y="610660"/>
            <a:ext cx="10869739" cy="4001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r>
              <a:rPr lang="en-US" altLang="en-US" sz="2200" u="sng" dirty="0">
                <a:latin typeface="Segoe UI Symbol" panose="020B0502040204020203" pitchFamily="34" charset="0"/>
              </a:rPr>
              <a:t>Les </a:t>
            </a:r>
            <a:r>
              <a:rPr lang="en-US" altLang="en-US" sz="2200" u="sng" dirty="0" err="1">
                <a:latin typeface="Segoe UI Symbol" panose="020B0502040204020203" pitchFamily="34" charset="0"/>
              </a:rPr>
              <a:t>formes</a:t>
            </a:r>
            <a:r>
              <a:rPr lang="en-US" altLang="en-US" sz="2200" u="sng" dirty="0">
                <a:latin typeface="Segoe UI Symbol" panose="020B0502040204020203" pitchFamily="34" charset="0"/>
              </a:rPr>
              <a:t>: La </a:t>
            </a:r>
            <a:r>
              <a:rPr lang="en-US" altLang="en-US" sz="2200" u="sng" dirty="0" smtClean="0">
                <a:latin typeface="Segoe UI Symbol" panose="020B0502040204020203" pitchFamily="34" charset="0"/>
              </a:rPr>
              <a:t>Line</a:t>
            </a:r>
            <a:endParaRPr lang="fr-FR" altLang="en-US" sz="2200" u="sng" dirty="0" smtClean="0">
              <a:latin typeface="Segoe UI Symbol" panose="020B0502040204020203" pitchFamily="34" charset="0"/>
            </a:endParaRPr>
          </a:p>
          <a:p>
            <a:pPr eaLnBrk="1" hangingPunct="1"/>
            <a:endParaRPr lang="fr-FR" sz="2200" u="sng" dirty="0">
              <a:latin typeface="Segoe UI Symbol" panose="020B0502040204020203" pitchFamily="34" charset="0"/>
              <a:cs typeface="Segoe UI" panose="020B0502040204020203" pitchFamily="34" charset="0"/>
            </a:endParaRPr>
          </a:p>
          <a:p>
            <a:pPr marL="438150" indent="-285750">
              <a:buFont typeface="Wingdings" panose="05000000000000000000" pitchFamily="2" charset="2"/>
              <a:buChar char="§"/>
            </a:pP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La </a:t>
            </a:r>
            <a:r>
              <a:rPr lang="fr-FR" b="1" dirty="0" smtClean="0">
                <a:latin typeface="Segoe UI" panose="020B0502040204020203" pitchFamily="34" charset="0"/>
                <a:cs typeface="Segoe UI" panose="020B0502040204020203" pitchFamily="34" charset="0"/>
              </a:rPr>
              <a:t>Line</a:t>
            </a:r>
            <a:r>
              <a:rPr lang="fr-FR" dirty="0">
                <a:latin typeface="Segoe UI" panose="020B0502040204020203" pitchFamily="34" charset="0"/>
                <a:cs typeface="Segoe UI" panose="020B0502040204020203" pitchFamily="34" charset="0"/>
              </a:rPr>
              <a:t> dérive de la </a:t>
            </a:r>
            <a:r>
              <a:rPr lang="fr-FR" b="1" dirty="0">
                <a:latin typeface="Segoe UI" panose="020B0502040204020203" pitchFamily="34" charset="0"/>
                <a:cs typeface="Segoe UI" panose="020B0502040204020203" pitchFamily="34" charset="0"/>
              </a:rPr>
              <a:t>Shape</a:t>
            </a:r>
            <a:r>
              <a:rPr lang="fr-FR" dirty="0">
                <a:latin typeface="Segoe UI" panose="020B0502040204020203" pitchFamily="34" charset="0"/>
                <a:cs typeface="Segoe UI" panose="020B0502040204020203" pitchFamily="34" charset="0"/>
              </a:rPr>
              <a:t> classe et peut être utilisée pour dessiner des </a:t>
            </a:r>
            <a:r>
              <a:rPr lang="fr-FR" dirty="0" smtClean="0">
                <a:latin typeface="Segoe UI" panose="020B0502040204020203" pitchFamily="34" charset="0"/>
                <a:cs typeface="Segoe UI" panose="020B0502040204020203" pitchFamily="34" charset="0"/>
              </a:rPr>
              <a:t>lignes</a:t>
            </a:r>
          </a:p>
          <a:p>
            <a:pPr marL="438150" indent="-285750">
              <a:buFont typeface="Wingdings" panose="05000000000000000000" pitchFamily="2" charset="2"/>
              <a:buChar char="§"/>
            </a:pPr>
            <a:endParaRPr lang="fr-FR" dirty="0">
              <a:latin typeface="Segoe UI" panose="020B0502040204020203" pitchFamily="34" charset="0"/>
              <a:cs typeface="Segoe UI" panose="020B0502040204020203" pitchFamily="34" charset="0"/>
            </a:endParaRPr>
          </a:p>
          <a:p>
            <a:r>
              <a:rPr lang="fr-FR" dirty="0" smtClean="0">
                <a:latin typeface="Segoe UI" panose="020B0502040204020203" pitchFamily="34" charset="0"/>
                <a:cs typeface="Segoe UI" panose="020B0502040204020203" pitchFamily="34" charset="0"/>
              </a:rPr>
              <a:t>La Line</a:t>
            </a:r>
            <a:r>
              <a:rPr lang="fr-FR" dirty="0">
                <a:latin typeface="Segoe UI" panose="020B0502040204020203" pitchFamily="34" charset="0"/>
                <a:cs typeface="Segoe UI" panose="020B0502040204020203" pitchFamily="34" charset="0"/>
              </a:rPr>
              <a:t> définit les propriétés suivantes :</a:t>
            </a:r>
          </a:p>
          <a:p>
            <a:pPr lvl="1"/>
            <a:r>
              <a:rPr lang="fr-FR" b="1" dirty="0" smtClean="0">
                <a:latin typeface="Segoe UI" panose="020B0502040204020203" pitchFamily="34" charset="0"/>
                <a:cs typeface="Segoe UI" panose="020B0502040204020203" pitchFamily="34" charset="0"/>
              </a:rPr>
              <a:t>X1</a:t>
            </a:r>
            <a:r>
              <a:rPr lang="fr-FR" b="1" dirty="0">
                <a:latin typeface="Segoe UI" panose="020B0502040204020203" pitchFamily="34" charset="0"/>
                <a:cs typeface="Segoe UI" panose="020B0502040204020203" pitchFamily="34" charset="0"/>
              </a:rPr>
              <a:t>:</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double, indique la coordonnée x du point de départ de la ligne. La valeur par défaut de cette propriété est 0,0.</a:t>
            </a:r>
          </a:p>
          <a:p>
            <a:pPr lvl="1"/>
            <a:r>
              <a:rPr lang="fr-FR" b="1" dirty="0" smtClean="0">
                <a:latin typeface="Segoe UI" panose="020B0502040204020203" pitchFamily="34" charset="0"/>
                <a:cs typeface="Segoe UI" panose="020B0502040204020203" pitchFamily="34" charset="0"/>
              </a:rPr>
              <a:t>Y1</a:t>
            </a:r>
            <a:r>
              <a:rPr lang="fr-FR" b="1" dirty="0">
                <a:latin typeface="Segoe UI" panose="020B0502040204020203" pitchFamily="34" charset="0"/>
                <a:cs typeface="Segoe UI" panose="020B0502040204020203" pitchFamily="34" charset="0"/>
              </a:rPr>
              <a:t>:</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double, indique la coordonnée y du point de départ de la ligne. La valeur par défaut de cette propriété est 0,0.</a:t>
            </a:r>
          </a:p>
          <a:p>
            <a:pPr lvl="1"/>
            <a:r>
              <a:rPr lang="fr-FR" b="1" dirty="0" smtClean="0">
                <a:latin typeface="Segoe UI" panose="020B0502040204020203" pitchFamily="34" charset="0"/>
                <a:cs typeface="Segoe UI" panose="020B0502040204020203" pitchFamily="34" charset="0"/>
              </a:rPr>
              <a:t>X2</a:t>
            </a:r>
            <a:r>
              <a:rPr lang="fr-FR" b="1" dirty="0">
                <a:latin typeface="Segoe UI" panose="020B0502040204020203" pitchFamily="34" charset="0"/>
                <a:cs typeface="Segoe UI" panose="020B0502040204020203" pitchFamily="34" charset="0"/>
              </a:rPr>
              <a:t>:</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double, indique la coordonnée x du point de terminaison de la ligne. La valeur par défaut de cette propriété est 0,0.</a:t>
            </a:r>
          </a:p>
          <a:p>
            <a:pPr lvl="1"/>
            <a:r>
              <a:rPr lang="fr-FR" b="1" dirty="0" smtClean="0">
                <a:latin typeface="Segoe UI" panose="020B0502040204020203" pitchFamily="34" charset="0"/>
                <a:cs typeface="Segoe UI" panose="020B0502040204020203" pitchFamily="34" charset="0"/>
              </a:rPr>
              <a:t>Y2</a:t>
            </a:r>
            <a:r>
              <a:rPr lang="fr-FR" b="1" dirty="0">
                <a:latin typeface="Segoe UI" panose="020B0502040204020203" pitchFamily="34" charset="0"/>
                <a:cs typeface="Segoe UI" panose="020B0502040204020203" pitchFamily="34" charset="0"/>
              </a:rPr>
              <a:t>:</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de type double, indique la coordonnée y du point de terminaison de la ligne. La valeur par défaut de cette propriété est 0,0.</a:t>
            </a:r>
          </a:p>
          <a:p>
            <a:pPr marL="438150" indent="-285750">
              <a:buFont typeface="Wingdings" panose="05000000000000000000" pitchFamily="2" charset="2"/>
              <a:buChar char="§"/>
            </a:pPr>
            <a:endParaRPr lang="fr-FR" dirty="0" smtClean="0">
              <a:latin typeface="Segoe UI" panose="020B0502040204020203" pitchFamily="34" charset="0"/>
              <a:cs typeface="Segoe UI" panose="020B0502040204020203" pitchFamily="34" charset="0"/>
            </a:endParaRPr>
          </a:p>
        </p:txBody>
      </p:sp>
      <p:pic>
        <p:nvPicPr>
          <p:cNvPr id="4" name="Image 3"/>
          <p:cNvPicPr>
            <a:picLocks noChangeAspect="1"/>
          </p:cNvPicPr>
          <p:nvPr/>
        </p:nvPicPr>
        <p:blipFill>
          <a:blip r:embed="rId2"/>
          <a:stretch>
            <a:fillRect/>
          </a:stretch>
        </p:blipFill>
        <p:spPr>
          <a:xfrm>
            <a:off x="6095997" y="-3164750"/>
            <a:ext cx="5" cy="13187500"/>
          </a:xfrm>
          <a:prstGeom prst="rect">
            <a:avLst/>
          </a:prstGeom>
        </p:spPr>
      </p:pic>
    </p:spTree>
    <p:extLst>
      <p:ext uri="{BB962C8B-B14F-4D97-AF65-F5344CB8AC3E}">
        <p14:creationId xmlns:p14="http://schemas.microsoft.com/office/powerpoint/2010/main" val="4107657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70485" y="610660"/>
            <a:ext cx="10869739" cy="289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Chemins-Le Path</a:t>
            </a:r>
            <a:endParaRPr lang="fr-FR" altLang="en-US" sz="2200" u="sng" dirty="0" smtClean="0">
              <a:latin typeface="Segoe UI Symbol" panose="020B0502040204020203" pitchFamily="34" charset="0"/>
            </a:endParaRPr>
          </a:p>
          <a:p>
            <a:pPr eaLnBrk="1" hangingPunct="1"/>
            <a:endParaRPr lang="fr-FR" sz="2200" u="sng" dirty="0">
              <a:latin typeface="Segoe UI Symbol" panose="020B0502040204020203" pitchFamily="34" charset="0"/>
              <a:cs typeface="Segoe UI" panose="020B0502040204020203" pitchFamily="34" charset="0"/>
            </a:endParaRPr>
          </a:p>
          <a:p>
            <a:pPr marL="438150" indent="-285750">
              <a:buFont typeface="Wingdings" panose="05000000000000000000" pitchFamily="2" charset="2"/>
              <a:buChar char="§"/>
            </a:pPr>
            <a:r>
              <a:rPr lang="fr-FR" dirty="0">
                <a:latin typeface="Segoe UI" panose="020B0502040204020203" pitchFamily="34" charset="0"/>
                <a:cs typeface="Segoe UI" panose="020B0502040204020203" pitchFamily="34" charset="0"/>
              </a:rPr>
              <a:t> </a:t>
            </a:r>
            <a:r>
              <a:rPr lang="fr-FR" dirty="0"/>
              <a:t> </a:t>
            </a:r>
            <a:r>
              <a:rPr lang="fr-FR" dirty="0" smtClean="0">
                <a:latin typeface="Segoe UI" panose="020B0502040204020203" pitchFamily="34" charset="0"/>
                <a:cs typeface="Segoe UI" panose="020B0502040204020203" pitchFamily="34" charset="0"/>
              </a:rPr>
              <a:t>Le </a:t>
            </a:r>
            <a:r>
              <a:rPr lang="fr-FR" b="1" dirty="0" smtClean="0">
                <a:latin typeface="Segoe UI" panose="020B0502040204020203" pitchFamily="34" charset="0"/>
                <a:cs typeface="Segoe UI" panose="020B0502040204020203" pitchFamily="34" charset="0"/>
              </a:rPr>
              <a:t>Path</a:t>
            </a:r>
            <a:r>
              <a:rPr lang="fr-FR" dirty="0">
                <a:latin typeface="Segoe UI" panose="020B0502040204020203" pitchFamily="34" charset="0"/>
                <a:cs typeface="Segoe UI" panose="020B0502040204020203" pitchFamily="34" charset="0"/>
              </a:rPr>
              <a:t> dérive de la </a:t>
            </a:r>
            <a:r>
              <a:rPr lang="fr-FR" dirty="0" smtClean="0">
                <a:latin typeface="Segoe UI" panose="020B0502040204020203" pitchFamily="34" charset="0"/>
                <a:cs typeface="Segoe UI" panose="020B0502040204020203" pitchFamily="34" charset="0"/>
              </a:rPr>
              <a:t>classe </a:t>
            </a:r>
            <a:r>
              <a:rPr lang="fr-FR" b="1" dirty="0" smtClean="0">
                <a:latin typeface="Segoe UI" panose="020B0502040204020203" pitchFamily="34" charset="0"/>
                <a:cs typeface="Segoe UI" panose="020B0502040204020203" pitchFamily="34" charset="0"/>
              </a:rPr>
              <a:t>Shape</a:t>
            </a: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et peut être utilisée pour dessiner des courbes et des formes </a:t>
            </a:r>
            <a:r>
              <a:rPr lang="fr-FR" dirty="0" smtClean="0">
                <a:latin typeface="Segoe UI" panose="020B0502040204020203" pitchFamily="34" charset="0"/>
                <a:cs typeface="Segoe UI" panose="020B0502040204020203" pitchFamily="34" charset="0"/>
              </a:rPr>
              <a:t>complexes</a:t>
            </a:r>
          </a:p>
          <a:p>
            <a:pPr marL="438150" indent="-285750">
              <a:buFont typeface="Wingdings" panose="05000000000000000000" pitchFamily="2" charset="2"/>
              <a:buChar char="§"/>
            </a:pPr>
            <a:endParaRPr lang="fr-FR" dirty="0">
              <a:latin typeface="Segoe UI" panose="020B0502040204020203" pitchFamily="34" charset="0"/>
              <a:cs typeface="Segoe UI" panose="020B0502040204020203" pitchFamily="34" charset="0"/>
            </a:endParaRPr>
          </a:p>
          <a:p>
            <a:pPr marL="438150" indent="-285750">
              <a:buFont typeface="Wingdings" panose="05000000000000000000" pitchFamily="2" charset="2"/>
              <a:buChar char="§"/>
            </a:pPr>
            <a:r>
              <a:rPr lang="fr-FR" dirty="0">
                <a:latin typeface="Segoe UI" panose="020B0502040204020203" pitchFamily="34" charset="0"/>
                <a:cs typeface="Segoe UI" panose="020B0502040204020203" pitchFamily="34" charset="0"/>
              </a:rPr>
              <a:t>Path définit les propriétés suivantes :</a:t>
            </a:r>
          </a:p>
          <a:p>
            <a:pPr marL="438150" indent="-285750">
              <a:buFont typeface="Wingdings" panose="05000000000000000000" pitchFamily="2" charset="2"/>
              <a:buChar char="§"/>
            </a:pPr>
            <a:endParaRPr lang="fr-FR" dirty="0">
              <a:latin typeface="Segoe UI" panose="020B0502040204020203" pitchFamily="34" charset="0"/>
              <a:cs typeface="Segoe UI" panose="020B0502040204020203" pitchFamily="34" charset="0"/>
            </a:endParaRPr>
          </a:p>
          <a:p>
            <a:pPr marL="865188" lvl="1" indent="-285750">
              <a:buFont typeface="Wingdings" panose="05000000000000000000" pitchFamily="2" charset="2"/>
              <a:buChar char="§"/>
            </a:pPr>
            <a:r>
              <a:rPr lang="fr-FR" b="1" dirty="0">
                <a:latin typeface="Segoe UI" panose="020B0502040204020203" pitchFamily="34" charset="0"/>
                <a:cs typeface="Segoe UI" panose="020B0502040204020203" pitchFamily="34" charset="0"/>
              </a:rPr>
              <a:t>Data</a:t>
            </a:r>
            <a:r>
              <a:rPr lang="fr-FR" dirty="0">
                <a:latin typeface="Segoe UI" panose="020B0502040204020203" pitchFamily="34" charset="0"/>
                <a:cs typeface="Segoe UI" panose="020B0502040204020203" pitchFamily="34" charset="0"/>
              </a:rPr>
              <a:t>: de type </a:t>
            </a:r>
            <a:r>
              <a:rPr lang="fr-FR" b="1" dirty="0" err="1">
                <a:latin typeface="Segoe UI" panose="020B0502040204020203" pitchFamily="34" charset="0"/>
                <a:cs typeface="Segoe UI" panose="020B0502040204020203" pitchFamily="34" charset="0"/>
              </a:rPr>
              <a:t>Geometry</a:t>
            </a:r>
            <a:r>
              <a:rPr lang="fr-FR" dirty="0">
                <a:latin typeface="Segoe UI" panose="020B0502040204020203" pitchFamily="34" charset="0"/>
                <a:cs typeface="Segoe UI" panose="020B0502040204020203" pitchFamily="34" charset="0"/>
              </a:rPr>
              <a:t>, qui spécifie la forme à dessiner.</a:t>
            </a:r>
          </a:p>
          <a:p>
            <a:pPr marL="865188" lvl="1" indent="-285750">
              <a:buFont typeface="Wingdings" panose="05000000000000000000" pitchFamily="2" charset="2"/>
              <a:buChar char="§"/>
            </a:pPr>
            <a:r>
              <a:rPr lang="fr-FR" b="1" dirty="0" err="1">
                <a:latin typeface="Segoe UI" panose="020B0502040204020203" pitchFamily="34" charset="0"/>
                <a:cs typeface="Segoe UI" panose="020B0502040204020203" pitchFamily="34" charset="0"/>
              </a:rPr>
              <a:t>RenderTransform</a:t>
            </a:r>
            <a:r>
              <a:rPr lang="fr-FR" dirty="0">
                <a:latin typeface="Segoe UI" panose="020B0502040204020203" pitchFamily="34" charset="0"/>
                <a:cs typeface="Segoe UI" panose="020B0502040204020203" pitchFamily="34" charset="0"/>
              </a:rPr>
              <a:t>: de type </a:t>
            </a:r>
            <a:r>
              <a:rPr lang="fr-FR" b="1" dirty="0" err="1">
                <a:latin typeface="Segoe UI" panose="020B0502040204020203" pitchFamily="34" charset="0"/>
                <a:cs typeface="Segoe UI" panose="020B0502040204020203" pitchFamily="34" charset="0"/>
              </a:rPr>
              <a:t>Transform</a:t>
            </a:r>
            <a:r>
              <a:rPr lang="fr-FR" dirty="0">
                <a:latin typeface="Segoe UI" panose="020B0502040204020203" pitchFamily="34" charset="0"/>
                <a:cs typeface="Segoe UI" panose="020B0502040204020203" pitchFamily="34" charset="0"/>
              </a:rPr>
              <a:t>, qui représente la transformation appliquée à la géométrie d’un chemin d’accès avant son dessin.</a:t>
            </a:r>
            <a:endParaRPr lang="fr-FR" dirty="0" smtClean="0">
              <a:latin typeface="Segoe UI" panose="020B0502040204020203" pitchFamily="34" charset="0"/>
              <a:cs typeface="Segoe UI" panose="020B0502040204020203" pitchFamily="34" charset="0"/>
            </a:endParaRPr>
          </a:p>
        </p:txBody>
      </p:sp>
      <p:pic>
        <p:nvPicPr>
          <p:cNvPr id="4" name="Image 3"/>
          <p:cNvPicPr>
            <a:picLocks noChangeAspect="1"/>
          </p:cNvPicPr>
          <p:nvPr/>
        </p:nvPicPr>
        <p:blipFill>
          <a:blip r:embed="rId2"/>
          <a:stretch>
            <a:fillRect/>
          </a:stretch>
        </p:blipFill>
        <p:spPr>
          <a:xfrm>
            <a:off x="6095997" y="-3164750"/>
            <a:ext cx="5" cy="13187500"/>
          </a:xfrm>
          <a:prstGeom prst="rect">
            <a:avLst/>
          </a:prstGeom>
        </p:spPr>
      </p:pic>
    </p:spTree>
    <p:extLst>
      <p:ext uri="{BB962C8B-B14F-4D97-AF65-F5344CB8AC3E}">
        <p14:creationId xmlns:p14="http://schemas.microsoft.com/office/powerpoint/2010/main" val="2722673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70485" y="610660"/>
            <a:ext cx="10869739"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Chemins-Le Path</a:t>
            </a:r>
            <a:endParaRPr lang="fr-FR" altLang="en-US" sz="2200" u="sng" dirty="0" smtClean="0">
              <a:latin typeface="Segoe UI Symbol" panose="020B0502040204020203" pitchFamily="34" charset="0"/>
            </a:endParaRPr>
          </a:p>
          <a:p>
            <a:pPr eaLnBrk="1" hangingPunct="1"/>
            <a:endParaRPr lang="fr-FR" sz="2200" u="sng" dirty="0">
              <a:latin typeface="Segoe UI Symbol" panose="020B0502040204020203" pitchFamily="34" charset="0"/>
              <a:cs typeface="Segoe UI" panose="020B0502040204020203" pitchFamily="34" charset="0"/>
            </a:endParaRPr>
          </a:p>
          <a:p>
            <a:pPr marL="438150" indent="-285750">
              <a:buFont typeface="Wingdings" panose="05000000000000000000" pitchFamily="2" charset="2"/>
              <a:buChar char="§"/>
            </a:pPr>
            <a:r>
              <a:rPr lang="fr-FR" dirty="0">
                <a:latin typeface="Segoe UI" panose="020B0502040204020203" pitchFamily="34" charset="0"/>
                <a:cs typeface="Segoe UI" panose="020B0502040204020203" pitchFamily="34" charset="0"/>
              </a:rPr>
              <a:t> </a:t>
            </a:r>
            <a:r>
              <a:rPr lang="fr-FR" dirty="0"/>
              <a:t> </a:t>
            </a:r>
            <a:r>
              <a:rPr lang="fr-FR" dirty="0" smtClean="0">
                <a:latin typeface="Segoe UI" panose="020B0502040204020203" pitchFamily="34" charset="0"/>
                <a:cs typeface="Segoe UI" panose="020B0502040204020203" pitchFamily="34" charset="0"/>
              </a:rPr>
              <a:t>Voici un exemple de </a:t>
            </a:r>
            <a:r>
              <a:rPr lang="fr-FR" b="1" dirty="0" smtClean="0">
                <a:latin typeface="Segoe UI" panose="020B0502040204020203" pitchFamily="34" charset="0"/>
                <a:cs typeface="Segoe UI" panose="020B0502040204020203" pitchFamily="34" charset="0"/>
              </a:rPr>
              <a:t>Path</a:t>
            </a:r>
            <a:r>
              <a:rPr lang="fr-FR" dirty="0">
                <a:latin typeface="Segoe UI" panose="020B0502040204020203" pitchFamily="34" charset="0"/>
                <a:cs typeface="Segoe UI" panose="020B0502040204020203" pitchFamily="34" charset="0"/>
              </a:rPr>
              <a:t> </a:t>
            </a:r>
            <a:endParaRPr lang="fr-FR" dirty="0" smtClean="0">
              <a:latin typeface="Segoe UI" panose="020B0502040204020203" pitchFamily="34" charset="0"/>
              <a:cs typeface="Segoe UI" panose="020B0502040204020203" pitchFamily="34" charset="0"/>
            </a:endParaRPr>
          </a:p>
        </p:txBody>
      </p:sp>
      <p:pic>
        <p:nvPicPr>
          <p:cNvPr id="4" name="Image 3"/>
          <p:cNvPicPr>
            <a:picLocks noChangeAspect="1"/>
          </p:cNvPicPr>
          <p:nvPr/>
        </p:nvPicPr>
        <p:blipFill>
          <a:blip r:embed="rId2"/>
          <a:stretch>
            <a:fillRect/>
          </a:stretch>
        </p:blipFill>
        <p:spPr>
          <a:xfrm>
            <a:off x="6095997" y="-3164750"/>
            <a:ext cx="5" cy="13187500"/>
          </a:xfrm>
          <a:prstGeom prst="rect">
            <a:avLst/>
          </a:prstGeom>
        </p:spPr>
      </p:pic>
      <p:sp>
        <p:nvSpPr>
          <p:cNvPr id="3" name="Rectangle 2"/>
          <p:cNvSpPr/>
          <p:nvPr/>
        </p:nvSpPr>
        <p:spPr>
          <a:xfrm>
            <a:off x="884349" y="1734826"/>
            <a:ext cx="6096000" cy="4247317"/>
          </a:xfrm>
          <a:prstGeom prst="rect">
            <a:avLst/>
          </a:prstGeom>
        </p:spPr>
        <p:txBody>
          <a:bodyPr>
            <a:spAutoFit/>
          </a:bodyPr>
          <a:lstStyle/>
          <a:p>
            <a:r>
              <a:rPr lang="fr-FR" sz="1000" dirty="0">
                <a:solidFill>
                  <a:srgbClr val="0000FF"/>
                </a:solidFill>
                <a:latin typeface="Cascadia Mono" panose="020B0609020000020004" pitchFamily="49" charset="0"/>
              </a:rPr>
              <a:t>&lt;</a:t>
            </a:r>
            <a:r>
              <a:rPr lang="fr-FR" sz="1000" dirty="0">
                <a:solidFill>
                  <a:srgbClr val="A31515"/>
                </a:solidFill>
                <a:latin typeface="Cascadia Mono" panose="020B0609020000020004" pitchFamily="49" charset="0"/>
              </a:rPr>
              <a:t>Path</a:t>
            </a:r>
            <a:r>
              <a:rPr lang="fr-FR" sz="1000" dirty="0">
                <a:solidFill>
                  <a:srgbClr val="FF0000"/>
                </a:solidFill>
                <a:latin typeface="Cascadia Mono" panose="020B0609020000020004" pitchFamily="49" charset="0"/>
              </a:rPr>
              <a:t> Data</a:t>
            </a:r>
            <a:r>
              <a:rPr lang="fr-FR" sz="1000" dirty="0">
                <a:solidFill>
                  <a:srgbClr val="0000FF"/>
                </a:solidFill>
                <a:latin typeface="Cascadia Mono" panose="020B0609020000020004" pitchFamily="49" charset="0"/>
              </a:rPr>
              <a:t>="M109.47,47.96c-3.14,2.32-6.16,3.96-7.04,8.01c-1.07,</a:t>
            </a:r>
            <a:endParaRPr lang="fr-FR" sz="1000" dirty="0">
              <a:solidFill>
                <a:srgbClr val="000000"/>
              </a:solidFill>
              <a:latin typeface="Cascadia Mono" panose="020B0609020000020004" pitchFamily="49" charset="0"/>
            </a:endParaRPr>
          </a:p>
          <a:p>
            <a:r>
              <a:rPr lang="fr-FR" sz="1000" dirty="0">
                <a:solidFill>
                  <a:srgbClr val="0000FF"/>
                </a:solidFill>
                <a:latin typeface="Cascadia Mono" panose="020B0609020000020004" pitchFamily="49" charset="0"/>
              </a:rPr>
              <a:t>          4.9,4.24,12.08,3.87,20.77 c-0.72,16.64-11.6,</a:t>
            </a:r>
            <a:endParaRPr lang="fr-FR" sz="1000" dirty="0">
              <a:solidFill>
                <a:srgbClr val="000000"/>
              </a:solidFill>
              <a:latin typeface="Cascadia Mono" panose="020B0609020000020004" pitchFamily="49" charset="0"/>
            </a:endParaRPr>
          </a:p>
          <a:p>
            <a:r>
              <a:rPr lang="fr-FR" sz="1000" dirty="0">
                <a:solidFill>
                  <a:srgbClr val="0000FF"/>
                </a:solidFill>
                <a:latin typeface="Cascadia Mono" panose="020B0609020000020004" pitchFamily="49" charset="0"/>
              </a:rPr>
              <a:t>          26.55-31.04,26.56c-9.38,0.01-19.49-1.6-26.77,</a:t>
            </a:r>
            <a:endParaRPr lang="fr-FR" sz="1000" dirty="0">
              <a:solidFill>
                <a:srgbClr val="000000"/>
              </a:solidFill>
              <a:latin typeface="Cascadia Mono" panose="020B0609020000020004" pitchFamily="49" charset="0"/>
            </a:endParaRPr>
          </a:p>
          <a:p>
            <a:r>
              <a:rPr lang="fr-FR" sz="1000" dirty="0">
                <a:solidFill>
                  <a:srgbClr val="0000FF"/>
                </a:solidFill>
                <a:latin typeface="Cascadia Mono" panose="020B0609020000020004" pitchFamily="49" charset="0"/>
              </a:rPr>
              <a:t>          1.03c-7.97,2.88-12.98,9.85-17.83,</a:t>
            </a:r>
            <a:endParaRPr lang="fr-FR" sz="1000" dirty="0">
              <a:solidFill>
                <a:srgbClr val="000000"/>
              </a:solidFill>
              <a:latin typeface="Cascadia Mono" panose="020B0609020000020004" pitchFamily="49" charset="0"/>
            </a:endParaRPr>
          </a:p>
          <a:p>
            <a:r>
              <a:rPr lang="fr-FR" sz="1000" dirty="0">
                <a:solidFill>
                  <a:srgbClr val="0000FF"/>
                </a:solidFill>
                <a:latin typeface="Cascadia Mono" panose="020B0609020000020004" pitchFamily="49" charset="0"/>
              </a:rPr>
              <a:t>          18.55 c-6.86-0.62-9.15-4.39-8.21-11.54c-10.13,</a:t>
            </a:r>
            <a:endParaRPr lang="fr-FR" sz="1000" dirty="0">
              <a:solidFill>
                <a:srgbClr val="000000"/>
              </a:solidFill>
              <a:latin typeface="Cascadia Mono" panose="020B0609020000020004" pitchFamily="49" charset="0"/>
            </a:endParaRPr>
          </a:p>
          <a:p>
            <a:r>
              <a:rPr lang="fr-FR" sz="1000" dirty="0">
                <a:solidFill>
                  <a:srgbClr val="0000FF"/>
                </a:solidFill>
                <a:latin typeface="Cascadia Mono" panose="020B0609020000020004" pitchFamily="49" charset="0"/>
              </a:rPr>
              <a:t>          12.32-24.4-7.44-12.94-17.33C2.4,90.45-1.47,84.87,0.52,</a:t>
            </a:r>
            <a:endParaRPr lang="fr-FR" sz="1000" dirty="0">
              <a:solidFill>
                <a:srgbClr val="000000"/>
              </a:solidFill>
              <a:latin typeface="Cascadia Mono" panose="020B0609020000020004" pitchFamily="49" charset="0"/>
            </a:endParaRPr>
          </a:p>
          <a:p>
            <a:r>
              <a:rPr lang="fr-FR" sz="1000" dirty="0">
                <a:solidFill>
                  <a:srgbClr val="0000FF"/>
                </a:solidFill>
                <a:latin typeface="Cascadia Mono" panose="020B0609020000020004" pitchFamily="49" charset="0"/>
              </a:rPr>
              <a:t>          75.65 c12.57,15.74,30.65,14.23,51.53,</a:t>
            </a:r>
            <a:endParaRPr lang="fr-FR" sz="1000" dirty="0">
              <a:solidFill>
                <a:srgbClr val="000000"/>
              </a:solidFill>
              <a:latin typeface="Cascadia Mono" panose="020B0609020000020004" pitchFamily="49" charset="0"/>
            </a:endParaRPr>
          </a:p>
          <a:p>
            <a:r>
              <a:rPr lang="fr-FR" sz="1000" dirty="0">
                <a:solidFill>
                  <a:srgbClr val="0000FF"/>
                </a:solidFill>
                <a:latin typeface="Cascadia Mono" panose="020B0609020000020004" pitchFamily="49" charset="0"/>
              </a:rPr>
              <a:t>          3.93c-18.16-2.92-30.89-12.12-33.05-33.55C12.8,32.64,</a:t>
            </a:r>
            <a:endParaRPr lang="fr-FR" sz="1000" dirty="0">
              <a:solidFill>
                <a:srgbClr val="000000"/>
              </a:solidFill>
              <a:latin typeface="Cascadia Mono" panose="020B0609020000020004" pitchFamily="49" charset="0"/>
            </a:endParaRPr>
          </a:p>
          <a:p>
            <a:r>
              <a:rPr lang="fr-FR" sz="1000" dirty="0">
                <a:solidFill>
                  <a:srgbClr val="0000FF"/>
                </a:solidFill>
                <a:latin typeface="Cascadia Mono" panose="020B0609020000020004" pitchFamily="49" charset="0"/>
              </a:rPr>
              <a:t>          12,19.56,18.34,6.88 c0.63-1.27,</a:t>
            </a:r>
            <a:endParaRPr lang="fr-FR" sz="1000" dirty="0">
              <a:solidFill>
                <a:srgbClr val="000000"/>
              </a:solidFill>
              <a:latin typeface="Cascadia Mono" panose="020B0609020000020004" pitchFamily="49" charset="0"/>
            </a:endParaRPr>
          </a:p>
          <a:p>
            <a:r>
              <a:rPr lang="fr-FR" sz="1000" dirty="0">
                <a:solidFill>
                  <a:srgbClr val="0000FF"/>
                </a:solidFill>
                <a:latin typeface="Cascadia Mono" panose="020B0609020000020004" pitchFamily="49" charset="0"/>
              </a:rPr>
              <a:t>          2.18-4.71,3.82-4.64c0.56,0.02,1.07,0.46,1.53,1.37C25.61,9.55,</a:t>
            </a:r>
            <a:endParaRPr lang="fr-FR" sz="1000" dirty="0">
              <a:solidFill>
                <a:srgbClr val="000000"/>
              </a:solidFill>
              <a:latin typeface="Cascadia Mono" panose="020B0609020000020004" pitchFamily="49" charset="0"/>
            </a:endParaRPr>
          </a:p>
          <a:p>
            <a:r>
              <a:rPr lang="fr-FR" sz="1000" dirty="0">
                <a:solidFill>
                  <a:srgbClr val="0000FF"/>
                </a:solidFill>
                <a:latin typeface="Cascadia Mono" panose="020B0609020000020004" pitchFamily="49" charset="0"/>
              </a:rPr>
              <a:t>          29.04,15.15,34.56,20 c17.55,15.4,34.38,10.86,49.77,</a:t>
            </a:r>
            <a:endParaRPr lang="fr-FR" sz="1000" dirty="0">
              <a:solidFill>
                <a:srgbClr val="000000"/>
              </a:solidFill>
              <a:latin typeface="Cascadia Mono" panose="020B0609020000020004" pitchFamily="49" charset="0"/>
            </a:endParaRPr>
          </a:p>
          <a:p>
            <a:r>
              <a:rPr lang="fr-FR" sz="1000" dirty="0">
                <a:solidFill>
                  <a:srgbClr val="0000FF"/>
                </a:solidFill>
                <a:latin typeface="Cascadia Mono" panose="020B0609020000020004" pitchFamily="49" charset="0"/>
              </a:rPr>
              <a:t>          37.17c0.12-0.81,0.23-1.64,0.34-2.46c-4.99-8.16-11.01-15.06-18.7-19.55 c-7.33-4.29-15.43-6.63-22.89-11.45c-5.39-3.48-10.41-7.23-14.02-12.47c1.31-1.16</a:t>
            </a:r>
            <a:endParaRPr lang="fr-FR" sz="1000" dirty="0">
              <a:solidFill>
                <a:srgbClr val="000000"/>
              </a:solidFill>
              <a:latin typeface="Cascadia Mono" panose="020B0609020000020004" pitchFamily="49" charset="0"/>
            </a:endParaRPr>
          </a:p>
          <a:p>
            <a:r>
              <a:rPr lang="fr-FR" sz="1000" dirty="0">
                <a:solidFill>
                  <a:srgbClr val="0000FF"/>
                </a:solidFill>
                <a:latin typeface="Cascadia Mono" panose="020B0609020000020004" pitchFamily="49" charset="0"/>
              </a:rPr>
              <a:t>          ,2.82-2.54,3.89-3.96 c1.53-2.04,2.07-4.07,3.79-6.03c0.75-0.85,1.61-1.51,2.39-1.16c0.66,0.3,1.22,1.24</a:t>
            </a:r>
            <a:endParaRPr lang="fr-FR" sz="1000" dirty="0">
              <a:solidFill>
                <a:srgbClr val="000000"/>
              </a:solidFill>
              <a:latin typeface="Cascadia Mono" panose="020B0609020000020004" pitchFamily="49" charset="0"/>
            </a:endParaRPr>
          </a:p>
          <a:p>
            <a:r>
              <a:rPr lang="fr-FR" sz="1000" dirty="0">
                <a:solidFill>
                  <a:srgbClr val="0000FF"/>
                </a:solidFill>
                <a:latin typeface="Cascadia Mono" panose="020B0609020000020004" pitchFamily="49" charset="0"/>
              </a:rPr>
              <a:t>          ,1.68,2.8c7.79,20.37,26.67,21.88,35.45,29.65 c3.84,3.4,</a:t>
            </a:r>
            <a:endParaRPr lang="fr-FR" sz="1000" dirty="0">
              <a:solidFill>
                <a:srgbClr val="000000"/>
              </a:solidFill>
              <a:latin typeface="Cascadia Mono" panose="020B0609020000020004" pitchFamily="49" charset="0"/>
            </a:endParaRPr>
          </a:p>
          <a:p>
            <a:r>
              <a:rPr lang="fr-FR" sz="1000" dirty="0">
                <a:solidFill>
                  <a:srgbClr val="0000FF"/>
                </a:solidFill>
                <a:latin typeface="Cascadia Mono" panose="020B0609020000020004" pitchFamily="49" charset="0"/>
              </a:rPr>
              <a:t>          7.2,8.62,9.56,14.85c0.26-1.16,0.57-2.3,0.97-3.4c1.88-5.16,</a:t>
            </a:r>
            <a:endParaRPr lang="fr-FR" sz="1000" dirty="0">
              <a:solidFill>
                <a:srgbClr val="000000"/>
              </a:solidFill>
              <a:latin typeface="Cascadia Mono" panose="020B0609020000020004" pitchFamily="49" charset="0"/>
            </a:endParaRPr>
          </a:p>
          <a:p>
            <a:r>
              <a:rPr lang="fr-FR" sz="1000" dirty="0">
                <a:solidFill>
                  <a:srgbClr val="0000FF"/>
                </a:solidFill>
                <a:latin typeface="Cascadia Mono" panose="020B0609020000020004" pitchFamily="49" charset="0"/>
              </a:rPr>
              <a:t>          6.13-9.94,12.12-9.14c1.49,0.2,2.96,0.76,4.31,1.69 c0.62,0.42,1.2</a:t>
            </a:r>
            <a:endParaRPr lang="fr-FR" sz="1000" dirty="0">
              <a:solidFill>
                <a:srgbClr val="000000"/>
              </a:solidFill>
              <a:latin typeface="Cascadia Mono" panose="020B0609020000020004" pitchFamily="49" charset="0"/>
            </a:endParaRPr>
          </a:p>
          <a:p>
            <a:r>
              <a:rPr lang="fr-FR" sz="1000" dirty="0">
                <a:solidFill>
                  <a:srgbClr val="0000FF"/>
                </a:solidFill>
                <a:latin typeface="Cascadia Mono" panose="020B0609020000020004" pitchFamily="49" charset="0"/>
              </a:rPr>
              <a:t>          ,0.93,1.76,1.52c0.83,0.89,1.59,1.97,2.26,3.27l1.92,1.66l1.09,</a:t>
            </a:r>
            <a:endParaRPr lang="fr-FR" sz="1000" dirty="0">
              <a:solidFill>
                <a:srgbClr val="000000"/>
              </a:solidFill>
              <a:latin typeface="Cascadia Mono" panose="020B0609020000020004" pitchFamily="49" charset="0"/>
            </a:endParaRPr>
          </a:p>
          <a:p>
            <a:r>
              <a:rPr lang="fr-FR" sz="1000" dirty="0">
                <a:solidFill>
                  <a:srgbClr val="0000FF"/>
                </a:solidFill>
                <a:latin typeface="Cascadia Mono" panose="020B0609020000020004" pitchFamily="49" charset="0"/>
              </a:rPr>
              <a:t>          0.95C114.07,47.04,112.58,45.66,109.47,47.96 L109.47,</a:t>
            </a:r>
            <a:endParaRPr lang="fr-FR" sz="1000" dirty="0">
              <a:solidFill>
                <a:srgbClr val="000000"/>
              </a:solidFill>
              <a:latin typeface="Cascadia Mono" panose="020B0609020000020004" pitchFamily="49" charset="0"/>
            </a:endParaRPr>
          </a:p>
          <a:p>
            <a:r>
              <a:rPr lang="fr-FR" sz="1000" dirty="0">
                <a:solidFill>
                  <a:srgbClr val="0000FF"/>
                </a:solidFill>
                <a:latin typeface="Cascadia Mono" panose="020B0609020000020004" pitchFamily="49" charset="0"/>
              </a:rPr>
              <a:t>          47.96z M101.18,40.56c0.79,0,1.44,0.64,1.44,1.44c0,</a:t>
            </a:r>
            <a:endParaRPr lang="fr-FR" sz="1000" dirty="0">
              <a:solidFill>
                <a:srgbClr val="000000"/>
              </a:solidFill>
              <a:latin typeface="Cascadia Mono" panose="020B0609020000020004" pitchFamily="49" charset="0"/>
            </a:endParaRPr>
          </a:p>
          <a:p>
            <a:r>
              <a:rPr lang="fr-FR" sz="1000" dirty="0">
                <a:solidFill>
                  <a:srgbClr val="0000FF"/>
                </a:solidFill>
                <a:latin typeface="Cascadia Mono" panose="020B0609020000020004" pitchFamily="49" charset="0"/>
              </a:rPr>
              <a:t>          0.79-0.64,1.44-1.44,1.44s-1.44-0.64-1.44-1.44 C99.74,</a:t>
            </a:r>
            <a:endParaRPr lang="fr-FR" sz="1000" dirty="0">
              <a:solidFill>
                <a:srgbClr val="000000"/>
              </a:solidFill>
              <a:latin typeface="Cascadia Mono" panose="020B0609020000020004" pitchFamily="49" charset="0"/>
            </a:endParaRPr>
          </a:p>
          <a:p>
            <a:r>
              <a:rPr lang="fr-FR" sz="1000" dirty="0">
                <a:solidFill>
                  <a:srgbClr val="0000FF"/>
                </a:solidFill>
                <a:latin typeface="Cascadia Mono" panose="020B0609020000020004" pitchFamily="49" charset="0"/>
              </a:rPr>
              <a:t>          41.2,100.39,40.56,101.18,40.56L101.18,40.56z"</a:t>
            </a:r>
            <a:endParaRPr lang="fr-FR" sz="1000" dirty="0">
              <a:solidFill>
                <a:srgbClr val="000000"/>
              </a:solidFill>
              <a:latin typeface="Cascadia Mono" panose="020B0609020000020004" pitchFamily="49" charset="0"/>
            </a:endParaRPr>
          </a:p>
          <a:p>
            <a:r>
              <a:rPr lang="fr-FR" sz="1000" dirty="0">
                <a:solidFill>
                  <a:srgbClr val="000000"/>
                </a:solidFill>
                <a:latin typeface="Cascadia Mono" panose="020B0609020000020004" pitchFamily="49" charset="0"/>
              </a:rPr>
              <a:t>     </a:t>
            </a:r>
            <a:r>
              <a:rPr lang="fr-FR" sz="1000" dirty="0">
                <a:solidFill>
                  <a:srgbClr val="FF0000"/>
                </a:solidFill>
                <a:latin typeface="Cascadia Mono" panose="020B0609020000020004" pitchFamily="49" charset="0"/>
              </a:rPr>
              <a:t> Stroke</a:t>
            </a:r>
            <a:r>
              <a:rPr lang="fr-FR" sz="1000" dirty="0">
                <a:solidFill>
                  <a:srgbClr val="0000FF"/>
                </a:solidFill>
                <a:latin typeface="Cascadia Mono" panose="020B0609020000020004" pitchFamily="49" charset="0"/>
              </a:rPr>
              <a:t>="</a:t>
            </a:r>
            <a:r>
              <a:rPr lang="fr-FR" sz="1000" dirty="0" err="1">
                <a:solidFill>
                  <a:srgbClr val="0000FF"/>
                </a:solidFill>
                <a:latin typeface="Cascadia Mono" panose="020B0609020000020004" pitchFamily="49" charset="0"/>
              </a:rPr>
              <a:t>red</a:t>
            </a:r>
            <a:r>
              <a:rPr lang="fr-FR" sz="1000" dirty="0">
                <a:solidFill>
                  <a:srgbClr val="0000FF"/>
                </a:solidFill>
                <a:latin typeface="Cascadia Mono" panose="020B0609020000020004" pitchFamily="49" charset="0"/>
              </a:rPr>
              <a:t>"</a:t>
            </a:r>
            <a:endParaRPr lang="fr-FR" sz="1000" dirty="0">
              <a:solidFill>
                <a:srgbClr val="000000"/>
              </a:solidFill>
              <a:latin typeface="Cascadia Mono" panose="020B0609020000020004" pitchFamily="49" charset="0"/>
            </a:endParaRPr>
          </a:p>
          <a:p>
            <a:r>
              <a:rPr lang="fr-FR" sz="1000" dirty="0">
                <a:solidFill>
                  <a:srgbClr val="000000"/>
                </a:solidFill>
                <a:latin typeface="Cascadia Mono" panose="020B0609020000020004" pitchFamily="49" charset="0"/>
              </a:rPr>
              <a:t>     </a:t>
            </a:r>
            <a:r>
              <a:rPr lang="fr-FR" sz="1000" dirty="0">
                <a:solidFill>
                  <a:srgbClr val="FF0000"/>
                </a:solidFill>
                <a:latin typeface="Cascadia Mono" panose="020B0609020000020004" pitchFamily="49" charset="0"/>
              </a:rPr>
              <a:t> </a:t>
            </a:r>
            <a:r>
              <a:rPr lang="fr-FR" sz="1000" dirty="0" err="1">
                <a:solidFill>
                  <a:srgbClr val="FF0000"/>
                </a:solidFill>
                <a:latin typeface="Cascadia Mono" panose="020B0609020000020004" pitchFamily="49" charset="0"/>
              </a:rPr>
              <a:t>Fill</a:t>
            </a:r>
            <a:r>
              <a:rPr lang="fr-FR" sz="1000" dirty="0">
                <a:solidFill>
                  <a:srgbClr val="0000FF"/>
                </a:solidFill>
                <a:latin typeface="Cascadia Mono" panose="020B0609020000020004" pitchFamily="49" charset="0"/>
              </a:rPr>
              <a:t>="</a:t>
            </a:r>
            <a:r>
              <a:rPr lang="fr-FR" sz="1000" dirty="0" err="1">
                <a:solidFill>
                  <a:srgbClr val="0000FF"/>
                </a:solidFill>
                <a:latin typeface="Cascadia Mono" panose="020B0609020000020004" pitchFamily="49" charset="0"/>
              </a:rPr>
              <a:t>red</a:t>
            </a:r>
            <a:r>
              <a:rPr lang="fr-FR" sz="1000" dirty="0">
                <a:solidFill>
                  <a:srgbClr val="0000FF"/>
                </a:solidFill>
                <a:latin typeface="Cascadia Mono" panose="020B0609020000020004" pitchFamily="49" charset="0"/>
              </a:rPr>
              <a:t>"</a:t>
            </a:r>
            <a:r>
              <a:rPr lang="fr-FR" sz="1000" dirty="0">
                <a:solidFill>
                  <a:srgbClr val="000000"/>
                </a:solidFill>
                <a:latin typeface="Cascadia Mono" panose="020B0609020000020004" pitchFamily="49" charset="0"/>
              </a:rPr>
              <a:t> </a:t>
            </a:r>
          </a:p>
          <a:p>
            <a:r>
              <a:rPr lang="fr-FR" sz="1000" dirty="0">
                <a:solidFill>
                  <a:srgbClr val="000000"/>
                </a:solidFill>
                <a:latin typeface="Cascadia Mono" panose="020B0609020000020004" pitchFamily="49" charset="0"/>
              </a:rPr>
              <a:t>      </a:t>
            </a:r>
          </a:p>
          <a:p>
            <a:r>
              <a:rPr lang="fr-FR" sz="1000" dirty="0">
                <a:solidFill>
                  <a:srgbClr val="000000"/>
                </a:solidFill>
                <a:latin typeface="Cascadia Mono" panose="020B0609020000020004" pitchFamily="49" charset="0"/>
              </a:rPr>
              <a:t>         </a:t>
            </a:r>
            <a:r>
              <a:rPr lang="fr-FR" sz="1000" dirty="0">
                <a:solidFill>
                  <a:srgbClr val="0000FF"/>
                </a:solidFill>
                <a:latin typeface="Cascadia Mono" panose="020B0609020000020004" pitchFamily="49" charset="0"/>
              </a:rPr>
              <a:t> /&gt;</a:t>
            </a:r>
            <a:endParaRPr lang="fr-FR" sz="1000" dirty="0"/>
          </a:p>
        </p:txBody>
      </p:sp>
      <p:pic>
        <p:nvPicPr>
          <p:cNvPr id="5" name="Image 4"/>
          <p:cNvPicPr>
            <a:picLocks noChangeAspect="1"/>
          </p:cNvPicPr>
          <p:nvPr/>
        </p:nvPicPr>
        <p:blipFill>
          <a:blip r:embed="rId3"/>
          <a:stretch>
            <a:fillRect/>
          </a:stretch>
        </p:blipFill>
        <p:spPr>
          <a:xfrm>
            <a:off x="8772953" y="751301"/>
            <a:ext cx="2489328" cy="5664491"/>
          </a:xfrm>
          <a:prstGeom prst="rect">
            <a:avLst/>
          </a:prstGeom>
        </p:spPr>
      </p:pic>
    </p:spTree>
    <p:extLst>
      <p:ext uri="{BB962C8B-B14F-4D97-AF65-F5344CB8AC3E}">
        <p14:creationId xmlns:p14="http://schemas.microsoft.com/office/powerpoint/2010/main" val="2645074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70485" y="610660"/>
            <a:ext cx="10869739"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Chemins-Le Path</a:t>
            </a:r>
            <a:endParaRPr lang="fr-FR" altLang="en-US" sz="2200" u="sng" dirty="0" smtClean="0">
              <a:latin typeface="Segoe UI Symbol" panose="020B0502040204020203" pitchFamily="34" charset="0"/>
            </a:endParaRPr>
          </a:p>
          <a:p>
            <a:pPr eaLnBrk="1" hangingPunct="1"/>
            <a:endParaRPr lang="fr-FR" sz="2200" u="sng" dirty="0">
              <a:latin typeface="Segoe UI Symbol" panose="020B0502040204020203" pitchFamily="34" charset="0"/>
              <a:cs typeface="Segoe UI" panose="020B0502040204020203" pitchFamily="34" charset="0"/>
            </a:endParaRPr>
          </a:p>
          <a:p>
            <a:pPr marL="438150" indent="-285750">
              <a:buFont typeface="Wingdings" panose="05000000000000000000" pitchFamily="2" charset="2"/>
              <a:buChar char="§"/>
            </a:pPr>
            <a:r>
              <a:rPr lang="fr-FR" dirty="0">
                <a:latin typeface="Segoe UI" panose="020B0502040204020203" pitchFamily="34" charset="0"/>
                <a:cs typeface="Segoe UI" panose="020B0502040204020203" pitchFamily="34" charset="0"/>
              </a:rPr>
              <a:t> </a:t>
            </a:r>
            <a:r>
              <a:rPr lang="fr-FR" dirty="0"/>
              <a:t> </a:t>
            </a:r>
            <a:r>
              <a:rPr lang="fr-FR" dirty="0" smtClean="0">
                <a:latin typeface="Segoe UI" panose="020B0502040204020203" pitchFamily="34" charset="0"/>
                <a:cs typeface="Segoe UI" panose="020B0502040204020203" pitchFamily="34" charset="0"/>
              </a:rPr>
              <a:t>La propriété </a:t>
            </a:r>
            <a:r>
              <a:rPr lang="fr-FR" b="1" dirty="0" err="1" smtClean="0">
                <a:latin typeface="Segoe UI" panose="020B0502040204020203" pitchFamily="34" charset="0"/>
                <a:cs typeface="Segoe UI" panose="020B0502040204020203" pitchFamily="34" charset="0"/>
              </a:rPr>
              <a:t>RenderTransform</a:t>
            </a:r>
            <a:r>
              <a:rPr lang="fr-FR" dirty="0" smtClean="0">
                <a:latin typeface="Segoe UI" panose="020B0502040204020203" pitchFamily="34" charset="0"/>
                <a:cs typeface="Segoe UI" panose="020B0502040204020203" pitchFamily="34" charset="0"/>
              </a:rPr>
              <a:t> permet d’appliquer une transformation</a:t>
            </a:r>
          </a:p>
          <a:p>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      sur le  </a:t>
            </a:r>
            <a:r>
              <a:rPr lang="fr-FR" b="1" dirty="0" smtClean="0">
                <a:latin typeface="Segoe UI" panose="020B0502040204020203" pitchFamily="34" charset="0"/>
                <a:cs typeface="Segoe UI" panose="020B0502040204020203" pitchFamily="34" charset="0"/>
              </a:rPr>
              <a:t>Path</a:t>
            </a:r>
            <a:r>
              <a:rPr lang="fr-FR" dirty="0">
                <a:latin typeface="Segoe UI" panose="020B0502040204020203" pitchFamily="34" charset="0"/>
                <a:cs typeface="Segoe UI" panose="020B0502040204020203" pitchFamily="34" charset="0"/>
              </a:rPr>
              <a:t> </a:t>
            </a:r>
            <a:endParaRPr lang="fr-FR" dirty="0" smtClean="0">
              <a:latin typeface="Segoe UI" panose="020B0502040204020203" pitchFamily="34" charset="0"/>
              <a:cs typeface="Segoe UI" panose="020B0502040204020203" pitchFamily="34" charset="0"/>
            </a:endParaRPr>
          </a:p>
        </p:txBody>
      </p:sp>
      <p:pic>
        <p:nvPicPr>
          <p:cNvPr id="5" name="Image 4"/>
          <p:cNvPicPr>
            <a:picLocks noChangeAspect="1"/>
          </p:cNvPicPr>
          <p:nvPr/>
        </p:nvPicPr>
        <p:blipFill>
          <a:blip r:embed="rId2"/>
          <a:stretch>
            <a:fillRect/>
          </a:stretch>
        </p:blipFill>
        <p:spPr>
          <a:xfrm>
            <a:off x="8289995" y="1099030"/>
            <a:ext cx="2489328" cy="5664491"/>
          </a:xfrm>
          <a:prstGeom prst="rect">
            <a:avLst/>
          </a:prstGeom>
        </p:spPr>
      </p:pic>
      <p:sp>
        <p:nvSpPr>
          <p:cNvPr id="6" name="Rectangle 5"/>
          <p:cNvSpPr/>
          <p:nvPr/>
        </p:nvSpPr>
        <p:spPr>
          <a:xfrm>
            <a:off x="813515" y="2075422"/>
            <a:ext cx="6096000" cy="738664"/>
          </a:xfrm>
          <a:prstGeom prst="rect">
            <a:avLst/>
          </a:prstGeom>
        </p:spPr>
        <p:txBody>
          <a:bodyPr>
            <a:spAutoFit/>
          </a:bodyPr>
          <a:lstStyle/>
          <a:p>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Path.RenderTransform</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ScaleTransform</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ScaleX</a:t>
            </a:r>
            <a:r>
              <a:rPr lang="fr-FR" sz="1400" dirty="0">
                <a:solidFill>
                  <a:srgbClr val="0000FF"/>
                </a:solidFill>
                <a:latin typeface="Cascadia Mono" panose="020B0609020000020004" pitchFamily="49" charset="0"/>
              </a:rPr>
              <a:t>="2"</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ScaleY</a:t>
            </a:r>
            <a:r>
              <a:rPr lang="fr-FR" sz="1400" dirty="0">
                <a:solidFill>
                  <a:srgbClr val="0000FF"/>
                </a:solidFill>
                <a:latin typeface="Cascadia Mono" panose="020B0609020000020004" pitchFamily="49" charset="0"/>
              </a:rPr>
              <a:t>="2</a:t>
            </a:r>
            <a:r>
              <a:rPr lang="fr-FR" sz="1400" dirty="0" smtClean="0">
                <a:solidFill>
                  <a:srgbClr val="0000FF"/>
                </a:solidFill>
                <a:latin typeface="Cascadia Mono" panose="020B0609020000020004" pitchFamily="49" charset="0"/>
              </a:rPr>
              <a:t>"/&gt;</a:t>
            </a:r>
            <a:endParaRPr lang="fr-FR" sz="1400" dirty="0" smtClean="0">
              <a:solidFill>
                <a:srgbClr val="000000"/>
              </a:solidFill>
              <a:latin typeface="Cascadia Mono" panose="020B0609020000020004" pitchFamily="49" charset="0"/>
            </a:endParaRPr>
          </a:p>
          <a:p>
            <a:r>
              <a:rPr lang="fr-FR" sz="1400" dirty="0" smtClean="0">
                <a:solidFill>
                  <a:srgbClr val="0000FF"/>
                </a:solidFill>
                <a:latin typeface="Cascadia Mono" panose="020B0609020000020004" pitchFamily="49" charset="0"/>
              </a:rPr>
              <a:t>&lt;/</a:t>
            </a:r>
            <a:r>
              <a:rPr lang="fr-FR" sz="1400" dirty="0" err="1" smtClean="0">
                <a:solidFill>
                  <a:srgbClr val="A31515"/>
                </a:solidFill>
                <a:latin typeface="Cascadia Mono" panose="020B0609020000020004" pitchFamily="49" charset="0"/>
              </a:rPr>
              <a:t>Path.RenderTransform</a:t>
            </a:r>
            <a:r>
              <a:rPr lang="fr-FR" sz="1400" dirty="0" smtClean="0">
                <a:solidFill>
                  <a:srgbClr val="0000FF"/>
                </a:solidFill>
                <a:latin typeface="Cascadia Mono" panose="020B0609020000020004" pitchFamily="49" charset="0"/>
              </a:rPr>
              <a:t>&gt;</a:t>
            </a:r>
            <a:endParaRPr lang="fr-FR" sz="1400" dirty="0"/>
          </a:p>
        </p:txBody>
      </p:sp>
      <p:pic>
        <p:nvPicPr>
          <p:cNvPr id="7" name="Image 6"/>
          <p:cNvPicPr>
            <a:picLocks noChangeAspect="1"/>
          </p:cNvPicPr>
          <p:nvPr/>
        </p:nvPicPr>
        <p:blipFill rotWithShape="1">
          <a:blip r:embed="rId2"/>
          <a:srcRect r="34565" b="76052"/>
          <a:stretch/>
        </p:blipFill>
        <p:spPr>
          <a:xfrm>
            <a:off x="8421432" y="2473833"/>
            <a:ext cx="3500082" cy="2914884"/>
          </a:xfrm>
          <a:prstGeom prst="rect">
            <a:avLst/>
          </a:prstGeom>
        </p:spPr>
      </p:pic>
      <p:sp>
        <p:nvSpPr>
          <p:cNvPr id="8" name="Rectangle 7"/>
          <p:cNvSpPr/>
          <p:nvPr/>
        </p:nvSpPr>
        <p:spPr>
          <a:xfrm>
            <a:off x="813515" y="3102314"/>
            <a:ext cx="6836536" cy="646331"/>
          </a:xfrm>
          <a:prstGeom prst="rect">
            <a:avLst/>
          </a:prstGeom>
        </p:spPr>
        <p:txBody>
          <a:bodyPr wrap="square">
            <a:spAutoFit/>
          </a:bodyPr>
          <a:lstStyle/>
          <a:p>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Path.RenderTransform</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RotateTransform</a:t>
            </a:r>
            <a:r>
              <a:rPr lang="fr-FR" sz="1200" dirty="0">
                <a:solidFill>
                  <a:srgbClr val="FF0000"/>
                </a:solidFill>
                <a:latin typeface="Cascadia Mono" panose="020B0609020000020004" pitchFamily="49" charset="0"/>
              </a:rPr>
              <a:t> Angle</a:t>
            </a:r>
            <a:r>
              <a:rPr lang="fr-FR" sz="1200" dirty="0">
                <a:solidFill>
                  <a:srgbClr val="0000FF"/>
                </a:solidFill>
                <a:latin typeface="Cascadia Mono" panose="020B0609020000020004" pitchFamily="49" charset="0"/>
              </a:rPr>
              <a:t>="90"</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CenterX</a:t>
            </a:r>
            <a:r>
              <a:rPr lang="fr-FR" sz="1200" dirty="0">
                <a:solidFill>
                  <a:srgbClr val="0000FF"/>
                </a:solidFill>
                <a:latin typeface="Cascadia Mono" panose="020B0609020000020004" pitchFamily="49" charset="0"/>
              </a:rPr>
              <a:t>="100"</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CenterY</a:t>
            </a:r>
            <a:r>
              <a:rPr lang="fr-FR" sz="1200" dirty="0">
                <a:solidFill>
                  <a:srgbClr val="0000FF"/>
                </a:solidFill>
                <a:latin typeface="Cascadia Mono" panose="020B0609020000020004" pitchFamily="49" charset="0"/>
              </a:rPr>
              <a:t>="200"/&gt;</a:t>
            </a:r>
            <a:endParaRPr lang="fr-FR" sz="1200" dirty="0">
              <a:solidFill>
                <a:srgbClr val="000000"/>
              </a:solidFill>
              <a:latin typeface="Cascadia Mono" panose="020B0609020000020004" pitchFamily="49" charset="0"/>
            </a:endParaRPr>
          </a:p>
          <a:p>
            <a:r>
              <a:rPr lang="fr-FR" sz="1200" dirty="0" smtClean="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Path.RenderTransform</a:t>
            </a:r>
            <a:r>
              <a:rPr lang="fr-FR" sz="1200" dirty="0">
                <a:solidFill>
                  <a:srgbClr val="0000FF"/>
                </a:solidFill>
                <a:latin typeface="Cascadia Mono" panose="020B0609020000020004" pitchFamily="49" charset="0"/>
              </a:rPr>
              <a:t>&gt;</a:t>
            </a:r>
            <a:endParaRPr lang="fr-FR" sz="1200" dirty="0"/>
          </a:p>
        </p:txBody>
      </p:sp>
      <p:pic>
        <p:nvPicPr>
          <p:cNvPr id="9" name="Image 8"/>
          <p:cNvPicPr>
            <a:picLocks noChangeAspect="1"/>
          </p:cNvPicPr>
          <p:nvPr/>
        </p:nvPicPr>
        <p:blipFill rotWithShape="1">
          <a:blip r:embed="rId3"/>
          <a:srcRect r="1793"/>
          <a:stretch/>
        </p:blipFill>
        <p:spPr>
          <a:xfrm>
            <a:off x="3190626" y="3748645"/>
            <a:ext cx="2469640" cy="2089257"/>
          </a:xfrm>
          <a:prstGeom prst="rect">
            <a:avLst/>
          </a:prstGeom>
        </p:spPr>
      </p:pic>
    </p:spTree>
    <p:extLst>
      <p:ext uri="{BB962C8B-B14F-4D97-AF65-F5344CB8AC3E}">
        <p14:creationId xmlns:p14="http://schemas.microsoft.com/office/powerpoint/2010/main" val="14612901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70485" y="610660"/>
            <a:ext cx="10869739"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Chemins-Le Path</a:t>
            </a:r>
            <a:endParaRPr lang="fr-FR" altLang="en-US" sz="2200" u="sng" dirty="0" smtClean="0">
              <a:latin typeface="Segoe UI Symbol" panose="020B0502040204020203" pitchFamily="34" charset="0"/>
            </a:endParaRPr>
          </a:p>
          <a:p>
            <a:pPr eaLnBrk="1" hangingPunct="1"/>
            <a:endParaRPr lang="fr-FR" sz="2200" u="sng" dirty="0">
              <a:latin typeface="Segoe UI Symbol" panose="020B0502040204020203" pitchFamily="34" charset="0"/>
              <a:cs typeface="Segoe UI" panose="020B0502040204020203" pitchFamily="34" charset="0"/>
            </a:endParaRPr>
          </a:p>
          <a:p>
            <a:pPr marL="438150" indent="-285750">
              <a:buFont typeface="Wingdings" panose="05000000000000000000" pitchFamily="2" charset="2"/>
              <a:buChar char="§"/>
            </a:pPr>
            <a:r>
              <a:rPr lang="fr-FR" dirty="0">
                <a:latin typeface="Segoe UI" panose="020B0502040204020203" pitchFamily="34" charset="0"/>
                <a:cs typeface="Segoe UI" panose="020B0502040204020203" pitchFamily="34" charset="0"/>
              </a:rPr>
              <a:t> </a:t>
            </a:r>
            <a:r>
              <a:rPr lang="fr-FR" dirty="0"/>
              <a:t> </a:t>
            </a:r>
            <a:r>
              <a:rPr lang="fr-FR" dirty="0" smtClean="0">
                <a:latin typeface="Segoe UI" panose="020B0502040204020203" pitchFamily="34" charset="0"/>
                <a:cs typeface="Segoe UI" panose="020B0502040204020203" pitchFamily="34" charset="0"/>
              </a:rPr>
              <a:t>La propriété </a:t>
            </a:r>
            <a:r>
              <a:rPr lang="fr-FR" b="1" dirty="0" err="1" smtClean="0">
                <a:latin typeface="Segoe UI" panose="020B0502040204020203" pitchFamily="34" charset="0"/>
                <a:cs typeface="Segoe UI" panose="020B0502040204020203" pitchFamily="34" charset="0"/>
              </a:rPr>
              <a:t>CompositeTransform</a:t>
            </a:r>
            <a:r>
              <a:rPr lang="fr-FR" dirty="0" smtClean="0">
                <a:latin typeface="Segoe UI" panose="020B0502040204020203" pitchFamily="34" charset="0"/>
                <a:cs typeface="Segoe UI" panose="020B0502040204020203" pitchFamily="34" charset="0"/>
              </a:rPr>
              <a:t> permet d’appliquer une combinaison de transformations</a:t>
            </a:r>
          </a:p>
          <a:p>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      sur le  </a:t>
            </a:r>
            <a:r>
              <a:rPr lang="fr-FR" b="1" dirty="0" smtClean="0">
                <a:latin typeface="Segoe UI" panose="020B0502040204020203" pitchFamily="34" charset="0"/>
                <a:cs typeface="Segoe UI" panose="020B0502040204020203" pitchFamily="34" charset="0"/>
              </a:rPr>
              <a:t>Path</a:t>
            </a:r>
            <a:r>
              <a:rPr lang="fr-FR" dirty="0">
                <a:latin typeface="Segoe UI" panose="020B0502040204020203" pitchFamily="34" charset="0"/>
                <a:cs typeface="Segoe UI" panose="020B0502040204020203" pitchFamily="34" charset="0"/>
              </a:rPr>
              <a:t> </a:t>
            </a:r>
            <a:endParaRPr lang="fr-FR" dirty="0" smtClean="0">
              <a:latin typeface="Segoe UI" panose="020B0502040204020203" pitchFamily="34" charset="0"/>
              <a:cs typeface="Segoe UI" panose="020B0502040204020203" pitchFamily="34" charset="0"/>
            </a:endParaRPr>
          </a:p>
        </p:txBody>
      </p:sp>
      <p:sp>
        <p:nvSpPr>
          <p:cNvPr id="3" name="Rectangle 2"/>
          <p:cNvSpPr/>
          <p:nvPr/>
        </p:nvSpPr>
        <p:spPr>
          <a:xfrm>
            <a:off x="678287" y="1981896"/>
            <a:ext cx="6096000" cy="1846659"/>
          </a:xfrm>
          <a:prstGeom prst="rect">
            <a:avLst/>
          </a:prstGeom>
        </p:spPr>
        <p:txBody>
          <a:bodyPr>
            <a:spAutoFit/>
          </a:bodyPr>
          <a:lstStyle/>
          <a:p>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Path.RenderTransform</a:t>
            </a:r>
            <a:r>
              <a:rPr lang="fr-FR" sz="1600" dirty="0">
                <a:solidFill>
                  <a:srgbClr val="0000FF"/>
                </a:solidFill>
                <a:latin typeface="Cascadia Mono" panose="020B0609020000020004" pitchFamily="49" charset="0"/>
              </a:rPr>
              <a:t>&gt;</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CompositeTransform</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ScaleX</a:t>
            </a:r>
            <a:r>
              <a:rPr lang="fr-FR" sz="1600" dirty="0">
                <a:solidFill>
                  <a:srgbClr val="0000FF"/>
                </a:solidFill>
                <a:latin typeface="Cascadia Mono" panose="020B0609020000020004" pitchFamily="49" charset="0"/>
              </a:rPr>
              <a:t>="3"</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ScaleY</a:t>
            </a:r>
            <a:r>
              <a:rPr lang="fr-FR" sz="1600" dirty="0">
                <a:solidFill>
                  <a:srgbClr val="0000FF"/>
                </a:solidFill>
                <a:latin typeface="Cascadia Mono" panose="020B0609020000020004" pitchFamily="49" charset="0"/>
              </a:rPr>
              <a:t>="3"</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Rotation</a:t>
            </a:r>
            <a:r>
              <a:rPr lang="fr-FR" sz="1600" dirty="0">
                <a:solidFill>
                  <a:srgbClr val="0000FF"/>
                </a:solidFill>
                <a:latin typeface="Cascadia Mono" panose="020B0609020000020004" pitchFamily="49" charset="0"/>
              </a:rPr>
              <a:t>="90"</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CenterX</a:t>
            </a:r>
            <a:r>
              <a:rPr lang="fr-FR" sz="1600" dirty="0">
                <a:solidFill>
                  <a:srgbClr val="0000FF"/>
                </a:solidFill>
                <a:latin typeface="Cascadia Mono" panose="020B0609020000020004" pitchFamily="49" charset="0"/>
              </a:rPr>
              <a:t>="10"</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CenterY</a:t>
            </a:r>
            <a:r>
              <a:rPr lang="fr-FR" sz="1600" dirty="0">
                <a:solidFill>
                  <a:srgbClr val="0000FF"/>
                </a:solidFill>
                <a:latin typeface="Cascadia Mono" panose="020B0609020000020004" pitchFamily="49" charset="0"/>
              </a:rPr>
              <a:t>="125"</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 /&gt;</a:t>
            </a:r>
            <a:endParaRPr lang="fr-FR" sz="1600" dirty="0">
              <a:solidFill>
                <a:srgbClr val="000000"/>
              </a:solidFill>
              <a:latin typeface="Cascadia Mono" panose="020B0609020000020004" pitchFamily="49" charset="0"/>
            </a:endParaRPr>
          </a:p>
          <a:p>
            <a:r>
              <a:rPr lang="fr-FR" sz="1600" dirty="0" smtClean="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Path.RenderTransform</a:t>
            </a:r>
            <a:r>
              <a:rPr lang="fr-FR" sz="1600" dirty="0">
                <a:solidFill>
                  <a:srgbClr val="0000FF"/>
                </a:solidFill>
                <a:latin typeface="Cascadia Mono" panose="020B0609020000020004" pitchFamily="49" charset="0"/>
              </a:rPr>
              <a:t>&gt;</a:t>
            </a:r>
            <a:endParaRPr lang="fr-FR" sz="1600" dirty="0"/>
          </a:p>
        </p:txBody>
      </p:sp>
      <p:pic>
        <p:nvPicPr>
          <p:cNvPr id="4" name="Image 3"/>
          <p:cNvPicPr>
            <a:picLocks noChangeAspect="1"/>
          </p:cNvPicPr>
          <p:nvPr/>
        </p:nvPicPr>
        <p:blipFill>
          <a:blip r:embed="rId2"/>
          <a:stretch>
            <a:fillRect/>
          </a:stretch>
        </p:blipFill>
        <p:spPr>
          <a:xfrm>
            <a:off x="9249656" y="1757966"/>
            <a:ext cx="2108859" cy="4686938"/>
          </a:xfrm>
          <a:prstGeom prst="rect">
            <a:avLst/>
          </a:prstGeom>
        </p:spPr>
      </p:pic>
    </p:spTree>
    <p:extLst>
      <p:ext uri="{BB962C8B-B14F-4D97-AF65-F5344CB8AC3E}">
        <p14:creationId xmlns:p14="http://schemas.microsoft.com/office/powerpoint/2010/main" val="3240379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70485" y="610660"/>
            <a:ext cx="10869739" cy="3447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Géometries</a:t>
            </a:r>
            <a:endParaRPr lang="fr-FR" altLang="en-US" sz="2200" u="sng" dirty="0" smtClean="0">
              <a:latin typeface="Segoe UI Symbol" panose="020B0502040204020203" pitchFamily="34" charset="0"/>
            </a:endParaRPr>
          </a:p>
          <a:p>
            <a:pPr eaLnBrk="1" hangingPunct="1"/>
            <a:endParaRPr lang="fr-FR" sz="2200" u="sng" dirty="0">
              <a:latin typeface="Segoe UI Symbol" panose="020B0502040204020203" pitchFamily="34" charset="0"/>
              <a:cs typeface="Segoe UI" panose="020B0502040204020203" pitchFamily="34" charset="0"/>
            </a:endParaRPr>
          </a:p>
          <a:p>
            <a:pPr marL="438150" indent="-285750">
              <a:buFont typeface="Wingdings" panose="05000000000000000000" pitchFamily="2" charset="2"/>
              <a:buChar char="§"/>
            </a:pPr>
            <a:r>
              <a:rPr lang="fr-FR" dirty="0">
                <a:latin typeface="Segoe UI" panose="020B0502040204020203" pitchFamily="34" charset="0"/>
                <a:cs typeface="Segoe UI" panose="020B0502040204020203" pitchFamily="34" charset="0"/>
              </a:rPr>
              <a:t>La </a:t>
            </a:r>
            <a:r>
              <a:rPr lang="fr-FR" dirty="0" smtClean="0">
                <a:latin typeface="Segoe UI" panose="020B0502040204020203" pitchFamily="34" charset="0"/>
                <a:cs typeface="Segoe UI" panose="020B0502040204020203" pitchFamily="34" charset="0"/>
              </a:rPr>
              <a:t>classe </a:t>
            </a:r>
            <a:r>
              <a:rPr lang="fr-FR" b="1" dirty="0" err="1" smtClean="0">
                <a:latin typeface="Segoe UI" panose="020B0502040204020203" pitchFamily="34" charset="0"/>
                <a:cs typeface="Segoe UI" panose="020B0502040204020203" pitchFamily="34" charset="0"/>
              </a:rPr>
              <a:t>Geometry</a:t>
            </a:r>
            <a:r>
              <a:rPr lang="fr-FR" dirty="0" smtClean="0">
                <a:latin typeface="Segoe UI" panose="020B0502040204020203" pitchFamily="34" charset="0"/>
                <a:cs typeface="Segoe UI" panose="020B0502040204020203" pitchFamily="34" charset="0"/>
              </a:rPr>
              <a:t> est </a:t>
            </a:r>
            <a:r>
              <a:rPr lang="fr-FR" dirty="0">
                <a:latin typeface="Segoe UI" panose="020B0502040204020203" pitchFamily="34" charset="0"/>
                <a:cs typeface="Segoe UI" panose="020B0502040204020203" pitchFamily="34" charset="0"/>
              </a:rPr>
              <a:t>la classe parente de plusieurs classes qui définissent différentes </a:t>
            </a:r>
            <a:r>
              <a:rPr lang="fr-FR" dirty="0" smtClean="0">
                <a:latin typeface="Segoe UI" panose="020B0502040204020203" pitchFamily="34" charset="0"/>
                <a:cs typeface="Segoe UI" panose="020B0502040204020203" pitchFamily="34" charset="0"/>
              </a:rPr>
              <a:t>types </a:t>
            </a:r>
            <a:r>
              <a:rPr lang="fr-FR" dirty="0">
                <a:latin typeface="Segoe UI" panose="020B0502040204020203" pitchFamily="34" charset="0"/>
                <a:cs typeface="Segoe UI" panose="020B0502040204020203" pitchFamily="34" charset="0"/>
              </a:rPr>
              <a:t>de géométries :</a:t>
            </a:r>
          </a:p>
          <a:p>
            <a:pPr marL="438150" indent="-285750">
              <a:buFont typeface="Wingdings" panose="05000000000000000000" pitchFamily="2" charset="2"/>
              <a:buChar char="§"/>
            </a:pPr>
            <a:endParaRPr lang="fr-FR" dirty="0">
              <a:latin typeface="Segoe UI" panose="020B0502040204020203" pitchFamily="34" charset="0"/>
              <a:cs typeface="Segoe UI" panose="020B0502040204020203" pitchFamily="34" charset="0"/>
            </a:endParaRPr>
          </a:p>
          <a:p>
            <a:pPr marL="865188" lvl="1" indent="-285750">
              <a:buFont typeface="Wingdings" panose="05000000000000000000" pitchFamily="2" charset="2"/>
              <a:buChar char="§"/>
            </a:pPr>
            <a:r>
              <a:rPr lang="fr-FR" b="1" dirty="0" smtClean="0">
                <a:latin typeface="Segoe UI" panose="020B0502040204020203" pitchFamily="34" charset="0"/>
                <a:cs typeface="Segoe UI" panose="020B0502040204020203" pitchFamily="34" charset="0"/>
              </a:rPr>
              <a:t>EllipseGeometry</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représente la géométrie d’une ellipse ou d’un cercle.</a:t>
            </a:r>
          </a:p>
          <a:p>
            <a:pPr marL="865188" lvl="1" indent="-285750">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GeometryGroup</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représente un conteneur qui peut combiner plusieurs objets </a:t>
            </a:r>
            <a:r>
              <a:rPr lang="fr-FR" dirty="0" err="1">
                <a:latin typeface="Segoe UI" panose="020B0502040204020203" pitchFamily="34" charset="0"/>
                <a:cs typeface="Segoe UI" panose="020B0502040204020203" pitchFamily="34" charset="0"/>
              </a:rPr>
              <a:t>geometry</a:t>
            </a:r>
            <a:r>
              <a:rPr lang="fr-FR" dirty="0">
                <a:latin typeface="Segoe UI" panose="020B0502040204020203" pitchFamily="34" charset="0"/>
                <a:cs typeface="Segoe UI" panose="020B0502040204020203" pitchFamily="34" charset="0"/>
              </a:rPr>
              <a:t> en un seul objet.</a:t>
            </a:r>
          </a:p>
          <a:p>
            <a:pPr marL="865188" lvl="1" indent="-285750">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LineGeometry</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représente la géométrie d’une ligne.</a:t>
            </a:r>
          </a:p>
          <a:p>
            <a:pPr marL="865188" lvl="1" indent="-285750">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PathGeometry</a:t>
            </a:r>
            <a:r>
              <a:rPr lang="fr-FR" dirty="0">
                <a:latin typeface="Segoe UI" panose="020B0502040204020203" pitchFamily="34" charset="0"/>
                <a:cs typeface="Segoe UI" panose="020B0502040204020203" pitchFamily="34" charset="0"/>
              </a:rPr>
              <a:t>:</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représente la géométrie d’une forme complexe qui peut être composée d’arcs, de courbes, d’ellipses, de lignes et de rectangles.</a:t>
            </a:r>
          </a:p>
          <a:p>
            <a:pPr marL="865188" lvl="1" indent="-285750">
              <a:buFont typeface="Wingdings" panose="05000000000000000000" pitchFamily="2" charset="2"/>
              <a:buChar char="§"/>
            </a:pPr>
            <a:r>
              <a:rPr lang="fr-FR" b="1" dirty="0" err="1" smtClean="0">
                <a:latin typeface="Segoe UI" panose="020B0502040204020203" pitchFamily="34" charset="0"/>
                <a:cs typeface="Segoe UI" panose="020B0502040204020203" pitchFamily="34" charset="0"/>
              </a:rPr>
              <a:t>RectangleGeometry</a:t>
            </a:r>
            <a:r>
              <a:rPr lang="fr-FR" dirty="0">
                <a:latin typeface="Segoe UI" panose="020B0502040204020203" pitchFamily="34" charset="0"/>
                <a:cs typeface="Segoe UI" panose="020B0502040204020203" pitchFamily="34" charset="0"/>
              </a:rPr>
              <a:t>:</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qui représente la géométrie d’un rectangle ou d’un carré.</a:t>
            </a:r>
            <a:endParaRPr lang="fr-FR" dirty="0" smtClean="0">
              <a:latin typeface="Segoe UI" panose="020B0502040204020203" pitchFamily="34" charset="0"/>
              <a:cs typeface="Segoe UI" panose="020B0502040204020203" pitchFamily="34" charset="0"/>
            </a:endParaRPr>
          </a:p>
        </p:txBody>
      </p:sp>
      <p:sp>
        <p:nvSpPr>
          <p:cNvPr id="3" name="Rectangle 1"/>
          <p:cNvSpPr>
            <a:spLocks noChangeArrowheads="1"/>
          </p:cNvSpPr>
          <p:nvPr/>
        </p:nvSpPr>
        <p:spPr bwMode="auto">
          <a:xfrm>
            <a:off x="744416" y="4257544"/>
            <a:ext cx="709264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Ce </a:t>
            </a:r>
            <a:r>
              <a:rPr kumimoji="0" lang="fr-FR" altLang="en-US" b="1"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ne sont pas des contrôles visuels directement</a:t>
            </a:r>
            <a:r>
              <a:rPr kumimoji="0" lang="fr-FR"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Ce sont des </a:t>
            </a:r>
            <a:r>
              <a:rPr kumimoji="0" lang="fr-FR" altLang="en-US" b="1"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objets de description</a:t>
            </a:r>
            <a:r>
              <a:rPr kumimoji="0" lang="fr-FR"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 d’une forme vectorielle.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On les utilise souvent avec :</a:t>
            </a:r>
          </a:p>
          <a:p>
            <a:pPr marL="742950" lvl="1" indent="-285750" eaLnBrk="0" fontAlgn="base" hangingPunct="0">
              <a:spcBef>
                <a:spcPct val="0"/>
              </a:spcBef>
              <a:spcAft>
                <a:spcPct val="0"/>
              </a:spcAft>
              <a:buFont typeface="Wingdings" panose="05000000000000000000" pitchFamily="2" charset="2"/>
              <a:buChar char="§"/>
            </a:pPr>
            <a:r>
              <a:rPr kumimoji="0" lang="fr-FR"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&lt;Path&gt;</a:t>
            </a:r>
          </a:p>
          <a:p>
            <a:pPr marL="742950" lvl="1" indent="-285750" eaLnBrk="0" fontAlgn="base" hangingPunct="0">
              <a:spcBef>
                <a:spcPct val="0"/>
              </a:spcBef>
              <a:spcAft>
                <a:spcPct val="0"/>
              </a:spcAft>
              <a:buFont typeface="Wingdings" panose="05000000000000000000" pitchFamily="2" charset="2"/>
              <a:buChar char="§"/>
            </a:pPr>
            <a:r>
              <a:rPr kumimoji="0" lang="fr-FR"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Clip d’un élément (pour découper une image, un </a:t>
            </a:r>
            <a:r>
              <a:rPr kumimoji="0" lang="fr-FR" altLang="en-US" b="0" i="0" u="none" strike="noStrike" cap="none" normalizeH="0" baseline="0" dirty="0" err="1" smtClean="0">
                <a:ln>
                  <a:noFill/>
                </a:ln>
                <a:solidFill>
                  <a:schemeClr val="tx1"/>
                </a:solidFill>
                <a:effectLst/>
                <a:latin typeface="Segoe UI" panose="020B0502040204020203" pitchFamily="34" charset="0"/>
                <a:cs typeface="Segoe UI" panose="020B0502040204020203" pitchFamily="34" charset="0"/>
              </a:rPr>
              <a:t>layout</a:t>
            </a:r>
            <a:r>
              <a:rPr kumimoji="0" lang="fr-FR"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 etc.)</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fr-FR"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2715958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70485" y="610660"/>
            <a:ext cx="10869739"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Les Géometries</a:t>
            </a:r>
            <a:endParaRPr lang="fr-FR" altLang="en-US" sz="2200" u="sng" dirty="0" smtClean="0">
              <a:latin typeface="Segoe UI Symbol" panose="020B0502040204020203" pitchFamily="34" charset="0"/>
            </a:endParaRPr>
          </a:p>
          <a:p>
            <a:pPr eaLnBrk="1" hangingPunct="1"/>
            <a:endParaRPr lang="fr-FR" sz="2200" u="sng" dirty="0">
              <a:latin typeface="Segoe UI Symbol" panose="020B0502040204020203" pitchFamily="34" charset="0"/>
              <a:cs typeface="Segoe UI" panose="020B0502040204020203" pitchFamily="34" charset="0"/>
            </a:endParaRPr>
          </a:p>
          <a:p>
            <a:pPr marL="438150" indent="-285750">
              <a:buFont typeface="Wingdings" panose="05000000000000000000" pitchFamily="2" charset="2"/>
              <a:buChar char="§"/>
            </a:pPr>
            <a:r>
              <a:rPr lang="en-US" b="1" dirty="0" err="1"/>
              <a:t>Exemple</a:t>
            </a:r>
            <a:r>
              <a:rPr lang="en-US" b="1" dirty="0"/>
              <a:t> </a:t>
            </a:r>
            <a:r>
              <a:rPr lang="en-US" b="1" dirty="0" err="1"/>
              <a:t>d’usage</a:t>
            </a:r>
            <a:endParaRPr lang="fr-FR" b="1" dirty="0" smtClean="0">
              <a:latin typeface="Segoe UI" panose="020B0502040204020203" pitchFamily="34" charset="0"/>
              <a:cs typeface="Segoe UI" panose="020B0502040204020203" pitchFamily="34" charset="0"/>
            </a:endParaRPr>
          </a:p>
        </p:txBody>
      </p:sp>
      <p:sp>
        <p:nvSpPr>
          <p:cNvPr id="5" name="Rectangle 4"/>
          <p:cNvSpPr/>
          <p:nvPr/>
        </p:nvSpPr>
        <p:spPr>
          <a:xfrm>
            <a:off x="703384" y="1678468"/>
            <a:ext cx="9935307" cy="1384995"/>
          </a:xfrm>
          <a:prstGeom prst="rect">
            <a:avLst/>
          </a:prstGeom>
        </p:spPr>
        <p:txBody>
          <a:bodyPr wrap="square">
            <a:spAutoFit/>
          </a:bodyPr>
          <a:lstStyle/>
          <a:p>
            <a:r>
              <a:rPr lang="en-US" sz="1400" dirty="0">
                <a:solidFill>
                  <a:srgbClr val="0000FF"/>
                </a:solidFill>
                <a:latin typeface="Cascadia Mono" panose="020B0609020000020004" pitchFamily="49" charset="0"/>
              </a:rPr>
              <a:t>&lt;</a:t>
            </a:r>
            <a:r>
              <a:rPr lang="en-US" sz="1400" dirty="0">
                <a:solidFill>
                  <a:srgbClr val="A31515"/>
                </a:solidFill>
                <a:latin typeface="Cascadia Mono" panose="020B0609020000020004" pitchFamily="49" charset="0"/>
              </a:rPr>
              <a:t>Image</a:t>
            </a:r>
            <a:r>
              <a:rPr lang="en-US" sz="1400" dirty="0">
                <a:solidFill>
                  <a:srgbClr val="FF0000"/>
                </a:solidFill>
                <a:latin typeface="Cascadia Mono" panose="020B0609020000020004" pitchFamily="49" charset="0"/>
              </a:rPr>
              <a:t> Source</a:t>
            </a:r>
            <a:r>
              <a:rPr lang="en-US" sz="1400" dirty="0">
                <a:solidFill>
                  <a:srgbClr val="0000FF"/>
                </a:solidFill>
                <a:latin typeface="Cascadia Mono" panose="020B0609020000020004" pitchFamily="49" charset="0"/>
              </a:rPr>
              <a:t>="dotnet_bot.png"&gt;</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dirty="0" err="1">
                <a:solidFill>
                  <a:srgbClr val="A31515"/>
                </a:solidFill>
                <a:latin typeface="Cascadia Mono" panose="020B0609020000020004" pitchFamily="49" charset="0"/>
              </a:rPr>
              <a:t>Image.Clip</a:t>
            </a:r>
            <a:r>
              <a:rPr lang="en-US" sz="1400" dirty="0">
                <a:solidFill>
                  <a:srgbClr val="0000FF"/>
                </a:solidFill>
                <a:latin typeface="Cascadia Mono" panose="020B0609020000020004" pitchFamily="49" charset="0"/>
              </a:rPr>
              <a:t>&gt;</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dirty="0" err="1">
                <a:solidFill>
                  <a:srgbClr val="A31515"/>
                </a:solidFill>
                <a:latin typeface="Cascadia Mono" panose="020B0609020000020004" pitchFamily="49" charset="0"/>
              </a:rPr>
              <a:t>EllipseGeometry</a:t>
            </a:r>
            <a:r>
              <a:rPr lang="en-US" sz="1400" dirty="0">
                <a:solidFill>
                  <a:srgbClr val="FF0000"/>
                </a:solidFill>
                <a:latin typeface="Cascadia Mono" panose="020B0609020000020004" pitchFamily="49" charset="0"/>
              </a:rPr>
              <a:t> Center</a:t>
            </a:r>
            <a:r>
              <a:rPr lang="en-US" sz="1400" dirty="0">
                <a:solidFill>
                  <a:srgbClr val="0000FF"/>
                </a:solidFill>
                <a:latin typeface="Cascadia Mono" panose="020B0609020000020004" pitchFamily="49" charset="0"/>
              </a:rPr>
              <a:t>="75,75"</a:t>
            </a:r>
            <a:r>
              <a:rPr lang="en-US" sz="1400" dirty="0">
                <a:solidFill>
                  <a:srgbClr val="FF0000"/>
                </a:solidFill>
                <a:latin typeface="Cascadia Mono" panose="020B0609020000020004" pitchFamily="49" charset="0"/>
              </a:rPr>
              <a:t> </a:t>
            </a:r>
            <a:endParaRPr lang="en-US" sz="1400" dirty="0" smtClean="0">
              <a:solidFill>
                <a:srgbClr val="FF0000"/>
              </a:solidFill>
              <a:latin typeface="Cascadia Mono" panose="020B0609020000020004" pitchFamily="49" charset="0"/>
            </a:endParaRPr>
          </a:p>
          <a:p>
            <a:r>
              <a:rPr lang="en-US" sz="1400" dirty="0">
                <a:solidFill>
                  <a:srgbClr val="FF0000"/>
                </a:solidFill>
                <a:latin typeface="Cascadia Mono" panose="020B0609020000020004" pitchFamily="49" charset="0"/>
              </a:rPr>
              <a:t>	</a:t>
            </a:r>
            <a:r>
              <a:rPr lang="en-US" sz="1400" dirty="0" smtClean="0">
                <a:solidFill>
                  <a:srgbClr val="FF0000"/>
                </a:solidFill>
                <a:latin typeface="Cascadia Mono" panose="020B0609020000020004" pitchFamily="49" charset="0"/>
              </a:rPr>
              <a:t>	</a:t>
            </a:r>
            <a:r>
              <a:rPr lang="en-US" sz="1400" dirty="0" err="1" smtClean="0">
                <a:solidFill>
                  <a:srgbClr val="FF0000"/>
                </a:solidFill>
                <a:latin typeface="Cascadia Mono" panose="020B0609020000020004" pitchFamily="49" charset="0"/>
              </a:rPr>
              <a:t>RadiusX</a:t>
            </a:r>
            <a:r>
              <a:rPr lang="en-US" sz="1400" dirty="0">
                <a:solidFill>
                  <a:srgbClr val="0000FF"/>
                </a:solidFill>
                <a:latin typeface="Cascadia Mono" panose="020B0609020000020004" pitchFamily="49" charset="0"/>
              </a:rPr>
              <a:t>="75"</a:t>
            </a:r>
            <a:r>
              <a:rPr lang="en-US" sz="1400" dirty="0">
                <a:solidFill>
                  <a:srgbClr val="FF0000"/>
                </a:solidFill>
                <a:latin typeface="Cascadia Mono" panose="020B0609020000020004" pitchFamily="49" charset="0"/>
              </a:rPr>
              <a:t> </a:t>
            </a:r>
            <a:r>
              <a:rPr lang="en-US" sz="1400" dirty="0" err="1">
                <a:solidFill>
                  <a:srgbClr val="FF0000"/>
                </a:solidFill>
                <a:latin typeface="Cascadia Mono" panose="020B0609020000020004" pitchFamily="49" charset="0"/>
              </a:rPr>
              <a:t>RadiusY</a:t>
            </a:r>
            <a:r>
              <a:rPr lang="en-US" sz="1400" dirty="0">
                <a:solidFill>
                  <a:srgbClr val="0000FF"/>
                </a:solidFill>
                <a:latin typeface="Cascadia Mono" panose="020B0609020000020004" pitchFamily="49" charset="0"/>
              </a:rPr>
              <a:t>="75"/&gt;</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dirty="0" err="1">
                <a:solidFill>
                  <a:srgbClr val="A31515"/>
                </a:solidFill>
                <a:latin typeface="Cascadia Mono" panose="020B0609020000020004" pitchFamily="49" charset="0"/>
              </a:rPr>
              <a:t>Image.Clip</a:t>
            </a:r>
            <a:r>
              <a:rPr lang="en-US" sz="1400" dirty="0">
                <a:solidFill>
                  <a:srgbClr val="0000FF"/>
                </a:solidFill>
                <a:latin typeface="Cascadia Mono" panose="020B0609020000020004" pitchFamily="49" charset="0"/>
              </a:rPr>
              <a:t>&gt;</a:t>
            </a:r>
          </a:p>
          <a:p>
            <a:r>
              <a:rPr lang="en-US" sz="1400" dirty="0">
                <a:solidFill>
                  <a:srgbClr val="0000FF"/>
                </a:solidFill>
                <a:latin typeface="Cascadia Mono" panose="020B0609020000020004" pitchFamily="49" charset="0"/>
              </a:rPr>
              <a:t>&lt;/</a:t>
            </a:r>
            <a:r>
              <a:rPr lang="en-US" sz="1400" dirty="0">
                <a:solidFill>
                  <a:srgbClr val="A31515"/>
                </a:solidFill>
                <a:latin typeface="Cascadia Mono" panose="020B0609020000020004" pitchFamily="49" charset="0"/>
              </a:rPr>
              <a:t>Image</a:t>
            </a:r>
            <a:r>
              <a:rPr lang="en-US" sz="1400" dirty="0">
                <a:solidFill>
                  <a:srgbClr val="0000FF"/>
                </a:solidFill>
                <a:latin typeface="Cascadia Mono" panose="020B0609020000020004" pitchFamily="49" charset="0"/>
              </a:rPr>
              <a:t>&gt;</a:t>
            </a:r>
            <a:endParaRPr lang="en-US" sz="1400" dirty="0"/>
          </a:p>
        </p:txBody>
      </p:sp>
      <p:sp>
        <p:nvSpPr>
          <p:cNvPr id="6" name="Rectangle 1"/>
          <p:cNvSpPr>
            <a:spLocks noChangeArrowheads="1"/>
          </p:cNvSpPr>
          <p:nvPr/>
        </p:nvSpPr>
        <p:spPr bwMode="auto">
          <a:xfrm>
            <a:off x="410308" y="3314672"/>
            <a:ext cx="78992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en-US" b="1"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EllipseGeometry</a:t>
            </a:r>
            <a:r>
              <a:rPr kumimoji="0" lang="fr-FR"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 utilisé </a:t>
            </a:r>
            <a:r>
              <a:rPr kumimoji="0" lang="fr-FR" altLang="en-US" b="1"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pour découper l’image en cercle</a:t>
            </a:r>
            <a:r>
              <a:rPr kumimoji="0" lang="fr-FR"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 (effet avatar). </a:t>
            </a:r>
          </a:p>
        </p:txBody>
      </p:sp>
      <p:sp>
        <p:nvSpPr>
          <p:cNvPr id="7" name="Rectangle 6"/>
          <p:cNvSpPr/>
          <p:nvPr/>
        </p:nvSpPr>
        <p:spPr>
          <a:xfrm>
            <a:off x="410308" y="3750547"/>
            <a:ext cx="7559249" cy="369332"/>
          </a:xfrm>
          <a:prstGeom prst="rect">
            <a:avLst/>
          </a:prstGeom>
        </p:spPr>
        <p:txBody>
          <a:bodyPr wrap="none">
            <a:spAutoFit/>
          </a:bodyPr>
          <a:lstStyle/>
          <a:p>
            <a:pPr marL="285750" indent="-285750">
              <a:buFont typeface="Wingdings" panose="05000000000000000000" pitchFamily="2" charset="2"/>
              <a:buChar char="§"/>
            </a:pPr>
            <a:r>
              <a:rPr lang="fr-FR" dirty="0">
                <a:latin typeface="Segoe UI" panose="020B0502040204020203" pitchFamily="34" charset="0"/>
                <a:cs typeface="Segoe UI" panose="020B0502040204020203" pitchFamily="34" charset="0"/>
              </a:rPr>
              <a:t>Pas possible de </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clipper </a:t>
            </a:r>
            <a:r>
              <a:rPr lang="fr-FR"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un autre élément </a:t>
            </a:r>
            <a:r>
              <a:rPr lang="fr-FR" dirty="0" smtClean="0">
                <a:latin typeface="Segoe UI" panose="020B0502040204020203" pitchFamily="34" charset="0"/>
                <a:cs typeface="Segoe UI" panose="020B0502040204020203" pitchFamily="34" charset="0"/>
              </a:rPr>
              <a:t>directement comme </a:t>
            </a:r>
            <a:r>
              <a:rPr lang="fr-FR" b="1" dirty="0" smtClean="0">
                <a:latin typeface="Segoe UI" panose="020B0502040204020203" pitchFamily="34" charset="0"/>
                <a:cs typeface="Segoe UI" panose="020B0502040204020203" pitchFamily="34" charset="0"/>
              </a:rPr>
              <a:t>Ellipse</a:t>
            </a:r>
            <a:endParaRPr lang="en-US" b="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5009378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70485" y="610660"/>
            <a:ext cx="10869739" cy="5601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fr-FR" altLang="en-US" sz="2200" u="sng" dirty="0" smtClean="0">
                <a:latin typeface="Segoe UI Symbol" panose="020B0502040204020203" pitchFamily="34" charset="0"/>
              </a:rPr>
              <a:t>Les formes personnalisées</a:t>
            </a:r>
          </a:p>
          <a:p>
            <a:pPr eaLnBrk="1" hangingPunct="1"/>
            <a:endParaRPr lang="fr-FR" dirty="0" smtClean="0">
              <a:latin typeface="Segoe UI Symbol" panose="020B0502040204020203" pitchFamily="34" charset="0"/>
              <a:cs typeface="Segoe UI" panose="020B0502040204020203" pitchFamily="34" charset="0"/>
            </a:endParaRPr>
          </a:p>
          <a:p>
            <a:pPr marL="438150" indent="-285750">
              <a:buFont typeface="Wingdings" panose="05000000000000000000" pitchFamily="2" charset="2"/>
              <a:buChar char="§"/>
            </a:pPr>
            <a:r>
              <a:rPr lang="fr-FR" dirty="0">
                <a:latin typeface="Segoe UI Symbol" panose="020B0502040204020203" pitchFamily="34" charset="0"/>
                <a:cs typeface="Segoe UI" panose="020B0502040204020203" pitchFamily="34" charset="0"/>
              </a:rPr>
              <a:t>I</a:t>
            </a:r>
            <a:r>
              <a:rPr lang="fr-FR" dirty="0" smtClean="0">
                <a:latin typeface="Segoe UI Symbol" panose="020B0502040204020203" pitchFamily="34" charset="0"/>
                <a:cs typeface="Segoe UI" panose="020B0502040204020203" pitchFamily="34" charset="0"/>
              </a:rPr>
              <a:t>l </a:t>
            </a:r>
            <a:r>
              <a:rPr lang="fr-FR" dirty="0">
                <a:latin typeface="Segoe UI Symbol" panose="020B0502040204020203" pitchFamily="34" charset="0"/>
                <a:cs typeface="Segoe UI" panose="020B0502040204020203" pitchFamily="34" charset="0"/>
              </a:rPr>
              <a:t>existe plusieurs situations réelles où il peut être nécessaire d'implémenter une forme personnalisée (Custom Shape) dans une application MAUI ou toute application graphique. Voici quelques exemples courants </a:t>
            </a:r>
            <a:r>
              <a:rPr lang="fr-FR" dirty="0" smtClean="0">
                <a:latin typeface="Segoe UI Symbol" panose="020B0502040204020203" pitchFamily="34" charset="0"/>
                <a:cs typeface="Segoe UI" panose="020B0502040204020203" pitchFamily="34" charset="0"/>
              </a:rPr>
              <a:t>:</a:t>
            </a:r>
          </a:p>
          <a:p>
            <a:pPr marL="438150" indent="-285750">
              <a:buFont typeface="Wingdings" panose="05000000000000000000" pitchFamily="2" charset="2"/>
              <a:buChar char="§"/>
            </a:pPr>
            <a:endParaRPr lang="fr-FR" dirty="0">
              <a:latin typeface="Segoe UI Symbol" panose="020B0502040204020203" pitchFamily="34" charset="0"/>
              <a:cs typeface="Segoe UI" panose="020B0502040204020203" pitchFamily="34" charset="0"/>
            </a:endParaRPr>
          </a:p>
          <a:p>
            <a:r>
              <a:rPr lang="fr-FR" b="1" dirty="0">
                <a:latin typeface="Segoe UI Symbol" panose="020B0502040204020203" pitchFamily="34" charset="0"/>
                <a:cs typeface="Segoe UI" panose="020B0502040204020203" pitchFamily="34" charset="0"/>
              </a:rPr>
              <a:t>Graphiques et Visualisations Complexes :</a:t>
            </a:r>
          </a:p>
          <a:p>
            <a:endParaRPr lang="fr-FR" dirty="0">
              <a:latin typeface="Segoe UI Symbol" panose="020B0502040204020203" pitchFamily="34" charset="0"/>
              <a:cs typeface="Segoe UI" panose="020B0502040204020203" pitchFamily="34" charset="0"/>
            </a:endParaRPr>
          </a:p>
          <a:p>
            <a:r>
              <a:rPr lang="fr-FR" dirty="0">
                <a:latin typeface="Segoe UI Symbol" panose="020B0502040204020203" pitchFamily="34" charset="0"/>
                <a:cs typeface="Segoe UI" panose="020B0502040204020203" pitchFamily="34" charset="0"/>
              </a:rPr>
              <a:t>Lorsque vous avez besoin de représenter des données graphiques complexes qui ne peuvent pas être facilement modélisées avec les formes standard comme les rectangles, les ellipses ou les polygones.</a:t>
            </a:r>
            <a:endParaRPr lang="fr-FR" dirty="0" smtClean="0">
              <a:latin typeface="Segoe UI Symbol" panose="020B0502040204020203" pitchFamily="34" charset="0"/>
              <a:cs typeface="Segoe UI" panose="020B0502040204020203" pitchFamily="34" charset="0"/>
            </a:endParaRPr>
          </a:p>
          <a:p>
            <a:pPr marL="438150" indent="-285750">
              <a:buFont typeface="Wingdings" panose="05000000000000000000" pitchFamily="2" charset="2"/>
              <a:buChar char="§"/>
            </a:pPr>
            <a:endParaRPr lang="fr-FR" dirty="0" smtClean="0">
              <a:latin typeface="Segoe UI Symbol" panose="020B0502040204020203" pitchFamily="34" charset="0"/>
              <a:cs typeface="Segoe UI" panose="020B0502040204020203" pitchFamily="34" charset="0"/>
            </a:endParaRPr>
          </a:p>
          <a:p>
            <a:r>
              <a:rPr lang="fr-FR" b="1" dirty="0">
                <a:latin typeface="Segoe UI Symbol" panose="020B0502040204020203" pitchFamily="34" charset="0"/>
                <a:cs typeface="Segoe UI" panose="020B0502040204020203" pitchFamily="34" charset="0"/>
              </a:rPr>
              <a:t>Marquage et Annotations :</a:t>
            </a:r>
          </a:p>
          <a:p>
            <a:endParaRPr lang="fr-FR" dirty="0">
              <a:latin typeface="Segoe UI Symbol" panose="020B0502040204020203" pitchFamily="34" charset="0"/>
              <a:cs typeface="Segoe UI" panose="020B0502040204020203" pitchFamily="34" charset="0"/>
            </a:endParaRPr>
          </a:p>
          <a:p>
            <a:r>
              <a:rPr lang="fr-FR" dirty="0">
                <a:latin typeface="Segoe UI Symbol" panose="020B0502040204020203" pitchFamily="34" charset="0"/>
                <a:cs typeface="Segoe UI" panose="020B0502040204020203" pitchFamily="34" charset="0"/>
              </a:rPr>
              <a:t>Dans les applications de dessin, d'édition d'images, ou de marquage où les utilisateurs peuvent annoter des images ou des cartes avec des formes personnalisées telles que des flèches, des bulles de texte, ou des zones de mise en évidence.</a:t>
            </a:r>
          </a:p>
          <a:p>
            <a:endParaRPr lang="fr-FR" dirty="0" smtClean="0">
              <a:latin typeface="Segoe UI Symbol" panose="020B0502040204020203" pitchFamily="34" charset="0"/>
              <a:cs typeface="Segoe UI" panose="020B0502040204020203" pitchFamily="34" charset="0"/>
            </a:endParaRPr>
          </a:p>
          <a:p>
            <a:r>
              <a:rPr lang="fr-FR" b="1" dirty="0">
                <a:latin typeface="Segoe UI Symbol" panose="020B0502040204020203" pitchFamily="34" charset="0"/>
                <a:cs typeface="Segoe UI" panose="020B0502040204020203" pitchFamily="34" charset="0"/>
              </a:rPr>
              <a:t>Animations et Transitions </a:t>
            </a:r>
            <a:r>
              <a:rPr lang="fr-FR" b="1" dirty="0" smtClean="0">
                <a:latin typeface="Segoe UI Symbol" panose="020B0502040204020203" pitchFamily="34" charset="0"/>
                <a:cs typeface="Segoe UI" panose="020B0502040204020203" pitchFamily="34" charset="0"/>
              </a:rPr>
              <a:t>:</a:t>
            </a:r>
            <a:endParaRPr lang="fr-FR" dirty="0">
              <a:latin typeface="Segoe UI Symbol" panose="020B0502040204020203" pitchFamily="34" charset="0"/>
              <a:cs typeface="Segoe UI" panose="020B0502040204020203" pitchFamily="34" charset="0"/>
            </a:endParaRPr>
          </a:p>
          <a:p>
            <a:r>
              <a:rPr lang="fr-FR" dirty="0">
                <a:latin typeface="Segoe UI Symbol" panose="020B0502040204020203" pitchFamily="34" charset="0"/>
                <a:cs typeface="Segoe UI" panose="020B0502040204020203" pitchFamily="34" charset="0"/>
              </a:rPr>
              <a:t>Pour des animations sophistiquées où les formes standard ne suffisent pas pour obtenir l'effet visuel souhaité.</a:t>
            </a:r>
          </a:p>
        </p:txBody>
      </p:sp>
    </p:spTree>
    <p:extLst>
      <p:ext uri="{BB962C8B-B14F-4D97-AF65-F5344CB8AC3E}">
        <p14:creationId xmlns:p14="http://schemas.microsoft.com/office/powerpoint/2010/main" val="7498790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70485" y="610660"/>
            <a:ext cx="10869739" cy="5047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fr-FR" altLang="en-US" sz="2200" u="sng" dirty="0" smtClean="0">
                <a:latin typeface="Segoe UI Symbol" panose="020B0502040204020203" pitchFamily="34" charset="0"/>
              </a:rPr>
              <a:t>Les formes personnalisées</a:t>
            </a:r>
          </a:p>
          <a:p>
            <a:pPr eaLnBrk="1" hangingPunct="1"/>
            <a:endParaRPr lang="fr-FR" dirty="0" smtClean="0">
              <a:latin typeface="Segoe UI Symbol" panose="020B0502040204020203" pitchFamily="34" charset="0"/>
              <a:cs typeface="Segoe UI" panose="020B0502040204020203" pitchFamily="34" charset="0"/>
            </a:endParaRPr>
          </a:p>
          <a:p>
            <a:pPr marL="438150" indent="-285750">
              <a:buFont typeface="Wingdings" panose="05000000000000000000" pitchFamily="2" charset="2"/>
              <a:buChar char="§"/>
            </a:pPr>
            <a:r>
              <a:rPr lang="fr-FR" dirty="0">
                <a:latin typeface="Segoe UI Symbol" panose="020B0502040204020203" pitchFamily="34" charset="0"/>
                <a:cs typeface="Segoe UI" panose="020B0502040204020203" pitchFamily="34" charset="0"/>
              </a:rPr>
              <a:t>I</a:t>
            </a:r>
            <a:r>
              <a:rPr lang="fr-FR" dirty="0" smtClean="0">
                <a:latin typeface="Segoe UI Symbol" panose="020B0502040204020203" pitchFamily="34" charset="0"/>
                <a:cs typeface="Segoe UI" panose="020B0502040204020203" pitchFamily="34" charset="0"/>
              </a:rPr>
              <a:t>l </a:t>
            </a:r>
            <a:r>
              <a:rPr lang="fr-FR" dirty="0">
                <a:latin typeface="Segoe UI Symbol" panose="020B0502040204020203" pitchFamily="34" charset="0"/>
                <a:cs typeface="Segoe UI" panose="020B0502040204020203" pitchFamily="34" charset="0"/>
              </a:rPr>
              <a:t>existe plusieurs situations réelles où il peut être nécessaire d'implémenter une forme personnalisée (Custom Shape) dans une application MAUI ou toute application graphique. Voici quelques exemples courants </a:t>
            </a:r>
            <a:r>
              <a:rPr lang="fr-FR" dirty="0" smtClean="0">
                <a:latin typeface="Segoe UI Symbol" panose="020B0502040204020203" pitchFamily="34" charset="0"/>
                <a:cs typeface="Segoe UI" panose="020B0502040204020203" pitchFamily="34" charset="0"/>
              </a:rPr>
              <a:t>:</a:t>
            </a:r>
          </a:p>
          <a:p>
            <a:pPr marL="438150" indent="-285750">
              <a:buFont typeface="Wingdings" panose="05000000000000000000" pitchFamily="2" charset="2"/>
              <a:buChar char="§"/>
            </a:pPr>
            <a:endParaRPr lang="fr-FR" dirty="0">
              <a:latin typeface="Segoe UI Symbol" panose="020B0502040204020203" pitchFamily="34" charset="0"/>
              <a:cs typeface="Segoe UI" panose="020B0502040204020203" pitchFamily="34" charset="0"/>
            </a:endParaRPr>
          </a:p>
          <a:p>
            <a:pPr marL="622300" lvl="1" indent="-285750">
              <a:buFont typeface="Wingdings" panose="05000000000000000000" pitchFamily="2" charset="2"/>
              <a:buChar char="§"/>
            </a:pPr>
            <a:r>
              <a:rPr lang="fr-FR" b="1" dirty="0">
                <a:latin typeface="Segoe UI Symbol" panose="020B0502040204020203" pitchFamily="34" charset="0"/>
                <a:cs typeface="Segoe UI" panose="020B0502040204020203" pitchFamily="34" charset="0"/>
              </a:rPr>
              <a:t>Graphiques et Visualisations Complexes :</a:t>
            </a:r>
          </a:p>
          <a:p>
            <a:pPr marL="622300" lvl="1" indent="-285750">
              <a:buFont typeface="Wingdings" panose="05000000000000000000" pitchFamily="2" charset="2"/>
              <a:buChar char="§"/>
            </a:pPr>
            <a:endParaRPr lang="fr-FR" dirty="0">
              <a:latin typeface="Segoe UI Symbol" panose="020B0502040204020203" pitchFamily="34" charset="0"/>
              <a:cs typeface="Segoe UI" panose="020B0502040204020203" pitchFamily="34" charset="0"/>
            </a:endParaRPr>
          </a:p>
          <a:p>
            <a:pPr marL="900112" lvl="2" indent="0"/>
            <a:r>
              <a:rPr lang="fr-FR" dirty="0" smtClean="0">
                <a:latin typeface="Segoe UI Symbol" panose="020B0502040204020203" pitchFamily="34" charset="0"/>
                <a:cs typeface="Segoe UI" panose="020B0502040204020203" pitchFamily="34" charset="0"/>
              </a:rPr>
              <a:t>Lorsque vous </a:t>
            </a:r>
            <a:r>
              <a:rPr lang="fr-FR" dirty="0">
                <a:latin typeface="Segoe UI Symbol" panose="020B0502040204020203" pitchFamily="34" charset="0"/>
                <a:cs typeface="Segoe UI" panose="020B0502040204020203" pitchFamily="34" charset="0"/>
              </a:rPr>
              <a:t>avez besoin de représenter des données graphiques complexes qui ne peuvent pas être facilement modélisées avec les formes standard comme les rectangles, les ellipses ou les polygones.</a:t>
            </a:r>
            <a:endParaRPr lang="fr-FR" dirty="0" smtClean="0">
              <a:latin typeface="Segoe UI Symbol" panose="020B0502040204020203" pitchFamily="34" charset="0"/>
              <a:cs typeface="Segoe UI" panose="020B0502040204020203" pitchFamily="34" charset="0"/>
            </a:endParaRPr>
          </a:p>
          <a:p>
            <a:pPr marL="865188" lvl="1" indent="-285750">
              <a:buFont typeface="Wingdings" panose="05000000000000000000" pitchFamily="2" charset="2"/>
              <a:buChar char="§"/>
            </a:pPr>
            <a:endParaRPr lang="fr-FR" dirty="0" smtClean="0">
              <a:latin typeface="Segoe UI Symbol" panose="020B0502040204020203" pitchFamily="34" charset="0"/>
              <a:cs typeface="Segoe UI" panose="020B0502040204020203" pitchFamily="34" charset="0"/>
            </a:endParaRPr>
          </a:p>
          <a:p>
            <a:pPr marL="622300" lvl="1" indent="-285750">
              <a:buFont typeface="Wingdings" panose="05000000000000000000" pitchFamily="2" charset="2"/>
              <a:buChar char="§"/>
            </a:pPr>
            <a:r>
              <a:rPr lang="fr-FR" b="1" dirty="0">
                <a:latin typeface="Segoe UI Symbol" panose="020B0502040204020203" pitchFamily="34" charset="0"/>
                <a:cs typeface="Segoe UI" panose="020B0502040204020203" pitchFamily="34" charset="0"/>
              </a:rPr>
              <a:t>Marquage et Annotations :</a:t>
            </a:r>
          </a:p>
          <a:p>
            <a:pPr marL="622300" lvl="1" indent="-285750">
              <a:buFont typeface="Wingdings" panose="05000000000000000000" pitchFamily="2" charset="2"/>
              <a:buChar char="§"/>
            </a:pPr>
            <a:endParaRPr lang="fr-FR" dirty="0">
              <a:latin typeface="Segoe UI Symbol" panose="020B0502040204020203" pitchFamily="34" charset="0"/>
              <a:cs typeface="Segoe UI" panose="020B0502040204020203" pitchFamily="34" charset="0"/>
            </a:endParaRPr>
          </a:p>
          <a:p>
            <a:pPr marL="900112" lvl="2" indent="0"/>
            <a:r>
              <a:rPr lang="fr-FR" dirty="0">
                <a:latin typeface="Segoe UI Symbol" panose="020B0502040204020203" pitchFamily="34" charset="0"/>
                <a:cs typeface="Segoe UI" panose="020B0502040204020203" pitchFamily="34" charset="0"/>
              </a:rPr>
              <a:t>Dans les applications de dessin, d'édition d'images, ou de marquage où les utilisateurs peuvent annoter des images ou des cartes avec des formes personnalisées telles que des flèches, des bulles de texte, ou des zones de mise en évidence.</a:t>
            </a:r>
          </a:p>
          <a:p>
            <a:pPr marL="622300" lvl="1" indent="-285750">
              <a:buFont typeface="Wingdings" panose="05000000000000000000" pitchFamily="2" charset="2"/>
              <a:buChar char="§"/>
            </a:pPr>
            <a:endParaRPr lang="fr-FR" dirty="0" smtClean="0">
              <a:latin typeface="Segoe UI Symbol"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5293375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p:cNvSpPr txBox="1">
            <a:spLocks noChangeArrowheads="1"/>
          </p:cNvSpPr>
          <p:nvPr/>
        </p:nvSpPr>
        <p:spPr bwMode="auto">
          <a:xfrm>
            <a:off x="270485" y="610660"/>
            <a:ext cx="10869739" cy="200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fr-FR" altLang="en-US" sz="2200" u="sng" dirty="0" smtClean="0">
                <a:latin typeface="Segoe UI Symbol" panose="020B0502040204020203" pitchFamily="34" charset="0"/>
              </a:rPr>
              <a:t>Les formes personnalisées</a:t>
            </a:r>
          </a:p>
          <a:p>
            <a:endParaRPr lang="fr-FR" dirty="0">
              <a:latin typeface="Segoe UI Symbol" panose="020B0502040204020203" pitchFamily="34" charset="0"/>
              <a:cs typeface="Segoe UI" panose="020B0502040204020203" pitchFamily="34" charset="0"/>
            </a:endParaRPr>
          </a:p>
          <a:p>
            <a:pPr marL="622300" lvl="1" indent="-285750">
              <a:buFont typeface="Wingdings" panose="05000000000000000000" pitchFamily="2" charset="2"/>
              <a:buChar char="§"/>
            </a:pPr>
            <a:r>
              <a:rPr lang="fr-FR" b="1" dirty="0">
                <a:latin typeface="Segoe UI Symbol" panose="020B0502040204020203" pitchFamily="34" charset="0"/>
                <a:cs typeface="Segoe UI" panose="020B0502040204020203" pitchFamily="34" charset="0"/>
              </a:rPr>
              <a:t>Animations et Transitions </a:t>
            </a:r>
            <a:r>
              <a:rPr lang="fr-FR" b="1" dirty="0" smtClean="0">
                <a:latin typeface="Segoe UI Symbol" panose="020B0502040204020203" pitchFamily="34" charset="0"/>
                <a:cs typeface="Segoe UI" panose="020B0502040204020203" pitchFamily="34" charset="0"/>
              </a:rPr>
              <a:t>:</a:t>
            </a:r>
          </a:p>
          <a:p>
            <a:pPr marL="622300" lvl="1" indent="-285750">
              <a:buFont typeface="Wingdings" panose="05000000000000000000" pitchFamily="2" charset="2"/>
              <a:buChar char="§"/>
            </a:pPr>
            <a:endParaRPr lang="fr-FR" dirty="0">
              <a:latin typeface="Segoe UI Symbol" panose="020B0502040204020203" pitchFamily="34" charset="0"/>
              <a:cs typeface="Segoe UI" panose="020B0502040204020203" pitchFamily="34" charset="0"/>
            </a:endParaRPr>
          </a:p>
          <a:p>
            <a:pPr marL="900112" lvl="2" indent="0"/>
            <a:r>
              <a:rPr lang="fr-FR" dirty="0">
                <a:latin typeface="Segoe UI Symbol" panose="020B0502040204020203" pitchFamily="34" charset="0"/>
                <a:cs typeface="Segoe UI" panose="020B0502040204020203" pitchFamily="34" charset="0"/>
              </a:rPr>
              <a:t>Pour des animations sophistiquées où les formes standard ne suffisent pas pour obtenir l'effet visuel souhaité.</a:t>
            </a:r>
          </a:p>
          <a:p>
            <a:pPr marL="336550" lvl="1" indent="0"/>
            <a:endParaRPr lang="fr-FR" dirty="0" smtClean="0">
              <a:latin typeface="Segoe UI Symbol"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19746322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a:hlinkClick r:id="rId2"/>
          </p:cNvPr>
          <p:cNvSpPr txBox="1">
            <a:spLocks noChangeArrowheads="1"/>
          </p:cNvSpPr>
          <p:nvPr/>
        </p:nvSpPr>
        <p:spPr bwMode="auto">
          <a:xfrm>
            <a:off x="2951212" y="2592807"/>
            <a:ext cx="563619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r>
              <a:rPr lang="fr-FR" sz="2400" b="1" dirty="0" smtClean="0">
                <a:solidFill>
                  <a:srgbClr val="7030A0"/>
                </a:solidFill>
                <a:latin typeface="Segoe UI Symbol" panose="020B0502040204020203" pitchFamily="34" charset="0"/>
                <a:cs typeface="Segoe UI" panose="020B0502040204020203" pitchFamily="34" charset="0"/>
              </a:rPr>
              <a:t>Exercice Implémentation de forme personnalisée</a:t>
            </a:r>
            <a:endParaRPr lang="fr-FR" sz="2400" b="1" dirty="0">
              <a:solidFill>
                <a:srgbClr val="7030A0"/>
              </a:solidFill>
              <a:latin typeface="Segoe UI Symbol"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16868407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a:hlinkClick r:id="rId2"/>
          </p:cNvPr>
          <p:cNvSpPr txBox="1">
            <a:spLocks noChangeArrowheads="1"/>
          </p:cNvSpPr>
          <p:nvPr/>
        </p:nvSpPr>
        <p:spPr bwMode="auto">
          <a:xfrm>
            <a:off x="933748" y="2991713"/>
            <a:ext cx="10311452" cy="23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algn="ctr">
              <a:lnSpc>
                <a:spcPts val="1488"/>
              </a:lnSpc>
              <a:spcBef>
                <a:spcPts val="1625"/>
              </a:spcBef>
              <a:buClr>
                <a:srgbClr val="006498"/>
              </a:buClr>
              <a:buSzPct val="61000"/>
            </a:pPr>
            <a:r>
              <a:rPr lang="fr-FR" altLang="en-US" sz="3200" b="1" dirty="0" smtClean="0">
                <a:solidFill>
                  <a:srgbClr val="7030A0"/>
                </a:solidFill>
                <a:latin typeface="Segoe UI" panose="020B0502040204020203" pitchFamily="34" charset="0"/>
                <a:cs typeface="Segoe UI" panose="020B0502040204020203" pitchFamily="34" charset="0"/>
              </a:rPr>
              <a:t>Premier projet de synthèse</a:t>
            </a:r>
            <a:endParaRPr lang="en-US" altLang="en-US" sz="3200" b="1" dirty="0">
              <a:solidFill>
                <a:srgbClr val="7030A0"/>
              </a:solidFill>
              <a:latin typeface="Segoe UI" panose="020B0502040204020203" pitchFamily="34" charset="0"/>
              <a:cs typeface="Segoe UI" panose="020B0502040204020203" pitchFamily="34" charset="0"/>
            </a:endParaRPr>
          </a:p>
        </p:txBody>
      </p:sp>
      <p:sp>
        <p:nvSpPr>
          <p:cNvPr id="11" name="object 18"/>
          <p:cNvSpPr txBox="1">
            <a:spLocks noChangeArrowheads="1"/>
          </p:cNvSpPr>
          <p:nvPr/>
        </p:nvSpPr>
        <p:spPr bwMode="auto">
          <a:xfrm>
            <a:off x="933748" y="3371029"/>
            <a:ext cx="10311452" cy="196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algn="ctr">
              <a:lnSpc>
                <a:spcPts val="1488"/>
              </a:lnSpc>
              <a:spcBef>
                <a:spcPts val="1625"/>
              </a:spcBef>
              <a:buClr>
                <a:srgbClr val="006498"/>
              </a:buClr>
              <a:buSzPct val="61000"/>
            </a:pPr>
            <a:r>
              <a:rPr lang="fr-FR" altLang="en-US" b="1" dirty="0" smtClean="0">
                <a:solidFill>
                  <a:srgbClr val="7030A0"/>
                </a:solidFill>
                <a:latin typeface="Segoe UI" panose="020B0502040204020203" pitchFamily="34" charset="0"/>
                <a:cs typeface="Segoe UI" panose="020B0502040204020203" pitchFamily="34" charset="0"/>
              </a:rPr>
              <a:t>Projet: </a:t>
            </a:r>
            <a:r>
              <a:rPr lang="fr-FR" altLang="en-US" b="1" dirty="0" err="1" smtClean="0">
                <a:solidFill>
                  <a:srgbClr val="7030A0"/>
                </a:solidFill>
                <a:latin typeface="Segoe UI" panose="020B0502040204020203" pitchFamily="34" charset="0"/>
                <a:cs typeface="Segoe UI" panose="020B0502040204020203" pitchFamily="34" charset="0"/>
              </a:rPr>
              <a:t>ColorPicker</a:t>
            </a:r>
            <a:endParaRPr lang="en-US" altLang="en-US" b="1" dirty="0">
              <a:solidFill>
                <a:srgbClr val="7030A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3718697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a:hlinkClick r:id="rId2"/>
          </p:cNvPr>
          <p:cNvSpPr txBox="1">
            <a:spLocks noChangeArrowheads="1"/>
          </p:cNvSpPr>
          <p:nvPr/>
        </p:nvSpPr>
        <p:spPr bwMode="auto">
          <a:xfrm>
            <a:off x="933748" y="3017471"/>
            <a:ext cx="10311452" cy="23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algn="ctr">
              <a:lnSpc>
                <a:spcPts val="1488"/>
              </a:lnSpc>
              <a:spcBef>
                <a:spcPts val="1625"/>
              </a:spcBef>
              <a:buClr>
                <a:srgbClr val="006498"/>
              </a:buClr>
              <a:buSzPct val="61000"/>
            </a:pPr>
            <a:r>
              <a:rPr lang="fr-FR" altLang="en-US" sz="3200" b="1" dirty="0" smtClean="0">
                <a:solidFill>
                  <a:srgbClr val="7030A0"/>
                </a:solidFill>
                <a:latin typeface="Segoe UI" panose="020B0502040204020203" pitchFamily="34" charset="0"/>
                <a:cs typeface="Segoe UI" panose="020B0502040204020203" pitchFamily="34" charset="0"/>
              </a:rPr>
              <a:t>Deuxième projet de synthèse</a:t>
            </a:r>
            <a:endParaRPr lang="en-US" altLang="en-US" sz="3200" b="1" dirty="0">
              <a:solidFill>
                <a:srgbClr val="7030A0"/>
              </a:solidFill>
              <a:latin typeface="Segoe UI" panose="020B0502040204020203" pitchFamily="34" charset="0"/>
              <a:cs typeface="Segoe UI" panose="020B0502040204020203" pitchFamily="34" charset="0"/>
            </a:endParaRPr>
          </a:p>
        </p:txBody>
      </p:sp>
      <p:sp>
        <p:nvSpPr>
          <p:cNvPr id="11" name="object 18"/>
          <p:cNvSpPr txBox="1">
            <a:spLocks noChangeArrowheads="1"/>
          </p:cNvSpPr>
          <p:nvPr/>
        </p:nvSpPr>
        <p:spPr bwMode="auto">
          <a:xfrm>
            <a:off x="933748" y="3371029"/>
            <a:ext cx="10311452" cy="196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algn="ctr">
              <a:lnSpc>
                <a:spcPts val="1488"/>
              </a:lnSpc>
              <a:spcBef>
                <a:spcPts val="1625"/>
              </a:spcBef>
              <a:buClr>
                <a:srgbClr val="006498"/>
              </a:buClr>
              <a:buSzPct val="61000"/>
            </a:pPr>
            <a:r>
              <a:rPr lang="fr-FR" altLang="en-US" b="1" dirty="0" smtClean="0">
                <a:solidFill>
                  <a:srgbClr val="7030A0"/>
                </a:solidFill>
                <a:latin typeface="Segoe UI" panose="020B0502040204020203" pitchFamily="34" charset="0"/>
                <a:cs typeface="Segoe UI" panose="020B0502040204020203" pitchFamily="34" charset="0"/>
              </a:rPr>
              <a:t>Projet: pay splitter</a:t>
            </a:r>
            <a:endParaRPr lang="en-US" altLang="en-US" b="1" dirty="0">
              <a:solidFill>
                <a:srgbClr val="7030A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92148376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10727</TotalTime>
  <Words>2312</Words>
  <Application>Microsoft Office PowerPoint</Application>
  <PresentationFormat>Widescreen</PresentationFormat>
  <Paragraphs>357</Paragraphs>
  <Slides>22</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Arial</vt:lpstr>
      <vt:lpstr>Calibri</vt:lpstr>
      <vt:lpstr>Calibri Light</vt:lpstr>
      <vt:lpstr>Cascadia Mono</vt:lpstr>
      <vt:lpstr>Comic Sans MS</vt:lpstr>
      <vt:lpstr>Segoe UI</vt:lpstr>
      <vt:lpstr>Segoe UI 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les fondmentaux </dc:title>
  <dc:creator>Windows User</dc:creator>
  <cp:lastModifiedBy>DELL</cp:lastModifiedBy>
  <cp:revision>232</cp:revision>
  <dcterms:created xsi:type="dcterms:W3CDTF">2022-10-07T06:35:33Z</dcterms:created>
  <dcterms:modified xsi:type="dcterms:W3CDTF">2025-07-14T17:54:09Z</dcterms:modified>
</cp:coreProperties>
</file>