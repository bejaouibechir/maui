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0" r:id="rId2"/>
    <p:sldId id="259" r:id="rId3"/>
    <p:sldId id="256" r:id="rId4"/>
    <p:sldId id="257" r:id="rId5"/>
    <p:sldId id="260" r:id="rId6"/>
    <p:sldId id="261" r:id="rId7"/>
    <p:sldId id="263" r:id="rId8"/>
    <p:sldId id="264" r:id="rId9"/>
    <p:sldId id="270" r:id="rId10"/>
    <p:sldId id="266" r:id="rId11"/>
    <p:sldId id="281" r:id="rId12"/>
    <p:sldId id="283" r:id="rId13"/>
    <p:sldId id="284" r:id="rId14"/>
    <p:sldId id="282" r:id="rId15"/>
    <p:sldId id="285" r:id="rId16"/>
    <p:sldId id="286" r:id="rId17"/>
    <p:sldId id="287" r:id="rId18"/>
    <p:sldId id="291" r:id="rId19"/>
    <p:sldId id="293" r:id="rId20"/>
    <p:sldId id="292" r:id="rId21"/>
    <p:sldId id="294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24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8D6C5-7C48-47C5-8987-7CAFD34068A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749FE-D8D1-49FD-88E1-2EB8BC928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9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https://github.com/bejaouibechir/Calculator-MAUI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749FE-D8D1-49FD-88E1-2EB8BC9280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40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198255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2023-2024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087940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gesturerecogniser.md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EventToCommandBehavior.md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Calculator-MAUI/blob/master/ContentPageExtenions.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ejaouibechir/MauiCalculatorSolu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Le patron MVVM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5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/>
          <p:cNvSpPr txBox="1">
            <a:spLocks/>
          </p:cNvSpPr>
          <p:nvPr/>
        </p:nvSpPr>
        <p:spPr>
          <a:xfrm>
            <a:off x="447336" y="1282559"/>
            <a:ext cx="8276040" cy="3114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Introduction du développement UI classique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MVVM c’est quoi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MVVM une comparaison avec les autres patrons de concepts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Avantages MVVM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Désavantages MVVM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MVVM dans MAUI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Conclusion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940730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1"/>
          <p:cNvSpPr txBox="1"/>
          <p:nvPr/>
        </p:nvSpPr>
        <p:spPr>
          <a:xfrm>
            <a:off x="228600" y="447859"/>
            <a:ext cx="204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Objectifs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585218"/>
            <a:ext cx="315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Post -MVVM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contenu 2"/>
          <p:cNvSpPr txBox="1">
            <a:spLocks/>
          </p:cNvSpPr>
          <p:nvPr/>
        </p:nvSpPr>
        <p:spPr>
          <a:xfrm>
            <a:off x="575496" y="1531056"/>
            <a:ext cx="9631346" cy="3978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Une architecture distribuée, une architecture multi tiers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L’avantage est de découpler les différents composants du système pour le but de </a:t>
            </a:r>
          </a:p>
          <a:p>
            <a:pPr algn="l"/>
            <a:endParaRPr lang="fr-FR" sz="2000" dirty="0" smtClean="0">
              <a:latin typeface="Candara" panose="020E0502030303020204" pitchFamily="3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Réutilisabilité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Evolutivité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Maintenance facile</a:t>
            </a:r>
          </a:p>
          <a:p>
            <a:pPr lvl="1" algn="l"/>
            <a:endParaRPr lang="fr-FR" sz="1800" dirty="0" smtClean="0">
              <a:latin typeface="Candara" panose="020E0502030303020204" pitchFamily="34" charset="0"/>
            </a:endParaRPr>
          </a:p>
        </p:txBody>
      </p:sp>
      <p:pic>
        <p:nvPicPr>
          <p:cNvPr id="1026" name="Picture 2" descr="The world is distributed | Microsoft 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668" y="2529530"/>
            <a:ext cx="6763822" cy="303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/>
          <p:cNvSpPr txBox="1">
            <a:spLocks/>
          </p:cNvSpPr>
          <p:nvPr/>
        </p:nvSpPr>
        <p:spPr>
          <a:xfrm>
            <a:off x="385728" y="1432610"/>
            <a:ext cx="6807080" cy="4410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dirty="0" smtClean="0">
                <a:latin typeface="Candara" panose="020E0502030303020204" pitchFamily="34" charset="0"/>
              </a:rPr>
              <a:t>Une architecture distribuée est composée de plusieurs niveaux</a:t>
            </a:r>
            <a:endParaRPr lang="fr-FR" sz="2000" dirty="0" smtClean="0">
              <a:latin typeface="Candara" panose="020E0502030303020204" pitchFamily="3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sz="1800" dirty="0" smtClean="0">
                <a:latin typeface="Candara" panose="020E0502030303020204" pitchFamily="34" charset="0"/>
              </a:rPr>
              <a:t>Niveau Accès aux données 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sz="1800" dirty="0" smtClean="0">
                <a:latin typeface="Candara" panose="020E0502030303020204" pitchFamily="34" charset="0"/>
              </a:rPr>
              <a:t>Niveau service 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sz="1800" dirty="0" smtClean="0">
                <a:latin typeface="Candara" panose="020E0502030303020204" pitchFamily="34" charset="0"/>
              </a:rPr>
              <a:t>Niveau applicatif 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fr-FR" sz="1800" dirty="0" smtClean="0">
                <a:latin typeface="Candara" panose="020E0502030303020204" pitchFamily="34" charset="0"/>
              </a:rPr>
              <a:t>Niveau de Test 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fr-FR" sz="1800" dirty="0" smtClean="0">
                <a:latin typeface="Candara" panose="020E0502030303020204" pitchFamily="34" charset="0"/>
              </a:rPr>
              <a:t> Pour mettre en œuvre les bonnes pratiques, en emploi souvent les</a:t>
            </a:r>
          </a:p>
          <a:p>
            <a:pPr marL="0" lvl="1" algn="l"/>
            <a:r>
              <a:rPr lang="fr-FR" sz="1800" dirty="0" smtClean="0">
                <a:latin typeface="Candara" panose="020E0502030303020204" pitchFamily="34" charset="0"/>
              </a:rPr>
              <a:t>  patrons de concepts adéquat </a:t>
            </a:r>
          </a:p>
          <a:p>
            <a:pPr lvl="1" indent="171450" algn="l"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fr-FR" sz="1800" b="1" dirty="0" smtClean="0">
                <a:latin typeface="Candara" panose="020E0502030303020204" pitchFamily="34" charset="0"/>
              </a:rPr>
              <a:t>Niveau données: </a:t>
            </a:r>
            <a:r>
              <a:rPr lang="fr-FR" sz="1800" dirty="0" smtClean="0">
                <a:latin typeface="Candara" panose="020E0502030303020204" pitchFamily="34" charset="0"/>
              </a:rPr>
              <a:t>Repository Pattern, DAO, Abstract Factory </a:t>
            </a:r>
          </a:p>
          <a:p>
            <a:pPr lvl="1" indent="171450" algn="l"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fr-FR" sz="1800" b="1" dirty="0" smtClean="0">
                <a:latin typeface="Candara" panose="020E0502030303020204" pitchFamily="34" charset="0"/>
              </a:rPr>
              <a:t>Niveau service: </a:t>
            </a:r>
            <a:r>
              <a:rPr lang="fr-FR" sz="1800" dirty="0" smtClean="0">
                <a:latin typeface="Candara" panose="020E0502030303020204" pitchFamily="34" charset="0"/>
              </a:rPr>
              <a:t>Singleton, Prototype</a:t>
            </a:r>
          </a:p>
          <a:p>
            <a:pPr lvl="1" indent="171450" algn="l"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fr-FR" sz="1800" b="1" dirty="0" smtClean="0">
                <a:latin typeface="Candara" panose="020E0502030303020204" pitchFamily="34" charset="0"/>
              </a:rPr>
              <a:t>Niveau Applicatif: </a:t>
            </a:r>
            <a:r>
              <a:rPr lang="fr-FR" sz="1800" dirty="0" smtClean="0">
                <a:latin typeface="Candara" panose="020E0502030303020204" pitchFamily="34" charset="0"/>
              </a:rPr>
              <a:t>Façade, IUnit Of Work, DTO</a:t>
            </a:r>
          </a:p>
          <a:p>
            <a:pPr lvl="1" indent="171450" algn="l"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fr-FR" sz="1800" b="1" dirty="0" smtClean="0">
                <a:latin typeface="Candara" panose="020E0502030303020204" pitchFamily="34" charset="0"/>
              </a:rPr>
              <a:t>Niveau Applicatif Architectural: </a:t>
            </a:r>
            <a:r>
              <a:rPr lang="fr-FR" sz="1800" dirty="0" smtClean="0">
                <a:latin typeface="Candara" panose="020E0502030303020204" pitchFamily="34" charset="0"/>
              </a:rPr>
              <a:t>MVVM, MVP,MVC</a:t>
            </a:r>
          </a:p>
          <a:p>
            <a:pPr lvl="1" indent="171450" algn="l"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fr-FR" sz="1800" b="1" dirty="0" smtClean="0">
                <a:latin typeface="Candara" panose="020E0502030303020204" pitchFamily="34" charset="0"/>
              </a:rPr>
              <a:t>Niveau Test: </a:t>
            </a:r>
            <a:r>
              <a:rPr lang="fr-FR" sz="1800" dirty="0" smtClean="0">
                <a:latin typeface="Candara" panose="020E0502030303020204" pitchFamily="34" charset="0"/>
              </a:rPr>
              <a:t>Data Driven Test</a:t>
            </a:r>
          </a:p>
          <a:p>
            <a:pPr lvl="1" algn="l">
              <a:tabLst>
                <a:tab pos="576263" algn="l"/>
              </a:tabLst>
            </a:pPr>
            <a:endParaRPr lang="fr-FR" sz="1800" dirty="0" smtClean="0">
              <a:latin typeface="Candara" panose="020E0502030303020204" pitchFamily="34" charset="0"/>
            </a:endParaRPr>
          </a:p>
        </p:txBody>
      </p:sp>
      <p:cxnSp>
        <p:nvCxnSpPr>
          <p:cNvPr id="4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928770" y="3621144"/>
            <a:ext cx="3672408" cy="21602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2"/>
          <p:cNvSpPr/>
          <p:nvPr/>
        </p:nvSpPr>
        <p:spPr>
          <a:xfrm>
            <a:off x="8360818" y="3770300"/>
            <a:ext cx="2808312" cy="79208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 Access Layer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3"/>
          <p:cNvSpPr/>
          <p:nvPr/>
        </p:nvSpPr>
        <p:spPr>
          <a:xfrm>
            <a:off x="8374538" y="4845280"/>
            <a:ext cx="2808312" cy="79208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 Acces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44922" y="2507590"/>
            <a:ext cx="2232248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Couche service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928770" y="1432610"/>
            <a:ext cx="3672408" cy="7920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Couche Applicative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099388" y="5918184"/>
            <a:ext cx="31678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Candara" panose="020E0502030303020204" pitchFamily="34" charset="0"/>
              </a:rPr>
              <a:t>Exemple d’architecture distribuée</a:t>
            </a:r>
            <a:endParaRPr lang="en-US" sz="1600" b="1" dirty="0"/>
          </a:p>
        </p:txBody>
      </p:sp>
      <p:cxnSp>
        <p:nvCxnSpPr>
          <p:cNvPr id="11" name="Straight Arrow Connector 7"/>
          <p:cNvCxnSpPr/>
          <p:nvPr/>
        </p:nvCxnSpPr>
        <p:spPr>
          <a:xfrm flipV="1">
            <a:off x="10593066" y="3299678"/>
            <a:ext cx="0" cy="31345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8"/>
          <p:cNvCxnSpPr/>
          <p:nvPr/>
        </p:nvCxnSpPr>
        <p:spPr>
          <a:xfrm flipV="1">
            <a:off x="10593066" y="2192881"/>
            <a:ext cx="0" cy="35643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9"/>
          <p:cNvCxnSpPr/>
          <p:nvPr/>
        </p:nvCxnSpPr>
        <p:spPr>
          <a:xfrm flipV="1">
            <a:off x="8576842" y="2210152"/>
            <a:ext cx="0" cy="141099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228600" y="585218"/>
            <a:ext cx="315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Post -MVVM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51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16276"/>
              </p:ext>
            </p:extLst>
          </p:nvPr>
        </p:nvGraphicFramePr>
        <p:xfrm>
          <a:off x="1249840" y="1859893"/>
          <a:ext cx="8727956" cy="3108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63978">
                  <a:extLst>
                    <a:ext uri="{9D8B030D-6E8A-4147-A177-3AD203B41FA5}">
                      <a16:colId xmlns:a16="http://schemas.microsoft.com/office/drawing/2014/main" val="1901892800"/>
                    </a:ext>
                  </a:extLst>
                </a:gridCol>
                <a:gridCol w="4363978">
                  <a:extLst>
                    <a:ext uri="{9D8B030D-6E8A-4147-A177-3AD203B41FA5}">
                      <a16:colId xmlns:a16="http://schemas.microsoft.com/office/drawing/2014/main" val="3104776017"/>
                    </a:ext>
                  </a:extLst>
                </a:gridCol>
              </a:tblGrid>
              <a:tr h="402994">
                <a:tc>
                  <a:txBody>
                    <a:bodyPr/>
                    <a:lstStyle/>
                    <a:p>
                      <a:r>
                        <a:rPr lang="en-US" dirty="0" smtClean="0"/>
                        <a:t>Patrons</a:t>
                      </a:r>
                      <a:r>
                        <a:rPr lang="en-US" baseline="0" dirty="0" smtClean="0"/>
                        <a:t> architectural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Patrons non</a:t>
                      </a:r>
                      <a:r>
                        <a:rPr lang="en-US" baseline="0" dirty="0" smtClean="0"/>
                        <a:t> architectural 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95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 dirty="0" smtClean="0"/>
                        <a:t>Règles</a:t>
                      </a:r>
                      <a:r>
                        <a:rPr lang="fr-FR" baseline="0" noProof="0" dirty="0" smtClean="0"/>
                        <a:t> pour construire des structures de systèmes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 smtClean="0"/>
                        <a:t>Règles</a:t>
                      </a:r>
                      <a:r>
                        <a:rPr lang="fr-FR" baseline="0" noProof="0" dirty="0" smtClean="0"/>
                        <a:t> pour résoudre certaines contraintes dans les système</a:t>
                      </a:r>
                      <a:endParaRPr lang="fr-FR" noProof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93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 smtClean="0"/>
                        <a:t>Règles</a:t>
                      </a:r>
                      <a:r>
                        <a:rPr lang="fr-FR" baseline="0" noProof="0" dirty="0" smtClean="0"/>
                        <a:t> pour garantir une interaction découplée des divers composants du système</a:t>
                      </a:r>
                      <a:endParaRPr lang="fr-FR" noProof="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 smtClean="0"/>
                        <a:t>Règles</a:t>
                      </a:r>
                      <a:r>
                        <a:rPr lang="fr-FR" baseline="0" noProof="0" dirty="0" smtClean="0"/>
                        <a:t> pour simplifier le maximum le code et délimiter les frontières entre les divers parties du code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31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 dirty="0" smtClean="0"/>
                        <a:t>Adoption de séparation abstraction de l’implémentation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partielle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062951"/>
                  </a:ext>
                </a:extLst>
              </a:tr>
            </a:tbl>
          </a:graphicData>
        </a:graphic>
      </p:graphicFrame>
      <p:cxnSp>
        <p:nvCxnSpPr>
          <p:cNvPr id="4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228600" y="585218"/>
            <a:ext cx="315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Post -MVVM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10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/>
          <p:cNvSpPr txBox="1">
            <a:spLocks/>
          </p:cNvSpPr>
          <p:nvPr/>
        </p:nvSpPr>
        <p:spPr>
          <a:xfrm>
            <a:off x="3590496" y="5754116"/>
            <a:ext cx="5072553" cy="462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 smtClean="0">
                <a:latin typeface="Candara" panose="020E0502030303020204" pitchFamily="34" charset="0"/>
              </a:rPr>
              <a:t>Exemple de code classique UI fortement couplé</a:t>
            </a:r>
            <a:endParaRPr lang="fr-FR" sz="1600" b="1" dirty="0">
              <a:latin typeface="Candara" panose="020E05020303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15" y="1516977"/>
            <a:ext cx="6853400" cy="39564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29495" y="4585443"/>
            <a:ext cx="1800200" cy="203763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61" y="1448789"/>
            <a:ext cx="4654865" cy="2831112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 flipV="1">
            <a:off x="5129495" y="1609107"/>
            <a:ext cx="3379175" cy="36991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228600" y="585218"/>
            <a:ext cx="315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Post -MVVM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5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03055"/>
            <a:ext cx="9238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Les limites du model de développement classique  par apport aux architectures découplées :  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5222" y="1922354"/>
            <a:ext cx="913816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Pas facile à tester</a:t>
            </a:r>
          </a:p>
          <a:p>
            <a:endParaRPr lang="fr-FR" dirty="0" smtClean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Niveau de complexité qui à tendance d’augmenter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Pas facile  à partager dans un contexte de système 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Niveau de dépendance très élevé entre l’interface graphique et la logique ce qui mène 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>
              <a:latin typeface="Candara" panose="020E0502030303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Candara" panose="020E0502030303020204" pitchFamily="34" charset="0"/>
              </a:rPr>
              <a:t>Maintenance accès délicate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Candara" panose="020E0502030303020204" pitchFamily="34" charset="0"/>
              </a:rPr>
              <a:t>Evolutivité non facile </a:t>
            </a:r>
          </a:p>
        </p:txBody>
      </p:sp>
      <p:cxnSp>
        <p:nvCxnSpPr>
          <p:cNvPr id="8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228600" y="585218"/>
            <a:ext cx="315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Post -MVVM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32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>
            <a:stCxn id="6" idx="0"/>
          </p:cNvCxnSpPr>
          <p:nvPr/>
        </p:nvCxnSpPr>
        <p:spPr>
          <a:xfrm flipH="1" flipV="1">
            <a:off x="1945376" y="2325773"/>
            <a:ext cx="171209" cy="101184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6" idx="0"/>
          </p:cNvCxnSpPr>
          <p:nvPr/>
        </p:nvCxnSpPr>
        <p:spPr>
          <a:xfrm flipV="1">
            <a:off x="2116585" y="2478173"/>
            <a:ext cx="0" cy="85944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01790" y="528141"/>
            <a:ext cx="2864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Candara" panose="020E0502030303020204" pitchFamily="34" charset="0"/>
              </a:rPr>
              <a:t>MVVM c’est quoi?</a:t>
            </a:r>
            <a:endParaRPr lang="fr-FR" sz="2800" dirty="0">
              <a:latin typeface="Candara" panose="020E0502030303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8839" y="1427564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12429" y="3337620"/>
            <a:ext cx="2808312" cy="89820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 Model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12429" y="4736150"/>
            <a:ext cx="2808312" cy="89820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31239" y="1579964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883639" y="1732364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cxnSp>
        <p:nvCxnSpPr>
          <p:cNvPr id="10" name="Straight Arrow Connector 9"/>
          <p:cNvCxnSpPr>
            <a:stCxn id="7" idx="0"/>
            <a:endCxn id="6" idx="2"/>
          </p:cNvCxnSpPr>
          <p:nvPr/>
        </p:nvCxnSpPr>
        <p:spPr>
          <a:xfrm flipV="1">
            <a:off x="2116585" y="4235829"/>
            <a:ext cx="0" cy="50032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0"/>
            <a:endCxn id="9" idx="2"/>
          </p:cNvCxnSpPr>
          <p:nvPr/>
        </p:nvCxnSpPr>
        <p:spPr>
          <a:xfrm flipV="1">
            <a:off x="2116585" y="2630573"/>
            <a:ext cx="171210" cy="70704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/>
          </p:cNvCxnSpPr>
          <p:nvPr/>
        </p:nvCxnSpPr>
        <p:spPr>
          <a:xfrm flipV="1">
            <a:off x="296138" y="1157488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4"/>
          <p:cNvSpPr/>
          <p:nvPr/>
        </p:nvSpPr>
        <p:spPr>
          <a:xfrm>
            <a:off x="4753688" y="3444628"/>
            <a:ext cx="2808312" cy="89820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 Model</a:t>
            </a:r>
            <a:endParaRPr lang="en-US" dirty="0"/>
          </a:p>
        </p:txBody>
      </p:sp>
      <p:sp>
        <p:nvSpPr>
          <p:cNvPr id="16" name="Rounded Rectangle 5"/>
          <p:cNvSpPr/>
          <p:nvPr/>
        </p:nvSpPr>
        <p:spPr>
          <a:xfrm>
            <a:off x="8792817" y="3433986"/>
            <a:ext cx="2808312" cy="89820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17" name="Rounded Rectangle 6"/>
          <p:cNvSpPr/>
          <p:nvPr/>
        </p:nvSpPr>
        <p:spPr>
          <a:xfrm>
            <a:off x="4753688" y="1858253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cxnSp>
        <p:nvCxnSpPr>
          <p:cNvPr id="18" name="Straight Arrow Connector 7"/>
          <p:cNvCxnSpPr>
            <a:endCxn id="15" idx="0"/>
          </p:cNvCxnSpPr>
          <p:nvPr/>
        </p:nvCxnSpPr>
        <p:spPr>
          <a:xfrm>
            <a:off x="6157844" y="2756462"/>
            <a:ext cx="0" cy="68816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8"/>
          <p:cNvCxnSpPr>
            <a:stCxn id="15" idx="3"/>
            <a:endCxn id="16" idx="1"/>
          </p:cNvCxnSpPr>
          <p:nvPr/>
        </p:nvCxnSpPr>
        <p:spPr>
          <a:xfrm flipV="1">
            <a:off x="7562000" y="3883091"/>
            <a:ext cx="1230817" cy="1064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9"/>
          <p:cNvCxnSpPr>
            <a:stCxn id="16" idx="2"/>
            <a:endCxn id="15" idx="2"/>
          </p:cNvCxnSpPr>
          <p:nvPr/>
        </p:nvCxnSpPr>
        <p:spPr>
          <a:xfrm rot="5400000">
            <a:off x="8172088" y="2317952"/>
            <a:ext cx="10642" cy="4039129"/>
          </a:xfrm>
          <a:prstGeom prst="curvedConnector3">
            <a:avLst>
              <a:gd name="adj1" fmla="val 11336187"/>
            </a:avLst>
          </a:prstGeom>
          <a:ln w="28575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10"/>
          <p:cNvCxnSpPr>
            <a:stCxn id="15" idx="3"/>
            <a:endCxn id="17" idx="3"/>
          </p:cNvCxnSpPr>
          <p:nvPr/>
        </p:nvCxnSpPr>
        <p:spPr>
          <a:xfrm flipV="1">
            <a:off x="7562000" y="2307358"/>
            <a:ext cx="12700" cy="1586375"/>
          </a:xfrm>
          <a:prstGeom prst="curvedConnector3">
            <a:avLst>
              <a:gd name="adj1" fmla="val 7546157"/>
            </a:avLst>
          </a:prstGeom>
          <a:ln w="28575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72537" y="2910587"/>
            <a:ext cx="16049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/>
              <a:t>Liaison de données</a:t>
            </a:r>
            <a:endParaRPr lang="fr-FR" sz="1400" b="1" dirty="0"/>
          </a:p>
        </p:txBody>
      </p:sp>
      <p:sp>
        <p:nvSpPr>
          <p:cNvPr id="23" name="Rectangle 22"/>
          <p:cNvSpPr/>
          <p:nvPr/>
        </p:nvSpPr>
        <p:spPr>
          <a:xfrm>
            <a:off x="8177408" y="2294497"/>
            <a:ext cx="19624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/>
              <a:t>Renvoi des notifications</a:t>
            </a:r>
            <a:endParaRPr lang="fr-FR" sz="1400" b="1" dirty="0"/>
          </a:p>
        </p:txBody>
      </p:sp>
      <p:sp>
        <p:nvSpPr>
          <p:cNvPr id="24" name="Rectangle 23"/>
          <p:cNvSpPr/>
          <p:nvPr/>
        </p:nvSpPr>
        <p:spPr>
          <a:xfrm>
            <a:off x="7519194" y="3912226"/>
            <a:ext cx="12014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/>
              <a:t>modifications</a:t>
            </a:r>
            <a:endParaRPr lang="fr-FR" sz="1400" b="1" dirty="0"/>
          </a:p>
        </p:txBody>
      </p:sp>
      <p:sp>
        <p:nvSpPr>
          <p:cNvPr id="25" name="Rectangle 24"/>
          <p:cNvSpPr/>
          <p:nvPr/>
        </p:nvSpPr>
        <p:spPr>
          <a:xfrm>
            <a:off x="7298177" y="4922627"/>
            <a:ext cx="19624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/>
              <a:t>Renvoi des notifications</a:t>
            </a:r>
            <a:endParaRPr lang="fr-FR" sz="1400" b="1" dirty="0"/>
          </a:p>
        </p:txBody>
      </p:sp>
      <p:sp>
        <p:nvSpPr>
          <p:cNvPr id="26" name="Rectangle 25"/>
          <p:cNvSpPr/>
          <p:nvPr/>
        </p:nvSpPr>
        <p:spPr>
          <a:xfrm>
            <a:off x="3903727" y="6064723"/>
            <a:ext cx="38659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fr-FR" sz="1400" b="1" dirty="0" smtClean="0">
                <a:latin typeface="Candara" panose="020E0502030303020204" pitchFamily="34" charset="0"/>
              </a:rPr>
              <a:t>Architecture et interactions MVVM</a:t>
            </a:r>
            <a:endParaRPr lang="fr-FR" sz="14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258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70800" y="2729602"/>
            <a:ext cx="2160240" cy="151461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rgbClr val="7030A0"/>
                </a:solidFill>
              </a:rPr>
              <a:t>Objet de dependence</a:t>
            </a:r>
          </a:p>
          <a:p>
            <a:pPr algn="ctr"/>
            <a:endParaRPr lang="en-US" dirty="0" smtClean="0">
              <a:solidFill>
                <a:srgbClr val="7030A0"/>
              </a:solidFill>
            </a:endParaRPr>
          </a:p>
          <a:p>
            <a:pPr algn="ctr"/>
            <a:r>
              <a:rPr lang="en-US" dirty="0" smtClean="0">
                <a:solidFill>
                  <a:srgbClr val="7030A0"/>
                </a:solidFill>
              </a:rPr>
              <a:t>Propriété de dependence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60218" y="2729602"/>
            <a:ext cx="2160240" cy="15146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rgbClr val="FFFF00"/>
                </a:solidFill>
              </a:rPr>
              <a:t>Object qui </a:t>
            </a:r>
            <a:r>
              <a:rPr lang="en-US" sz="1200" b="1" dirty="0" err="1" smtClean="0">
                <a:solidFill>
                  <a:srgbClr val="FFFF00"/>
                </a:solidFill>
              </a:rPr>
              <a:t>implémente</a:t>
            </a:r>
            <a:r>
              <a:rPr lang="en-US" sz="1200" b="1" dirty="0" smtClean="0">
                <a:solidFill>
                  <a:srgbClr val="FFFF00"/>
                </a:solidFill>
              </a:rPr>
              <a:t> </a:t>
            </a:r>
            <a:r>
              <a:rPr lang="en-US" sz="1200" b="1" dirty="0" err="1" smtClean="0">
                <a:solidFill>
                  <a:srgbClr val="FFFF00"/>
                </a:solidFill>
              </a:rPr>
              <a:t>INotifyPropertyChanged</a:t>
            </a:r>
            <a:endParaRPr lang="en-US" sz="1200" b="1" dirty="0" smtClean="0">
              <a:solidFill>
                <a:srgbClr val="FFFF00"/>
              </a:solidFill>
            </a:endParaRPr>
          </a:p>
          <a:p>
            <a:endParaRPr lang="en-US" sz="12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pPr algn="ctr"/>
            <a:r>
              <a:rPr lang="en-US" dirty="0" smtClean="0">
                <a:solidFill>
                  <a:srgbClr val="FFFF00"/>
                </a:solidFill>
              </a:rPr>
              <a:t>Propriété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4" name="Straight Arrow Connector 3"/>
          <p:cNvCxnSpPr>
            <a:stCxn id="3" idx="1"/>
            <a:endCxn id="2" idx="3"/>
          </p:cNvCxnSpPr>
          <p:nvPr/>
        </p:nvCxnSpPr>
        <p:spPr>
          <a:xfrm flipH="1">
            <a:off x="4631040" y="3486909"/>
            <a:ext cx="192917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165062" y="2989760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Liaison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7401" y="2256595"/>
            <a:ext cx="85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Source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68956" y="2256595"/>
            <a:ext cx="1306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Destination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5171" y="4347891"/>
            <a:ext cx="551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Vue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99778" y="4347891"/>
            <a:ext cx="1281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ViewModel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8709" y="3614727"/>
            <a:ext cx="16289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Candara" panose="020E0502030303020204" pitchFamily="34" charset="0"/>
              </a:rPr>
              <a:t>Modes de liaisons:</a:t>
            </a:r>
          </a:p>
          <a:p>
            <a:pPr marL="228600" indent="-228600">
              <a:buFont typeface="+mj-lt"/>
              <a:buAutoNum type="arabicPeriod"/>
            </a:pPr>
            <a:r>
              <a:rPr lang="fr-FR" sz="1200" dirty="0" smtClean="0">
                <a:latin typeface="Candara" panose="020E0502030303020204" pitchFamily="34" charset="0"/>
              </a:rPr>
              <a:t>Dans un sens</a:t>
            </a:r>
          </a:p>
          <a:p>
            <a:pPr marL="228600" indent="-228600">
              <a:buFont typeface="+mj-lt"/>
              <a:buAutoNum type="arabicPeriod"/>
            </a:pPr>
            <a:r>
              <a:rPr lang="fr-FR" sz="1200" dirty="0" smtClean="0">
                <a:latin typeface="Candara" panose="020E0502030303020204" pitchFamily="34" charset="0"/>
              </a:rPr>
              <a:t>Dans les deux sens</a:t>
            </a:r>
            <a:endParaRPr lang="fr-FR" sz="1200" dirty="0">
              <a:latin typeface="Candara" panose="020E0502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60218" y="1913553"/>
            <a:ext cx="85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Source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37207" y="1961183"/>
            <a:ext cx="1306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Candara" panose="020E0502030303020204" pitchFamily="34" charset="0"/>
              </a:rPr>
              <a:t>Destination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98709" y="4028192"/>
            <a:ext cx="1628972" cy="232866"/>
          </a:xfrm>
          <a:prstGeom prst="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537207" y="2016121"/>
            <a:ext cx="1628972" cy="585664"/>
          </a:xfrm>
          <a:prstGeom prst="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649149" y="1981978"/>
            <a:ext cx="1628972" cy="643949"/>
          </a:xfrm>
          <a:prstGeom prst="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5704" y="552504"/>
            <a:ext cx="2864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Candara" panose="020E0502030303020204" pitchFamily="34" charset="0"/>
              </a:rPr>
              <a:t>MVVM c’est quoi?</a:t>
            </a:r>
            <a:endParaRPr lang="fr-FR" sz="2800" dirty="0">
              <a:latin typeface="Candara" panose="020E0502030303020204" pitchFamily="34" charset="0"/>
            </a:endParaRPr>
          </a:p>
        </p:txBody>
      </p:sp>
      <p:cxnSp>
        <p:nvCxnSpPr>
          <p:cNvPr id="17" name="Straight Connector 13"/>
          <p:cNvCxnSpPr>
            <a:cxnSpLocks/>
          </p:cNvCxnSpPr>
          <p:nvPr/>
        </p:nvCxnSpPr>
        <p:spPr>
          <a:xfrm flipV="1">
            <a:off x="456455" y="1221933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78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>
            <a:stCxn id="8" idx="0"/>
          </p:cNvCxnSpPr>
          <p:nvPr/>
        </p:nvCxnSpPr>
        <p:spPr>
          <a:xfrm flipH="1" flipV="1">
            <a:off x="3765858" y="2347606"/>
            <a:ext cx="1849172" cy="101184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8" idx="0"/>
          </p:cNvCxnSpPr>
          <p:nvPr/>
        </p:nvCxnSpPr>
        <p:spPr>
          <a:xfrm flipH="1" flipV="1">
            <a:off x="3937066" y="2500006"/>
            <a:ext cx="1677964" cy="85944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99320" y="1449396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2532909" y="3359452"/>
            <a:ext cx="6164241" cy="89820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 smtClean="0">
                <a:solidFill>
                  <a:schemeClr val="tx1"/>
                </a:solidFill>
              </a:rPr>
              <a:t>Liaisons, Commandes, données</a:t>
            </a:r>
          </a:p>
          <a:p>
            <a:pPr algn="ctr"/>
            <a:r>
              <a:rPr lang="en-US" dirty="0" smtClean="0"/>
              <a:t>View Model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210873" y="4747764"/>
            <a:ext cx="2808312" cy="89820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</a:p>
          <a:p>
            <a:pPr algn="ctr"/>
            <a:r>
              <a:rPr lang="en-US" dirty="0"/>
              <a:t>	</a:t>
            </a:r>
            <a:r>
              <a:rPr lang="en-US" dirty="0" smtClean="0"/>
              <a:t>                  </a:t>
            </a:r>
            <a:r>
              <a:rPr lang="fr-FR" b="1" dirty="0" smtClean="0">
                <a:solidFill>
                  <a:schemeClr val="tx1"/>
                </a:solidFill>
              </a:rPr>
              <a:t>Entités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51720" y="1601796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745137" y="1754196"/>
            <a:ext cx="2808312" cy="89820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Views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9" idx="0"/>
            <a:endCxn id="8" idx="2"/>
          </p:cNvCxnSpPr>
          <p:nvPr/>
        </p:nvCxnSpPr>
        <p:spPr>
          <a:xfrm flipV="1">
            <a:off x="5615029" y="4257661"/>
            <a:ext cx="1" cy="49010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0"/>
            <a:endCxn id="11" idx="2"/>
          </p:cNvCxnSpPr>
          <p:nvPr/>
        </p:nvCxnSpPr>
        <p:spPr>
          <a:xfrm flipH="1" flipV="1">
            <a:off x="4149293" y="2652405"/>
            <a:ext cx="1465737" cy="70704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60847" y="1754196"/>
            <a:ext cx="2808312" cy="89820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 unitaires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8" idx="0"/>
            <a:endCxn id="14" idx="2"/>
          </p:cNvCxnSpPr>
          <p:nvPr/>
        </p:nvCxnSpPr>
        <p:spPr>
          <a:xfrm flipV="1">
            <a:off x="5615030" y="2652405"/>
            <a:ext cx="1749973" cy="70704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 flipV="1">
            <a:off x="492081" y="1158821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765858" y="5982187"/>
            <a:ext cx="38659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fr-FR" sz="1400" b="1" dirty="0" smtClean="0">
                <a:latin typeface="Candara" panose="020E0502030303020204" pitchFamily="34" charset="0"/>
              </a:rPr>
              <a:t>Architecture et interactions MVVM</a:t>
            </a:r>
            <a:endParaRPr lang="fr-FR" sz="1400" b="1" dirty="0">
              <a:latin typeface="Candara" panose="020E0502030303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1795" y="518823"/>
            <a:ext cx="2864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Candara" panose="020E0502030303020204" pitchFamily="34" charset="0"/>
              </a:rPr>
              <a:t>MVVM c’est quoi?</a:t>
            </a:r>
            <a:endParaRPr lang="fr-FR" sz="28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13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949" y="1436436"/>
            <a:ext cx="104452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Pour le cas de MVVM, les actions ou les comportements sont définit essentiellement sous forme des commandes routées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Une commande routée est essentiellement une classe qui implémente l’interface </a:t>
            </a:r>
            <a:r>
              <a:rPr lang="fr-FR" b="1" dirty="0" smtClean="0">
                <a:latin typeface="Candara" panose="020E0502030303020204" pitchFamily="34" charset="0"/>
              </a:rPr>
              <a:t>ICommand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445325" y="2964763"/>
            <a:ext cx="597666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System.Windows.Input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ICommand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event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EventHandler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CanExecuteChanged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bool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parameter);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void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Execute(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parameter);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  <p:cxnSp>
        <p:nvCxnSpPr>
          <p:cNvPr id="4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commandes routées vs les événements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38825" y="5325988"/>
            <a:ext cx="25807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fr-FR" sz="1600" b="1" dirty="0" smtClean="0">
                <a:latin typeface="Candara" panose="020E0502030303020204" pitchFamily="34" charset="0"/>
              </a:rPr>
              <a:t>L’interface </a:t>
            </a:r>
            <a:r>
              <a:rPr lang="fr-FR" sz="1600" b="1" dirty="0">
                <a:latin typeface="Candara" panose="020E0502030303020204" pitchFamily="34" charset="0"/>
              </a:rPr>
              <a:t>ICommand</a:t>
            </a:r>
          </a:p>
        </p:txBody>
      </p:sp>
    </p:spTree>
    <p:extLst>
      <p:ext uri="{BB962C8B-B14F-4D97-AF65-F5344CB8AC3E}">
        <p14:creationId xmlns:p14="http://schemas.microsoft.com/office/powerpoint/2010/main" val="404403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commandes routées vs les événements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7469" y="2075334"/>
            <a:ext cx="541099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ClickCommand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ICommand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EventHandler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CanExecuteChanged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parameter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=&gt;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Execute(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=&gt; 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Application.Current.MainPage.DisplayAlert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Test de commande"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"Ce ci est un teste 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de paramètre"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OK"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5788466" y="2059945"/>
            <a:ext cx="609600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ContentPage.Resources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local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ClickCommand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x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Key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="clickCmd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"/&gt;</a:t>
            </a:r>
            <a:endParaRPr lang="fr-FR" sz="16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ContentPage.Resources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fr-FR" sz="14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Command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StaticResource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clickCmd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="Clique moi !!!" 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-149372" y="1371912"/>
            <a:ext cx="108678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Pour découvrir le fonctionnement des commandes routées 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7015" y="5479136"/>
            <a:ext cx="45416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Candara" panose="020E0502030303020204" pitchFamily="34" charset="0"/>
              </a:rPr>
              <a:t>Exemple d’implémentation de commande routée </a:t>
            </a:r>
            <a:endParaRPr lang="fr-FR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6472540" y="4299020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Candara" panose="020E0502030303020204" pitchFamily="34" charset="0"/>
              </a:rPr>
              <a:t>Exemple de consommation de commande routée 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15269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commandes routées vs les événements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49372" y="1371912"/>
            <a:ext cx="108678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Il est possible de passer un paramètre à travers l’argument de la méthode </a:t>
            </a:r>
            <a:r>
              <a:rPr lang="fr-FR" dirty="0" err="1" smtClean="0">
                <a:latin typeface="Candara" panose="020E0502030303020204" pitchFamily="34" charset="0"/>
              </a:rPr>
              <a:t>execute</a:t>
            </a: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7015" y="5479136"/>
            <a:ext cx="45416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Candara" panose="020E0502030303020204" pitchFamily="34" charset="0"/>
              </a:rPr>
              <a:t>Exemple d’implémentation de commande routée </a:t>
            </a:r>
            <a:endParaRPr lang="fr-FR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6430151" y="5479136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Candara" panose="020E0502030303020204" pitchFamily="34" charset="0"/>
              </a:rPr>
              <a:t>Exemple de consommation de commande routée </a:t>
            </a:r>
            <a:endParaRPr lang="fr-FR" sz="1600" b="1" dirty="0"/>
          </a:p>
        </p:txBody>
      </p:sp>
      <p:sp>
        <p:nvSpPr>
          <p:cNvPr id="2" name="Rectangle 1"/>
          <p:cNvSpPr/>
          <p:nvPr/>
        </p:nvSpPr>
        <p:spPr>
          <a:xfrm>
            <a:off x="462247" y="1876901"/>
            <a:ext cx="549043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ClickCommand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ICommand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EventHandler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CanExecuteChanged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=&gt;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Execute(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message = (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fr-FR" sz="1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Application.Current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MainPage.DisplayAlert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"Test de commande"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message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"OK"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200" dirty="0"/>
          </a:p>
        </p:txBody>
      </p:sp>
      <p:sp>
        <p:nvSpPr>
          <p:cNvPr id="3" name="Rectangle 2"/>
          <p:cNvSpPr/>
          <p:nvPr/>
        </p:nvSpPr>
        <p:spPr>
          <a:xfrm>
            <a:off x="5491065" y="1876901"/>
            <a:ext cx="68018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Command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StaticResource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clickCmd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CommandParameter</a:t>
            </a:r>
            <a:endParaRPr lang="fr-FR" sz="1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	</a:t>
            </a:r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Ce ci est un paramètre passé à la commande"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="Clique moi !!!"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cxnSp>
        <p:nvCxnSpPr>
          <p:cNvPr id="12" name="Connecteur droit avec flèche 11"/>
          <p:cNvCxnSpPr/>
          <p:nvPr/>
        </p:nvCxnSpPr>
        <p:spPr>
          <a:xfrm flipH="1">
            <a:off x="4505388" y="2628143"/>
            <a:ext cx="1924764" cy="65400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292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282" y="1500210"/>
            <a:ext cx="105366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La plupart des contrôles disposent déjà d’une propriété de dépendance </a:t>
            </a:r>
            <a:r>
              <a:rPr lang="fr-FR" b="1" dirty="0" smtClean="0">
                <a:latin typeface="Candara" panose="020E0502030303020204" pitchFamily="34" charset="0"/>
              </a:rPr>
              <a:t>Command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b="1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Une autre propriété de dépendance </a:t>
            </a:r>
            <a:r>
              <a:rPr lang="fr-FR" b="1" dirty="0" err="1" smtClean="0">
                <a:latin typeface="Candara" panose="020E0502030303020204" pitchFamily="34" charset="0"/>
              </a:rPr>
              <a:t>CommandParameter</a:t>
            </a:r>
            <a:r>
              <a:rPr lang="fr-FR" dirty="0" smtClean="0">
                <a:latin typeface="Candara" panose="020E0502030303020204" pitchFamily="34" charset="0"/>
              </a:rPr>
              <a:t> qui permet de passer des paramètres au </a:t>
            </a:r>
            <a:r>
              <a:rPr lang="fr-FR" b="1" dirty="0" smtClean="0">
                <a:latin typeface="Candara" panose="020E0502030303020204" pitchFamily="34" charset="0"/>
              </a:rPr>
              <a:t>ViewModel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b="1" dirty="0" smtClean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Il existe deux patrons de concept utilisés dans le contexte des commandes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DelegateCommand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 err="1" smtClean="0">
                <a:latin typeface="Candara" panose="020E0502030303020204" pitchFamily="34" charset="0"/>
              </a:rPr>
              <a:t>RelayCommand</a:t>
            </a:r>
            <a:endParaRPr lang="fr-FR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b="1" dirty="0" smtClean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patrons DelegateCommand &amp; </a:t>
            </a:r>
            <a:r>
              <a:rPr lang="fr-FR" sz="2800" i="1" dirty="0" err="1" smtClean="0">
                <a:latin typeface="Candara" panose="020E0502030303020204" pitchFamily="34" charset="0"/>
              </a:rPr>
              <a:t>RelayCommand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57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14" y="1411145"/>
            <a:ext cx="6744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Voici un exemple d’implémentation de DelegateCommand</a:t>
            </a:r>
            <a:endParaRPr lang="fr-FR" b="1" dirty="0" smtClean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patrons DelegateCommand &amp; </a:t>
            </a:r>
            <a:r>
              <a:rPr lang="fr-FR" sz="2800" i="1" dirty="0" err="1" smtClean="0">
                <a:latin typeface="Candara" panose="020E0502030303020204" pitchFamily="34" charset="0"/>
              </a:rPr>
              <a:t>RelayCommand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6378" y="1860365"/>
            <a:ext cx="930827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ClickCommand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ICommand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Action&lt;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object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 _</a:t>
            </a:r>
            <a:r>
              <a:rPr lang="fr-FR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execute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;</a:t>
            </a: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Func&lt;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object</a:t>
            </a:r>
            <a:r>
              <a:rPr lang="fr-FR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,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bool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 _</a:t>
            </a:r>
            <a:r>
              <a:rPr lang="fr-FR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canexecute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2B91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ClickCommand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(Action&lt;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object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execute,Func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object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,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bool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canexecute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_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EventHandler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CanExecuteChanged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=&gt; 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_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canexecute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parameter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Execute(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=&gt; 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_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execute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parameter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83505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13" y="1411145"/>
            <a:ext cx="109658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Voici un exemple d’intégration  de DelegateCommand dans le ViewModel </a:t>
            </a:r>
            <a:endParaRPr lang="fr-FR" b="1" dirty="0" smtClean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patrons DelegateCommand &amp; </a:t>
            </a:r>
            <a:r>
              <a:rPr lang="fr-FR" sz="2800" i="1" dirty="0" err="1" smtClean="0">
                <a:latin typeface="Candara" panose="020E0502030303020204" pitchFamily="34" charset="0"/>
              </a:rPr>
              <a:t>RelayCommand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3751" y="1955367"/>
            <a:ext cx="8310748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ViewModel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ViewModel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=&gt;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ClickCommand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ClickCommand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=&gt;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execute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=&gt;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Application.Current.MainPage.DisplayAlert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"Test de commande"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"Ce ci est un message"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"OK"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ClickCommand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ClickCommand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78689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13" y="1411145"/>
            <a:ext cx="109658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Voici un exemple d’intégration  de DelegateCommand dans le XAML</a:t>
            </a:r>
            <a:endParaRPr lang="fr-FR" b="1" dirty="0" smtClean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Les patrons DelegateCommand &amp; </a:t>
            </a:r>
            <a:r>
              <a:rPr lang="fr-FR" sz="2800" i="1" dirty="0" err="1" smtClean="0">
                <a:latin typeface="Candara" panose="020E0502030303020204" pitchFamily="34" charset="0"/>
              </a:rPr>
              <a:t>RelayCommand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5127" y="2083184"/>
            <a:ext cx="96110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ContentPage.Resources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local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ViewModel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x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Key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="vm"/&gt;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ContentPage.Resources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BindingContext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StaticResource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vm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Command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ClickCommand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="Clique moi !!!" /&gt;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73617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13" y="1411145"/>
            <a:ext cx="10965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Utiliser des </a:t>
            </a:r>
            <a:r>
              <a:rPr lang="fr-FR" b="1" dirty="0" smtClean="0">
                <a:latin typeface="Candara" panose="020E0502030303020204" pitchFamily="34" charset="0"/>
              </a:rPr>
              <a:t>GestureRecognizers</a:t>
            </a:r>
            <a:r>
              <a:rPr lang="fr-FR" dirty="0" smtClean="0">
                <a:latin typeface="Candara" panose="020E0502030303020204" pitchFamily="34" charset="0"/>
              </a:rPr>
              <a:t> est une approche simple et directe pour lier des événements non Click comme les tapotements, les glissements, etc., à des commandes dans un </a:t>
            </a:r>
            <a:r>
              <a:rPr lang="fr-FR" dirty="0" err="1" smtClean="0">
                <a:latin typeface="Candara" panose="020E0502030303020204" pitchFamily="34" charset="0"/>
              </a:rPr>
              <a:t>ViewModel</a:t>
            </a:r>
            <a:r>
              <a:rPr lang="fr-FR" dirty="0" smtClean="0">
                <a:latin typeface="Candara" panose="020E0502030303020204" pitchFamily="34" charset="0"/>
              </a:rPr>
              <a:t> en MAUI</a:t>
            </a:r>
            <a:endParaRPr lang="fr-FR" b="1" dirty="0" smtClean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L’emploi des </a:t>
            </a:r>
            <a:r>
              <a:rPr lang="en-US" sz="2800" dirty="0" err="1"/>
              <a:t>GestureRecognizers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6866" y="2232366"/>
            <a:ext cx="905933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="Variable"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="Orange"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="Black"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="15"&gt;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Button.GestureRecognizers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PointerGestureRecognizer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PointerEntered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OnMouseEnter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PointerExited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OnMouseExit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Button.GestureRecognizers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399" y="2232366"/>
            <a:ext cx="5142421" cy="1680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228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1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utilisation des GestureRecognizers</a:t>
            </a:r>
            <a:endParaRPr lang="en-US" altLang="en-US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69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13" y="1411145"/>
            <a:ext cx="109658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andara" panose="020E0502030303020204" pitchFamily="34" charset="0"/>
              </a:rPr>
              <a:t>Pour des scénarii plus complexes il faut utiliser les behaviours </a:t>
            </a:r>
            <a:endParaRPr lang="fr-FR" b="1" dirty="0" smtClean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1205906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228599" y="585218"/>
            <a:ext cx="990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Le MVVM L’emploi des </a:t>
            </a:r>
            <a:r>
              <a:rPr lang="en-US" sz="2800" dirty="0" smtClean="0"/>
              <a:t>Behaviours</a:t>
            </a:r>
            <a:endParaRPr lang="fr-FR" sz="2800" i="1" dirty="0"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7092" y="1780477"/>
            <a:ext cx="9575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Événements non supportés par les GestureRecognizers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GestureRecognizers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sont limités à un certain nombre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d'événements. 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vous devez gérer </a:t>
            </a:r>
            <a:r>
              <a:rPr lang="fr-FR" u="sng" dirty="0">
                <a:latin typeface="Segoe UI" panose="020B0502040204020203" pitchFamily="34" charset="0"/>
                <a:cs typeface="Segoe UI" panose="020B0502040204020203" pitchFamily="34" charset="0"/>
              </a:rPr>
              <a:t>des événements spécifiques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qui ne sont pas couverts par ces gestes.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Réutilisabilité et séparation des préoccupations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En utilisant des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vous pouvez encapsuler des comportements réutilisables dans une classe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distincte (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Separation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concerns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Complexité de l'application :</a:t>
            </a:r>
          </a:p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esoin de gérer plusieurs événements ou combinaisons d'événements sur différents éléments visuels, les </a:t>
            </a:r>
            <a:r>
              <a:rPr lang="fr-F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peuvent fournir une solution plus structurée et maintenable.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93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611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Développement d’un Behaviour de liaison</a:t>
            </a:r>
          </a:p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Lie les évènements à des commandes particulières 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4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Projet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Calculator</a:t>
            </a: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1146</Words>
  <Application>Microsoft Office PowerPoint</Application>
  <PresentationFormat>Widescreen</PresentationFormat>
  <Paragraphs>262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Candara</vt:lpstr>
      <vt:lpstr>Cascadia Mono</vt:lpstr>
      <vt:lpstr>Comic Sans MS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39</cp:revision>
  <dcterms:created xsi:type="dcterms:W3CDTF">2022-10-07T06:51:45Z</dcterms:created>
  <dcterms:modified xsi:type="dcterms:W3CDTF">2025-07-18T15:42:11Z</dcterms:modified>
</cp:coreProperties>
</file>