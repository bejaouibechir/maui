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9" r:id="rId2"/>
    <p:sldId id="259" r:id="rId3"/>
    <p:sldId id="256" r:id="rId4"/>
    <p:sldId id="276" r:id="rId5"/>
    <p:sldId id="270" r:id="rId6"/>
    <p:sldId id="275" r:id="rId7"/>
    <p:sldId id="268" r:id="rId8"/>
    <p:sldId id="271" r:id="rId9"/>
    <p:sldId id="272" r:id="rId10"/>
    <p:sldId id="273" r:id="rId11"/>
    <p:sldId id="274"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61" autoAdjust="0"/>
  </p:normalViewPr>
  <p:slideViewPr>
    <p:cSldViewPr snapToGrid="0">
      <p:cViewPr varScale="1">
        <p:scale>
          <a:sx n="101" d="100"/>
          <a:sy n="101" d="100"/>
        </p:scale>
        <p:origin x="8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DCF081-8790-4A80-9C37-E5117570BB4E}" type="datetimeFigureOut">
              <a:rPr lang="fr-FR" smtClean="0"/>
              <a:t>18/07/2025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9511D-55B6-47A0-A300-F7570D0967C8}" type="slidenum">
              <a:rPr lang="fr-FR" smtClean="0"/>
              <a:t>‹#›</a:t>
            </a:fld>
            <a:endParaRPr lang="fr-FR"/>
          </a:p>
        </p:txBody>
      </p:sp>
    </p:spTree>
    <p:extLst>
      <p:ext uri="{BB962C8B-B14F-4D97-AF65-F5344CB8AC3E}">
        <p14:creationId xmlns:p14="http://schemas.microsoft.com/office/powerpoint/2010/main" val="2039949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3</a:t>
            </a:fld>
            <a:endParaRPr lang="fr-FR"/>
          </a:p>
        </p:txBody>
      </p:sp>
    </p:spTree>
    <p:extLst>
      <p:ext uri="{BB962C8B-B14F-4D97-AF65-F5344CB8AC3E}">
        <p14:creationId xmlns:p14="http://schemas.microsoft.com/office/powerpoint/2010/main" val="3549627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4</a:t>
            </a:fld>
            <a:endParaRPr lang="fr-FR"/>
          </a:p>
        </p:txBody>
      </p:sp>
    </p:spTree>
    <p:extLst>
      <p:ext uri="{BB962C8B-B14F-4D97-AF65-F5344CB8AC3E}">
        <p14:creationId xmlns:p14="http://schemas.microsoft.com/office/powerpoint/2010/main" val="1310116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5</a:t>
            </a:fld>
            <a:endParaRPr lang="fr-FR"/>
          </a:p>
        </p:txBody>
      </p:sp>
    </p:spTree>
    <p:extLst>
      <p:ext uri="{BB962C8B-B14F-4D97-AF65-F5344CB8AC3E}">
        <p14:creationId xmlns:p14="http://schemas.microsoft.com/office/powerpoint/2010/main" val="3691617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6</a:t>
            </a:fld>
            <a:endParaRPr lang="fr-FR"/>
          </a:p>
        </p:txBody>
      </p:sp>
    </p:spTree>
    <p:extLst>
      <p:ext uri="{BB962C8B-B14F-4D97-AF65-F5344CB8AC3E}">
        <p14:creationId xmlns:p14="http://schemas.microsoft.com/office/powerpoint/2010/main" val="2898974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8</a:t>
            </a:fld>
            <a:endParaRPr lang="fr-FR"/>
          </a:p>
        </p:txBody>
      </p:sp>
    </p:spTree>
    <p:extLst>
      <p:ext uri="{BB962C8B-B14F-4D97-AF65-F5344CB8AC3E}">
        <p14:creationId xmlns:p14="http://schemas.microsoft.com/office/powerpoint/2010/main" val="3159886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9</a:t>
            </a:fld>
            <a:endParaRPr lang="fr-FR"/>
          </a:p>
        </p:txBody>
      </p:sp>
    </p:spTree>
    <p:extLst>
      <p:ext uri="{BB962C8B-B14F-4D97-AF65-F5344CB8AC3E}">
        <p14:creationId xmlns:p14="http://schemas.microsoft.com/office/powerpoint/2010/main" val="2133493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10</a:t>
            </a:fld>
            <a:endParaRPr lang="fr-FR"/>
          </a:p>
        </p:txBody>
      </p:sp>
    </p:spTree>
    <p:extLst>
      <p:ext uri="{BB962C8B-B14F-4D97-AF65-F5344CB8AC3E}">
        <p14:creationId xmlns:p14="http://schemas.microsoft.com/office/powerpoint/2010/main" val="634592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99511D-55B6-47A0-A300-F7570D0967C8}" type="slidenum">
              <a:rPr lang="fr-FR" smtClean="0"/>
              <a:t>11</a:t>
            </a:fld>
            <a:endParaRPr lang="fr-FR"/>
          </a:p>
        </p:txBody>
      </p:sp>
    </p:spTree>
    <p:extLst>
      <p:ext uri="{BB962C8B-B14F-4D97-AF65-F5344CB8AC3E}">
        <p14:creationId xmlns:p14="http://schemas.microsoft.com/office/powerpoint/2010/main" val="1241177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80DE9581-868F-4D6E-B826-59F5361BFEBC}" type="datetimeFigureOut">
              <a:rPr lang="fr-FR" smtClean="0"/>
              <a:t>18/07/2025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2267564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0DE9581-868F-4D6E-B826-59F5361BFEBC}" type="datetimeFigureOut">
              <a:rPr lang="fr-FR" smtClean="0"/>
              <a:t>18/07/2025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4112596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0DE9581-868F-4D6E-B826-59F5361BFEBC}" type="datetimeFigureOut">
              <a:rPr lang="fr-FR" smtClean="0"/>
              <a:t>18/07/2025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3451503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80DE9581-868F-4D6E-B826-59F5361BFEBC}" type="datetimeFigureOut">
              <a:rPr lang="fr-FR" smtClean="0"/>
              <a:t>18/07/2025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104470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80DE9581-868F-4D6E-B826-59F5361BFEBC}" type="datetimeFigureOut">
              <a:rPr lang="fr-FR" smtClean="0"/>
              <a:t>18/07/2025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1694957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80DE9581-868F-4D6E-B826-59F5361BFEBC}" type="datetimeFigureOut">
              <a:rPr lang="fr-FR" smtClean="0"/>
              <a:t>18/07/2025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952823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DE9581-868F-4D6E-B826-59F5361BFEBC}" type="datetimeFigureOut">
              <a:rPr lang="fr-FR" smtClean="0"/>
              <a:t>18/07/2025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199419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0DE9581-868F-4D6E-B826-59F5361BFEBC}" type="datetimeFigureOut">
              <a:rPr lang="fr-FR" smtClean="0"/>
              <a:t>18/07/2025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1042897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0DE9581-868F-4D6E-B826-59F5361BFEBC}" type="datetimeFigureOut">
              <a:rPr lang="fr-FR" smtClean="0"/>
              <a:t>18/07/2025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225026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0DE9581-868F-4D6E-B826-59F5361BFEBC}" type="datetimeFigureOut">
              <a:rPr lang="fr-FR" smtClean="0"/>
              <a:t>18/07/2025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256465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0DE9581-868F-4D6E-B826-59F5361BFEBC}" type="datetimeFigureOut">
              <a:rPr lang="fr-FR" smtClean="0"/>
              <a:t>18/07/2025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735A81B-E278-4376-8658-EDF01440BDFB}" type="slidenum">
              <a:rPr lang="fr-FR" smtClean="0"/>
              <a:t>‹#›</a:t>
            </a:fld>
            <a:endParaRPr lang="fr-FR"/>
          </a:p>
        </p:txBody>
      </p:sp>
    </p:spTree>
    <p:extLst>
      <p:ext uri="{BB962C8B-B14F-4D97-AF65-F5344CB8AC3E}">
        <p14:creationId xmlns:p14="http://schemas.microsoft.com/office/powerpoint/2010/main" val="152239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E9581-868F-4D6E-B826-59F5361BFEBC}" type="datetimeFigureOut">
              <a:rPr lang="fr-FR" smtClean="0"/>
              <a:t>18/07/2025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5A81B-E278-4376-8658-EDF01440BDFB}" type="slidenum">
              <a:rPr lang="fr-FR" smtClean="0"/>
              <a:t>‹#›</a:t>
            </a:fld>
            <a:endParaRPr lang="fr-FR"/>
          </a:p>
        </p:txBody>
      </p:sp>
      <p:sp>
        <p:nvSpPr>
          <p:cNvPr id="11" name="Rectangle 10"/>
          <p:cNvSpPr/>
          <p:nvPr userDrawn="1"/>
        </p:nvSpPr>
        <p:spPr>
          <a:xfrm>
            <a:off x="146050" y="6243334"/>
            <a:ext cx="12045950"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b="1" dirty="0" smtClean="0"/>
              <a:t>Multi Application User Interface:  </a:t>
            </a:r>
          </a:p>
          <a:p>
            <a:r>
              <a:rPr lang="fr-FR" sz="1400" dirty="0" smtClean="0"/>
              <a:t>Ce support de cours est la propriété intellectuelle de Béchir Béjaoui, il n’est utilisé qu’avec l’accord du propriétaire © </a:t>
            </a:r>
            <a:r>
              <a:rPr lang="fr-FR" sz="1400" dirty="0" smtClean="0"/>
              <a:t>2025-2026 </a:t>
            </a:r>
            <a:endParaRPr lang="fr-FR" sz="1400" dirty="0"/>
          </a:p>
        </p:txBody>
      </p:sp>
      <p:pic>
        <p:nvPicPr>
          <p:cNvPr id="12" name="Picture 11" descr="dotnetMAUI"/>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536694" y="6133019"/>
            <a:ext cx="494184" cy="49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183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bejaouibechir/Calculator-MAUI/blob/master/ContentPageExtenions.c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ejaouibechir/Maui-Weather-Demo" TargetMode="External"/><Relationship Id="rId2" Type="http://schemas.openxmlformats.org/officeDocument/2006/relationships/hyperlink" Target="https://github.com/bejaouibechir/MAUI/blob/main/MauiToolkitViewModel.md"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6353" y="2274326"/>
            <a:ext cx="965329" cy="415498"/>
          </a:xfrm>
          <a:prstGeom prst="rect">
            <a:avLst/>
          </a:prstGeom>
        </p:spPr>
        <p:txBody>
          <a:bodyPr wrap="none">
            <a:spAutoFit/>
          </a:bodyPr>
          <a:lstStyle/>
          <a:p>
            <a:pPr algn="ctr"/>
            <a:r>
              <a:rPr lang="fr-FR" sz="2100" dirty="0">
                <a:solidFill>
                  <a:srgbClr val="1C3158"/>
                </a:solidFill>
                <a:latin typeface="Comic Sans MS" pitchFamily="66" charset="0"/>
              </a:rPr>
              <a:t>MAUI</a:t>
            </a:r>
          </a:p>
        </p:txBody>
      </p:sp>
      <p:cxnSp>
        <p:nvCxnSpPr>
          <p:cNvPr id="4" name="Connecteur droit 3"/>
          <p:cNvCxnSpPr>
            <a:cxnSpLocks/>
          </p:cNvCxnSpPr>
          <p:nvPr/>
        </p:nvCxnSpPr>
        <p:spPr>
          <a:xfrm flipH="1">
            <a:off x="5663952" y="2738280"/>
            <a:ext cx="3882150" cy="13038"/>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9795" y="4900959"/>
            <a:ext cx="1164186" cy="11598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071100" y="5523434"/>
            <a:ext cx="3222654" cy="507831"/>
          </a:xfrm>
          <a:prstGeom prst="rect">
            <a:avLst/>
          </a:prstGeom>
        </p:spPr>
        <p:txBody>
          <a:bodyPr wrap="square">
            <a:spAutoFit/>
          </a:bodyPr>
          <a:lstStyle/>
          <a:p>
            <a:pPr algn="ctr"/>
            <a:r>
              <a:rPr lang="fr-FR" sz="1350" b="1" i="1" dirty="0">
                <a:solidFill>
                  <a:srgbClr val="1C3158"/>
                </a:solidFill>
              </a:rPr>
              <a:t>Béchir BEJAOUI</a:t>
            </a:r>
          </a:p>
          <a:p>
            <a:pPr algn="ctr"/>
            <a:r>
              <a:rPr lang="fr-FR" sz="1350" dirty="0">
                <a:solidFill>
                  <a:srgbClr val="1C3158"/>
                </a:solidFill>
              </a:rPr>
              <a:t>Formateur et consultant indépendant</a:t>
            </a:r>
          </a:p>
        </p:txBody>
      </p:sp>
      <p:sp>
        <p:nvSpPr>
          <p:cNvPr id="3" name="Rectangle 2"/>
          <p:cNvSpPr/>
          <p:nvPr/>
        </p:nvSpPr>
        <p:spPr>
          <a:xfrm>
            <a:off x="6290314" y="2799774"/>
            <a:ext cx="3011169" cy="369332"/>
          </a:xfrm>
          <a:prstGeom prst="rect">
            <a:avLst/>
          </a:prstGeom>
        </p:spPr>
        <p:txBody>
          <a:bodyPr wrap="square">
            <a:spAutoFit/>
          </a:bodyPr>
          <a:lstStyle/>
          <a:p>
            <a:pPr lvl="0" algn="ctr"/>
            <a:r>
              <a:rPr lang="fr-FR" dirty="0" smtClean="0">
                <a:solidFill>
                  <a:srgbClr val="1C3158"/>
                </a:solidFill>
                <a:latin typeface="Comic Sans MS" pitchFamily="66" charset="0"/>
              </a:rPr>
              <a:t>Le MAUI </a:t>
            </a:r>
            <a:r>
              <a:rPr lang="fr-FR" smtClean="0">
                <a:solidFill>
                  <a:srgbClr val="1C3158"/>
                </a:solidFill>
                <a:latin typeface="Comic Sans MS" pitchFamily="66" charset="0"/>
              </a:rPr>
              <a:t>Toolkoit</a:t>
            </a:r>
            <a:endParaRPr lang="fr-FR" dirty="0">
              <a:solidFill>
                <a:srgbClr val="1C3158"/>
              </a:solidFill>
              <a:latin typeface="Comic Sans MS" pitchFamily="66" charset="0"/>
            </a:endParaRPr>
          </a:p>
        </p:txBody>
      </p:sp>
      <p:pic>
        <p:nvPicPr>
          <p:cNvPr id="1026" name="Picture 2" descr="dotnetMAU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95" y="836712"/>
            <a:ext cx="3109706" cy="3109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933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2"/>
          <p:cNvSpPr txBox="1">
            <a:spLocks/>
          </p:cNvSpPr>
          <p:nvPr/>
        </p:nvSpPr>
        <p:spPr>
          <a:xfrm>
            <a:off x="447336" y="1282559"/>
            <a:ext cx="8276040" cy="31140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fr-FR" sz="2000" dirty="0" smtClean="0">
                <a:latin typeface="Candara" panose="020E0502030303020204" pitchFamily="34" charset="0"/>
              </a:rPr>
              <a:t>Découvrir le .Net MAUI Toolkit </a:t>
            </a:r>
          </a:p>
          <a:p>
            <a:pPr marL="342900" indent="-342900" algn="l">
              <a:buFont typeface="Arial" panose="020B0604020202020204" pitchFamily="34" charset="0"/>
              <a:buChar char="•"/>
            </a:pPr>
            <a:endParaRPr lang="fr-FR" sz="2000" dirty="0" smtClean="0">
              <a:latin typeface="Candara" panose="020E0502030303020204" pitchFamily="34" charset="0"/>
            </a:endParaRPr>
          </a:p>
          <a:p>
            <a:pPr marL="342900" indent="-342900" algn="l">
              <a:buFont typeface="Arial" panose="020B0604020202020204" pitchFamily="34" charset="0"/>
              <a:buChar char="•"/>
            </a:pPr>
            <a:endParaRPr lang="fr-FR" sz="2000" dirty="0">
              <a:latin typeface="Candara" panose="020E0502030303020204" pitchFamily="34" charset="0"/>
            </a:endParaRPr>
          </a:p>
        </p:txBody>
      </p:sp>
      <p:cxnSp>
        <p:nvCxnSpPr>
          <p:cNvPr id="3" name="Straight Connector 2"/>
          <p:cNvCxnSpPr>
            <a:cxnSpLocks/>
          </p:cNvCxnSpPr>
          <p:nvPr/>
        </p:nvCxnSpPr>
        <p:spPr>
          <a:xfrm flipV="1">
            <a:off x="228600" y="940730"/>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1"/>
          <p:cNvSpPr txBox="1"/>
          <p:nvPr/>
        </p:nvSpPr>
        <p:spPr>
          <a:xfrm>
            <a:off x="228600" y="447859"/>
            <a:ext cx="2042480" cy="523220"/>
          </a:xfrm>
          <a:prstGeom prst="rect">
            <a:avLst/>
          </a:prstGeom>
          <a:noFill/>
        </p:spPr>
        <p:txBody>
          <a:bodyPr wrap="square" rtlCol="0">
            <a:spAutoFit/>
          </a:bodyPr>
          <a:lstStyle/>
          <a:p>
            <a:r>
              <a:rPr lang="fr-FR" sz="2800" i="1" dirty="0" smtClean="0">
                <a:latin typeface="Candara" panose="020E0502030303020204" pitchFamily="34" charset="0"/>
              </a:rPr>
              <a:t>Objectifs</a:t>
            </a:r>
            <a:endParaRPr lang="fr-FR" sz="2800" i="1" dirty="0">
              <a:latin typeface="Candara" panose="020E0502030303020204" pitchFamily="34" charset="0"/>
            </a:endParaRPr>
          </a:p>
        </p:txBody>
      </p:sp>
    </p:spTree>
    <p:extLst>
      <p:ext uri="{BB962C8B-B14F-4D97-AF65-F5344CB8AC3E}">
        <p14:creationId xmlns:p14="http://schemas.microsoft.com/office/powerpoint/2010/main" val="716292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8676461" cy="523220"/>
          </a:xfrm>
          <a:prstGeom prst="rect">
            <a:avLst/>
          </a:prstGeom>
          <a:noFill/>
        </p:spPr>
        <p:txBody>
          <a:bodyPr wrap="square" rtlCol="0">
            <a:spAutoFit/>
          </a:bodyPr>
          <a:lstStyle/>
          <a:p>
            <a:r>
              <a:rPr lang="fr-FR" sz="2800" i="1" dirty="0" smtClean="0">
                <a:latin typeface="Candara" panose="020E0502030303020204" pitchFamily="34" charset="0"/>
              </a:rPr>
              <a:t>Introduction MAUI Toolkit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space réservé du contenu 2"/>
          <p:cNvSpPr txBox="1">
            <a:spLocks/>
          </p:cNvSpPr>
          <p:nvPr/>
        </p:nvSpPr>
        <p:spPr>
          <a:xfrm>
            <a:off x="569558" y="1234172"/>
            <a:ext cx="10682311" cy="495880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fr-FR" sz="2000" dirty="0" smtClean="0">
                <a:latin typeface="Candara" panose="020E0502030303020204" pitchFamily="34" charset="0"/>
              </a:rPr>
              <a:t>MAUI Toolkit propose trois bibliothèques </a:t>
            </a:r>
          </a:p>
          <a:p>
            <a:pPr marL="800100" lvl="1" indent="-342900" algn="l">
              <a:buFont typeface="Arial" panose="020B0604020202020204" pitchFamily="34" charset="0"/>
              <a:buChar char="•"/>
            </a:pPr>
            <a:r>
              <a:rPr lang="fr-FR" sz="1800" dirty="0" smtClean="0">
                <a:latin typeface="Candara" panose="020E0502030303020204" pitchFamily="34" charset="0"/>
              </a:rPr>
              <a:t> </a:t>
            </a:r>
            <a:r>
              <a:rPr lang="fr-FR" sz="1800" b="1" dirty="0" err="1" smtClean="0">
                <a:latin typeface="Segoe UI" panose="020B0502040204020203" pitchFamily="34" charset="0"/>
                <a:cs typeface="Segoe UI" panose="020B0502040204020203" pitchFamily="34" charset="0"/>
              </a:rPr>
              <a:t>CommunityToolkit.Maui</a:t>
            </a:r>
            <a:r>
              <a:rPr lang="fr-FR" sz="1800" b="1" dirty="0" smtClean="0">
                <a:latin typeface="Segoe UI" panose="020B0502040204020203" pitchFamily="34" charset="0"/>
                <a:cs typeface="Segoe UI" panose="020B0502040204020203" pitchFamily="34" charset="0"/>
              </a:rPr>
              <a:t>:</a:t>
            </a:r>
            <a:r>
              <a:rPr lang="fr-FR" sz="1800" dirty="0" smtClean="0">
                <a:latin typeface="Segoe UI" panose="020B0502040204020203" pitchFamily="34" charset="0"/>
                <a:cs typeface="Segoe UI" panose="020B0502040204020203" pitchFamily="34" charset="0"/>
              </a:rPr>
              <a:t> C’est une bibliothèque qui fournit essentiellement des Alerts(</a:t>
            </a:r>
            <a:r>
              <a:rPr lang="fr-FR" sz="1800" dirty="0" err="1" smtClean="0">
                <a:latin typeface="Segoe UI" panose="020B0502040204020203" pitchFamily="34" charset="0"/>
                <a:cs typeface="Segoe UI" panose="020B0502040204020203" pitchFamily="34" charset="0"/>
              </a:rPr>
              <a:t>Snakbar</a:t>
            </a:r>
            <a:r>
              <a:rPr lang="fr-FR" sz="1800" dirty="0" smtClean="0">
                <a:latin typeface="Segoe UI" panose="020B0502040204020203" pitchFamily="34" charset="0"/>
                <a:cs typeface="Segoe UI" panose="020B0502040204020203" pitchFamily="34" charset="0"/>
              </a:rPr>
              <a:t> &amp; Toast), </a:t>
            </a:r>
            <a:r>
              <a:rPr lang="fr-FR" sz="1800" dirty="0" err="1" smtClean="0">
                <a:latin typeface="Segoe UI" panose="020B0502040204020203" pitchFamily="34" charset="0"/>
                <a:cs typeface="Segoe UI" panose="020B0502040204020203" pitchFamily="34" charset="0"/>
              </a:rPr>
              <a:t>Behaviors</a:t>
            </a:r>
            <a:r>
              <a:rPr lang="fr-FR" sz="1800" dirty="0" smtClean="0">
                <a:latin typeface="Segoe UI" panose="020B0502040204020203" pitchFamily="34" charset="0"/>
                <a:cs typeface="Segoe UI" panose="020B0502040204020203" pitchFamily="34" charset="0"/>
              </a:rPr>
              <a:t>, </a:t>
            </a:r>
            <a:r>
              <a:rPr lang="fr-FR" sz="1800" dirty="0" err="1" smtClean="0">
                <a:latin typeface="Segoe UI" panose="020B0502040204020203" pitchFamily="34" charset="0"/>
                <a:cs typeface="Segoe UI" panose="020B0502040204020203" pitchFamily="34" charset="0"/>
              </a:rPr>
              <a:t>Converters</a:t>
            </a:r>
            <a:r>
              <a:rPr lang="fr-FR" sz="1800" dirty="0" smtClean="0">
                <a:latin typeface="Segoe UI" panose="020B0502040204020203" pitchFamily="34" charset="0"/>
                <a:cs typeface="Segoe UI" panose="020B0502040204020203" pitchFamily="34" charset="0"/>
              </a:rPr>
              <a:t>, </a:t>
            </a:r>
            <a:r>
              <a:rPr lang="fr-FR" sz="1800" dirty="0" err="1" smtClean="0">
                <a:latin typeface="Segoe UI" panose="020B0502040204020203" pitchFamily="34" charset="0"/>
                <a:cs typeface="Segoe UI" panose="020B0502040204020203" pitchFamily="34" charset="0"/>
              </a:rPr>
              <a:t>Layouts</a:t>
            </a:r>
            <a:r>
              <a:rPr lang="fr-FR" sz="1800" dirty="0">
                <a:latin typeface="Segoe UI" panose="020B0502040204020203" pitchFamily="34" charset="0"/>
                <a:cs typeface="Segoe UI" panose="020B0502040204020203" pitchFamily="34" charset="0"/>
              </a:rPr>
              <a:t> </a:t>
            </a:r>
            <a:r>
              <a:rPr lang="fr-FR" sz="1800" dirty="0" smtClean="0">
                <a:latin typeface="Segoe UI" panose="020B0502040204020203" pitchFamily="34" charset="0"/>
                <a:cs typeface="Segoe UI" panose="020B0502040204020203" pitchFamily="34" charset="0"/>
              </a:rPr>
              <a:t>et des </a:t>
            </a:r>
            <a:r>
              <a:rPr lang="fr-FR" sz="1800" dirty="0" err="1" smtClean="0">
                <a:latin typeface="Segoe UI" panose="020B0502040204020203" pitchFamily="34" charset="0"/>
                <a:cs typeface="Segoe UI" panose="020B0502040204020203" pitchFamily="34" charset="0"/>
              </a:rPr>
              <a:t>Views</a:t>
            </a:r>
            <a:r>
              <a:rPr lang="fr-FR" sz="1800" dirty="0" smtClean="0">
                <a:latin typeface="Segoe UI" panose="020B0502040204020203" pitchFamily="34" charset="0"/>
                <a:cs typeface="Segoe UI" panose="020B0502040204020203" pitchFamily="34" charset="0"/>
              </a:rPr>
              <a:t> </a:t>
            </a:r>
            <a:endParaRPr lang="fr-FR" sz="1800" dirty="0">
              <a:latin typeface="Segoe UI" panose="020B0502040204020203" pitchFamily="34" charset="0"/>
              <a:cs typeface="Segoe UI" panose="020B0502040204020203" pitchFamily="34" charset="0"/>
            </a:endParaRPr>
          </a:p>
          <a:p>
            <a:pPr lvl="2" algn="l" fontAlgn="base"/>
            <a:endParaRPr lang="fr-FR" dirty="0">
              <a:latin typeface="Segoe UI" panose="020B0502040204020203" pitchFamily="34" charset="0"/>
              <a:cs typeface="Segoe UI" panose="020B0502040204020203" pitchFamily="34" charset="0"/>
            </a:endParaRPr>
          </a:p>
          <a:p>
            <a:pPr lvl="2" algn="l" fontAlgn="base"/>
            <a:r>
              <a:rPr lang="fr-FR" b="1" dirty="0" err="1" smtClean="0">
                <a:latin typeface="Segoe UI" panose="020B0502040204020203" pitchFamily="34" charset="0"/>
                <a:cs typeface="Segoe UI" panose="020B0502040204020203" pitchFamily="34" charset="0"/>
              </a:rPr>
              <a:t>CommunityToolkit.Maui.Markup</a:t>
            </a:r>
            <a:r>
              <a:rPr lang="fr-FR" b="1"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Un ensemble de méthodes d'assistance fluides pour simplifier la création d'interfaces utilisateur déclaratives .NET MAUI en C #</a:t>
            </a:r>
          </a:p>
          <a:p>
            <a:pPr lvl="1" algn="l"/>
            <a:endParaRPr lang="fr-FR" sz="1800" dirty="0" smtClean="0">
              <a:latin typeface="Segoe UI" panose="020B0502040204020203" pitchFamily="34" charset="0"/>
              <a:cs typeface="Segoe UI" panose="020B0502040204020203" pitchFamily="34" charset="0"/>
            </a:endParaRPr>
          </a:p>
          <a:p>
            <a:pPr marL="800100" lvl="1" indent="-342900" algn="l">
              <a:buFont typeface="Arial" panose="020B0604020202020204" pitchFamily="34" charset="0"/>
              <a:buChar char="•"/>
            </a:pPr>
            <a:r>
              <a:rPr lang="fr-FR" sz="1800" dirty="0">
                <a:latin typeface="Segoe UI" panose="020B0502040204020203" pitchFamily="34" charset="0"/>
                <a:cs typeface="Segoe UI" panose="020B0502040204020203" pitchFamily="34" charset="0"/>
              </a:rPr>
              <a:t> </a:t>
            </a:r>
            <a:r>
              <a:rPr lang="fr-FR" sz="1800" b="1" dirty="0" err="1" smtClean="0">
                <a:latin typeface="Segoe UI" panose="020B0502040204020203" pitchFamily="34" charset="0"/>
                <a:cs typeface="Segoe UI" panose="020B0502040204020203" pitchFamily="34" charset="0"/>
              </a:rPr>
              <a:t>CommunityToolkit.MVVM</a:t>
            </a:r>
            <a:r>
              <a:rPr lang="fr-FR" sz="1800" b="1" dirty="0" smtClean="0">
                <a:latin typeface="Segoe UI" panose="020B0502040204020203" pitchFamily="34" charset="0"/>
                <a:cs typeface="Segoe UI" panose="020B0502040204020203" pitchFamily="34" charset="0"/>
              </a:rPr>
              <a:t>: </a:t>
            </a:r>
            <a:r>
              <a:rPr lang="fr-FR" sz="1800" dirty="0" smtClean="0">
                <a:latin typeface="Segoe UI" panose="020B0502040204020203" pitchFamily="34" charset="0"/>
                <a:cs typeface="Segoe UI" panose="020B0502040204020203" pitchFamily="34" charset="0"/>
              </a:rPr>
              <a:t>C’est une bibliothèque qui offre un ensemble de classe Attributs qui facilitent l’implémentation de MVVM</a:t>
            </a:r>
            <a:endParaRPr lang="fr-FR" sz="1800" dirty="0">
              <a:latin typeface="Segoe UI" panose="020B0502040204020203" pitchFamily="34" charset="0"/>
              <a:cs typeface="Segoe UI" panose="020B0502040204020203" pitchFamily="34" charset="0"/>
            </a:endParaRPr>
          </a:p>
          <a:p>
            <a:pPr lvl="1" algn="l"/>
            <a:endParaRPr lang="fr-FR" sz="1600" dirty="0" smtClean="0">
              <a:latin typeface="Candara" panose="020E0502030303020204" pitchFamily="34" charset="0"/>
            </a:endParaRPr>
          </a:p>
          <a:p>
            <a:pPr marL="800100" lvl="1" indent="-342900" algn="l">
              <a:buFont typeface="Arial" panose="020B0604020202020204" pitchFamily="34" charset="0"/>
              <a:buChar char="•"/>
            </a:pPr>
            <a:endParaRPr lang="fr-FR" sz="1600" dirty="0" smtClean="0">
              <a:latin typeface="Candara" panose="020E0502030303020204" pitchFamily="34" charset="0"/>
            </a:endParaRPr>
          </a:p>
          <a:p>
            <a:pPr marL="800100" lvl="1" indent="-342900" algn="l">
              <a:buFont typeface="Arial" panose="020B0604020202020204" pitchFamily="34" charset="0"/>
              <a:buChar char="•"/>
            </a:pPr>
            <a:endParaRPr lang="fr-FR" sz="1400" dirty="0" smtClean="0">
              <a:latin typeface="Candara" panose="020E0502030303020204" pitchFamily="34" charset="0"/>
            </a:endParaRPr>
          </a:p>
        </p:txBody>
      </p:sp>
    </p:spTree>
    <p:extLst>
      <p:ext uri="{BB962C8B-B14F-4D97-AF65-F5344CB8AC3E}">
        <p14:creationId xmlns:p14="http://schemas.microsoft.com/office/powerpoint/2010/main" val="10971695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8676461" cy="523220"/>
          </a:xfrm>
          <a:prstGeom prst="rect">
            <a:avLst/>
          </a:prstGeom>
          <a:noFill/>
        </p:spPr>
        <p:txBody>
          <a:bodyPr wrap="square" rtlCol="0">
            <a:spAutoFit/>
          </a:bodyPr>
          <a:lstStyle/>
          <a:p>
            <a:r>
              <a:rPr lang="fr-FR" sz="2800" i="1" dirty="0" smtClean="0">
                <a:latin typeface="Candara" panose="020E0502030303020204" pitchFamily="34" charset="0"/>
              </a:rPr>
              <a:t>Introduction MAUI Toolkit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space réservé du contenu 2"/>
          <p:cNvSpPr txBox="1">
            <a:spLocks/>
          </p:cNvSpPr>
          <p:nvPr/>
        </p:nvSpPr>
        <p:spPr>
          <a:xfrm>
            <a:off x="569558" y="1234173"/>
            <a:ext cx="10682311" cy="41805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2000" dirty="0" smtClean="0">
                <a:latin typeface="Candara" panose="020E0502030303020204" pitchFamily="34" charset="0"/>
              </a:rPr>
              <a:t>Une étape importante après l’installation des bibliothèques </a:t>
            </a:r>
          </a:p>
          <a:p>
            <a:pPr lvl="1" algn="l"/>
            <a:endParaRPr lang="fr-FR" sz="1600" dirty="0" smtClean="0">
              <a:latin typeface="Candara" panose="020E0502030303020204" pitchFamily="34" charset="0"/>
            </a:endParaRPr>
          </a:p>
          <a:p>
            <a:pPr marL="800100" lvl="1" indent="-342900" algn="l">
              <a:buFont typeface="Arial" panose="020B0604020202020204" pitchFamily="34" charset="0"/>
              <a:buChar char="•"/>
            </a:pPr>
            <a:endParaRPr lang="fr-FR" sz="1600" dirty="0" smtClean="0">
              <a:latin typeface="Candara" panose="020E0502030303020204" pitchFamily="34" charset="0"/>
            </a:endParaRPr>
          </a:p>
          <a:p>
            <a:pPr marL="800100" lvl="1" indent="-342900" algn="l">
              <a:buFont typeface="Arial" panose="020B0604020202020204" pitchFamily="34" charset="0"/>
              <a:buChar char="•"/>
            </a:pPr>
            <a:endParaRPr lang="fr-FR" sz="1400" dirty="0" smtClean="0">
              <a:latin typeface="Candara" panose="020E0502030303020204" pitchFamily="34" charset="0"/>
            </a:endParaRPr>
          </a:p>
        </p:txBody>
      </p:sp>
      <p:pic>
        <p:nvPicPr>
          <p:cNvPr id="5" name="Picture 4"/>
          <p:cNvPicPr>
            <a:picLocks noChangeAspect="1"/>
          </p:cNvPicPr>
          <p:nvPr/>
        </p:nvPicPr>
        <p:blipFill rotWithShape="1">
          <a:blip r:embed="rId3"/>
          <a:srcRect r="20389"/>
          <a:stretch/>
        </p:blipFill>
        <p:spPr>
          <a:xfrm>
            <a:off x="6522730" y="2324148"/>
            <a:ext cx="4990290" cy="2600688"/>
          </a:xfrm>
          <a:prstGeom prst="rect">
            <a:avLst/>
          </a:prstGeom>
        </p:spPr>
      </p:pic>
      <p:pic>
        <p:nvPicPr>
          <p:cNvPr id="6" name="Picture 5"/>
          <p:cNvPicPr>
            <a:picLocks noChangeAspect="1"/>
          </p:cNvPicPr>
          <p:nvPr/>
        </p:nvPicPr>
        <p:blipFill>
          <a:blip r:embed="rId4"/>
          <a:stretch>
            <a:fillRect/>
          </a:stretch>
        </p:blipFill>
        <p:spPr>
          <a:xfrm>
            <a:off x="500400" y="1945436"/>
            <a:ext cx="5048955" cy="1352739"/>
          </a:xfrm>
          <a:prstGeom prst="rect">
            <a:avLst/>
          </a:prstGeom>
        </p:spPr>
      </p:pic>
      <p:pic>
        <p:nvPicPr>
          <p:cNvPr id="7" name="Picture 6"/>
          <p:cNvPicPr>
            <a:picLocks noChangeAspect="1"/>
          </p:cNvPicPr>
          <p:nvPr/>
        </p:nvPicPr>
        <p:blipFill>
          <a:blip r:embed="rId5"/>
          <a:stretch>
            <a:fillRect/>
          </a:stretch>
        </p:blipFill>
        <p:spPr>
          <a:xfrm>
            <a:off x="500400" y="3298175"/>
            <a:ext cx="5668166" cy="762106"/>
          </a:xfrm>
          <a:prstGeom prst="rect">
            <a:avLst/>
          </a:prstGeom>
        </p:spPr>
      </p:pic>
      <p:pic>
        <p:nvPicPr>
          <p:cNvPr id="8" name="Picture 7"/>
          <p:cNvPicPr>
            <a:picLocks noChangeAspect="1"/>
          </p:cNvPicPr>
          <p:nvPr/>
        </p:nvPicPr>
        <p:blipFill rotWithShape="1">
          <a:blip r:embed="rId6"/>
          <a:srcRect r="31548"/>
          <a:stretch/>
        </p:blipFill>
        <p:spPr>
          <a:xfrm>
            <a:off x="495199" y="3967837"/>
            <a:ext cx="5295004" cy="733527"/>
          </a:xfrm>
          <a:prstGeom prst="rect">
            <a:avLst/>
          </a:prstGeom>
        </p:spPr>
      </p:pic>
    </p:spTree>
    <p:extLst>
      <p:ext uri="{BB962C8B-B14F-4D97-AF65-F5344CB8AC3E}">
        <p14:creationId xmlns:p14="http://schemas.microsoft.com/office/powerpoint/2010/main" val="41662841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8676461"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smtClean="0"/>
              <a:t>CommunityToolkit.Maui</a:t>
            </a:r>
            <a:r>
              <a:rPr lang="en-US" sz="2800" dirty="0" smtClean="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1414" y="1246785"/>
            <a:ext cx="11456276" cy="3416320"/>
          </a:xfrm>
          <a:prstGeom prst="rect">
            <a:avLst/>
          </a:prstGeom>
        </p:spPr>
        <p:txBody>
          <a:bodyPr wrap="square">
            <a:spAutoFit/>
          </a:bodyPr>
          <a:lstStyle/>
          <a:p>
            <a:r>
              <a:rPr lang="fr-FR" dirty="0"/>
              <a:t>La bibliothèque </a:t>
            </a:r>
            <a:r>
              <a:rPr lang="fr-FR" b="1" dirty="0" err="1"/>
              <a:t>CommunityToolkit.Maui</a:t>
            </a:r>
            <a:r>
              <a:rPr lang="fr-FR" dirty="0"/>
              <a:t> est conçue pour simplifier le développement d'applications .NET MAUI en fournissant des fonctionnalités supplémentaires utiles pour la création d'interfaces utilisateur et la gestion des comportements courants</a:t>
            </a:r>
            <a:r>
              <a:rPr lang="fr-FR" dirty="0" smtClean="0"/>
              <a:t>.</a:t>
            </a:r>
          </a:p>
          <a:p>
            <a:endParaRPr lang="fr-FR" dirty="0"/>
          </a:p>
          <a:p>
            <a:pPr>
              <a:buFont typeface="Arial" panose="020B0604020202020204" pitchFamily="34" charset="0"/>
              <a:buChar char="•"/>
            </a:pPr>
            <a:r>
              <a:rPr lang="fr-FR" b="1" dirty="0" err="1"/>
              <a:t>Alerts</a:t>
            </a:r>
            <a:r>
              <a:rPr lang="fr-FR" b="1" dirty="0"/>
              <a:t> (Snackbar &amp; Toast)</a:t>
            </a:r>
            <a:r>
              <a:rPr lang="fr-FR" dirty="0"/>
              <a:t> :</a:t>
            </a:r>
          </a:p>
          <a:p>
            <a:pPr marL="742950" lvl="1" indent="-285750">
              <a:buFont typeface="Arial" panose="020B0604020202020204" pitchFamily="34" charset="0"/>
              <a:buChar char="•"/>
            </a:pPr>
            <a:r>
              <a:rPr lang="fr-FR" b="1" dirty="0"/>
              <a:t>Snackbar</a:t>
            </a:r>
            <a:r>
              <a:rPr lang="fr-FR" dirty="0"/>
              <a:t> : Permet d'afficher des messages temporaires en bas de l'écran, souvent utilisés pour fournir des feedbacks rapides à l'utilisateur.</a:t>
            </a:r>
          </a:p>
          <a:p>
            <a:pPr marL="742950" lvl="1" indent="-285750">
              <a:buFont typeface="Arial" panose="020B0604020202020204" pitchFamily="34" charset="0"/>
              <a:buChar char="•"/>
            </a:pPr>
            <a:r>
              <a:rPr lang="fr-FR" b="1" dirty="0"/>
              <a:t>Toast</a:t>
            </a:r>
            <a:r>
              <a:rPr lang="fr-FR" dirty="0"/>
              <a:t> : Similaire au Snackbar mais généralement plus simple et utilisé pour des notifications plus discrètes.</a:t>
            </a:r>
          </a:p>
          <a:p>
            <a:pPr>
              <a:buFont typeface="Arial" panose="020B0604020202020204" pitchFamily="34" charset="0"/>
              <a:buChar char="•"/>
            </a:pPr>
            <a:r>
              <a:rPr lang="fr-FR" b="1" dirty="0" err="1"/>
              <a:t>Behaviors</a:t>
            </a:r>
            <a:r>
              <a:rPr lang="fr-FR" dirty="0"/>
              <a:t> :</a:t>
            </a:r>
          </a:p>
          <a:p>
            <a:pPr lvl="1"/>
            <a:r>
              <a:rPr lang="fr-FR" dirty="0"/>
              <a:t>Les comportements sont des classes réutilisables qui ajoutent des fonctionnalités aux éléments d'interface utilisateur sans modifier leur code. Par exemple, un comportement pourrait être utilisé pour valider automatiquement les entrées dans un champ de texte</a:t>
            </a:r>
            <a:r>
              <a:rPr lang="fr-FR" dirty="0" smtClean="0"/>
              <a:t>.</a:t>
            </a:r>
            <a:endParaRPr lang="fr-FR" dirty="0"/>
          </a:p>
        </p:txBody>
      </p:sp>
    </p:spTree>
    <p:extLst>
      <p:ext uri="{BB962C8B-B14F-4D97-AF65-F5344CB8AC3E}">
        <p14:creationId xmlns:p14="http://schemas.microsoft.com/office/powerpoint/2010/main" val="35948721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8676461"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smtClean="0"/>
              <a:t>CommunityToolkit.Maui</a:t>
            </a:r>
            <a:r>
              <a:rPr lang="en-US" sz="2800" dirty="0" smtClean="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205802" y="3195403"/>
            <a:ext cx="1916208" cy="338554"/>
          </a:xfrm>
          <a:prstGeom prst="rect">
            <a:avLst/>
          </a:prstGeom>
        </p:spPr>
        <p:txBody>
          <a:bodyPr wrap="square">
            <a:spAutoFit/>
          </a:bodyPr>
          <a:lstStyle/>
          <a:p>
            <a:r>
              <a:rPr lang="fr-FR" sz="1600" b="1" dirty="0" smtClean="0"/>
              <a:t>Exemple de Toast</a:t>
            </a:r>
            <a:endParaRPr lang="fr-FR" sz="1600" b="1" dirty="0"/>
          </a:p>
        </p:txBody>
      </p:sp>
      <p:sp>
        <p:nvSpPr>
          <p:cNvPr id="4" name="Rectangle 3"/>
          <p:cNvSpPr/>
          <p:nvPr/>
        </p:nvSpPr>
        <p:spPr>
          <a:xfrm>
            <a:off x="341852" y="1576575"/>
            <a:ext cx="4337792" cy="1569660"/>
          </a:xfrm>
          <a:prstGeom prst="rect">
            <a:avLst/>
          </a:prstGeom>
        </p:spPr>
        <p:txBody>
          <a:bodyPr wrap="square">
            <a:spAutoFit/>
          </a:bodyPr>
          <a:lstStyle/>
          <a:p>
            <a:r>
              <a:rPr lang="en-US" sz="1600" dirty="0" err="1">
                <a:solidFill>
                  <a:srgbClr val="000000"/>
                </a:solidFill>
                <a:latin typeface="Cascadia Mono" panose="020B0609020000020004" pitchFamily="49" charset="0"/>
              </a:rPr>
              <a:t>var</a:t>
            </a:r>
            <a:r>
              <a:rPr lang="en-US" sz="1600" dirty="0">
                <a:solidFill>
                  <a:srgbClr val="000000"/>
                </a:solidFill>
                <a:latin typeface="Cascadia Mono" panose="020B0609020000020004" pitchFamily="49" charset="0"/>
              </a:rPr>
              <a:t> toast = new Toast</a:t>
            </a:r>
          </a:p>
          <a:p>
            <a:r>
              <a:rPr lang="en-US" sz="1600" dirty="0">
                <a:solidFill>
                  <a:srgbClr val="000000"/>
                </a:solidFill>
                <a:latin typeface="Cascadia Mono" panose="020B0609020000020004" pitchFamily="49" charset="0"/>
              </a:rPr>
              <a:t>{</a:t>
            </a:r>
          </a:p>
          <a:p>
            <a:r>
              <a:rPr lang="en-US" sz="1600" dirty="0">
                <a:solidFill>
                  <a:srgbClr val="000000"/>
                </a:solidFill>
                <a:latin typeface="Cascadia Mono" panose="020B0609020000020004" pitchFamily="49" charset="0"/>
              </a:rPr>
              <a:t>    Text = message, </a:t>
            </a:r>
          </a:p>
          <a:p>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TextSize</a:t>
            </a:r>
            <a:r>
              <a:rPr lang="en-US" sz="1600" dirty="0">
                <a:solidFill>
                  <a:srgbClr val="000000"/>
                </a:solidFill>
                <a:latin typeface="Cascadia Mono" panose="020B0609020000020004" pitchFamily="49" charset="0"/>
              </a:rPr>
              <a:t> = 18,</a:t>
            </a:r>
          </a:p>
          <a:p>
            <a:r>
              <a:rPr lang="en-US" sz="1600" dirty="0">
                <a:solidFill>
                  <a:srgbClr val="000000"/>
                </a:solidFill>
                <a:latin typeface="Cascadia Mono" panose="020B0609020000020004" pitchFamily="49" charset="0"/>
              </a:rPr>
              <a:t>    Duration = </a:t>
            </a:r>
            <a:r>
              <a:rPr lang="en-US" sz="1600" dirty="0" err="1">
                <a:solidFill>
                  <a:srgbClr val="000000"/>
                </a:solidFill>
                <a:latin typeface="Cascadia Mono" panose="020B0609020000020004" pitchFamily="49" charset="0"/>
              </a:rPr>
              <a:t>ToastDuration.Short</a:t>
            </a:r>
            <a:endParaRPr lang="en-US" sz="1600" dirty="0">
              <a:solidFill>
                <a:srgbClr val="000000"/>
              </a:solidFill>
              <a:latin typeface="Cascadia Mono" panose="020B0609020000020004" pitchFamily="49" charset="0"/>
            </a:endParaRPr>
          </a:p>
          <a:p>
            <a:r>
              <a:rPr lang="en-US" sz="1600" dirty="0">
                <a:solidFill>
                  <a:srgbClr val="000000"/>
                </a:solidFill>
                <a:latin typeface="Cascadia Mono" panose="020B0609020000020004" pitchFamily="49" charset="0"/>
              </a:rPr>
              <a:t>};</a:t>
            </a:r>
            <a:endParaRPr lang="en-US" sz="1600" dirty="0"/>
          </a:p>
        </p:txBody>
      </p:sp>
      <p:sp>
        <p:nvSpPr>
          <p:cNvPr id="6" name="Rectangle 5"/>
          <p:cNvSpPr/>
          <p:nvPr/>
        </p:nvSpPr>
        <p:spPr>
          <a:xfrm>
            <a:off x="5217336" y="1267979"/>
            <a:ext cx="6720314" cy="3323987"/>
          </a:xfrm>
          <a:prstGeom prst="rect">
            <a:avLst/>
          </a:prstGeom>
        </p:spPr>
        <p:txBody>
          <a:bodyPr wrap="square">
            <a:spAutoFit/>
          </a:bodyPr>
          <a:lstStyle/>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var</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snackbar</a:t>
            </a:r>
            <a:r>
              <a:rPr lang="en-US" sz="1400" dirty="0">
                <a:solidFill>
                  <a:srgbClr val="000000"/>
                </a:solidFill>
                <a:latin typeface="Cascadia Mono" panose="020B0609020000020004" pitchFamily="49" charset="0"/>
              </a:rPr>
              <a:t> = new </a:t>
            </a:r>
            <a:r>
              <a:rPr lang="en-US" sz="1400" dirty="0" err="1">
                <a:solidFill>
                  <a:srgbClr val="000000"/>
                </a:solidFill>
                <a:latin typeface="Cascadia Mono" panose="020B0609020000020004" pitchFamily="49" charset="0"/>
              </a:rPr>
              <a:t>Snackbar</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Text = text,</a:t>
            </a:r>
          </a:p>
          <a:p>
            <a:r>
              <a:rPr lang="en-US" sz="1400" dirty="0">
                <a:solidFill>
                  <a:srgbClr val="000000"/>
                </a:solidFill>
                <a:latin typeface="Cascadia Mono" panose="020B0609020000020004" pitchFamily="49" charset="0"/>
              </a:rPr>
              <a:t>     Action = action,</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ActionButtonText</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actionButtonText</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Anchor = anchor,</a:t>
            </a:r>
          </a:p>
          <a:p>
            <a:r>
              <a:rPr lang="fr-FR" sz="1400" dirty="0">
                <a:solidFill>
                  <a:srgbClr val="000000"/>
                </a:solidFill>
                <a:latin typeface="Cascadia Mono" panose="020B0609020000020004" pitchFamily="49" charset="0"/>
              </a:rPr>
              <a:t>     Duration = duration ?? </a:t>
            </a:r>
            <a:r>
              <a:rPr lang="fr-FR" sz="1400" dirty="0" err="1">
                <a:solidFill>
                  <a:srgbClr val="000000"/>
                </a:solidFill>
                <a:latin typeface="Cascadia Mono" panose="020B0609020000020004" pitchFamily="49" charset="0"/>
              </a:rPr>
              <a:t>TimeSpan.FromSeconds</a:t>
            </a:r>
            <a:r>
              <a:rPr lang="fr-FR" sz="1400" dirty="0">
                <a:solidFill>
                  <a:srgbClr val="000000"/>
                </a:solidFill>
                <a:latin typeface="Cascadia Mono" panose="020B0609020000020004" pitchFamily="49" charset="0"/>
              </a:rPr>
              <a:t>(3), </a:t>
            </a:r>
            <a:endParaRPr lang="fr-FR" sz="1400" dirty="0" smtClean="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smtClean="0">
                <a:solidFill>
                  <a:srgbClr val="000000"/>
                </a:solidFill>
                <a:latin typeface="Cascadia Mono" panose="020B0609020000020004" pitchFamily="49" charset="0"/>
              </a:rPr>
              <a:t>	// </a:t>
            </a:r>
            <a:r>
              <a:rPr lang="fr-FR" sz="1400" dirty="0">
                <a:solidFill>
                  <a:srgbClr val="000000"/>
                </a:solidFill>
                <a:latin typeface="Cascadia Mono" panose="020B0609020000020004" pitchFamily="49" charset="0"/>
              </a:rPr>
              <a:t>Default duration</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VisualOptions</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visualOptions</a:t>
            </a:r>
            <a:r>
              <a:rPr lang="en-US" sz="1400" dirty="0">
                <a:solidFill>
                  <a:srgbClr val="000000"/>
                </a:solidFill>
                <a:latin typeface="Cascadia Mono" panose="020B0609020000020004" pitchFamily="49" charset="0"/>
              </a:rPr>
              <a:t> ?? new </a:t>
            </a:r>
            <a:r>
              <a:rPr lang="en-US" sz="1400" dirty="0" err="1">
                <a:solidFill>
                  <a:srgbClr val="000000"/>
                </a:solidFill>
                <a:latin typeface="Cascadia Mono" panose="020B0609020000020004" pitchFamily="49" charset="0"/>
              </a:rPr>
              <a:t>SnackbarOptions</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BackgroundColor</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Colors.Black</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TextColor</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Colors.White</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ActionButtonTextColor</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Colors.Yellow</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endParaRPr lang="en-US" sz="1400" dirty="0"/>
          </a:p>
        </p:txBody>
      </p:sp>
      <p:sp>
        <p:nvSpPr>
          <p:cNvPr id="7" name="Rectangle 6"/>
          <p:cNvSpPr/>
          <p:nvPr/>
        </p:nvSpPr>
        <p:spPr>
          <a:xfrm>
            <a:off x="7254506" y="4817149"/>
            <a:ext cx="1916208" cy="338554"/>
          </a:xfrm>
          <a:prstGeom prst="rect">
            <a:avLst/>
          </a:prstGeom>
        </p:spPr>
        <p:txBody>
          <a:bodyPr wrap="square">
            <a:spAutoFit/>
          </a:bodyPr>
          <a:lstStyle/>
          <a:p>
            <a:r>
              <a:rPr lang="fr-FR" sz="1600" b="1" dirty="0" smtClean="0"/>
              <a:t>Exemple de </a:t>
            </a:r>
            <a:r>
              <a:rPr lang="fr-FR" sz="1600" b="1" dirty="0" err="1" smtClean="0"/>
              <a:t>SnakBar</a:t>
            </a:r>
            <a:endParaRPr lang="fr-FR" sz="1600" b="1" dirty="0"/>
          </a:p>
        </p:txBody>
      </p:sp>
    </p:spTree>
    <p:extLst>
      <p:ext uri="{BB962C8B-B14F-4D97-AF65-F5344CB8AC3E}">
        <p14:creationId xmlns:p14="http://schemas.microsoft.com/office/powerpoint/2010/main" val="2309385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2991713"/>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Exemple d’implémentation</a:t>
            </a:r>
            <a:endParaRPr lang="en-US" altLang="en-US" sz="3200"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22344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8676461"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smtClean="0"/>
              <a:t>CommunityToolkit.Maui</a:t>
            </a:r>
            <a:r>
              <a:rPr lang="en-US" sz="2800" dirty="0" smtClean="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1414" y="1246785"/>
            <a:ext cx="11456276" cy="3970318"/>
          </a:xfrm>
          <a:prstGeom prst="rect">
            <a:avLst/>
          </a:prstGeom>
        </p:spPr>
        <p:txBody>
          <a:bodyPr wrap="square">
            <a:spAutoFit/>
          </a:bodyPr>
          <a:lstStyle/>
          <a:p>
            <a:r>
              <a:rPr lang="fr-FR" dirty="0"/>
              <a:t>La bibliothèque </a:t>
            </a:r>
            <a:r>
              <a:rPr lang="fr-FR" b="1" dirty="0" err="1"/>
              <a:t>CommunityToolkit.Maui</a:t>
            </a:r>
            <a:r>
              <a:rPr lang="fr-FR" dirty="0"/>
              <a:t> est conçue pour simplifier le développement d'applications .NET MAUI en fournissant des fonctionnalités supplémentaires utiles pour la création d'interfaces utilisateur et la gestion des comportements courants</a:t>
            </a:r>
            <a:r>
              <a:rPr lang="fr-FR" dirty="0" smtClean="0"/>
              <a:t>.</a:t>
            </a:r>
          </a:p>
          <a:p>
            <a:endParaRPr lang="fr-FR" dirty="0"/>
          </a:p>
          <a:p>
            <a:pPr>
              <a:buFont typeface="Arial" panose="020B0604020202020204" pitchFamily="34" charset="0"/>
              <a:buChar char="•"/>
            </a:pPr>
            <a:r>
              <a:rPr lang="fr-FR" b="1" dirty="0" err="1" smtClean="0"/>
              <a:t>Converters</a:t>
            </a:r>
            <a:r>
              <a:rPr lang="fr-FR" dirty="0" smtClean="0"/>
              <a:t> </a:t>
            </a:r>
            <a:r>
              <a:rPr lang="fr-FR" dirty="0"/>
              <a:t>:</a:t>
            </a:r>
          </a:p>
          <a:p>
            <a:pPr lvl="1"/>
            <a:r>
              <a:rPr lang="fr-FR" dirty="0"/>
              <a:t>Les convertisseurs sont utilisés pour transformer des valeurs d'une forme à une autre dans les liaisons de données. Par exemple, un convertisseur peut transformer un booléen en visibilité (Visible/</a:t>
            </a:r>
            <a:r>
              <a:rPr lang="fr-FR" dirty="0" err="1"/>
              <a:t>Collapsed</a:t>
            </a:r>
            <a:r>
              <a:rPr lang="fr-FR" dirty="0"/>
              <a:t>) dans une interface utilisateur.</a:t>
            </a:r>
          </a:p>
          <a:p>
            <a:pPr>
              <a:buFont typeface="Arial" panose="020B0604020202020204" pitchFamily="34" charset="0"/>
              <a:buChar char="•"/>
            </a:pPr>
            <a:r>
              <a:rPr lang="fr-FR" b="1" dirty="0" err="1"/>
              <a:t>Layouts</a:t>
            </a:r>
            <a:r>
              <a:rPr lang="fr-FR" dirty="0"/>
              <a:t> :</a:t>
            </a:r>
          </a:p>
          <a:p>
            <a:pPr lvl="1"/>
            <a:r>
              <a:rPr lang="fr-FR" dirty="0"/>
              <a:t>Cette bibliothèque inclut des dispositions supplémentaires qui ne sont pas disponibles dans le cadre de base de .NET MAUI, telles que des mises en page spécifiques pour gérer les écrans de manière plus flexible.</a:t>
            </a:r>
          </a:p>
          <a:p>
            <a:pPr>
              <a:buFont typeface="Arial" panose="020B0604020202020204" pitchFamily="34" charset="0"/>
              <a:buChar char="•"/>
            </a:pPr>
            <a:r>
              <a:rPr lang="fr-FR" b="1" dirty="0" err="1"/>
              <a:t>Views</a:t>
            </a:r>
            <a:r>
              <a:rPr lang="fr-FR" dirty="0"/>
              <a:t> :</a:t>
            </a:r>
          </a:p>
          <a:p>
            <a:pPr lvl="1"/>
            <a:r>
              <a:rPr lang="fr-FR" dirty="0"/>
              <a:t>Comprend des contrôles d'interface utilisateur supplémentaires qui simplifient la création d'interfaces modernes et attrayantes, comme des affichages de liste, des champs de saisie enrichis, etc.</a:t>
            </a:r>
          </a:p>
        </p:txBody>
      </p:sp>
    </p:spTree>
    <p:extLst>
      <p:ext uri="{BB962C8B-B14F-4D97-AF65-F5344CB8AC3E}">
        <p14:creationId xmlns:p14="http://schemas.microsoft.com/office/powerpoint/2010/main" val="27854774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9880947"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a:t>CommunityToolkit.Maui.Markup</a:t>
            </a:r>
            <a:r>
              <a:rPr lang="en-US" sz="2800" dirty="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500292" y="1405294"/>
            <a:ext cx="10396834" cy="2308324"/>
          </a:xfrm>
          <a:prstGeom prst="rect">
            <a:avLst/>
          </a:prstGeom>
        </p:spPr>
        <p:txBody>
          <a:bodyPr wrap="square">
            <a:spAutoFit/>
          </a:bodyPr>
          <a:lstStyle/>
          <a:p>
            <a:r>
              <a:rPr lang="fr-FR" dirty="0"/>
              <a:t>La bibliothèque </a:t>
            </a:r>
            <a:r>
              <a:rPr lang="fr-FR" b="1" dirty="0" err="1"/>
              <a:t>CommunityToolkit.Maui.Markup</a:t>
            </a:r>
            <a:r>
              <a:rPr lang="fr-FR" dirty="0"/>
              <a:t> introduit un ensemble d'extensions et de méthodes pour faciliter la création d'interfaces utilisateur déclaratives en C#. Elle permet d'écrire des interfaces utilisateur de manière plus fluide et lisible en utilisant une syntaxe déclarative</a:t>
            </a:r>
            <a:r>
              <a:rPr lang="fr-FR" dirty="0" smtClean="0"/>
              <a:t>.</a:t>
            </a:r>
          </a:p>
          <a:p>
            <a:endParaRPr lang="fr-FR" dirty="0"/>
          </a:p>
          <a:p>
            <a:pPr>
              <a:buFont typeface="Arial" panose="020B0604020202020204" pitchFamily="34" charset="0"/>
              <a:buChar char="•"/>
            </a:pPr>
            <a:r>
              <a:rPr lang="fr-FR" b="1" dirty="0"/>
              <a:t>Syntaxe Fluide</a:t>
            </a:r>
            <a:r>
              <a:rPr lang="fr-FR" dirty="0"/>
              <a:t> :</a:t>
            </a:r>
          </a:p>
          <a:p>
            <a:pPr marL="742950" lvl="1" indent="-285750">
              <a:buFont typeface="Arial" panose="020B0604020202020204" pitchFamily="34" charset="0"/>
              <a:buChar char="•"/>
            </a:pPr>
            <a:r>
              <a:rPr lang="fr-FR" dirty="0"/>
              <a:t>Permet de créer des interfaces utilisateur en utilisant une syntaxe fluide, ce qui rend le code plus lisible et facile à maintenir. Par exemple, au lieu de définir des propriétés séparément, vous pouvez les enchaîner dans une seule expression fluide.</a:t>
            </a:r>
          </a:p>
        </p:txBody>
      </p:sp>
      <p:sp>
        <p:nvSpPr>
          <p:cNvPr id="7" name="Rectangle 6"/>
          <p:cNvSpPr/>
          <p:nvPr/>
        </p:nvSpPr>
        <p:spPr>
          <a:xfrm>
            <a:off x="1250731" y="4021771"/>
            <a:ext cx="10548181" cy="1600438"/>
          </a:xfrm>
          <a:prstGeom prst="rect">
            <a:avLst/>
          </a:prstGeom>
        </p:spPr>
        <p:txBody>
          <a:bodyPr wrap="square">
            <a:spAutoFit/>
          </a:bodyPr>
          <a:lstStyle/>
          <a:p>
            <a:r>
              <a:rPr lang="en-US" sz="1400" dirty="0">
                <a:solidFill>
                  <a:srgbClr val="000000"/>
                </a:solidFill>
                <a:latin typeface="Cascadia Mono" panose="020B0609020000020004" pitchFamily="49" charset="0"/>
              </a:rPr>
              <a:t> Content = new </a:t>
            </a:r>
            <a:r>
              <a:rPr lang="en-US" sz="1400" dirty="0" err="1">
                <a:solidFill>
                  <a:srgbClr val="000000"/>
                </a:solidFill>
                <a:latin typeface="Cascadia Mono" panose="020B0609020000020004" pitchFamily="49" charset="0"/>
              </a:rPr>
              <a:t>StackLayout</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VerticalOptions</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LayoutOptions.Center</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HorizontalOptions</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LayoutOptions.Center</a:t>
            </a:r>
            <a:endParaRPr lang="en-US"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p>
          <a:p>
            <a:pPr lvl="1"/>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AddLabel</a:t>
            </a:r>
            <a:r>
              <a:rPr lang="en-US" sz="1400" dirty="0">
                <a:solidFill>
                  <a:srgbClr val="000000"/>
                </a:solidFill>
                <a:latin typeface="Cascadia Mono" panose="020B0609020000020004" pitchFamily="49" charset="0"/>
              </a:rPr>
              <a:t>("Hello, World!", </a:t>
            </a:r>
            <a:r>
              <a:rPr lang="en-US" sz="1400" dirty="0" err="1">
                <a:solidFill>
                  <a:srgbClr val="000000"/>
                </a:solidFill>
                <a:latin typeface="Cascadia Mono" panose="020B0609020000020004" pitchFamily="49" charset="0"/>
              </a:rPr>
              <a:t>LayoutOptions.Center</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LayoutOptions.Center</a:t>
            </a:r>
            <a:r>
              <a:rPr lang="en-US" sz="1400" dirty="0">
                <a:solidFill>
                  <a:srgbClr val="000000"/>
                </a:solidFill>
                <a:latin typeface="Cascadia Mono" panose="020B0609020000020004" pitchFamily="49" charset="0"/>
              </a:rPr>
              <a:t>)</a:t>
            </a:r>
          </a:p>
          <a:p>
            <a:pPr lvl="1"/>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AddButton</a:t>
            </a:r>
            <a:r>
              <a:rPr lang="en-US" sz="1400" dirty="0">
                <a:solidFill>
                  <a:srgbClr val="000000"/>
                </a:solidFill>
                <a:latin typeface="Cascadia Mono" panose="020B0609020000020004" pitchFamily="49" charset="0"/>
              </a:rPr>
              <a:t>("Click Me", </a:t>
            </a:r>
            <a:r>
              <a:rPr lang="en-US" sz="1400" dirty="0" err="1">
                <a:solidFill>
                  <a:srgbClr val="000000"/>
                </a:solidFill>
                <a:latin typeface="Cascadia Mono" panose="020B0609020000020004" pitchFamily="49" charset="0"/>
              </a:rPr>
              <a:t>OnButtonClicked</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LayoutOptions.Center</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LayoutOptions.Center</a:t>
            </a:r>
            <a:r>
              <a:rPr lang="en-US" sz="1400" dirty="0">
                <a:solidFill>
                  <a:srgbClr val="000000"/>
                </a:solidFill>
                <a:latin typeface="Cascadia Mono" panose="020B0609020000020004" pitchFamily="49" charset="0"/>
              </a:rPr>
              <a:t>);</a:t>
            </a:r>
            <a:endParaRPr lang="en-US" sz="1400" dirty="0"/>
          </a:p>
        </p:txBody>
      </p:sp>
    </p:spTree>
    <p:extLst>
      <p:ext uri="{BB962C8B-B14F-4D97-AF65-F5344CB8AC3E}">
        <p14:creationId xmlns:p14="http://schemas.microsoft.com/office/powerpoint/2010/main" val="23645950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9880947"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a:t>CommunityToolkit.Maui.Markup</a:t>
            </a:r>
            <a:r>
              <a:rPr lang="en-US" sz="2800" dirty="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500292" y="1405294"/>
            <a:ext cx="10396834" cy="923330"/>
          </a:xfrm>
          <a:prstGeom prst="rect">
            <a:avLst/>
          </a:prstGeom>
        </p:spPr>
        <p:txBody>
          <a:bodyPr wrap="square">
            <a:spAutoFit/>
          </a:bodyPr>
          <a:lstStyle/>
          <a:p>
            <a:r>
              <a:rPr lang="fr-FR" b="1" dirty="0"/>
              <a:t>Déclaration d'UI</a:t>
            </a:r>
            <a:r>
              <a:rPr lang="fr-FR" dirty="0"/>
              <a:t> :</a:t>
            </a:r>
          </a:p>
          <a:p>
            <a:r>
              <a:rPr lang="fr-FR" dirty="0" smtClean="0"/>
              <a:t>	Simplifie </a:t>
            </a:r>
            <a:r>
              <a:rPr lang="fr-FR" dirty="0"/>
              <a:t>la déclaration des interfaces utilisateur en permettant d'écrire des XAML-</a:t>
            </a:r>
            <a:r>
              <a:rPr lang="fr-FR" dirty="0" err="1"/>
              <a:t>like</a:t>
            </a:r>
            <a:r>
              <a:rPr lang="fr-FR" dirty="0"/>
              <a:t> UI en C</a:t>
            </a:r>
            <a:r>
              <a:rPr lang="fr-FR" dirty="0" smtClean="0"/>
              <a:t>#</a:t>
            </a:r>
          </a:p>
          <a:p>
            <a:r>
              <a:rPr lang="fr-FR" dirty="0"/>
              <a:t>	</a:t>
            </a:r>
            <a:r>
              <a:rPr lang="fr-FR" dirty="0" smtClean="0"/>
              <a:t> </a:t>
            </a:r>
            <a:r>
              <a:rPr lang="fr-FR" dirty="0"/>
              <a:t>de manière fluide et élégante.</a:t>
            </a:r>
          </a:p>
        </p:txBody>
      </p:sp>
    </p:spTree>
    <p:extLst>
      <p:ext uri="{BB962C8B-B14F-4D97-AF65-F5344CB8AC3E}">
        <p14:creationId xmlns:p14="http://schemas.microsoft.com/office/powerpoint/2010/main" val="6979768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1414" y="535286"/>
            <a:ext cx="9880947" cy="523220"/>
          </a:xfrm>
          <a:prstGeom prst="rect">
            <a:avLst/>
          </a:prstGeom>
          <a:noFill/>
        </p:spPr>
        <p:txBody>
          <a:bodyPr wrap="square" rtlCol="0">
            <a:spAutoFit/>
          </a:bodyPr>
          <a:lstStyle/>
          <a:p>
            <a:r>
              <a:rPr lang="fr-FR" sz="2800" i="1" dirty="0" smtClean="0">
                <a:latin typeface="Candara" panose="020E0502030303020204" pitchFamily="34" charset="0"/>
              </a:rPr>
              <a:t>Introduction MAUI </a:t>
            </a:r>
            <a:r>
              <a:rPr lang="fr-FR" sz="2800" i="1" dirty="0" err="1" smtClean="0">
                <a:latin typeface="Candara" panose="020E0502030303020204" pitchFamily="34" charset="0"/>
              </a:rPr>
              <a:t>Toolkit</a:t>
            </a:r>
            <a:r>
              <a:rPr lang="fr-FR" sz="2800" i="1" dirty="0" smtClean="0">
                <a:latin typeface="Candara" panose="020E0502030303020204" pitchFamily="34" charset="0"/>
              </a:rPr>
              <a:t>(</a:t>
            </a:r>
            <a:r>
              <a:rPr lang="en-US" sz="2800" dirty="0" err="1"/>
              <a:t>CommunityToolkit.MVVM</a:t>
            </a:r>
            <a:r>
              <a:rPr lang="en-US" sz="2800" dirty="0"/>
              <a:t>)</a:t>
            </a:r>
            <a:r>
              <a:rPr lang="fr-FR" sz="2800" i="1" dirty="0" smtClean="0">
                <a:latin typeface="Candara" panose="020E0502030303020204" pitchFamily="34" charset="0"/>
              </a:rPr>
              <a:t> </a:t>
            </a:r>
            <a:endParaRPr lang="fr-FR" sz="2800" i="1" dirty="0">
              <a:latin typeface="Candara" panose="020E0502030303020204" pitchFamily="34" charset="0"/>
            </a:endParaRPr>
          </a:p>
        </p:txBody>
      </p:sp>
      <p:cxnSp>
        <p:nvCxnSpPr>
          <p:cNvPr id="3" name="Straight Connector 2"/>
          <p:cNvCxnSpPr>
            <a:cxnSpLocks/>
          </p:cNvCxnSpPr>
          <p:nvPr/>
        </p:nvCxnSpPr>
        <p:spPr>
          <a:xfrm flipV="1">
            <a:off x="228600" y="1066792"/>
            <a:ext cx="9144000" cy="30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1"/>
          <p:cNvSpPr>
            <a:spLocks noChangeArrowheads="1"/>
          </p:cNvSpPr>
          <p:nvPr/>
        </p:nvSpPr>
        <p:spPr bwMode="auto">
          <a:xfrm>
            <a:off x="228600" y="1448633"/>
            <a:ext cx="1152659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smtClean="0">
                <a:ln>
                  <a:noFill/>
                </a:ln>
                <a:solidFill>
                  <a:schemeClr val="tx1"/>
                </a:solidFill>
                <a:effectLst/>
                <a:latin typeface="Arial" panose="020B0604020202020204" pitchFamily="34" charset="0"/>
              </a:rPr>
              <a:t>La bibliothèque </a:t>
            </a:r>
            <a:r>
              <a:rPr kumimoji="0" lang="fr-FR" altLang="en-US" sz="1600" b="1" i="0" u="none" strike="noStrike" cap="none" normalizeH="0" baseline="0" dirty="0" err="1" smtClean="0">
                <a:ln>
                  <a:noFill/>
                </a:ln>
                <a:solidFill>
                  <a:schemeClr val="tx1"/>
                </a:solidFill>
                <a:effectLst/>
                <a:latin typeface="Arial" panose="020B0604020202020204" pitchFamily="34" charset="0"/>
              </a:rPr>
              <a:t>CommunityToolkit.MVVM</a:t>
            </a:r>
            <a:r>
              <a:rPr kumimoji="0" lang="fr-FR" altLang="en-US" sz="1600" b="0" i="0" u="none" strike="noStrike" cap="none" normalizeH="0" baseline="0" dirty="0" smtClean="0">
                <a:ln>
                  <a:noFill/>
                </a:ln>
                <a:solidFill>
                  <a:schemeClr val="tx1"/>
                </a:solidFill>
                <a:effectLst/>
                <a:latin typeface="Arial" panose="020B0604020202020204" pitchFamily="34" charset="0"/>
              </a:rPr>
              <a:t> fournit des outils pour faciliter l'implémentation du modèle MVVM (Model-</a:t>
            </a:r>
            <a:r>
              <a:rPr kumimoji="0" lang="fr-FR" altLang="en-US" sz="1600" b="0" i="0" u="none" strike="noStrike" cap="none" normalizeH="0" baseline="0" dirty="0" err="1" smtClean="0">
                <a:ln>
                  <a:noFill/>
                </a:ln>
                <a:solidFill>
                  <a:schemeClr val="tx1"/>
                </a:solidFill>
                <a:effectLst/>
                <a:latin typeface="Arial" panose="020B0604020202020204" pitchFamily="34" charset="0"/>
              </a:rPr>
              <a:t>View</a:t>
            </a:r>
            <a:r>
              <a:rPr kumimoji="0" lang="fr-FR" altLang="en-US" sz="1600" b="0" i="0" u="none" strike="noStrike" cap="none" normalizeH="0" baseline="0" dirty="0" smtClean="0">
                <a:ln>
                  <a:noFill/>
                </a:ln>
                <a:solidFill>
                  <a:schemeClr val="tx1"/>
                </a:solidFill>
                <a:effectLst/>
                <a:latin typeface="Arial" panose="020B0604020202020204" pitchFamily="34" charset="0"/>
              </a:rPr>
              <a:t>-</a:t>
            </a:r>
            <a:r>
              <a:rPr kumimoji="0" lang="fr-FR" altLang="en-US" sz="1600" b="0" i="0" u="none" strike="noStrike" cap="none" normalizeH="0" baseline="0" dirty="0" err="1" smtClean="0">
                <a:ln>
                  <a:noFill/>
                </a:ln>
                <a:solidFill>
                  <a:schemeClr val="tx1"/>
                </a:solidFill>
                <a:effectLst/>
                <a:latin typeface="Arial" panose="020B0604020202020204" pitchFamily="34" charset="0"/>
              </a:rPr>
              <a:t>ViewModel</a:t>
            </a:r>
            <a:r>
              <a:rPr kumimoji="0" lang="fr-FR" altLang="en-US" sz="1600" b="0" i="0" u="none" strike="noStrike" cap="none" normalizeH="0" baseline="0" dirty="0" smtClean="0">
                <a:ln>
                  <a:noFill/>
                </a:ln>
                <a:solidFill>
                  <a:schemeClr val="tx1"/>
                </a:solidFill>
                <a:effectLst/>
                <a:latin typeface="Arial" panose="020B0604020202020204" pitchFamily="34" charset="0"/>
              </a:rPr>
              <a:t>) en .NET MAUI, en offrant des classes et des attributs pour simplifier le code et améliorer la séparation des préoccupations.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en-US" sz="1600" b="1" i="0" u="none" strike="noStrike" cap="none" normalizeH="0" baseline="0" dirty="0" smtClean="0">
                <a:ln>
                  <a:noFill/>
                </a:ln>
                <a:solidFill>
                  <a:schemeClr val="tx1"/>
                </a:solidFill>
                <a:effectLst/>
                <a:latin typeface="Arial" panose="020B0604020202020204" pitchFamily="34" charset="0"/>
              </a:rPr>
              <a:t>Classes &amp; Attributs</a:t>
            </a:r>
            <a:r>
              <a:rPr kumimoji="0" lang="fr-FR" altLang="en-US" sz="16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en-US" sz="16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en-US" sz="1600" b="1" i="0" u="none" strike="noStrike" cap="none" normalizeH="0" baseline="0" dirty="0" err="1" smtClean="0">
                <a:ln>
                  <a:noFill/>
                </a:ln>
                <a:solidFill>
                  <a:schemeClr val="tx1"/>
                </a:solidFill>
                <a:effectLst/>
                <a:latin typeface="Arial" panose="020B0604020202020204" pitchFamily="34" charset="0"/>
              </a:rPr>
              <a:t>ObservableObject</a:t>
            </a:r>
            <a:r>
              <a:rPr kumimoji="0" lang="fr-FR" altLang="en-US" sz="1600" b="0" i="0" u="none" strike="noStrike" cap="none" normalizeH="0" baseline="0" dirty="0" smtClean="0">
                <a:ln>
                  <a:noFill/>
                </a:ln>
                <a:solidFill>
                  <a:schemeClr val="tx1"/>
                </a:solidFill>
                <a:effectLst/>
                <a:latin typeface="Arial" panose="020B0604020202020204" pitchFamily="34" charset="0"/>
              </a:rPr>
              <a:t> : Classe de base pour les </a:t>
            </a:r>
            <a:r>
              <a:rPr kumimoji="0" lang="fr-FR" altLang="en-US" sz="1600" b="0" i="0" u="none" strike="noStrike" cap="none" normalizeH="0" baseline="0" dirty="0" err="1" smtClean="0">
                <a:ln>
                  <a:noFill/>
                </a:ln>
                <a:solidFill>
                  <a:schemeClr val="tx1"/>
                </a:solidFill>
                <a:effectLst/>
                <a:latin typeface="Arial" panose="020B0604020202020204" pitchFamily="34" charset="0"/>
              </a:rPr>
              <a:t>ViewModels</a:t>
            </a:r>
            <a:r>
              <a:rPr kumimoji="0" lang="fr-FR" altLang="en-US" sz="1600" b="0" i="0" u="none" strike="noStrike" cap="none" normalizeH="0" baseline="0" dirty="0" smtClean="0">
                <a:ln>
                  <a:noFill/>
                </a:ln>
                <a:solidFill>
                  <a:schemeClr val="tx1"/>
                </a:solidFill>
                <a:effectLst/>
                <a:latin typeface="Arial" panose="020B0604020202020204" pitchFamily="34" charset="0"/>
              </a:rPr>
              <a:t> qui fournit la mise en œuvre des notifications de changement de propriété via l'interface </a:t>
            </a:r>
            <a:r>
              <a:rPr kumimoji="0" lang="fr-FR" altLang="en-US" sz="1600" b="0" i="0" u="none" strike="noStrike" cap="none" normalizeH="0" baseline="0" dirty="0" smtClean="0">
                <a:ln>
                  <a:noFill/>
                </a:ln>
                <a:solidFill>
                  <a:schemeClr val="tx1"/>
                </a:solidFill>
                <a:effectLst/>
                <a:latin typeface="Arial Unicode MS"/>
              </a:rPr>
              <a:t>INotifyPropertyChanged</a:t>
            </a:r>
            <a:r>
              <a:rPr kumimoji="0" lang="fr-FR" altLang="en-US" sz="1600" b="0" i="0" u="none" strike="noStrike" cap="none" normalizeH="0" baseline="0" dirty="0" smtClean="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fr-FR" altLang="en-US" sz="16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en-US" sz="1600" b="1" i="0" u="none" strike="noStrike" cap="none" normalizeH="0" baseline="0" dirty="0" err="1" smtClean="0">
                <a:ln>
                  <a:noFill/>
                </a:ln>
                <a:solidFill>
                  <a:schemeClr val="tx1"/>
                </a:solidFill>
                <a:effectLst/>
                <a:latin typeface="Arial" panose="020B0604020202020204" pitchFamily="34" charset="0"/>
              </a:rPr>
              <a:t>RelayCommand</a:t>
            </a:r>
            <a:r>
              <a:rPr kumimoji="0" lang="fr-FR" altLang="en-US" sz="1600" b="0" i="0" u="none" strike="noStrike" cap="none" normalizeH="0" baseline="0" dirty="0" smtClean="0">
                <a:ln>
                  <a:noFill/>
                </a:ln>
                <a:solidFill>
                  <a:schemeClr val="tx1"/>
                </a:solidFill>
                <a:effectLst/>
                <a:latin typeface="Arial" panose="020B0604020202020204" pitchFamily="34" charset="0"/>
              </a:rPr>
              <a:t> : Classe qui simplifie la création de commandes, en fournissant une manière simple de lier les commandes aux actions.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fr-FR" altLang="en-US" sz="1600" b="0" i="0" u="none" strike="noStrike" cap="none" normalizeH="0" baseline="0" dirty="0" smtClean="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lang="en-US" b="1" dirty="0" err="1" smtClean="0"/>
              <a:t>ObservablePropertyAttribute</a:t>
            </a:r>
            <a:r>
              <a:rPr kumimoji="0" lang="fr-FR" altLang="en-US" sz="1600" b="0" i="0" u="none" strike="noStrike" cap="none" normalizeH="0" baseline="0" dirty="0" smtClean="0">
                <a:ln>
                  <a:noFill/>
                </a:ln>
                <a:solidFill>
                  <a:schemeClr val="tx1"/>
                </a:solidFill>
                <a:effectLst/>
                <a:latin typeface="Arial" panose="020B0604020202020204" pitchFamily="34" charset="0"/>
              </a:rPr>
              <a:t> : Attribut pour notifier la vue des modifications de propriétés dans le </a:t>
            </a:r>
            <a:r>
              <a:rPr kumimoji="0" lang="fr-FR" altLang="en-US" sz="1600" b="0" i="0" u="none" strike="noStrike" cap="none" normalizeH="0" baseline="0" dirty="0" err="1" smtClean="0">
                <a:ln>
                  <a:noFill/>
                </a:ln>
                <a:solidFill>
                  <a:schemeClr val="tx1"/>
                </a:solidFill>
                <a:effectLst/>
                <a:latin typeface="Arial" panose="020B0604020202020204" pitchFamily="34" charset="0"/>
              </a:rPr>
              <a:t>ViewModel</a:t>
            </a:r>
            <a:r>
              <a:rPr kumimoji="0" lang="fr-FR" altLang="en-US" sz="16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6506680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2991713"/>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Projet de démonstration </a:t>
            </a:r>
            <a:endParaRPr lang="en-US" altLang="en-US" sz="3200" b="1" dirty="0">
              <a:solidFill>
                <a:srgbClr val="7030A0"/>
              </a:solidFill>
              <a:latin typeface="Segoe UI" panose="020B0502040204020203" pitchFamily="34" charset="0"/>
              <a:cs typeface="Segoe UI" panose="020B0502040204020203" pitchFamily="34" charset="0"/>
            </a:endParaRPr>
          </a:p>
        </p:txBody>
      </p:sp>
      <p:sp>
        <p:nvSpPr>
          <p:cNvPr id="11" name="object 18">
            <a:hlinkClick r:id="rId3"/>
          </p:cNvPr>
          <p:cNvSpPr txBox="1">
            <a:spLocks noChangeArrowheads="1"/>
          </p:cNvSpPr>
          <p:nvPr/>
        </p:nvSpPr>
        <p:spPr bwMode="auto">
          <a:xfrm>
            <a:off x="933748" y="3371029"/>
            <a:ext cx="10311452"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b="1" dirty="0" err="1" smtClean="0">
                <a:solidFill>
                  <a:srgbClr val="7030A0"/>
                </a:solidFill>
                <a:latin typeface="Segoe UI" panose="020B0502040204020203" pitchFamily="34" charset="0"/>
                <a:cs typeface="Segoe UI" panose="020B0502040204020203" pitchFamily="34" charset="0"/>
              </a:rPr>
              <a:t>ViewModel</a:t>
            </a:r>
            <a:r>
              <a:rPr lang="fr-FR" altLang="en-US" b="1" dirty="0" smtClean="0">
                <a:solidFill>
                  <a:srgbClr val="7030A0"/>
                </a:solidFill>
                <a:latin typeface="Segoe UI" panose="020B0502040204020203" pitchFamily="34" charset="0"/>
                <a:cs typeface="Segoe UI" panose="020B0502040204020203" pitchFamily="34" charset="0"/>
              </a:rPr>
              <a:t> Maui </a:t>
            </a:r>
            <a:r>
              <a:rPr lang="fr-FR" altLang="en-US" b="1" dirty="0" err="1" smtClean="0">
                <a:solidFill>
                  <a:srgbClr val="7030A0"/>
                </a:solidFill>
                <a:latin typeface="Segoe UI" panose="020B0502040204020203" pitchFamily="34" charset="0"/>
                <a:cs typeface="Segoe UI" panose="020B0502040204020203" pitchFamily="34" charset="0"/>
              </a:rPr>
              <a:t>Toolkit</a:t>
            </a:r>
            <a:endParaRPr lang="en-US" altLang="en-US"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48331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1185</TotalTime>
  <Words>695</Words>
  <Application>Microsoft Office PowerPoint</Application>
  <PresentationFormat>Widescreen</PresentationFormat>
  <Paragraphs>95</Paragraphs>
  <Slides>12</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Unicode MS</vt:lpstr>
      <vt:lpstr>Calibri</vt:lpstr>
      <vt:lpstr>Calibri Light</vt:lpstr>
      <vt:lpstr>Candara</vt:lpstr>
      <vt:lpstr>Cascadia Mono</vt:lpstr>
      <vt:lpstr>Comic Sans MS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Présentation Foundation </dc:title>
  <dc:creator>Windows User</dc:creator>
  <cp:lastModifiedBy>DELL</cp:lastModifiedBy>
  <cp:revision>51</cp:revision>
  <dcterms:created xsi:type="dcterms:W3CDTF">2022-10-07T06:51:45Z</dcterms:created>
  <dcterms:modified xsi:type="dcterms:W3CDTF">2025-07-18T18:38:48Z</dcterms:modified>
</cp:coreProperties>
</file>