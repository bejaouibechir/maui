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64" r:id="rId5"/>
    <p:sldId id="260" r:id="rId6"/>
    <p:sldId id="258" r:id="rId7"/>
    <p:sldId id="261" r:id="rId8"/>
    <p:sldId id="259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019" autoAdjust="0"/>
  </p:normalViewPr>
  <p:slideViewPr>
    <p:cSldViewPr snapToGrid="0">
      <p:cViewPr varScale="1">
        <p:scale>
          <a:sx n="88" d="100"/>
          <a:sy n="88" d="100"/>
        </p:scale>
        <p:origin x="13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1072A-0E54-4000-B552-814C289D0F96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F7BB8-05B0-46B9-86B3-4B0BE58D9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032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Code</a:t>
            </a:r>
            <a:r>
              <a:rPr lang="fr-FR" baseline="0" dirty="0" smtClean="0"/>
              <a:t> behind du contrôle: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ContentView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int Value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return (int)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GetValue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ValueProperty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set {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SetValue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ValueProperty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value);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IncreaseCommand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IncreaseCommand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DecreaseCommand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DecreaseCommand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new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// Using a DependencyProperty as the backing store for Value.  This enables animation, styling, binding, etc...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static readonly BindableProperty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ValueProperty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BindableProperty.Create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("Value",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typeof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(int),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typeof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NumericUpDown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),0,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propertyChanged:OnPropertyValueChanged,coerceValue:OnCoerceValue);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static object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OnCoerceValue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BindableObject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object value)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int input = (int)value;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if(input&lt;0) input = 0;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if (input &gt; 100) input = 0;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 input;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Value++;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down()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Value--;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static void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OnPropertyValueChanged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BindableObject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object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oldValue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object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newValue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ICommand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readonly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event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EventHandler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CanExecuteChanged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CanExecute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Execute(object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upDown.up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ICommand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private readonly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DecreaseCommand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event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EventHandler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CanExecuteChanged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CanExecute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Execute(object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parameter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_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upDown.down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7BB8-05B0-46B9-86B3-4B0BE58D9DF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77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Code C#:</a:t>
            </a:r>
          </a:p>
          <a:p>
            <a:endParaRPr lang="fr-FR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public class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string Name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double Longitude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double Latitude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int Population { get; set;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Code XAML: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Type="{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x:Type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Name="Paris" Longitude="48.8566" Latitude="2.3522" Population="0"/&gt;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Name="Berlin" Longitude="52.5200" Latitude="13.4050" Population="0"/&gt;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Name="London" Longitude="51.5072" Latitude="0.1276" Population="0"/&gt;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Name="Barcelone" Longitude="41.3874" Latitude="2.1686" Population="0"/&gt;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Lisbone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Longitude="38.7223" Latitude="9.1393" Population="0"/&gt;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Name="Roma" Longitude="41.9028" Latitude="12.4964" Population="0"/&gt;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&lt;DataTemplate&gt;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&lt;Border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MinimumHeightRequest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StrokeShape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="Rectangle 5,5,5,5" Background="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Name}"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="25"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FontAttributes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="Bold"/&gt;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="0,2,0,0"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='Longitude: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='Latitude: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Text="{Binding Population,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='Population: {0:F0}'}"/&gt;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&lt;/Grid&gt;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&lt;/Border&gt;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&lt;/DataTemplate&gt;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7BB8-05B0-46B9-86B3-4B0BE58D9DF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67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Commencer par définir le </a:t>
            </a:r>
            <a:r>
              <a:rPr lang="fr-FR" dirty="0" err="1" smtClean="0"/>
              <a:t>selector</a:t>
            </a:r>
            <a:endParaRPr lang="fr-FR" dirty="0" smtClean="0"/>
          </a:p>
          <a:p>
            <a:endParaRPr lang="fr-FR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CountryDataTemplateSelector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DataTemplateSelector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OnSelectTemplate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item,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BindableObject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container)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Place input  = item as Place;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switch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input.Continent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case "Afrique":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case "Europe":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case "Asie":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default: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NotImplementedException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Commencer</a:t>
            </a:r>
            <a:r>
              <a:rPr lang="fr-FR" baseline="0" dirty="0" smtClean="0"/>
              <a:t> par définir les DataTemplate pour chaque cas et faire référence à un </a:t>
            </a:r>
            <a:r>
              <a:rPr lang="fr-FR" baseline="0" dirty="0" err="1" smtClean="0"/>
              <a:t>selector</a:t>
            </a:r>
            <a:r>
              <a:rPr lang="fr-FR" baseline="0" dirty="0" smtClean="0"/>
              <a:t> au niveau des ressources: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ContentPage.Resources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&lt;DataTemplate x:Key="europe"&gt;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&lt;Border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MinimumHeightRequest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StrokeShape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="Rectangle 5,5,5,5" Background="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="2,0,2,0"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Name}"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FontAttributes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="Bold"/&gt;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="0,2,0,0"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='Longitude: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='Latitude: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Text="{Binding Population,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='Population: {0:F0}'}"/&gt;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&lt;/Grid&gt;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&lt;/Border&gt;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&lt;/DataTemplate&gt;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&lt;DataTemplate x:Key="afrique"&gt;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&lt;Border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MinimumHeightRequest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StrokeShape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="Rectangle 5,5,5,5" Background="Green"&gt;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="2,0,2,0"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Name}"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FontAttributes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="Bold"/&gt;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="0,2,0,0"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='Longitude: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='Latitude: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Text="{Binding Population,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='Population: {0:F0}'}"/&gt;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&lt;/Grid&gt;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&lt;/Border&gt;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&lt;/DataTemplate&gt;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&lt;DataTemplate x:Key="asie"&gt;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&lt;Border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MinimumHeightRequest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StrokeShape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="Rectangle 5,5,5,5" Background="Yellow"&gt;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="2,0,2,0"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Name}"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FontAttributes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="Bold"/&gt;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="0,2,0,0"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='Longitude: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='Latitude: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Text="{Binding Population,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='Population: {0:F0}'}"/&gt;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&lt;/Grid&gt;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&lt;/Border&gt;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&lt;/DataTemplate&gt;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local:CountryDataTemplateSelector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x:Key="selector"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ContentPage.Resources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Ensuite consommer le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selector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dans le code</a:t>
            </a: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Margin="20"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selector}" 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Type="{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x:Type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Name="Paris" Longitude="48.8566" Latitude="2.3522" Population="2161000"/&gt;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Continent="Asie" Name="Tokyo" Longitude="35.6762" Latitude="139.6503" Population="13960000"/&gt;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Name="Berlin" Longitude="52.5200" Latitude="13.4050" Population="3645000"/&gt;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Name="London" Longitude="51.5072" Latitude="0.1276" Population="8982000"/&gt;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Continent="Afrique" Name="Alger" Longitude="36.7538" Latitude="3.0588" Population="3154792"/&gt;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Name="Barcelone" Longitude="41.3874" Latitude="2.1686" Population="1620000"/&gt;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Lisbone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Longitude="38.7223" Latitude="9.1393" Population="504718"/&gt;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Name="Roma" Longitude="41.9028" Latitude="12.4964" Population="2873000"/&gt;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baseline="0" dirty="0" smtClean="0"/>
          </a:p>
          <a:p>
            <a:endParaRPr lang="fr-FR" baseline="0" dirty="0" smtClean="0"/>
          </a:p>
          <a:p>
            <a:endParaRPr lang="fr-FR" baseline="0" dirty="0" smtClean="0"/>
          </a:p>
          <a:p>
            <a:endParaRPr lang="fr-FR" baseline="0" dirty="0" smtClean="0"/>
          </a:p>
          <a:p>
            <a:r>
              <a:rPr lang="fr-FR" baseline="0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7BB8-05B0-46B9-86B3-4B0BE58D9DF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45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Commencer par définir le </a:t>
            </a:r>
            <a:r>
              <a:rPr lang="fr-FR" dirty="0" err="1" smtClean="0"/>
              <a:t>selector</a:t>
            </a:r>
            <a:endParaRPr lang="fr-FR" dirty="0" smtClean="0"/>
          </a:p>
          <a:p>
            <a:endParaRPr lang="fr-FR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public class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CountryDataTemplateSelector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DataTemplateSelector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{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public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get; set; }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protected override DataTemplate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OnSelectTemplate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(object item,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BindableObject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container)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Place input  = item as Place;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switch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input.Continent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{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case "Afrique":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case "Europe":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case "Asie":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return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default: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new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NotImplementedException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Commencer</a:t>
            </a:r>
            <a:r>
              <a:rPr lang="fr-FR" baseline="0" dirty="0" smtClean="0"/>
              <a:t> par définir les DataTemplate pour chaque cas et faire référence à un </a:t>
            </a:r>
            <a:r>
              <a:rPr lang="fr-FR" baseline="0" dirty="0" err="1" smtClean="0"/>
              <a:t>selector</a:t>
            </a:r>
            <a:r>
              <a:rPr lang="fr-FR" baseline="0" dirty="0" smtClean="0"/>
              <a:t> au niveau des ressources:</a:t>
            </a:r>
          </a:p>
          <a:p>
            <a:endParaRPr lang="fr-FR" baseline="0" dirty="0" smtClean="0"/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ContentPage.Resources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&lt;DataTemplate x:Key="europe"&gt;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&lt;Border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MinimumHeightRequest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StrokeShape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="Rectangle 5,5,5,5" Background="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="2,0,2,0"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Name}"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FontAttributes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="Bold"/&gt;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="0,2,0,0"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='Longitude: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='Latitude: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Text="{Binding Population,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='Population: {0:F0}'}"/&gt;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&lt;/Grid&gt;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&lt;/Border&gt;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&lt;/DataTemplate&gt;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&lt;DataTemplate x:Key="afrique"&gt;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&lt;Border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MinimumHeightRequest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StrokeShape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="Rectangle 5,5,5,5" Background="Green"&gt;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="2,0,2,0"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Name}"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FontAttributes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="Bold"/&gt;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="0,2,0,0"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='Longitude: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='Latitude: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Text="{Binding Population,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='Population: {0:F0}'}"/&gt;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&lt;/Grid&gt;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&lt;/Border&gt;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&lt;/DataTemplate&gt;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&lt;DataTemplate x:Key="asie"&gt;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&lt;Border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MinimumHeightRequest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MinimumWidthRequest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StrokeShape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="Rectangle 5,5,5,5" Background="Yellow"&gt;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&lt;Grid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="5"&gt;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RowDefinition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="1*"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Grid.RowDefinitions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="2,0,2,0"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Grid.ColumnSpan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Name}"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FontSize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FontAttributes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="Bold"/&gt;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Margin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="0,2,0,0"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="1"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='Longitude: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Text="{Binding Longitude,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='Latitude: {0:F2}'}"/&gt;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&lt;Label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="2"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Grid.Row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="3" Text="{Binding Population,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StringFormat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='Population: {0:F0}'}"/&gt;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&lt;/Grid&gt;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&lt;/Border&gt;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&lt;/DataTemplate&gt;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local:CountryDataTemplateSelector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x:Key="selector"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afrique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europe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AsieTemplate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asie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ContentPage.Resources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Ensuite consommer le </a:t>
            </a:r>
            <a:r>
              <a:rPr lang="fr-FR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selector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dans le code</a:t>
            </a: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Margin="20"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ItemTemplate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="{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StaticResource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selector}" 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Type="{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x:Type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}"&gt;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Name="Paris" Longitude="48.8566" Latitude="2.3522" Population="2161000"/&gt;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Continent="Asie" Name="Tokyo" Longitude="35.6762" Latitude="139.6503" Population="13960000"/&gt;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Name="Berlin" Longitude="52.5200" Latitude="13.4050" Population="3645000"/&gt;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Name="London" Longitude="51.5072" Latitude="0.1276" Population="8982000"/&gt;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Continent="Afrique" Name="Alger" Longitude="36.7538" Latitude="3.0588" Population="3154792"/&gt;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Name="Barcelone" Longitude="41.3874" Latitude="2.1686" Population="1620000"/&gt;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Lisbone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Longitude="38.7223" Latitude="9.1393" Population="504718"/&gt;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&lt;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local:Place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Continent="Europe" Name="Roma" Longitude="41.9028" Latitude="12.4964" Population="2873000"/&gt;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x:Array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CollectionView.ItemsSource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CollectionView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baseline="0" dirty="0" smtClean="0"/>
          </a:p>
          <a:p>
            <a:endParaRPr lang="fr-FR" baseline="0" dirty="0" smtClean="0"/>
          </a:p>
          <a:p>
            <a:endParaRPr lang="fr-FR" baseline="0" dirty="0" smtClean="0"/>
          </a:p>
          <a:p>
            <a:endParaRPr lang="fr-FR" baseline="0" dirty="0" smtClean="0"/>
          </a:p>
          <a:p>
            <a:r>
              <a:rPr lang="fr-FR" baseline="0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7BB8-05B0-46B9-86B3-4B0BE58D9DF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75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6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2596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503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70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95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82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9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89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26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465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39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E9581-868F-4D6E-B826-59F5361BFEBC}" type="datetimeFigureOut">
              <a:rPr lang="fr-FR" smtClean="0"/>
              <a:t>15/07/2025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A81B-E278-4376-8658-EDF01440BDFB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>
            <a:off x="146050" y="6237891"/>
            <a:ext cx="12045950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 smtClean="0"/>
              <a:t>Multi Application User Interface:  </a:t>
            </a:r>
          </a:p>
          <a:p>
            <a:r>
              <a:rPr lang="fr-FR" sz="1400" dirty="0" smtClean="0"/>
              <a:t>Ce support de cours est la propriété intellectuelle de Béchir Béjaoui, il n’est utilisé qu’avec l’accord du propriétaire © </a:t>
            </a:r>
            <a:r>
              <a:rPr lang="fr-FR" sz="1400" dirty="0" smtClean="0"/>
              <a:t>2025-2026 </a:t>
            </a:r>
            <a:endParaRPr lang="fr-FR" sz="1400" dirty="0"/>
          </a:p>
        </p:txBody>
      </p:sp>
      <p:pic>
        <p:nvPicPr>
          <p:cNvPr id="12" name="Picture 11" descr="dotnetMAUI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694" y="6127576"/>
            <a:ext cx="494184" cy="49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18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56353" y="2274326"/>
            <a:ext cx="9653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100" dirty="0">
                <a:solidFill>
                  <a:srgbClr val="1C3158"/>
                </a:solidFill>
                <a:latin typeface="Comic Sans MS" pitchFamily="66" charset="0"/>
              </a:rPr>
              <a:t>MAUI</a:t>
            </a: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5663952" y="2738280"/>
            <a:ext cx="3882150" cy="13038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795" y="4900959"/>
            <a:ext cx="1164186" cy="115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071100" y="5523434"/>
            <a:ext cx="322265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350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sz="1350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90314" y="2799774"/>
            <a:ext cx="3011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dirty="0" smtClean="0">
                <a:solidFill>
                  <a:srgbClr val="1C3158"/>
                </a:solidFill>
                <a:latin typeface="Comic Sans MS" pitchFamily="66" charset="0"/>
              </a:rPr>
              <a:t>Les </a:t>
            </a:r>
            <a:r>
              <a:rPr lang="fr-FR" smtClean="0">
                <a:solidFill>
                  <a:srgbClr val="1C3158"/>
                </a:solidFill>
                <a:latin typeface="Comic Sans MS" pitchFamily="66" charset="0"/>
              </a:rPr>
              <a:t>templates</a:t>
            </a:r>
            <a:endParaRPr lang="fr-FR" dirty="0">
              <a:solidFill>
                <a:srgbClr val="1C3158"/>
              </a:solidFill>
              <a:latin typeface="Comic Sans MS" pitchFamily="66" charset="0"/>
            </a:endParaRPr>
          </a:p>
        </p:txBody>
      </p:sp>
      <p:pic>
        <p:nvPicPr>
          <p:cNvPr id="1026" name="Picture 2" descr="dotnetMA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5" y="836712"/>
            <a:ext cx="3109706" cy="310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40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/>
          <p:nvPr/>
        </p:nvSpPr>
        <p:spPr>
          <a:xfrm>
            <a:off x="408559" y="692722"/>
            <a:ext cx="6011863" cy="14001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8210" algn="l"/>
              </a:tabLst>
              <a:defRPr/>
            </a:pPr>
            <a:r>
              <a:rPr sz="2400" u="heavy" spc="-5" dirty="0">
                <a:latin typeface="Segoe UI Symbol"/>
                <a:cs typeface="Segoe UI Symbol"/>
              </a:rPr>
              <a:t>Pl</a:t>
            </a:r>
            <a:r>
              <a:rPr sz="2400" u="heavy" spc="-30" dirty="0">
                <a:latin typeface="Segoe UI Symbol"/>
                <a:cs typeface="Segoe UI Symbol"/>
              </a:rPr>
              <a:t>a</a:t>
            </a:r>
            <a:r>
              <a:rPr sz="2400" u="heavy" dirty="0">
                <a:latin typeface="Segoe UI Symbol"/>
                <a:cs typeface="Segoe UI Symbol"/>
              </a:rPr>
              <a:t>n </a:t>
            </a:r>
            <a:endParaRPr sz="240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spcBef>
                <a:spcPts val="1520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en-US" sz="1650" spc="-20" dirty="0">
                <a:latin typeface="Segoe UI Symbol"/>
                <a:cs typeface="Segoe UI Symbol"/>
              </a:rPr>
              <a:t>Les Control Templates</a:t>
            </a:r>
            <a:endParaRPr sz="1650" dirty="0">
              <a:latin typeface="Segoe UI Symbol"/>
              <a:cs typeface="Segoe UI Symbol"/>
            </a:endParaRPr>
          </a:p>
          <a:p>
            <a:pPr marL="256540" indent="-243840" eaLnBrk="1" fontAlgn="auto" hangingPunct="1">
              <a:spcBef>
                <a:spcPts val="275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en-US" sz="1650" spc="25" dirty="0">
                <a:latin typeface="Segoe UI Symbol"/>
                <a:cs typeface="Segoe UI Symbol"/>
              </a:rPr>
              <a:t>Les Data Templates</a:t>
            </a:r>
          </a:p>
          <a:p>
            <a:pPr marL="256540" indent="-243840" eaLnBrk="1" fontAlgn="auto" hangingPunct="1">
              <a:spcBef>
                <a:spcPts val="275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en-US" sz="1650" spc="25" dirty="0">
                <a:latin typeface="Segoe UI Symbol"/>
                <a:cs typeface="Segoe UI Symbol"/>
              </a:rPr>
              <a:t>Le  Data Template Selector</a:t>
            </a:r>
            <a:endParaRPr sz="1650" dirty="0">
              <a:latin typeface="Segoe UI Symbol"/>
              <a:cs typeface="Segoe UI Symbol"/>
            </a:endParaRPr>
          </a:p>
        </p:txBody>
      </p:sp>
    </p:spTree>
    <p:extLst>
      <p:ext uri="{BB962C8B-B14F-4D97-AF65-F5344CB8AC3E}">
        <p14:creationId xmlns:p14="http://schemas.microsoft.com/office/powerpoint/2010/main" val="109716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/>
          <p:cNvSpPr txBox="1">
            <a:spLocks noChangeArrowheads="1"/>
          </p:cNvSpPr>
          <p:nvPr/>
        </p:nvSpPr>
        <p:spPr bwMode="auto">
          <a:xfrm>
            <a:off x="310769" y="262827"/>
            <a:ext cx="10645775" cy="109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>
                <a:latin typeface="Segoe UI Symbol" panose="020B0502040204020203" pitchFamily="34" charset="0"/>
              </a:rPr>
              <a:t>Définition de 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ControlTemplate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600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en-US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ControlTemplate</a:t>
            </a: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permettent de définir la structure visuelle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des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contrôles personnalisés </a:t>
            </a:r>
            <a:r>
              <a:rPr lang="fr-FR" dirty="0" smtClean="0">
                <a:latin typeface="Segoe UI" panose="020B0502040204020203" pitchFamily="34" charset="0"/>
                <a:cs typeface="Segoe UI" panose="020B0502040204020203" pitchFamily="34" charset="0"/>
              </a:rPr>
              <a:t>dérivés 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en affectant comme valeur de sa propriété </a:t>
            </a:r>
            <a:r>
              <a:rPr lang="fr-FR" b="1" dirty="0">
                <a:latin typeface="Segoe UI" panose="020B0502040204020203" pitchFamily="34" charset="0"/>
                <a:cs typeface="Segoe UI" panose="020B0502040204020203" pitchFamily="34" charset="0"/>
              </a:rPr>
              <a:t>ControlTemplate</a:t>
            </a:r>
            <a:r>
              <a:rPr lang="fr-FR" dirty="0">
                <a:latin typeface="Segoe UI" panose="020B0502040204020203" pitchFamily="34" charset="0"/>
                <a:cs typeface="Segoe UI" panose="020B0502040204020203" pitchFamily="34" charset="0"/>
              </a:rPr>
              <a:t> l’objet de modèle de contrôle</a:t>
            </a:r>
            <a:endParaRPr lang="en-US" alt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7484" y="1506613"/>
            <a:ext cx="1102426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ControlTemplate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="updawnTemplate"&gt;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BindingContext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Source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={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RelativeSource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Mode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TemplatedParent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}}"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Grid.RowDefinitions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RowDefinition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RowDefinition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Height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Grid.RowDefinitions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Grid.ColumnDefinitions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ColumnDefinition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ColumnDefinition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Width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Grid.ColumnDefinitions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Border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="0,0,2,0"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Grid.RowSpan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StrokeShape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="Rectangle 5,5,5,5"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MinimumWidthRequest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="80"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MinimumHeightRequest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Text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Value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="40"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fr-FR" sz="12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="Center"/&gt;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Border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en-US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Button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Text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="▲"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Grid.Column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Command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en-US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IncreaseCommand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 /&gt;</a:t>
            </a:r>
            <a:endParaRPr 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&lt;</a:t>
            </a:r>
            <a:r>
              <a:rPr lang="fr-FR" sz="14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Button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Text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="▼"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Grid.Column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Command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DecreaseCommand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fr-FR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Grid.Row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="1"/&gt;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ControlTemplate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71951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/>
          <p:cNvSpPr txBox="1">
            <a:spLocks noChangeArrowheads="1"/>
          </p:cNvSpPr>
          <p:nvPr/>
        </p:nvSpPr>
        <p:spPr bwMode="auto">
          <a:xfrm>
            <a:off x="310769" y="262827"/>
            <a:ext cx="10645775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>
                <a:latin typeface="Segoe UI Symbol" panose="020B0502040204020203" pitchFamily="34" charset="0"/>
              </a:rPr>
              <a:t>Définition de </a:t>
            </a:r>
            <a:r>
              <a:rPr lang="en-US" altLang="en-US" sz="2200" u="sng" dirty="0" smtClean="0">
                <a:latin typeface="Segoe UI Symbol" panose="020B0502040204020203" pitchFamily="34" charset="0"/>
              </a:rPr>
              <a:t>ControlTemplate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600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"/>
            </a:pPr>
            <a:r>
              <a:rPr lang="en-US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Il est possible également d’encapsuler le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b="1" dirty="0" err="1" smtClean="0">
                <a:latin typeface="Segoe UI" panose="020B0502040204020203" pitchFamily="34" charset="0"/>
                <a:cs typeface="Segoe UI" panose="020B0502040204020203" pitchFamily="34" charset="0"/>
              </a:rPr>
              <a:t>ControlTemplate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dans un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Style</a:t>
            </a:r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8383" y="1171056"/>
            <a:ext cx="8872818" cy="5101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x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Key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="NumericUpDownStyle"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TargetType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local:NumericUpDown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"&gt;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Property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="ControlTemplate"&gt;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Setter.Value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ControlTemplate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fr-FR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fr-FR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BindingContext</a:t>
            </a:r>
            <a:r>
              <a:rPr lang="fr-FR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fr-FR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Source</a:t>
            </a:r>
            <a:r>
              <a:rPr lang="fr-FR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={</a:t>
            </a:r>
            <a:r>
              <a:rPr lang="fr-FR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RelativeSource</a:t>
            </a:r>
            <a:r>
              <a:rPr lang="fr-FR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Mode</a:t>
            </a:r>
            <a:r>
              <a:rPr lang="fr-FR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</a:t>
            </a:r>
            <a:r>
              <a:rPr lang="fr-FR" sz="105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TemplatedParent</a:t>
            </a:r>
            <a:r>
              <a:rPr lang="fr-FR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}}"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Grid.RowDefinitions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RowDefinition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Height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RowDefinition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Height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Grid.RowDefinitions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Grid.ColumnDefinitions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ColumnDefinition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Width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ColumnDefinition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Width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="1*" 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Grid.ColumnDefinitions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Border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="0,0,2,0"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Grid.RowSpan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="2"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StrokeShape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="Rectangle 5,5,5,5"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MinimumWidthRequest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="80"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MinimumHeightRequest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="10"&gt;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Label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Value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FontSize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="40"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HorizontalOptions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VerticalOptions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="Center"/&gt;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Border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="▲"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Command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IncreaseCommand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}" 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="▼"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Grid.Column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Command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Binding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DecreaseCommand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}"</a:t>
            </a:r>
            <a:r>
              <a:rPr lang="en-US" sz="105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05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Grid.Row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="1"/&gt;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Grid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ControlTemplate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Setter.Value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Setter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</a:p>
          <a:p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A31515"/>
                </a:solidFill>
                <a:latin typeface="Cascadia Mono" panose="020B0609020000020004" pitchFamily="49" charset="0"/>
              </a:rPr>
              <a:t>Style</a:t>
            </a:r>
            <a:r>
              <a:rPr lang="en-US" sz="105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61917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1"/>
          <p:cNvSpPr txBox="1">
            <a:spLocks noChangeArrowheads="1"/>
          </p:cNvSpPr>
          <p:nvPr/>
        </p:nvSpPr>
        <p:spPr bwMode="auto">
          <a:xfrm>
            <a:off x="336169" y="643827"/>
            <a:ext cx="10645775" cy="109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524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992813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u="sng" dirty="0">
                <a:latin typeface="Segoe UI Symbol" panose="020B0502040204020203" pitchFamily="34" charset="0"/>
              </a:rPr>
              <a:t>Définition de ControlTemplate</a:t>
            </a:r>
            <a:r>
              <a:rPr lang="en-US" alt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8150" indent="-285750">
              <a:spcBef>
                <a:spcPts val="1600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Le </a:t>
            </a:r>
            <a:r>
              <a:rPr lang="fr-FR" altLang="en-US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ControlTemplate</a:t>
            </a:r>
            <a:r>
              <a:rPr lang="fr-FR" alt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 est définit au niveau des ressources de la content page ou mieux dans un dictionnaire de ressources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0655" y="1844719"/>
            <a:ext cx="106142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NumericUpDown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ControlTemplate</a:t>
            </a:r>
            <a:r>
              <a:rPr lang="en-US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en-US" sz="16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StaticResource</a:t>
            </a:r>
            <a:r>
              <a:rPr 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updawnTemplate</a:t>
            </a:r>
            <a:r>
              <a:rPr lang="en-US" sz="1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/&gt;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391886" y="2491091"/>
            <a:ext cx="10769600" cy="2133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6575" indent="-536575">
              <a:spcBef>
                <a:spcPts val="1600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La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Propriété </a:t>
            </a:r>
            <a:r>
              <a:rPr lang="fr-FR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BindingContext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permet de lier les membres définis au niveau du code </a:t>
            </a:r>
            <a:r>
              <a:rPr lang="fr-FR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behind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du contrôle aux éléments visuels  du </a:t>
            </a:r>
            <a:r>
              <a:rPr lang="fr-FR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ControlTemplate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endParaRPr lang="fr-FR" alt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Bef>
                <a:spcPts val="1600"/>
              </a:spcBef>
              <a:buClr>
                <a:srgbClr val="006498"/>
              </a:buClr>
              <a:buSzPct val="61000"/>
            </a:pPr>
            <a:r>
              <a:rPr lang="fr-FR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BindingContext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Source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={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RelativeSource</a:t>
            </a:r>
            <a:r>
              <a:rPr lang="fr-F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Mode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</a:t>
            </a:r>
            <a:r>
              <a:rPr lang="fr-FR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TemplatedParent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}}"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pPr marL="438150" indent="-438150">
              <a:spcBef>
                <a:spcPts val="1600"/>
              </a:spcBef>
              <a:buClr>
                <a:srgbClr val="006498"/>
              </a:buClr>
              <a:buSzPct val="61000"/>
              <a:buFont typeface="Wingdings" panose="05000000000000000000" pitchFamily="2" charset="2"/>
              <a:buChar char="§"/>
              <a:tabLst>
                <a:tab pos="87313" algn="l"/>
              </a:tabLst>
            </a:pP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commandes sont des types qui implémentent l’interface </a:t>
            </a:r>
            <a:r>
              <a:rPr lang="fr-FR" alt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ICommand</a:t>
            </a:r>
            <a:r>
              <a:rPr lang="fr-FR" alt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cette interface permet de lier les comportements définis au niveau du code </a:t>
            </a:r>
            <a:r>
              <a:rPr lang="fr-FR" alt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behind</a:t>
            </a:r>
            <a:r>
              <a:rPr lang="fr-FR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du contrôle aux évènements clic définis au niveau du ControlTemplate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6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8"/>
          <p:cNvSpPr txBox="1"/>
          <p:nvPr/>
        </p:nvSpPr>
        <p:spPr>
          <a:xfrm>
            <a:off x="322610" y="289202"/>
            <a:ext cx="10967974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altLang="en-US" sz="2400" u="sng" dirty="0">
                <a:latin typeface="Segoe UI Symbol" panose="020B0502040204020203" pitchFamily="34" charset="0"/>
              </a:rPr>
              <a:t>Définition de DataTemplate </a:t>
            </a:r>
            <a:endParaRPr sz="190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pc="5" dirty="0" smtClean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Les </a:t>
            </a:r>
            <a:r>
              <a:rPr lang="fr-FR" b="1" spc="5" dirty="0" smtClean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DataTemplate</a:t>
            </a:r>
            <a:r>
              <a:rPr lang="fr-FR" spc="5" dirty="0" smtClean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sont utiles pour personnaliser les éléments d’une collection des données, elle sont applicables de deux manières soit directement au niveau du balisage </a:t>
            </a:r>
            <a:r>
              <a:rPr lang="fr-FR" b="1" spc="5" dirty="0" smtClean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ItemsTemplate</a:t>
            </a:r>
            <a:endParaRPr lang="fr-FR" b="1" dirty="0"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027" y="1725825"/>
            <a:ext cx="11273491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Margin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Array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Type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="Paris"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="48.8566"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="2.3522"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="Berlin"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="52.5200"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="13.4050"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="London"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="51.5072"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="0.1276"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="Barcelone"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="41.3874"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smtClean="0">
                <a:solidFill>
                  <a:srgbClr val="FF0000"/>
                </a:solidFill>
                <a:latin typeface="Cascadia Mono" panose="020B0609020000020004" pitchFamily="49" charset="0"/>
              </a:rPr>
              <a:t>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="2.1686"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Lisbone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="38.7223"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="9.1393"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="Roma"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="41.9028"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="12.4964"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Array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CollectionView.ItemTemplate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DataTemplate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fr-FR" sz="16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….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DataTemplate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&lt;/</a:t>
            </a:r>
            <a:r>
              <a:rPr lang="fr-FR" sz="1600" b="1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CollectionView.ItemTemplate</a:t>
            </a:r>
            <a:r>
              <a:rPr lang="fr-FR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&gt;</a:t>
            </a:r>
            <a:endParaRPr lang="fr-FR" sz="1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28338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8"/>
          <p:cNvSpPr txBox="1"/>
          <p:nvPr/>
        </p:nvSpPr>
        <p:spPr>
          <a:xfrm>
            <a:off x="349504" y="652272"/>
            <a:ext cx="10967974" cy="784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altLang="en-US" sz="2400" u="sng" dirty="0">
                <a:latin typeface="Segoe UI Symbol" panose="020B0502040204020203" pitchFamily="34" charset="0"/>
              </a:rPr>
              <a:t>Définition de DataTemplate </a:t>
            </a:r>
            <a:endParaRPr sz="190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pc="5" dirty="0" smtClean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La deuxième technique consiste à référer le </a:t>
            </a:r>
            <a:r>
              <a:rPr lang="fr-FR" b="1" spc="5" dirty="0" smtClean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DataTemplate</a:t>
            </a:r>
            <a:r>
              <a:rPr lang="fr-FR" spc="5" dirty="0" smtClean="0">
                <a:latin typeface="Segoe UI" panose="020B0502040204020203" pitchFamily="34" charset="0"/>
                <a:ea typeface="Segoe UI Symbol" panose="020B0502040204020203" pitchFamily="34" charset="0"/>
                <a:cs typeface="Segoe UI" panose="020B0502040204020203" pitchFamily="34" charset="0"/>
              </a:rPr>
              <a:t> comme une ressource statique  </a:t>
            </a:r>
            <a:endParaRPr lang="fr-FR" b="1" dirty="0">
              <a:latin typeface="Segoe UI" panose="020B0502040204020203" pitchFamily="34" charset="0"/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1800" y="1481552"/>
            <a:ext cx="113157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ScrollView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Margin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="20"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ItemTemplate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="{</a:t>
            </a:r>
            <a:r>
              <a:rPr lang="en-US" sz="16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Binding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datatemplate</a:t>
            </a:r>
            <a:r>
              <a:rPr lang="en-U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}"&gt;</a:t>
            </a:r>
            <a:endParaRPr lang="en-US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Array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Type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="{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Type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FF0000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}"&gt;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="Paris"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="48.8566"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="2.3522"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="Berlin"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="52.5200"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="13.4050"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="London"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="51.5072"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="0.1276"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="Barcelone"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="41.3874"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="2.1686"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Lisbone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="38.7223"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="9.1393"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local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Place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Name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="Roma"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Longitude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="41.9028"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Latitude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="12.4964"</a:t>
            </a:r>
            <a:r>
              <a:rPr lang="fr-FR" sz="1400" dirty="0">
                <a:solidFill>
                  <a:srgbClr val="FF0000"/>
                </a:solidFill>
                <a:latin typeface="Cascadia Mono" panose="020B0609020000020004" pitchFamily="49" charset="0"/>
              </a:rPr>
              <a:t> Population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="0"/&gt;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x</a:t>
            </a:r>
            <a:r>
              <a:rPr lang="fr-FR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: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Array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&lt;/</a:t>
            </a:r>
            <a:r>
              <a:rPr lang="fr-FR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CollectionView.ItemsSource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&gt;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13541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8"/>
          <p:cNvSpPr txBox="1"/>
          <p:nvPr/>
        </p:nvSpPr>
        <p:spPr>
          <a:xfrm>
            <a:off x="365062" y="644906"/>
            <a:ext cx="10562018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altLang="en-US" sz="2400" u="sng" dirty="0" err="1">
                <a:latin typeface="Segoe UI Symbol" panose="020B0502040204020203" pitchFamily="34" charset="0"/>
              </a:rPr>
              <a:t>Définition</a:t>
            </a:r>
            <a:r>
              <a:rPr lang="en-US" altLang="en-US" sz="2400" u="sng" dirty="0">
                <a:latin typeface="Segoe UI Symbol" panose="020B0502040204020203" pitchFamily="34" charset="0"/>
              </a:rPr>
              <a:t> de </a:t>
            </a:r>
            <a:r>
              <a:rPr lang="en-US" altLang="en-US" sz="2400" u="sng" dirty="0" err="1">
                <a:latin typeface="Segoe UI Symbol" panose="020B0502040204020203" pitchFamily="34" charset="0"/>
              </a:rPr>
              <a:t>DataTemplateSelector</a:t>
            </a:r>
            <a:r>
              <a:rPr lang="en-US" altLang="en-US" sz="2400" u="sng" dirty="0">
                <a:latin typeface="Segoe UI Symbol" panose="020B0502040204020203" pitchFamily="34" charset="0"/>
              </a:rPr>
              <a:t> </a:t>
            </a:r>
            <a:r>
              <a:rPr sz="2250" u="heavy" dirty="0">
                <a:latin typeface="Times New Roman"/>
                <a:cs typeface="Times New Roman"/>
              </a:rPr>
              <a:t>	</a:t>
            </a:r>
            <a:endParaRPr sz="1900" dirty="0">
              <a:latin typeface="Times New Roman"/>
              <a:cs typeface="Times New Roman"/>
            </a:endParaRPr>
          </a:p>
          <a:p>
            <a:pPr marL="256540" indent="-24384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5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Il est possible d’</a:t>
            </a:r>
            <a:r>
              <a:rPr lang="fr-FR" sz="1600" spc="5" dirty="0" err="1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alterer</a:t>
            </a:r>
            <a:r>
              <a:rPr lang="fr-FR" sz="1600" spc="5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 les apparitions des éléments du </a:t>
            </a:r>
            <a:r>
              <a:rPr lang="fr-FR" sz="1600" spc="5" dirty="0" err="1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ListControl</a:t>
            </a:r>
            <a:r>
              <a:rPr lang="fr-FR" sz="1600" spc="5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 selon une ou plusieurs conditions avec </a:t>
            </a:r>
            <a:r>
              <a:rPr lang="fr-FR" sz="1600" spc="5" dirty="0" err="1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DataTemplateSelector</a:t>
            </a:r>
            <a:endParaRPr lang="fr-FR" sz="1600" b="1" dirty="0">
              <a:latin typeface="Segoe UI Symbol" panose="020B0502040204020203" pitchFamily="34" charset="0"/>
              <a:ea typeface="Segoe UI Symbol" panose="020B0502040204020203" pitchFamily="34" charset="0"/>
              <a:cs typeface="Segoe UI Symbol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627380" y="1874838"/>
            <a:ext cx="8291649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rgbClr val="0000FF"/>
                </a:solidFill>
                <a:latin typeface="Segoe UI Symbol" panose="020B0502040204020203" pitchFamily="34" charset="0"/>
              </a:rPr>
              <a:t>public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Segoe UI Symbol" panose="020B0502040204020203" pitchFamily="34" charset="0"/>
              </a:rPr>
              <a:t>class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dirty="0" err="1">
                <a:solidFill>
                  <a:srgbClr val="2B91AF"/>
                </a:solidFill>
                <a:latin typeface="Segoe UI Symbol" panose="020B0502040204020203" pitchFamily="34" charset="0"/>
              </a:rPr>
              <a:t>PropertyDataTemplateSelector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: </a:t>
            </a:r>
            <a:r>
              <a:rPr lang="en-US" altLang="en-US" dirty="0" err="1">
                <a:solidFill>
                  <a:srgbClr val="000000"/>
                </a:solidFill>
                <a:latin typeface="Segoe UI Symbol" panose="020B0502040204020203" pitchFamily="34" charset="0"/>
              </a:rPr>
              <a:t>DataTemplateSelector</a:t>
            </a:r>
            <a:endParaRPr lang="en-US" altLang="en-US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   {</a:t>
            </a:r>
          </a:p>
          <a:p>
            <a:endParaRPr lang="en-US" altLang="en-US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</a:t>
            </a:r>
            <a:r>
              <a:rPr lang="en-US" altLang="en-US" dirty="0">
                <a:solidFill>
                  <a:srgbClr val="0000FF"/>
                </a:solidFill>
                <a:latin typeface="Segoe UI Symbol" panose="020B0502040204020203" pitchFamily="34" charset="0"/>
              </a:rPr>
              <a:t>public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Segoe UI Symbol" panose="020B0502040204020203" pitchFamily="34" charset="0"/>
              </a:rPr>
              <a:t>override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DataTemplate </a:t>
            </a:r>
            <a:r>
              <a:rPr lang="en-US" altLang="en-US" dirty="0" err="1">
                <a:solidFill>
                  <a:srgbClr val="000000"/>
                </a:solidFill>
                <a:latin typeface="Segoe UI Symbol" panose="020B0502040204020203" pitchFamily="34" charset="0"/>
              </a:rPr>
              <a:t>SelectTemplate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(</a:t>
            </a:r>
            <a:r>
              <a:rPr lang="en-US" altLang="en-US" dirty="0">
                <a:solidFill>
                  <a:srgbClr val="0000FF"/>
                </a:solidFill>
                <a:latin typeface="Segoe UI Symbol" panose="020B0502040204020203" pitchFamily="34" charset="0"/>
              </a:rPr>
              <a:t>object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item,</a:t>
            </a:r>
          </a:p>
          <a:p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       DependencyObject container)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{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       …</a:t>
            </a:r>
            <a:r>
              <a:rPr lang="en-US" altLang="en-US" dirty="0" err="1">
                <a:solidFill>
                  <a:srgbClr val="000000"/>
                </a:solidFill>
                <a:latin typeface="Segoe UI Symbol" panose="020B0502040204020203" pitchFamily="34" charset="0"/>
              </a:rPr>
              <a:t>Votre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Segoe UI Symbol" panose="020B0502040204020203" pitchFamily="34" charset="0"/>
              </a:rPr>
              <a:t>logique</a:t>
            </a:r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latin typeface="Segoe UI Symbol" panose="020B0502040204020203" pitchFamily="34" charset="0"/>
              </a:rPr>
              <a:t>ici</a:t>
            </a:r>
            <a:endParaRPr lang="en-US" altLang="en-US" dirty="0">
              <a:solidFill>
                <a:srgbClr val="000000"/>
              </a:solidFill>
              <a:latin typeface="Segoe UI Symbol" panose="020B0502040204020203" pitchFamily="34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       }</a:t>
            </a:r>
          </a:p>
          <a:p>
            <a:r>
              <a:rPr lang="en-US" altLang="en-US" dirty="0">
                <a:solidFill>
                  <a:srgbClr val="000000"/>
                </a:solidFill>
                <a:latin typeface="Segoe UI Symbol" panose="020B0502040204020203" pitchFamily="34" charset="0"/>
              </a:rPr>
              <a:t>    } </a:t>
            </a:r>
            <a:endParaRPr lang="en-US" altLang="en-US" dirty="0">
              <a:latin typeface="Segoe UI Symbol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9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8"/>
          <p:cNvSpPr txBox="1"/>
          <p:nvPr/>
        </p:nvSpPr>
        <p:spPr>
          <a:xfrm>
            <a:off x="365062" y="644906"/>
            <a:ext cx="10562018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53035" eaLnBrk="1" fontAlgn="auto" hangingPunct="1">
              <a:spcBef>
                <a:spcPts val="0"/>
              </a:spcBef>
              <a:spcAft>
                <a:spcPts val="0"/>
              </a:spcAft>
              <a:tabLst>
                <a:tab pos="5993130" algn="l"/>
              </a:tabLst>
              <a:defRPr/>
            </a:pPr>
            <a:r>
              <a:rPr lang="en-US" altLang="en-US" sz="2400" u="sng" dirty="0">
                <a:latin typeface="Segoe UI Symbol" panose="020B0502040204020203" pitchFamily="34" charset="0"/>
              </a:rPr>
              <a:t>Définition de </a:t>
            </a:r>
            <a:r>
              <a:rPr lang="en-US" altLang="en-US" sz="2400" u="sng" dirty="0" err="1" smtClean="0">
                <a:latin typeface="Segoe UI Symbol" panose="020B0502040204020203" pitchFamily="34" charset="0"/>
              </a:rPr>
              <a:t>DataTemplateSelector</a:t>
            </a:r>
            <a:endParaRPr sz="1900" dirty="0">
              <a:latin typeface="Times New Roman"/>
              <a:cs typeface="Times New Roman"/>
            </a:endParaRPr>
          </a:p>
          <a:p>
            <a:pPr marL="256540" indent="-243840">
              <a:lnSpc>
                <a:spcPct val="150000"/>
              </a:lnSpc>
              <a:buClr>
                <a:srgbClr val="006498"/>
              </a:buClr>
              <a:buSzPct val="60606"/>
              <a:buFont typeface="Wingdings"/>
              <a:buChar char=""/>
              <a:tabLst>
                <a:tab pos="257175" algn="l"/>
              </a:tabLst>
              <a:defRPr/>
            </a:pPr>
            <a:r>
              <a:rPr lang="fr-FR" sz="1600" spc="5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Voici </a:t>
            </a:r>
            <a:r>
              <a:rPr lang="fr-FR" sz="1600" spc="5" dirty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un exemple </a:t>
            </a:r>
            <a:r>
              <a:rPr lang="fr-FR" sz="1600" spc="5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de </a:t>
            </a:r>
            <a:r>
              <a:rPr lang="fr-FR" sz="1600" spc="5" dirty="0" err="1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selector</a:t>
            </a:r>
            <a:r>
              <a:rPr lang="fr-FR" sz="1600" spc="5" dirty="0" smtClean="0">
                <a:latin typeface="Segoe UI Symbol" panose="020B0502040204020203" pitchFamily="34" charset="0"/>
                <a:ea typeface="Segoe UI Symbol" panose="020B0502040204020203" pitchFamily="34" charset="0"/>
                <a:cs typeface="Segoe UI Symbol"/>
              </a:rPr>
              <a:t> </a:t>
            </a:r>
            <a:endParaRPr lang="fr-FR" sz="1600" b="1" dirty="0">
              <a:latin typeface="Segoe UI Symbol" panose="020B0502040204020203" pitchFamily="34" charset="0"/>
              <a:ea typeface="Segoe UI Symbol" panose="020B0502040204020203" pitchFamily="34" charset="0"/>
              <a:cs typeface="Segoe UI Symbo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4550" y="1523270"/>
            <a:ext cx="1019175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CountryDataTemplateSelector</a:t>
            </a:r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DataTemplateSelector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DataTemplate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EuropeTemplate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DataTemplate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AfriqueTemplate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DataTemplate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AsieTemplate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fr-FR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protected</a:t>
            </a: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override</a:t>
            </a: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DataTemplate </a:t>
            </a:r>
            <a:r>
              <a:rPr lang="en-US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OnSelectTemplate</a:t>
            </a: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object</a:t>
            </a: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item, </a:t>
            </a:r>
            <a:r>
              <a:rPr lang="en-US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BindableObject</a:t>
            </a: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container)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Place input  = item </a:t>
            </a:r>
            <a:r>
              <a:rPr lang="en-US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as</a:t>
            </a:r>
            <a:r>
              <a:rPr lang="en-US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Place;   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switch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()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{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input.Continent</a:t>
            </a:r>
            <a:endParaRPr lang="fr-FR" sz="1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Mono" panose="020B0609020000020004" pitchFamily="49" charset="0"/>
            </a:endParaRP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case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"Afrique"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return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AfriqueTemplate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;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case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"Europe"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return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EuropeTemplate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;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case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"Asie"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return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AsieTemplate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;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default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: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        </a:t>
            </a:r>
            <a:r>
              <a:rPr lang="fr-FR" sz="1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throw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NotImplementedException</a:t>
            </a:r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();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    }</a:t>
            </a:r>
          </a:p>
          <a:p>
            <a:r>
              <a:rPr lang="fr-FR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Mono" panose="020B0609020000020004" pitchFamily="49" charset="0"/>
              </a:rPr>
              <a:t>        }</a:t>
            </a:r>
          </a:p>
          <a:p>
            <a:r>
              <a:rPr lang="fr-FR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fr-FR" sz="1200" dirty="0"/>
          </a:p>
        </p:txBody>
      </p:sp>
      <p:sp>
        <p:nvSpPr>
          <p:cNvPr id="5" name="Ellipse 4"/>
          <p:cNvSpPr/>
          <p:nvPr/>
        </p:nvSpPr>
        <p:spPr>
          <a:xfrm>
            <a:off x="7016750" y="1447800"/>
            <a:ext cx="311150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3270250" y="1930400"/>
            <a:ext cx="311150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5395246" y="3079750"/>
            <a:ext cx="311150" cy="304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7327900" y="1447800"/>
            <a:ext cx="27803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spc="5" dirty="0" smtClean="0">
                <a:latin typeface="Segoe UI Symbol" panose="020B0502040204020203" pitchFamily="34" charset="0"/>
                <a:ea typeface="Segoe UI Symbol" panose="020B0502040204020203" pitchFamily="34" charset="0"/>
              </a:rPr>
              <a:t>Hériter de </a:t>
            </a:r>
            <a:r>
              <a:rPr lang="fr-FR" sz="1400" b="1" spc="5" dirty="0" err="1" smtClean="0">
                <a:latin typeface="Segoe UI Symbol" panose="020B0502040204020203" pitchFamily="34" charset="0"/>
                <a:ea typeface="Segoe UI Symbol" panose="020B0502040204020203" pitchFamily="34" charset="0"/>
              </a:rPr>
              <a:t>DataTemplateSelector</a:t>
            </a:r>
            <a:endParaRPr lang="fr-FR" sz="1400" b="1" dirty="0"/>
          </a:p>
        </p:txBody>
      </p:sp>
      <p:sp>
        <p:nvSpPr>
          <p:cNvPr id="9" name="Rectangle 8"/>
          <p:cNvSpPr/>
          <p:nvPr/>
        </p:nvSpPr>
        <p:spPr>
          <a:xfrm>
            <a:off x="3581400" y="1846195"/>
            <a:ext cx="21326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spc="5" dirty="0" smtClean="0">
                <a:latin typeface="Segoe UI Symbol" panose="020B0502040204020203" pitchFamily="34" charset="0"/>
                <a:ea typeface="Segoe UI Symbol" panose="020B0502040204020203" pitchFamily="34" charset="0"/>
              </a:rPr>
              <a:t>Définir les DataTemplate</a:t>
            </a:r>
            <a:endParaRPr lang="fr-FR" sz="1400" b="1" dirty="0"/>
          </a:p>
        </p:txBody>
      </p:sp>
      <p:sp>
        <p:nvSpPr>
          <p:cNvPr id="10" name="Rectangle 9"/>
          <p:cNvSpPr/>
          <p:nvPr/>
        </p:nvSpPr>
        <p:spPr>
          <a:xfrm>
            <a:off x="5714035" y="3213395"/>
            <a:ext cx="33430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spc="5" dirty="0" smtClean="0">
                <a:latin typeface="Segoe UI Symbol" panose="020B0502040204020203" pitchFamily="34" charset="0"/>
                <a:ea typeface="Segoe UI Symbol" panose="020B0502040204020203" pitchFamily="34" charset="0"/>
              </a:rPr>
              <a:t>Redéfinir la méthode </a:t>
            </a:r>
            <a:r>
              <a:rPr lang="fr-FR" sz="1400" b="1" spc="5" dirty="0" err="1" smtClean="0">
                <a:latin typeface="Segoe UI Symbol" panose="020B0502040204020203" pitchFamily="34" charset="0"/>
                <a:ea typeface="Segoe UI Symbol" panose="020B0502040204020203" pitchFamily="34" charset="0"/>
              </a:rPr>
              <a:t>OnSelectTemplate</a:t>
            </a:r>
            <a:endParaRPr lang="fr-FR" sz="1400" b="1" dirty="0"/>
          </a:p>
        </p:txBody>
      </p:sp>
    </p:spTree>
    <p:extLst>
      <p:ext uri="{BB962C8B-B14F-4D97-AF65-F5344CB8AC3E}">
        <p14:creationId xmlns:p14="http://schemas.microsoft.com/office/powerpoint/2010/main" val="295393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3883</TotalTime>
  <Words>3690</Words>
  <Application>Microsoft Office PowerPoint</Application>
  <PresentationFormat>Widescreen</PresentationFormat>
  <Paragraphs>526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Cascadia Mono</vt:lpstr>
      <vt:lpstr>Comic Sans MS</vt:lpstr>
      <vt:lpstr>Segoe UI</vt:lpstr>
      <vt:lpstr>Segoe UI 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Présentation Foundation </dc:title>
  <dc:creator>Windows User</dc:creator>
  <cp:lastModifiedBy>DELL</cp:lastModifiedBy>
  <cp:revision>31</cp:revision>
  <dcterms:created xsi:type="dcterms:W3CDTF">2022-10-07T06:51:45Z</dcterms:created>
  <dcterms:modified xsi:type="dcterms:W3CDTF">2025-07-15T13:24:43Z</dcterms:modified>
</cp:coreProperties>
</file>