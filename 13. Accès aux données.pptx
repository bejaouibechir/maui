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256" r:id="rId3"/>
    <p:sldId id="258" r:id="rId4"/>
    <p:sldId id="264" r:id="rId5"/>
    <p:sldId id="265" r:id="rId6"/>
    <p:sldId id="267" r:id="rId7"/>
    <p:sldId id="266" r:id="rId8"/>
    <p:sldId id="269" r:id="rId9"/>
    <p:sldId id="270" r:id="rId10"/>
    <p:sldId id="271" r:id="rId11"/>
    <p:sldId id="273" r:id="rId12"/>
    <p:sldId id="272" r:id="rId13"/>
    <p:sldId id="261" r:id="rId14"/>
    <p:sldId id="274" r:id="rId15"/>
    <p:sldId id="26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24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B25E5-7282-4A12-8A67-6F0E51E780A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76F10-B052-43AC-83C2-0380BE63A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8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0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2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46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11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05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35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76F10-B052-43AC-83C2-0380BE63AB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4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44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5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08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01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2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18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30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53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71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31408-7E0D-4BFC-92BE-A821C5290AA0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198255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2025-2026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087940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6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sqlite.md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webapi.md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-REST-Demo" TargetMode="External"/><Relationship Id="rId2" Type="http://schemas.openxmlformats.org/officeDocument/2006/relationships/hyperlink" Target="https://github.com/bejaouibechir/BindingDemo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6101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Accès aux données</a:t>
            </a: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34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/>
          <p:cNvSpPr txBox="1">
            <a:spLocks noChangeArrowheads="1"/>
          </p:cNvSpPr>
          <p:nvPr/>
        </p:nvSpPr>
        <p:spPr bwMode="auto">
          <a:xfrm>
            <a:off x="367538" y="737553"/>
            <a:ext cx="11145589" cy="22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 Symbol" panose="020B0502040204020203" pitchFamily="34" charset="0"/>
              </a:rPr>
              <a:t>Objectifs</a:t>
            </a:r>
            <a:r>
              <a:rPr lang="en-US" altLang="en-US" sz="2400" u="sng" dirty="0" smtClean="0">
                <a:latin typeface="Segoe UI Symbol" panose="020B0502040204020203" pitchFamily="34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113"/>
              </a:lnSpc>
              <a:spcBef>
                <a:spcPts val="1625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 smtClean="0">
                <a:latin typeface="Segoe UI "/>
              </a:rPr>
              <a:t>Découvrir les différentes façons de stocker et de gérer les données en local</a:t>
            </a:r>
          </a:p>
          <a:p>
            <a:pPr>
              <a:lnSpc>
                <a:spcPts val="2113"/>
              </a:lnSpc>
              <a:spcBef>
                <a:spcPts val="1625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>
                <a:latin typeface="Segoe UI "/>
              </a:rPr>
              <a:t>Découvrir les différentes façons de stocker et de gérer les données </a:t>
            </a:r>
            <a:r>
              <a:rPr lang="fr-FR" altLang="en-US" sz="2000" dirty="0" smtClean="0">
                <a:latin typeface="Segoe UI "/>
              </a:rPr>
              <a:t>à distance</a:t>
            </a:r>
            <a:endParaRPr lang="fr-FR" altLang="en-US" sz="2000" dirty="0">
              <a:latin typeface="Segoe UI "/>
            </a:endParaRPr>
          </a:p>
          <a:p>
            <a:pPr eaLnBrk="1" hangingPunct="1">
              <a:lnSpc>
                <a:spcPts val="2113"/>
              </a:lnSpc>
              <a:spcBef>
                <a:spcPts val="1625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endParaRPr lang="fr-FR" altLang="en-US" sz="2000" dirty="0" smtClean="0">
              <a:latin typeface="Segoe UI Symbol" panose="020B0502040204020203" pitchFamily="34" charset="0"/>
            </a:endParaRPr>
          </a:p>
          <a:p>
            <a:pPr eaLnBrk="1" hangingPunct="1">
              <a:lnSpc>
                <a:spcPts val="2113"/>
              </a:lnSpc>
              <a:spcBef>
                <a:spcPts val="1625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endParaRPr lang="fr-FR" altLang="en-US" sz="2000" dirty="0">
              <a:latin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07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401304" y="554849"/>
            <a:ext cx="10379988" cy="1139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en local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2000"/>
              </a:lnSpc>
              <a:spcBef>
                <a:spcPts val="1613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données dans une application MAUI peut impliquer plusieurs techniques et outils selon les besoins spécifiques de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l'application: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5116" y="1754257"/>
            <a:ext cx="111608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Local Storage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Préférences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Stocker des paires clé-valeur pour des données simples comme les préférences utilisateur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File Storage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Utiliser le système de fichiers pour lire et écrire des fichiers de données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Secure Storage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stocker les données sensibles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5116" y="4407748"/>
            <a:ext cx="100504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Remote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HTTP Services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Consommer des API REST pour accéder aux données sur un serveur distant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gRPC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Utiliser gRPC pour des communications plus performantes avec un serveur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SignalR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Pour des communications en temps réel avec un serveur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991" y="3635000"/>
            <a:ext cx="100267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Base de données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SQLite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Base de données relationnelle légère pour stocker des données structurées.</a:t>
            </a:r>
          </a:p>
        </p:txBody>
      </p:sp>
    </p:spTree>
    <p:extLst>
      <p:ext uri="{BB962C8B-B14F-4D97-AF65-F5344CB8AC3E}">
        <p14:creationId xmlns:p14="http://schemas.microsoft.com/office/powerpoint/2010/main" val="1082101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401304" y="554849"/>
            <a:ext cx="10379988" cy="85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(Préférences)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2000"/>
              </a:lnSpc>
              <a:spcBef>
                <a:spcPts val="1613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Préférences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sont utiles pour stocker des données simples telles que des paramètres utilisateur.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24250" y="1928797"/>
            <a:ext cx="702227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using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Microsoft.Maui.Storage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Sauvegarder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valeur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Preferences.Set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("username", "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JohnDoe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Récupérer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valeur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string username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Preferences.Get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("username", "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default_value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Supprimer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valeur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Preferences.Remove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("username");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// Effacer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toutes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les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valeurs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Preferences.Clear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4376885" y="5178116"/>
            <a:ext cx="32583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Code pour manipuler les paramètres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8652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016821" cy="85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(File Storage)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2000"/>
              </a:lnSpc>
              <a:spcBef>
                <a:spcPts val="1613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Pour stocker des données plus complexes ou volumineuses, vous pouvez utiliser le stockage de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fichiers.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4181" y="1347596"/>
            <a:ext cx="6096000" cy="41242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using System.IO;</a:t>
            </a:r>
          </a:p>
          <a:p>
            <a:r>
              <a:rPr lang="en-US" sz="1600" dirty="0"/>
              <a:t>using </a:t>
            </a:r>
            <a:r>
              <a:rPr lang="en-US" sz="1600" dirty="0" err="1"/>
              <a:t>System.Threading.Tasks</a:t>
            </a:r>
            <a:r>
              <a:rPr lang="en-US" sz="1600" dirty="0"/>
              <a:t>;</a:t>
            </a:r>
          </a:p>
          <a:p>
            <a:r>
              <a:rPr lang="en-US" sz="1600" dirty="0"/>
              <a:t>using </a:t>
            </a:r>
            <a:r>
              <a:rPr lang="en-US" sz="1600" dirty="0" err="1"/>
              <a:t>Microsoft.Maui.Storage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// </a:t>
            </a:r>
            <a:r>
              <a:rPr lang="en-US" sz="1600" dirty="0" err="1"/>
              <a:t>Chemin</a:t>
            </a:r>
            <a:r>
              <a:rPr lang="en-US" sz="1600" dirty="0"/>
              <a:t> du </a:t>
            </a:r>
            <a:r>
              <a:rPr lang="en-US" sz="1600" dirty="0" err="1"/>
              <a:t>fichier</a:t>
            </a:r>
            <a:endParaRPr lang="en-US" sz="1600" dirty="0"/>
          </a:p>
          <a:p>
            <a:r>
              <a:rPr lang="en-US" sz="1600" dirty="0"/>
              <a:t>string </a:t>
            </a:r>
            <a:r>
              <a:rPr lang="en-US" sz="1600" dirty="0" err="1"/>
              <a:t>fileName</a:t>
            </a:r>
            <a:r>
              <a:rPr lang="en-US" sz="1600" dirty="0"/>
              <a:t> = </a:t>
            </a:r>
            <a:r>
              <a:rPr lang="en-US" sz="1600" dirty="0" err="1"/>
              <a:t>Path.Combine</a:t>
            </a:r>
            <a:r>
              <a:rPr lang="en-US" sz="1600" dirty="0"/>
              <a:t>(</a:t>
            </a:r>
            <a:r>
              <a:rPr lang="en-US" sz="1600" dirty="0" err="1"/>
              <a:t>FileSystem.AppDataDirectory</a:t>
            </a:r>
            <a:r>
              <a:rPr lang="en-US" sz="1600" dirty="0"/>
              <a:t>, "data.txt");</a:t>
            </a:r>
          </a:p>
          <a:p>
            <a:endParaRPr lang="en-US" sz="1600" dirty="0"/>
          </a:p>
          <a:p>
            <a:r>
              <a:rPr lang="en-US" sz="1600" dirty="0"/>
              <a:t>// </a:t>
            </a:r>
            <a:r>
              <a:rPr lang="en-US" sz="1600" dirty="0" err="1"/>
              <a:t>Sauvegarder</a:t>
            </a:r>
            <a:r>
              <a:rPr lang="en-US" sz="1600" dirty="0"/>
              <a:t> des </a:t>
            </a:r>
            <a:r>
              <a:rPr lang="en-US" sz="1600" dirty="0" err="1"/>
              <a:t>données</a:t>
            </a:r>
            <a:r>
              <a:rPr lang="en-US" sz="1600" dirty="0"/>
              <a:t> </a:t>
            </a:r>
            <a:r>
              <a:rPr lang="en-US" sz="1600" dirty="0" err="1"/>
              <a:t>dans</a:t>
            </a:r>
            <a:r>
              <a:rPr lang="en-US" sz="1600" dirty="0"/>
              <a:t> un </a:t>
            </a:r>
            <a:r>
              <a:rPr lang="en-US" sz="1600" dirty="0" err="1"/>
              <a:t>fichier</a:t>
            </a:r>
            <a:endParaRPr lang="en-US" sz="1600" dirty="0"/>
          </a:p>
          <a:p>
            <a:r>
              <a:rPr lang="en-US" sz="1600" dirty="0" err="1"/>
              <a:t>async</a:t>
            </a:r>
            <a:r>
              <a:rPr lang="en-US" sz="1600" dirty="0"/>
              <a:t> Task </a:t>
            </a:r>
            <a:r>
              <a:rPr lang="en-US" sz="1600" dirty="0" err="1"/>
              <a:t>SaveDataAsync</a:t>
            </a:r>
            <a:r>
              <a:rPr lang="en-US" sz="1600" dirty="0"/>
              <a:t>(string data)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using (</a:t>
            </a:r>
            <a:r>
              <a:rPr lang="en-US" sz="1600" dirty="0" err="1"/>
              <a:t>StreamWriter</a:t>
            </a:r>
            <a:r>
              <a:rPr lang="en-US" sz="1600" dirty="0"/>
              <a:t> writer = new </a:t>
            </a:r>
            <a:r>
              <a:rPr lang="en-US" sz="1600" dirty="0" err="1"/>
              <a:t>StreamWriter</a:t>
            </a:r>
            <a:r>
              <a:rPr lang="en-US" sz="1600" dirty="0"/>
              <a:t>(</a:t>
            </a:r>
            <a:r>
              <a:rPr lang="en-US" sz="1600" dirty="0" err="1"/>
              <a:t>fileName</a:t>
            </a:r>
            <a:r>
              <a:rPr lang="en-US" sz="1600" dirty="0"/>
              <a:t>))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await </a:t>
            </a:r>
            <a:r>
              <a:rPr lang="en-US" sz="1600" dirty="0" err="1"/>
              <a:t>writer.WriteAsync</a:t>
            </a:r>
            <a:r>
              <a:rPr lang="en-US" sz="1600" dirty="0"/>
              <a:t>(data);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 smtClean="0"/>
              <a:t>}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7044047" y="1469526"/>
            <a:ext cx="4475018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// Lire des </a:t>
            </a:r>
            <a:r>
              <a:rPr lang="en-US" sz="1600" dirty="0" err="1"/>
              <a:t>données</a:t>
            </a:r>
            <a:r>
              <a:rPr lang="en-US" sz="1600" dirty="0"/>
              <a:t> </a:t>
            </a:r>
            <a:r>
              <a:rPr lang="en-US" sz="1600" dirty="0" err="1"/>
              <a:t>depuis</a:t>
            </a:r>
            <a:r>
              <a:rPr lang="en-US" sz="1600" dirty="0"/>
              <a:t> un </a:t>
            </a:r>
            <a:r>
              <a:rPr lang="en-US" sz="1600" dirty="0" err="1"/>
              <a:t>fichier</a:t>
            </a:r>
            <a:endParaRPr lang="en-US" sz="1600" dirty="0"/>
          </a:p>
          <a:p>
            <a:r>
              <a:rPr lang="en-US" sz="1600" dirty="0" err="1"/>
              <a:t>async</a:t>
            </a:r>
            <a:r>
              <a:rPr lang="en-US" sz="1600" dirty="0"/>
              <a:t> Task&lt;string&gt; </a:t>
            </a:r>
            <a:r>
              <a:rPr lang="en-US" sz="1600" dirty="0" err="1"/>
              <a:t>LoadDataAsync</a:t>
            </a:r>
            <a:r>
              <a:rPr lang="en-US" sz="1600" dirty="0"/>
              <a:t>()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if (</a:t>
            </a:r>
            <a:r>
              <a:rPr lang="en-US" sz="1600" dirty="0" err="1"/>
              <a:t>File.Exists</a:t>
            </a:r>
            <a:r>
              <a:rPr lang="en-US" sz="1600" dirty="0"/>
              <a:t>(</a:t>
            </a:r>
            <a:r>
              <a:rPr lang="en-US" sz="1600" dirty="0" err="1"/>
              <a:t>fileName</a:t>
            </a:r>
            <a:r>
              <a:rPr lang="en-US" sz="1600" dirty="0"/>
              <a:t>))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using (</a:t>
            </a:r>
            <a:r>
              <a:rPr lang="en-US" sz="1600" dirty="0" err="1"/>
              <a:t>StreamReader</a:t>
            </a:r>
            <a:r>
              <a:rPr lang="en-US" sz="1600" dirty="0"/>
              <a:t> reader = new </a:t>
            </a:r>
            <a:r>
              <a:rPr lang="en-US" sz="1600" dirty="0" err="1"/>
              <a:t>StreamReader</a:t>
            </a:r>
            <a:r>
              <a:rPr lang="en-US" sz="1600" dirty="0"/>
              <a:t>(</a:t>
            </a:r>
            <a:r>
              <a:rPr lang="en-US" sz="1600" dirty="0" err="1"/>
              <a:t>fileName</a:t>
            </a:r>
            <a:r>
              <a:rPr lang="en-US" sz="1600" dirty="0"/>
              <a:t>))</a:t>
            </a:r>
          </a:p>
          <a:p>
            <a:r>
              <a:rPr lang="en-US" sz="1600" dirty="0"/>
              <a:t>        {</a:t>
            </a:r>
          </a:p>
          <a:p>
            <a:r>
              <a:rPr lang="en-US" sz="1600" dirty="0"/>
              <a:t>            return await </a:t>
            </a:r>
            <a:r>
              <a:rPr lang="en-US" sz="1600" dirty="0" err="1"/>
              <a:t>reader.ReadToEndAsync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return null;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7503" y="5871911"/>
            <a:ext cx="19626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Stocker </a:t>
            </a:r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des données </a:t>
            </a:r>
            <a:endParaRPr lang="en-US" sz="1400" b="1" dirty="0"/>
          </a:p>
        </p:txBody>
      </p:sp>
      <p:sp>
        <p:nvSpPr>
          <p:cNvPr id="7" name="Rectangle 6"/>
          <p:cNvSpPr/>
          <p:nvPr/>
        </p:nvSpPr>
        <p:spPr>
          <a:xfrm>
            <a:off x="8093300" y="5818472"/>
            <a:ext cx="21880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Récupérer </a:t>
            </a:r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des données 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506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0168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(File Storage)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1054" y="980703"/>
            <a:ext cx="1008611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Voici les emplacements typiques du fichier data.txt sur différentes plateformes :</a:t>
            </a:r>
          </a:p>
          <a:p>
            <a:endParaRPr lang="fr-FR" dirty="0"/>
          </a:p>
          <a:p>
            <a:pPr lvl="1"/>
            <a:r>
              <a:rPr lang="fr-FR" b="1" dirty="0"/>
              <a:t>Android :</a:t>
            </a:r>
            <a:r>
              <a:rPr lang="fr-FR" dirty="0"/>
              <a:t> Le fichier sera stocké dans le répertoire des fichiers internes de l'application, qui est généralement situé dans </a:t>
            </a:r>
            <a:r>
              <a:rPr lang="fr-FR" b="1" dirty="0"/>
              <a:t>/data/data/[</a:t>
            </a:r>
            <a:r>
              <a:rPr lang="fr-FR" b="1" dirty="0" err="1"/>
              <a:t>nom_du_package</a:t>
            </a:r>
            <a:r>
              <a:rPr lang="fr-FR" b="1" dirty="0"/>
              <a:t>]/files</a:t>
            </a:r>
            <a:r>
              <a:rPr lang="fr-FR" b="1" dirty="0" smtClean="0"/>
              <a:t>/</a:t>
            </a:r>
            <a:endParaRPr lang="fr-FR" dirty="0" smtClean="0"/>
          </a:p>
          <a:p>
            <a:pPr lvl="1"/>
            <a:endParaRPr lang="fr-FR" dirty="0"/>
          </a:p>
          <a:p>
            <a:pPr lvl="1"/>
            <a:r>
              <a:rPr lang="fr-FR" b="1" dirty="0"/>
              <a:t>iOS :</a:t>
            </a:r>
            <a:r>
              <a:rPr lang="fr-FR" dirty="0"/>
              <a:t> Le fichier sera stocké dans le répertoire de documents de l'application, généralement situé dans </a:t>
            </a:r>
            <a:r>
              <a:rPr lang="fr-FR" b="1" dirty="0"/>
              <a:t>/var/mobile/Containers/Data/Application/[</a:t>
            </a:r>
            <a:r>
              <a:rPr lang="fr-FR" b="1" dirty="0" err="1"/>
              <a:t>identifiant_unique</a:t>
            </a:r>
            <a:r>
              <a:rPr lang="fr-FR" b="1" dirty="0"/>
              <a:t>]/Documents</a:t>
            </a:r>
            <a:r>
              <a:rPr lang="fr-FR" b="1" dirty="0" smtClean="0"/>
              <a:t>/</a:t>
            </a:r>
          </a:p>
          <a:p>
            <a:pPr lvl="1"/>
            <a:endParaRPr lang="fr-FR" dirty="0"/>
          </a:p>
          <a:p>
            <a:pPr lvl="1"/>
            <a:r>
              <a:rPr lang="fr-FR" b="1" dirty="0"/>
              <a:t>Windows : </a:t>
            </a:r>
            <a:r>
              <a:rPr lang="fr-FR" dirty="0"/>
              <a:t>Le fichier sera stocké dans le dossier des données de l'application, qui se trouve généralement dans </a:t>
            </a:r>
            <a:r>
              <a:rPr lang="fr-FR" b="1" dirty="0"/>
              <a:t>C:\Users\[nom_utilisateur]\AppData\Local\Packages\[nom_du_package]\LocalState</a:t>
            </a:r>
            <a:r>
              <a:rPr lang="fr-FR" b="1" dirty="0" smtClean="0"/>
              <a:t>\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871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414645" cy="85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(Secure Storage)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2000"/>
              </a:lnSpc>
              <a:spcBef>
                <a:spcPts val="1613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Pour des données sensibles, telles que des informations de connexion, vous pouvez utiliser le Secure Storage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2818" y="5161117"/>
            <a:ext cx="27657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Stocker </a:t>
            </a:r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des </a:t>
            </a:r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données sensibles </a:t>
            </a:r>
            <a:endParaRPr lang="en-US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702156" y="1350773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Microsoft.Maui.Storage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Sauvegarder</a:t>
            </a:r>
            <a:r>
              <a:rPr lang="en-US" dirty="0"/>
              <a:t> des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sécurisées</a:t>
            </a:r>
            <a:endParaRPr lang="en-US" dirty="0"/>
          </a:p>
          <a:p>
            <a:r>
              <a:rPr lang="en-US" dirty="0"/>
              <a:t>await </a:t>
            </a:r>
            <a:r>
              <a:rPr lang="en-US" dirty="0" err="1"/>
              <a:t>SecureStorage.SetAsync</a:t>
            </a:r>
            <a:r>
              <a:rPr lang="en-US" dirty="0"/>
              <a:t>("</a:t>
            </a:r>
            <a:r>
              <a:rPr lang="en-US" dirty="0" err="1"/>
              <a:t>oauth_token</a:t>
            </a:r>
            <a:r>
              <a:rPr lang="en-US" dirty="0"/>
              <a:t>", "</a:t>
            </a:r>
            <a:r>
              <a:rPr lang="en-US" dirty="0" err="1"/>
              <a:t>secret_token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Récupérer</a:t>
            </a:r>
            <a:r>
              <a:rPr lang="en-US" dirty="0"/>
              <a:t> des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sécurisées</a:t>
            </a:r>
            <a:endParaRPr lang="en-US" dirty="0"/>
          </a:p>
          <a:p>
            <a:r>
              <a:rPr lang="en-US" dirty="0"/>
              <a:t>string token = await </a:t>
            </a:r>
            <a:r>
              <a:rPr lang="en-US" dirty="0" err="1"/>
              <a:t>SecureStorage.GetAsync</a:t>
            </a:r>
            <a:r>
              <a:rPr lang="en-US" dirty="0"/>
              <a:t>("</a:t>
            </a:r>
            <a:r>
              <a:rPr lang="en-US" dirty="0" err="1"/>
              <a:t>oauth_token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Supprimer</a:t>
            </a:r>
            <a:r>
              <a:rPr lang="en-US" dirty="0"/>
              <a:t> des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sécurisées</a:t>
            </a:r>
            <a:endParaRPr lang="en-US" dirty="0"/>
          </a:p>
          <a:p>
            <a:r>
              <a:rPr lang="en-US" dirty="0" err="1"/>
              <a:t>SecureStorage.Remove</a:t>
            </a:r>
            <a:r>
              <a:rPr lang="en-US" dirty="0"/>
              <a:t>("</a:t>
            </a:r>
            <a:r>
              <a:rPr lang="en-US" dirty="0" err="1"/>
              <a:t>oauth_token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/>
              <a:t>// Effacer </a:t>
            </a:r>
            <a:r>
              <a:rPr lang="en-US" dirty="0" err="1"/>
              <a:t>toutes</a:t>
            </a:r>
            <a:r>
              <a:rPr lang="en-US" dirty="0"/>
              <a:t> les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sécurisées</a:t>
            </a:r>
            <a:endParaRPr lang="en-US" dirty="0"/>
          </a:p>
          <a:p>
            <a:r>
              <a:rPr lang="en-US" dirty="0" err="1"/>
              <a:t>SecureStorage.RemoveAll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63413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414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(Base de données)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3490" y="979429"/>
            <a:ext cx="73738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Qu’est-ce que SQLite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Moteur de base de données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léger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embarqué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Fichier unique .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Pas de serveur externe →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fonctionne localement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sur l’appareil.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490" y="2457044"/>
            <a:ext cx="7020775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Avantages</a:t>
            </a:r>
          </a:p>
          <a:p>
            <a:endParaRPr lang="fr-FR" sz="2000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Stockage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local permanent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(données utilisateur, settings…).</a:t>
            </a: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Rapide et léger.</a:t>
            </a: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Compatible Android, iOS, Windows, macOS.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3490" y="3996501"/>
            <a:ext cx="25923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Comment l’utiliser ?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0393" y="4396611"/>
            <a:ext cx="15591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sqlite</a:t>
            </a:r>
            <a:r>
              <a:rPr lang="en-US" sz="2000" dirty="0"/>
              <a:t>-net-</a:t>
            </a:r>
            <a:r>
              <a:rPr lang="en-US" sz="2000" dirty="0" err="1"/>
              <a:t>pcl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383490" y="491983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dirty="0"/>
              <a:t>Pourquoi ?</a:t>
            </a: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/>
              <a:t>Fournit une API simple et multiplateforme.</a:t>
            </a: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/>
              <a:t>Facile à intégrer en C#.</a:t>
            </a:r>
          </a:p>
        </p:txBody>
      </p:sp>
    </p:spTree>
    <p:extLst>
      <p:ext uri="{BB962C8B-B14F-4D97-AF65-F5344CB8AC3E}">
        <p14:creationId xmlns:p14="http://schemas.microsoft.com/office/powerpoint/2010/main" val="301858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414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(Base de données)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276" y="946459"/>
            <a:ext cx="2657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1687" y="1800333"/>
            <a:ext cx="821574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Padding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Spacing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="15"&gt;</a:t>
            </a:r>
          </a:p>
          <a:p>
            <a:endParaRPr lang="en-US" sz="16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="nameEntry"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Placeholder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="Nom" /&gt;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Ajouter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Clicked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OnAddClicked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="Charger"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Clicked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OnLoadClicked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="peopleCollection"&gt;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CollectionView.ItemTemplate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="18" /&gt;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CollectionView.ItemTemplate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6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383490" y="1331533"/>
            <a:ext cx="4276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Commençons par la partie XAML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273" y="946459"/>
            <a:ext cx="2504095" cy="459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414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(Base de données)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7800" y="81495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</a:t>
            </a:r>
            <a:r>
              <a:rPr lang="fr-FR" alt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Behind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7631" y="1404349"/>
            <a:ext cx="89104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MainPage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ContentPage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SQLiteConnection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string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dbPath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MainPage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dbPath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Path.Combine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FileSystem.AppDataDirectory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"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people.db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");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new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SQLiteConnection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dbPath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db.CreateTable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&lt;Person&gt;();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// Les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gestionnaires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d'événements</a:t>
            </a:r>
            <a:endParaRPr lang="en-US" sz="16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393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414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(Base de données)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7800" y="814956"/>
            <a:ext cx="2433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model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0124" y="1340693"/>
            <a:ext cx="6096000" cy="23391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using SQLite;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namespace MauiApp2;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class Person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PrimaryKey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AutoIncrement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public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Id { get; set; 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public string Name { get; set;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802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383490" y="376719"/>
            <a:ext cx="11414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données (Base de données)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7800" y="81495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</a:t>
            </a:r>
            <a:r>
              <a:rPr lang="fr-FR" alt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Behind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7313" y="1378390"/>
            <a:ext cx="752697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private void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OnAddClicked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(object sender,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if (!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string.IsNullOrWhiteSpace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nameEntry.Text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db.Insert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(new Person { Name =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nameEntry.Text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});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nameEntry.Text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string.Empty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2587255" y="3235836"/>
            <a:ext cx="31665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fr-FR" alt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Le code </a:t>
            </a:r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ajouter une personne</a:t>
            </a:r>
            <a:endParaRPr lang="fr-FR" alt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4904" y="3755359"/>
            <a:ext cx="71567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private void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OnLoadClicked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(object sender,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 =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db.Table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&lt;Person&gt;().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peopleCollection.ItemsSource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2587255" y="5116665"/>
            <a:ext cx="3747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fr-FR" alt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Le code </a:t>
            </a:r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charger la liste des personnes</a:t>
            </a:r>
            <a:endParaRPr lang="fr-FR" alt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54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785307" y="3051090"/>
            <a:ext cx="10311452" cy="611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Application gestion des tâches</a:t>
            </a:r>
          </a:p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Version </a:t>
            </a:r>
            <a:r>
              <a:rPr lang="fr-FR" altLang="en-US" sz="24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sqlite</a:t>
            </a: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altLang="en-US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19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785307" y="3051090"/>
            <a:ext cx="10311452" cy="611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Application gestion des tâches</a:t>
            </a:r>
          </a:p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Version </a:t>
            </a:r>
            <a:r>
              <a:rPr lang="fr-FR" altLang="en-US" sz="24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webapi</a:t>
            </a: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altLang="en-US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23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408744" y="548911"/>
            <a:ext cx="103799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Gérer les données en </a:t>
            </a:r>
            <a:r>
              <a:rPr lang="fr-FR" altLang="en-US" sz="2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remote</a:t>
            </a: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9807" y="1142678"/>
            <a:ext cx="109351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Remote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HTTP Services</a:t>
            </a:r>
            <a:r>
              <a:rPr lang="fr-FR" dirty="0"/>
              <a:t> : Consommer des API REST pour accéder aux données sur un serveur distant.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gRPC</a:t>
            </a:r>
            <a:r>
              <a:rPr lang="fr-FR" dirty="0"/>
              <a:t> : Utiliser gRPC pour des communications plus performantes avec un serveur.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err="1"/>
              <a:t>SignalR</a:t>
            </a:r>
            <a:r>
              <a:rPr lang="fr-FR" dirty="0"/>
              <a:t> : Pour des communications en temps réel avec un serveur.</a:t>
            </a:r>
          </a:p>
        </p:txBody>
      </p:sp>
    </p:spTree>
    <p:extLst>
      <p:ext uri="{BB962C8B-B14F-4D97-AF65-F5344CB8AC3E}">
        <p14:creationId xmlns:p14="http://schemas.microsoft.com/office/powerpoint/2010/main" val="259195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Consommation d’un service http REST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43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6201</TotalTime>
  <Words>986</Words>
  <Application>Microsoft Office PowerPoint</Application>
  <PresentationFormat>Widescreen</PresentationFormat>
  <Paragraphs>191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Cascadia Mono</vt:lpstr>
      <vt:lpstr>Comic Sans MS</vt:lpstr>
      <vt:lpstr>Segoe UI</vt:lpstr>
      <vt:lpstr>Segoe UI 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40</cp:revision>
  <dcterms:created xsi:type="dcterms:W3CDTF">2022-10-07T06:50:07Z</dcterms:created>
  <dcterms:modified xsi:type="dcterms:W3CDTF">2025-07-18T14:10:06Z</dcterms:modified>
</cp:coreProperties>
</file>