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97" r:id="rId2"/>
    <p:sldId id="256" r:id="rId3"/>
    <p:sldId id="257" r:id="rId4"/>
    <p:sldId id="283" r:id="rId5"/>
    <p:sldId id="284" r:id="rId6"/>
    <p:sldId id="285" r:id="rId7"/>
    <p:sldId id="287" r:id="rId8"/>
    <p:sldId id="304" r:id="rId9"/>
    <p:sldId id="305" r:id="rId10"/>
    <p:sldId id="282" r:id="rId11"/>
    <p:sldId id="300" r:id="rId12"/>
    <p:sldId id="303" r:id="rId13"/>
    <p:sldId id="289" r:id="rId14"/>
    <p:sldId id="292" r:id="rId15"/>
    <p:sldId id="290" r:id="rId16"/>
    <p:sldId id="298" r:id="rId17"/>
    <p:sldId id="299" r:id="rId18"/>
    <p:sldId id="293" r:id="rId19"/>
    <p:sldId id="301" r:id="rId20"/>
    <p:sldId id="294" r:id="rId21"/>
    <p:sldId id="295" r:id="rId22"/>
    <p:sldId id="302" r:id="rId23"/>
    <p:sldId id="29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5E8DABD-A0FC-413A-95EE-3695D9EEF8AC}">
          <p14:sldIdLst>
            <p14:sldId id="297"/>
            <p14:sldId id="256"/>
          </p14:sldIdLst>
        </p14:section>
        <p14:section name="Gestion des pages" id="{6B9D7EB2-70FA-49A9-979F-3649DC646481}">
          <p14:sldIdLst>
            <p14:sldId id="257"/>
            <p14:sldId id="283"/>
            <p14:sldId id="284"/>
            <p14:sldId id="285"/>
            <p14:sldId id="287"/>
            <p14:sldId id="304"/>
            <p14:sldId id="305"/>
          </p14:sldIdLst>
        </p14:section>
        <p14:section name="Naviguation" id="{DE8A477D-83E1-4794-AE0E-68A7E890EFF3}">
          <p14:sldIdLst>
            <p14:sldId id="282"/>
            <p14:sldId id="300"/>
            <p14:sldId id="303"/>
            <p14:sldId id="289"/>
            <p14:sldId id="292"/>
          </p14:sldIdLst>
        </p14:section>
        <p14:section name="Les evenements de naviguation" id="{9F4AD013-A86A-4AA7-9058-B4BE59675512}">
          <p14:sldIdLst>
            <p14:sldId id="290"/>
            <p14:sldId id="298"/>
            <p14:sldId id="299"/>
          </p14:sldIdLst>
        </p14:section>
        <p14:section name="Passage parametres" id="{1F0494C4-E89C-46C5-811C-599E290428A4}">
          <p14:sldIdLst>
            <p14:sldId id="293"/>
            <p14:sldId id="301"/>
          </p14:sldIdLst>
        </p14:section>
        <p14:section name="Recherches" id="{8F0727C0-CFBA-4B4D-9C4C-51B0446B9BC0}">
          <p14:sldIdLst>
            <p14:sldId id="294"/>
            <p14:sldId id="295"/>
            <p14:sldId id="302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3" autoAdjust="0"/>
  </p:normalViewPr>
  <p:slideViewPr>
    <p:cSldViewPr snapToGrid="0">
      <p:cViewPr varScale="1">
        <p:scale>
          <a:sx n="106" d="100"/>
          <a:sy n="106" d="100"/>
        </p:scale>
        <p:origin x="676" y="6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2A7F4-A365-4B92-BEB0-C0D7CF65282E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E1AE6-1BFD-4589-9604-3D9D158FB7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25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Exemple</a:t>
            </a:r>
            <a:r>
              <a:rPr lang="fr-FR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complet du menu volant avec entête et pied :</a:t>
            </a:r>
            <a:endParaRPr lang="fr-FR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&lt;?xml version="1.0"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="UTF-8" ?&gt;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&lt;Shell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x:Class="FirstMauiApp.AppShell"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="http://schemas.microsoft.com/dotnet/2021/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maui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winfx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/2009/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xaml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xmlns:local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clr-namespace:FirstMauiApp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FlyoutIcon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="dotnet_bot.png"&gt;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Shell.FlyoutHeader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Text="Ce ci est l'entête"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Shell.FlyoutHeader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FlyoutItem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Title="Home"  Icon="home.png"&gt;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&lt;Tab&gt;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&lt;ShellContent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="{DataTemplate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local:HomePage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&lt;/Tab&gt;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FlyoutItem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FlyoutItem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="User"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="user.png"&gt;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&lt;Tab&gt;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&lt;ShellContent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="{DataTemplate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local:UserPage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&lt;/Tab&gt;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FlyoutItem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FlyoutItem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="Settings"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="settings.png"&gt;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&lt;Tab&gt;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&lt;ShellContent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="{DataTemplate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local:SettingsPage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&lt;/Tab&gt;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FlyoutItem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Shell.FlyoutFooter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Text="Ce ci est le pied"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Shell.FlyoutFooter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&lt;/Shell&gt;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296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017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214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5624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6094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487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5031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0634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042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065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9272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Tutorial</a:t>
            </a:r>
            <a:r>
              <a:rPr lang="fr-FR" baseline="0" dirty="0" smtClean="0"/>
              <a:t> </a:t>
            </a:r>
          </a:p>
          <a:p>
            <a:endParaRPr lang="fr-FR" baseline="0" dirty="0" smtClean="0"/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class User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int Id { get; set;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string Name { get; set;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string Email { get; set;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override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string ToString()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=&gt; $"Id:{Id}, Name:{Name} et Email:{Email}";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HomePage: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SelectionMode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="Single" Margin="15"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SelectionChanged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CollectionView_SelectionChanged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x:Array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Type="{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x:Type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local:User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local:User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Id="1" Name="John" Email="jhon@xyx.com"/&gt;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local:User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Id="2" Name="Marc" Email="marc@xyx.com"/&gt;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local:User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Id="3" Name="Tomas" Email="tomas@xyx.com"/&gt;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local:User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Id="4" Name="Sam" Email="sam@xyx.com"/&gt;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x:Array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private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CollectionView_SelectionChanged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sender,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SelectionChangedEventArgs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User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e.CurrentSelection.FirstOrDefault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as User;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await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Shell.Current.GoToAsync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($"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UserPage?Id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={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user.Id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UserPage: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Text="The user page"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 /&gt;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u="sng" kern="1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&lt;Button Text="Show the user" Margin="20" Clicked="Button_Clicked_2"/&gt;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QueryProperty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nameof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(Identifier), "Id")]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partial class UserPage : ContentPage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UserPage()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InitializeComponent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_id;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public int Identifier { get =&gt; _id;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set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_id = value;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OnPropertyChanged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nameof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(Identifier));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 void Button_Clicked_2(object sender, EventArgs 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Shell.Current.DisplayAlert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("The selected user",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Identifier.ToString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(), "OK");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193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Tutorial</a:t>
            </a:r>
            <a:r>
              <a:rPr lang="fr-FR" baseline="0" dirty="0" smtClean="0"/>
              <a:t> </a:t>
            </a:r>
          </a:p>
          <a:p>
            <a:endParaRPr lang="fr-FR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610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 smtClean="0"/>
              <a:t>Exemple d’implémentation: </a:t>
            </a:r>
          </a:p>
          <a:p>
            <a:endParaRPr lang="fr-FR" baseline="0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UserSearchHandler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SearchHandler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private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IList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&lt;User&gt;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IList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&lt;User&gt; Users { get =&gt; users; set =&gt; users = value;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Type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SelectedItemNavigationTarget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get; set;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override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OnQueryChanged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(string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oldValue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string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newValue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base.OnQueryChanged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oldValue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newValue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if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string.IsNullOrWhiteSpace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newValue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null;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else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Users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.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(user =&gt;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user.Email.ToLower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Contains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newValue.ToLower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.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ToList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override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OnItemSelected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item)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base.OnItemSelected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(item);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await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Task.Delay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(1000);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ShellNavigationState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state = (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App.Current.MainPage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Shell).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CurrentState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pt-B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User current = item as User;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await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Shell.Current.DisplayAlert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("Display user info",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current.ToString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(),"Ok");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  <a:endParaRPr lang="fr-FR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2339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94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265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47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63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6066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040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311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61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83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55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57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146050" y="6334780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Multi</a:t>
            </a:r>
            <a:r>
              <a:rPr lang="fr-FR" sz="1400" b="1" baseline="0" dirty="0" smtClean="0"/>
              <a:t> Application User Interface</a:t>
            </a:r>
            <a:r>
              <a:rPr lang="fr-FR" sz="1400" b="1" dirty="0" smtClean="0"/>
              <a:t>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2025-2026 </a:t>
            </a:r>
            <a:endParaRPr lang="fr-FR" sz="1400" dirty="0"/>
          </a:p>
        </p:txBody>
      </p:sp>
      <p:pic>
        <p:nvPicPr>
          <p:cNvPr id="11" name="Picture 10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7579" y="6176963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01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MAUI/blob/main/ShellNavigation.m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MAUI/blob/main/ShellNavigationEvents.m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ShellPassageParam.md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ShellSearch.md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PagesDemo.g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dirty="0" smtClean="0">
                <a:solidFill>
                  <a:srgbClr val="1C3158"/>
                </a:solidFill>
                <a:latin typeface="Comic Sans MS" pitchFamily="66" charset="0"/>
              </a:rPr>
              <a:t>La </a:t>
            </a:r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classe Shell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58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>
            <a:spLocks noChangeArrowheads="1"/>
          </p:cNvSpPr>
          <p:nvPr/>
        </p:nvSpPr>
        <p:spPr bwMode="auto">
          <a:xfrm>
            <a:off x="245451" y="326354"/>
            <a:ext cx="8830691" cy="2133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41313" indent="-12065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 Symbol" panose="020B0502040204020203" pitchFamily="34" charset="0"/>
              </a:rPr>
              <a:t>Objectif </a:t>
            </a:r>
            <a:r>
              <a:rPr lang="fr-FR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eaLnBrk="1" hangingPunct="1">
              <a:spcBef>
                <a:spcPts val="1363"/>
              </a:spcBef>
              <a:buClr>
                <a:srgbClr val="006498"/>
              </a:buClr>
              <a:buSzPct val="85000"/>
              <a:buFont typeface="Wingdings" panose="05000000000000000000" pitchFamily="2" charset="2"/>
              <a:buChar char="§"/>
            </a:pPr>
            <a:r>
              <a:rPr lang="fr-FR" altLang="en-US" sz="2000" dirty="0" smtClean="0">
                <a:latin typeface="Segoe UI Symbol" panose="020B0502040204020203" pitchFamily="34" charset="0"/>
              </a:rPr>
              <a:t>  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Découvrir</a:t>
            </a:r>
            <a:r>
              <a:rPr lang="fr-F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les fonctionnalités fournies par la classe  Shell</a:t>
            </a:r>
          </a:p>
          <a:p>
            <a:pPr lvl="2">
              <a:spcBef>
                <a:spcPts val="1038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dirty="0" smtClean="0">
                <a:latin typeface="Segoe UI "/>
              </a:rPr>
              <a:t>La structuration centralisées de l’application</a:t>
            </a:r>
          </a:p>
          <a:p>
            <a:pPr lvl="2">
              <a:spcBef>
                <a:spcPts val="1038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dirty="0" smtClean="0">
                <a:latin typeface="Segoe UI "/>
              </a:rPr>
              <a:t>La navigation</a:t>
            </a:r>
          </a:p>
          <a:p>
            <a:pPr lvl="2">
              <a:spcBef>
                <a:spcPts val="1038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dirty="0" smtClean="0">
                <a:latin typeface="Segoe UI "/>
              </a:rPr>
              <a:t>La recherche</a:t>
            </a:r>
          </a:p>
        </p:txBody>
      </p:sp>
    </p:spTree>
    <p:extLst>
      <p:ext uri="{BB962C8B-B14F-4D97-AF65-F5344CB8AC3E}">
        <p14:creationId xmlns:p14="http://schemas.microsoft.com/office/powerpoint/2010/main" val="354887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279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Shell-Introduction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classe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Shell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offre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des fonctionnalités d’interface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utilisateur communes</a:t>
            </a: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2300" lvl="1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 emplacement unique pour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accéder à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hiérarchie visuelle d’une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application</a:t>
            </a:r>
          </a:p>
          <a:p>
            <a:pPr marL="622300" lvl="1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2300" lvl="1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Une expérience utilisateur de navigation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commune avec un schéma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de navigation basé sur l’URI qui autorise la navigation vers n’importe quelle page de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l’application</a:t>
            </a:r>
          </a:p>
          <a:p>
            <a:pPr marL="622300" lvl="1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2300" lvl="1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 gestionnaire de recherche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intégré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43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137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Shell-Hiérarchie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visuelle centralisée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Dans une application .NET MAUI Shell, la hiérarchie visuelle de l’application est décrite dans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 classe 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AppShell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2" y="2132473"/>
            <a:ext cx="1968321" cy="22012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7352" y="3895859"/>
            <a:ext cx="1822361" cy="437882"/>
          </a:xfrm>
          <a:prstGeom prst="rect">
            <a:avLst/>
          </a:prstGeom>
          <a:solidFill>
            <a:srgbClr val="FFC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7111283" y="1986612"/>
            <a:ext cx="36940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partial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AppShell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Shell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AppShell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  <a:endParaRPr lang="fr-FR" sz="1200" dirty="0"/>
          </a:p>
        </p:txBody>
      </p:sp>
      <p:sp>
        <p:nvSpPr>
          <p:cNvPr id="9" name="Rectangle 8"/>
          <p:cNvSpPr/>
          <p:nvPr/>
        </p:nvSpPr>
        <p:spPr>
          <a:xfrm>
            <a:off x="7216475" y="4140955"/>
            <a:ext cx="465358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partial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App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Application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public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App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fr-FR" sz="1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MainPage 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new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AppShell();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200" dirty="0"/>
          </a:p>
        </p:txBody>
      </p:sp>
      <p:sp>
        <p:nvSpPr>
          <p:cNvPr id="10" name="Rectangle 9"/>
          <p:cNvSpPr/>
          <p:nvPr/>
        </p:nvSpPr>
        <p:spPr>
          <a:xfrm>
            <a:off x="3652341" y="3400534"/>
            <a:ext cx="1229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AppShell.xaml</a:t>
            </a:r>
            <a:endParaRPr lang="fr-FR" sz="1200" b="1" dirty="0"/>
          </a:p>
        </p:txBody>
      </p:sp>
      <p:sp>
        <p:nvSpPr>
          <p:cNvPr id="11" name="Rectangle 10"/>
          <p:cNvSpPr/>
          <p:nvPr/>
        </p:nvSpPr>
        <p:spPr>
          <a:xfrm>
            <a:off x="8343417" y="3677533"/>
            <a:ext cx="1454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AppShell.xaml.cs</a:t>
            </a:r>
            <a:r>
              <a:rPr lang="fr-FR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sz="1200" b="1" dirty="0"/>
          </a:p>
        </p:txBody>
      </p:sp>
      <p:sp>
        <p:nvSpPr>
          <p:cNvPr id="12" name="Rectangle 11"/>
          <p:cNvSpPr/>
          <p:nvPr/>
        </p:nvSpPr>
        <p:spPr>
          <a:xfrm>
            <a:off x="8715313" y="5758538"/>
            <a:ext cx="7104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App.cs</a:t>
            </a:r>
            <a:r>
              <a:rPr lang="fr-FR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sz="1200" b="1" dirty="0"/>
          </a:p>
        </p:txBody>
      </p:sp>
      <p:cxnSp>
        <p:nvCxnSpPr>
          <p:cNvPr id="14" name="Connecteur droit avec flèche 13"/>
          <p:cNvCxnSpPr>
            <a:stCxn id="15" idx="3"/>
          </p:cNvCxnSpPr>
          <p:nvPr/>
        </p:nvCxnSpPr>
        <p:spPr>
          <a:xfrm flipV="1">
            <a:off x="5061889" y="5166713"/>
            <a:ext cx="2736269" cy="468471"/>
          </a:xfrm>
          <a:prstGeom prst="straightConnector1">
            <a:avLst/>
          </a:prstGeom>
          <a:ln w="222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131232" y="5496684"/>
            <a:ext cx="19306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 code d’appel du Shell</a:t>
            </a:r>
            <a:endParaRPr lang="fr-FR" sz="1200" b="1" dirty="0"/>
          </a:p>
        </p:txBody>
      </p:sp>
      <p:sp>
        <p:nvSpPr>
          <p:cNvPr id="3" name="Rectangle 2"/>
          <p:cNvSpPr/>
          <p:nvPr/>
        </p:nvSpPr>
        <p:spPr>
          <a:xfrm>
            <a:off x="2638036" y="2077264"/>
            <a:ext cx="407902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ShellContent</a:t>
            </a:r>
            <a:endParaRPr lang="en-US" sz="1400" dirty="0">
              <a:solidFill>
                <a:srgbClr val="A31515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="Hello, World!"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ContentTemplate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ContentPageDemo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Route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ContentPageDemo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10182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199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Shell-Hiérarchie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visuelle centralisée-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ShellContent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  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Un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ShellContent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Correspond à un 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ContentPage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contenu dans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une section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ShellSection</a:t>
            </a: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ShellContent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utilise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ContentTemplate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pour définir le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contenu cible qui est généralement sous forme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d’une </a:t>
            </a:r>
            <a:r>
              <a:rPr lang="fr-FR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ContentPage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70756" y="3278639"/>
            <a:ext cx="62312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&lt;?xml version="1.0"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encoding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="UTF-8" ?&gt;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Shell …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</a:t>
            </a:r>
            <a:r>
              <a:rPr lang="fr-FR" sz="14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FlyoutIcon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="dotnet_bot.png"&gt;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ShellContent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Title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="Home"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Icon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="home.png"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ContentTemplate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HomePage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Route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="HomePage" 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Shell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sp>
        <p:nvSpPr>
          <p:cNvPr id="13" name="Rectangle 12"/>
          <p:cNvSpPr/>
          <p:nvPr/>
        </p:nvSpPr>
        <p:spPr>
          <a:xfrm>
            <a:off x="2158489" y="5645146"/>
            <a:ext cx="1229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AppShell.xaml</a:t>
            </a:r>
            <a:endParaRPr lang="fr-FR" sz="1200" b="1" dirty="0"/>
          </a:p>
        </p:txBody>
      </p:sp>
      <p:sp>
        <p:nvSpPr>
          <p:cNvPr id="16" name="Rectangle 15"/>
          <p:cNvSpPr/>
          <p:nvPr/>
        </p:nvSpPr>
        <p:spPr>
          <a:xfrm>
            <a:off x="6424187" y="3278639"/>
            <a:ext cx="520052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partial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App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Application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App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MainPage =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AppShell();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sz="1400" dirty="0"/>
          </a:p>
        </p:txBody>
      </p:sp>
      <p:sp>
        <p:nvSpPr>
          <p:cNvPr id="17" name="Rectangle 16"/>
          <p:cNvSpPr/>
          <p:nvPr/>
        </p:nvSpPr>
        <p:spPr>
          <a:xfrm>
            <a:off x="8157897" y="5506646"/>
            <a:ext cx="13519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code d’appel 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3535613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Shell-Hiérarchie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visuelle centralisée-Tabbed  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57908" y="5671201"/>
            <a:ext cx="13839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Tabbed </a:t>
            </a:r>
            <a:r>
              <a:rPr lang="fr-FR" sz="16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shell</a:t>
            </a:r>
            <a:endParaRPr lang="fr-FR" sz="1600" b="1" dirty="0"/>
          </a:p>
        </p:txBody>
      </p:sp>
      <p:sp>
        <p:nvSpPr>
          <p:cNvPr id="17" name="Rectangle 16"/>
          <p:cNvSpPr/>
          <p:nvPr/>
        </p:nvSpPr>
        <p:spPr>
          <a:xfrm>
            <a:off x="8838929" y="6009755"/>
            <a:ext cx="12702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Apparence </a:t>
            </a:r>
            <a:endParaRPr lang="fr-FR" sz="1600" b="1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3" y="3428991"/>
            <a:ext cx="13" cy="1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393" y="3581391"/>
            <a:ext cx="13" cy="1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280" y="1857577"/>
            <a:ext cx="2901240" cy="41424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0547" y="977710"/>
            <a:ext cx="11813894" cy="456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Une première présentation de l’équivalent à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abbedPage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en mode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Shell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9808" y="1597132"/>
            <a:ext cx="649476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TabBar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Accueil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Icon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="home.png"&gt;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ShellContent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ContentTemplate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HomePage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}" /&gt;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en-US" sz="14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Profil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Icon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="profile.png"&gt;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ShellContent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ContentTemplate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ProfilePage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}" /&gt;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en-US" sz="14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Paramètres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Icon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="settings.png"&gt;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ShellContent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ContentTemplate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SettingsPage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}" /&gt;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TabBar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6198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Shell-Hiérarchie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visuelle Flyout ou menu volant</a:t>
            </a:r>
          </a:p>
          <a:p>
            <a:endParaRPr lang="fr-FR" sz="2200" u="sng" dirty="0">
              <a:latin typeface="Segoe UI Symbol" panose="020B0502040204020203" pitchFamily="34" charset="0"/>
            </a:endParaRPr>
          </a:p>
          <a:p>
            <a:pPr marL="4381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menu volant se compose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de trois pièces </a:t>
            </a:r>
          </a:p>
          <a:p>
            <a:pPr marL="1036638" lvl="1" indent="-457200"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Une entête de page</a:t>
            </a:r>
          </a:p>
          <a:p>
            <a:pPr marL="1036638" lvl="1" indent="-457200"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Un corps</a:t>
            </a:r>
          </a:p>
          <a:p>
            <a:pPr marL="1036638" lvl="1" indent="-457200"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Un pied de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36009" y="5639189"/>
            <a:ext cx="49736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Présentation de menu volant avec les trois zones</a:t>
            </a:r>
            <a:endParaRPr lang="fr-FR" sz="1600" b="1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3" y="3428991"/>
            <a:ext cx="13" cy="1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393" y="3581391"/>
            <a:ext cx="13" cy="1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8916" y="1808006"/>
            <a:ext cx="3752850" cy="34480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38916" y="2298879"/>
            <a:ext cx="3198656" cy="29571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7703306" y="2374007"/>
            <a:ext cx="3044114" cy="45934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7703306" y="2908480"/>
            <a:ext cx="3044114" cy="175367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7703306" y="4737278"/>
            <a:ext cx="3044114" cy="4453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/>
          <p:cNvCxnSpPr>
            <a:stCxn id="29" idx="3"/>
          </p:cNvCxnSpPr>
          <p:nvPr/>
        </p:nvCxnSpPr>
        <p:spPr>
          <a:xfrm flipV="1">
            <a:off x="4188140" y="2449792"/>
            <a:ext cx="3450776" cy="770872"/>
          </a:xfrm>
          <a:prstGeom prst="straightConnector1">
            <a:avLst/>
          </a:prstGeom>
          <a:ln w="222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31" idx="3"/>
            <a:endCxn id="14" idx="1"/>
          </p:cNvCxnSpPr>
          <p:nvPr/>
        </p:nvCxnSpPr>
        <p:spPr>
          <a:xfrm flipV="1">
            <a:off x="5781847" y="2603680"/>
            <a:ext cx="1921459" cy="1172702"/>
          </a:xfrm>
          <a:prstGeom prst="straightConnector1">
            <a:avLst/>
          </a:prstGeom>
          <a:ln w="22225" cap="flat" cmpd="sng" algn="ctr">
            <a:solidFill>
              <a:srgbClr val="0070C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>
            <a:stCxn id="33" idx="3"/>
            <a:endCxn id="15" idx="1"/>
          </p:cNvCxnSpPr>
          <p:nvPr/>
        </p:nvCxnSpPr>
        <p:spPr>
          <a:xfrm flipV="1">
            <a:off x="6248393" y="3785316"/>
            <a:ext cx="1454913" cy="491594"/>
          </a:xfrm>
          <a:prstGeom prst="straightConnector1">
            <a:avLst/>
          </a:prstGeom>
          <a:ln w="22225" cap="flat" cmpd="sng" algn="ctr">
            <a:solidFill>
              <a:srgbClr val="FFC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>
            <a:stCxn id="35" idx="3"/>
            <a:endCxn id="16" idx="1"/>
          </p:cNvCxnSpPr>
          <p:nvPr/>
        </p:nvCxnSpPr>
        <p:spPr>
          <a:xfrm flipV="1">
            <a:off x="5686036" y="4959970"/>
            <a:ext cx="2017270" cy="142198"/>
          </a:xfrm>
          <a:prstGeom prst="straightConnector1">
            <a:avLst/>
          </a:prstGeom>
          <a:ln w="22225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701964" y="3066775"/>
            <a:ext cx="14861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menu volant</a:t>
            </a:r>
            <a:endParaRPr lang="fr-FR" sz="1400" b="1" dirty="0"/>
          </a:p>
        </p:txBody>
      </p:sp>
      <p:sp>
        <p:nvSpPr>
          <p:cNvPr id="31" name="Rectangle 30"/>
          <p:cNvSpPr/>
          <p:nvPr/>
        </p:nvSpPr>
        <p:spPr>
          <a:xfrm>
            <a:off x="4135884" y="3622493"/>
            <a:ext cx="16459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L’entête du menu</a:t>
            </a:r>
            <a:endParaRPr lang="fr-FR" sz="1400" b="1" dirty="0"/>
          </a:p>
        </p:txBody>
      </p:sp>
      <p:sp>
        <p:nvSpPr>
          <p:cNvPr id="33" name="Rectangle 32"/>
          <p:cNvSpPr/>
          <p:nvPr/>
        </p:nvSpPr>
        <p:spPr>
          <a:xfrm>
            <a:off x="5134690" y="4123021"/>
            <a:ext cx="11137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contenu</a:t>
            </a:r>
            <a:endParaRPr lang="fr-FR" sz="1400" b="1" dirty="0"/>
          </a:p>
        </p:txBody>
      </p:sp>
      <p:sp>
        <p:nvSpPr>
          <p:cNvPr id="35" name="Rectangle 34"/>
          <p:cNvSpPr/>
          <p:nvPr/>
        </p:nvSpPr>
        <p:spPr>
          <a:xfrm>
            <a:off x="4892229" y="4948279"/>
            <a:ext cx="7938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pied</a:t>
            </a:r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204172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Shell-Hiérarchie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visuelle Flyout ou menu volant</a:t>
            </a:r>
          </a:p>
          <a:p>
            <a:endParaRPr lang="fr-FR" sz="2200" u="sng" dirty="0">
              <a:latin typeface="Segoe UI Symbol" panose="020B0502040204020203" pitchFamily="34" charset="0"/>
            </a:endParaRPr>
          </a:p>
          <a:p>
            <a:pPr marL="438150" indent="-285750"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exemple de code 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510" y="1625353"/>
            <a:ext cx="689173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Shell.FlyoutHeader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Padding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Text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 ci est l'entête"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="20" /&gt;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Shell.FlyoutHeader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en-US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FlyoutItem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="Home"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Icon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="home.png"&gt;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ShellContent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ContentTemplate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HomePage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}"/&gt;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FlyoutItem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en-US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FlyoutItem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="User"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Icon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="user.png"&gt;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ShellContent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ContentTemplate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UserPage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}"/&gt;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FlyoutItem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en-US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FlyoutItem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="Settings"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Icon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="settings.png"&gt;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ShellContent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ContentTemplate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SettingsPage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}"/&gt;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Tab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FlyoutItem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Shell.FlyoutFooter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Padding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Text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 ci est le pied"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="20" /&gt;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Shell.FlyoutFooter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89719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341909" y="379774"/>
            <a:ext cx="1086973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Shell-Hiérarchie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visuelle Flyout ou menu volant</a:t>
            </a:r>
          </a:p>
          <a:p>
            <a:endParaRPr lang="fr-FR" sz="2200" u="sng" dirty="0">
              <a:latin typeface="Segoe UI Symbol" panose="020B0502040204020203" pitchFamily="34" charset="0"/>
            </a:endParaRPr>
          </a:p>
          <a:p>
            <a:pPr marL="438150" indent="-285750"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ne faut pas oublier de définir </a:t>
            </a:r>
            <a:r>
              <a:rPr lang="en-US" b="1" dirty="0" err="1"/>
              <a:t>Shell.FlyoutBehavior</a:t>
            </a:r>
            <a:r>
              <a:rPr lang="en-US" b="1" dirty="0"/>
              <a:t>="</a:t>
            </a:r>
            <a:r>
              <a:rPr lang="en-US" b="1" dirty="0" err="1" smtClean="0"/>
              <a:t>Flyout</a:t>
            </a:r>
            <a:r>
              <a:rPr lang="en-US" b="1" dirty="0" smtClean="0"/>
              <a:t>"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au niveau de l’entête du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Shell</a:t>
            </a:r>
            <a:endParaRPr lang="fr-FR" altLang="en-US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2866" y="1384690"/>
            <a:ext cx="1163824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Shell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="MauiApp1.AppShell"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dotnet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/2021/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maui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winfx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/2009/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xaml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="clr-namespace:MauiApp1"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Shell.FlyoutBehavior</a:t>
            </a:r>
            <a:r>
              <a:rPr 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en-US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Flyout</a:t>
            </a:r>
            <a:r>
              <a:rPr 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</a:t>
            </a:r>
            <a:endParaRPr lang="en-US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="MauiApp1</a:t>
            </a:r>
            <a:r>
              <a:rPr lang="en-US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r>
              <a:rPr lang="fr-FR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,,,</a:t>
            </a:r>
            <a:endParaRPr lang="fr-FR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Shell</a:t>
            </a:r>
            <a:r>
              <a:rPr lang="en-US" sz="2000" dirty="0" smtClean="0">
                <a:solidFill>
                  <a:srgbClr val="002060"/>
                </a:solidFill>
              </a:rPr>
              <a:t>&gt;</a:t>
            </a:r>
            <a:endParaRPr lang="en-US" dirty="0">
              <a:solidFill>
                <a:srgbClr val="00206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264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2662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Shell-Navigation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classe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Shell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inclut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une expérience de navigation basée sur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URI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qui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utilisent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des routes pour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accéder librement aux pages de l’application contrairement au système de navigation de pages qui est LIFO</a:t>
            </a: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Les URI de navigation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sont définies de cette manière</a:t>
            </a: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fr-FR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//route/</a:t>
            </a:r>
            <a:r>
              <a:rPr lang="fr-FR" sz="20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page?paramètre</a:t>
            </a:r>
            <a:r>
              <a:rPr lang="fr-FR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2006407" y="4910853"/>
            <a:ext cx="1396314" cy="63019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Application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4553958" y="4910853"/>
            <a:ext cx="1396314" cy="6301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AppShell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7609166" y="4463949"/>
            <a:ext cx="1396314" cy="63019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Page1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7761566" y="4616349"/>
            <a:ext cx="1396314" cy="63019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Page1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7913966" y="4768749"/>
            <a:ext cx="1396314" cy="63019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Page1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8066366" y="4921149"/>
            <a:ext cx="1396314" cy="63019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Page1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8218766" y="5073549"/>
            <a:ext cx="1396314" cy="63019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Page1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8371166" y="5225949"/>
            <a:ext cx="1396314" cy="63019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Page</a:t>
            </a:r>
            <a:endParaRPr lang="fr-FR" dirty="0"/>
          </a:p>
        </p:txBody>
      </p:sp>
      <p:cxnSp>
        <p:nvCxnSpPr>
          <p:cNvPr id="11" name="Connecteur droit avec flèche 10"/>
          <p:cNvCxnSpPr>
            <a:stCxn id="3" idx="3"/>
            <a:endCxn id="4" idx="1"/>
          </p:cNvCxnSpPr>
          <p:nvPr/>
        </p:nvCxnSpPr>
        <p:spPr>
          <a:xfrm>
            <a:off x="3402721" y="5225951"/>
            <a:ext cx="11512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>
            <a:stCxn id="4" idx="3"/>
          </p:cNvCxnSpPr>
          <p:nvPr/>
        </p:nvCxnSpPr>
        <p:spPr>
          <a:xfrm flipV="1">
            <a:off x="5950272" y="5225949"/>
            <a:ext cx="165889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344400" y="5310213"/>
            <a:ext cx="10230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Gérer les </a:t>
            </a:r>
          </a:p>
          <a:p>
            <a:pPr algn="ctr"/>
            <a:r>
              <a:rPr lang="fr-FR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navigations</a:t>
            </a:r>
            <a:endParaRPr lang="fr-FR" sz="1200" b="1" dirty="0"/>
          </a:p>
        </p:txBody>
      </p:sp>
      <p:cxnSp>
        <p:nvCxnSpPr>
          <p:cNvPr id="15" name="Connecteur droit avec flèche 14"/>
          <p:cNvCxnSpPr/>
          <p:nvPr/>
        </p:nvCxnSpPr>
        <p:spPr>
          <a:xfrm flipH="1" flipV="1">
            <a:off x="1006498" y="3207687"/>
            <a:ext cx="46798" cy="85421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H="1" flipV="1">
            <a:off x="1693032" y="3207688"/>
            <a:ext cx="50707" cy="598804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H="1" flipV="1">
            <a:off x="3036634" y="3215110"/>
            <a:ext cx="24870" cy="513015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8610" y="4156039"/>
            <a:ext cx="24862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nom du répertoire où </a:t>
            </a:r>
          </a:p>
          <a:p>
            <a:r>
              <a:rPr lang="fr-FR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se trouvent les pages </a:t>
            </a:r>
            <a:r>
              <a:rPr lang="fr-FR" sz="12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(Optionel)</a:t>
            </a:r>
            <a:endParaRPr lang="fr-FR" sz="1200" b="1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209817" y="3784907"/>
            <a:ext cx="15024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nom de la page</a:t>
            </a:r>
            <a:endParaRPr lang="fr-FR" sz="1200" b="1" dirty="0"/>
          </a:p>
        </p:txBody>
      </p:sp>
      <p:sp>
        <p:nvSpPr>
          <p:cNvPr id="28" name="Rectangle 27"/>
          <p:cNvSpPr/>
          <p:nvPr/>
        </p:nvSpPr>
        <p:spPr>
          <a:xfrm>
            <a:off x="2804338" y="3718516"/>
            <a:ext cx="25213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nom du paramètre </a:t>
            </a:r>
            <a:r>
              <a:rPr lang="fr-FR" sz="1200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(Optionel)</a:t>
            </a:r>
            <a:endParaRPr lang="fr-FR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135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9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Shell-Navigation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pages gérées par Shell doivent avoir des routes enregistrés avec l’une des deux techniques</a:t>
            </a:r>
            <a:endParaRPr lang="fr-FR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2121" y="1714422"/>
            <a:ext cx="9371636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&lt;?xml version="1.0" encoding="UTF-8" ?&gt;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Shell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="MauiApp1.AppShell"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dotnet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/2021/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maui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winfx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/2009/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xaml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="clr-namespace:MauiApp1.Pages"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Shell.FlyoutBehavior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="Disabled"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="MauiApp1"&gt;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50" dirty="0">
                <a:solidFill>
                  <a:srgbClr val="008000"/>
                </a:solidFill>
                <a:latin typeface="Cascadia Mono" panose="020B0609020000020004" pitchFamily="49" charset="0"/>
              </a:rPr>
              <a:t>&lt;!-- </a:t>
            </a:r>
            <a:r>
              <a:rPr lang="en-US" sz="105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Définir</a:t>
            </a:r>
            <a:r>
              <a:rPr lang="en-US" sz="1050" dirty="0">
                <a:solidFill>
                  <a:srgbClr val="008000"/>
                </a:solidFill>
                <a:latin typeface="Cascadia Mono" panose="020B0609020000020004" pitchFamily="49" charset="0"/>
              </a:rPr>
              <a:t> les routes --&gt;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ShellContent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MainPage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ContentTemplate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MainPage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Route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mainPage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ShellContent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DetailsPage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ContentTemplate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DetailsPage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Route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detailsPage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ShellContent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Title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ErrorPage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ContentTemplate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ErrorPage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Route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errorPage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Shell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0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/>
          <a:srcRect l="1053" t="2701"/>
          <a:stretch/>
        </p:blipFill>
        <p:spPr>
          <a:xfrm>
            <a:off x="549797" y="4206999"/>
            <a:ext cx="5440876" cy="20602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34039" y="2436470"/>
            <a:ext cx="20424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smtClean="0"/>
              <a:t>Au niveau XAML du Shell</a:t>
            </a:r>
            <a:endParaRPr lang="en-US" sz="1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8150505" y="5337857"/>
            <a:ext cx="27549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smtClean="0"/>
              <a:t>Au niveau du code Behind du Shell</a:t>
            </a:r>
            <a:endParaRPr lang="en-US" sz="1400" b="1" dirty="0"/>
          </a:p>
        </p:txBody>
      </p:sp>
      <p:cxnSp>
        <p:nvCxnSpPr>
          <p:cNvPr id="23" name="Straight Arrow Connector 22"/>
          <p:cNvCxnSpPr>
            <a:stCxn id="20" idx="1"/>
          </p:cNvCxnSpPr>
          <p:nvPr/>
        </p:nvCxnSpPr>
        <p:spPr>
          <a:xfrm flipH="1" flipV="1">
            <a:off x="5607934" y="2546430"/>
            <a:ext cx="3426105" cy="4392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5990673" y="5445889"/>
            <a:ext cx="2119322" cy="165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78903" y="4068913"/>
            <a:ext cx="12034003" cy="412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201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9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Shell-Navigation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Exemple de </a:t>
            </a:r>
            <a:r>
              <a:rPr lang="fr-FR" altLang="en-US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naviguation</a:t>
            </a:r>
            <a:endParaRPr lang="fr-FR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2640" y="1726982"/>
            <a:ext cx="68630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async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private void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(object sender,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Button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sender as Button;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if(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button.Text.Equals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("Contacts Page"))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await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Shell.Current.GoToAsync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("///</a:t>
            </a:r>
            <a:r>
              <a:rPr lang="en-US" sz="1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detailsPage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");  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else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await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Shell.Current.GoToAsync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("///</a:t>
            </a:r>
            <a:r>
              <a:rPr lang="en-US" sz="1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errorPage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");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2660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4478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Shell-La Navigation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méthode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Shell.Current.GoToAsync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permet de naviguer vers la page demandée, </a:t>
            </a:r>
            <a:r>
              <a:rPr lang="fr-FR" altLang="en-US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aucune pile de page n’est crée cependant</a:t>
            </a: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tentative d’accéder à un itinéraire inexistant lève une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exception de type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ArgumentException</a:t>
            </a: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faut prévoir dans ce cas un mécanisme de gestion d’erreurs soit par notification soit par redirection</a:t>
            </a: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de l’utilisateur vers une page d’erreurs conçue spécialement pour ce cas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814" y="2235491"/>
            <a:ext cx="86610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EventArgs e)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Shell.Current.GoToAsync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".."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22819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3272159" y="2607944"/>
            <a:ext cx="4534965" cy="779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1  Créer un scénario de navigation</a:t>
            </a:r>
            <a:endParaRPr lang="fr-FR" sz="1600" b="1" dirty="0" smtClean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5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445051" cy="1790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classe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Shell-Les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événements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classe 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Shell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définit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des événements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qui sont déclenchés respectivement avant et après l’action de navigation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OnNavigating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OnNavigated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OnAppearing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Le contrôle des actions  se fait à travers les type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ShellNavigatingEventArgs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ShellNavigatedEventArgs</a:t>
            </a:r>
            <a:r>
              <a:rPr lang="fr-FR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879572"/>
              </p:ext>
            </p:extLst>
          </p:nvPr>
        </p:nvGraphicFramePr>
        <p:xfrm>
          <a:off x="427356" y="2677887"/>
          <a:ext cx="5569683" cy="3125465"/>
        </p:xfrm>
        <a:graphic>
          <a:graphicData uri="http://schemas.openxmlformats.org/drawingml/2006/table">
            <a:tbl>
              <a:tblPr firstRow="1" bandCol="1">
                <a:tableStyleId>{2D5ABB26-0587-4C30-8999-92F81FD0307C}</a:tableStyleId>
              </a:tblPr>
              <a:tblGrid>
                <a:gridCol w="1856561">
                  <a:extLst>
                    <a:ext uri="{9D8B030D-6E8A-4147-A177-3AD203B41FA5}">
                      <a16:colId xmlns:a16="http://schemas.microsoft.com/office/drawing/2014/main" val="1490341735"/>
                    </a:ext>
                  </a:extLst>
                </a:gridCol>
                <a:gridCol w="1856561">
                  <a:extLst>
                    <a:ext uri="{9D8B030D-6E8A-4147-A177-3AD203B41FA5}">
                      <a16:colId xmlns:a16="http://schemas.microsoft.com/office/drawing/2014/main" val="868630480"/>
                    </a:ext>
                  </a:extLst>
                </a:gridCol>
                <a:gridCol w="1856561">
                  <a:extLst>
                    <a:ext uri="{9D8B030D-6E8A-4147-A177-3AD203B41FA5}">
                      <a16:colId xmlns:a16="http://schemas.microsoft.com/office/drawing/2014/main" val="4293505136"/>
                    </a:ext>
                  </a:extLst>
                </a:gridCol>
              </a:tblGrid>
              <a:tr h="199705">
                <a:tc>
                  <a:txBody>
                    <a:bodyPr/>
                    <a:lstStyle/>
                    <a:p>
                      <a:pPr algn="ctr" fontAlgn="t"/>
                      <a:r>
                        <a:rPr lang="fr-FR" sz="1100" dirty="0">
                          <a:effectLst/>
                        </a:rPr>
                        <a:t>Propriété</a:t>
                      </a:r>
                      <a:endParaRPr lang="fr-FR" sz="1100" b="1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100" dirty="0">
                          <a:effectLst/>
                        </a:rPr>
                        <a:t>Type</a:t>
                      </a:r>
                      <a:endParaRPr lang="fr-FR" sz="1100" b="1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100" dirty="0">
                          <a:effectLst/>
                        </a:rPr>
                        <a:t>Description</a:t>
                      </a:r>
                      <a:endParaRPr lang="fr-FR" sz="1100" b="1" dirty="0">
                        <a:effectLst/>
                      </a:endParaRP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2048354120"/>
                  </a:ext>
                </a:extLst>
              </a:tr>
              <a:tr h="285768"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 err="1">
                          <a:effectLst/>
                        </a:rPr>
                        <a:t>Current</a:t>
                      </a:r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>
                          <a:effectLst/>
                        </a:rPr>
                        <a:t>ShellNavigationState</a:t>
                      </a: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>
                          <a:effectLst/>
                        </a:rPr>
                        <a:t>URI de la page actuelle.</a:t>
                      </a: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3643200989"/>
                  </a:ext>
                </a:extLst>
              </a:tr>
              <a:tr h="543957"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>
                          <a:effectLst/>
                        </a:rPr>
                        <a:t>Source</a:t>
                      </a: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 err="1">
                          <a:effectLst/>
                        </a:rPr>
                        <a:t>ShellNavigationSource</a:t>
                      </a:r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>
                          <a:effectLst/>
                        </a:rPr>
                        <a:t>Le type de navigation qui s’est produit.</a:t>
                      </a: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4010823691"/>
                  </a:ext>
                </a:extLst>
              </a:tr>
              <a:tr h="630021"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>
                          <a:effectLst/>
                        </a:rPr>
                        <a:t>Target</a:t>
                      </a: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 err="1">
                          <a:effectLst/>
                        </a:rPr>
                        <a:t>ShellNavigationState</a:t>
                      </a:r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>
                          <a:effectLst/>
                        </a:rPr>
                        <a:t>URI représentant la destination de la navigation.</a:t>
                      </a: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196608360"/>
                  </a:ext>
                </a:extLst>
              </a:tr>
              <a:tr h="716084"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 err="1">
                          <a:effectLst/>
                        </a:rPr>
                        <a:t>CanCancel</a:t>
                      </a:r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 err="1">
                          <a:effectLst/>
                        </a:rPr>
                        <a:t>bool</a:t>
                      </a:r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>
                          <a:effectLst/>
                        </a:rPr>
                        <a:t>Valeur indiquant s’il est possible d’annuler la navigation.</a:t>
                      </a: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2935550853"/>
                  </a:ext>
                </a:extLst>
              </a:tr>
              <a:tr h="543957"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 err="1">
                          <a:effectLst/>
                        </a:rPr>
                        <a:t>Cancelled</a:t>
                      </a:r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>
                          <a:effectLst/>
                        </a:rPr>
                        <a:t>bool</a:t>
                      </a: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>
                          <a:effectLst/>
                        </a:rPr>
                        <a:t>Valeur indiquant si la navigation a été annulée.</a:t>
                      </a: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521382325"/>
                  </a:ext>
                </a:extLst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11509"/>
              </p:ext>
            </p:extLst>
          </p:nvPr>
        </p:nvGraphicFramePr>
        <p:xfrm>
          <a:off x="6405368" y="2774929"/>
          <a:ext cx="5569683" cy="2931379"/>
        </p:xfrm>
        <a:graphic>
          <a:graphicData uri="http://schemas.openxmlformats.org/drawingml/2006/table">
            <a:tbl>
              <a:tblPr firstRow="1" bandCol="1">
                <a:tableStyleId>{2D5ABB26-0587-4C30-8999-92F81FD0307C}</a:tableStyleId>
              </a:tblPr>
              <a:tblGrid>
                <a:gridCol w="1856561">
                  <a:extLst>
                    <a:ext uri="{9D8B030D-6E8A-4147-A177-3AD203B41FA5}">
                      <a16:colId xmlns:a16="http://schemas.microsoft.com/office/drawing/2014/main" val="1490341735"/>
                    </a:ext>
                  </a:extLst>
                </a:gridCol>
                <a:gridCol w="1856561">
                  <a:extLst>
                    <a:ext uri="{9D8B030D-6E8A-4147-A177-3AD203B41FA5}">
                      <a16:colId xmlns:a16="http://schemas.microsoft.com/office/drawing/2014/main" val="868630480"/>
                    </a:ext>
                  </a:extLst>
                </a:gridCol>
                <a:gridCol w="1856561">
                  <a:extLst>
                    <a:ext uri="{9D8B030D-6E8A-4147-A177-3AD203B41FA5}">
                      <a16:colId xmlns:a16="http://schemas.microsoft.com/office/drawing/2014/main" val="4293505136"/>
                    </a:ext>
                  </a:extLst>
                </a:gridCol>
              </a:tblGrid>
              <a:tr h="199705">
                <a:tc>
                  <a:txBody>
                    <a:bodyPr/>
                    <a:lstStyle/>
                    <a:p>
                      <a:pPr algn="ctr" fontAlgn="t"/>
                      <a:r>
                        <a:rPr lang="fr-FR" sz="1100" dirty="0">
                          <a:effectLst/>
                        </a:rPr>
                        <a:t>Propriété</a:t>
                      </a:r>
                      <a:endParaRPr lang="fr-FR" sz="1100" b="1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100" dirty="0">
                          <a:effectLst/>
                        </a:rPr>
                        <a:t>Type</a:t>
                      </a:r>
                      <a:endParaRPr lang="fr-FR" sz="1100" b="1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100" dirty="0">
                          <a:effectLst/>
                        </a:rPr>
                        <a:t>Description</a:t>
                      </a:r>
                      <a:endParaRPr lang="fr-FR" sz="1100" b="1" dirty="0">
                        <a:effectLst/>
                      </a:endParaRP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2048354120"/>
                  </a:ext>
                </a:extLst>
              </a:tr>
              <a:tr h="285768"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 err="1">
                          <a:effectLst/>
                        </a:rPr>
                        <a:t>Current</a:t>
                      </a:r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>
                          <a:effectLst/>
                        </a:rPr>
                        <a:t>ShellNavigationState</a:t>
                      </a: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>
                          <a:effectLst/>
                        </a:rPr>
                        <a:t>URI de la page actuelle.</a:t>
                      </a: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3643200989"/>
                  </a:ext>
                </a:extLst>
              </a:tr>
              <a:tr h="543957"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>
                          <a:effectLst/>
                        </a:rPr>
                        <a:t>Source</a:t>
                      </a: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 err="1">
                          <a:effectLst/>
                        </a:rPr>
                        <a:t>ShellNavigationSource</a:t>
                      </a:r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>
                          <a:effectLst/>
                        </a:rPr>
                        <a:t>Le type de navigation qui s’est produit.</a:t>
                      </a: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4010823691"/>
                  </a:ext>
                </a:extLst>
              </a:tr>
              <a:tr h="630021"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 err="1" smtClean="0">
                          <a:effectLst/>
                        </a:rPr>
                        <a:t>Previous</a:t>
                      </a:r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 err="1">
                          <a:effectLst/>
                        </a:rPr>
                        <a:t>ShellNavigationState</a:t>
                      </a:r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400" dirty="0">
                          <a:effectLst/>
                        </a:rPr>
                        <a:t>URI représentant la </a:t>
                      </a:r>
                      <a:r>
                        <a:rPr lang="fr-FR" sz="1400" dirty="0" smtClean="0">
                          <a:effectLst/>
                        </a:rPr>
                        <a:t>page</a:t>
                      </a:r>
                      <a:r>
                        <a:rPr lang="fr-FR" sz="1400" baseline="0" dirty="0" smtClean="0">
                          <a:effectLst/>
                        </a:rPr>
                        <a:t> précédente</a:t>
                      </a:r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196608360"/>
                  </a:ext>
                </a:extLst>
              </a:tr>
              <a:tr h="716084">
                <a:tc>
                  <a:txBody>
                    <a:bodyPr/>
                    <a:lstStyle/>
                    <a:p>
                      <a:pPr algn="l" fontAlgn="t"/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2935550853"/>
                  </a:ext>
                </a:extLst>
              </a:tr>
              <a:tr h="543957">
                <a:tc>
                  <a:txBody>
                    <a:bodyPr/>
                    <a:lstStyle/>
                    <a:p>
                      <a:pPr algn="l" fontAlgn="t"/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l" fontAlgn="t"/>
                      <a:endParaRPr lang="fr-FR" sz="1400" dirty="0">
                        <a:effectLst/>
                      </a:endParaRP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52138232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881198" y="5895638"/>
            <a:ext cx="26180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ShellNavigatedEventArgs</a:t>
            </a:r>
            <a:endParaRPr lang="fr-FR" sz="1400" b="1" dirty="0"/>
          </a:p>
        </p:txBody>
      </p:sp>
      <p:sp>
        <p:nvSpPr>
          <p:cNvPr id="7" name="Rectangle 6"/>
          <p:cNvSpPr/>
          <p:nvPr/>
        </p:nvSpPr>
        <p:spPr>
          <a:xfrm>
            <a:off x="1199349" y="5895638"/>
            <a:ext cx="27238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ShellNavigatingEventArgs</a:t>
            </a:r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284739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4450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Shell-La Navigation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68255" y="5496311"/>
            <a:ext cx="35702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L’ordre d’appels des événements </a:t>
            </a:r>
            <a:endParaRPr lang="fr-FR" sz="14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4591292" y="1243447"/>
            <a:ext cx="2465408" cy="850739"/>
          </a:xfrm>
          <a:prstGeom prst="roundRect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OnNavigating </a:t>
            </a:r>
            <a:endParaRPr lang="en-US" sz="2400" b="1" dirty="0"/>
          </a:p>
        </p:txBody>
      </p:sp>
      <p:sp>
        <p:nvSpPr>
          <p:cNvPr id="9" name="Rounded Rectangle 8"/>
          <p:cNvSpPr/>
          <p:nvPr/>
        </p:nvSpPr>
        <p:spPr>
          <a:xfrm>
            <a:off x="4591292" y="2519556"/>
            <a:ext cx="2465408" cy="850739"/>
          </a:xfrm>
          <a:prstGeom prst="roundRect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err="1" smtClean="0"/>
              <a:t>OnAppearing</a:t>
            </a:r>
            <a:r>
              <a:rPr lang="fr-FR" sz="2400" b="1" dirty="0" smtClean="0"/>
              <a:t> </a:t>
            </a:r>
            <a:endParaRPr lang="en-US" sz="2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4591292" y="4007933"/>
            <a:ext cx="2465408" cy="850739"/>
          </a:xfrm>
          <a:prstGeom prst="roundRect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err="1" smtClean="0"/>
              <a:t>OnNavigated</a:t>
            </a:r>
            <a:r>
              <a:rPr lang="fr-FR" sz="2400" b="1" dirty="0" smtClean="0"/>
              <a:t> </a:t>
            </a:r>
            <a:endParaRPr lang="en-US" sz="2400" b="1" dirty="0"/>
          </a:p>
        </p:txBody>
      </p:sp>
      <p:cxnSp>
        <p:nvCxnSpPr>
          <p:cNvPr id="12" name="Straight Arrow Connector 11"/>
          <p:cNvCxnSpPr>
            <a:stCxn id="6" idx="2"/>
            <a:endCxn id="9" idx="0"/>
          </p:cNvCxnSpPr>
          <p:nvPr/>
        </p:nvCxnSpPr>
        <p:spPr>
          <a:xfrm>
            <a:off x="5823996" y="2094186"/>
            <a:ext cx="0" cy="4253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2"/>
            <a:endCxn id="10" idx="0"/>
          </p:cNvCxnSpPr>
          <p:nvPr/>
        </p:nvCxnSpPr>
        <p:spPr>
          <a:xfrm>
            <a:off x="5823996" y="3370295"/>
            <a:ext cx="0" cy="6376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37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3272159" y="2607944"/>
            <a:ext cx="453496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2 Tester les évènements de navigation Shell </a:t>
            </a:r>
            <a:endParaRPr lang="fr-FR" sz="1600" b="1" dirty="0" smtClean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97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137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Shell-Le passage des paramètres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u="sng" dirty="0">
                <a:latin typeface="Segoe UI" panose="020B0502040204020203" pitchFamily="34" charset="0"/>
                <a:cs typeface="Segoe UI" panose="020B0502040204020203" pitchFamily="34" charset="0"/>
              </a:rPr>
              <a:t>données primitives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peuvent être passées en tant que paramètres de requête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sous la forme d’une chaîne, </a:t>
            </a:r>
            <a:r>
              <a:rPr lang="fr-FR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passage des objets complexe comme paramètre lève une exception interne </a:t>
            </a:r>
            <a:endParaRPr lang="fr-FR" sz="1600" b="1" u="sng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3863" y="2073095"/>
            <a:ext cx="10774879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CollectionView_SelectionChanged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SelectionChangedEventArgs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User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e.CurrentSelection.FirstOrDefault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User;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Shell.Current.GoToAsync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(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$"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UserPage?Id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{</a:t>
            </a:r>
            <a:r>
              <a:rPr lang="fr-FR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user.Id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</a:t>
            </a:r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);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328550" y="3488867"/>
            <a:ext cx="10964884" cy="456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Et puis reçu dans la page suivante en indiquant la propriété réceptrice dans l’attribut </a:t>
            </a:r>
            <a:endParaRPr lang="fr-FR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8550" y="4311909"/>
            <a:ext cx="55259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QueryProperty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nameof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(Identifier), 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"Id"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partial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UserPage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: ContentPage</a:t>
            </a:r>
            <a:endParaRPr lang="fr-FR" sz="1600" dirty="0"/>
          </a:p>
        </p:txBody>
      </p:sp>
      <p:cxnSp>
        <p:nvCxnSpPr>
          <p:cNvPr id="7" name="Connecteur droit avec flèche 6"/>
          <p:cNvCxnSpPr/>
          <p:nvPr/>
        </p:nvCxnSpPr>
        <p:spPr>
          <a:xfrm flipH="1">
            <a:off x="4981699" y="3188525"/>
            <a:ext cx="1240971" cy="1199407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125688" y="4381132"/>
            <a:ext cx="574963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_id;</a:t>
            </a: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Identifier { </a:t>
            </a:r>
            <a:endParaRPr lang="en-US" sz="1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=&gt; _id;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_id = value;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OnPropertyChanged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nameof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(Identifier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} 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97637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</p:cNvPr>
          <p:cNvSpPr/>
          <p:nvPr/>
        </p:nvSpPr>
        <p:spPr>
          <a:xfrm>
            <a:off x="4135253" y="2845007"/>
            <a:ext cx="36894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3 Passage de paramètre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30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24854" y="603943"/>
            <a:ext cx="10869739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Shell-Les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recherches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classe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Shell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inclut la fonctionnalité de recherche intégrée fournie par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type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SearchHandler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/>
              <a:t> 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L’intégration de la fonctionnalité de recherche se fait en deux étapes</a:t>
            </a:r>
          </a:p>
          <a:p>
            <a:pPr lvl="1"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Etape1: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faut commencer par créer un type dérivé de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SearchHandler</a:t>
            </a: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36550" lvl="1" indent="0"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36550" lvl="1" indent="0"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Etape 2: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Intégrer le nouveau type dans la page cible 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5514" y="2986012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UserSearchHandler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: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SearchHandler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   //</a:t>
            </a:r>
            <a:r>
              <a:rPr lang="fr-FR" sz="16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Implementation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 de mécanisme de recherches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  <p:sp>
        <p:nvSpPr>
          <p:cNvPr id="8" name="Rectangle 7"/>
          <p:cNvSpPr/>
          <p:nvPr/>
        </p:nvSpPr>
        <p:spPr>
          <a:xfrm>
            <a:off x="1245514" y="4786499"/>
            <a:ext cx="783270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Shell.SearchHandler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UserSearchHandler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Placeholder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="Entrer le nom du user"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ShowsResults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="True"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DisplayMemberName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="Name"/&gt;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Shell.SearchHandler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19384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24854" y="603943"/>
            <a:ext cx="10869739" cy="9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classe Shell-Les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recherches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y a deux méthodes à redéfinir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24746" y="1704767"/>
            <a:ext cx="9232054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UserSearchHandler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SearchHandler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IList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&lt;User&gt;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IList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&lt;User&gt; Users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users;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users = value;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Type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SelectedItemNavigationTarget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OnQueryChanged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oldValue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newValue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//Code pour </a:t>
            </a:r>
            <a:r>
              <a:rPr lang="fr-FR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filter</a:t>
            </a:r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ici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OnItemSelected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item)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//Action à </a:t>
            </a:r>
            <a:r>
              <a:rPr lang="fr-FR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declencher</a:t>
            </a:r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suite à la </a:t>
            </a:r>
            <a:r>
              <a:rPr lang="fr-FR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selection</a:t>
            </a:r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65048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</p:cNvPr>
          <p:cNvSpPr/>
          <p:nvPr/>
        </p:nvSpPr>
        <p:spPr>
          <a:xfrm>
            <a:off x="2619274" y="2760786"/>
            <a:ext cx="60207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4 Implémentation de procédure de recherche</a:t>
            </a:r>
          </a:p>
          <a:p>
            <a:pPr algn="ctr"/>
            <a:r>
              <a:rPr lang="fr-F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Implémentée dans le Shell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340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98142" y="2967491"/>
            <a:ext cx="10311452" cy="23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 de démonstration </a:t>
            </a:r>
            <a:endParaRPr lang="en-US" altLang="en-US" sz="3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8"/>
          <p:cNvSpPr txBox="1">
            <a:spLocks noChangeArrowheads="1"/>
          </p:cNvSpPr>
          <p:nvPr/>
        </p:nvSpPr>
        <p:spPr bwMode="auto">
          <a:xfrm>
            <a:off x="933748" y="3371029"/>
            <a:ext cx="10311452" cy="196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Projet: </a:t>
            </a: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DemoShell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88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8458</TotalTime>
  <Words>2093</Words>
  <Application>Microsoft Office PowerPoint</Application>
  <PresentationFormat>Widescreen</PresentationFormat>
  <Paragraphs>450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Calibri</vt:lpstr>
      <vt:lpstr>Calibri Light</vt:lpstr>
      <vt:lpstr>Cascadia Mono</vt:lpstr>
      <vt:lpstr>Comic Sans MS</vt:lpstr>
      <vt:lpstr>Segoe UI</vt:lpstr>
      <vt:lpstr>Segoe UI </vt:lpstr>
      <vt:lpstr>Segoe UI 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fondmentaux </dc:title>
  <dc:creator>Windows User</dc:creator>
  <cp:lastModifiedBy>DELL</cp:lastModifiedBy>
  <cp:revision>146</cp:revision>
  <dcterms:created xsi:type="dcterms:W3CDTF">2022-10-07T06:35:33Z</dcterms:created>
  <dcterms:modified xsi:type="dcterms:W3CDTF">2025-07-20T15:48:31Z</dcterms:modified>
</cp:coreProperties>
</file>